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dd765cfb76f44c2" /><Relationship Type="http://schemas.openxmlformats.org/officeDocument/2006/relationships/extended-properties" Target="/docProps/app.xml" Id="Ra5505fa1f94545e5" /><Relationship Type="http://schemas.openxmlformats.org/officeDocument/2006/relationships/officeDocument" Target="/ppt/presentation.xml" Id="R461671a51ada406c" /></Relationships>
</file>

<file path=ppt/presentation.xml><?xml version="1.0" encoding="utf-8"?>
<p:presentation xmlns:p="http://schemas.openxmlformats.org/presentationml/2006/main">
  <p:sldMasterIdLst>
    <p:sldMasterId xmlns:r="http://schemas.openxmlformats.org/officeDocument/2006/relationships" id="2147483648" r:id="R840e2bc2e314416f"/>
  </p:sldMasterIdLst>
  <p:notesMasterIdLst>
    <p:notesMasterId xmlns:r="http://schemas.openxmlformats.org/officeDocument/2006/relationships" r:id="Reeeb221d78424c22"/>
  </p:notesMasterIdLst>
  <p:sldIdLst>
    <p:sldId xmlns:r="http://schemas.openxmlformats.org/officeDocument/2006/relationships" id="256" r:id="Rc05b99a0f6ee46b5"/>
    <p:sldId xmlns:r="http://schemas.openxmlformats.org/officeDocument/2006/relationships" id="257" r:id="Rd7b6e596a5c84431"/>
    <p:sldId xmlns:r="http://schemas.openxmlformats.org/officeDocument/2006/relationships" id="258" r:id="R6e11cd40002746e4"/>
    <p:sldId xmlns:r="http://schemas.openxmlformats.org/officeDocument/2006/relationships" id="259" r:id="R81e85c1d69c74d5a"/>
    <p:sldId xmlns:r="http://schemas.openxmlformats.org/officeDocument/2006/relationships" id="260" r:id="R15531fbae60c43d5"/>
    <p:sldId xmlns:r="http://schemas.openxmlformats.org/officeDocument/2006/relationships" id="261" r:id="R1ebdeaef74e34cb5"/>
    <p:sldId xmlns:r="http://schemas.openxmlformats.org/officeDocument/2006/relationships" id="262" r:id="R500fd47a26fa4732"/>
    <p:sldId xmlns:r="http://schemas.openxmlformats.org/officeDocument/2006/relationships" id="263" r:id="R48724e6ecbab4b45"/>
    <p:sldId xmlns:r="http://schemas.openxmlformats.org/officeDocument/2006/relationships" id="264" r:id="Rb5a2a61862b9472b"/>
    <p:sldId xmlns:r="http://schemas.openxmlformats.org/officeDocument/2006/relationships" id="265" r:id="R9014a67ceea94d0e"/>
    <p:sldId xmlns:r="http://schemas.openxmlformats.org/officeDocument/2006/relationships" id="266" r:id="Rf609436235624f67"/>
    <p:sldId xmlns:r="http://schemas.openxmlformats.org/officeDocument/2006/relationships" id="267" r:id="R1e85f419e8544f9f"/>
    <p:sldId xmlns:r="http://schemas.openxmlformats.org/officeDocument/2006/relationships" id="268" r:id="R72ed637e197a498e"/>
    <p:sldId xmlns:r="http://schemas.openxmlformats.org/officeDocument/2006/relationships" id="269" r:id="R3e9a3b5d5ecb45b2"/>
    <p:sldId xmlns:r="http://schemas.openxmlformats.org/officeDocument/2006/relationships" id="270" r:id="R1c07143ea0634d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2861247afa42f3" /><Relationship Type="http://schemas.openxmlformats.org/officeDocument/2006/relationships/slideMaster" Target="/ppt/slideMasters/slideMaster1.xml" Id="R840e2bc2e314416f" /><Relationship Type="http://schemas.openxmlformats.org/officeDocument/2006/relationships/notesMaster" Target="/ppt/notesMasters/notesMaster1.xml" Id="Reeeb221d78424c22" /><Relationship Type="http://schemas.openxmlformats.org/officeDocument/2006/relationships/presProps" Target="/ppt/presProps.xml" Id="Rc56880ab0d414063" /><Relationship Type="http://schemas.openxmlformats.org/officeDocument/2006/relationships/tableStyles" Target="/ppt/tableStyles.xml" Id="R1de1e9c83c994ac6" /><Relationship Type="http://schemas.openxmlformats.org/officeDocument/2006/relationships/slide" Target="/ppt/slides/slide1.xml" Id="Rc05b99a0f6ee46b5" /><Relationship Type="http://schemas.openxmlformats.org/officeDocument/2006/relationships/slide" Target="/ppt/slides/slide2.xml" Id="Rd7b6e596a5c84431" /><Relationship Type="http://schemas.openxmlformats.org/officeDocument/2006/relationships/slide" Target="/ppt/slides/slide3.xml" Id="R6e11cd40002746e4" /><Relationship Type="http://schemas.openxmlformats.org/officeDocument/2006/relationships/slide" Target="/ppt/slides/slide4.xml" Id="R81e85c1d69c74d5a" /><Relationship Type="http://schemas.openxmlformats.org/officeDocument/2006/relationships/slide" Target="/ppt/slides/slide5.xml" Id="R15531fbae60c43d5" /><Relationship Type="http://schemas.openxmlformats.org/officeDocument/2006/relationships/slide" Target="/ppt/slides/slide6.xml" Id="R1ebdeaef74e34cb5" /><Relationship Type="http://schemas.openxmlformats.org/officeDocument/2006/relationships/slide" Target="/ppt/slides/slide7.xml" Id="R500fd47a26fa4732" /><Relationship Type="http://schemas.openxmlformats.org/officeDocument/2006/relationships/slide" Target="/ppt/slides/slide8.xml" Id="R48724e6ecbab4b45" /><Relationship Type="http://schemas.openxmlformats.org/officeDocument/2006/relationships/slide" Target="/ppt/slides/slide9.xml" Id="Rb5a2a61862b9472b" /><Relationship Type="http://schemas.openxmlformats.org/officeDocument/2006/relationships/slide" Target="/ppt/slides/slide10.xml" Id="R9014a67ceea94d0e" /><Relationship Type="http://schemas.openxmlformats.org/officeDocument/2006/relationships/slide" Target="/ppt/slides/slide11.xml" Id="Rf609436235624f67" /><Relationship Type="http://schemas.openxmlformats.org/officeDocument/2006/relationships/slide" Target="/ppt/slides/slide12.xml" Id="R1e85f419e8544f9f" /><Relationship Type="http://schemas.openxmlformats.org/officeDocument/2006/relationships/slide" Target="/ppt/slides/slide13.xml" Id="R72ed637e197a498e" /><Relationship Type="http://schemas.openxmlformats.org/officeDocument/2006/relationships/slide" Target="/ppt/slides/slide14.xml" Id="R3e9a3b5d5ecb45b2" /><Relationship Type="http://schemas.openxmlformats.org/officeDocument/2006/relationships/slide" Target="/ppt/slides/slide15.xml" Id="R1c07143ea0634d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9b48b57b65e4b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5100f01f7f422c" /><Relationship Type="http://schemas.openxmlformats.org/officeDocument/2006/relationships/notesMaster" Target="/ppt/notesMasters/notesMaster1.xml" Id="Rcdf6dd67f58c44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d57f6208204f1f" /><Relationship Type="http://schemas.openxmlformats.org/officeDocument/2006/relationships/notesMaster" Target="/ppt/notesMasters/notesMaster1.xml" Id="Rf15d891b330a41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77268138534992" /><Relationship Type="http://schemas.openxmlformats.org/officeDocument/2006/relationships/notesMaster" Target="/ppt/notesMasters/notesMaster1.xml" Id="R74d67c3c9b9140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9e7406643b14ffd" /><Relationship Type="http://schemas.openxmlformats.org/officeDocument/2006/relationships/notesMaster" Target="/ppt/notesMasters/notesMaster1.xml" Id="R627a5cbf9f9f4b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e04960b8b24367" /><Relationship Type="http://schemas.openxmlformats.org/officeDocument/2006/relationships/notesMaster" Target="/ppt/notesMasters/notesMaster1.xml" Id="R7cd4961e4c074c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0729e79578420a" /><Relationship Type="http://schemas.openxmlformats.org/officeDocument/2006/relationships/notesMaster" Target="/ppt/notesMasters/notesMaster1.xml" Id="Rc14821c11ed643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8e238eba5a4700" /><Relationship Type="http://schemas.openxmlformats.org/officeDocument/2006/relationships/notesMaster" Target="/ppt/notesMasters/notesMaster1.xml" Id="R48f28234801649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1043a5233f4cd9" /><Relationship Type="http://schemas.openxmlformats.org/officeDocument/2006/relationships/notesMaster" Target="/ppt/notesMasters/notesMaster1.xml" Id="R526715d3391241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4880ba61e440ec" /><Relationship Type="http://schemas.openxmlformats.org/officeDocument/2006/relationships/notesMaster" Target="/ppt/notesMasters/notesMaster1.xml" Id="Rfa74da93d99140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98891ff4274328" /><Relationship Type="http://schemas.openxmlformats.org/officeDocument/2006/relationships/notesMaster" Target="/ppt/notesMasters/notesMaster1.xml" Id="Rbe1be98de5fc4f6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729acdd6ec54395" /><Relationship Type="http://schemas.openxmlformats.org/officeDocument/2006/relationships/notesMaster" Target="/ppt/notesMasters/notesMaster1.xml" Id="R95e5e1f0349b4c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9ce60763bdc49ed" /><Relationship Type="http://schemas.openxmlformats.org/officeDocument/2006/relationships/notesMaster" Target="/ppt/notesMasters/notesMaster1.xml" Id="R6c79c2b7b0984b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256445a1c94d8b" /><Relationship Type="http://schemas.openxmlformats.org/officeDocument/2006/relationships/notesMaster" Target="/ppt/notesMasters/notesMaster1.xml" Id="R0106d38bd5e24b8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a1bbc5f7144cc4" /><Relationship Type="http://schemas.openxmlformats.org/officeDocument/2006/relationships/notesMaster" Target="/ppt/notesMasters/notesMaster1.xml" Id="Rec41488e518e405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ef34ac62ca242ba" /><Relationship Type="http://schemas.openxmlformats.org/officeDocument/2006/relationships/notesMaster" Target="/ppt/notesMasters/notesMaster1.xml" Id="Rcdf1c5ba8def41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87371c49d849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60fd17c0f34383" /><Relationship Type="http://schemas.openxmlformats.org/officeDocument/2006/relationships/slideLayout" Target="/ppt/slideLayouts/slideLayout1.xml" Id="Re105b461c2764a82"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e105b461c2764a82"/>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c832a9c6d89472b" /><Relationship Type="http://schemas.openxmlformats.org/officeDocument/2006/relationships/image" Target="/ppt/media/image.png" Id="R997b6483edc04cb3" /><Relationship Type="http://schemas.openxmlformats.org/officeDocument/2006/relationships/hyperlink" Target="mailto:oborskyivitalii@gmail.com" TargetMode="External" Id="Rf3befadf4d6c46cb" /><Relationship Type="http://schemas.openxmlformats.org/officeDocument/2006/relationships/hyperlink" Target="https://www.linkedin.com/in/vitaliioborskyi/" TargetMode="External" Id="Rc30644ebd7644d23" /><Relationship Type="http://schemas.openxmlformats.org/officeDocument/2006/relationships/notesSlide" Target="/ppt/notesSlides/notesSlide1.xml" Id="Rc7c0be29758244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f0cd731d4414e96" /><Relationship Type="http://schemas.openxmlformats.org/officeDocument/2006/relationships/notesSlide" Target="/ppt/notesSlides/notesSlide2.xml" Id="R3395b6e1865448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e96345ceb242fe" /><Relationship Type="http://schemas.openxmlformats.org/officeDocument/2006/relationships/notesSlide" Target="/ppt/notesSlides/notesSlide3.xml" Id="R1706b5a07a5042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f645cab6104a7d" /><Relationship Type="http://schemas.openxmlformats.org/officeDocument/2006/relationships/notesSlide" Target="/ppt/notesSlides/notesSlide4.xml" Id="Rdad61dcb7a514d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1d3ad8cfcd14bc1" /><Relationship Type="http://schemas.openxmlformats.org/officeDocument/2006/relationships/notesSlide" Target="/ppt/notesSlides/notesSlide5.xml" Id="R2001db0a12284c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f040440e6404e90" /><Relationship Type="http://schemas.openxmlformats.org/officeDocument/2006/relationships/notesSlide" Target="/ppt/notesSlides/notesSlide6.xml" Id="Re13a3312caa044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67a7bc3ca1143fc" /><Relationship Type="http://schemas.openxmlformats.org/officeDocument/2006/relationships/notesSlide" Target="/ppt/notesSlides/notesSlide7.xml" Id="R581aca3ae1e14d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11ae96e435d4891" /><Relationship Type="http://schemas.openxmlformats.org/officeDocument/2006/relationships/notesSlide" Target="/ppt/notesSlides/notesSlide8.xml" Id="R30311cbf754445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e18c2ddf81f4f49" /><Relationship Type="http://schemas.openxmlformats.org/officeDocument/2006/relationships/notesSlide" Target="/ppt/notesSlides/notesSlide9.xml" Id="R29451d5c010f4f2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e9ddd710f394308" /><Relationship Type="http://schemas.openxmlformats.org/officeDocument/2006/relationships/chart" Target="/ppt/slides/charts/chart1.xml" Id="Rce23d6799efa44df" /><Relationship Type="http://schemas.openxmlformats.org/officeDocument/2006/relationships/notesSlide" Target="/ppt/notesSlides/notesSlide10.xml" Id="R97288947259d4a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48de2d83b34a9e" /><Relationship Type="http://schemas.openxmlformats.org/officeDocument/2006/relationships/notesSlide" Target="/ppt/notesSlides/notesSlide11.xml" Id="R2a1f4201c21e49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e28c3cbef34e3a" /><Relationship Type="http://schemas.openxmlformats.org/officeDocument/2006/relationships/notesSlide" Target="/ppt/notesSlides/notesSlide12.xml" Id="R5dd1e7fe639648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273444c17b64f04" /><Relationship Type="http://schemas.openxmlformats.org/officeDocument/2006/relationships/notesSlide" Target="/ppt/notesSlides/notesSlide13.xml" Id="R024176b7cc4d4db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cd9cb3acb2f4da6" /><Relationship Type="http://schemas.openxmlformats.org/officeDocument/2006/relationships/notesSlide" Target="/ppt/notesSlides/notesSlide14.xml" Id="R8317882dfd684f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d28313ce57a4158" /><Relationship Type="http://schemas.openxmlformats.org/officeDocument/2006/relationships/image" Target="/ppt/media/image2.png" Id="R0c5a9652fe064f54" /><Relationship Type="http://schemas.openxmlformats.org/officeDocument/2006/relationships/hyperlink" Target="https://github.com/UncertaintyArchitectureGroup/uncertainty-architecture" TargetMode="External" Id="R7241667544e34758" /><Relationship Type="http://schemas.openxmlformats.org/officeDocument/2006/relationships/hyperlink" Target="https://github.com/UncertaintyArchitectureGroup/uncertainty-architecture" TargetMode="External" Id="Race54385543f48e0" /><Relationship Type="http://schemas.openxmlformats.org/officeDocument/2006/relationships/image" Target="/ppt/media/image3.png" Id="R653eb2bb34c24135" /><Relationship Type="http://schemas.openxmlformats.org/officeDocument/2006/relationships/hyperlink" Target="https://github.com/UncertaintyArchitectureGroup/The-Subprime-Code-Crisis" TargetMode="External" Id="Rb353c591353d48de" /><Relationship Type="http://schemas.openxmlformats.org/officeDocument/2006/relationships/hyperlink" Target="https://github.com/UncertaintyArchitectureGroup/The-Subprime-Code-Crisis" TargetMode="External" Id="Rdf34eff8b3774bc2" /><Relationship Type="http://schemas.openxmlformats.org/officeDocument/2006/relationships/hyperlink" Target="mailto:oborskyivitalii@gmail.com" TargetMode="External" Id="R3d383959aba44c58" /><Relationship Type="http://schemas.openxmlformats.org/officeDocument/2006/relationships/hyperlink" Target="https://www.linkedin.com/in/vitaliioborskyi/" TargetMode="External" Id="R09352a7822474976" /><Relationship Type="http://schemas.openxmlformats.org/officeDocument/2006/relationships/notesSlide" Target="/ppt/notesSlides/notesSlide15.xml" Id="Ra0312c1cd70a4a5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4BF1791-C42F-4261-B8B4-523EB921CBF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7F114A79-9840-4FD2-B9F1-32F2BA1F6C4F}"/>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F5851C66-626D-4A25-AF20-20AD978A8BF4}"/>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97b6483edc04cb3"/>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E18CB3F-0FB5-42AB-9FF3-8546563AE19C}"/>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A105CE68-07B5-4C2B-873F-CF9E3FE3D836}"/>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B4D91E1E-05B5-468D-9CDA-8FFF0499145E}"/>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73C159ED-D177-4188-B966-AFDC4B82B7D9}"/>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16A2B155-51B1-49CF-B528-95B2EB9007D0}"/>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5E5E4AE0-5002-4262-A415-A9E4E987DFEB}"/>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CFA0B9C6-9D0D-4574-8816-6DA39F3DD393}"/>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CAFE116E-A88C-4422-8255-F782EB286A42}"/>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f3befadf4d6c46cb"/>
              </a:rPr>
              <a:t>oborskyivitalii@gmail.com</a:t>
            </a:r>
          </a:p>
        </p:txBody>
      </p:sp>
      <p:sp>
        <p:nvSpPr>
          <p:cNvPr id="13" name="">
            <a:extLst xmlns:a="http://schemas.openxmlformats.org/drawingml/2006/main">
              <a:ext uri="{FF2B5EF4-FFF2-40B4-BE49-F238E27FC236}">
                <a16:creationId xmlns:a16="http://schemas.microsoft.com/office/drawing/2014/main" id="{F79B788E-B4F8-4DB6-B412-61A2BDDFE6C0}"/>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c30644ebd7644d23"/>
              </a:rPr>
              <a:t>https://www.linkedin.com/in/vitaliioborskyi/</a:t>
            </a:r>
          </a:p>
        </p:txBody>
      </p:sp>
    </p:spTree>
    <p:extLst>
      <p:ext uri="{BB962C8B-B14F-4D97-AF65-F5344CB8AC3E}">
        <p14:creationId xmlns:p14="http://schemas.microsoft.com/office/powerpoint/2010/main" val="888369320"/>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50EF056-AD19-48FF-A667-3EB9770BA83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23A8D83F-13C3-4D6A-A7A0-166277F2330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41D57E7-D891-4B81-9237-8325BCC273D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9B452AFA-1CE7-4CA8-8C76-1CF54292A91C}"/>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AADBA004-9D16-49DE-AD9B-B79452329AD7}"/>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F4719C75-A5A6-4B1F-913B-7707671D3A3C}"/>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9BA6F43F-58A2-4684-8662-B06C3A6B1563}"/>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30239571-EB64-4C66-893B-5C8ACE461F3D}"/>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BB41E12A-983E-4C49-97B6-4B3B5A61F33F}"/>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23006D96-67F5-4A92-9695-9EE5BCA62369}"/>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C1C7A41C-A354-4907-A279-1C4E65E64FD6}"/>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D66008CF-E2F8-4BD8-BF42-D5827A4568C5}"/>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1326BFB9-9A97-4655-9DD9-CAF523418772}"/>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AABEC525-ADDE-4C17-9ADE-D539CA2B3343}"/>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0A455100-E1B5-4A12-873B-7934C9A247AF}"/>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3F4025F6-3228-475E-B949-037F9B4D2783}"/>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F905FF75-BDA1-45A2-8D84-6B5405A5041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5746E09D-39D2-4342-BC4C-C52D0B7DEAE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1930922206"/>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480D0F99-D4A6-4310-936D-CBC9A184AAF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585859BC-1EEF-4DC4-8612-27C078B42F7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BA79532-6394-4578-B3AD-F64B5F0D4E7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DF220850-236E-48DF-B64A-0F5E5C70C958}"/>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1FE26316-EEC3-4EBA-9F90-4657C32D1FB0}"/>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576ECBF3-0CE1-463A-8C3E-48B38545ED9A}"/>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AA3898F4-ED2E-4774-A0DA-CEF772E88ACF}"/>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D982CF7C-53FB-46DB-BA4F-326B84986561}"/>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149340A2-6067-4003-A0CB-95835E919E9C}"/>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AD1905BD-379B-41A3-B600-E266485985CD}"/>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E009FD82-EA3D-4E41-9EF8-EC1B7F321F15}"/>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2C90A90B-C945-4E01-A015-E976CA9292A3}"/>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04722649-BB3F-4EA7-B908-C35096AB5F6E}"/>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09AB9BCC-BAC9-4F18-946E-2F785E11AF83}"/>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FCB24976-EBAB-4761-AC7F-6F3635BD325C}"/>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CA000726-A4D1-472C-97F1-094AE64E8C66}"/>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F838E993-D1F9-4BC0-AEEB-3C0A74BBE20A}"/>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F3E9C68F-086C-45E7-A3B9-9C017091189C}"/>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49154028-A6E6-4BBE-A8D2-134DB73B686C}"/>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8C136BAE-E1C0-4C3C-ACDC-D614130B20E6}"/>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8652DCED-1A6C-4008-983A-41B71E3BE558}"/>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B4CDDE05-B6B1-4F99-9F28-07A1F457E9A6}"/>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79934566-4041-40D0-83C6-461EF7CA8A9D}"/>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4A4B943B-7FD1-4DB7-8083-0FBDC7391DEF}"/>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470B6ABB-F7CF-4DDB-8D18-AC75FE38D40C}"/>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879819AC-4774-4386-AB3D-D94A06A56D1E}"/>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66DD8C1E-0758-4ADC-9C33-768E79E2B491}"/>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2B2BEF6B-5D78-462C-9EFD-B4F3DBD1346D}"/>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2CCF8EF6-0F8F-4A7D-A12C-D057FB72653B}"/>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CCB38C81-2710-4040-9758-851A12C6BB23}"/>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A6AC6E2B-F0FD-4D4C-8934-E19020A26A26}"/>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D12744C8-DFBD-4B72-B2A4-272F90899985}"/>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3CE88370-B6B9-4366-BE3B-98B1FFF53FB5}"/>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B97E1DDA-F686-4B9F-AE36-4C6B9A9CF008}"/>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B814730D-4075-40E5-9CF1-894A8A339E84}"/>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3498F3B0-4E5D-434B-994F-B77F8D0F31FF}"/>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FDEC93D1-6D45-436C-8805-04892EC8B0B4}"/>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2A2821B8-9E9D-46C1-B266-ED5D968DAC3E}"/>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B6B6C00C-C364-43D8-B5C9-10B07375511D}"/>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FBE71803-43E2-4A96-9C11-6403AEF676A0}"/>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C8C3046A-1ADE-48BB-A438-67AC6A968F7E}"/>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1C61D727-09C8-45FA-AC60-F5D28668E84F}"/>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DABAC74C-00B8-4739-8FE0-2D5050B2142E}"/>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79CAA2A4-D2FD-491A-A86F-2A7A194E399B}"/>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5C0DE472-B7AB-497F-A8B3-E86BBFA8AC52}"/>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AD5C1563-C614-45E8-9224-62A36FF36B5F}"/>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7127DBFA-DC9F-41E6-8F31-5B37942CDFEE}"/>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BD1EB542-169A-4101-B0B5-9E723305AC5C}"/>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D8858956-2342-4336-9AA7-B9BEB08D8815}"/>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662ACD6E-81BD-4C70-A68A-46822CE9C2C0}"/>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A9780165-1EAF-430C-960C-139A6EE5259A}"/>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54D85607-5AD7-46D3-92BD-F5186485B087}"/>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9E3DF1CA-9B95-47DF-B149-5263B1BDCCC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758D590D-67CA-435D-B866-8994F15090C7}"/>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343D696C-7A2C-476C-8AD9-8F60E7B9B1E0}"/>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46954C0A-8BAE-452B-AB58-DCB03F172E8F}"/>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FE878ED2-81E6-4E08-B38F-71939EF79E81}"/>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3A2CB2D7-BF9D-4EFC-9EF2-DCB9437E508D}"/>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D36C5D28-EBB6-4DFB-B0C5-053F7784F36E}"/>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D3235CD7-BA78-4D01-BEC3-C010CB413450}"/>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270FC769-EB0E-4019-A97C-7CA14A412A64}"/>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3182C37C-E36F-4E8F-951A-408112DFEF32}"/>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25C546E3-E9BB-4FE2-A662-C5CF1949E0A3}"/>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E91C7039-DF9B-4044-9166-0B57E948D112}"/>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57866AFC-A7BD-4687-92F7-D16BD88C42D3}"/>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A14C9FB4-3F5D-4552-8E87-6AE39F64CD9F}"/>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F94DEFBC-C576-4F35-B4CC-6EBCB47454B5}"/>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173342547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C9D5A442-9508-4D25-93FA-332362C3346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5704697F-CEBE-40AC-9848-1B52154243D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79A5BC3-1C26-4A9B-ABC7-837F8B09C5F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187B4D82-B2EC-48D5-BAD2-F94D61A06BCE}"/>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60FCB5FD-51B7-43C5-8CDE-3D9C45C6A619}"/>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CC81A6BC-5B18-455A-AB90-F0DF2A317268}"/>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EFC1135D-CA87-416E-9637-662B6E125209}"/>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3A64ABDD-BDAC-45F9-9711-DD9FCAF53CEB}"/>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C8A8AA01-7345-4AE7-804A-2A5E74E66BC2}"/>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0FC5FEA7-CB02-4FB0-A6AD-6C63F6542C80}"/>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1FB68EB7-E804-4A8E-98B7-08173513A70E}"/>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65D063D5-4E35-42FE-88DD-B5CE39A9CBAB}"/>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C0EB5C3B-0547-42FA-A65A-351CF87C5D0A}"/>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81A6006B-4A61-4E0C-B920-8BDCF2734A8B}"/>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33D4871D-CCDC-42AF-8DB6-8065FB208C2E}"/>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BDBB2F5F-D01E-48C9-92C1-89D3F1F8BD40}"/>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FD1F622B-4602-4BD7-96E2-53FC9DFF271E}"/>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A5509B8D-978A-4697-98A8-2E4E2D8BE84E}"/>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97D95519-7200-4547-8F4C-60B6F340CFAB}"/>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DD4D4173-965E-48B7-A7AD-3311FD498E15}"/>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EF201616-C0AC-48A3-8AE2-C29B567C3839}"/>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C37F0688-AB85-44E0-BEDD-49F429459E7E}"/>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B9D3E0A0-13FC-4789-BD15-7D6804B3B725}"/>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381EE4F7-BFD1-43EB-8A11-30339DF720C5}"/>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1E2BFECD-3D62-488B-9527-550C59F6C621}"/>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model, rounded reading of Fig. 28.</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C5E6052B-7AA6-4544-8A96-294DDDE229D6}"/>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1A5A0CA1-4E81-4712-8E01-DBA7876FEE7E}"/>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FCA1A65A-52B9-4ED6-81F0-27CEC47823C0}"/>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E6A91543-1ABC-472A-BD11-C848B343D5BF}"/>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540ED93E-AC56-45E1-A1B5-9829D4DAB997}"/>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C78B4201-6B82-4103-BAEB-95230B47C736}"/>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Moved / changed lines: −9.2 pp (−70.8%). Refactoring proxy.</a:t>
            </a:r>
          </a:p>
        </p:txBody>
      </p:sp>
      <p:sp>
        <p:nvSpPr>
          <p:cNvPr id="32" name="">
            <a:extLst xmlns:a="http://schemas.openxmlformats.org/drawingml/2006/main">
              <a:ext uri="{FF2B5EF4-FFF2-40B4-BE49-F238E27FC236}">
                <a16:creationId xmlns:a16="http://schemas.microsoft.com/office/drawing/2014/main" id="{55870C69-B0AA-4EA7-A765-3C23AE11A970}"/>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Calls / 1k changed lines</a:t>
            </a:r>
          </a:p>
        </p:txBody>
      </p:sp>
      <p:sp>
        <p:nvSpPr>
          <p:cNvPr id="33" name="">
            <a:extLst xmlns:a="http://schemas.openxmlformats.org/drawingml/2006/main">
              <a:ext uri="{FF2B5EF4-FFF2-40B4-BE49-F238E27FC236}">
                <a16:creationId xmlns:a16="http://schemas.microsoft.com/office/drawing/2014/main" id="{8E892FCF-7679-44AA-84D4-9DF70CC5EE28}"/>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343 → 223</a:t>
            </a:r>
          </a:p>
        </p:txBody>
      </p:sp>
      <p:sp>
        <p:nvSpPr>
          <p:cNvPr id="34" name="">
            <a:extLst xmlns:a="http://schemas.openxmlformats.org/drawingml/2006/main">
              <a:ext uri="{FF2B5EF4-FFF2-40B4-BE49-F238E27FC236}">
                <a16:creationId xmlns:a16="http://schemas.microsoft.com/office/drawing/2014/main" id="{1A782835-6628-448D-AB77-4B79E746EAB8}"/>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Other-function calls: −120 (≈−35%). Connectivity proxy.</a:t>
            </a:r>
          </a:p>
        </p:txBody>
      </p:sp>
      <p:sp>
        <p:nvSpPr>
          <p:cNvPr id="35" name="">
            <a:extLst xmlns:a="http://schemas.openxmlformats.org/drawingml/2006/main">
              <a:ext uri="{FF2B5EF4-FFF2-40B4-BE49-F238E27FC236}">
                <a16:creationId xmlns:a16="http://schemas.microsoft.com/office/drawing/2014/main" id="{D68BDFED-C62E-47BA-9BB8-4E886B5C059C}"/>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Duplicated blocks ≈+81%   ·   Two-week churn +15%*</a:t>
            </a:r>
          </a:p>
        </p:txBody>
      </p:sp>
      <p:sp>
        <p:nvSpPr>
          <p:cNvPr id="36" name="">
            <a:extLst xmlns:a="http://schemas.openxmlformats.org/drawingml/2006/main">
              <a:ext uri="{FF2B5EF4-FFF2-40B4-BE49-F238E27FC236}">
                <a16:creationId xmlns:a16="http://schemas.microsoft.com/office/drawing/2014/main" id="{D51E0267-1695-491D-918D-FCFAFAB8E7FF}"/>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922972A4-532F-42B8-BACB-1F02736787D9}"/>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BFE2D8C4-B859-4DE5-93C0-65E336E7826D}"/>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39" name="">
            <a:extLst xmlns:a="http://schemas.openxmlformats.org/drawingml/2006/main">
              <a:ext uri="{FF2B5EF4-FFF2-40B4-BE49-F238E27FC236}">
                <a16:creationId xmlns:a16="http://schemas.microsoft.com/office/drawing/2014/main" id="{88B6855F-0D0C-4D11-B631-6EFA119A0295}"/>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0" name="">
            <a:extLst xmlns:a="http://schemas.openxmlformats.org/drawingml/2006/main">
              <a:ext uri="{FF2B5EF4-FFF2-40B4-BE49-F238E27FC236}">
                <a16:creationId xmlns:a16="http://schemas.microsoft.com/office/drawing/2014/main" id="{0993A25F-71F6-4C28-A42A-546E4C71E9BD}"/>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1" name="">
            <a:extLst xmlns:a="http://schemas.openxmlformats.org/drawingml/2006/main">
              <a:ext uri="{FF2B5EF4-FFF2-40B4-BE49-F238E27FC236}">
                <a16:creationId xmlns:a16="http://schemas.microsoft.com/office/drawing/2014/main" id="{40A5327C-855D-4EFB-96CC-7F1ED22DB588}"/>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2" name="">
            <a:extLst xmlns:a="http://schemas.openxmlformats.org/drawingml/2006/main">
              <a:ext uri="{FF2B5EF4-FFF2-40B4-BE49-F238E27FC236}">
                <a16:creationId xmlns:a16="http://schemas.microsoft.com/office/drawing/2014/main" id="{3313362E-D92C-4A67-95A1-015686A24966}"/>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3" name="">
            <a:extLst xmlns:a="http://schemas.openxmlformats.org/drawingml/2006/main">
              <a:ext uri="{FF2B5EF4-FFF2-40B4-BE49-F238E27FC236}">
                <a16:creationId xmlns:a16="http://schemas.microsoft.com/office/drawing/2014/main" id="{7810E9A6-DC98-4C4C-9814-B95C7F74459A}"/>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4" name="">
            <a:extLst xmlns:a="http://schemas.openxmlformats.org/drawingml/2006/main">
              <a:ext uri="{FF2B5EF4-FFF2-40B4-BE49-F238E27FC236}">
                <a16:creationId xmlns:a16="http://schemas.microsoft.com/office/drawing/2014/main" id="{FB6A8B3C-1CE0-4454-81B1-85EB6405629C}"/>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1249485755"/>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547AF8D-BB52-45E5-A1FD-B019A18FB7D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30289723-EADF-416A-8885-35E2F2B339C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5FEF190-B621-499F-9D7E-B713C7D3A4F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61BF8569-298C-43BB-9327-C235C514F5B0}"/>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C21D1C5E-5875-42F5-BD4E-0692E13CC725}"/>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31EA5B16-2097-407D-B68F-8E9C03283A43}"/>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B2D87D25-ABC3-4283-83A6-63B6D34717EF}"/>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68B95CBA-ED6F-493F-ABF1-2AB96BDF29B6}"/>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DA719068-402D-424D-93E1-A526D9CB753A}"/>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EAE6F6C2-CE6F-4BA7-B100-DFEB12C6FD65}"/>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FDC0CA29-451F-46A3-8BE5-8DA124C01818}"/>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3D7DE543-7D5A-4CFB-89B0-D371D12E62D0}"/>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373FB3E9-B33B-4290-962D-BBF470270EF8}"/>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301B03BE-442E-416E-931D-50E4B511B97F}"/>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2A561089-5BC0-46D3-ABFD-ED83068BAA2D}"/>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975A69CD-B579-49DC-A146-66561A113FA9}"/>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7232DB23-5516-46C2-9291-5AF3757EF690}"/>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ABBD2B03-4A22-43BB-8187-1A550980E8B7}"/>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4F582381-E179-4EB9-BD0C-7F6635C6727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CFBF0CDF-244F-4C84-99B7-86C246C8475F}"/>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1043528741"/>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8A5E82D-CBB0-475C-9DD4-D6DF00A4EC3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31C4E7B6-5795-479F-BA87-2AF80F3C606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E1FB00D-F47F-4C34-A00F-C4049503A15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AA7C2EE-4AE0-4816-A7F4-6A7B7F00CB62}"/>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8D88CEE7-5740-4A38-9036-9B715E3B7582}"/>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4150E204-F479-438C-A72C-2A73B261EC34}"/>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16B28C29-58B4-4969-B049-401AC559AF8F}"/>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4ABFF47C-EB21-4B0C-80E0-B0F0CC62EC01}"/>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2E742C93-517C-4D84-82A6-E3A378D6216C}"/>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0E3C6E09-963F-4D68-BCA8-FD1824855BD7}"/>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1F254E35-D29F-4FD3-9127-7DA29C540E0E}"/>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CECA0DAF-42B9-4CD8-AD9F-679178C3A7EF}"/>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BA60FD06-DC68-4A14-A90F-7A4D0B98E209}"/>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0AE014EF-9460-409D-9397-DA94EC71855C}"/>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EDE22D22-9AE1-4F4D-835E-18129AFD10A9}"/>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DFB0DB60-0C31-41D2-8A70-31434EC745D8}"/>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FD04904E-0464-460A-90E8-1D1BADC8727D}"/>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576E0709-0A88-438B-8520-796AA064A175}"/>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656276E2-0D13-4317-9685-7E50B301BAA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98E9FE42-E1F4-4C20-A9BC-57B8AC471DC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1108942444"/>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AA83400-E9F6-421A-8EE9-FA408FB8864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7492C461-23A5-4D6D-BBFB-444C023F3D2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C70C76E-CCFA-43B3-B47A-8C11FCC8BE3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69946D4B-C949-4C95-9D6E-9D45E7042029}"/>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CEEEE210-22B1-4ABA-A24A-3605AF1BFA3F}"/>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28E075F4-8921-44E4-8F2D-0007CCA73273}"/>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C7504E44-7C17-4BAD-BD54-7DAFF9E8C373}"/>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A31B7F1A-9A9A-45E6-945E-706069247C7D}"/>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B401393D-3486-4DC7-9B86-F5E6E5134751}"/>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D9C720EB-A3B2-4B46-BAF5-C3DDB8A71C81}"/>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B9306C2D-D90A-401F-AD2D-2E21D517FD4C}"/>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F981CFE0-F69E-4406-BDE2-82BE817B2C78}"/>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D9456D1C-2F6F-48D0-8088-235449872A10}"/>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66CCD115-B50A-4AD7-B9E5-733BEA960E42}"/>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475B2344-3F07-41D2-A29C-1556C48D22A9}"/>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DFF12846-CC9F-4114-B74F-2640024D3C7D}"/>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ADBD1DBA-7738-40BF-BCB9-D097F949057C}"/>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41FD8147-0498-4F77-A428-EB730A5A070A}"/>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7EE3FD63-5CAC-473E-8E36-7D7685FA226B}"/>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2AB851E8-33E7-4977-8FC7-19F6A7912286}"/>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7FCA3E72-7548-4301-A92D-A7CFE172CE14}"/>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354A3AA5-BCE5-4254-B692-B1FDEE56C090}"/>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9A81E225-A8F4-4B5A-8284-919F21CC1AA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30B8D695-23F5-43D2-8E5F-34982BAE3324}"/>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C6863E55-5E53-4965-A11E-414CF0F50CFD}"/>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21FB709D-EA9F-4E3F-94C3-C72C9DE83729}"/>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14FE5813-D2B4-4BA6-A30E-CF31F3497723}"/>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F4B0A34E-2D40-4ECF-A63D-28A0A3381E1C}"/>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454779F6-B0AD-41A1-BFB7-311A2F3A63C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FBD2CC33-C218-4103-8771-245B34E3FF1E}"/>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45961223-D66A-484F-9DFF-88558396A1EE}"/>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42452989"/>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8E324BE-7817-4D09-9794-9DD383537B6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99F98C05-6B35-4B99-8584-7B80E348B3D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C7C6BCE-AB75-47D0-A6DF-D7CFD2B0E53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3A67F7D1-3B57-4F25-8E81-6AB2D84303ED}"/>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THINKING SYSTEMS</a:t>
            </a:r>
          </a:p>
        </p:txBody>
      </p:sp>
      <p:sp>
        <p:nvSpPr>
          <p:cNvPr id="5" name="">
            <a:extLst xmlns:a="http://schemas.openxmlformats.org/drawingml/2006/main">
              <a:ext uri="{FF2B5EF4-FFF2-40B4-BE49-F238E27FC236}">
                <a16:creationId xmlns:a16="http://schemas.microsoft.com/office/drawing/2014/main" id="{5658CD0E-A754-46FE-9284-617A00DD1704}"/>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9CD5F107-52A7-4478-B562-1084A761D006}"/>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EE1AADFF-630D-4C6F-9617-596D9C39118C}"/>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4B073808-5B43-4ED1-894F-AECD3B393C0E}"/>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A6D7FEA4-8740-4B58-9009-10BA5E15D470}"/>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B94910C5-A126-47D7-BF33-8E1C0ACBA2EA}"/>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012F28D8-6DE6-4CF8-A131-172395694D2D}"/>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AC3ED989-4DFA-4BA7-9E66-5C0314A96C4E}"/>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9F86F7D6-0495-4565-8E42-CFE7D60A4942}"/>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B5D8A57B-B981-4B20-818C-0D693F015EDF}"/>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EDB2A263-2B3C-46BF-95C8-37D91332F79E}"/>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4616B5C8-F49E-4DF6-B945-55D1A2397E52}"/>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CE463BB5-AE4F-4DBE-A795-51EB96960A4F}"/>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3FA8FFD4-BA84-48D3-8EEA-B3CCEB7CCA70}"/>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17BBCE83-986C-4139-839C-2763D2A129BB}"/>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462A336A-499C-415A-9A44-626FB4FF9E20}"/>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DAA66420-D0EB-4DC6-AE5F-5C8817CFE04C}"/>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B2ADF701-30DF-42C1-8D32-CDCEC150D673}"/>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6AF0D6CD-CA52-43C5-AC5E-ED1045621510}"/>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B317974C-0E14-4F21-9763-C19FB91E0359}"/>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CD3C9842-14B3-40A6-9742-42310DC11B18}"/>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F5185790-B388-4FC5-A301-B4E66DA25F8D}"/>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174D47D0-7016-4649-A14F-7EB7E17C8FE7}"/>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C9319D57-E4EA-4321-A1FA-F126C5B0F51E}"/>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C8324BB7-FD7D-460E-ABA5-0AC8317BB274}"/>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6F296760-A70D-4B80-A0EF-6ECE4F4E234D}"/>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FBCCC90A-01D8-48BF-82A2-489C2903F3B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322AE881-ECC7-4D7F-BBAA-BD87BD92EB3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Engineer the useful region of behavior.</a:t>
            </a:r>
          </a:p>
        </p:txBody>
      </p:sp>
      <p:sp>
        <p:nvSpPr>
          <p:cNvPr id="33" name="">
            <a:extLst xmlns:a="http://schemas.openxmlformats.org/drawingml/2006/main">
              <a:ext uri="{FF2B5EF4-FFF2-40B4-BE49-F238E27FC236}">
                <a16:creationId xmlns:a16="http://schemas.microsoft.com/office/drawing/2014/main" id="{402B7A1A-3630-4D00-8503-CD61DFE4C543}"/>
              </a:ext>
            </a:extLst>
          </p:cNvPr>
          <p:cNvSpPr>
            <a:spLocks xmlns:a="http://schemas.openxmlformats.org/drawingml/2006/main" noGrp="1"/>
          </p:cNvSpPr>
          <p:nvPr/>
        </p:nvSpPr>
        <p:spPr>
          <a:xfrm xmlns:a="http://schemas.openxmlformats.org/drawingml/2006/main">
            <a:off x="609600" y="5791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Distribution also depends on context, model and configuration.</a:t>
            </a:r>
          </a:p>
        </p:txBody>
      </p:sp>
      <p:sp>
        <p:nvSpPr>
          <p:cNvPr id="34" name="">
            <a:extLst xmlns:a="http://schemas.openxmlformats.org/drawingml/2006/main">
              <a:ext uri="{FF2B5EF4-FFF2-40B4-BE49-F238E27FC236}">
                <a16:creationId xmlns:a16="http://schemas.microsoft.com/office/drawing/2014/main" id="{4727C981-5B70-4F19-9C9E-B9C9E34093BF}"/>
              </a:ext>
            </a:extLst>
          </p:cNvPr>
          <p:cNvSpPr>
            <a:spLocks xmlns:a="http://schemas.openxmlformats.org/drawingml/2006/main" noGrp="1"/>
          </p:cNvSpPr>
          <p:nvPr/>
        </p:nvSpPr>
        <p:spPr>
          <a:xfrm xmlns:a="http://schemas.openxmlformats.org/drawingml/2006/main">
            <a:off x="609600" y="643890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593008327"/>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2ED642ED-1AAF-4409-A779-32B13264001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C61EF20E-853A-4633-B279-94340D17D92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AF86E00-6291-4BCC-81CB-A8B8147A4F4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C048DC5B-FFBF-4CA9-92F9-0C2B9F98841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BA · define acceptable outcomes, harm and cost</a:t>
            </a:r>
          </a:p>
        </p:txBody>
      </p:sp>
      <p:sp>
        <p:nvSpPr>
          <p:cNvPr id="5" name="">
            <a:extLst xmlns:a="http://schemas.openxmlformats.org/drawingml/2006/main">
              <a:ext uri="{FF2B5EF4-FFF2-40B4-BE49-F238E27FC236}">
                <a16:creationId xmlns:a16="http://schemas.microsoft.com/office/drawing/2014/main" id="{E6DD2B5F-41AC-4506-8402-88CDC36ED39C}"/>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CB425E50-56E3-469B-B55F-503F306ABEF0}"/>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C5E288F9-5F70-4F29-A5FE-87A65CD7C09F}"/>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DA2C78DC-4D8C-415D-B00E-F2189D644DD8}"/>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Button A</a:t>
            </a:r>
          </a:p>
        </p:txBody>
      </p:sp>
      <p:sp>
        <p:nvSpPr>
          <p:cNvPr id="9" name="">
            <a:extLst xmlns:a="http://schemas.openxmlformats.org/drawingml/2006/main">
              <a:ext uri="{FF2B5EF4-FFF2-40B4-BE49-F238E27FC236}">
                <a16:creationId xmlns:a16="http://schemas.microsoft.com/office/drawing/2014/main" id="{B3D489C5-CB6E-46DD-9193-44B21A48D1CD}"/>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3F24DAC5-5E90-457E-94F6-6908A362648E}"/>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cxnSp>
        <p:nvCxnSpPr>
          <p:cNvPr id="5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D1F794F6-4986-4127-B14F-DC5D9E4F2C89}"/>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states, permissions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and transitions.</a:t>
            </a:r>
          </a:p>
        </p:txBody>
      </p:sp>
      <p:sp>
        <p:nvSpPr>
          <p:cNvPr id="13" name="">
            <a:extLst xmlns:a="http://schemas.openxmlformats.org/drawingml/2006/main">
              <a:ext uri="{FF2B5EF4-FFF2-40B4-BE49-F238E27FC236}">
                <a16:creationId xmlns:a16="http://schemas.microsoft.com/office/drawing/2014/main" id="{BB1E67C6-26DD-4AA0-949A-3B0D6AF27AFF}"/>
              </a:ext>
            </a:extLst>
          </p:cNvPr>
          <p:cNvSpPr>
            <a:spLocks xmlns:a="http://schemas.openxmlformats.org/drawingml/2006/main" noGrp="1"/>
          </p:cNvSpPr>
          <p:nvPr/>
        </p:nvSpPr>
        <p:spPr>
          <a:xfrm xmlns:a="http://schemas.openxmlformats.org/drawingml/2006/main">
            <a:off x="609600" y="3810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Product / BA: tolerance contract.</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Project Manager: decisions + dependencies.</a:t>
            </a:r>
          </a:p>
        </p:txBody>
      </p:sp>
      <p:sp>
        <p:nvSpPr>
          <p:cNvPr id="14" name="">
            <a:extLst xmlns:a="http://schemas.openxmlformats.org/drawingml/2006/main">
              <a:ext uri="{FF2B5EF4-FFF2-40B4-BE49-F238E27FC236}">
                <a16:creationId xmlns:a16="http://schemas.microsoft.com/office/drawing/2014/main" id="{CA624F40-144F-4B24-A359-266C284C2050}"/>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E3853B0D-8EB2-4B7E-BF0A-E32EE3EAEE38}"/>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7A4B2175-BE53-405D-9BD0-2608FC69D619}"/>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C6DFD9A4-4717-4F30-A290-A964AC701427}"/>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79DCCF20-81EA-4CFA-AE45-5B06B673A696}"/>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68DFBA98-E809-4DCD-A387-EF41073F9EA6}"/>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D28FAC3-1171-456B-9F40-4C8A1A672216}"/>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AC38B135-4F31-40AA-B2AE-496C6B4AC28E}"/>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F3590506-4785-4B38-8C62-3CA9FAA8CCCE}"/>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209E9D69-6E0E-4C9A-A562-0CB5970C6D87}"/>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9DA3E0BE-38D1-4CC3-8927-323C6E9F5CF3}"/>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BFA22381-8DC2-4C89-9703-8736A59F5B51}"/>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F2B1C166-42CB-472C-AB2D-98FCCDCFF076}"/>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3F5D2024-A8F6-4076-AED7-E8EF70E099FA}"/>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A3570153-C61F-4C00-B314-6C8B0617DDC4}"/>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6D646BEF-464D-4F33-AAB1-9FC208074B93}"/>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0A2C92E3-2A9C-4BF4-B39B-2AC88468D7F0}"/>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8D76EE24-D43E-4334-9820-863EA4F9D226}"/>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B5CA5B3A-889B-4AE1-B8CB-EFEFE3FA2FFA}"/>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Short explanation</a:t>
            </a:r>
          </a:p>
        </p:txBody>
      </p:sp>
      <p:sp>
        <p:nvSpPr>
          <p:cNvPr id="33" name="">
            <a:extLst xmlns:a="http://schemas.openxmlformats.org/drawingml/2006/main">
              <a:ext uri="{FF2B5EF4-FFF2-40B4-BE49-F238E27FC236}">
                <a16:creationId xmlns:a16="http://schemas.microsoft.com/office/drawing/2014/main" id="{05F4FC5A-192D-4410-B2CA-811B1CEDB342}"/>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Detailed explanation</a:t>
            </a:r>
          </a:p>
        </p:txBody>
      </p:sp>
      <p:sp>
        <p:nvSpPr>
          <p:cNvPr id="34" name="">
            <a:extLst xmlns:a="http://schemas.openxmlformats.org/drawingml/2006/main">
              <a:ext uri="{FF2B5EF4-FFF2-40B4-BE49-F238E27FC236}">
                <a16:creationId xmlns:a16="http://schemas.microsoft.com/office/drawing/2014/main" id="{070B2E67-13D0-4C19-B0D8-6C6BDD4895B3}"/>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B432BE6A-6D5D-4B37-8FD2-3920831F8801}"/>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Prohibited outcome</a:t>
            </a:r>
          </a:p>
        </p:txBody>
      </p:sp>
      <p:sp>
        <p:nvSpPr>
          <p:cNvPr id="36" name="">
            <a:extLst xmlns:a="http://schemas.openxmlformats.org/drawingml/2006/main">
              <a:ext uri="{FF2B5EF4-FFF2-40B4-BE49-F238E27FC236}">
                <a16:creationId xmlns:a16="http://schemas.microsoft.com/office/drawing/2014/main" id="{43B04840-3EB1-442E-8454-7ACCB89AA561}"/>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37B16759-7131-4809-B990-0439B430B126}"/>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sources   ·   CLARIFY missing context   ·   PROHIBIT unsafe actions</a:t>
            </a:r>
          </a:p>
        </p:txBody>
      </p:sp>
      <p:sp>
        <p:nvSpPr>
          <p:cNvPr id="38" name="">
            <a:extLst xmlns:a="http://schemas.openxmlformats.org/drawingml/2006/main">
              <a:ext uri="{FF2B5EF4-FFF2-40B4-BE49-F238E27FC236}">
                <a16:creationId xmlns:a16="http://schemas.microsoft.com/office/drawing/2014/main" id="{E9D0D10D-15AC-4FA9-BDF5-DA0AA2F6A6B9}"/>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3FE9D5D5-4813-431C-B77D-4CFBA9C2B88B}"/>
              </a:ext>
            </a:extLst>
          </p:cNvPr>
          <p:cNvSpPr>
            <a:spLocks xmlns:a="http://schemas.openxmlformats.org/drawingml/2006/main" noGrp="1"/>
          </p:cNvSpPr>
          <p:nvPr/>
        </p:nvSpPr>
        <p:spPr>
          <a:xfrm xmlns:a="http://schemas.openxmlformats.org/drawingml/2006/main">
            <a:off x="609600" y="45910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PRODUCT VALUE → RISK TOLERANCE → COST ENVELOPE → RELEASE DECISION</a:t>
            </a:r>
          </a:p>
        </p:txBody>
      </p:sp>
      <p:sp>
        <p:nvSpPr>
          <p:cNvPr id="40" name="">
            <a:extLst xmlns:a="http://schemas.openxmlformats.org/drawingml/2006/main">
              <a:ext uri="{FF2B5EF4-FFF2-40B4-BE49-F238E27FC236}">
                <a16:creationId xmlns:a16="http://schemas.microsoft.com/office/drawing/2014/main" id="{E1EB7BA5-2F51-44D2-B466-73A9EBBF9132}"/>
              </a:ext>
            </a:extLst>
          </p:cNvPr>
          <p:cNvSpPr>
            <a:spLocks xmlns:a="http://schemas.openxmlformats.org/drawingml/2006/main" noGrp="1"/>
          </p:cNvSpPr>
          <p:nvPr/>
        </p:nvSpPr>
        <p:spPr>
          <a:xfrm xmlns:a="http://schemas.openxmlformats.org/drawingml/2006/main">
            <a:off x="6096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Meaning: approved steps; wording may vary</a:t>
            </a:r>
          </a:p>
        </p:txBody>
      </p:sp>
      <p:sp>
        <p:nvSpPr>
          <p:cNvPr id="41" name="">
            <a:extLst xmlns:a="http://schemas.openxmlformats.org/drawingml/2006/main">
              <a:ext uri="{FF2B5EF4-FFF2-40B4-BE49-F238E27FC236}">
                <a16:creationId xmlns:a16="http://schemas.microsoft.com/office/drawing/2014/main" id="{036A2DEB-1884-4A43-A8C0-0B85F69E471E}"/>
              </a:ext>
            </a:extLst>
          </p:cNvPr>
          <p:cNvSpPr>
            <a:spLocks xmlns:a="http://schemas.openxmlformats.org/drawingml/2006/main" noGrp="1"/>
          </p:cNvSpPr>
          <p:nvPr/>
        </p:nvSpPr>
        <p:spPr>
          <a:xfrm xmlns:a="http://schemas.openxmlformats.org/drawingml/2006/main">
            <a:off x="62865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Errors: acceptable frequency AND impact</a:t>
            </a:r>
          </a:p>
        </p:txBody>
      </p:sp>
      <p:sp>
        <p:nvSpPr>
          <p:cNvPr id="42" name="">
            <a:extLst xmlns:a="http://schemas.openxmlformats.org/drawingml/2006/main">
              <a:ext uri="{FF2B5EF4-FFF2-40B4-BE49-F238E27FC236}">
                <a16:creationId xmlns:a16="http://schemas.microsoft.com/office/drawing/2014/main" id="{E334D359-00EC-4A2E-877D-00A99F8AC4D7}"/>
              </a:ext>
            </a:extLst>
          </p:cNvPr>
          <p:cNvSpPr>
            <a:spLocks xmlns:a="http://schemas.openxmlformats.org/drawingml/2006/main" noGrp="1"/>
          </p:cNvSpPr>
          <p:nvPr/>
        </p:nvSpPr>
        <p:spPr>
          <a:xfrm xmlns:a="http://schemas.openxmlformats.org/drawingml/2006/main">
            <a:off x="6096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Economics: token + review cost; latency</a:t>
            </a:r>
          </a:p>
        </p:txBody>
      </p:sp>
      <p:sp>
        <p:nvSpPr>
          <p:cNvPr id="43" name="">
            <a:extLst xmlns:a="http://schemas.openxmlformats.org/drawingml/2006/main">
              <a:ext uri="{FF2B5EF4-FFF2-40B4-BE49-F238E27FC236}">
                <a16:creationId xmlns:a16="http://schemas.microsoft.com/office/drawing/2014/main" id="{2769FD3A-A815-4B43-9E88-960FF81C60F4}"/>
              </a:ext>
            </a:extLst>
          </p:cNvPr>
          <p:cNvSpPr>
            <a:spLocks xmlns:a="http://schemas.openxmlformats.org/drawingml/2006/main" noGrp="1"/>
          </p:cNvSpPr>
          <p:nvPr/>
        </p:nvSpPr>
        <p:spPr>
          <a:xfrm xmlns:a="http://schemas.openxmlformats.org/drawingml/2006/main">
            <a:off x="62865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Liability: prohibit, escalate or use fallback</a:t>
            </a:r>
          </a:p>
        </p:txBody>
      </p:sp>
      <p:sp>
        <p:nvSpPr>
          <p:cNvPr id="44" name="">
            <a:extLst xmlns:a="http://schemas.openxmlformats.org/drawingml/2006/main">
              <a:ext uri="{FF2B5EF4-FFF2-40B4-BE49-F238E27FC236}">
                <a16:creationId xmlns:a16="http://schemas.microsoft.com/office/drawing/2014/main" id="{2914F394-6D3B-4482-9555-7A76EC461E91}"/>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Business sets tolerances; Product / BA turn them into examples, limits and acceptance rules.</a:t>
            </a:r>
          </a:p>
        </p:txBody>
      </p:sp>
      <p:sp>
        <p:nvSpPr>
          <p:cNvPr id="45" name="">
            <a:extLst xmlns:a="http://schemas.openxmlformats.org/drawingml/2006/main">
              <a:ext uri="{FF2B5EF4-FFF2-40B4-BE49-F238E27FC236}">
                <a16:creationId xmlns:a16="http://schemas.microsoft.com/office/drawing/2014/main" id="{B110841D-3261-4E9B-9506-B495C8EB23A2}"/>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Shared quality vocabulary exists. Product-specific semantic limits still need agreement.</a:t>
            </a:r>
          </a:p>
        </p:txBody>
      </p:sp>
      <p:sp>
        <p:nvSpPr>
          <p:cNvPr id="46" name="">
            <a:extLst xmlns:a="http://schemas.openxmlformats.org/drawingml/2006/main">
              <a:ext uri="{FF2B5EF4-FFF2-40B4-BE49-F238E27FC236}">
                <a16:creationId xmlns:a16="http://schemas.microsoft.com/office/drawing/2014/main" id="{9715BC0F-8EB2-490A-BFA4-789BED79BCAF}"/>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Starting points: ISO/IEC 25059 · NIST AI RMF · CheckList (ACL 2020)</a:t>
            </a:r>
          </a:p>
        </p:txBody>
      </p:sp>
      <p:sp>
        <p:nvSpPr>
          <p:cNvPr id="47" name="">
            <a:extLst xmlns:a="http://schemas.openxmlformats.org/drawingml/2006/main">
              <a:ext uri="{FF2B5EF4-FFF2-40B4-BE49-F238E27FC236}">
                <a16:creationId xmlns:a16="http://schemas.microsoft.com/office/drawing/2014/main" id="{C1F3BDED-309D-4AD1-8CCD-E075C179EEFA}"/>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From story ownership to an agreed contract for a range of outcomes.</a:t>
            </a:r>
          </a:p>
        </p:txBody>
      </p:sp>
    </p:spTree>
    <p:extLst>
      <p:ext uri="{BB962C8B-B14F-4D97-AF65-F5344CB8AC3E}">
        <p14:creationId xmlns:p14="http://schemas.microsoft.com/office/powerpoint/2010/main" val="1119137990"/>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24582B39-8A05-4A72-AF9D-1741014753C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B4EE6ABA-8729-4996-B315-2CE570E06B1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EF0A1B1-BFCD-4227-8FEF-57EF4D46BE2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B20E56D2-4781-4DF4-BA6A-B348C95DEAC3}"/>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611D5F2C-A20F-4B72-9466-0C82A51467D0}"/>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CC393029-90DD-4A63-9690-04EFCD0D3E05}"/>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B9A407BB-D7C7-4EB6-8CE1-C96CB51FBCA8}"/>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Model behavior can leave agreed tolerances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produce a prohibited outcome.</a:t>
            </a:r>
          </a:p>
        </p:txBody>
      </p:sp>
      <p:sp>
        <p:nvSpPr>
          <p:cNvPr id="8" name="">
            <a:extLst xmlns:a="http://schemas.openxmlformats.org/drawingml/2006/main">
              <a:ext uri="{FF2B5EF4-FFF2-40B4-BE49-F238E27FC236}">
                <a16:creationId xmlns:a16="http://schemas.microsoft.com/office/drawing/2014/main" id="{6AA43D94-8643-4FFA-A0E1-A1889BC93EEF}"/>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49C87457-FB5C-4A62-8693-4B5DD60EA05B}"/>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186EF88D-8D8B-4711-AF3D-6C485537E93D}"/>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4C4D442-6A97-4DA3-BF91-5644B9409FD6}"/>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FE57D2F1-6EF0-4D0E-BA66-A84189E6D180}"/>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9452DD40-969B-4498-BE21-A12B908E0423}"/>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26EB98D7-7941-4727-8A4C-C8F05A94175A}"/>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446850B1-5613-4026-8F41-D8D60A08115D}"/>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F8A6B3D7-95AD-4B92-8A89-AAEB075FEE09}"/>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7F3E998B-28C3-4617-83F1-42F12C3EE6E2}"/>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A2730AEE-FA27-4490-9F80-D0C5CF15F006}"/>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2E654CDE-B57F-4C52-9F59-CEC09608FF9A}"/>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D9AE763C-7673-4DDF-A973-3C416737AC26}"/>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463DB4DD-4D59-4E1E-9055-AC45BD3AAC54}"/>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99E823AB-979A-4000-8759-C8894C6663DF}"/>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86A1D3D5-1DF2-4214-ABE7-A6D012706B96}"/>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0BFEB000-ABFA-48E1-9825-FF85F707400D}"/>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2E760ED1-ED03-4C69-9ADA-ECA4FB1E44E4}"/>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98F0AC3E-B315-420E-BAF8-4BB5227FE39C}"/>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942BF9BB-D6AC-4AAE-88D5-4059AF4F0E01}"/>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8724FBE6-6724-49E2-9255-22695A983AAF}"/>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36F8664B-1504-4CAE-A934-889133433F2E}"/>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D480F835-7494-4119-90F1-96F2338D04CB}"/>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D9675676-6382-4E00-AC02-26679A831612}"/>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D8E2236C-9829-4D58-B2B3-DB23F259A8B0}"/>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A8573021-749B-4EAF-ADC2-67989AE990FB}"/>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7F4E418B-0D77-4FCD-913C-98A98C804C01}"/>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ce23d6799efa44df"/>
          </a:graphicData>
        </a:graphic>
      </p:graphicFrame>
      <p:sp>
        <p:nvSpPr>
          <p:cNvPr id="36" name="">
            <a:extLst xmlns:a="http://schemas.openxmlformats.org/drawingml/2006/main">
              <a:ext uri="{FF2B5EF4-FFF2-40B4-BE49-F238E27FC236}">
                <a16:creationId xmlns:a16="http://schemas.microsoft.com/office/drawing/2014/main" id="{70BF77D8-3981-44A6-99F3-68DC84127DD3}"/>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D2430C64-BFF3-4CDC-AF61-9158B869501B}"/>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38" name="">
            <a:extLst xmlns:a="http://schemas.openxmlformats.org/drawingml/2006/main">
              <a:ext uri="{FF2B5EF4-FFF2-40B4-BE49-F238E27FC236}">
                <a16:creationId xmlns:a16="http://schemas.microsoft.com/office/drawing/2014/main" id="{945CD8CF-9A13-4367-A13B-BAE31647E4AD}"/>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Observed unacceptable outputs</a:t>
            </a:r>
          </a:p>
        </p:txBody>
      </p:sp>
      <p:sp>
        <p:nvSpPr>
          <p:cNvPr id="39" name="">
            <a:extLst xmlns:a="http://schemas.openxmlformats.org/drawingml/2006/main">
              <a:ext uri="{FF2B5EF4-FFF2-40B4-BE49-F238E27FC236}">
                <a16:creationId xmlns:a16="http://schemas.microsoft.com/office/drawing/2014/main" id="{2DFB4F79-FE5E-46BE-BDDF-09E8815B101E}"/>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0" name="">
            <a:extLst xmlns:a="http://schemas.openxmlformats.org/drawingml/2006/main">
              <a:ext uri="{FF2B5EF4-FFF2-40B4-BE49-F238E27FC236}">
                <a16:creationId xmlns:a16="http://schemas.microsoft.com/office/drawing/2014/main" id="{48FC214C-3600-494B-9906-1B0898EAD7F0}"/>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1" name="">
            <a:extLst xmlns:a="http://schemas.openxmlformats.org/drawingml/2006/main">
              <a:ext uri="{FF2B5EF4-FFF2-40B4-BE49-F238E27FC236}">
                <a16:creationId xmlns:a16="http://schemas.microsoft.com/office/drawing/2014/main" id="{04A12626-C915-452C-8A02-CCA43F37D1E4}"/>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2" name="">
            <a:extLst xmlns:a="http://schemas.openxmlformats.org/drawingml/2006/main">
              <a:ext uri="{FF2B5EF4-FFF2-40B4-BE49-F238E27FC236}">
                <a16:creationId xmlns:a16="http://schemas.microsoft.com/office/drawing/2014/main" id="{A739B8AD-6A4A-45FE-A7D4-6F7D98412DB5}"/>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3" name="">
            <a:extLst xmlns:a="http://schemas.openxmlformats.org/drawingml/2006/main">
              <a:ext uri="{FF2B5EF4-FFF2-40B4-BE49-F238E27FC236}">
                <a16:creationId xmlns:a16="http://schemas.microsoft.com/office/drawing/2014/main" id="{ABBBABD4-6608-4CAC-9D58-F0529DAA747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routine, edge and adversarial cases. Eval Gate: compare versions against agreed limits.</a:t>
            </a:r>
          </a:p>
        </p:txBody>
      </p:sp>
      <p:sp>
        <p:nvSpPr>
          <p:cNvPr id="44" name="">
            <a:extLst xmlns:a="http://schemas.openxmlformats.org/drawingml/2006/main">
              <a:ext uri="{FF2B5EF4-FFF2-40B4-BE49-F238E27FC236}">
                <a16:creationId xmlns:a16="http://schemas.microsoft.com/office/drawing/2014/main" id="{DC56CED8-A54E-41C2-85F2-DA87709E1160}"/>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calibrates the evaluator with domain experts. Incidents become new regression cases.</a:t>
            </a:r>
          </a:p>
        </p:txBody>
      </p:sp>
      <p:sp>
        <p:nvSpPr>
          <p:cNvPr id="45" name="">
            <a:extLst xmlns:a="http://schemas.openxmlformats.org/drawingml/2006/main">
              <a:ext uri="{FF2B5EF4-FFF2-40B4-BE49-F238E27FC236}">
                <a16:creationId xmlns:a16="http://schemas.microsoft.com/office/drawing/2014/main" id="{2588282D-D40B-41BB-8BE2-B8DB2AB09B7F}"/>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Product + BA agree limits. QA + Dev measure. Risk / release owner decides.</a:t>
            </a:r>
          </a:p>
        </p:txBody>
      </p:sp>
    </p:spTree>
    <p:extLst>
      <p:ext uri="{BB962C8B-B14F-4D97-AF65-F5344CB8AC3E}">
        <p14:creationId xmlns:p14="http://schemas.microsoft.com/office/powerpoint/2010/main" val="1623181057"/>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F16F86-7505-4274-959C-24D10726315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48883D4D-402F-48A6-8CD0-E3901C31069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8C7F26E-3233-4136-A7C9-A6F18C65777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9F83CFDC-078F-4A3E-9D26-F1A5E15AF820}"/>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DEVELOPERS + QA · readiness and completion need stronger evidence</a:t>
            </a:r>
          </a:p>
        </p:txBody>
      </p:sp>
      <p:sp>
        <p:nvSpPr>
          <p:cNvPr id="5" name="">
            <a:extLst xmlns:a="http://schemas.openxmlformats.org/drawingml/2006/main">
              <a:ext uri="{FF2B5EF4-FFF2-40B4-BE49-F238E27FC236}">
                <a16:creationId xmlns:a16="http://schemas.microsoft.com/office/drawing/2014/main" id="{33763154-5BC0-4EDB-85AA-1A3747102146}"/>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The same two questions: are we ready to start, and have we completed the work?</a:t>
            </a:r>
          </a:p>
        </p:txBody>
      </p:sp>
      <p:graphicFrame>
        <p:nvGraphicFramePr>
          <p:cNvPr id="17" name=""/>
          <p:cNvGraphicFramePr/>
          <p:nvPr/>
        </p:nvGraphicFramePr>
        <p:xfrm>
          <a:off xmlns:a="http://schemas.openxmlformats.org/drawingml/2006/main" x="609600" y="2381250"/>
          <a:ext xmlns:a="http://schemas.openxmlformats.org/drawingml/2006/main" cx="10972800" cy="2781300"/>
        </p:xfrm>
        <a:graphic xmlns:a="http://schemas.openxmlformats.org/drawingml/2006/main">
          <a:graphicData uri="http://schemas.openxmlformats.org/drawingml/2006/table">
            <a:tbl>
              <a:tblPr/>
              <a:tblGrid>
                <a:gridCol w="1562100"/>
                <a:gridCol w="3810000"/>
                <a:gridCol w="5600700"/>
              </a:tblGrid>
              <a:tr h="381000">
                <a:tc>
                  <a:txBody>
                    <a:bodyPr lIns="171450" tIns="76200" rIns="171450" bIns="76200">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76200" rIns="171450" bIns="76200">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76200" rIns="171450" bIns="76200">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1200150">
                <a:tc>
                  <a:txBody>
                    <a:bodyPr lIns="171450" tIns="76200" rIns="171450" bIns="76200">
                      <a:noAutofit/>
                    </a:bodyPr>
                    <a:lstStyle/>
                    <a:p>
                      <a:r>
                        <a:rPr sz="1575" b="1">
                          <a:solidFill>
                            <a:srgbClr val="F4F7FA"/>
                          </a:solidFill>
                          <a:latin typeface="Arial"/>
                          <a:ea typeface="Arial"/>
                          <a:cs typeface="Arial"/>
                        </a:rPr>
                        <a:t>DoR</a:t>
                      </a:r>
                    </a:p>
                    <a:p>
                      <a:r>
                        <a:rPr sz="1575" b="1">
                          <a:solidFill>
                            <a:srgbClr val="F4F7FA"/>
                          </a:solidFill>
                          <a:latin typeface="Arial"/>
                          <a:ea typeface="Arial"/>
                          <a:cs typeface="Arial"/>
                        </a:rPr>
                        <a:t>READY</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Outcome and acceptance criteria</a:t>
                      </a:r>
                    </a:p>
                    <a:p>
                      <a:r>
                        <a:rPr sz="1575" b="0">
                          <a:solidFill>
                            <a:srgbClr val="F4F7FA"/>
                          </a:solidFill>
                          <a:latin typeface="Arial"/>
                          <a:ea typeface="Arial"/>
                          <a:cs typeface="Arial"/>
                        </a:rPr>
                        <a:t>Dependencies and feasibility</a:t>
                      </a:r>
                    </a:p>
                    <a:p>
                      <a:r>
                        <a:rPr sz="1575" b="0">
                          <a:solidFill>
                            <a:srgbClr val="F4F7FA"/>
                          </a:solidFill>
                          <a:latin typeface="Arial"/>
                          <a:ea typeface="Arial"/>
                          <a:cs typeface="Arial"/>
                        </a:rPr>
                        <a:t>Test approach and responsibilities</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Acceptable variation + prohibited outcomes</a:t>
                      </a:r>
                    </a:p>
                    <a:p>
                      <a:r>
                        <a:rPr sz="1575" b="0">
                          <a:solidFill>
                            <a:srgbClr val="28C7F7"/>
                          </a:solidFill>
                          <a:latin typeface="Arial"/>
                          <a:ea typeface="Arial"/>
                          <a:cs typeface="Arial"/>
                        </a:rPr>
                        <a:t>Evaluation plan + complete control / HITL design</a:t>
                      </a:r>
                    </a:p>
                    <a:p>
                      <a:r>
                        <a:rPr sz="1575" b="0">
                          <a:solidFill>
                            <a:srgbClr val="28C7F7"/>
                          </a:solidFill>
                          <a:latin typeface="Arial"/>
                          <a:ea typeface="Arial"/>
                          <a:cs typeface="Arial"/>
                        </a:rPr>
                        <a:t>Cost, latency and human-capacity limits</a:t>
                      </a:r>
                    </a:p>
                  </a:txBody>
                  <a:tcPr marL="91440" marR="91440" marT="45720" marB="45720" anchor="ctr">
                    <a:solidFill>
                      <a:srgbClr val="0B0F14"/>
                    </a:solidFill>
                  </a:tcPr>
                </a:tc>
              </a:tr>
              <a:tr h="1200150">
                <a:tc>
                  <a:txBody>
                    <a:bodyPr lIns="171450" tIns="76200" rIns="171450" bIns="76200">
                      <a:noAutofit/>
                    </a:bodyPr>
                    <a:lstStyle/>
                    <a:p>
                      <a:r>
                        <a:rPr sz="1575" b="1">
                          <a:solidFill>
                            <a:srgbClr val="F4F7FA"/>
                          </a:solidFill>
                          <a:latin typeface="Arial"/>
                          <a:ea typeface="Arial"/>
                          <a:cs typeface="Arial"/>
                        </a:rPr>
                        <a:t>DoD</a:t>
                      </a:r>
                    </a:p>
                    <a:p>
                      <a:r>
                        <a:rPr sz="1575" b="1">
                          <a:solidFill>
                            <a:srgbClr val="F4F7FA"/>
                          </a:solidFill>
                          <a:latin typeface="Arial"/>
                          <a:ea typeface="Arial"/>
                          <a:cs typeface="Arial"/>
                        </a:rPr>
                        <a:t>DONE</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Reviewed implementation</a:t>
                      </a:r>
                    </a:p>
                    <a:p>
                      <a:r>
                        <a:rPr sz="1575" b="0">
                          <a:solidFill>
                            <a:srgbClr val="F4F7FA"/>
                          </a:solidFill>
                          <a:latin typeface="Arial"/>
                          <a:ea typeface="Arial"/>
                          <a:cs typeface="Arial"/>
                        </a:rPr>
                        <a:t>Tests and acceptance checks pass</a:t>
                      </a:r>
                    </a:p>
                    <a:p>
                      <a:r>
                        <a:rPr sz="1575" b="0">
                          <a:solidFill>
                            <a:srgbClr val="F4F7FA"/>
                          </a:solidFill>
                          <a:latin typeface="Arial"/>
                          <a:ea typeface="Arial"/>
                          <a:cs typeface="Arial"/>
                        </a:rPr>
                        <a:t>Operational handover is ready</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Versioned evidence + statistical Eval Gates</a:t>
                      </a:r>
                    </a:p>
                    <a:p>
                      <a:r>
                        <a:rPr sz="1575" b="0">
                          <a:solidFill>
                            <a:srgbClr val="28C7F7"/>
                          </a:solidFill>
                          <a:latin typeface="Arial"/>
                          <a:ea typeface="Arial"/>
                          <a:cs typeface="Arial"/>
                        </a:rPr>
                        <a:t>Coverage, uncertainty and measured limits</a:t>
                      </a:r>
                    </a:p>
                    <a:p>
                      <a:r>
                        <a:rPr sz="1575" b="0">
                          <a:solidFill>
                            <a:srgbClr val="28C7F7"/>
                          </a:solidFill>
                          <a:latin typeface="Arial"/>
                          <a:ea typeface="Arial"/>
                          <a:cs typeface="Arial"/>
                        </a:rPr>
                        <a:t>Working controls + rehearsed human / fallback paths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79EA52A3-0DAD-4454-9FE3-58B959206F9F}"/>
              </a:ext>
            </a:extLst>
          </p:cNvPr>
          <p:cNvSpPr>
            <a:spLocks xmlns:a="http://schemas.openxmlformats.org/drawingml/2006/main" noGrp="1"/>
          </p:cNvSpPr>
          <p:nvPr/>
        </p:nvSpPr>
        <p:spPr>
          <a:xfrm xmlns:a="http://schemas.openxmlformats.org/drawingml/2006/main">
            <a:off x="609600" y="52673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RELEASE AND OPERATE</a:t>
            </a:r>
          </a:p>
        </p:txBody>
      </p:sp>
      <p:sp>
        <p:nvSpPr>
          <p:cNvPr id="8" name="">
            <a:extLst xmlns:a="http://schemas.openxmlformats.org/drawingml/2006/main">
              <a:ext uri="{FF2B5EF4-FFF2-40B4-BE49-F238E27FC236}">
                <a16:creationId xmlns:a16="http://schemas.microsoft.com/office/drawing/2014/main" id="{C0B60B37-E6CF-4A6D-8B15-2A40AECD1618}"/>
              </a:ext>
            </a:extLst>
          </p:cNvPr>
          <p:cNvSpPr>
            <a:spLocks xmlns:a="http://schemas.openxmlformats.org/drawingml/2006/main" noGrp="1"/>
          </p:cNvSpPr>
          <p:nvPr/>
        </p:nvSpPr>
        <p:spPr>
          <a:xfrm xmlns:a="http://schemas.openxmlformats.org/drawingml/2006/main">
            <a:off x="609600" y="55435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Approve evidence, residual risk and rollout scope. Keep monitoring and responders active.</a:t>
            </a:r>
          </a:p>
        </p:txBody>
      </p:sp>
      <p:sp>
        <p:nvSpPr>
          <p:cNvPr id="9" name="">
            <a:extLst xmlns:a="http://schemas.openxmlformats.org/drawingml/2006/main">
              <a:ext uri="{FF2B5EF4-FFF2-40B4-BE49-F238E27FC236}">
                <a16:creationId xmlns:a16="http://schemas.microsoft.com/office/drawing/2014/main" id="{E8E47183-8124-4817-B760-19BEF0C727A3}"/>
              </a:ext>
            </a:extLst>
          </p:cNvPr>
          <p:cNvSpPr>
            <a:spLocks xmlns:a="http://schemas.openxmlformats.org/drawingml/2006/main" noGrp="1"/>
          </p:cNvSpPr>
          <p:nvPr/>
        </p:nvSpPr>
        <p:spPr>
          <a:xfrm xmlns:a="http://schemas.openxmlformats.org/drawingml/2006/main">
            <a:off x="609600" y="583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28C7F7"/>
                </a:solidFill>
                <a:latin typeface="Arial"/>
                <a:ea typeface="Arial"/>
                <a:cs typeface="Arial"/>
              </a:defRPr>
            </a:pPr>
            <a:r>
              <a:rPr sz="1500" b="0">
                <a:solidFill>
                  <a:srgbClr val="28C7F7"/>
                </a:solidFill>
                <a:latin typeface="Arial"/>
                <a:ea typeface="Arial"/>
                <a:cs typeface="Arial"/>
              </a:rPr>
              <a:t>Production incidents update regression cases, Eval Gates and monitoring rules.</a:t>
            </a:r>
          </a:p>
        </p:txBody>
      </p:sp>
      <p:sp>
        <p:nvSpPr>
          <p:cNvPr id="10" name="">
            <a:extLst xmlns:a="http://schemas.openxmlformats.org/drawingml/2006/main">
              <a:ext uri="{FF2B5EF4-FFF2-40B4-BE49-F238E27FC236}">
                <a16:creationId xmlns:a16="http://schemas.microsoft.com/office/drawing/2014/main" id="{909695C1-8B35-43E6-B03A-57142FDD33F1}"/>
              </a:ext>
            </a:extLst>
          </p:cNvPr>
          <p:cNvSpPr>
            <a:spLocks xmlns:a="http://schemas.openxmlformats.org/drawingml/2006/main" noGrp="1"/>
          </p:cNvSpPr>
          <p:nvPr/>
        </p:nvSpPr>
        <p:spPr>
          <a:xfrm xmlns:a="http://schemas.openxmlformats.org/drawingml/2006/main">
            <a:off x="609600" y="61436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Cost is part of readiness and verified limits. Completion and release remain distinct decisions.</a:t>
            </a:r>
          </a:p>
        </p:txBody>
      </p:sp>
      <p:sp>
        <p:nvSpPr>
          <p:cNvPr id="11" name="">
            <a:extLst xmlns:a="http://schemas.openxmlformats.org/drawingml/2006/main">
              <a:ext uri="{FF2B5EF4-FFF2-40B4-BE49-F238E27FC236}">
                <a16:creationId xmlns:a16="http://schemas.microsoft.com/office/drawing/2014/main" id="{98EF1A00-D1F6-4D79-A099-031532F701A2}"/>
              </a:ext>
            </a:extLst>
          </p:cNvPr>
          <p:cNvSpPr>
            <a:spLocks xmlns:a="http://schemas.openxmlformats.org/drawingml/2006/main" noGrp="1"/>
          </p:cNvSpPr>
          <p:nvPr/>
        </p:nvSpPr>
        <p:spPr>
          <a:xfrm xmlns:a="http://schemas.openxmlformats.org/drawingml/2006/main">
            <a:off x="609600" y="64389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Ready: a credible plan. Done: implemented and evidenced. Release: authorized use.</a:t>
            </a:r>
          </a:p>
        </p:txBody>
      </p:sp>
    </p:spTree>
    <p:extLst>
      <p:ext uri="{BB962C8B-B14F-4D97-AF65-F5344CB8AC3E}">
        <p14:creationId xmlns:p14="http://schemas.microsoft.com/office/powerpoint/2010/main" val="2086365371"/>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E43C83B6-498D-42D7-BCB9-22DD770015F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83E2B2E6-57E3-4C61-ADEE-89ED640463E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8368891-923F-4ACE-8C3F-299CA6B1CF0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9E779553-610A-49CA-8B48-B2537080CA78}"/>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ARCHITECT · the system includes control, people and recovery</a:t>
            </a:r>
          </a:p>
        </p:txBody>
      </p:sp>
      <p:sp>
        <p:nvSpPr>
          <p:cNvPr id="5" name="">
            <a:extLst xmlns:a="http://schemas.openxmlformats.org/drawingml/2006/main">
              <a:ext uri="{FF2B5EF4-FFF2-40B4-BE49-F238E27FC236}">
                <a16:creationId xmlns:a16="http://schemas.microsoft.com/office/drawing/2014/main" id="{56FFAEB8-0008-449B-A4C4-5E9DD3087357}"/>
              </a:ext>
            </a:extLst>
          </p:cNvPr>
          <p:cNvSpPr>
            <a:spLocks xmlns:a="http://schemas.openxmlformats.org/drawingml/2006/main" noGrp="1"/>
          </p:cNvSpPr>
          <p:nvPr/>
        </p:nvSpPr>
        <p:spPr>
          <a:xfrm xmlns:a="http://schemas.openxmlformats.org/drawingml/2006/main">
            <a:off x="609600" y="20574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COMPLETE CONTROL PERIMETER</a:t>
            </a:r>
          </a:p>
        </p:txBody>
      </p:sp>
      <p:sp>
        <p:nvSpPr>
          <p:cNvPr id="6" name="">
            <a:extLst xmlns:a="http://schemas.openxmlformats.org/drawingml/2006/main">
              <a:ext uri="{FF2B5EF4-FFF2-40B4-BE49-F238E27FC236}">
                <a16:creationId xmlns:a16="http://schemas.microsoft.com/office/drawing/2014/main" id="{5679B7E7-C464-4DA8-85FA-034ED8366626}"/>
              </a:ext>
            </a:extLst>
          </p:cNvPr>
          <p:cNvSpPr>
            <a:spLocks xmlns:a="http://schemas.openxmlformats.org/drawingml/2006/main" noGrp="1"/>
          </p:cNvSpPr>
          <p:nvPr/>
        </p:nvSpPr>
        <p:spPr>
          <a:xfrm xmlns:a="http://schemas.openxmlformats.org/drawingml/2006/main">
            <a:off x="609600" y="2381250"/>
            <a:ext cx="7620000" cy="2733675"/>
          </a:xfrm>
          <a:prstGeom xmlns:a="http://schemas.openxmlformats.org/drawingml/2006/main" prst="rect">
            <a:avLst/>
          </a:prstGeom>
          <a:noFill xmlns:a="http://schemas.openxmlformats.org/drawingml/2006/main"/>
          <a:ln xmlns:a="http://schemas.openxmlformats.org/drawingml/2006/main" w="14288">
            <a:solidFill>
              <a:srgbClr val="344454"/>
            </a:solidFill>
            <a:prstDash val="solid"/>
          </a:ln>
        </p:spPr>
      </p:sp>
      <p:sp>
        <p:nvSpPr>
          <p:cNvPr id="7" name="">
            <a:extLst xmlns:a="http://schemas.openxmlformats.org/drawingml/2006/main">
              <a:ext uri="{FF2B5EF4-FFF2-40B4-BE49-F238E27FC236}">
                <a16:creationId xmlns:a16="http://schemas.microsoft.com/office/drawing/2014/main" id="{084A9B41-0EA2-4045-831F-210426BA7683}"/>
              </a:ext>
            </a:extLst>
          </p:cNvPr>
          <p:cNvSpPr>
            <a:spLocks xmlns:a="http://schemas.openxmlformats.org/drawingml/2006/main" noGrp="1"/>
          </p:cNvSpPr>
          <p:nvPr/>
        </p:nvSpPr>
        <p:spPr>
          <a:xfrm xmlns:a="http://schemas.openxmlformats.org/drawingml/2006/main">
            <a:off x="838200" y="2428875"/>
            <a:ext cx="716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5B61C"/>
                </a:solidFill>
                <a:latin typeface="Arial"/>
                <a:ea typeface="Arial"/>
                <a:cs typeface="Arial"/>
              </a:defRPr>
            </a:pPr>
            <a:r>
              <a:rPr sz="1500" b="1">
                <a:solidFill>
                  <a:srgbClr val="F5B61C"/>
                </a:solidFill>
                <a:latin typeface="Arial"/>
                <a:ea typeface="Arial"/>
                <a:cs typeface="Arial"/>
              </a:rPr>
              <a:t>Approved boundaries + credible enforcement</a:t>
            </a:r>
          </a:p>
        </p:txBody>
      </p:sp>
      <p:sp>
        <p:nvSpPr>
          <p:cNvPr id="8" name="">
            <a:extLst xmlns:a="http://schemas.openxmlformats.org/drawingml/2006/main">
              <a:ext uri="{FF2B5EF4-FFF2-40B4-BE49-F238E27FC236}">
                <a16:creationId xmlns:a16="http://schemas.microsoft.com/office/drawing/2014/main" id="{2E2FCA8B-9F62-461F-896A-35664BA379DD}"/>
              </a:ext>
            </a:extLst>
          </p:cNvPr>
          <p:cNvSpPr>
            <a:spLocks xmlns:a="http://schemas.openxmlformats.org/drawingml/2006/main" noGrp="1"/>
          </p:cNvSpPr>
          <p:nvPr/>
        </p:nvSpPr>
        <p:spPr>
          <a:xfrm xmlns:a="http://schemas.openxmlformats.org/drawingml/2006/main">
            <a:off x="838200" y="2809875"/>
            <a:ext cx="22098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3D3A9B6-08E6-4F6D-95AD-6EC790AC24C8}"/>
              </a:ext>
            </a:extLst>
          </p:cNvPr>
          <p:cNvSpPr>
            <a:spLocks xmlns:a="http://schemas.openxmlformats.org/drawingml/2006/main" noGrp="1"/>
          </p:cNvSpPr>
          <p:nvPr/>
        </p:nvSpPr>
        <p:spPr>
          <a:xfrm xmlns:a="http://schemas.openxmlformats.org/drawingml/2006/main">
            <a:off x="952500" y="2886075"/>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 + tools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Business action</a:t>
            </a:r>
          </a:p>
        </p:txBody>
      </p:sp>
      <p:sp>
        <p:nvSpPr>
          <p:cNvPr id="10" name="">
            <a:extLst xmlns:a="http://schemas.openxmlformats.org/drawingml/2006/main">
              <a:ext uri="{FF2B5EF4-FFF2-40B4-BE49-F238E27FC236}">
                <a16:creationId xmlns:a16="http://schemas.microsoft.com/office/drawing/2014/main" id="{0CFD8B09-934C-424C-A3AC-21C9BFDA3A9E}"/>
              </a:ext>
            </a:extLst>
          </p:cNvPr>
          <p:cNvSpPr>
            <a:spLocks xmlns:a="http://schemas.openxmlformats.org/drawingml/2006/main" noGrp="1"/>
          </p:cNvSpPr>
          <p:nvPr/>
        </p:nvSpPr>
        <p:spPr>
          <a:xfrm xmlns:a="http://schemas.openxmlformats.org/drawingml/2006/main">
            <a:off x="5715000" y="2809875"/>
            <a:ext cx="22860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DBB2017F-FB62-43EE-9BFC-59249C285ACD}"/>
              </a:ext>
            </a:extLst>
          </p:cNvPr>
          <p:cNvSpPr>
            <a:spLocks xmlns:a="http://schemas.openxmlformats.org/drawingml/2006/main" noGrp="1"/>
          </p:cNvSpPr>
          <p:nvPr/>
        </p:nvSpPr>
        <p:spPr>
          <a:xfrm xmlns:a="http://schemas.openxmlformats.org/drawingml/2006/main">
            <a:off x="5829300" y="2886075"/>
            <a:ext cx="2057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Observe behavior</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and control health</a:t>
            </a:r>
          </a:p>
        </p:txBody>
      </p:sp>
      <p:sp>
        <p:nvSpPr>
          <p:cNvPr id="12" name="">
            <a:extLst xmlns:a="http://schemas.openxmlformats.org/drawingml/2006/main">
              <a:ext uri="{FF2B5EF4-FFF2-40B4-BE49-F238E27FC236}">
                <a16:creationId xmlns:a16="http://schemas.microsoft.com/office/drawing/2014/main" id="{F1A79175-57BE-4980-B9CF-060C50A6608F}"/>
              </a:ext>
            </a:extLst>
          </p:cNvPr>
          <p:cNvSpPr>
            <a:spLocks xmlns:a="http://schemas.openxmlformats.org/drawingml/2006/main" noGrp="1"/>
          </p:cNvSpPr>
          <p:nvPr/>
        </p:nvSpPr>
        <p:spPr>
          <a:xfrm xmlns:a="http://schemas.openxmlformats.org/drawingml/2006/main">
            <a:off x="5715000" y="4162425"/>
            <a:ext cx="22860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1AC14F80-5BE0-43F0-BED0-920CE94D8E7A}"/>
              </a:ext>
            </a:extLst>
          </p:cNvPr>
          <p:cNvSpPr>
            <a:spLocks xmlns:a="http://schemas.openxmlformats.org/drawingml/2006/main" noGrp="1"/>
          </p:cNvSpPr>
          <p:nvPr/>
        </p:nvSpPr>
        <p:spPr>
          <a:xfrm xmlns:a="http://schemas.openxmlformats.org/drawingml/2006/main">
            <a:off x="5829300" y="4238625"/>
            <a:ext cx="2057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14" name="">
            <a:extLst xmlns:a="http://schemas.openxmlformats.org/drawingml/2006/main">
              <a:ext uri="{FF2B5EF4-FFF2-40B4-BE49-F238E27FC236}">
                <a16:creationId xmlns:a16="http://schemas.microsoft.com/office/drawing/2014/main" id="{1A50B7FF-B89F-4BF6-87C3-2F092B6C5235}"/>
              </a:ext>
            </a:extLst>
          </p:cNvPr>
          <p:cNvSpPr>
            <a:spLocks xmlns:a="http://schemas.openxmlformats.org/drawingml/2006/main" noGrp="1"/>
          </p:cNvSpPr>
          <p:nvPr/>
        </p:nvSpPr>
        <p:spPr>
          <a:xfrm xmlns:a="http://schemas.openxmlformats.org/drawingml/2006/main">
            <a:off x="838200" y="4162425"/>
            <a:ext cx="22098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B235E041-B899-4201-90BF-C591B726FA02}"/>
              </a:ext>
            </a:extLst>
          </p:cNvPr>
          <p:cNvSpPr>
            <a:spLocks xmlns:a="http://schemas.openxmlformats.org/drawingml/2006/main" noGrp="1"/>
          </p:cNvSpPr>
          <p:nvPr/>
        </p:nvSpPr>
        <p:spPr>
          <a:xfrm xmlns:a="http://schemas.openxmlformats.org/drawingml/2006/main">
            <a:off x="952500" y="4238625"/>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Fallback / rollback</a:t>
            </a:r>
          </a:p>
        </p:txBody>
      </p:sp>
      <p:cxnSp>
        <p:nvCxnSpPr>
          <p:cNvPr id="56" name=""/>
          <p:cNvCxnSpPr>
            <a:stCxn xmlns:a="http://schemas.openxmlformats.org/drawingml/2006/main" id="8" idx="3"/>
            <a:endCxn xmlns:a="http://schemas.openxmlformats.org/drawingml/2006/main" id="10" idx="1"/>
          </p:cNvCxnSpPr>
          <p:nvPr/>
        </p:nvCxnSpPr>
        <p:spPr>
          <a:xfrm xmlns:a="http://schemas.openxmlformats.org/drawingml/2006/main">
            <a:off x="3048000" y="3109913"/>
            <a:ext cx="26670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0" idx="2"/>
            <a:endCxn xmlns:a="http://schemas.openxmlformats.org/drawingml/2006/main" id="12" idx="0"/>
          </p:cNvCxnSpPr>
          <p:nvPr/>
        </p:nvCxnSpPr>
        <p:spPr>
          <a:xfrm xmlns:a="http://schemas.openxmlformats.org/drawingml/2006/main">
            <a:off x="6858000" y="3409950"/>
            <a:ext cx="0" cy="7524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C9F5C66B-2BB9-4532-9CB8-C27C684ECB21}"/>
              </a:ext>
            </a:extLst>
          </p:cNvPr>
          <p:cNvSpPr>
            <a:spLocks xmlns:a="http://schemas.openxmlformats.org/drawingml/2006/main" noGrp="1"/>
          </p:cNvSpPr>
          <p:nvPr/>
        </p:nvSpPr>
        <p:spPr>
          <a:xfrm xmlns:a="http://schemas.openxmlformats.org/drawingml/2006/main" flipH="0" flipV="0">
            <a:off x="6858000" y="4762500"/>
            <a:ext cx="0" cy="20955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9" name="">
            <a:extLst xmlns:a="http://schemas.openxmlformats.org/drawingml/2006/main">
              <a:ext uri="{FF2B5EF4-FFF2-40B4-BE49-F238E27FC236}">
                <a16:creationId xmlns:a16="http://schemas.microsoft.com/office/drawing/2014/main" id="{8D17073B-FD3E-47E1-BAF4-1F391132DD16}"/>
              </a:ext>
            </a:extLst>
          </p:cNvPr>
          <p:cNvSpPr>
            <a:spLocks xmlns:a="http://schemas.openxmlformats.org/drawingml/2006/main" noGrp="1"/>
          </p:cNvSpPr>
          <p:nvPr/>
        </p:nvSpPr>
        <p:spPr>
          <a:xfrm xmlns:a="http://schemas.openxmlformats.org/drawingml/2006/main" flipH="1" flipV="0">
            <a:off x="1943100" y="4972050"/>
            <a:ext cx="491490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20" name="">
            <a:extLst xmlns:a="http://schemas.openxmlformats.org/drawingml/2006/main">
              <a:ext uri="{FF2B5EF4-FFF2-40B4-BE49-F238E27FC236}">
                <a16:creationId xmlns:a16="http://schemas.microsoft.com/office/drawing/2014/main" id="{F8F34EA1-6411-4111-A920-3B60C8579476}"/>
              </a:ext>
            </a:extLst>
          </p:cNvPr>
          <p:cNvSpPr>
            <a:spLocks xmlns:a="http://schemas.openxmlformats.org/drawingml/2006/main" noGrp="1"/>
          </p:cNvSpPr>
          <p:nvPr/>
        </p:nvSpPr>
        <p:spPr>
          <a:xfrm xmlns:a="http://schemas.openxmlformats.org/drawingml/2006/main">
            <a:off x="1938338" y="4962525"/>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61" name=""/>
          <p:cNvCxnSpPr>
            <a:stCxn xmlns:a="http://schemas.openxmlformats.org/drawingml/2006/main" id="20" idx="0"/>
            <a:endCxn xmlns:a="http://schemas.openxmlformats.org/drawingml/2006/main" id="14" idx="2"/>
          </p:cNvCxnSpPr>
          <p:nvPr/>
        </p:nvCxnSpPr>
        <p:spPr>
          <a:xfrm xmlns:a="http://schemas.openxmlformats.org/drawingml/2006/main" flipH="1" flipV="1">
            <a:off x="1943100" y="4762500"/>
            <a:ext cx="0" cy="20002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2" name=""/>
          <p:cNvCxnSpPr>
            <a:stCxn xmlns:a="http://schemas.openxmlformats.org/drawingml/2006/main" id="14" idx="0"/>
            <a:endCxn xmlns:a="http://schemas.openxmlformats.org/drawingml/2006/main" id="8" idx="2"/>
          </p:cNvCxnSpPr>
          <p:nvPr/>
        </p:nvCxnSpPr>
        <p:spPr>
          <a:xfrm xmlns:a="http://schemas.openxmlformats.org/drawingml/2006/main" flipV="1">
            <a:off x="1943100" y="3409950"/>
            <a:ext cx="0" cy="7524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3" name="">
            <a:extLst xmlns:a="http://schemas.openxmlformats.org/drawingml/2006/main">
              <a:ext uri="{FF2B5EF4-FFF2-40B4-BE49-F238E27FC236}">
                <a16:creationId xmlns:a16="http://schemas.microsoft.com/office/drawing/2014/main" id="{E8F32C87-938E-4D73-99DA-FB45BCC09B62}"/>
              </a:ext>
            </a:extLst>
          </p:cNvPr>
          <p:cNvSpPr>
            <a:spLocks xmlns:a="http://schemas.openxmlformats.org/drawingml/2006/main" noGrp="1"/>
          </p:cNvSpPr>
          <p:nvPr/>
        </p:nvSpPr>
        <p:spPr>
          <a:xfrm xmlns:a="http://schemas.openxmlformats.org/drawingml/2006/main">
            <a:off x="3352800" y="3619500"/>
            <a:ext cx="2057400" cy="10477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24" name="">
            <a:extLst xmlns:a="http://schemas.openxmlformats.org/drawingml/2006/main">
              <a:ext uri="{FF2B5EF4-FFF2-40B4-BE49-F238E27FC236}">
                <a16:creationId xmlns:a16="http://schemas.microsoft.com/office/drawing/2014/main" id="{70267008-D84D-4102-B6A6-BB82F5590DC6}"/>
              </a:ext>
            </a:extLst>
          </p:cNvPr>
          <p:cNvSpPr>
            <a:spLocks xmlns:a="http://schemas.openxmlformats.org/drawingml/2006/main" noGrp="1"/>
          </p:cNvSpPr>
          <p:nvPr/>
        </p:nvSpPr>
        <p:spPr>
          <a:xfrm xmlns:a="http://schemas.openxmlformats.org/drawingml/2006/main">
            <a:off x="3467100" y="3695700"/>
            <a:ext cx="1828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HUMAN AUTHORITY</a:t>
            </a:r>
          </a:p>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Context + competence + real decision rights</a:t>
            </a:r>
          </a:p>
        </p:txBody>
      </p:sp>
      <p:cxnSp>
        <p:nvCxnSpPr>
          <p:cNvPr id="65" name=""/>
          <p:cNvCxnSpPr>
            <a:stCxn xmlns:a="http://schemas.openxmlformats.org/drawingml/2006/main" id="23" idx="3"/>
            <a:endCxn xmlns:a="http://schemas.openxmlformats.org/drawingml/2006/main" id="12" idx="1"/>
          </p:cNvCxnSpPr>
          <p:nvPr/>
        </p:nvCxnSpPr>
        <p:spPr>
          <a:xfrm xmlns:a="http://schemas.openxmlformats.org/drawingml/2006/main">
            <a:off x="5410200" y="4143375"/>
            <a:ext cx="304800" cy="319088"/>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6" name="">
            <a:extLst xmlns:a="http://schemas.openxmlformats.org/drawingml/2006/main">
              <a:ext uri="{FF2B5EF4-FFF2-40B4-BE49-F238E27FC236}">
                <a16:creationId xmlns:a16="http://schemas.microsoft.com/office/drawing/2014/main" id="{B54ACB35-9383-4740-AD8E-94A7FADA2494}"/>
              </a:ext>
            </a:extLst>
          </p:cNvPr>
          <p:cNvSpPr>
            <a:spLocks xmlns:a="http://schemas.openxmlformats.org/drawingml/2006/main" noGrp="1"/>
          </p:cNvSpPr>
          <p:nvPr/>
        </p:nvSpPr>
        <p:spPr>
          <a:xfrm xmlns:a="http://schemas.openxmlformats.org/drawingml/2006/main">
            <a:off x="3276600" y="3209925"/>
            <a:ext cx="2247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DB8C5"/>
                </a:solidFill>
                <a:latin typeface="Arial"/>
                <a:ea typeface="Arial"/>
                <a:cs typeface="Arial"/>
              </a:defRPr>
            </a:pPr>
            <a:r>
              <a:rPr sz="1200" b="0">
                <a:solidFill>
                  <a:srgbClr val="ADB8C5"/>
                </a:solidFill>
                <a:latin typeface="Arial"/>
                <a:ea typeface="Arial"/>
                <a:cs typeface="Arial"/>
              </a:rPr>
              <a:t>Response time + peak capacity</a:t>
            </a:r>
          </a:p>
          <a:p xmlns:a="http://schemas.openxmlformats.org/drawingml/2006/main">
            <a:pPr algn="ctr">
              <a:defRPr sz="1200" b="0">
                <a:solidFill>
                  <a:srgbClr val="ADB8C5"/>
                </a:solidFill>
                <a:latin typeface="Arial"/>
                <a:ea typeface="Arial"/>
                <a:cs typeface="Arial"/>
              </a:defRPr>
            </a:pPr>
            <a:r>
              <a:rPr sz="1200" b="0">
                <a:solidFill>
                  <a:srgbClr val="ADB8C5"/>
                </a:solidFill>
                <a:latin typeface="Arial"/>
                <a:ea typeface="Arial"/>
                <a:cs typeface="Arial"/>
              </a:rPr>
              <a:t>Backup coverage</a:t>
            </a:r>
          </a:p>
        </p:txBody>
      </p:sp>
      <p:sp>
        <p:nvSpPr>
          <p:cNvPr id="27" name="">
            <a:extLst xmlns:a="http://schemas.openxmlformats.org/drawingml/2006/main">
              <a:ext uri="{FF2B5EF4-FFF2-40B4-BE49-F238E27FC236}">
                <a16:creationId xmlns:a16="http://schemas.microsoft.com/office/drawing/2014/main" id="{EB527D91-A994-4FC3-A02E-D812BFB96B27}"/>
              </a:ext>
            </a:extLst>
          </p:cNvPr>
          <p:cNvSpPr>
            <a:spLocks xmlns:a="http://schemas.openxmlformats.org/drawingml/2006/main" noGrp="1"/>
          </p:cNvSpPr>
          <p:nvPr/>
        </p:nvSpPr>
        <p:spPr>
          <a:xfrm xmlns:a="http://schemas.openxmlformats.org/drawingml/2006/main" flipH="0" flipV="0">
            <a:off x="8486775" y="2076450"/>
            <a:ext cx="0" cy="3038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BA09FC0E-55E0-461C-9E96-A168CC010FF9}"/>
              </a:ext>
            </a:extLst>
          </p:cNvPr>
          <p:cNvSpPr>
            <a:spLocks xmlns:a="http://schemas.openxmlformats.org/drawingml/2006/main" noGrp="1"/>
          </p:cNvSpPr>
          <p:nvPr/>
        </p:nvSpPr>
        <p:spPr>
          <a:xfrm xmlns:a="http://schemas.openxmlformats.org/drawingml/2006/main">
            <a:off x="8743950" y="2057400"/>
            <a:ext cx="283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F6B75"/>
                </a:solidFill>
                <a:latin typeface="Arial"/>
                <a:ea typeface="Arial"/>
                <a:cs typeface="Arial"/>
              </a:defRPr>
            </a:pPr>
            <a:r>
              <a:rPr sz="1500" b="1">
                <a:solidFill>
                  <a:srgbClr val="FF6B75"/>
                </a:solidFill>
                <a:latin typeface="Arial"/>
                <a:ea typeface="Arial"/>
                <a:cs typeface="Arial"/>
              </a:rPr>
              <a:t>ARCHITECTURAL VETO</a:t>
            </a:r>
          </a:p>
        </p:txBody>
      </p:sp>
      <p:sp>
        <p:nvSpPr>
          <p:cNvPr id="29" name="">
            <a:extLst xmlns:a="http://schemas.openxmlformats.org/drawingml/2006/main">
              <a:ext uri="{FF2B5EF4-FFF2-40B4-BE49-F238E27FC236}">
                <a16:creationId xmlns:a16="http://schemas.microsoft.com/office/drawing/2014/main" id="{C5A1C687-6BDD-434E-AC6D-2898B03B0220}"/>
              </a:ext>
            </a:extLst>
          </p:cNvPr>
          <p:cNvSpPr>
            <a:spLocks xmlns:a="http://schemas.openxmlformats.org/drawingml/2006/main" noGrp="1"/>
          </p:cNvSpPr>
          <p:nvPr/>
        </p:nvSpPr>
        <p:spPr>
          <a:xfrm xmlns:a="http://schemas.openxmlformats.org/drawingml/2006/main">
            <a:off x="8743950" y="2409825"/>
            <a:ext cx="2838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Required control cannot be made reliable and operable within the approved boundaries?</a:t>
            </a:r>
          </a:p>
        </p:txBody>
      </p:sp>
      <p:sp>
        <p:nvSpPr>
          <p:cNvPr id="30" name="">
            <a:extLst xmlns:a="http://schemas.openxmlformats.org/drawingml/2006/main">
              <a:ext uri="{FF2B5EF4-FFF2-40B4-BE49-F238E27FC236}">
                <a16:creationId xmlns:a16="http://schemas.microsoft.com/office/drawing/2014/main" id="{7E64ABBD-3EE9-4A0E-ABD0-4D84E2193ECE}"/>
              </a:ext>
            </a:extLst>
          </p:cNvPr>
          <p:cNvSpPr>
            <a:spLocks xmlns:a="http://schemas.openxmlformats.org/drawingml/2006/main" noGrp="1"/>
          </p:cNvSpPr>
          <p:nvPr/>
        </p:nvSpPr>
        <p:spPr>
          <a:xfrm xmlns:a="http://schemas.openxmlformats.org/drawingml/2006/main">
            <a:off x="8743950" y="3667125"/>
            <a:ext cx="28384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F6B75"/>
                </a:solidFill>
                <a:latin typeface="Arial"/>
                <a:ea typeface="Arial"/>
                <a:cs typeface="Arial"/>
              </a:defRPr>
            </a:pPr>
            <a:r>
              <a:rPr sz="1800" b="1">
                <a:solidFill>
                  <a:srgbClr val="FF6B75"/>
                </a:solidFill>
                <a:latin typeface="Arial"/>
                <a:ea typeface="Arial"/>
                <a:cs typeface="Arial"/>
              </a:rPr>
              <a:t>Narrow, redesign or reject this AI path.</a:t>
            </a:r>
          </a:p>
        </p:txBody>
      </p:sp>
      <p:sp>
        <p:nvSpPr>
          <p:cNvPr id="31" name="">
            <a:extLst xmlns:a="http://schemas.openxmlformats.org/drawingml/2006/main">
              <a:ext uri="{FF2B5EF4-FFF2-40B4-BE49-F238E27FC236}">
                <a16:creationId xmlns:a16="http://schemas.microsoft.com/office/drawing/2014/main" id="{10C69A77-F5AA-4F5A-AA10-B60E82F6502C}"/>
              </a:ext>
            </a:extLst>
          </p:cNvPr>
          <p:cNvSpPr>
            <a:spLocks xmlns:a="http://schemas.openxmlformats.org/drawingml/2006/main" noGrp="1"/>
          </p:cNvSpPr>
          <p:nvPr/>
        </p:nvSpPr>
        <p:spPr>
          <a:xfrm xmlns:a="http://schemas.openxmlformats.org/drawingml/2006/main">
            <a:off x="8743950" y="4343400"/>
            <a:ext cx="2838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Missing evidence, ineffective intervention or nominal human oversight can block production.</a:t>
            </a:r>
          </a:p>
        </p:txBody>
      </p:sp>
      <p:sp>
        <p:nvSpPr>
          <p:cNvPr id="32" name="">
            <a:extLst xmlns:a="http://schemas.openxmlformats.org/drawingml/2006/main">
              <a:ext uri="{FF2B5EF4-FFF2-40B4-BE49-F238E27FC236}">
                <a16:creationId xmlns:a16="http://schemas.microsoft.com/office/drawing/2014/main" id="{895DDEB8-44B5-40ED-979B-BAD62833693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WHY THIS DOMAIN IS HARD</a:t>
            </a:r>
          </a:p>
        </p:txBody>
      </p:sp>
      <p:sp>
        <p:nvSpPr>
          <p:cNvPr id="33" name="">
            <a:extLst xmlns:a="http://schemas.openxmlformats.org/drawingml/2006/main">
              <a:ext uri="{FF2B5EF4-FFF2-40B4-BE49-F238E27FC236}">
                <a16:creationId xmlns:a16="http://schemas.microsoft.com/office/drawing/2014/main" id="{0DC1A4C2-904F-4B75-8E90-92CFBCBEBAD4}"/>
              </a:ext>
            </a:extLst>
          </p:cNvPr>
          <p:cNvSpPr>
            <a:spLocks xmlns:a="http://schemas.openxmlformats.org/drawingml/2006/main" noGrp="1"/>
          </p:cNvSpPr>
          <p:nvPr/>
        </p:nvSpPr>
        <p:spPr>
          <a:xfrm xmlns:a="http://schemas.openxmlformats.org/drawingml/2006/main">
            <a:off x="60960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Latency + human capacity</a:t>
            </a:r>
          </a:p>
        </p:txBody>
      </p:sp>
      <p:sp>
        <p:nvSpPr>
          <p:cNvPr id="34" name="">
            <a:extLst xmlns:a="http://schemas.openxmlformats.org/drawingml/2006/main">
              <a:ext uri="{FF2B5EF4-FFF2-40B4-BE49-F238E27FC236}">
                <a16:creationId xmlns:a16="http://schemas.microsoft.com/office/drawing/2014/main" id="{BC534034-C3BF-4225-8CC2-0527764E3F45}"/>
              </a:ext>
            </a:extLst>
          </p:cNvPr>
          <p:cNvSpPr>
            <a:spLocks xmlns:a="http://schemas.openxmlformats.org/drawingml/2006/main" noGrp="1"/>
          </p:cNvSpPr>
          <p:nvPr/>
        </p:nvSpPr>
        <p:spPr>
          <a:xfrm xmlns:a="http://schemas.openxmlformats.org/drawingml/2006/main">
            <a:off x="60960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Will detection and intervention be timely?</a:t>
            </a:r>
          </a:p>
        </p:txBody>
      </p:sp>
      <p:sp>
        <p:nvSpPr>
          <p:cNvPr id="35" name="">
            <a:extLst xmlns:a="http://schemas.openxmlformats.org/drawingml/2006/main">
              <a:ext uri="{FF2B5EF4-FFF2-40B4-BE49-F238E27FC236}">
                <a16:creationId xmlns:a16="http://schemas.microsoft.com/office/drawing/2014/main" id="{8D1AD913-E339-4CEA-9358-DD5A3CA6657F}"/>
              </a:ext>
            </a:extLst>
          </p:cNvPr>
          <p:cNvSpPr>
            <a:spLocks xmlns:a="http://schemas.openxmlformats.org/drawingml/2006/main" noGrp="1"/>
          </p:cNvSpPr>
          <p:nvPr/>
        </p:nvSpPr>
        <p:spPr>
          <a:xfrm xmlns:a="http://schemas.openxmlformats.org/drawingml/2006/main">
            <a:off x="432435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Token + control costs</a:t>
            </a:r>
          </a:p>
        </p:txBody>
      </p:sp>
      <p:sp>
        <p:nvSpPr>
          <p:cNvPr id="36" name="">
            <a:extLst xmlns:a="http://schemas.openxmlformats.org/drawingml/2006/main">
              <a:ext uri="{FF2B5EF4-FFF2-40B4-BE49-F238E27FC236}">
                <a16:creationId xmlns:a16="http://schemas.microsoft.com/office/drawing/2014/main" id="{CCEDD487-D3A9-42B0-8BF7-B2E6A7BE55C0}"/>
              </a:ext>
            </a:extLst>
          </p:cNvPr>
          <p:cNvSpPr>
            <a:spLocks xmlns:a="http://schemas.openxmlformats.org/drawingml/2006/main" noGrp="1"/>
          </p:cNvSpPr>
          <p:nvPr/>
        </p:nvSpPr>
        <p:spPr>
          <a:xfrm xmlns:a="http://schemas.openxmlformats.org/drawingml/2006/main">
            <a:off x="432435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Calls, evaluation and review demand vary.</a:t>
            </a:r>
          </a:p>
        </p:txBody>
      </p:sp>
      <p:sp>
        <p:nvSpPr>
          <p:cNvPr id="37" name="">
            <a:extLst xmlns:a="http://schemas.openxmlformats.org/drawingml/2006/main">
              <a:ext uri="{FF2B5EF4-FFF2-40B4-BE49-F238E27FC236}">
                <a16:creationId xmlns:a16="http://schemas.microsoft.com/office/drawing/2014/main" id="{CCC1DC4A-DF95-4A9C-AB8E-72C834F38B3C}"/>
              </a:ext>
            </a:extLst>
          </p:cNvPr>
          <p:cNvSpPr>
            <a:spLocks xmlns:a="http://schemas.openxmlformats.org/drawingml/2006/main" noGrp="1"/>
          </p:cNvSpPr>
          <p:nvPr/>
        </p:nvSpPr>
        <p:spPr>
          <a:xfrm xmlns:a="http://schemas.openxmlformats.org/drawingml/2006/main">
            <a:off x="803910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Opaque vendor changes</a:t>
            </a:r>
          </a:p>
        </p:txBody>
      </p:sp>
      <p:sp>
        <p:nvSpPr>
          <p:cNvPr id="38" name="">
            <a:extLst xmlns:a="http://schemas.openxmlformats.org/drawingml/2006/main">
              <a:ext uri="{FF2B5EF4-FFF2-40B4-BE49-F238E27FC236}">
                <a16:creationId xmlns:a16="http://schemas.microsoft.com/office/drawing/2014/main" id="{B1E9474B-A5BC-4317-B780-8EEC4B998359}"/>
              </a:ext>
            </a:extLst>
          </p:cNvPr>
          <p:cNvSpPr>
            <a:spLocks xmlns:a="http://schemas.openxmlformats.org/drawingml/2006/main" noGrp="1"/>
          </p:cNvSpPr>
          <p:nvPr/>
        </p:nvSpPr>
        <p:spPr>
          <a:xfrm xmlns:a="http://schemas.openxmlformats.org/drawingml/2006/main">
            <a:off x="803910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Behavior may change without a local commit.</a:t>
            </a:r>
          </a:p>
        </p:txBody>
      </p:sp>
      <p:sp>
        <p:nvSpPr>
          <p:cNvPr id="39" name="">
            <a:extLst xmlns:a="http://schemas.openxmlformats.org/drawingml/2006/main">
              <a:ext uri="{FF2B5EF4-FFF2-40B4-BE49-F238E27FC236}">
                <a16:creationId xmlns:a16="http://schemas.microsoft.com/office/drawing/2014/main" id="{EC3A4CCB-6FE4-4F43-97DB-9E614CC416D9}"/>
              </a:ext>
            </a:extLst>
          </p:cNvPr>
          <p:cNvSpPr>
            <a:spLocks xmlns:a="http://schemas.openxmlformats.org/drawingml/2006/main" noGrp="1"/>
          </p:cNvSpPr>
          <p:nvPr/>
        </p:nvSpPr>
        <p:spPr>
          <a:xfrm xmlns:a="http://schemas.openxmlformats.org/drawingml/2006/main">
            <a:off x="609600" y="61817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Unknown load: bounded trial with working controls, exposure limits and stop criteria.</a:t>
            </a:r>
          </a:p>
        </p:txBody>
      </p:sp>
      <p:sp>
        <p:nvSpPr>
          <p:cNvPr id="40" name="">
            <a:extLst xmlns:a="http://schemas.openxmlformats.org/drawingml/2006/main">
              <a:ext uri="{FF2B5EF4-FFF2-40B4-BE49-F238E27FC236}">
                <a16:creationId xmlns:a16="http://schemas.microsoft.com/office/drawing/2014/main" id="{642DBAD9-5E67-4E13-A923-AB1A9811D791}"/>
              </a:ext>
            </a:extLst>
          </p:cNvPr>
          <p:cNvSpPr>
            <a:spLocks xmlns:a="http://schemas.openxmlformats.org/drawingml/2006/main" noGrp="1"/>
          </p:cNvSpPr>
          <p:nvPr/>
        </p:nvSpPr>
        <p:spPr>
          <a:xfrm xmlns:a="http://schemas.openxmlformats.org/drawingml/2006/main">
            <a:off x="609600" y="647700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A feedback arrow is insufficient. The complete control path must work.</a:t>
            </a:r>
          </a:p>
        </p:txBody>
      </p:sp>
    </p:spTree>
    <p:extLst>
      <p:ext uri="{BB962C8B-B14F-4D97-AF65-F5344CB8AC3E}">
        <p14:creationId xmlns:p14="http://schemas.microsoft.com/office/powerpoint/2010/main" val="145469633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4444B0B-76D3-4C23-8600-B744434859E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26C5C3E3-4201-487F-9A57-A46694DED3D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CF9F5AE-FAE6-4FC7-8E58-98A71F4A459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AA067862-B31A-44F2-ABF4-7834536ED27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understand the changed system of work</a:t>
            </a:r>
          </a:p>
        </p:txBody>
      </p:sp>
      <p:sp>
        <p:nvSpPr>
          <p:cNvPr id="5" name="">
            <a:extLst xmlns:a="http://schemas.openxmlformats.org/drawingml/2006/main">
              <a:ext uri="{FF2B5EF4-FFF2-40B4-BE49-F238E27FC236}">
                <a16:creationId xmlns:a16="http://schemas.microsoft.com/office/drawing/2014/main" id="{9DB4180A-0940-4964-8B8D-10C89BEF9598}"/>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Scope, schedule, cost, risk and stakeholders remain the foundation.</a:t>
            </a:r>
          </a:p>
        </p:txBody>
      </p:sp>
      <p:sp>
        <p:nvSpPr>
          <p:cNvPr id="6" name="">
            <a:extLst xmlns:a="http://schemas.openxmlformats.org/drawingml/2006/main">
              <a:ext uri="{FF2B5EF4-FFF2-40B4-BE49-F238E27FC236}">
                <a16:creationId xmlns:a16="http://schemas.microsoft.com/office/drawing/2014/main" id="{C6CA8803-0ACD-4B2D-B168-4B7B7F6CF984}"/>
              </a:ext>
            </a:extLst>
          </p:cNvPr>
          <p:cNvSpPr>
            <a:spLocks xmlns:a="http://schemas.openxmlformats.org/drawingml/2006/main" noGrp="1"/>
          </p:cNvSpPr>
          <p:nvPr/>
        </p:nvSpPr>
        <p:spPr>
          <a:xfrm xmlns:a="http://schemas.openxmlformats.org/drawingml/2006/main">
            <a:off x="609600" y="23526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 KNOWLEDGE GAP CAN BECOME A DELIVERY DEPENDENCY</a:t>
            </a:r>
          </a:p>
        </p:txBody>
      </p:sp>
      <p:sp>
        <p:nvSpPr>
          <p:cNvPr id="7" name="">
            <a:extLst xmlns:a="http://schemas.openxmlformats.org/drawingml/2006/main">
              <a:ext uri="{FF2B5EF4-FFF2-40B4-BE49-F238E27FC236}">
                <a16:creationId xmlns:a16="http://schemas.microsoft.com/office/drawing/2014/main" id="{8947D1BC-C55F-4361-ACFE-D70C78CB28AD}"/>
              </a:ext>
            </a:extLst>
          </p:cNvPr>
          <p:cNvSpPr>
            <a:spLocks xmlns:a="http://schemas.openxmlformats.org/drawingml/2006/main" noGrp="1"/>
          </p:cNvSpPr>
          <p:nvPr/>
        </p:nvSpPr>
        <p:spPr>
          <a:xfrm xmlns:a="http://schemas.openxmlformats.org/drawingml/2006/main">
            <a:off x="6096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64407807-BE76-4DF0-A064-AB2E9465D9B4}"/>
              </a:ext>
            </a:extLst>
          </p:cNvPr>
          <p:cNvSpPr>
            <a:spLocks xmlns:a="http://schemas.openxmlformats.org/drawingml/2006/main" noGrp="1"/>
          </p:cNvSpPr>
          <p:nvPr/>
        </p:nvSpPr>
        <p:spPr>
          <a:xfrm xmlns:a="http://schemas.openxmlformats.org/drawingml/2006/main">
            <a:off x="7239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AI adds code in a language</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the team does not know</a:t>
            </a:r>
          </a:p>
        </p:txBody>
      </p:sp>
      <p:sp>
        <p:nvSpPr>
          <p:cNvPr id="9" name="">
            <a:extLst xmlns:a="http://schemas.openxmlformats.org/drawingml/2006/main">
              <a:ext uri="{FF2B5EF4-FFF2-40B4-BE49-F238E27FC236}">
                <a16:creationId xmlns:a16="http://schemas.microsoft.com/office/drawing/2014/main" id="{751D1146-9291-4088-B02C-8ADC6CE2AD92}"/>
              </a:ext>
            </a:extLst>
          </p:cNvPr>
          <p:cNvSpPr>
            <a:spLocks xmlns:a="http://schemas.openxmlformats.org/drawingml/2006/main" noGrp="1"/>
          </p:cNvSpPr>
          <p:nvPr/>
        </p:nvSpPr>
        <p:spPr>
          <a:xfrm xmlns:a="http://schemas.openxmlformats.org/drawingml/2006/main">
            <a:off x="451485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0" name="">
            <a:extLst xmlns:a="http://schemas.openxmlformats.org/drawingml/2006/main">
              <a:ext uri="{FF2B5EF4-FFF2-40B4-BE49-F238E27FC236}">
                <a16:creationId xmlns:a16="http://schemas.microsoft.com/office/drawing/2014/main" id="{CF2D3B6D-8326-46B7-8784-979695CA8E83}"/>
              </a:ext>
            </a:extLst>
          </p:cNvPr>
          <p:cNvSpPr>
            <a:spLocks xmlns:a="http://schemas.openxmlformats.org/drawingml/2006/main" noGrp="1"/>
          </p:cNvSpPr>
          <p:nvPr/>
        </p:nvSpPr>
        <p:spPr>
          <a:xfrm xmlns:a="http://schemas.openxmlformats.org/drawingml/2006/main">
            <a:off x="462915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 small component grows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into a critical dependency</a:t>
            </a:r>
          </a:p>
        </p:txBody>
      </p:sp>
      <p:sp>
        <p:nvSpPr>
          <p:cNvPr id="11" name="">
            <a:extLst xmlns:a="http://schemas.openxmlformats.org/drawingml/2006/main">
              <a:ext uri="{FF2B5EF4-FFF2-40B4-BE49-F238E27FC236}">
                <a16:creationId xmlns:a16="http://schemas.microsoft.com/office/drawing/2014/main" id="{981D4A24-5A2B-4910-9E21-D050909564FF}"/>
              </a:ext>
            </a:extLst>
          </p:cNvPr>
          <p:cNvSpPr>
            <a:spLocks xmlns:a="http://schemas.openxmlformats.org/drawingml/2006/main" noGrp="1"/>
          </p:cNvSpPr>
          <p:nvPr/>
        </p:nvSpPr>
        <p:spPr>
          <a:xfrm xmlns:a="http://schemas.openxmlformats.org/drawingml/2006/main">
            <a:off x="84201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2" name="">
            <a:extLst xmlns:a="http://schemas.openxmlformats.org/drawingml/2006/main">
              <a:ext uri="{FF2B5EF4-FFF2-40B4-BE49-F238E27FC236}">
                <a16:creationId xmlns:a16="http://schemas.microsoft.com/office/drawing/2014/main" id="{634DFDC9-2787-44B6-9130-12448D31BFF6}"/>
              </a:ext>
            </a:extLst>
          </p:cNvPr>
          <p:cNvSpPr>
            <a:spLocks xmlns:a="http://schemas.openxmlformats.org/drawingml/2006/main" noGrp="1"/>
          </p:cNvSpPr>
          <p:nvPr/>
        </p:nvSpPr>
        <p:spPr>
          <a:xfrm xmlns:a="http://schemas.openxmlformats.org/drawingml/2006/main">
            <a:off x="85344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qualified review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one can recover it</a:t>
            </a:r>
          </a:p>
        </p:txBody>
      </p:sp>
      <p:cxnSp>
        <p:nvCxnSpPr>
          <p:cNvPr id="32" name=""/>
          <p:cNvCxnSpPr>
            <a:stCxn xmlns:a="http://schemas.openxmlformats.org/drawingml/2006/main" id="7" idx="3"/>
            <a:endCxn xmlns:a="http://schemas.openxmlformats.org/drawingml/2006/main" id="9" idx="1"/>
          </p:cNvCxnSpPr>
          <p:nvPr/>
        </p:nvCxnSpPr>
        <p:spPr>
          <a:xfrm xmlns:a="http://schemas.openxmlformats.org/drawingml/2006/main">
            <a:off x="3771900" y="2933700"/>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3" name=""/>
          <p:cNvCxnSpPr>
            <a:stCxn xmlns:a="http://schemas.openxmlformats.org/drawingml/2006/main" id="9" idx="3"/>
            <a:endCxn xmlns:a="http://schemas.openxmlformats.org/drawingml/2006/main" id="11" idx="1"/>
          </p:cNvCxnSpPr>
          <p:nvPr/>
        </p:nvCxnSpPr>
        <p:spPr>
          <a:xfrm xmlns:a="http://schemas.openxmlformats.org/drawingml/2006/main">
            <a:off x="7677150" y="2933700"/>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5" name="">
            <a:extLst xmlns:a="http://schemas.openxmlformats.org/drawingml/2006/main">
              <a:ext uri="{FF2B5EF4-FFF2-40B4-BE49-F238E27FC236}">
                <a16:creationId xmlns:a16="http://schemas.microsoft.com/office/drawing/2014/main" id="{06BEA655-3F36-4A62-AC9E-44F669BC583B}"/>
              </a:ext>
            </a:extLst>
          </p:cNvPr>
          <p:cNvSpPr>
            <a:spLocks xmlns:a="http://schemas.openxmlformats.org/drawingml/2006/main" noGrp="1"/>
          </p:cNvSpPr>
          <p:nvPr/>
        </p:nvSpPr>
        <p:spPr>
          <a:xfrm xmlns:a="http://schemas.openxmlformats.org/drawingml/2006/main">
            <a:off x="609600" y="32670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PM tracks the gap, its owner and closure evidence before criticality grows.</a:t>
            </a:r>
          </a:p>
        </p:txBody>
      </p:sp>
      <p:graphicFrame>
        <p:nvGraphicFramePr>
          <p:cNvPr id="35" name=""/>
          <p:cNvGraphicFramePr/>
          <p:nvPr/>
        </p:nvGraphicFramePr>
        <p:xfrm>
          <a:off xmlns:a="http://schemas.openxmlformats.org/drawingml/2006/main" x="609600" y="3667125"/>
          <a:ext xmlns:a="http://schemas.openxmlformats.org/drawingml/2006/main" cx="10972800" cy="2000250"/>
        </p:xfrm>
        <a:graphic xmlns:a="http://schemas.openxmlformats.org/drawingml/2006/main">
          <a:graphicData uri="http://schemas.openxmlformats.org/drawingml/2006/table">
            <a:tbl>
              <a:tblPr/>
              <a:tblGrid>
                <a:gridCol w="2247900"/>
                <a:gridCol w="4362450"/>
                <a:gridCol w="4362450"/>
              </a:tblGrid>
              <a:tr h="342900">
                <a:tc>
                  <a:txBody>
                    <a:bodyPr lIns="171450" tIns="38100" rIns="171450" bIns="38100">
                      <a:noAutofit/>
                    </a:bodyPr>
                    <a:lstStyle/>
                    <a:p>
                      <a:r>
                        <a:rPr sz="1575" b="1">
                          <a:solidFill>
                            <a:srgbClr val="F4F7FA"/>
                          </a:solidFill>
                          <a:latin typeface="Arial"/>
                          <a:ea typeface="Arial"/>
                          <a:cs typeface="Arial"/>
                        </a:rPr>
                        <a:t>PM RESPONSIBILITY</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38100" rIns="171450" bIns="38100">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552450">
                <a:tc>
                  <a:txBody>
                    <a:bodyPr lIns="171450" tIns="38100" rIns="171450" bIns="38100">
                      <a:noAutofit/>
                    </a:bodyPr>
                    <a:lstStyle/>
                    <a:p>
                      <a:r>
                        <a:rPr sz="1425" b="1">
                          <a:solidFill>
                            <a:srgbClr val="F4F7FA"/>
                          </a:solidFill>
                          <a:latin typeface="Arial"/>
                          <a:ea typeface="Arial"/>
                          <a:cs typeface="Arial"/>
                        </a:rPr>
                        <a:t>Expertise + ownership</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New stack, reviewer coverage,</a:t>
                      </a:r>
                    </a:p>
                    <a:p>
                      <a:r>
                        <a:rPr sz="1425" b="0">
                          <a:solidFill>
                            <a:srgbClr val="F4F7FA"/>
                          </a:solidFill>
                          <a:latin typeface="Arial"/>
                          <a:ea typeface="Arial"/>
                          <a:cs typeface="Arial"/>
                        </a:rPr>
                        <a:t>understanding and recovery capability</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Changed BA / QA / Dev / Architect work,</a:t>
                      </a:r>
                    </a:p>
                    <a:p>
                      <a:r>
                        <a:rPr sz="1425" b="0">
                          <a:solidFill>
                            <a:srgbClr val="28C7F7"/>
                          </a:solidFill>
                          <a:latin typeface="Arial"/>
                          <a:ea typeface="Arial"/>
                          <a:cs typeface="Arial"/>
                        </a:rPr>
                        <a:t>human authority and escalation capacity</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Evidence + flow</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Review load, rework and batch size</a:t>
                      </a:r>
                    </a:p>
                    <a:p>
                      <a:r>
                        <a:rPr sz="1425" b="0">
                          <a:solidFill>
                            <a:srgbClr val="F4F7FA"/>
                          </a:solidFill>
                          <a:latin typeface="Arial"/>
                          <a:ea typeface="Arial"/>
                          <a:cs typeface="Arial"/>
                        </a:rPr>
                        <a:t>Learning and dependency validation</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Sample uncertainty, error severity,</a:t>
                      </a:r>
                    </a:p>
                    <a:p>
                      <a:r>
                        <a:rPr sz="1425" b="0">
                          <a:solidFill>
                            <a:srgbClr val="28C7F7"/>
                          </a:solidFill>
                          <a:latin typeface="Arial"/>
                          <a:ea typeface="Arial"/>
                          <a:cs typeface="Arial"/>
                        </a:rPr>
                        <a:t>eval quality and control effectiveness</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Decision dependencies</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Prototype growth needs reassessment</a:t>
                      </a:r>
                    </a:p>
                    <a:p>
                      <a:r>
                        <a:rPr sz="1425" b="0">
                          <a:solidFill>
                            <a:srgbClr val="F4F7FA"/>
                          </a:solidFill>
                          <a:latin typeface="Arial"/>
                          <a:ea typeface="Arial"/>
                          <a:cs typeface="Arial"/>
                        </a:rPr>
                        <a:t>Training / staffing / scope decision</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Vendor change, operating cost and</a:t>
                      </a:r>
                    </a:p>
                    <a:p>
                      <a:r>
                        <a:rPr sz="1425" b="0">
                          <a:solidFill>
                            <a:srgbClr val="28C7F7"/>
                          </a:solidFill>
                          <a:latin typeface="Arial"/>
                          <a:ea typeface="Arial"/>
                          <a:cs typeface="Arial"/>
                        </a:rPr>
                        <a:t>response-time limits need owners</a:t>
                      </a:r>
                    </a:p>
                  </a:txBody>
                  <a:tcPr marL="91440" marR="91440" marT="45720" marB="45720" anchor="ctr">
                    <a:solidFill>
                      <a:srgbClr val="0B0F14"/>
                    </a:solidFill>
                  </a:tcPr>
                </a:tc>
              </a:tr>
            </a:tbl>
          </a:graphicData>
        </a:graphic>
      </p:graphicFrame>
      <p:sp>
        <p:nvSpPr>
          <p:cNvPr id="17" name="">
            <a:extLst xmlns:a="http://schemas.openxmlformats.org/drawingml/2006/main">
              <a:ext uri="{FF2B5EF4-FFF2-40B4-BE49-F238E27FC236}">
                <a16:creationId xmlns:a16="http://schemas.microsoft.com/office/drawing/2014/main" id="{0EF10F1C-68E1-4D47-BE6C-361CE06C75F7}"/>
              </a:ext>
            </a:extLst>
          </p:cNvPr>
          <p:cNvSpPr>
            <a:spLocks xmlns:a="http://schemas.openxmlformats.org/drawingml/2006/main" noGrp="1"/>
          </p:cNvSpPr>
          <p:nvPr/>
        </p:nvSpPr>
        <p:spPr>
          <a:xfrm xmlns:a="http://schemas.openxmlformats.org/drawingml/2006/main">
            <a:off x="609600" y="58007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Arial"/>
                <a:ea typeface="Arial"/>
                <a:cs typeface="Arial"/>
              </a:defRPr>
            </a:pPr>
            <a:r>
              <a:rPr sz="1575" b="0">
                <a:solidFill>
                  <a:srgbClr val="F5B61C"/>
                </a:solidFill>
                <a:latin typeface="Arial"/>
                <a:ea typeface="Arial"/>
                <a:cs typeface="Arial"/>
              </a:rPr>
              <a:t>Statistical literacy: question the sample, uncertainty, thresholds and decision evidence.</a:t>
            </a:r>
          </a:p>
        </p:txBody>
      </p:sp>
      <p:sp>
        <p:nvSpPr>
          <p:cNvPr id="18" name="">
            <a:extLst xmlns:a="http://schemas.openxmlformats.org/drawingml/2006/main">
              <a:ext uri="{FF2B5EF4-FFF2-40B4-BE49-F238E27FC236}">
                <a16:creationId xmlns:a16="http://schemas.microsoft.com/office/drawing/2014/main" id="{0CE88211-956D-4D98-B0CB-50187431BE5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PM connects specialists and makes gaps actionable. Domain owners keep their decisions.</a:t>
            </a:r>
          </a:p>
        </p:txBody>
      </p:sp>
      <p:sp>
        <p:nvSpPr>
          <p:cNvPr id="19" name="">
            <a:extLst xmlns:a="http://schemas.openxmlformats.org/drawingml/2006/main">
              <a:ext uri="{FF2B5EF4-FFF2-40B4-BE49-F238E27FC236}">
                <a16:creationId xmlns:a16="http://schemas.microsoft.com/office/drawing/2014/main" id="{A45915CB-7ACD-4C25-BD25-68DB2F024028}"/>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Working code, team competence and operating readiness must develop together.</a:t>
            </a:r>
          </a:p>
        </p:txBody>
      </p:sp>
    </p:spTree>
    <p:extLst>
      <p:ext uri="{BB962C8B-B14F-4D97-AF65-F5344CB8AC3E}">
        <p14:creationId xmlns:p14="http://schemas.microsoft.com/office/powerpoint/2010/main" val="735230978"/>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52C28AD1-5A2E-4510-A2FB-E0BA8297177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AB8F3F9C-FAA8-4B25-A05B-3988922D2F2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A1B6B2F-3AB5-457B-BCB0-D64753110EF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88060AE3-BFF0-44E8-A6F1-7B5F4F46D480}"/>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246FD6F9-C568-4218-AAAE-2A4CD810D7CF}"/>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118EC242-9D59-4DB8-9029-81F5996596D3}"/>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Working increments, commitments</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and operational ownership.</a:t>
            </a:r>
          </a:p>
        </p:txBody>
      </p:sp>
      <p:sp>
        <p:nvSpPr>
          <p:cNvPr id="7" name="">
            <a:extLst xmlns:a="http://schemas.openxmlformats.org/drawingml/2006/main">
              <a:ext uri="{FF2B5EF4-FFF2-40B4-BE49-F238E27FC236}">
                <a16:creationId xmlns:a16="http://schemas.microsoft.com/office/drawing/2014/main" id="{986836C8-19CE-44A4-9067-3CCB38BB37D4}"/>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44C55311-9EBD-4C9F-9961-909F57EC816A}"/>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Each material change reopens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a hypothesis and its evidence.</a:t>
            </a:r>
          </a:p>
        </p:txBody>
      </p:sp>
      <p:sp>
        <p:nvSpPr>
          <p:cNvPr id="9" name="">
            <a:extLst xmlns:a="http://schemas.openxmlformats.org/drawingml/2006/main">
              <a:ext uri="{FF2B5EF4-FFF2-40B4-BE49-F238E27FC236}">
                <a16:creationId xmlns:a16="http://schemas.microsoft.com/office/drawing/2014/main" id="{95E338C0-3E2B-4EE6-8E75-9722B41C444C}"/>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67A313F9-1D0F-4588-92E5-566BEA03EB87}"/>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ABC98FAA-FC1C-46A2-828C-BA47F84648CE}"/>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51D05A3A-8A94-4D19-8CD2-3C234A4B6CDC}"/>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57E0D7B8-B9B8-4A59-A25D-0C44206C576C}"/>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0AF93A44-5A5D-4F98-AC64-F2964AF01A8E}"/>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ADDDAC8A-C5CF-4F79-8E87-76CC2FF74BC0}"/>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690A5877-2FEA-46F5-96C0-E9277AD9CBA1}"/>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E10AA76F-A157-4954-B0B7-ED565AA1785D}"/>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99DA33C9-D77F-4BE5-8450-341BE3808E9A}"/>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30B46881-C102-4B9C-A548-4A589AE337BE}"/>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2321292A-3DD2-45C8-A21E-1C420BB743A5}"/>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THE TEAM’S OPERATING MODEL</a:t>
            </a:r>
          </a:p>
        </p:txBody>
      </p:sp>
      <p:sp>
        <p:nvSpPr>
          <p:cNvPr id="25" name="">
            <a:extLst xmlns:a="http://schemas.openxmlformats.org/drawingml/2006/main">
              <a:ext uri="{FF2B5EF4-FFF2-40B4-BE49-F238E27FC236}">
                <a16:creationId xmlns:a16="http://schemas.microsoft.com/office/drawing/2014/main" id="{F8B5B9FB-E659-4021-B1E0-AAE10650F4B0}"/>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65993BC8-F5B6-4132-A19C-06B82E50DE88}"/>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Question + owner</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Evidence + stop rule</a:t>
            </a:r>
          </a:p>
        </p:txBody>
      </p:sp>
      <p:sp>
        <p:nvSpPr>
          <p:cNvPr id="27" name="">
            <a:extLst xmlns:a="http://schemas.openxmlformats.org/drawingml/2006/main">
              <a:ext uri="{FF2B5EF4-FFF2-40B4-BE49-F238E27FC236}">
                <a16:creationId xmlns:a16="http://schemas.microsoft.com/office/drawing/2014/main" id="{DBCEF6BD-CB97-40EA-9AF6-64E86EC0CCF6}"/>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B4256A9C-545B-4A31-85F2-993E8A0D80E2}"/>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Version experiments</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Track gaps + blockers</a:t>
            </a:r>
          </a:p>
        </p:txBody>
      </p:sp>
      <p:sp>
        <p:nvSpPr>
          <p:cNvPr id="29" name="">
            <a:extLst xmlns:a="http://schemas.openxmlformats.org/drawingml/2006/main">
              <a:ext uri="{FF2B5EF4-FFF2-40B4-BE49-F238E27FC236}">
                <a16:creationId xmlns:a16="http://schemas.microsoft.com/office/drawing/2014/main" id="{11435757-5E4E-4E59-B5DF-7F06964E6A70}"/>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F69CB8AA-43FE-40F8-A625-8F702067CA01}"/>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Results + uncertainty</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Accept / narrow / stop</a:t>
            </a:r>
          </a:p>
        </p:txBody>
      </p:sp>
      <p:sp>
        <p:nvSpPr>
          <p:cNvPr id="31" name="">
            <a:extLst xmlns:a="http://schemas.openxmlformats.org/drawingml/2006/main">
              <a:ext uri="{FF2B5EF4-FFF2-40B4-BE49-F238E27FC236}">
                <a16:creationId xmlns:a16="http://schemas.microsoft.com/office/drawing/2014/main" id="{5A4012F8-E9CD-4F16-A050-E6BBAE1A52E8}"/>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F2663F33-DC9A-43F5-BA05-63D019E3EB88}"/>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Monitor + respond</a:t>
            </a:r>
          </a:p>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Learn from incidents</a:t>
            </a:r>
          </a:p>
        </p:txBody>
      </p:sp>
      <p:sp>
        <p:nvSpPr>
          <p:cNvPr id="33" name="">
            <a:extLst xmlns:a="http://schemas.openxmlformats.org/drawingml/2006/main">
              <a:ext uri="{FF2B5EF4-FFF2-40B4-BE49-F238E27FC236}">
                <a16:creationId xmlns:a16="http://schemas.microsoft.com/office/drawing/2014/main" id="{433B7F96-B406-4770-8710-F64C5CF33BE3}"/>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4490257A-2FD9-4FE5-9CB5-CE58933F93EC}"/>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7A9EACFF-20DD-478D-806F-7D3291FB8601}"/>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Measure flow, review, rework and retained understanding.</a:t>
            </a:r>
          </a:p>
        </p:txBody>
      </p:sp>
      <p:sp>
        <p:nvSpPr>
          <p:cNvPr id="36" name="">
            <a:extLst xmlns:a="http://schemas.openxmlformats.org/drawingml/2006/main">
              <a:ext uri="{FF2B5EF4-FFF2-40B4-BE49-F238E27FC236}">
                <a16:creationId xmlns:a16="http://schemas.microsoft.com/office/drawing/2014/main" id="{5EB93DBC-6B8D-49FB-B1C4-7883DAEB9A5D}"/>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850C8DED-04A9-430E-8E86-70132CB33526}"/>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Measure behavior, control capacity and operating cost.</a:t>
            </a:r>
          </a:p>
        </p:txBody>
      </p:sp>
      <p:sp>
        <p:nvSpPr>
          <p:cNvPr id="38" name="">
            <a:extLst xmlns:a="http://schemas.openxmlformats.org/drawingml/2006/main">
              <a:ext uri="{FF2B5EF4-FFF2-40B4-BE49-F238E27FC236}">
                <a16:creationId xmlns:a16="http://schemas.microsoft.com/office/drawing/2014/main" id="{F25092FB-9942-4D32-BE25-5BA88682A680}"/>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The experiment ends. Learning, monitoring and reassessment continue.</a:t>
            </a:r>
          </a:p>
        </p:txBody>
      </p:sp>
    </p:spTree>
    <p:extLst>
      <p:ext uri="{BB962C8B-B14F-4D97-AF65-F5344CB8AC3E}">
        <p14:creationId xmlns:p14="http://schemas.microsoft.com/office/powerpoint/2010/main" val="1319983462"/>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ACD6303-C457-4CDB-8AB5-7D5865E40E1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B2C6AD34-4316-4DD7-A984-4939C44AFD3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F95A91D-8F60-49EF-94D2-5D9CA593213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358C673F-0214-4E63-BE0F-FBA32B7DEE92}"/>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B22EF3D9-FDE9-4DED-9E66-100E21C2B075}"/>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27F9EB72-C916-4C45-B338-FAF767DCFBB4}"/>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c5a9652fe064f54"/>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9D0FC00-98CE-41BD-A057-6F135107F60D}"/>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7241667544e34758"/>
              </a:rPr>
              <a:t>github.com/UncertaintyArchitectureGroup/</a:t>
            </a:r>
          </a:p>
        </p:txBody>
      </p:sp>
      <p:sp>
        <p:nvSpPr>
          <p:cNvPr id="9" name="">
            <a:extLst xmlns:a="http://schemas.openxmlformats.org/drawingml/2006/main">
              <a:ext uri="{FF2B5EF4-FFF2-40B4-BE49-F238E27FC236}">
                <a16:creationId xmlns:a16="http://schemas.microsoft.com/office/drawing/2014/main" id="{E4643BB3-52C1-4090-BF95-9B996DAE2288}"/>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ace54385543f48e0"/>
              </a:rPr>
              <a:t>uncertainty-architecture</a:t>
            </a:r>
          </a:p>
        </p:txBody>
      </p:sp>
      <p:sp>
        <p:nvSpPr>
          <p:cNvPr id="10" name="">
            <a:extLst xmlns:a="http://schemas.openxmlformats.org/drawingml/2006/main">
              <a:ext uri="{FF2B5EF4-FFF2-40B4-BE49-F238E27FC236}">
                <a16:creationId xmlns:a16="http://schemas.microsoft.com/office/drawing/2014/main" id="{6435261C-E9FB-47C0-8983-CD937B6DAF23}"/>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8AC777CC-C73A-4F14-9077-E2E86BF14EC8}"/>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53eb2bb34c24135"/>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74A919F-B77F-4C90-94E6-B695C382AF3B}"/>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b353c591353d48de"/>
              </a:rPr>
              <a:t>github.com/UncertaintyArchitectureGroup/</a:t>
            </a:r>
          </a:p>
        </p:txBody>
      </p:sp>
      <p:sp>
        <p:nvSpPr>
          <p:cNvPr id="14" name="">
            <a:extLst xmlns:a="http://schemas.openxmlformats.org/drawingml/2006/main">
              <a:ext uri="{FF2B5EF4-FFF2-40B4-BE49-F238E27FC236}">
                <a16:creationId xmlns:a16="http://schemas.microsoft.com/office/drawing/2014/main" id="{B77898FA-7EE2-4B8C-84E2-0846E7685609}"/>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df34eff8b3774bc2"/>
              </a:rPr>
              <a:t>The-Subprime-Code-Crisis</a:t>
            </a:r>
          </a:p>
        </p:txBody>
      </p:sp>
      <p:sp>
        <p:nvSpPr>
          <p:cNvPr id="15" name="">
            <a:extLst xmlns:a="http://schemas.openxmlformats.org/drawingml/2006/main">
              <a:ext uri="{FF2B5EF4-FFF2-40B4-BE49-F238E27FC236}">
                <a16:creationId xmlns:a16="http://schemas.microsoft.com/office/drawing/2014/main" id="{D87792F3-B5BA-41A4-B450-401DB65D7889}"/>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66ED136E-9861-407E-A39B-BBE4CDA3E876}"/>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FAC89B44-4AF5-4117-9058-13F538E5352D}"/>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83684344-BE37-450D-9675-46E3AB335162}"/>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3d383959aba44c58"/>
              </a:rPr>
              <a:t>oborskyivitalii@gmail.com</a:t>
            </a:r>
          </a:p>
        </p:txBody>
      </p:sp>
      <p:sp>
        <p:nvSpPr>
          <p:cNvPr id="19" name="">
            <a:extLst xmlns:a="http://schemas.openxmlformats.org/drawingml/2006/main">
              <a:ext uri="{FF2B5EF4-FFF2-40B4-BE49-F238E27FC236}">
                <a16:creationId xmlns:a16="http://schemas.microsoft.com/office/drawing/2014/main" id="{1B500985-93AE-4440-9443-433F486AC5AE}"/>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09352a7822474976"/>
              </a:rPr>
              <a:t>https://www.linkedin.com/in/vitaliioborskyi/</a:t>
            </a:r>
          </a:p>
        </p:txBody>
      </p:sp>
    </p:spTree>
    <p:extLst>
      <p:ext uri="{BB962C8B-B14F-4D97-AF65-F5344CB8AC3E}">
        <p14:creationId xmlns:p14="http://schemas.microsoft.com/office/powerpoint/2010/main" val="5709548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2026-09-23T06:52:47.8350000Z</dcterms:created>
  <dcterms:modified xsi:type="dcterms:W3CDTF">2026-09-23T06:52:47.8350000Z</dcterms:modified>
</coreProperties>
</file>