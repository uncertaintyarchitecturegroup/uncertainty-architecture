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f780d2b5af54fea" /><Relationship Type="http://schemas.openxmlformats.org/officeDocument/2006/relationships/extended-properties" Target="/docProps/app.xml" Id="Rcd40f687ac044979" /><Relationship Type="http://schemas.openxmlformats.org/officeDocument/2006/relationships/officeDocument" Target="/ppt/presentation.xml" Id="Rf6b3c682a1884f97" /></Relationships>
</file>

<file path=ppt/presentation.xml><?xml version="1.0" encoding="utf-8"?>
<p:presentation xmlns:p="http://schemas.openxmlformats.org/presentationml/2006/main">
  <p:sldMasterIdLst>
    <p:sldMasterId xmlns:r="http://schemas.openxmlformats.org/officeDocument/2006/relationships" id="2147483648" r:id="Ra666403c21944048"/>
  </p:sldMasterIdLst>
  <p:notesMasterIdLst>
    <p:notesMasterId xmlns:r="http://schemas.openxmlformats.org/officeDocument/2006/relationships" r:id="R008b1c1b540e41b2"/>
  </p:notesMasterIdLst>
  <p:sldIdLst>
    <p:sldId xmlns:r="http://schemas.openxmlformats.org/officeDocument/2006/relationships" id="256" r:id="Rc24df4e466c04cf9"/>
    <p:sldId xmlns:r="http://schemas.openxmlformats.org/officeDocument/2006/relationships" id="257" r:id="Ra4910096dc5e42cc"/>
    <p:sldId xmlns:r="http://schemas.openxmlformats.org/officeDocument/2006/relationships" id="258" r:id="R43944f32f0ff44ae"/>
    <p:sldId xmlns:r="http://schemas.openxmlformats.org/officeDocument/2006/relationships" id="259" r:id="R4c0e6abb52f14581"/>
    <p:sldId xmlns:r="http://schemas.openxmlformats.org/officeDocument/2006/relationships" id="260" r:id="R268dca332fd84bab"/>
    <p:sldId xmlns:r="http://schemas.openxmlformats.org/officeDocument/2006/relationships" id="261" r:id="R33705956191542b6"/>
    <p:sldId xmlns:r="http://schemas.openxmlformats.org/officeDocument/2006/relationships" id="262" r:id="R0afb035e53c34343"/>
    <p:sldId xmlns:r="http://schemas.openxmlformats.org/officeDocument/2006/relationships" id="263" r:id="Rf8cdc2521de24076"/>
    <p:sldId xmlns:r="http://schemas.openxmlformats.org/officeDocument/2006/relationships" id="264" r:id="R39230facb3824808"/>
    <p:sldId xmlns:r="http://schemas.openxmlformats.org/officeDocument/2006/relationships" id="265" r:id="R2f9ed0359d5a497a"/>
    <p:sldId xmlns:r="http://schemas.openxmlformats.org/officeDocument/2006/relationships" id="266" r:id="R9ca70a67535b4c5e"/>
    <p:sldId xmlns:r="http://schemas.openxmlformats.org/officeDocument/2006/relationships" id="267" r:id="R30f1d022fbd64cd2"/>
    <p:sldId xmlns:r="http://schemas.openxmlformats.org/officeDocument/2006/relationships" id="268" r:id="Rae188bb8f08b411e"/>
    <p:sldId xmlns:r="http://schemas.openxmlformats.org/officeDocument/2006/relationships" id="269" r:id="Rb313ab3167dc4dc4"/>
    <p:sldId xmlns:r="http://schemas.openxmlformats.org/officeDocument/2006/relationships" id="270" r:id="R06d6e2d52d65422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01a284c60744b51" /><Relationship Type="http://schemas.openxmlformats.org/officeDocument/2006/relationships/slideMaster" Target="/ppt/slideMasters/slideMaster1.xml" Id="Ra666403c21944048" /><Relationship Type="http://schemas.openxmlformats.org/officeDocument/2006/relationships/notesMaster" Target="/ppt/notesMasters/notesMaster1.xml" Id="R008b1c1b540e41b2" /><Relationship Type="http://schemas.openxmlformats.org/officeDocument/2006/relationships/presProps" Target="/ppt/presProps.xml" Id="R1bf0e0cd95b84ebd" /><Relationship Type="http://schemas.openxmlformats.org/officeDocument/2006/relationships/tableStyles" Target="/ppt/tableStyles.xml" Id="Rbbe864b17f384c68" /><Relationship Type="http://schemas.openxmlformats.org/officeDocument/2006/relationships/slide" Target="/ppt/slides/slide1.xml" Id="Rc24df4e466c04cf9" /><Relationship Type="http://schemas.openxmlformats.org/officeDocument/2006/relationships/slide" Target="/ppt/slides/slide2.xml" Id="Ra4910096dc5e42cc" /><Relationship Type="http://schemas.openxmlformats.org/officeDocument/2006/relationships/slide" Target="/ppt/slides/slide3.xml" Id="R43944f32f0ff44ae" /><Relationship Type="http://schemas.openxmlformats.org/officeDocument/2006/relationships/slide" Target="/ppt/slides/slide4.xml" Id="R4c0e6abb52f14581" /><Relationship Type="http://schemas.openxmlformats.org/officeDocument/2006/relationships/slide" Target="/ppt/slides/slide5.xml" Id="R268dca332fd84bab" /><Relationship Type="http://schemas.openxmlformats.org/officeDocument/2006/relationships/slide" Target="/ppt/slides/slide6.xml" Id="R33705956191542b6" /><Relationship Type="http://schemas.openxmlformats.org/officeDocument/2006/relationships/slide" Target="/ppt/slides/slide7.xml" Id="R0afb035e53c34343" /><Relationship Type="http://schemas.openxmlformats.org/officeDocument/2006/relationships/slide" Target="/ppt/slides/slide8.xml" Id="Rf8cdc2521de24076" /><Relationship Type="http://schemas.openxmlformats.org/officeDocument/2006/relationships/slide" Target="/ppt/slides/slide9.xml" Id="R39230facb3824808" /><Relationship Type="http://schemas.openxmlformats.org/officeDocument/2006/relationships/slide" Target="/ppt/slides/slide10.xml" Id="R2f9ed0359d5a497a" /><Relationship Type="http://schemas.openxmlformats.org/officeDocument/2006/relationships/slide" Target="/ppt/slides/slide11.xml" Id="R9ca70a67535b4c5e" /><Relationship Type="http://schemas.openxmlformats.org/officeDocument/2006/relationships/slide" Target="/ppt/slides/slide12.xml" Id="R30f1d022fbd64cd2" /><Relationship Type="http://schemas.openxmlformats.org/officeDocument/2006/relationships/slide" Target="/ppt/slides/slide13.xml" Id="Rae188bb8f08b411e" /><Relationship Type="http://schemas.openxmlformats.org/officeDocument/2006/relationships/slide" Target="/ppt/slides/slide14.xml" Id="Rb313ab3167dc4dc4" /><Relationship Type="http://schemas.openxmlformats.org/officeDocument/2006/relationships/slide" Target="/ppt/slides/slide15.xml" Id="R06d6e2d52d6542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03995a16a94fe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b7a333256349f4" /><Relationship Type="http://schemas.openxmlformats.org/officeDocument/2006/relationships/notesMaster" Target="/ppt/notesMasters/notesMaster1.xml" Id="R04f7a69513d240d8" /></Relationships>
</file>

<file path=ppt/notesSlides/_rels/notesSlide2.xml.rels>&#65279;<?xml version="1.0" encoding="utf-8"?><Relationships xmlns="http://schemas.openxmlformats.org/package/2006/relationships"><Relationship Type="http://schemas.openxmlformats.org/officeDocument/2006/relationships/slide" Target="/ppt/slides/slide2.xml" Id="R66ad13eb6f504430" /><Relationship Type="http://schemas.openxmlformats.org/officeDocument/2006/relationships/notesMaster" Target="/ppt/notesMasters/notesMaster1.xml" Id="R6f7645fe373540ba" /></Relationships>
</file>

<file path=ppt/notesSlides/_rels/notesSlide3.xml.rels>&#65279;<?xml version="1.0" encoding="utf-8"?><Relationships xmlns="http://schemas.openxmlformats.org/package/2006/relationships"><Relationship Type="http://schemas.openxmlformats.org/officeDocument/2006/relationships/slide" Target="/ppt/slides/slide3.xml" Id="R152bc448d9ba4f59" /><Relationship Type="http://schemas.openxmlformats.org/officeDocument/2006/relationships/notesMaster" Target="/ppt/notesMasters/notesMaster1.xml" Id="R9e547b657fde4160"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d43bf12a1a4eda" /><Relationship Type="http://schemas.openxmlformats.org/officeDocument/2006/relationships/notesMaster" Target="/ppt/notesMasters/notesMaster1.xml" Id="R7172bc2b763741b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e3e3680acd44b82" /><Relationship Type="http://schemas.openxmlformats.org/officeDocument/2006/relationships/notesMaster" Target="/ppt/notesMasters/notesMaster1.xml" Id="R4b0b8f32d2af49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842bb7f62e2a468c" /><Relationship Type="http://schemas.openxmlformats.org/officeDocument/2006/relationships/notesMaster" Target="/ppt/notesMasters/notesMaster1.xml" Id="R46ab4f8f26244d25" /></Relationships>
</file>

<file path=ppt/notesSlides/_rels/notesSlide7.xml.rels>&#65279;<?xml version="1.0" encoding="utf-8"?><Relationships xmlns="http://schemas.openxmlformats.org/package/2006/relationships"><Relationship Type="http://schemas.openxmlformats.org/officeDocument/2006/relationships/slide" Target="/ppt/slides/slide7.xml" Id="Re36bc1e3cb4947f6" /><Relationship Type="http://schemas.openxmlformats.org/officeDocument/2006/relationships/notesMaster" Target="/ppt/notesMasters/notesMaster1.xml" Id="Rae58d88ed057465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28783db91e64405" /><Relationship Type="http://schemas.openxmlformats.org/officeDocument/2006/relationships/notesMaster" Target="/ppt/notesMasters/notesMaster1.xml" Id="R29e9ffb18567483a" /></Relationships>
</file>

<file path=ppt/notesSlides/_rels/notesSlide9.xml.rels>&#65279;<?xml version="1.0" encoding="utf-8"?><Relationships xmlns="http://schemas.openxmlformats.org/package/2006/relationships"><Relationship Type="http://schemas.openxmlformats.org/officeDocument/2006/relationships/slide" Target="/ppt/slides/slide9.xml" Id="Rae493cf3c134402c" /><Relationship Type="http://schemas.openxmlformats.org/officeDocument/2006/relationships/notesMaster" Target="/ppt/notesMasters/notesMaster1.xml" Id="Re3898b940a3549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48fafdba28845e6" /><Relationship Type="http://schemas.openxmlformats.org/officeDocument/2006/relationships/notesMaster" Target="/ppt/notesMasters/notesMaster1.xml" Id="Rda84493b633344a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b9e1ae6e38e4515" /><Relationship Type="http://schemas.openxmlformats.org/officeDocument/2006/relationships/notesMaster" Target="/ppt/notesMasters/notesMaster1.xml" Id="R1482ed6cb25c4b5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b289107dd1c4852" /><Relationship Type="http://schemas.openxmlformats.org/officeDocument/2006/relationships/notesMaster" Target="/ppt/notesMasters/notesMaster1.xml" Id="Rd16ab072f3e0475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69e932781654738" /><Relationship Type="http://schemas.openxmlformats.org/officeDocument/2006/relationships/notesMaster" Target="/ppt/notesMasters/notesMaster1.xml" Id="R9389d92a0eea4ae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a9c9e4a2f7f4152" /><Relationship Type="http://schemas.openxmlformats.org/officeDocument/2006/relationships/notesMaster" Target="/ppt/notesMasters/notesMaster1.xml" Id="R2edf39dec5ce4fd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9298196c33248fd" /><Relationship Type="http://schemas.openxmlformats.org/officeDocument/2006/relationships/notesMaster" Target="/ppt/notesMasters/notesMaster1.xml" Id="R99db30db78034a7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a:p xmlns:a="http://schemas.openxmlformats.org/drawingml/2006/main">
            <a:r>
              <a:t/>
            </a:r>
          </a:p>
          <a:p xmlns:a="http://schemas.openxmlformats.org/drawingml/2006/main">
            <a:r>
              <a:t>Поточне уточнення 23 вересня 2026:</a:t>
            </a:r>
          </a:p>
          <a:p xmlns:a="http://schemas.openxmlformats.org/drawingml/2006/main">
            <a:r>
              <a:t>Коротке представлення: Vitalii Oborskyi, Head of Delivery &amp; PMO, автор Uncertainty Architecture. Контакти: oborskyivitalii@gmail.com та https://www.linkedin.com/in/vitaliioborskyi/. Основний вступ і дві лінії HOW / WHAT збережено.</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Екранна ієрархія: три контрасти. NBER — масштаб зміни коду, commits та releases не збігається; DORA — throughput і stability є різними outcomes; GitClear — зміни структурних proxy потребують контексту. Не зачитувати всі метрики. NBER числа 25.5× / 3.4× / 1.3× накопичені за трьома поколіннями інструментів, LOC означає additions + deletions, асинхронний effect для releases не оцінено. Marketplace: iOS &lt;10 ratings ≈78% → 87%, Chrome &lt;10 downloads 19% → 33%, Jan 2025 → Apr 2026 за перші три місяці. Це відмінні міри adoption, а не прямий доказ відсутності user value.</a:t>
            </a:r>
          </a:p>
          <a:p xmlns:a="http://schemas.openxmlformats.org/drawingml/2006/main">
            <a:r>
              <a:t/>
            </a:r>
          </a:p>
          <a:p xmlns:a="http://schemas.openxmlformats.org/drawingml/2006/main">
            <a:r>
              <a:t>Додаткові числа для обговорення: DORA &gt;80% respondents повідомляли про productivity improvement, 59% — quality improvement; це self-reported perceptions, окремі від моделі delivery instability. Приблизна оцінка моделі: +0.10 SD instability на +1 SD AI adoption, 89% credible interval ≈+0.07…+0.13 SD. GitClear moved-code share 13% → 3.8% = −9.2 pp / −70.8%, calls per 1k changed lines 343 → 223 = −120 / ≈−35%; duplicates ≈+81% та two-week churn +15% мають окремо описані baseline/limitations. Нижче залишаються попередні джерельні пояснення. METR May 2026: medians 1.4–2× self-reported work value across three questions, не causal effect. Agarwal Jan 2026: complexity +34.85% Agent-first / +42.87% IDE-first; Xu описує workload shifts. Ці допоміжні свідчення доповнюють три основні контрасти, але не утворюють єдину сукупну оцінку.</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Візуальне уточнення за наданими скриншотами, 22 вересня 2026. Графічне пояснення за слайдом 3 старої презентації: зліва одиничний результат за фіксованих input, state і version у детермінованому випадку, справа схематичний розподіл можливих результатів. Висота стовпчиків передає відносну частоту лише концептуально. Це не виміряна вибірка, не оцінка ймовірності, не твердження про нормальний розподіл чи математично важкі хвости. Горизонтальна вісь — умовна проєкція варіантів результату. Реальна семантика багатовимірна й може бути категоріальною. Центральна область показує корисну варіативність у прикладі, краї — рідші варіанти, які також потрібно оцінити. Рідкість сама по собі не робить результат дефектом. Інженерне завдання — сформулювати й реалізувати межі корисної поведінки. Детерміновані обов’язки, права та інваріанти в продукті залишаються. Обидві формули є навчальним контрастом, а не класифікацією всього software за одним параметром.</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 перехід від HOW до WHAT: у першій частині AI допомагав створювати код; тепер продукт делегує моделі частину runtime judgment. Обидві зміни можуть бути присутні разом, але потребують різних evidence. Новий об’єкт афектить Product Manager / Product Owner і BA через цінність та контракт поведінки; розробників, QA й архітектора через реалізацію та перевірку; Project Manager через залежності та план робіт; service owner / operations через дієздатність контролю після запуску. Ролі тут позначають відповідальності, а не обов’язкові нові посади: у невеликій команді їх можуть поєднувати. Наступні слайди — один спільний ланцюг define → evaluate → control → operate, а не передавання ізольованої роботи між відділами. Спочатку погодимо, яка поведінка корисна й дозволена.</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Наскрізний приклад другої частини — внутрішній IT-асистент, який допомагає працівнику відновити доступ за затвердженою інструкцією. Він може пояснити recovery steps, попросити уточнення або запропонувати дозволену дію; proposal залишається внутрішнім недовіреним результатом до перевірок та delivery/execution. Це ілюстративний design case, а не опис уже впровадженого продукту. Бажаний outcome — відновлений доступ, менше повторних звернень і прийнятні повні витрати. Текст відповіді може варіюватися, але authority, permissions і заборонені outcomes не розширюються. На 9 погоджуємо контракт, на 10 перевіряємо результати, на 11 вирішуємо readiness/completion/release, на 12 показуємо здійсненний control path. Це послідовність пояснення; design, evaluation й operational feasibility опрацьовують разом.</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a:p xmlns:a="http://schemas.openxmlformats.org/drawingml/2006/main">
            <a:r>
              <a:t>https://github.com/UncertaintyArchitectureGroup/uncertainty-architecture/blob/main/content/raw/Designing%20Non-Deterministic%20Systems%3A%20Maintaining%20Engineering%20Rigor%20in%20the%20AI%20Era.pdf#page=3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На правій половині тепер зображено саме область можливих прийнятних результатів. Це концептуальна межа, а не графік з універсальною числовою віссю semantic distance. Коротке й докладне пояснення можуть бути однаково прийнятними, якщо обидва спираються на затверджену статтю та зберігають обов’язкові кроки. Вимога задає властивості області: дозволені теми й джерела, потрібний зміст, заборонені дії та дані, ресурсні межі, реакцію на нестачу контексту. CLARIFY — визначена контрактом дія, коли доказів для змістовної відповіді недостатньо; це не дозвіл порушити межу. PROHIBIT поза дозволеною областю показує неприйнятні наслідки. Саме формулювання межі її не реалізує: для критичних заборон потрібні конкретні контролі. Ліворуч лишаються точні стани, права й переходи. Нові обов’язки доповнюють ці сценарії. Product Manager та BA мають отримати від бізнесу приклади допустимих варіантів і контрприклади, а Project Manager забезпечує рішення та доступність потрібних учасників.</a:t>
            </a:r>
          </a:p>
          <a:p xmlns:a="http://schemas.openxmlformats.org/drawingml/2006/main">
            <a:r>
              <a:t/>
            </a:r>
          </a:p>
          <a:p xmlns:a="http://schemas.openxmlformats.org/drawingml/2006/main">
            <a:r>
              <a:t>Візуальне уточнення за наданими скриншотами, 22 вересня 2026. Візуальна модель тепер безпосередньо відтворює логіку слайда 5 старої презентації: зліва вузький маршрут A–B, справа площина можливостей із перспективною сіткою, зовнішнім бурштиновим контуром погоджених допусків та внутрішньою блакитною областю цільової поведінки. Обидва прийнятні варіанти — коротке та докладне пояснення — належать спільній області. Зовні показано заборонений результат. Внутрішній контур — робочий орієнтир, зовнішній — контракт прийнятності. Простір між ними не є автоматичним дозволом: кожен результат повинен виконувати всі умови контракту. Це концептуальна багатовимірна область, а не виміряна координатна система чи універсальна embedding-distance метрика. Площина стисло показує сукупність умов щодо тем, джерел, обов’язкового змісту, даних, дій, authority, вартості, latency та failure handling. Вимога включає й точний сценарій, і цю область. CLARIFY визначає належну реакцію на нестачу контексту, а не ослаблення заборони. Попередні ALLOW / CLARIFY / PROHIBIT і приклади залишаються в нотатках та уточнюють геометрію.</a:t>
            </a:r>
          </a:p>
          <a:p xmlns:a="http://schemas.openxmlformats.org/drawingml/2006/main">
            <a:r>
              <a:t/>
            </a:r>
          </a:p>
          <a:p xmlns:a="http://schemas.openxmlformats.org/drawingml/2006/main">
            <a:r>
              <a:t>Інтеграція старого слайда 16 (PDF page 17, PM: From Story Owner to Distribution Economist). Тут PM у старому заголовку означає Product Manager; Project Manager у нашій доповіді — окрема відповідальність за delivery та операційну модель. Product / BA організовують з бізнесом рішення: які варіації результату прийнятні; скільки та яких помилок можна допустити; за якої тяжкості, частоти або наслідку відповідь стає неприйнятною відповідальністю; коли потрібні зупинка, людина чи fallback. Не можна звести це до одного середнього відсотка або грошей: обов’язкові заборони залишаються заборонами. До контракту входять unsupported claims, визначена для продукту semantic rubric, правила ескалації, бюджет токенів та human review, latency і поведінка fallback. Ланцюжок Product value → Risk tolerance → Cost envelope → Release decision пояснює бізнес-сенс меж на діаграмі. QA та розробники разом із Product/BA переводять ці рішення у вимірювання та evidence; Project Manager забезпечує доступність stakeholder decisions, власників і залежностей. Prompt лише впливає на поведінку; контракт визначають погоджені вимоги, приклади та критерії. Попередні пояснення області, ALLOW / CLARIFY / PROHIBIT, мовного розриву та наявних стандартів зберігаються.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Product Owner явно входить до цього слайда: відповідає за цінність, Product Goal і впорядкування backlog, робить потрібні вимоги, evidence та control work видимими й пріоритетними. Product Manager, якщо ця роль є окремо, додає продуктову стратегію, discovery та економіку; конкретний розподіл із PO залежить від організації. BA допомагає зробити domain rules, приклади, контрприклади та acceptance rules однозначними. Project Manager організовує своєчасні stakeholder decisions, доступність експертів, оцінювання залежностей, бюджету й capacity; не вигадує прийнятний ризик за бізнес. Dev, QA та архітектор уже тут перевіряють, чи можна критерії виміряти й межі забезпечити. Уповноважений business / risk owner погоджує допустимі наслідки в межах своїх прав; правові, privacy та security заборони не стають предметом довільного обміну на value. За потреби залучаємо відповідних фахівців. Назва Product Owner сама собою не надає права приймати будь-який risk або authorize release.</a:t>
            </a:r>
          </a:p>
          <a:p xmlns:a="http://schemas.openxmlformats.org/drawingml/2006/main">
            <a:r>
              <a:t>Крім відсутності шкоди, задаємо ціль корисності. Для наскрізного support-assistant прикладу: чи вирішено звернення правильно, чи не перенесли ми роботу на користувача або оператора, яка повна вартість корисно завершеного звернення? Це питання для вибору продуктового показника, не нові емпіричні числа. Вимоги до exact states / permissions не зникають; поведінковий контракт їх доповнює. Передаємо на слайд 10 не список побажань, а погоджені приклади, заборони, критерії та власників рішень.</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Для IT-асистента Product / PO визначає цінність відновленого доступу та пріоритети, BA разом із QA / domain expert перетворює межі на приклади acceptance, Project Manager забезпечує своєчасність залежних рішень. Risk/business authority погоджує допустимі наслідки. Вихід — один придатний до перевірки контракт: approved knowledge і права поточного користувача, потрібне уточнення замість припущення, заборона іншої особи private data або обходу approval, support fallback. Вимірюємо успішне вирішення й repeat contacts разом із latency, token/review cost. Жодного універсального числового threshold цей приклад не задає. Попередні посилання ISO/IEC 25059, NIST AI RMF і CheckList лишаються вихідними матеріалами, а конкретну семантику продукту команда погоджує сама.</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Графік показує емпіричний розподіл категорій тієї самої навчальної вибірки: 196 прийнятних результатів, 3 неправильні інструкції й 1 витік приватних даних. Разом 200, частки відповідно 98%, 1,5% та 0,5%. Це не 200 різних унікальних рядків тексту: результати групуються за погодженими семантичними властивостями та наслідками. Категорії в цьому прикладі взаємовиключні та вичерпні. Вісь починається з нуля, довжина стовпчиків пропорційна кількості. Малі стовпчики не означають малої тяжкості, тому точні значення та критичний наслідок підписано. Неприйнятні результати об’єднуються для оцінки частоти: (3+1)/200 = 2%. Попередній 95% Wilson interval приблизно 0,8%–5,0% стосується цієї бінарної події, а не кожної категорії окремо та не ймовірності майбутнього інциденту без припущень про вибірку. Ми не накладаємо нормальну криву на категоріальні дані та не вигадуємо baseline для порівняння. Для нового порівняння потрібні зафіксовані версії й порівнювані сценарії. Саме цей перехід до частот, розподілів та невизначеності запозичено зі слайдів 7 і 19 старої презентації. Бізнес має визначити допустимість частоти та сили наслідку, QA — які докази й невизначеність є для рішення.</a:t>
            </a:r>
          </a:p>
          <a:p xmlns:a="http://schemas.openxmlformats.org/drawingml/2006/main">
            <a:r>
              <a:t/>
            </a:r>
          </a:p>
          <a:p xmlns:a="http://schemas.openxmlformats.org/drawingml/2006/main">
            <a:r>
              <a:t>Візуальне уточнення за наданими скриншотами, 22 вересня 2026. Визначення дефекту й схематична область допусків адаптовані зі слайда 4 старої презентації з уточненням чинної UA doctrine Requirements, Correctness, and Bugs. Bug — порушення погодженої вимоги на рівні системи, яке спричинила або допустила реалізована система. Для model-mediated поведінки це, зокрема, вихід за погоджені умови чи допуски або заборонений наслідок. На схемі зелена область — дозволена варіативність, червоні стовпчики — наслідки за межами контракту, якщо система їх допустила. Графік концептуальний: висоти не є даними, нормальність не припускається, одиниць універсальної semantic distance немає. Схема і вибірка 196/3/1 — різні пояснювальні об’єкти; концептуальні стовпчики не відновлені з цих трьох категорій. Рідкісний результат не обов’язково Bug. Якщо запропоновану моделлю заборонену дію контролі належно зупинили до наслідку, це може бути коректним containment за контрактом. Якщо частота помилок допускається в певному контексті, потрібні також погоджені межі тяжкості, наслідків і правила обробки, а не тільки середній відсоток. Розподіл може змінюватися без змін коду, однак окремий tail event не доводить drift: для цього потрібні порівнювані вибірки, baseline, контекст і версії. Класичні детерміновані дефекти також залишаються. На екрані нижче збережено незалежний навчальний приклад: 196 прийнятних, 3 неправильні інструкції та 1 витік приватних даних, 4/200 = 2%, Wilson 95% приблизно 0,8%–5,0%. Частота і тяжкість — різні виміри рішення. У цьому прикладі витік порушує обов’язкову заборону й блокує release. Бізнес через Product/BA визначає прийнятність наслідків, QA/developers вимірюють і перевіряють evidence, уповноважений risk/release owner ухвалює рішення. Golden Set, Eval Gate, калібрування та incident regression залишаються робочими інструментами.</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Цей слайд афектить не лише QA: Product / PO + BA уточнюють, що є корисним і прийнятним, domain experts допомагають калібрувати оцінювання, Dev робить відтворюване вимірювання версій, а Project Manager забезпечує час, дані, експертів та готовність evidence до рішення. Уповноважений risk / release owner ухвалює рішення в погодженому scope; статистична оцінка не надає права обійти заборону. Service owner приносить production outcomes та incidents.</a:t>
            </a:r>
          </a:p>
          <a:p xmlns:a="http://schemas.openxmlformats.org/drawingml/2006/main">
            <a:r>
              <a:t>Окремо проговорити видиму різницю: curated Golden Set перевіряє важливі сценарії й класи відмов; оцінка частоти в цільовому usage потребує обґрунтованої репрезентативної вибірки. Для Wilson interval потрібні зазначені припущення незалежної бінарної вибірки; 95% — властивість методу інтервалу, не гарантія безпечності production. Навчальні 196/3/1 та 4/200 не змінені. Навіть добрий середній score не перекриває критичну заборону. Варіативність прийнятна лише всередині всього контракту; належно перехоплена заборонена пропозиція моделі може свідчити про правильний containment. Наступний крок — зробити ці evidence частиною readiness, completion і окремого release decision.</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Ті самі 200 ілюстративних незалежних відповідей тепер явно стосуються IT-асистента: 196 допустимих, три з неправильними recovery instructions і одна з disclosure чужих приватних даних. Об’єднані 4/200 = 2% і 95% Wilson interval ≈0.8–5.0% оцінюють частоту any contract violation за умовами вибірки; вони не оцінюють окремо частоту critical harm і не перетворюють її на прийнятну. Інтервал потрібен для рішення про звичайну надійність та очікуване навантаження rework; він не компенсує заборонену подію. Для цього погодженого contract одна disclosure блокує candidate. Golden Set — curated набір важливих сценаріїв, а representative sample потрібна для rate estimation. Eval Gates — погоджені criteria порівняння evidence версії з умовами використання, не обіцянка математичного доведення безпеки. Нуль знайдених critical events також не доводить їх неможливість. Наступний слайд показує, як evidence впливає на завершеність і дозвіл використання.</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a:p xmlns:a="http://schemas.openxmlformats.org/drawingml/2006/main">
            <a:r>
              <a:t>https://github.com/UncertaintyArchitectureGroup/uncertainty-architecture/blob/main/content/raw/Designing%20Non-Deterministic%20Systems%3A%20Maintaining%20Engineering%20Rigor%20in%20the%20AI%20Era.pdf#page=4</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Таблиця тепер прямо порівнює звичний фокус DoR/DoD з додатковими зобов’язаннями для model-mediated behavior. Ліва колонка — спрощений навчальний фокус, а не твердження, що класичний software не має ризик-аналізу, навантажувальних тестів, моніторингу або incident management. Усі наявні вимоги організації залишаються. У DoR потрібен повний і правдоподібний дизайн керування для суттєвих сценаріїв: вимога й межа, спосіб її реалізації, спостереження, уповноважене рішення, виконавчий механізм та перевірка ефекту. Сюди входить human-in-the-loop: хто втручається, з якою інформацією, правами, часом і доступною потужністю, хто підміняє та що відбувається при недоступності. DoR до реалізації не вимагає вже збудованої системи, але має показати весь задум і залежності. Якщо feasibility ще невідома, Ready може означати лише готовність до окремо обмеженого дослідження. До експерименту з реальним exposure потрібні вже працездатні відповідні контролі. DoD підтверджує реалізацію й перевірку цього контуру, включно з людиною та fallback; версії, baseline, оцінка невизначеності, resource budgets і recovery evidence зберігаються. Release визначає population, tool permissions, residual risk, відповідальну особу, постійний моніторинг і triggers для stop/rollback. Block, canary або scoped release — різні дозволені результати рішення. Робота не закінчується релізом: production incidents породжують regression cases, зміни критеріїв Eval Gate та правил моніторингу. Такі зміни також версіонуються, перевіряються й погоджуються в межах повноважень; не можна тихо послабити бізнес-межу, щоб метрика стала зеленою.</a:t>
            </a:r>
          </a:p>
          <a:p xmlns:a="http://schemas.openxmlformats.org/drawingml/2006/main">
            <a:r>
              <a:t/>
            </a:r>
          </a:p>
          <a:p xmlns:a="http://schemas.openxmlformats.org/drawingml/2006/main">
            <a:r>
              <a:t>Інтеграція старого слайда 5 (PDF page 6, From Static Requirements to Statistical Gates). Чотири порівнювані рядки тепер видно безпосередньо: Ready, Budget, Done та Release / Operate. Окремий Budget повертає cost envelope зі старої презентації: токени, повторні виклики, evaluations, людська перевірка, latency та місткість fallback мають впливати на readiness і життєздатність. Статистичний контракт не означає, що великий n доводить безпеку: потрібні придатна вибірка, coverage, калібрований evaluator, припущення й оцінка невизначеності щодо погодженого порога. Приймають evidence у контексті бізнес-допусків, а не абстрактний confidence interval сам по собі. Старий фокус показаний як навчальне спрощення: класична інженерія також має nonfunctional requirements, ризик, вартість, навантажувальні тести та operations. Повний control/HITL design лишається в DoR, працездатність і rehearsal — в DoD. Release залишається окремим scoped decision із постійним monitoring та incident → regression / Eval Gates / monitoring rules loop. Зміна правил не може непомітно послабити затверджену межу.</a:t>
            </a:r>
          </a:p>
          <a:p xmlns:a="http://schemas.openxmlformats.org/drawingml/2006/main">
            <a:r>
              <a:t/>
            </a:r>
          </a:p>
          <a:p xmlns:a="http://schemas.openxmlformats.org/drawingml/2006/main">
            <a:r>
              <a:t>Поточне уточнення 23 вересня 2026:</a:t>
            </a:r>
          </a:p>
          <a:p xmlns:a="http://schemas.openxmlformats.org/drawingml/2006/main">
            <a:r>
              <a:t>Уточнена композиція повертає два основні контракти, як у старому слайді про DoR / DoD. Бюджет не є окремим gate: погоджені token/evaluation/human-review costs, latency та capacity входять до DoR, а перевірка фактичних показників — до DoD. DoR: маємо вимоги, business tolerances, forbidden outcomes, evaluation plan і повний design control loop включно з human authority, fallback та recovery. Ready для bounded experiment не означає production authorization. DoD: зберігаються code review, deterministic tests та інваріанти; додаються versioned model/prompt/context/data evidence, калібровані Eval Gates, coverage, sample uncertainty і перевірені controls. Велика вибірка чи один confidence interval не є доказом універсальної safety. Release відділений від DoD: уповноважений owner приймає residual risk і scope. Після релізу потрібні постійний monitoring, відповідальні responders та зворотний зв’язок від production incidents у regression, Eval Gates і monitoring rules. Product/BA узгоджують межі з бізнесом, архітектор проєктує контроль, Dev/QA реалізують та перевіряють, PM відстежує залежності й readiness. Лівий стовпчик є стислим порівнянням фокусу, а не твердженням, що традиційна розробка не мала risk/cost/operations.</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DoR / DoD — спільний робочий контракт, тому цей слайд стосується Product Owner, BA, розробників, QA, Project Manager та operations. PO забезпечує ясність мети, цінність і пріоритети backlog; BA — зрозумілі критерії; Dev / QA — здійсненність, реалізацію та evidence; архітектор і service owner — реальні control / HITL paths та capacity; Project Manager — доступність цих результатів і рішень у delivery plan. Це не передача якості одному PO чи QA. У Scrum Definition of Done є commitment для Increment, Developers мають її виконувати, а за відсутності достатнього organizational standard її створює Scrum Team. Definition of Ready — можлива командна практика, не обов’язковий Scrum artifact чи формальний approval gate. Scrum Master, якщо команда працює в Scrum, допомагає емпіризму та ефективності процесу, не підмінює жодного decision owner.</a:t>
            </a:r>
          </a:p>
          <a:p xmlns:a="http://schemas.openxmlformats.org/drawingml/2006/main">
            <a:r>
              <a:t>Release owner авторизує scope, exposure та residual risk у межах своїх прав. Service owner / operations забезпечує named responders, часові межі втручання, peak capacity, backup, monitoring та перевірений rollback / fallback; Project Manager координує залежності готовності. Завершене за DoD не означає автоматичного дозволу на будь-який production scope. Інциденти повертаються не лише в тести, а й до Product / PO для зміни пріоритетів і до архітектора для перевірки control assumptions.</a:t>
            </a:r>
          </a:p>
          <a:p xmlns:a="http://schemas.openxmlformats.org/drawingml/2006/main">
            <a:r>
              <a:t>Перехід до 12: порядок розповіді не є waterfall. Ми спершу назвали, що треба довести, а тепер розкриваємо архітектуру, яка робить ці докази й обіцянки credible. Контроль і operational ownership проектуються до релізу, а не додаються після DoD.</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На цьому етапі прикладу IT-асистент ще не готовий до релізу: evidence з 10 містить заборонену disclosure. Стовпець IT ASSISTANT: ADDED REQUIREMENTS описує потрібні умови, а не стверджує, що candidate їх виконав. Команда виправляє джерело порушення, перевіряє permissions і containment, додає regression case, повторює релевантне оцінювання. Release owner не може довільно перекрити inherited prohibition низьким середнім error rate. Зміна меж або scope потребує відповідної authority і re-evaluation. Після виконання критеріїв окремо авторизують scope / residual risk і підтверджують operational capacity. Permission checks та rehearsal support fallback на 12 є частиною попереднього дизайну і реалізації, а не кроком після релізу.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Human-in-the-loop є архітектурною залежністю сам по собі, а не фразою «людина перевірить». Потрібні призначені люди, компетентність, контекст для рішення, доступність, реальне право зупинити або змінити роботу, робочий інструмент, response time, звичайна й пікова пропускна здатність, підміна та режим при перевантаженні. Людина не обов’язково схвалює кожний запит: політика визначає точки та умови участі. На схемі люди беруть участь у Controller / authority, а також можуть виконувати дію. Повний контур пов’язує approved limits з Observe, Decide/authorize, Apply correction та наступним спостереженням за ефектом. Permission gate перед tool execution зберігає власну fail-closed поведінку. Окремо від цього повнота зворотного зв’язку не доводить коректність semantic evaluator або стабільність системи. Якщо навантаження, latency чи human-review demand неможливо надійно оцінити до запуску, архітектор має визначити гіпотезу та спершу перевірити доступні sandbox/shadow варіанти. Обмежений canary у production припустимий лише за окремим дозволом, в допустимій області ризику, з реально працюючими sensors, authority, stop/fallback, обмеженням population, duration, tools, spend та швидкості exposure. Canary не замінює архітектуру й не виправдовує порушення hard prohibition. Якщо немає дієвого керування або допустимого способу виміряти ризик, AI path слід заблокувати, звузити чи відкласти. Невизначеність також надходить з економіки та зовнішнього провайдера: ціна токенів, потреба в повторних викликах та evaluations, вартість human review, latency, доступність, непрозорі зміни model weights/routing/configuration можуть змінити поведінку та unit economics без локального коміту. Це можливі джерела змін, а не твердження, що кожний провайдер змінює все без попередження. Provider abstraction ізолює інтеграцію, але не доводить поведінкову еквівалентність моделі-замінника. Для змін потрібні спостереження, повторна оцінка та можливість rollback/disable/manual fallback в межах повноважень. Архітектор формує інженерний висновок про життєздатність, Product та уповноважені бізнес-особи погоджують допустимий ризик, а PM забезпечує operational model і залежності.</a:t>
            </a:r>
          </a:p>
          <a:p xmlns:a="http://schemas.openxmlformats.org/drawingml/2006/main">
            <a:r>
              <a:t/>
            </a:r>
          </a:p>
          <a:p xmlns:a="http://schemas.openxmlformats.org/drawingml/2006/main">
            <a:r>
              <a:t>Інтеграція старих слайдів 14 та 15 (PDF pages 15–16): Designing Stochastic Resilience і System Boundary States. Верхня схема робить containment видимим: model proposal → semantic monitor → controller / enforcement → дозволений delivery або execution. Approved limits є reference; semantic monitor є fallible Sensor; Decide + enforce об’єднує на навчальній схемі рішення Controller та реалізацію gate, а не ототожнює їх у доктрині. Детермінований permission/approval check перед tool execution зберігається. При порушенні або недоступному критичному контролі stop/isolate переводить запит у наперед визначений fallback: актуальна затверджена cached answer, safe template, human review або зрозуміла відмова. Cache не є автоматично безпечним: його доступність, актуальність, контекст і права також перевіряються. Якщо навіть fallback непридатний, потрібна відмова чи зупинка, а не мовчазне виконання. Semantic monitor не гарантує виявлення всіх небезпечних змістів.</a:t>
            </a:r>
          </a:p>
          <a:p xmlns:a="http://schemas.openxmlformats.org/drawingml/2006/main">
            <a:r>
              <a:t>Observe збирає delivery outcomes, fallback outcomes, наслідки застосованої корекції, incidents і здоров’я самого контуру; зворотний зв’язок запускає уповноважений review, корекцію rules/configuration/versions та наступну перевірку ефекту. Інциденти оновлюють Golden Set / regression, prompts за потреби, критерії Eval Gates, monitoring thresholds і escalation policy у межах повноважень. Це розвиток існуючих контролів, не обов’язково новий окремий сервіс. Human authority є частиною Controller/approval та може виконувати Actuator; нижній рядок залишає власника, контекст, час, місткість і підміну як реальні архітектурні залежності.</a:t>
            </a:r>
          </a:p>
          <a:p xmlns:a="http://schemas.openxmlformats.org/drawingml/2006/main">
            <a:r>
              <a:t>Праворуч видно три джерела невизначеності зі старого слайда: latency overhead від перевірок та ескалації; економіка token / retry / evaluation / human-review cost; непрозорі provider-side зміни моделі чи routing, що можуть змінювати поведінку без local code commit. Їхній спільний ефект може зробити систему непридатною у заданому scope. Архітектор формує обґрунтований veto-висновок і передає рішення про звуження/redesign/зупинку уповноваженому власнику. Критична обов’язкова заборона не обмінюється на економічну вигоду. Невідоме навантаження можна досліджувати в обмеженому дозволеному canary тільки з уже працездатним control path, stop/fallback, власниками, ресурсними та exposure limits. Canary не легалізує відсутність керування. Попередні схеми IT-assistant action path, повний контроль та всі застереження збережені в попередніх нотатках.</a:t>
            </a:r>
          </a:p>
          <a:p xmlns:a="http://schemas.openxmlformats.org/drawingml/2006/main">
            <a:r>
              <a:t/>
            </a:r>
          </a:p>
          <a:p xmlns:a="http://schemas.openxmlformats.org/drawingml/2006/main">
            <a:r>
              <a:t>Поточне уточнення 23 вересня 2026:</a:t>
            </a:r>
          </a:p>
          <a:p xmlns:a="http://schemas.openxmlformats.org/drawingml/2006/main">
            <a:r>
              <a:t>Поправка до попередньої композиції: три pressures НЕ є причиною або формулою архітектурного вето. Вето спирається на неможливість побудувати й обґрунтувати достатньо надійний, дієвий та операційно здійсненний повний контур для погоджених меж і наслідків. Це може бути missing/late evidence, authority без effective actuator, correction поза consequence window, відсутній credible enforcement або номінальний HITL. Три джерела складності показано окремо: latency/людська capacity, змінна ціна токенів та контролю, непрозорі vendor changes. Вони ускладнюють роботу архітектора й можуть змінити assumptions, але не підмінюють оцінку контрольованості. Центральна схема адаптує старий Architect slide: весь інженерний периметр містить model-mediated process, approved boundaries і realizations, Sensor, Controller, Actuator та substantive Human Authority. Людина не зовнішній чекбокс: потрібні competence, context, права, response time, peak capacity та backup. Показані логічні функції, не обов’язкові окремі сервіси. Семантичний evaluator лишається fallible, а права на tool action реалізуються детермінованими permission/approval gates. Спостерігаємо як бізнес-результат, так і control health та ефект корекції. Для невідомого load спершу sandbox/shadow, а production canary — лише окремо дозволений bounded trial з працездатними controls, scope/exposure limits і stop/fallback. Якщо потрібного control path немає, canary не легалізує production. Архітектурний висновок та project authorization мають належного owner.</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Архітектор не є одноосібним власником усієї системи. Architect + Dev проектують та реалізують повний control path; QA перевіряє failure modes, недоступність evaluator / людини та результат втручання; business / risk owner задає дозволені межі й delegation; service owner / operations забезпечує responders, monitoring, capacity, backup та recovery у роботі. Project Manager узгоджує залежності, бюджет і строки цих результатів. Product / PO вирішує, чи залишився достатній value у звуженому scope; security / privacy specialists потрібні там, де відповідні наслідки суттєві. Архітектурний veto — виявлення неприйнятної технічної або операційної здійсненності; організаційні повноваження на stop/release мають бути названі, а не припущені за назвою посади.</a:t>
            </a:r>
          </a:p>
          <a:p xmlns:a="http://schemas.openxmlformats.org/drawingml/2006/main">
            <a:r>
              <a:t>Human Authority потребує evidence і контексту для рішення, компетенції та реального права впливати. Черга ескалацій, час реакції, duty coverage та резервний шлях — параметри системи. Номінальне human approval без часу й можливості зрозуміти ситуацію не є credible control. Для support assistant недоступний фахівець веде до погодженого hold / fallback / refusal, а не автоматичного розширення дій моделі. Усі signals та корекції мають перевіряти фактичний ефект. Перехід до 13: якщо люди, їхні знання й capacity є залежностями системи, їхня організація стає частиною роботи Project Manager.</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У схемі proposal відокремлено від delivery/execution. Перевірка прав, scope дозволеного tool call і потрібного approval працює перед дією; рішення моделі саме по собі не може надати їй нові повноваження. У разі відмови або недоступності gate цей шлях відхиляє дію й використовує safe fallback. Контекст і retrieval також мають поважати access controls: не слід спочатку передавати моделі чужі дані, а потім покладатися лише на output judge. Доступні deterministic checks гарантують лише перевірювані властивості власної реалізації та trusted boundary, не всі семантичні наслідки природної мови. Semantic evaluation і human review можуть помилятися, тому дизайн обмежує authority/exposure і перевіряє реальну ефективність.</a:t>
            </a:r>
          </a:p>
          <a:p xmlns:a="http://schemas.openxmlformats.org/drawingml/2006/main">
            <a:r>
              <a:t/>
            </a:r>
          </a:p>
          <a:p xmlns:a="http://schemas.openxmlformats.org/drawingml/2006/main">
            <a:r>
              <a:t>Після виконання sensor спостерігає outcome і control health, controller вирішує в межах delegated authority, actuator може зупинити або звузити подальшу роботу чи вимкнути tool. Human Authority має evidence/context, компетенцію, decision rights, доступний час, peak capacity і backup. Людина залучається там, де цього вимагає approved design, а не до кожної відповіді. Схематичний зв’язок з gate означає required approval, не обхід checks. Уже розкриті дані feedback або rollback не повертає; rollback придатний лише до оборотних змін.</a:t>
            </a:r>
          </a:p>
          <a:p xmlns:a="http://schemas.openxmlformats.org/drawingml/2006/main">
            <a:r>
              <a:t/>
            </a:r>
          </a:p>
          <a:p xmlns:a="http://schemas.openxmlformats.org/drawingml/2006/main">
            <a:r>
              <a:t>Пропорційність: draft для компетентної людини перед використанням має іншу authority та reversibility, ніж автономна зміна доступу. Навіть draft може розкривати дані, тому access boundary лишається. Для автономної дії потрібні перевірки дозволів і required approval перед effect, дієздатний containment та response. Лише назва HITL не робить шлях керованим. Latency, людська спроможність, full token/evaluation/review costs і opaque vendor changes перевіряють в економіці та operability. Якщо обов’язковий контроль не можна реалізувати або забезпечити response capacity — звузити scope, змінити архітектуру чи відмовитися від цього AI path. Bounded trial допустимий тільки з working controls, exposure limits і stop criteria.</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Це синтез попередніх слайдів у портрет майбутнього Project Manager, а не нова назва Product Manager. Фундамент не зникає: project management theory, планування, ризики, залежності, бюджет, комунікації, stakeholders і delivery залишаються. До нього додаються горизонти, що співіснують. Перший — AI-assisted SDLC. Кодогенерація змінює співвідношення швидкості створення, review, QA, integration та людського розуміння. PM має розуміти систему, якою керує, бачити зміну bottleneck і разом із командою знаходити новий баланс. Ми не знаємо універсального нового equilibrium наперед: його перевіряємо end-to-end flow, review queues, rework, stability та здатністю людей пояснити й відновити систему. Другий — побудова агентних/Thinking Systems як додаткова інженерна дисципліна: probabilistic judgment є частиною runtime, тому requirement, evaluation, control design та operating model стають частиною проєктованої системи. Люди з їхніми правами, компетенціями, latency й capacity входять до її інженерного периметра. Третій — управління цією роботою: PM розуміє, як змінилися завдання Product/BA, QA, developers і architect, хто виробляє докази, хто приймає рішення, хто вміє застосувати корекцію. PM має бачити пропущені функції, нерозв’язані залежності та неузгоджений поділ відповідальності, принаймні робити їх видимими, організовувати рішення й моніторити стан. Потрібна статистична грамотність: відрізняти частоту від наслідку, точкову оцінку від невизначеності, coverage від кількості повторів, sample від production population, correlation від causality. Це не робить PM одноосібним статистиком, QA, архітектором або власником бізнес-ризику. Практичні метрики доповнюють delivery: частка неприйнятних результатів за сценаріями та тяжкістю, task success за погодженим rubric, cost per accepted outcome, latency, частка і черга ескалацій, response time, доступність контролів, результативність stop/fallback, incident recurrence. Вони мають denominators, період, сегмент, active version, межу та owner реакції. Система не стає коректною через один aggregate score. Попередній цикл Hypothesis → Bounded trial → Evidence → Decision залишається механікою: у planning визначаємо evidence gap, бюджет, owner і stop condition; на review приймаємо рішення з Product/BA, QA, Dev та Architect; після release стежимо за authorization і capacity. Приклад trial для IT-асистента: чи може він використовувати затверджені знання без вигаданих кроків. Дослідження обмежене в часі до обіцянки production capability. Прогрес — working capability, reduced uncertainty та явні рішення.</a:t>
            </a:r>
          </a:p>
          <a:p xmlns:a="http://schemas.openxmlformats.org/drawingml/2006/main">
            <a:r>
              <a:t/>
            </a:r>
          </a:p>
          <a:p xmlns:a="http://schemas.openxmlformats.org/drawingml/2006/main">
            <a:r>
              <a:t>Поточне уточнення 23 вересня 2026:</a:t>
            </a:r>
          </a:p>
          <a:p xmlns:a="http://schemas.openxmlformats.org/drawingml/2006/main">
            <a:r>
              <a:t>Еволюція PM означає глибше розуміння нової реальності праці, без заміни його класичного професійного фундаменту. Він має знати, що змінилося у вимогах, роботі BA/Product, developer, QA та architect, які нові результати роботи потрібні і де організація команди їх не забезпечує. Конкретний приклад maintainer: AI швидко генерує невеликий компонент мовою, якої команда не знає. Компонент росте й стає бізнес-критичним, але з початку не було компетентного code review, knowledge owner або здатності діагностувати й виправляти його без цього генератора. Тут є вже наявний issue — прогалина компетенції, ризик від її зростання та dependency для готовності: потрібна доступна експертиза й перевірене розуміння до розширення criticality. PM разом із технічними owners робить цю залежність видимою, призначає owner, дату/trigger, план training/pairing/hiring або звуження stack/scope, і критерій закриття. Свідчення закриття — змістовне review, пояснення design/trade-offs і recovery exercise відповідального інженера, а не позначка «AI написав тести». Не потрібен окремий новий реєстр: використовуємо чинні risk/dependency/backlog механізми.</a:t>
            </a:r>
          </a:p>
          <a:p xmlns:a="http://schemas.openxmlformats.org/drawingml/2006/main">
            <a:r>
              <a:t>Додаткові ризики для PM: (1) output випереджає набуття компетенції; (2) великі generated batches перевантажують review й затримують feedback; (3) нові бібліотеки/сервіси несуть supply-chain, security та maintenance зобов’язання, які слід передати компетентним owners; (4) одночасне генерування реалізації й тестів за одним неперевіреним припущенням може залишити blind spot — це інженерний сценарій, не виміряна тут частота; (5) prototype-to-production promotion непомітно збільшує consequence і ownership burden; (6) модель, agent instructions, environment/configuration та vendor availability впливають на відтворення й recovery. Для Thinking Systems додаються competence/capacity людського контуру, якість оцінювання, drift, помилки різної тяжкості, повна вартість accepted outcome і час реакції. PM організовує рішення, а не сам погоджує всі бізнес-ризики й архітектуру.</a:t>
            </a:r>
          </a:p>
          <a:p xmlns:a="http://schemas.openxmlformats.org/drawingml/2006/main">
            <a:r>
              <a:t>Джерела перевірено 23 вересня 2026. Shen &amp; Tamkin / Anthropic, January 2026: контрольований експеримент з незнайомою Python-бібліотекою показав слабше негайне засвоєння в AI-групі; невелика вибірка, короткий горизонт, інший інструментальний setup — не доказ багаторічної втрати навичок команди. Спосіб використання AI має значення; qualitative interaction patterns не встановлюють causal effect. DORA Working in small batches пояснює review/test/integration burden великих generated changes; практики були потрібні й раніше. Spracklen et al., USENIX Security 2025 документують вигадані package names та supply-chain mechanism для досліджених моделей/мов; не переносимо відсотки на нинішню команду чи всі моделі. Управлінські дії та scenario про невідомий stack — наш синтез цих сигналів і прикладу maintainer, не висновок одного дослідження.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Project Manager з’єднує роботу Product Manager / Product Owner, BA, Dev, QA, архітектора, service owner та уповноважених decision owners. Він не отримує автоматично право визначати product value, переписувати технічні межі або приймати business risk. Його робота — зробити залежності й пропуски видимими, отримати власника, час і evidence, домогтися рішення належної особи. У Scrum це окремо від відповідальності Scrum Master за Scrum та ефективність команди; наявність окремої посади Project Manager не є вимогою Scrum або UA.</a:t>
            </a:r>
          </a:p>
          <a:p xmlns:a="http://schemas.openxmlformats.org/drawingml/2006/main">
            <a:r>
              <a:t>Обидва горизонти зводимо до корисного результату. HOW: review queues / rework ростуть — команда з Project Manager переглядає WIP, batch size, reviewer coverage та scope. WHAT: human escalation queue чи response time виходить за погоджені межі — service / release owner вирішує щодо capacity, exposure, fallback чи stop, Product / PO переоцінює value та пріоритети. Project Manager забезпечує своєчасність цих рішень. Більше коду та кращий eval score самі по собі не доводять більшої продуктової цінності. Перехід до 14: одне погодження не закриває невизначеність назавжди; потрібен повторюваний командний цикл evidence → decision → adaptation.</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WHAT-стовпець тепер показує результат координації: погоджені критерії, компетентний domain reviewer, визначений responder із перевіреною спроможністю та evidence, достатня для рішення. Для IT-асистента відсутність такого responder або невиконаний privacy criterion є delivery dependency, яку не закриває демонстрація working code. Project Manager організовує owner, час і proof of closure, але не підмінює продуктову, технічну або risk authority. На HOW так само потрібні qualified reviewer та людина, здатна підтримати й відновити незнайомий компонент. Existing people можуть поєднувати ці відповідальності. Не створюємо обов’язкового нового headcount чи комітетів.</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https://www.anthropic.com/research/AI-assistance-coding-skills</a:t>
            </a:r>
          </a:p>
          <a:p xmlns:a="http://schemas.openxmlformats.org/drawingml/2006/main">
            <a:r>
              <a:t>https://arxiv.org/abs/2601.20245</a:t>
            </a:r>
          </a:p>
          <a:p xmlns:a="http://schemas.openxmlformats.org/drawingml/2006/main">
            <a:r>
              <a:t>https://dora.dev/capabilities/working-in-small-batches/</a:t>
            </a:r>
          </a:p>
          <a:p xmlns:a="http://schemas.openxmlformats.org/drawingml/2006/main">
            <a:r>
              <a:t>https://www.usenix.org/conference/usenixsecurity25/presentation/spracklen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Фінал збирає HOW we build та WHAT we build через лабораторний цикл зі старого слайда 20. Звичний delivery cycle Plan → Build → Verify → Ship залишається. Лабораторний цикл додає гіпотезу, обмежений експеримент, вимірювання, рішення й адаптацію; нові дані повертають команду до наступної гіпотези. Scrum уже містить емпіризм та адаптацію, тому ми не оголошуємо їх винаходом AI. Змінюється те, що саме треба вимірювати й керувати: поведінкова варіативність, доказова база, operational control і людська частина системи. Для HOW we build цей підхід потрібен, поки команда перевіряє, як AI code generators змінюють її звичний SDLC, де виник bottleneck, чи є реальне покращення end-to-end delivery та чи зберігаються understanding/ownership. Порівнюємо сумісні типи задач і умови, не приймаємо більше generated lines за delivery improvement. Для WHAT we build — Thinking Systems — цикл триває весь час роботи, бо змінюються входи, usage, дані, поведінкові конфігурації та зовнішні залежності. Production evidence й incidents оновлюють Golden Sets, regression, Eval Gates, monitoring та рішення про scope. «Лабораторія не закінчується» означає постійне навчання й reassessment, а не безперервні неконтрольовані експерименти над користувачами: кожний trial має дозвіл, межі та stop/fallback. З попереднього HOW/WHAT лишаються всі відповідальності: команда — comprehension та ownership; Project Manager — evidence і flow; Product/BA — agreed acceptance; QA/Dev — calibrated evidence; Architect — effective control paths; release owner — scope та residual risk. Перший практичний крок лишається: один workflow, погоджені tolerances, калібрований Golden Set, Eval Gate і відрепетируваний fallback. Оцінюємо рішення та наслідки, не лише демонстрацію. Більше capability не скасовує engineering responsibility.</a:t>
            </a:r>
          </a:p>
          <a:p xmlns:a="http://schemas.openxmlformats.org/drawingml/2006/main">
            <a:r>
              <a:t/>
            </a:r>
          </a:p>
          <a:p xmlns:a="http://schemas.openxmlformats.org/drawingml/2006/main">
            <a:r>
              <a:t>Поточне уточнення 23 вересня 2026:</a:t>
            </a:r>
          </a:p>
          <a:p xmlns:a="http://schemas.openxmlformats.org/drawingml/2006/main">
            <a:r>
              <a:t>Максимально адаптовано зміст старих Welcome to the Laboratory (PDF20) та FINAL OPERATING MODEL (PDF22). Збережено звичний delivery і додано постійний empirical loop: гіпотеза та погоджені межі, bounded experiment, measurement/comparison, decision/adaptation. Межі й stop criteria існують до експерименту. Model variance та зміна умов повертають нас до гіпотези, а production outcomes й incidents продовжують цей цикл. Командна операційна модель конкретна: planning формулює питання, owner, budget/time і needed evidence; daily work versionує trials і показує blockers/knowledge gaps; review розглядає результати, uncertainty/coverage і рішення accept/narrow/rework/stop; після релізу є monitoring, responders, incident learning та reassessment. Інциденти змінюють regression/Golden Sets, Eval Gates, monitoring і control rules після належного погодження. Scrum вже емпіричний; ми адаптуємо предмет evidence і decision checkpoints, а не оголошуємо винахід наукового методу. Для HOW це спосіб перевіряти новий баланс AI-assisted SDLC, не плутати більше коду з delivery value та зберігати understanding/ownership. Для WHAT це робота протягом усього життєвого циклу, бо model-mediated behavior, inputs, дані й vendor assumptions можуть змінюватись. Лабораторний режим не означає неконтрольованих експериментів над користувачами. Один experiment закінчується рішенням, а здатність команди вчитися, моніторити й переглядати assumptions триває. Наступний слайд дає матеріали й контакти для Q&amp;A.</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Ролі на фінальному слайді показують провідний внесок на етапі, а не виключне право участі. Planning: Product / PO + BA разом із командою визначають value target, питання, межі, потрібні evidence й owner. Daily work: Dev + QA + Architect будують, versionують trial, перевіряють і закривають gaps; інші потрібні фахівці також залучені. Review: Product / PO оцінює value, команда пояснює evidence й невизначеність, уповноважений release / risk owner ухвалює scope-specific рішення. After release: service owner + responders моніторять, реагують і повертають findings до всієї команди. Project Manager координує залежності та своєчасність рішень у всьому циклі; Scrum Master у Scrum підтримує емпіризм та ефективність командної взаємодії. Це не новий обов’язковий склад команди й не зміна значення Scrum events; зокрема Sprint Review не перетворюється на формальний release gate.</a:t>
            </a:r>
          </a:p>
          <a:p xmlns:a="http://schemas.openxmlformats.org/drawingml/2006/main">
            <a:r>
              <a:t>Обидві частини доповіді сходяться тут: HOW перевіряє реальне delivery improvement із збереженим розумінням; WHAT перевіряє корисні outcomes, допустиму поведінку, дієвий контроль та повну вартість. Experiment завершується рішенням, а learning, monitoring та reassessment тривають. Завершити конкретною дією для аудиторії: оберіть один workflow; назвіть, яку корисну зміну очікуєте; погодьте межі; визначте evidence і decision / service owners; відрепетируйте fallback. Це можна почати з наявними людьми. Наступний ресурсний слайд дає матеріали для такого першого кроку.</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Практичний перший крок після доповіді: обрати один workflow відновлення доступу, визначити observable useful outcome й погоджені межі, призначити існуючих відповідальних за evidence / decisions / operations та відрепетирувати support fallback. Порівняти evidence з погодженими умовами і вирішити continue, narrow або stop. Розмір controls залежить від consequences, authority й reversibility, показаних на 12, а не від вимоги максимальної governance до кожного AI feature. Existing team cadence включає ці рішення в planning, роботу, review й operations. Laboratory loop доповнює delivery commitments; він не є підставою для нескінченного експерименту без критеріїв рішення.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https://github.com/UncertaintyArchitectureGroup/uncertainty-architecture/blob/main/content/raw/Designing%20Non-Deterministic%20Systems%3A%20Maintaining%20Engineering%20Rigor%20in%20the%20AI%20Era.pdf#page=22</a:t>
            </a:r>
          </a:p>
          <a:p xmlns:a="http://schemas.openxmlformats.org/drawingml/2006/main">
            <a:r>
              <a:t>https://github.com/UncertaintyArchitectureGroup/uncertainty-architecture/blob/main/01-patterns/thinking-system-review.md</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Завершальний слайд із двома перевіреними публічними репозиторіями. Uncertainty Architecture — концептуальна рамка, специфікація та практичні матеріали про проєктування й керування Thinking Systems. Не представляємо її як готовий універсальний software engine. The Subprime Code Crisis — дослідницький синтез про AI-assisted delivery, review/QA/architecture/maintenance, людське розуміння й ownership. QR-коди кодують точно надруковані цільові GitHub URL без стороннього redirect. Email і LinkedIn для продовження розмови. Це Q&amp;A ресурсний слайд, який не змінює змістовний фінал 14.</a:t>
            </a:r>
          </a:p>
          <a:p xmlns:a="http://schemas.openxmlformats.org/drawingml/2006/main">
            <a:r>
              <a:t/>
            </a:r>
          </a:p>
          <a:p xmlns:a="http://schemas.openxmlformats.org/drawingml/2006/main">
            <a:r>
              <a:t>Sources:</a:t>
            </a:r>
          </a:p>
          <a:p xmlns:a="http://schemas.openxmlformats.org/drawingml/2006/main">
            <a:r>
              <a:t>https://github.com/UncertaintyArchitectureGroup/uncertainty-architecture</a:t>
            </a:r>
          </a:p>
          <a:p xmlns:a="http://schemas.openxmlformats.org/drawingml/2006/main">
            <a:r>
              <a:t>https://github.com/UncertaintyArchitectureGroup/The-Subprime-Code-Crisis</a:t>
            </a:r>
          </a:p>
          <a:p xmlns:a="http://schemas.openxmlformats.org/drawingml/2006/main">
            <a:r>
              <a:t>https://www.linkedin.com/in/vitaliioborskyi/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0a4949cfc864e5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fd31bf106b1446a" /><Relationship Type="http://schemas.openxmlformats.org/officeDocument/2006/relationships/slideLayout" Target="/ppt/slideLayouts/slideLayout1.xml" Id="Rabd4647ffd6445ee" /></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abd4647ffd6445ee"/>
  </p:sldLayoutIdLst>
  <p:txStyles>
    <p:titleStyle>
      <a:lvl1pPr algn="l">
        <a:lnSpc>
          <a:spcPct val="90000"/>
        </a:lnSpc>
        <a:spcBef>
          <a:spcPts val="0"/>
        </a:spcBef>
        <a:buNone/>
        <a:defRPr sz="4400">
          <a:solidFill>
            <a:schemeClr val="tx1"/>
          </a:solidFill>
          <a:latin typeface="Arial"/>
          <a:ea typeface="Arial"/>
          <a:cs typeface="Arial"/>
        </a:defRPr>
      </a:lvl1pPr>
    </p:titleStyle>
    <p:bodyStyle>
      <a:lvl1pPr marL="228600" indent="-228600" algn="l">
        <a:lnSpc>
          <a:spcPct val="90000"/>
        </a:lnSpc>
        <a:spcBef>
          <a:spcPts val="1000"/>
        </a:spcBef>
        <a:buChar char="•"/>
        <a:defRPr sz="2800">
          <a:solidFill>
            <a:schemeClr val="tx1"/>
          </a:solidFill>
          <a:latin typeface="Arial"/>
          <a:ea typeface="Arial"/>
          <a:cs typeface="Arial"/>
        </a:defRPr>
      </a:lvl1pPr>
      <a:lvl2pPr marL="685800" indent="-228600" algn="l">
        <a:lnSpc>
          <a:spcPct val="90000"/>
        </a:lnSpc>
        <a:spcBef>
          <a:spcPts val="500"/>
        </a:spcBef>
        <a:buChar char="•"/>
        <a:defRPr sz="2400">
          <a:solidFill>
            <a:schemeClr val="tx1"/>
          </a:solidFill>
          <a:latin typeface="Arial"/>
          <a:ea typeface="Arial"/>
          <a:cs typeface="Arial"/>
        </a:defRPr>
      </a:lvl2pPr>
      <a:lvl3pPr marL="1143000" indent="-228600" algn="l">
        <a:lnSpc>
          <a:spcPct val="90000"/>
        </a:lnSpc>
        <a:spcBef>
          <a:spcPts val="500"/>
        </a:spcBef>
        <a:buChar char="•"/>
        <a:defRPr sz="2000">
          <a:solidFill>
            <a:schemeClr val="tx1"/>
          </a:solidFill>
          <a:latin typeface="Arial"/>
          <a:ea typeface="Arial"/>
          <a:cs typeface="Arial"/>
        </a:defRPr>
      </a:lvl3pPr>
      <a:lvl4pPr marL="1600200" indent="-228600" algn="l">
        <a:lnSpc>
          <a:spcPct val="90000"/>
        </a:lnSpc>
        <a:spcBef>
          <a:spcPts val="500"/>
        </a:spcBef>
        <a:buChar char="•"/>
        <a:defRPr sz="1800">
          <a:solidFill>
            <a:schemeClr val="tx1"/>
          </a:solidFill>
          <a:latin typeface="Arial"/>
          <a:ea typeface="Arial"/>
          <a:cs typeface="Arial"/>
        </a:defRPr>
      </a:lvl4pPr>
      <a:lvl5pPr marL="2057400" indent="-228600" algn="l">
        <a:lnSpc>
          <a:spcPct val="90000"/>
        </a:lnSpc>
        <a:spcBef>
          <a:spcPts val="500"/>
        </a:spcBef>
        <a:buChar char="•"/>
        <a:defRPr sz="1800">
          <a:solidFill>
            <a:schemeClr val="tx1"/>
          </a:solidFill>
          <a:latin typeface="Arial"/>
          <a:ea typeface="Arial"/>
          <a:cs typeface="Arial"/>
        </a:defRPr>
      </a:lvl5pPr>
      <a:lvl6pPr marL="2514600" indent="-228600" algn="l">
        <a:lnSpc>
          <a:spcPct val="90000"/>
        </a:lnSpc>
        <a:spcBef>
          <a:spcPts val="500"/>
        </a:spcBef>
        <a:buChar char="•"/>
        <a:defRPr sz="1800">
          <a:solidFill>
            <a:schemeClr val="tx1"/>
          </a:solidFill>
          <a:latin typeface="Arial"/>
          <a:ea typeface="Arial"/>
          <a:cs typeface="Arial"/>
        </a:defRPr>
      </a:lvl6pPr>
      <a:lvl7pPr marL="2971800" indent="-228600" algn="l">
        <a:lnSpc>
          <a:spcPct val="90000"/>
        </a:lnSpc>
        <a:spcBef>
          <a:spcPts val="500"/>
        </a:spcBef>
        <a:buChar char="•"/>
        <a:defRPr sz="1800">
          <a:solidFill>
            <a:schemeClr val="tx1"/>
          </a:solidFill>
          <a:latin typeface="Arial"/>
          <a:ea typeface="Arial"/>
          <a:cs typeface="Arial"/>
        </a:defRPr>
      </a:lvl7pPr>
      <a:lvl8pPr marL="3429000" indent="-228600" algn="l">
        <a:lnSpc>
          <a:spcPct val="90000"/>
        </a:lnSpc>
        <a:spcBef>
          <a:spcPts val="500"/>
        </a:spcBef>
        <a:buChar char="•"/>
        <a:defRPr sz="1800">
          <a:solidFill>
            <a:schemeClr val="tx1"/>
          </a:solidFill>
          <a:latin typeface="Arial"/>
          <a:ea typeface="Arial"/>
          <a:cs typeface="Arial"/>
        </a:defRPr>
      </a:lvl8pPr>
      <a:lvl9pPr marL="3886200" indent="-228600" algn="l">
        <a:lnSpc>
          <a:spcPct val="90000"/>
        </a:lnSpc>
        <a:spcBef>
          <a:spcPts val="500"/>
        </a:spcBef>
        <a:buChar char="•"/>
        <a:defRPr sz="1800">
          <a:solidFill>
            <a:schemeClr val="tx1"/>
          </a:solidFill>
          <a:latin typeface="Arial"/>
          <a:ea typeface="Arial"/>
          <a:cs typeface="Arial"/>
        </a:defRPr>
      </a:lvl9pPr>
    </p:bodyStyle>
    <p:otherStyle>
      <a:lvl1pPr marL="0" algn="l">
        <a:buNone/>
        <a:defRPr sz="1800">
          <a:solidFill>
            <a:schemeClr val="tx1"/>
          </a:solidFill>
          <a:latin typeface="Arial"/>
          <a:ea typeface="Arial"/>
          <a:cs typeface="Arial"/>
        </a:defRPr>
      </a:lvl1pPr>
      <a:lvl2pPr marL="457200" algn="l">
        <a:buNone/>
        <a:defRPr sz="1800">
          <a:solidFill>
            <a:schemeClr val="tx1"/>
          </a:solidFill>
          <a:latin typeface="Arial"/>
          <a:ea typeface="Arial"/>
          <a:cs typeface="Arial"/>
        </a:defRPr>
      </a:lvl2pPr>
      <a:lvl3pPr marL="914400" algn="l">
        <a:buNone/>
        <a:defRPr sz="1800">
          <a:solidFill>
            <a:schemeClr val="tx1"/>
          </a:solidFill>
          <a:latin typeface="Arial"/>
          <a:ea typeface="Arial"/>
          <a:cs typeface="Arial"/>
        </a:defRPr>
      </a:lvl3pPr>
      <a:lvl4pPr marL="1371600" algn="l">
        <a:buNone/>
        <a:defRPr sz="1800">
          <a:solidFill>
            <a:schemeClr val="tx1"/>
          </a:solidFill>
          <a:latin typeface="Arial"/>
          <a:ea typeface="Arial"/>
          <a:cs typeface="Arial"/>
        </a:defRPr>
      </a:lvl4pPr>
      <a:lvl5pPr marL="1828800" algn="l">
        <a:buNone/>
        <a:defRPr sz="1800">
          <a:solidFill>
            <a:schemeClr val="tx1"/>
          </a:solidFill>
          <a:latin typeface="Arial"/>
          <a:ea typeface="Arial"/>
          <a:cs typeface="Arial"/>
        </a:defRPr>
      </a:lvl5pPr>
      <a:lvl6pPr marL="2286000" algn="l">
        <a:buNone/>
        <a:defRPr sz="1800">
          <a:solidFill>
            <a:schemeClr val="tx1"/>
          </a:solidFill>
          <a:latin typeface="Arial"/>
          <a:ea typeface="Arial"/>
          <a:cs typeface="Arial"/>
        </a:defRPr>
      </a:lvl6pPr>
      <a:lvl7pPr marL="2743200" algn="l">
        <a:buNone/>
        <a:defRPr sz="1800">
          <a:solidFill>
            <a:schemeClr val="tx1"/>
          </a:solidFill>
          <a:latin typeface="Arial"/>
          <a:ea typeface="Arial"/>
          <a:cs typeface="Arial"/>
        </a:defRPr>
      </a:lvl7pPr>
      <a:lvl8pPr marL="3200400" algn="l">
        <a:buNone/>
        <a:defRPr sz="1800">
          <a:solidFill>
            <a:schemeClr val="tx1"/>
          </a:solidFill>
          <a:latin typeface="Arial"/>
          <a:ea typeface="Arial"/>
          <a:cs typeface="Arial"/>
        </a:defRPr>
      </a:lvl8pPr>
      <a:lvl9pPr marL="3657600" algn="l">
        <a:buNone/>
        <a:defRPr sz="1800">
          <a:solidFill>
            <a:schemeClr val="tx1"/>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532a20e4d554a83" /><Relationship Type="http://schemas.openxmlformats.org/officeDocument/2006/relationships/image" Target="/ppt/media/image.png" Id="R3ae5ce550fb44d7d" /><Relationship Type="http://schemas.openxmlformats.org/officeDocument/2006/relationships/hyperlink" Target="mailto:oborskyivitalii@gmail.com" TargetMode="External" Id="R667efe690f6342d9" /><Relationship Type="http://schemas.openxmlformats.org/officeDocument/2006/relationships/hyperlink" Target="https://www.linkedin.com/in/vitaliioborskyi/" TargetMode="External" Id="R300a5bb3da854006" /><Relationship Type="http://schemas.openxmlformats.org/officeDocument/2006/relationships/notesSlide" Target="/ppt/notesSlides/notesSlide1.xml" Id="Rb1846fe76342498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d2b674bb83f4881" /><Relationship Type="http://schemas.openxmlformats.org/officeDocument/2006/relationships/notesSlide" Target="/ppt/notesSlides/notesSlide2.xml" Id="Rd392a41ac4b94eb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ce1b97418c44c3c" /><Relationship Type="http://schemas.openxmlformats.org/officeDocument/2006/relationships/notesSlide" Target="/ppt/notesSlides/notesSlide3.xml" Id="Rbe33e719e8eb48b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42524976711425b" /><Relationship Type="http://schemas.openxmlformats.org/officeDocument/2006/relationships/notesSlide" Target="/ppt/notesSlides/notesSlide4.xml" Id="R1ec992027b374bc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6eacba2523240fb" /><Relationship Type="http://schemas.openxmlformats.org/officeDocument/2006/relationships/notesSlide" Target="/ppt/notesSlides/notesSlide5.xml" Id="Rdce640f0a6f54e3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339c604f5cf4b11" /><Relationship Type="http://schemas.openxmlformats.org/officeDocument/2006/relationships/notesSlide" Target="/ppt/notesSlides/notesSlide6.xml" Id="R78a94da847b343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69de8024b05483b" /><Relationship Type="http://schemas.openxmlformats.org/officeDocument/2006/relationships/notesSlide" Target="/ppt/notesSlides/notesSlide7.xml" Id="Ra998b45973994bd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e3308d7f16445ea" /><Relationship Type="http://schemas.openxmlformats.org/officeDocument/2006/relationships/notesSlide" Target="/ppt/notesSlides/notesSlide8.xml" Id="R7b6e78e811c6440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4e0860dc5e24e94" /><Relationship Type="http://schemas.openxmlformats.org/officeDocument/2006/relationships/notesSlide" Target="/ppt/notesSlides/notesSlide9.xml" Id="Rcf165d9e6f61473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509dc5df9ea4c61" /><Relationship Type="http://schemas.openxmlformats.org/officeDocument/2006/relationships/chart" Target="/ppt/slides/charts/chart1.xml" Id="R36f5b6b22a2c4a65" /><Relationship Type="http://schemas.openxmlformats.org/officeDocument/2006/relationships/notesSlide" Target="/ppt/notesSlides/notesSlide10.xml" Id="Ree383fbc71344e6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60f8e3d43a44adf" /><Relationship Type="http://schemas.openxmlformats.org/officeDocument/2006/relationships/notesSlide" Target="/ppt/notesSlides/notesSlide11.xml" Id="Rd4e73f1e47ae461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3559fbd233a4447" /><Relationship Type="http://schemas.openxmlformats.org/officeDocument/2006/relationships/notesSlide" Target="/ppt/notesSlides/notesSlide12.xml" Id="R8456a57c371c46c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bee0505be52489a" /><Relationship Type="http://schemas.openxmlformats.org/officeDocument/2006/relationships/notesSlide" Target="/ppt/notesSlides/notesSlide13.xml" Id="Raf620ea7cb134d6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185f536fb8e4215" /><Relationship Type="http://schemas.openxmlformats.org/officeDocument/2006/relationships/notesSlide" Target="/ppt/notesSlides/notesSlide14.xml" Id="R79ada051727348a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04992c8e2c54398" /><Relationship Type="http://schemas.openxmlformats.org/officeDocument/2006/relationships/image" Target="/ppt/media/image2.png" Id="R3d5db90b4aab4f01" /><Relationship Type="http://schemas.openxmlformats.org/officeDocument/2006/relationships/hyperlink" Target="https://github.com/UncertaintyArchitectureGroup/uncertainty-architecture" TargetMode="External" Id="Rbee66baa649b4579" /><Relationship Type="http://schemas.openxmlformats.org/officeDocument/2006/relationships/hyperlink" Target="https://github.com/UncertaintyArchitectureGroup/uncertainty-architecture" TargetMode="External" Id="Ra96fa891f64f4d84" /><Relationship Type="http://schemas.openxmlformats.org/officeDocument/2006/relationships/image" Target="/ppt/media/image3.png" Id="R1d4f435f39984686" /><Relationship Type="http://schemas.openxmlformats.org/officeDocument/2006/relationships/hyperlink" Target="https://github.com/UncertaintyArchitectureGroup/The-Subprime-Code-Crisis" TargetMode="External" Id="R59743968aa304f81" /><Relationship Type="http://schemas.openxmlformats.org/officeDocument/2006/relationships/hyperlink" Target="https://github.com/UncertaintyArchitectureGroup/The-Subprime-Code-Crisis" TargetMode="External" Id="R7818dac15a1848d5" /><Relationship Type="http://schemas.openxmlformats.org/officeDocument/2006/relationships/hyperlink" Target="mailto:oborskyivitalii@gmail.com" TargetMode="External" Id="Rfb354755b9c14c30" /><Relationship Type="http://schemas.openxmlformats.org/officeDocument/2006/relationships/hyperlink" Target="https://www.linkedin.com/in/vitaliioborskyi/" TargetMode="External" Id="Rd5614afb826c4b64" /><Relationship Type="http://schemas.openxmlformats.org/officeDocument/2006/relationships/notesSlide" Target="/ppt/notesSlides/notesSlide15.xml" Id="R1a8697ae4a7e41c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 outputs</c:v>
          </c:tx>
          <c:spPr>
            <a:solidFill xmlns:a="http://schemas.openxmlformats.org/drawingml/2006/main">
              <a:srgbClr val="28C7F7"/>
            </a:solidFill>
          </c:spPr>
          <c:dPt>
            <c:idx val="0"/>
            <c:invertIfNegative val="0"/>
            <c:spPr>
              <a:solidFill xmlns:a="http://schemas.openxmlformats.org/drawingml/2006/main">
                <a:srgbClr val="28C7F7"/>
              </a:solidFill>
              <a:ln xmlns:a="http://schemas.openxmlformats.org/drawingml/2006/main" w="0">
                <a:noFill/>
              </a:ln>
            </c:spPr>
          </c:dPt>
          <c:dPt>
            <c:idx val="1"/>
            <c:invertIfNegative val="0"/>
            <c:spPr>
              <a:solidFill xmlns:a="http://schemas.openxmlformats.org/drawingml/2006/main">
                <a:srgbClr val="F5B61C"/>
              </a:solidFill>
              <a:ln xmlns:a="http://schemas.openxmlformats.org/drawingml/2006/main" w="0">
                <a:noFill/>
              </a:ln>
            </c:spPr>
          </c:dPt>
          <c:dPt>
            <c:idx val="2"/>
            <c:invertIfNegative val="0"/>
            <c:spPr>
              <a:solidFill xmlns:a="http://schemas.openxmlformats.org/drawingml/2006/main">
                <a:srgbClr val="FF6B75"/>
              </a:solidFill>
              <a:ln xmlns:a="http://schemas.openxmlformats.org/drawingml/2006/main" w="0">
                <a:noFill/>
              </a:ln>
            </c:spPr>
          </c:dPt>
          <c:dLbls>
            <c:dLbl>
              <c:idx val="0"/>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196
98%</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3
1.5%</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1
0.5%</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s>
          <c:cat>
            <c:strRef>
              <c:f>'Chart Data'!$A$2:$A$4</c:f>
              <c:strCache>
                <c:ptCount val="3"/>
                <c:pt idx="0">
                  <c:v>Acceptable</c:v>
                </c:pt>
                <c:pt idx="1">
                  <c:v>Incorrect steps</c:v>
                </c:pt>
                <c:pt idx="2">
                  <c:v>Privacy leak</c:v>
                </c:pt>
              </c:strCache>
            </c:strRef>
          </c:cat>
          <c:val>
            <c:numRef>
              <c:f>'Chart Data'!$B$2:$B$4</c:f>
              <c:numCache>
                <c:formatCode>0</c:formatCode>
                <c:ptCount val="3"/>
                <c:pt idx="0">
                  <c:v>196</c:v>
                </c:pt>
                <c:pt idx="1">
                  <c:v>3</c:v>
                </c:pt>
                <c:pt idx="2">
                  <c:v>1</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44454"/>
            </a:solidFill>
          </a:ln>
        </c:spPr>
        <c:txPr>
          <a:bodyPr xmlns:a="http://schemas.openxmlformats.org/drawingml/2006/main" anchorCtr="1"/>
          <a:lstStyle xmlns:a="http://schemas.openxmlformats.org/drawingml/2006/main"/>
          <a:p xmlns:a="http://schemas.openxmlformats.org/drawingml/2006/main">
            <a:pPr>
              <a:defRPr sz="1200">
                <a:solidFill>
                  <a:srgbClr val="ADB8C5"/>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34445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ADB8C5"/>
                </a:solidFill>
                <a:latin typeface="Arial"/>
                <a:ea typeface="Arial"/>
                <a:cs typeface="Arial"/>
              </a:defRPr>
            </a:pPr>
          </a:p>
        </c:txPr>
        <c:crossAx val="48650112"/>
        <c:crossBetween val="between"/>
        <c:majorUnit val="100"/>
      </c:valAx>
      <c:spPr>
        <a:solidFill xmlns:a="http://schemas.openxmlformats.org/drawingml/2006/main">
          <a:srgbClr val="0B0F14"/>
        </a:solidFill>
        <a:ln xmlns:a="http://schemas.openxmlformats.org/drawingml/2006/main" w="0">
          <a:noFill/>
        </a:ln>
      </c:spPr>
    </c:plotArea>
    <c:plotVisOnly val="1"/>
  </c:chart>
  <c:spPr>
    <a:solidFill xmlns:a="http://schemas.openxmlformats.org/drawingml/2006/main">
      <a:srgbClr val="0B0F1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BE29FC4-0FC7-48BD-9FFD-F0CC80CAF21A}"/>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F22FEA98-1BB4-4D33-BE2A-0746F2531A1D}"/>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AI Changes Both Sides</a:t>
            </a:r>
          </a:p>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of Software Engineering</a:t>
            </a:r>
          </a:p>
        </p:txBody>
      </p:sp>
      <p:sp>
        <p:nvSpPr>
          <p:cNvPr id="3" name="">
            <a:extLst xmlns:a="http://schemas.openxmlformats.org/drawingml/2006/main">
              <a:ext uri="{FF2B5EF4-FFF2-40B4-BE49-F238E27FC236}">
                <a16:creationId xmlns:a16="http://schemas.microsoft.com/office/drawing/2014/main" id="{04F968F3-502B-4A37-9760-9DDD5A7838E5}"/>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Arial"/>
                <a:ea typeface="Arial"/>
                <a:cs typeface="Arial"/>
              </a:defRPr>
            </a:pPr>
            <a:r>
              <a:rPr sz="2025" b="0">
                <a:solidFill>
                  <a:srgbClr val="ADB8C5"/>
                </a:solidFill>
                <a:latin typeface="Arial"/>
                <a:ea typeface="Arial"/>
                <a:cs typeface="Arial"/>
              </a:rPr>
              <a:t>How we build software. And what software is.</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3ae5ce550fb44d7d"/>
          <a:stretch xmlns:a="http://schemas.openxmlformats.org/drawingml/2006/main"/>
        </p:blipFill>
        <p:spPr>
          <a:xfrm xmlns:a="http://schemas.openxmlformats.org/drawingml/2006/main">
            <a:off x="1809750" y="2200275"/>
            <a:ext cx="8572500" cy="2857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66A23EB-4B19-4BEE-9694-BA9CE252EA13}"/>
              </a:ext>
            </a:extLst>
          </p:cNvPr>
          <p:cNvSpPr>
            <a:spLocks xmlns:a="http://schemas.openxmlformats.org/drawingml/2006/main" noGrp="1"/>
          </p:cNvSpPr>
          <p:nvPr/>
        </p:nvSpPr>
        <p:spPr>
          <a:xfrm xmlns:a="http://schemas.openxmlformats.org/drawingml/2006/main">
            <a:off x="9144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HOW WE BUILD</a:t>
            </a:r>
          </a:p>
        </p:txBody>
      </p:sp>
      <p:sp>
        <p:nvSpPr>
          <p:cNvPr id="6" name="">
            <a:extLst xmlns:a="http://schemas.openxmlformats.org/drawingml/2006/main">
              <a:ext uri="{FF2B5EF4-FFF2-40B4-BE49-F238E27FC236}">
                <a16:creationId xmlns:a16="http://schemas.microsoft.com/office/drawing/2014/main" id="{7739605B-E788-4793-98B6-546584045576}"/>
              </a:ext>
            </a:extLst>
          </p:cNvPr>
          <p:cNvSpPr>
            <a:spLocks xmlns:a="http://schemas.openxmlformats.org/drawingml/2006/main" noGrp="1"/>
          </p:cNvSpPr>
          <p:nvPr/>
        </p:nvSpPr>
        <p:spPr>
          <a:xfrm xmlns:a="http://schemas.openxmlformats.org/drawingml/2006/main">
            <a:off x="9144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helps a developer write software.</a:t>
            </a:r>
          </a:p>
        </p:txBody>
      </p:sp>
      <p:sp>
        <p:nvSpPr>
          <p:cNvPr id="7" name="">
            <a:extLst xmlns:a="http://schemas.openxmlformats.org/drawingml/2006/main">
              <a:ext uri="{FF2B5EF4-FFF2-40B4-BE49-F238E27FC236}">
                <a16:creationId xmlns:a16="http://schemas.microsoft.com/office/drawing/2014/main" id="{FEAC6BB2-E60D-40F2-8E18-5F5F65C5C06C}"/>
              </a:ext>
            </a:extLst>
          </p:cNvPr>
          <p:cNvSpPr>
            <a:spLocks xmlns:a="http://schemas.openxmlformats.org/drawingml/2006/main" noGrp="1"/>
          </p:cNvSpPr>
          <p:nvPr/>
        </p:nvSpPr>
        <p:spPr>
          <a:xfrm xmlns:a="http://schemas.openxmlformats.org/drawingml/2006/main">
            <a:off x="64770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WHAT WE BUILD</a:t>
            </a:r>
          </a:p>
        </p:txBody>
      </p:sp>
      <p:sp>
        <p:nvSpPr>
          <p:cNvPr id="8" name="">
            <a:extLst xmlns:a="http://schemas.openxmlformats.org/drawingml/2006/main">
              <a:ext uri="{FF2B5EF4-FFF2-40B4-BE49-F238E27FC236}">
                <a16:creationId xmlns:a16="http://schemas.microsoft.com/office/drawing/2014/main" id="{870F97BA-AABF-4829-88A7-6FC00549E776}"/>
              </a:ext>
            </a:extLst>
          </p:cNvPr>
          <p:cNvSpPr>
            <a:spLocks xmlns:a="http://schemas.openxmlformats.org/drawingml/2006/main" noGrp="1"/>
          </p:cNvSpPr>
          <p:nvPr/>
        </p:nvSpPr>
        <p:spPr>
          <a:xfrm xmlns:a="http://schemas.openxmlformats.org/drawingml/2006/main">
            <a:off x="64770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interprets a user’s request at runtime.</a:t>
            </a:r>
          </a:p>
        </p:txBody>
      </p:sp>
      <p:sp>
        <p:nvSpPr>
          <p:cNvPr id="9" name="">
            <a:extLst xmlns:a="http://schemas.openxmlformats.org/drawingml/2006/main">
              <a:ext uri="{FF2B5EF4-FFF2-40B4-BE49-F238E27FC236}">
                <a16:creationId xmlns:a16="http://schemas.microsoft.com/office/drawing/2014/main" id="{AAD224D9-C583-4271-A960-16AC4D2794A3}"/>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7BDC1313-3B6D-4CA0-9B6F-5BD49A6690AB}"/>
              </a:ext>
            </a:extLst>
          </p:cNvPr>
          <p:cNvSpPr>
            <a:spLocks xmlns:a="http://schemas.openxmlformats.org/drawingml/2006/main" noGrp="1"/>
          </p:cNvSpPr>
          <p:nvPr/>
        </p:nvSpPr>
        <p:spPr>
          <a:xfrm xmlns:a="http://schemas.openxmlformats.org/drawingml/2006/main">
            <a:off x="609600" y="601027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Vitalii Oborskyi</a:t>
            </a:r>
          </a:p>
        </p:txBody>
      </p:sp>
      <p:sp>
        <p:nvSpPr>
          <p:cNvPr id="11" name="">
            <a:extLst xmlns:a="http://schemas.openxmlformats.org/drawingml/2006/main">
              <a:ext uri="{FF2B5EF4-FFF2-40B4-BE49-F238E27FC236}">
                <a16:creationId xmlns:a16="http://schemas.microsoft.com/office/drawing/2014/main" id="{558F2FAB-044C-4C7C-B011-193A951471D5}"/>
              </a:ext>
            </a:extLst>
          </p:cNvPr>
          <p:cNvSpPr>
            <a:spLocks xmlns:a="http://schemas.openxmlformats.org/drawingml/2006/main" noGrp="1"/>
          </p:cNvSpPr>
          <p:nvPr/>
        </p:nvSpPr>
        <p:spPr>
          <a:xfrm xmlns:a="http://schemas.openxmlformats.org/drawingml/2006/main">
            <a:off x="3276600" y="6019800"/>
            <a:ext cx="8305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Head of Delivery &amp; PMO · Author of Uncertainty Architecture</a:t>
            </a:r>
          </a:p>
        </p:txBody>
      </p:sp>
      <p:sp>
        <p:nvSpPr>
          <p:cNvPr id="12" name="">
            <a:extLst xmlns:a="http://schemas.openxmlformats.org/drawingml/2006/main">
              <a:ext uri="{FF2B5EF4-FFF2-40B4-BE49-F238E27FC236}">
                <a16:creationId xmlns:a16="http://schemas.microsoft.com/office/drawing/2014/main" id="{F369AF21-E91D-47E0-8A56-49B936E01095}"/>
              </a:ext>
            </a:extLst>
          </p:cNvPr>
          <p:cNvSpPr>
            <a:spLocks xmlns:a="http://schemas.openxmlformats.org/drawingml/2006/main" noGrp="1"/>
          </p:cNvSpPr>
          <p:nvPr/>
        </p:nvSpPr>
        <p:spPr>
          <a:xfrm xmlns:a="http://schemas.openxmlformats.org/drawingml/2006/main">
            <a:off x="609600" y="6419850"/>
            <a:ext cx="4114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667efe690f6342d9"/>
              </a:rPr>
              <a:t>oborskyivitalii@gmail.com</a:t>
            </a:r>
          </a:p>
        </p:txBody>
      </p:sp>
      <p:sp>
        <p:nvSpPr>
          <p:cNvPr id="13" name="">
            <a:extLst xmlns:a="http://schemas.openxmlformats.org/drawingml/2006/main">
              <a:ext uri="{FF2B5EF4-FFF2-40B4-BE49-F238E27FC236}">
                <a16:creationId xmlns:a16="http://schemas.microsoft.com/office/drawing/2014/main" id="{5F8780CA-56C6-4D77-9FC8-1903D94F9910}"/>
              </a:ext>
            </a:extLst>
          </p:cNvPr>
          <p:cNvSpPr>
            <a:spLocks xmlns:a="http://schemas.openxmlformats.org/drawingml/2006/main" noGrp="1"/>
          </p:cNvSpPr>
          <p:nvPr/>
        </p:nvSpPr>
        <p:spPr>
          <a:xfrm xmlns:a="http://schemas.openxmlformats.org/drawingml/2006/main">
            <a:off x="4933950" y="6419850"/>
            <a:ext cx="6057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300a5bb3da854006"/>
              </a:rPr>
              <a:t>https://www.linkedin.com/in/vitaliioborskyi/</a:t>
            </a:r>
          </a:p>
        </p:txBody>
      </p:sp>
    </p:spTree>
    <p:extLst>
      <p:ext uri="{BB962C8B-B14F-4D97-AF65-F5344CB8AC3E}">
        <p14:creationId xmlns:p14="http://schemas.microsoft.com/office/powerpoint/2010/main" val="1930393194"/>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0C71090-322F-4B0C-AE3C-BCE90395C2E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This Is a Real Phase Transition</a:t>
            </a:r>
          </a:p>
        </p:txBody>
      </p:sp>
      <p:sp>
        <p:nvSpPr>
          <p:cNvPr id="2" name="">
            <a:extLst xmlns:a="http://schemas.openxmlformats.org/drawingml/2006/main">
              <a:ext uri="{FF2B5EF4-FFF2-40B4-BE49-F238E27FC236}">
                <a16:creationId xmlns:a16="http://schemas.microsoft.com/office/drawing/2014/main" id="{03AB11D0-B1E8-4CB8-9D6D-1717056AC9E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028F074-9785-4A40-A164-ECA56FA68DA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F1F7E355-4B2E-48B5-88C2-B0A4609B1777}"/>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A5695E4D-336C-4B4E-A8A5-62B6D3E4396D}"/>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Writing</a:t>
            </a:r>
          </a:p>
        </p:txBody>
      </p:sp>
      <p:sp>
        <p:nvSpPr>
          <p:cNvPr id="6" name="">
            <a:extLst xmlns:a="http://schemas.openxmlformats.org/drawingml/2006/main">
              <a:ext uri="{FF2B5EF4-FFF2-40B4-BE49-F238E27FC236}">
                <a16:creationId xmlns:a16="http://schemas.microsoft.com/office/drawing/2014/main" id="{03A8BAB5-6BD5-4F09-B439-DE4F95150C4B}"/>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Memory</a:t>
            </a:r>
          </a:p>
        </p:txBody>
      </p:sp>
      <p:sp>
        <p:nvSpPr>
          <p:cNvPr id="7" name="">
            <a:extLst xmlns:a="http://schemas.openxmlformats.org/drawingml/2006/main">
              <a:ext uri="{FF2B5EF4-FFF2-40B4-BE49-F238E27FC236}">
                <a16:creationId xmlns:a16="http://schemas.microsoft.com/office/drawing/2014/main" id="{E476814B-94D9-4CDD-ABBF-479A247F5716}"/>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Records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can retrieve</a:t>
            </a:r>
          </a:p>
        </p:txBody>
      </p:sp>
      <p:sp>
        <p:nvSpPr>
          <p:cNvPr id="8" name="">
            <a:extLst xmlns:a="http://schemas.openxmlformats.org/drawingml/2006/main">
              <a:ext uri="{FF2B5EF4-FFF2-40B4-BE49-F238E27FC236}">
                <a16:creationId xmlns:a16="http://schemas.microsoft.com/office/drawing/2014/main" id="{CA00085F-0450-40B5-8244-CBE255A148BE}"/>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8DD078F5-A134-4CA7-BBEB-2B9CE4B85FA8}"/>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Computers</a:t>
            </a:r>
          </a:p>
        </p:txBody>
      </p:sp>
      <p:sp>
        <p:nvSpPr>
          <p:cNvPr id="10" name="">
            <a:extLst xmlns:a="http://schemas.openxmlformats.org/drawingml/2006/main">
              <a:ext uri="{FF2B5EF4-FFF2-40B4-BE49-F238E27FC236}">
                <a16:creationId xmlns:a16="http://schemas.microsoft.com/office/drawing/2014/main" id="{1F4237DA-95CD-4573-A76A-F69CF0EF41CD}"/>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Calculation</a:t>
            </a:r>
          </a:p>
        </p:txBody>
      </p:sp>
      <p:sp>
        <p:nvSpPr>
          <p:cNvPr id="11" name="">
            <a:extLst xmlns:a="http://schemas.openxmlformats.org/drawingml/2006/main">
              <a:ext uri="{FF2B5EF4-FFF2-40B4-BE49-F238E27FC236}">
                <a16:creationId xmlns:a16="http://schemas.microsoft.com/office/drawing/2014/main" id="{A505D6F2-7521-44B9-8F98-59C3C2F3D3BA}"/>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Rules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explicitly encode</a:t>
            </a:r>
          </a:p>
        </p:txBody>
      </p:sp>
      <p:sp>
        <p:nvSpPr>
          <p:cNvPr id="12" name="">
            <a:extLst xmlns:a="http://schemas.openxmlformats.org/drawingml/2006/main">
              <a:ext uri="{FF2B5EF4-FFF2-40B4-BE49-F238E27FC236}">
                <a16:creationId xmlns:a16="http://schemas.microsoft.com/office/drawing/2014/main" id="{102BC843-3365-4217-876C-36FBB7E8FDD1}"/>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E32E1C50-B90A-49C0-AA5E-76E7E1270C02}"/>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Large Models</a:t>
            </a:r>
          </a:p>
        </p:txBody>
      </p:sp>
      <p:sp>
        <p:nvSpPr>
          <p:cNvPr id="14" name="">
            <a:extLst xmlns:a="http://schemas.openxmlformats.org/drawingml/2006/main">
              <a:ext uri="{FF2B5EF4-FFF2-40B4-BE49-F238E27FC236}">
                <a16:creationId xmlns:a16="http://schemas.microsoft.com/office/drawing/2014/main" id="{B6AC88F7-FC76-4246-A23C-C1B3FE61A548}"/>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Externalized</a:t>
            </a:r>
          </a:p>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Cognition</a:t>
            </a:r>
          </a:p>
        </p:txBody>
      </p:sp>
      <p:sp>
        <p:nvSpPr>
          <p:cNvPr id="15" name="">
            <a:extLst xmlns:a="http://schemas.openxmlformats.org/drawingml/2006/main">
              <a:ext uri="{FF2B5EF4-FFF2-40B4-BE49-F238E27FC236}">
                <a16:creationId xmlns:a16="http://schemas.microsoft.com/office/drawing/2014/main" id="{F7AA5732-DC34-4ECA-A957-4EEC312AE5DC}"/>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Judgment shaped</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C9839E7F-E9AB-4C49-956C-D922516B66EC}"/>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23EF3EF3-0765-4B93-987B-146AA183074D}"/>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1FA658E6-80C1-4666-96DB-B216B7608ED6}"/>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We design the environment in which behavior is generated at runtime.</a:t>
            </a:r>
          </a:p>
        </p:txBody>
      </p:sp>
    </p:spTree>
    <p:extLst>
      <p:ext uri="{BB962C8B-B14F-4D97-AF65-F5344CB8AC3E}">
        <p14:creationId xmlns:p14="http://schemas.microsoft.com/office/powerpoint/2010/main" val="1496438277"/>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CE237B8B-8673-4FD6-8969-C4161DDE484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Accelerated a Step. Not the System.</a:t>
            </a:r>
          </a:p>
        </p:txBody>
      </p:sp>
      <p:sp>
        <p:nvSpPr>
          <p:cNvPr id="2" name="">
            <a:extLst xmlns:a="http://schemas.openxmlformats.org/drawingml/2006/main">
              <a:ext uri="{FF2B5EF4-FFF2-40B4-BE49-F238E27FC236}">
                <a16:creationId xmlns:a16="http://schemas.microsoft.com/office/drawing/2014/main" id="{BF4854F9-20C8-46BF-8012-0BB69E99FD9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E929F4D-A55C-4DB1-9D6F-6D1D8B18D00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3A5DC570-B824-4E16-ACD4-D6B5DEE755F0}"/>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8D2C924E-7E70-4ADD-AA69-618399D51F40}"/>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B5613B32-CD27-48DB-81C4-70294A5FE73F}"/>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Intent</a:t>
            </a:r>
          </a:p>
        </p:txBody>
      </p:sp>
      <p:sp>
        <p:nvSpPr>
          <p:cNvPr id="7" name="">
            <a:extLst xmlns:a="http://schemas.openxmlformats.org/drawingml/2006/main">
              <a:ext uri="{FF2B5EF4-FFF2-40B4-BE49-F238E27FC236}">
                <a16:creationId xmlns:a16="http://schemas.microsoft.com/office/drawing/2014/main" id="{3689A1CD-95A8-40E2-ACC2-79C3591EEF4C}"/>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D2BA9C90-3735-471A-9A88-965315991A9F}"/>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Design</a:t>
            </a:r>
          </a:p>
        </p:txBody>
      </p:sp>
      <p:sp>
        <p:nvSpPr>
          <p:cNvPr id="9" name="">
            <a:extLst xmlns:a="http://schemas.openxmlformats.org/drawingml/2006/main">
              <a:ext uri="{FF2B5EF4-FFF2-40B4-BE49-F238E27FC236}">
                <a16:creationId xmlns:a16="http://schemas.microsoft.com/office/drawing/2014/main" id="{1B3A4478-DCBC-4523-B344-93ECEF324802}"/>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7738BB97-832E-40C7-9449-C17270F1E3F0}"/>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Code</a:t>
            </a:r>
          </a:p>
        </p:txBody>
      </p:sp>
      <p:sp>
        <p:nvSpPr>
          <p:cNvPr id="11" name="">
            <a:extLst xmlns:a="http://schemas.openxmlformats.org/drawingml/2006/main">
              <a:ext uri="{FF2B5EF4-FFF2-40B4-BE49-F238E27FC236}">
                <a16:creationId xmlns:a16="http://schemas.microsoft.com/office/drawing/2014/main" id="{B7AAE318-4550-4EE1-B00A-FBF6889B0D12}"/>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BBF2AA30-B021-4764-901B-DF046EEFE241}"/>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13" name="">
            <a:extLst xmlns:a="http://schemas.openxmlformats.org/drawingml/2006/main">
              <a:ext uri="{FF2B5EF4-FFF2-40B4-BE49-F238E27FC236}">
                <a16:creationId xmlns:a16="http://schemas.microsoft.com/office/drawing/2014/main" id="{F5C5C2E3-04E4-4E6A-BF57-300A76959686}"/>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5B5E05C9-13FF-4626-A548-A3700AE01955}"/>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Test</a:t>
            </a:r>
          </a:p>
        </p:txBody>
      </p:sp>
      <p:sp>
        <p:nvSpPr>
          <p:cNvPr id="15" name="">
            <a:extLst xmlns:a="http://schemas.openxmlformats.org/drawingml/2006/main">
              <a:ext uri="{FF2B5EF4-FFF2-40B4-BE49-F238E27FC236}">
                <a16:creationId xmlns:a16="http://schemas.microsoft.com/office/drawing/2014/main" id="{64A4074A-C103-4CD0-994B-F253C608EA43}"/>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C602729C-7B4B-4F9F-B533-25EA93DDE482}"/>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Integrate</a:t>
            </a:r>
          </a:p>
        </p:txBody>
      </p:sp>
      <p:sp>
        <p:nvSpPr>
          <p:cNvPr id="17" name="">
            <a:extLst xmlns:a="http://schemas.openxmlformats.org/drawingml/2006/main">
              <a:ext uri="{FF2B5EF4-FFF2-40B4-BE49-F238E27FC236}">
                <a16:creationId xmlns:a16="http://schemas.microsoft.com/office/drawing/2014/main" id="{BF2A9F9B-7600-4663-8128-45221701ABB4}"/>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75C4C0BD-6CCE-46C1-A991-5305C87DAEBF}"/>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Deploy</a:t>
            </a:r>
          </a:p>
        </p:txBody>
      </p:sp>
      <p:sp>
        <p:nvSpPr>
          <p:cNvPr id="19" name="">
            <a:extLst xmlns:a="http://schemas.openxmlformats.org/drawingml/2006/main">
              <a:ext uri="{FF2B5EF4-FFF2-40B4-BE49-F238E27FC236}">
                <a16:creationId xmlns:a16="http://schemas.microsoft.com/office/drawing/2014/main" id="{AA1BF38E-D51A-48E4-9BA1-9E373C4A53B5}"/>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CCB329A3-B126-4D50-8216-9DA91263E1CC}"/>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Operate</a:t>
            </a:r>
          </a:p>
        </p:txBody>
      </p:sp>
      <p:sp>
        <p:nvSpPr>
          <p:cNvPr id="21" name="">
            <a:extLst xmlns:a="http://schemas.openxmlformats.org/drawingml/2006/main">
              <a:ext uri="{FF2B5EF4-FFF2-40B4-BE49-F238E27FC236}">
                <a16:creationId xmlns:a16="http://schemas.microsoft.com/office/drawing/2014/main" id="{B6AD9F79-C26D-45D6-A260-8A0BACFBF51A}"/>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0A8B388D-AAE6-410B-A29C-9DD78FD6A82D}"/>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218737FB-8CB1-474B-A44A-64B59D50B856}"/>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AFC71E29-B2BB-404C-A67A-ED7B74100411}"/>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55CAFB2A-6203-4D42-9405-5F7476C6A02D}"/>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7537EE74-E024-4BF2-9084-6D490D3B79EB}"/>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1093CB07-7E4A-4EE8-BEBC-272D11A44FBB}"/>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56CD49A2-B027-40A5-BF15-5896A9797D3D}"/>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29" name="">
            <a:extLst xmlns:a="http://schemas.openxmlformats.org/drawingml/2006/main">
              <a:ext uri="{FF2B5EF4-FFF2-40B4-BE49-F238E27FC236}">
                <a16:creationId xmlns:a16="http://schemas.microsoft.com/office/drawing/2014/main" id="{6948D55E-AC55-4307-BDE9-C65BC6A14612}"/>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9F623A72-B59A-4F04-8655-55D969154123}"/>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1" name="">
            <a:extLst xmlns:a="http://schemas.openxmlformats.org/drawingml/2006/main">
              <a:ext uri="{FF2B5EF4-FFF2-40B4-BE49-F238E27FC236}">
                <a16:creationId xmlns:a16="http://schemas.microsoft.com/office/drawing/2014/main" id="{31B0BF49-B946-49C2-AA4E-DE7F360AB7A9}"/>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2" name="">
            <a:extLst xmlns:a="http://schemas.openxmlformats.org/drawingml/2006/main">
              <a:ext uri="{FF2B5EF4-FFF2-40B4-BE49-F238E27FC236}">
                <a16:creationId xmlns:a16="http://schemas.microsoft.com/office/drawing/2014/main" id="{323D8E45-D17E-49AD-9135-803391C33675}"/>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1DE42BF9-7ED6-48E7-BB09-256757C3CD85}"/>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4" name="">
            <a:extLst xmlns:a="http://schemas.openxmlformats.org/drawingml/2006/main">
              <a:ext uri="{FF2B5EF4-FFF2-40B4-BE49-F238E27FC236}">
                <a16:creationId xmlns:a16="http://schemas.microsoft.com/office/drawing/2014/main" id="{A0E71947-8329-4AD5-9B85-C272F15C713C}"/>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5" name="">
            <a:extLst xmlns:a="http://schemas.openxmlformats.org/drawingml/2006/main">
              <a:ext uri="{FF2B5EF4-FFF2-40B4-BE49-F238E27FC236}">
                <a16:creationId xmlns:a16="http://schemas.microsoft.com/office/drawing/2014/main" id="{96549C3D-1E64-4AE4-ACB4-245F3EFD2DF3}"/>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CF5A8915-E5AB-4AC4-B727-E96217D96BEB}"/>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Code</a:t>
            </a:r>
          </a:p>
        </p:txBody>
      </p:sp>
      <p:sp>
        <p:nvSpPr>
          <p:cNvPr id="37" name="">
            <a:extLst xmlns:a="http://schemas.openxmlformats.org/drawingml/2006/main">
              <a:ext uri="{FF2B5EF4-FFF2-40B4-BE49-F238E27FC236}">
                <a16:creationId xmlns:a16="http://schemas.microsoft.com/office/drawing/2014/main" id="{F6A5C4F6-6F01-466A-8A27-8B67B886BD2E}"/>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Review</a:t>
            </a:r>
          </a:p>
        </p:txBody>
      </p:sp>
      <p:sp>
        <p:nvSpPr>
          <p:cNvPr id="38" name="">
            <a:extLst xmlns:a="http://schemas.openxmlformats.org/drawingml/2006/main">
              <a:ext uri="{FF2B5EF4-FFF2-40B4-BE49-F238E27FC236}">
                <a16:creationId xmlns:a16="http://schemas.microsoft.com/office/drawing/2014/main" id="{898747D4-BFDE-4B90-8D66-F85BA8F549B0}"/>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Integrate</a:t>
            </a:r>
          </a:p>
        </p:txBody>
      </p:sp>
      <p:sp>
        <p:nvSpPr>
          <p:cNvPr id="39" name="">
            <a:extLst xmlns:a="http://schemas.openxmlformats.org/drawingml/2006/main">
              <a:ext uri="{FF2B5EF4-FFF2-40B4-BE49-F238E27FC236}">
                <a16:creationId xmlns:a16="http://schemas.microsoft.com/office/drawing/2014/main" id="{544C6A64-97D1-406C-BC57-99974599E007}"/>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Arial"/>
                <a:ea typeface="Arial"/>
                <a:cs typeface="Arial"/>
              </a:defRPr>
            </a:pPr>
            <a:r>
              <a:rPr sz="1500" b="1">
                <a:solidFill>
                  <a:srgbClr val="ADB8C5"/>
                </a:solidFill>
                <a:latin typeface="Arial"/>
                <a:ea typeface="Arial"/>
                <a:cs typeface="Arial"/>
              </a:rPr>
              <a:t>BACKLOG</a:t>
            </a:r>
          </a:p>
        </p:txBody>
      </p:sp>
      <p:sp>
        <p:nvSpPr>
          <p:cNvPr id="40" name="">
            <a:extLst xmlns:a="http://schemas.openxmlformats.org/drawingml/2006/main">
              <a:ext uri="{FF2B5EF4-FFF2-40B4-BE49-F238E27FC236}">
                <a16:creationId xmlns:a16="http://schemas.microsoft.com/office/drawing/2014/main" id="{A772434A-3A69-42A6-BABB-40A09C456C58}"/>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Arial"/>
                <a:ea typeface="Arial"/>
                <a:cs typeface="Arial"/>
              </a:defRPr>
            </a:pPr>
            <a:r>
              <a:rPr sz="1650" b="1">
                <a:solidFill>
                  <a:srgbClr val="ADB8C5"/>
                </a:solidFill>
                <a:latin typeface="Arial"/>
                <a:ea typeface="Arial"/>
                <a:cs typeface="Arial"/>
              </a:rPr>
              <a:t>BEFORE</a:t>
            </a:r>
          </a:p>
        </p:txBody>
      </p:sp>
      <p:sp>
        <p:nvSpPr>
          <p:cNvPr id="41" name="">
            <a:extLst xmlns:a="http://schemas.openxmlformats.org/drawingml/2006/main">
              <a:ext uri="{FF2B5EF4-FFF2-40B4-BE49-F238E27FC236}">
                <a16:creationId xmlns:a16="http://schemas.microsoft.com/office/drawing/2014/main" id="{AD12BECD-8126-4D0C-87AC-DDD48A585612}"/>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Balanced flow</a:t>
            </a:r>
          </a:p>
        </p:txBody>
      </p:sp>
      <p:sp>
        <p:nvSpPr>
          <p:cNvPr id="42" name="">
            <a:extLst xmlns:a="http://schemas.openxmlformats.org/drawingml/2006/main">
              <a:ext uri="{FF2B5EF4-FFF2-40B4-BE49-F238E27FC236}">
                <a16:creationId xmlns:a16="http://schemas.microsoft.com/office/drawing/2014/main" id="{DE077558-A6B4-4FF5-A923-32D4C91026A1}"/>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42AD48B7-525D-4A6D-92CD-1DBF6618C20A}"/>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4" name="">
            <a:extLst xmlns:a="http://schemas.openxmlformats.org/drawingml/2006/main">
              <a:ext uri="{FF2B5EF4-FFF2-40B4-BE49-F238E27FC236}">
                <a16:creationId xmlns:a16="http://schemas.microsoft.com/office/drawing/2014/main" id="{1287580D-3386-41D5-86F5-42F3695AF802}"/>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A3AE7A0A-98AE-43C7-89C6-148DEA561521}"/>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6" name="">
            <a:extLst xmlns:a="http://schemas.openxmlformats.org/drawingml/2006/main">
              <a:ext uri="{FF2B5EF4-FFF2-40B4-BE49-F238E27FC236}">
                <a16:creationId xmlns:a16="http://schemas.microsoft.com/office/drawing/2014/main" id="{38702462-5607-4AE7-964F-00B1E90F9974}"/>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DEF4ECC4-0EA9-4850-9948-5AD18142B1A5}"/>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8" name="">
            <a:extLst xmlns:a="http://schemas.openxmlformats.org/drawingml/2006/main">
              <a:ext uri="{FF2B5EF4-FFF2-40B4-BE49-F238E27FC236}">
                <a16:creationId xmlns:a16="http://schemas.microsoft.com/office/drawing/2014/main" id="{F804C262-67A1-4470-B84E-710656B4F7BE}"/>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4CA7D142-F2FC-4173-AAF7-E2FB609EF843}"/>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BCFE1CB4-BF0A-4A1C-BD7F-612B93449A01}"/>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Arial"/>
                <a:ea typeface="Arial"/>
                <a:cs typeface="Arial"/>
              </a:defRPr>
            </a:pPr>
            <a:r>
              <a:rPr sz="2925" b="1">
                <a:solidFill>
                  <a:srgbClr val="ADB8C5"/>
                </a:solidFill>
                <a:latin typeface="Arial"/>
                <a:ea typeface="Arial"/>
                <a:cs typeface="Arial"/>
              </a:rPr>
              <a:t>0</a:t>
            </a:r>
          </a:p>
        </p:txBody>
      </p:sp>
      <p:sp>
        <p:nvSpPr>
          <p:cNvPr id="51" name="">
            <a:extLst xmlns:a="http://schemas.openxmlformats.org/drawingml/2006/main">
              <a:ext uri="{FF2B5EF4-FFF2-40B4-BE49-F238E27FC236}">
                <a16:creationId xmlns:a16="http://schemas.microsoft.com/office/drawing/2014/main" id="{DD8ACB0B-B8E5-487B-9167-FF2C255B4F06}"/>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no accumulation</a:t>
            </a:r>
          </a:p>
        </p:txBody>
      </p:sp>
      <p:sp>
        <p:nvSpPr>
          <p:cNvPr id="52" name="">
            <a:extLst xmlns:a="http://schemas.openxmlformats.org/drawingml/2006/main">
              <a:ext uri="{FF2B5EF4-FFF2-40B4-BE49-F238E27FC236}">
                <a16:creationId xmlns:a16="http://schemas.microsoft.com/office/drawing/2014/main" id="{6CB28F1E-4A3A-4CE0-B7C2-CD1B17CEAB6A}"/>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AFTER AI</a:t>
            </a:r>
          </a:p>
        </p:txBody>
      </p:sp>
      <p:sp>
        <p:nvSpPr>
          <p:cNvPr id="53" name="">
            <a:extLst xmlns:a="http://schemas.openxmlformats.org/drawingml/2006/main">
              <a:ext uri="{FF2B5EF4-FFF2-40B4-BE49-F238E27FC236}">
                <a16:creationId xmlns:a16="http://schemas.microsoft.com/office/drawing/2014/main" id="{7D573964-85B2-410C-BE5E-7B161B6058DF}"/>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Other stages have</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not sped up</a:t>
            </a:r>
          </a:p>
        </p:txBody>
      </p:sp>
      <p:sp>
        <p:nvSpPr>
          <p:cNvPr id="54" name="">
            <a:extLst xmlns:a="http://schemas.openxmlformats.org/drawingml/2006/main">
              <a:ext uri="{FF2B5EF4-FFF2-40B4-BE49-F238E27FC236}">
                <a16:creationId xmlns:a16="http://schemas.microsoft.com/office/drawing/2014/main" id="{47743020-5F7D-4E3E-8C6B-86BF7219E71B}"/>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68FD0F6C-8665-4345-A803-137061D604EE}"/>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Arial"/>
                <a:ea typeface="Arial"/>
                <a:cs typeface="Arial"/>
              </a:defRPr>
            </a:pPr>
            <a:r>
              <a:rPr sz="2700" b="1">
                <a:solidFill>
                  <a:srgbClr val="28C7F7"/>
                </a:solidFill>
                <a:latin typeface="Arial"/>
                <a:ea typeface="Arial"/>
                <a:cs typeface="Arial"/>
              </a:rPr>
              <a:t>100</a:t>
            </a:r>
          </a:p>
        </p:txBody>
      </p:sp>
      <p:sp>
        <p:nvSpPr>
          <p:cNvPr id="56" name="">
            <a:extLst xmlns:a="http://schemas.openxmlformats.org/drawingml/2006/main">
              <a:ext uri="{FF2B5EF4-FFF2-40B4-BE49-F238E27FC236}">
                <a16:creationId xmlns:a16="http://schemas.microsoft.com/office/drawing/2014/main" id="{7DFE3D5D-0530-4B6E-AD96-A9C328900107}"/>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15421202-BBAF-45CF-AA87-80A42BDBF78A}"/>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58" name="">
            <a:extLst xmlns:a="http://schemas.openxmlformats.org/drawingml/2006/main">
              <a:ext uri="{FF2B5EF4-FFF2-40B4-BE49-F238E27FC236}">
                <a16:creationId xmlns:a16="http://schemas.microsoft.com/office/drawing/2014/main" id="{2E6E15C9-E97B-47A8-AAA0-BC854735F0B4}"/>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45F2FCAF-4BD4-4FA8-9A1E-33AD799D3A76}"/>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60" name="">
            <a:extLst xmlns:a="http://schemas.openxmlformats.org/drawingml/2006/main">
              <a:ext uri="{FF2B5EF4-FFF2-40B4-BE49-F238E27FC236}">
                <a16:creationId xmlns:a16="http://schemas.microsoft.com/office/drawing/2014/main" id="{8F985ED7-14E6-44AE-ACDA-F03C2D65EBED}"/>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06D3651E-9985-47EB-BE41-BC90D52D44FF}"/>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31CCE2E8-9001-4706-A682-BF788D158BB1}"/>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Arial"/>
                <a:ea typeface="Arial"/>
                <a:cs typeface="Arial"/>
              </a:defRPr>
            </a:pPr>
            <a:r>
              <a:rPr sz="2925" b="1">
                <a:solidFill>
                  <a:srgbClr val="F5B61C"/>
                </a:solidFill>
                <a:latin typeface="Arial"/>
                <a:ea typeface="Arial"/>
                <a:cs typeface="Arial"/>
              </a:rPr>
              <a:t>+92</a:t>
            </a:r>
          </a:p>
        </p:txBody>
      </p:sp>
      <p:sp>
        <p:nvSpPr>
          <p:cNvPr id="63" name="">
            <a:extLst xmlns:a="http://schemas.openxmlformats.org/drawingml/2006/main">
              <a:ext uri="{FF2B5EF4-FFF2-40B4-BE49-F238E27FC236}">
                <a16:creationId xmlns:a16="http://schemas.microsoft.com/office/drawing/2014/main" id="{6E75E335-0512-4527-89D9-6CED20A12E3A}"/>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unfinished / week</a:t>
            </a:r>
          </a:p>
        </p:txBody>
      </p:sp>
      <p:sp>
        <p:nvSpPr>
          <p:cNvPr id="64" name="">
            <a:extLst xmlns:a="http://schemas.openxmlformats.org/drawingml/2006/main">
              <a:ext uri="{FF2B5EF4-FFF2-40B4-BE49-F238E27FC236}">
                <a16:creationId xmlns:a16="http://schemas.microsoft.com/office/drawing/2014/main" id="{314215FB-F648-4DEE-8EDD-F591AA521F27}"/>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C37198F4-AEB4-4C39-A1C0-83A5D33E05EE}"/>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THEORY OF CONSTRAINTS</a:t>
            </a:r>
          </a:p>
        </p:txBody>
      </p:sp>
      <p:sp>
        <p:nvSpPr>
          <p:cNvPr id="66" name="">
            <a:extLst xmlns:a="http://schemas.openxmlformats.org/drawingml/2006/main">
              <a:ext uri="{FF2B5EF4-FFF2-40B4-BE49-F238E27FC236}">
                <a16:creationId xmlns:a16="http://schemas.microsoft.com/office/drawing/2014/main" id="{A91873BD-4D94-4AD5-BA57-43CD58FDC7E8}"/>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71FAD9B4-98F1-457F-AC9B-071E7B12A905}"/>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Arial"/>
                <a:ea typeface="Arial"/>
                <a:cs typeface="Arial"/>
              </a:defRPr>
            </a:pPr>
            <a:r>
              <a:rPr sz="1350" b="0">
                <a:solidFill>
                  <a:srgbClr val="ADB8C5"/>
                </a:solidFill>
                <a:latin typeface="Arial"/>
                <a:ea typeface="Arial"/>
                <a:cs typeface="Arial"/>
              </a:rPr>
              <a:t>Push system: no WIP limit, no discarded work.</a:t>
            </a:r>
          </a:p>
        </p:txBody>
      </p:sp>
    </p:spTree>
    <p:extLst>
      <p:ext uri="{BB962C8B-B14F-4D97-AF65-F5344CB8AC3E}">
        <p14:creationId xmlns:p14="http://schemas.microsoft.com/office/powerpoint/2010/main" val="234505807"/>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F2904956-5976-4F8F-9087-8DCAA9851BA8}"/>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Evidence Is Already Messy</a:t>
            </a:r>
          </a:p>
        </p:txBody>
      </p:sp>
      <p:sp>
        <p:nvSpPr>
          <p:cNvPr id="2" name="">
            <a:extLst xmlns:a="http://schemas.openxmlformats.org/drawingml/2006/main">
              <a:ext uri="{FF2B5EF4-FFF2-40B4-BE49-F238E27FC236}">
                <a16:creationId xmlns:a16="http://schemas.microsoft.com/office/drawing/2014/main" id="{B02C9E70-613C-494C-8593-E6A4CFF663B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F16BBE7-ADA7-4412-8BD0-DF2D2723E54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DB968AD2-DD05-40D3-A932-118ECD1268CD}"/>
              </a:ext>
            </a:extLst>
          </p:cNvPr>
          <p:cNvSpPr>
            <a:spLocks xmlns:a="http://schemas.openxmlformats.org/drawingml/2006/main" noGrp="1"/>
          </p:cNvSpPr>
          <p:nvPr/>
        </p:nvSpPr>
        <p:spPr>
          <a:xfrm xmlns:a="http://schemas.openxmlformats.org/drawingml/2006/main" flipH="0" flipV="0">
            <a:off x="4191000" y="1857375"/>
            <a:ext cx="0" cy="37623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8BF4099C-4B3A-4BEB-A37A-35C5F70931CE}"/>
              </a:ext>
            </a:extLst>
          </p:cNvPr>
          <p:cNvSpPr>
            <a:spLocks xmlns:a="http://schemas.openxmlformats.org/drawingml/2006/main" noGrp="1"/>
          </p:cNvSpPr>
          <p:nvPr/>
        </p:nvSpPr>
        <p:spPr>
          <a:xfrm xmlns:a="http://schemas.openxmlformats.org/drawingml/2006/main" flipH="0" flipV="0">
            <a:off x="7981950" y="1857375"/>
            <a:ext cx="0" cy="37623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33A13073-6691-44BB-9731-8E38A5115684}"/>
              </a:ext>
            </a:extLst>
          </p:cNvPr>
          <p:cNvSpPr>
            <a:spLocks xmlns:a="http://schemas.openxmlformats.org/drawingml/2006/main" noGrp="1"/>
          </p:cNvSpPr>
          <p:nvPr/>
        </p:nvSpPr>
        <p:spPr>
          <a:xfrm xmlns:a="http://schemas.openxmlformats.org/drawingml/2006/main">
            <a:off x="609600" y="1857375"/>
            <a:ext cx="335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NBER · SEP 2026 REVISION</a:t>
            </a:r>
          </a:p>
        </p:txBody>
      </p:sp>
      <p:sp>
        <p:nvSpPr>
          <p:cNvPr id="7" name="">
            <a:extLst xmlns:a="http://schemas.openxmlformats.org/drawingml/2006/main">
              <a:ext uri="{FF2B5EF4-FFF2-40B4-BE49-F238E27FC236}">
                <a16:creationId xmlns:a16="http://schemas.microsoft.com/office/drawing/2014/main" id="{5E8DDC90-C0BD-4DE3-A3A1-9EFCAC752DCF}"/>
              </a:ext>
            </a:extLst>
          </p:cNvPr>
          <p:cNvSpPr>
            <a:spLocks xmlns:a="http://schemas.openxmlformats.org/drawingml/2006/main" noGrp="1"/>
          </p:cNvSpPr>
          <p:nvPr/>
        </p:nvSpPr>
        <p:spPr>
          <a:xfrm xmlns:a="http://schemas.openxmlformats.org/drawingml/2006/main">
            <a:off x="609600" y="2219325"/>
            <a:ext cx="335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Three tool generations · rounded Fig. 1</a:t>
            </a:r>
          </a:p>
        </p:txBody>
      </p:sp>
      <p:sp>
        <p:nvSpPr>
          <p:cNvPr id="8" name="">
            <a:extLst xmlns:a="http://schemas.openxmlformats.org/drawingml/2006/main">
              <a:ext uri="{FF2B5EF4-FFF2-40B4-BE49-F238E27FC236}">
                <a16:creationId xmlns:a16="http://schemas.microsoft.com/office/drawing/2014/main" id="{D2DB7A9F-BE71-4BF6-8ABD-57ACF758F31E}"/>
              </a:ext>
            </a:extLst>
          </p:cNvPr>
          <p:cNvSpPr>
            <a:spLocks xmlns:a="http://schemas.openxmlformats.org/drawingml/2006/main" noGrp="1"/>
          </p:cNvSpPr>
          <p:nvPr/>
        </p:nvSpPr>
        <p:spPr>
          <a:xfrm xmlns:a="http://schemas.openxmlformats.org/drawingml/2006/main">
            <a:off x="609600" y="2628900"/>
            <a:ext cx="14859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Arial"/>
                <a:ea typeface="Arial"/>
                <a:cs typeface="Arial"/>
              </a:defRPr>
            </a:pPr>
            <a:r>
              <a:rPr sz="3150" b="1">
                <a:solidFill>
                  <a:srgbClr val="F4F7FA"/>
                </a:solidFill>
                <a:latin typeface="Arial"/>
                <a:ea typeface="Arial"/>
                <a:cs typeface="Arial"/>
              </a:rPr>
              <a:t>25.5×</a:t>
            </a:r>
          </a:p>
        </p:txBody>
      </p:sp>
      <p:sp>
        <p:nvSpPr>
          <p:cNvPr id="9" name="">
            <a:extLst xmlns:a="http://schemas.openxmlformats.org/drawingml/2006/main">
              <a:ext uri="{FF2B5EF4-FFF2-40B4-BE49-F238E27FC236}">
                <a16:creationId xmlns:a16="http://schemas.microsoft.com/office/drawing/2014/main" id="{B2A3112E-199C-4982-85A8-C0D5F4745AFB}"/>
              </a:ext>
            </a:extLst>
          </p:cNvPr>
          <p:cNvSpPr>
            <a:spLocks xmlns:a="http://schemas.openxmlformats.org/drawingml/2006/main" noGrp="1"/>
          </p:cNvSpPr>
          <p:nvPr/>
        </p:nvSpPr>
        <p:spPr>
          <a:xfrm xmlns:a="http://schemas.openxmlformats.org/drawingml/2006/main">
            <a:off x="2171700" y="2743200"/>
            <a:ext cx="1790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changed LOC</a:t>
            </a:r>
          </a:p>
        </p:txBody>
      </p:sp>
      <p:sp>
        <p:nvSpPr>
          <p:cNvPr id="10" name="">
            <a:extLst xmlns:a="http://schemas.openxmlformats.org/drawingml/2006/main">
              <a:ext uri="{FF2B5EF4-FFF2-40B4-BE49-F238E27FC236}">
                <a16:creationId xmlns:a16="http://schemas.microsoft.com/office/drawing/2014/main" id="{DA24D27F-2576-4D9C-AAF7-A81B122D3E7E}"/>
              </a:ext>
            </a:extLst>
          </p:cNvPr>
          <p:cNvSpPr>
            <a:spLocks xmlns:a="http://schemas.openxmlformats.org/drawingml/2006/main" noGrp="1"/>
          </p:cNvSpPr>
          <p:nvPr/>
        </p:nvSpPr>
        <p:spPr>
          <a:xfrm xmlns:a="http://schemas.openxmlformats.org/drawingml/2006/main">
            <a:off x="609600" y="3238500"/>
            <a:ext cx="14859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Arial"/>
                <a:ea typeface="Arial"/>
                <a:cs typeface="Arial"/>
              </a:defRPr>
            </a:pPr>
            <a:r>
              <a:rPr sz="3150" b="1">
                <a:solidFill>
                  <a:srgbClr val="F4F7FA"/>
                </a:solidFill>
                <a:latin typeface="Arial"/>
                <a:ea typeface="Arial"/>
                <a:cs typeface="Arial"/>
              </a:rPr>
              <a:t>3.4×</a:t>
            </a:r>
          </a:p>
        </p:txBody>
      </p:sp>
      <p:sp>
        <p:nvSpPr>
          <p:cNvPr id="11" name="">
            <a:extLst xmlns:a="http://schemas.openxmlformats.org/drawingml/2006/main">
              <a:ext uri="{FF2B5EF4-FFF2-40B4-BE49-F238E27FC236}">
                <a16:creationId xmlns:a16="http://schemas.microsoft.com/office/drawing/2014/main" id="{0A9E73D7-9422-41B5-8B79-2290EBA93FFA}"/>
              </a:ext>
            </a:extLst>
          </p:cNvPr>
          <p:cNvSpPr>
            <a:spLocks xmlns:a="http://schemas.openxmlformats.org/drawingml/2006/main" noGrp="1"/>
          </p:cNvSpPr>
          <p:nvPr/>
        </p:nvSpPr>
        <p:spPr>
          <a:xfrm xmlns:a="http://schemas.openxmlformats.org/drawingml/2006/main">
            <a:off x="2171700" y="3352800"/>
            <a:ext cx="1790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commits</a:t>
            </a:r>
          </a:p>
        </p:txBody>
      </p:sp>
      <p:sp>
        <p:nvSpPr>
          <p:cNvPr id="12" name="">
            <a:extLst xmlns:a="http://schemas.openxmlformats.org/drawingml/2006/main">
              <a:ext uri="{FF2B5EF4-FFF2-40B4-BE49-F238E27FC236}">
                <a16:creationId xmlns:a16="http://schemas.microsoft.com/office/drawing/2014/main" id="{DE0AC1AA-13D6-4FE0-8BD7-F58995AB2D97}"/>
              </a:ext>
            </a:extLst>
          </p:cNvPr>
          <p:cNvSpPr>
            <a:spLocks xmlns:a="http://schemas.openxmlformats.org/drawingml/2006/main" noGrp="1"/>
          </p:cNvSpPr>
          <p:nvPr/>
        </p:nvSpPr>
        <p:spPr>
          <a:xfrm xmlns:a="http://schemas.openxmlformats.org/drawingml/2006/main">
            <a:off x="609600" y="3848100"/>
            <a:ext cx="14859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150" b="1">
                <a:solidFill>
                  <a:srgbClr val="F4F7FA"/>
                </a:solidFill>
                <a:latin typeface="Arial"/>
                <a:ea typeface="Arial"/>
                <a:cs typeface="Arial"/>
              </a:defRPr>
            </a:pPr>
            <a:r>
              <a:rPr sz="3150" b="1">
                <a:solidFill>
                  <a:srgbClr val="F4F7FA"/>
                </a:solidFill>
                <a:latin typeface="Arial"/>
                <a:ea typeface="Arial"/>
                <a:cs typeface="Arial"/>
              </a:rPr>
              <a:t>1.3×</a:t>
            </a:r>
          </a:p>
        </p:txBody>
      </p:sp>
      <p:sp>
        <p:nvSpPr>
          <p:cNvPr id="13" name="">
            <a:extLst xmlns:a="http://schemas.openxmlformats.org/drawingml/2006/main">
              <a:ext uri="{FF2B5EF4-FFF2-40B4-BE49-F238E27FC236}">
                <a16:creationId xmlns:a16="http://schemas.microsoft.com/office/drawing/2014/main" id="{11966FD6-AEB8-45C4-B837-CFCF6479C001}"/>
              </a:ext>
            </a:extLst>
          </p:cNvPr>
          <p:cNvSpPr>
            <a:spLocks xmlns:a="http://schemas.openxmlformats.org/drawingml/2006/main" noGrp="1"/>
          </p:cNvSpPr>
          <p:nvPr/>
        </p:nvSpPr>
        <p:spPr>
          <a:xfrm xmlns:a="http://schemas.openxmlformats.org/drawingml/2006/main">
            <a:off x="2171700" y="3962400"/>
            <a:ext cx="1790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releases</a:t>
            </a:r>
          </a:p>
        </p:txBody>
      </p:sp>
      <p:sp>
        <p:nvSpPr>
          <p:cNvPr id="14" name="">
            <a:extLst xmlns:a="http://schemas.openxmlformats.org/drawingml/2006/main">
              <a:ext uri="{FF2B5EF4-FFF2-40B4-BE49-F238E27FC236}">
                <a16:creationId xmlns:a16="http://schemas.microsoft.com/office/drawing/2014/main" id="{F399CD2D-3953-4898-8C67-BB1F1CA460FB}"/>
              </a:ext>
            </a:extLst>
          </p:cNvPr>
          <p:cNvSpPr>
            <a:spLocks xmlns:a="http://schemas.openxmlformats.org/drawingml/2006/main" noGrp="1"/>
          </p:cNvSpPr>
          <p:nvPr/>
        </p:nvSpPr>
        <p:spPr>
          <a:xfrm xmlns:a="http://schemas.openxmlformats.org/drawingml/2006/main">
            <a:off x="609600" y="44386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Changed LOC = additions + deletions.</a:t>
            </a:r>
          </a:p>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Async release effect not estimated.</a:t>
            </a:r>
          </a:p>
        </p:txBody>
      </p:sp>
      <p:sp>
        <p:nvSpPr>
          <p:cNvPr id="15" name="">
            <a:extLst xmlns:a="http://schemas.openxmlformats.org/drawingml/2006/main">
              <a:ext uri="{FF2B5EF4-FFF2-40B4-BE49-F238E27FC236}">
                <a16:creationId xmlns:a16="http://schemas.microsoft.com/office/drawing/2014/main" id="{BB4F47B5-CFB9-43C0-B98B-63ABCC429AE7}"/>
              </a:ext>
            </a:extLst>
          </p:cNvPr>
          <p:cNvSpPr>
            <a:spLocks xmlns:a="http://schemas.openxmlformats.org/drawingml/2006/main" noGrp="1"/>
          </p:cNvSpPr>
          <p:nvPr/>
        </p:nvSpPr>
        <p:spPr>
          <a:xfrm xmlns:a="http://schemas.openxmlformats.org/drawingml/2006/main">
            <a:off x="609600" y="4962525"/>
            <a:ext cx="335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New apps with little early usage</a:t>
            </a:r>
          </a:p>
        </p:txBody>
      </p:sp>
      <p:sp>
        <p:nvSpPr>
          <p:cNvPr id="16" name="">
            <a:extLst xmlns:a="http://schemas.openxmlformats.org/drawingml/2006/main">
              <a:ext uri="{FF2B5EF4-FFF2-40B4-BE49-F238E27FC236}">
                <a16:creationId xmlns:a16="http://schemas.microsoft.com/office/drawing/2014/main" id="{C3335E29-8D40-4AF7-B32B-645CDDA5A781}"/>
              </a:ext>
            </a:extLst>
          </p:cNvPr>
          <p:cNvSpPr>
            <a:spLocks xmlns:a="http://schemas.openxmlformats.org/drawingml/2006/main" noGrp="1"/>
          </p:cNvSpPr>
          <p:nvPr/>
        </p:nvSpPr>
        <p:spPr>
          <a:xfrm xmlns:a="http://schemas.openxmlformats.org/drawingml/2006/main">
            <a:off x="609600" y="5248275"/>
            <a:ext cx="2133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iOS: &lt;10 ratings</a:t>
            </a:r>
          </a:p>
        </p:txBody>
      </p:sp>
      <p:sp>
        <p:nvSpPr>
          <p:cNvPr id="17" name="">
            <a:extLst xmlns:a="http://schemas.openxmlformats.org/drawingml/2006/main">
              <a:ext uri="{FF2B5EF4-FFF2-40B4-BE49-F238E27FC236}">
                <a16:creationId xmlns:a16="http://schemas.microsoft.com/office/drawing/2014/main" id="{ED315A52-E8C7-4C8F-AC63-238D460DC1B3}"/>
              </a:ext>
            </a:extLst>
          </p:cNvPr>
          <p:cNvSpPr>
            <a:spLocks xmlns:a="http://schemas.openxmlformats.org/drawingml/2006/main" noGrp="1"/>
          </p:cNvSpPr>
          <p:nvPr/>
        </p:nvSpPr>
        <p:spPr>
          <a:xfrm xmlns:a="http://schemas.openxmlformats.org/drawingml/2006/main">
            <a:off x="2743200" y="5248275"/>
            <a:ext cx="1219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00" b="1">
                <a:solidFill>
                  <a:srgbClr val="F5B61C"/>
                </a:solidFill>
                <a:latin typeface="Arial"/>
                <a:ea typeface="Arial"/>
                <a:cs typeface="Arial"/>
              </a:defRPr>
            </a:pPr>
            <a:r>
              <a:rPr sz="1500" b="1">
                <a:solidFill>
                  <a:srgbClr val="F5B61C"/>
                </a:solidFill>
                <a:latin typeface="Arial"/>
                <a:ea typeface="Arial"/>
                <a:cs typeface="Arial"/>
              </a:rPr>
              <a:t>≈78% → 87%</a:t>
            </a:r>
          </a:p>
        </p:txBody>
      </p:sp>
      <p:sp>
        <p:nvSpPr>
          <p:cNvPr id="18" name="">
            <a:extLst xmlns:a="http://schemas.openxmlformats.org/drawingml/2006/main">
              <a:ext uri="{FF2B5EF4-FFF2-40B4-BE49-F238E27FC236}">
                <a16:creationId xmlns:a16="http://schemas.microsoft.com/office/drawing/2014/main" id="{91120D77-D3D2-4DB9-A397-0B29CC54028C}"/>
              </a:ext>
            </a:extLst>
          </p:cNvPr>
          <p:cNvSpPr>
            <a:spLocks xmlns:a="http://schemas.openxmlformats.org/drawingml/2006/main" noGrp="1"/>
          </p:cNvSpPr>
          <p:nvPr/>
        </p:nvSpPr>
        <p:spPr>
          <a:xfrm xmlns:a="http://schemas.openxmlformats.org/drawingml/2006/main">
            <a:off x="609600" y="5514975"/>
            <a:ext cx="2133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Chrome: &lt;10 downloads</a:t>
            </a:r>
          </a:p>
        </p:txBody>
      </p:sp>
      <p:sp>
        <p:nvSpPr>
          <p:cNvPr id="19" name="">
            <a:extLst xmlns:a="http://schemas.openxmlformats.org/drawingml/2006/main">
              <a:ext uri="{FF2B5EF4-FFF2-40B4-BE49-F238E27FC236}">
                <a16:creationId xmlns:a16="http://schemas.microsoft.com/office/drawing/2014/main" id="{B5F572FF-201C-4583-9898-3AAA836A751C}"/>
              </a:ext>
            </a:extLst>
          </p:cNvPr>
          <p:cNvSpPr>
            <a:spLocks xmlns:a="http://schemas.openxmlformats.org/drawingml/2006/main" noGrp="1"/>
          </p:cNvSpPr>
          <p:nvPr/>
        </p:nvSpPr>
        <p:spPr>
          <a:xfrm xmlns:a="http://schemas.openxmlformats.org/drawingml/2006/main">
            <a:off x="2743200" y="5514975"/>
            <a:ext cx="1219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00" b="1">
                <a:solidFill>
                  <a:srgbClr val="F5B61C"/>
                </a:solidFill>
                <a:latin typeface="Arial"/>
                <a:ea typeface="Arial"/>
                <a:cs typeface="Arial"/>
              </a:defRPr>
            </a:pPr>
            <a:r>
              <a:rPr sz="1500" b="1">
                <a:solidFill>
                  <a:srgbClr val="F5B61C"/>
                </a:solidFill>
                <a:latin typeface="Arial"/>
                <a:ea typeface="Arial"/>
                <a:cs typeface="Arial"/>
              </a:rPr>
              <a:t>19% → 33%</a:t>
            </a:r>
          </a:p>
        </p:txBody>
      </p:sp>
      <p:sp>
        <p:nvSpPr>
          <p:cNvPr id="20" name="">
            <a:extLst xmlns:a="http://schemas.openxmlformats.org/drawingml/2006/main">
              <a:ext uri="{FF2B5EF4-FFF2-40B4-BE49-F238E27FC236}">
                <a16:creationId xmlns:a16="http://schemas.microsoft.com/office/drawing/2014/main" id="{F8E52951-77D1-4907-80C1-D4D18C71C72E}"/>
              </a:ext>
            </a:extLst>
          </p:cNvPr>
          <p:cNvSpPr>
            <a:spLocks xmlns:a="http://schemas.openxmlformats.org/drawingml/2006/main" noGrp="1"/>
          </p:cNvSpPr>
          <p:nvPr/>
        </p:nvSpPr>
        <p:spPr>
          <a:xfrm xmlns:a="http://schemas.openxmlformats.org/drawingml/2006/main">
            <a:off x="609600" y="5800725"/>
            <a:ext cx="335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Jan 2025 → Apr 2026 · first 3 months</a:t>
            </a:r>
          </a:p>
        </p:txBody>
      </p:sp>
      <p:sp>
        <p:nvSpPr>
          <p:cNvPr id="21" name="">
            <a:extLst xmlns:a="http://schemas.openxmlformats.org/drawingml/2006/main">
              <a:ext uri="{FF2B5EF4-FFF2-40B4-BE49-F238E27FC236}">
                <a16:creationId xmlns:a16="http://schemas.microsoft.com/office/drawing/2014/main" id="{4A17CA2F-822C-479A-97EC-609D64A7565D}"/>
              </a:ext>
            </a:extLst>
          </p:cNvPr>
          <p:cNvSpPr>
            <a:spLocks xmlns:a="http://schemas.openxmlformats.org/drawingml/2006/main" noGrp="1"/>
          </p:cNvSpPr>
          <p:nvPr/>
        </p:nvSpPr>
        <p:spPr>
          <a:xfrm xmlns:a="http://schemas.openxmlformats.org/drawingml/2006/main">
            <a:off x="4419600" y="1857375"/>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DORA · 2025</a:t>
            </a:r>
          </a:p>
        </p:txBody>
      </p:sp>
      <p:sp>
        <p:nvSpPr>
          <p:cNvPr id="22" name="">
            <a:extLst xmlns:a="http://schemas.openxmlformats.org/drawingml/2006/main">
              <a:ext uri="{FF2B5EF4-FFF2-40B4-BE49-F238E27FC236}">
                <a16:creationId xmlns:a16="http://schemas.microsoft.com/office/drawing/2014/main" id="{5E8B86CA-48B4-47B6-AE24-626B8354BFFA}"/>
              </a:ext>
            </a:extLst>
          </p:cNvPr>
          <p:cNvSpPr>
            <a:spLocks xmlns:a="http://schemas.openxmlformats.org/drawingml/2006/main" noGrp="1"/>
          </p:cNvSpPr>
          <p:nvPr/>
        </p:nvSpPr>
        <p:spPr>
          <a:xfrm xmlns:a="http://schemas.openxmlformats.org/drawingml/2006/main">
            <a:off x="4419600" y="2466975"/>
            <a:ext cx="333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Higher throughput</a:t>
            </a:r>
          </a:p>
        </p:txBody>
      </p:sp>
      <p:sp>
        <p:nvSpPr>
          <p:cNvPr id="23" name="">
            <a:extLst xmlns:a="http://schemas.openxmlformats.org/drawingml/2006/main">
              <a:ext uri="{FF2B5EF4-FFF2-40B4-BE49-F238E27FC236}">
                <a16:creationId xmlns:a16="http://schemas.microsoft.com/office/drawing/2014/main" id="{779FDE36-A109-4709-BED6-A867C89182F1}"/>
              </a:ext>
            </a:extLst>
          </p:cNvPr>
          <p:cNvSpPr>
            <a:spLocks xmlns:a="http://schemas.openxmlformats.org/drawingml/2006/main" noGrp="1"/>
          </p:cNvSpPr>
          <p:nvPr/>
        </p:nvSpPr>
        <p:spPr>
          <a:xfrm xmlns:a="http://schemas.openxmlformats.org/drawingml/2006/main">
            <a:off x="4419600" y="2857500"/>
            <a:ext cx="333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Arial"/>
                <a:ea typeface="Arial"/>
                <a:cs typeface="Arial"/>
              </a:defRPr>
            </a:pPr>
            <a:r>
              <a:rPr sz="2100" b="1">
                <a:solidFill>
                  <a:srgbClr val="F5B61C"/>
                </a:solidFill>
                <a:latin typeface="Arial"/>
                <a:ea typeface="Arial"/>
                <a:cs typeface="Arial"/>
              </a:rPr>
              <a:t>Lower delivery stability</a:t>
            </a:r>
          </a:p>
        </p:txBody>
      </p:sp>
      <p:sp>
        <p:nvSpPr>
          <p:cNvPr id="24" name="">
            <a:extLst xmlns:a="http://schemas.openxmlformats.org/drawingml/2006/main">
              <a:ext uri="{FF2B5EF4-FFF2-40B4-BE49-F238E27FC236}">
                <a16:creationId xmlns:a16="http://schemas.microsoft.com/office/drawing/2014/main" id="{09FCF140-5B44-4761-8499-EC0A15A00991}"/>
              </a:ext>
            </a:extLst>
          </p:cNvPr>
          <p:cNvSpPr>
            <a:spLocks xmlns:a="http://schemas.openxmlformats.org/drawingml/2006/main" noGrp="1"/>
          </p:cNvSpPr>
          <p:nvPr/>
        </p:nvSpPr>
        <p:spPr>
          <a:xfrm xmlns:a="http://schemas.openxmlformats.org/drawingml/2006/main">
            <a:off x="4419600" y="351472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5B61C"/>
                </a:solidFill>
                <a:latin typeface="Arial"/>
                <a:ea typeface="Arial"/>
                <a:cs typeface="Arial"/>
              </a:defRPr>
            </a:pPr>
            <a:r>
              <a:rPr sz="3000" b="1">
                <a:solidFill>
                  <a:srgbClr val="F5B61C"/>
                </a:solidFill>
                <a:latin typeface="Arial"/>
                <a:ea typeface="Arial"/>
                <a:cs typeface="Arial"/>
              </a:rPr>
              <a:t>≈ +0.10 SD</a:t>
            </a:r>
          </a:p>
        </p:txBody>
      </p:sp>
      <p:sp>
        <p:nvSpPr>
          <p:cNvPr id="25" name="">
            <a:extLst xmlns:a="http://schemas.openxmlformats.org/drawingml/2006/main">
              <a:ext uri="{FF2B5EF4-FFF2-40B4-BE49-F238E27FC236}">
                <a16:creationId xmlns:a16="http://schemas.microsoft.com/office/drawing/2014/main" id="{D916ABAD-21AC-49C0-BC3A-A5FBAC07AE61}"/>
              </a:ext>
            </a:extLst>
          </p:cNvPr>
          <p:cNvSpPr>
            <a:spLocks xmlns:a="http://schemas.openxmlformats.org/drawingml/2006/main" noGrp="1"/>
          </p:cNvSpPr>
          <p:nvPr/>
        </p:nvSpPr>
        <p:spPr>
          <a:xfrm xmlns:a="http://schemas.openxmlformats.org/drawingml/2006/main">
            <a:off x="4419600" y="4048125"/>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instability per +1 SD AI adoption</a:t>
            </a:r>
          </a:p>
        </p:txBody>
      </p:sp>
      <p:sp>
        <p:nvSpPr>
          <p:cNvPr id="26" name="">
            <a:extLst xmlns:a="http://schemas.openxmlformats.org/drawingml/2006/main">
              <a:ext uri="{FF2B5EF4-FFF2-40B4-BE49-F238E27FC236}">
                <a16:creationId xmlns:a16="http://schemas.microsoft.com/office/drawing/2014/main" id="{291A7FF8-5594-4494-B796-893AC6576580}"/>
              </a:ext>
            </a:extLst>
          </p:cNvPr>
          <p:cNvSpPr>
            <a:spLocks xmlns:a="http://schemas.openxmlformats.org/drawingml/2006/main" noGrp="1"/>
          </p:cNvSpPr>
          <p:nvPr/>
        </p:nvSpPr>
        <p:spPr>
          <a:xfrm xmlns:a="http://schemas.openxmlformats.org/drawingml/2006/main">
            <a:off x="4419600" y="456247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89% credible interval</a:t>
            </a:r>
          </a:p>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 +0.07 to +0.13 SD</a:t>
            </a:r>
          </a:p>
        </p:txBody>
      </p:sp>
      <p:sp>
        <p:nvSpPr>
          <p:cNvPr id="27" name="">
            <a:extLst xmlns:a="http://schemas.openxmlformats.org/drawingml/2006/main">
              <a:ext uri="{FF2B5EF4-FFF2-40B4-BE49-F238E27FC236}">
                <a16:creationId xmlns:a16="http://schemas.microsoft.com/office/drawing/2014/main" id="{67F95CF0-53A0-46B9-BA1A-39C967037644}"/>
              </a:ext>
            </a:extLst>
          </p:cNvPr>
          <p:cNvSpPr>
            <a:spLocks xmlns:a="http://schemas.openxmlformats.org/drawingml/2006/main" noGrp="1"/>
          </p:cNvSpPr>
          <p:nvPr/>
        </p:nvSpPr>
        <p:spPr>
          <a:xfrm xmlns:a="http://schemas.openxmlformats.org/drawingml/2006/main">
            <a:off x="4419600" y="538162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Survey association, not a causal estimate.</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SD is not a failure percentage.</a:t>
            </a:r>
          </a:p>
        </p:txBody>
      </p:sp>
      <p:sp>
        <p:nvSpPr>
          <p:cNvPr id="28" name="">
            <a:extLst xmlns:a="http://schemas.openxmlformats.org/drawingml/2006/main">
              <a:ext uri="{FF2B5EF4-FFF2-40B4-BE49-F238E27FC236}">
                <a16:creationId xmlns:a16="http://schemas.microsoft.com/office/drawing/2014/main" id="{4068711B-7D8C-4A2C-B038-20C32AEB6620}"/>
              </a:ext>
            </a:extLst>
          </p:cNvPr>
          <p:cNvSpPr>
            <a:spLocks xmlns:a="http://schemas.openxmlformats.org/drawingml/2006/main" noGrp="1"/>
          </p:cNvSpPr>
          <p:nvPr/>
        </p:nvSpPr>
        <p:spPr>
          <a:xfrm xmlns:a="http://schemas.openxmlformats.org/drawingml/2006/main">
            <a:off x="8210550" y="1857375"/>
            <a:ext cx="3371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GITCLEAR · 2023 → 2026 YTD*</a:t>
            </a:r>
          </a:p>
        </p:txBody>
      </p:sp>
      <p:sp>
        <p:nvSpPr>
          <p:cNvPr id="29" name="">
            <a:extLst xmlns:a="http://schemas.openxmlformats.org/drawingml/2006/main">
              <a:ext uri="{FF2B5EF4-FFF2-40B4-BE49-F238E27FC236}">
                <a16:creationId xmlns:a16="http://schemas.microsoft.com/office/drawing/2014/main" id="{C4322E9D-A76E-446B-9122-4CECBDE04DF8}"/>
              </a:ext>
            </a:extLst>
          </p:cNvPr>
          <p:cNvSpPr>
            <a:spLocks xmlns:a="http://schemas.openxmlformats.org/drawingml/2006/main" noGrp="1"/>
          </p:cNvSpPr>
          <p:nvPr/>
        </p:nvSpPr>
        <p:spPr>
          <a:xfrm xmlns:a="http://schemas.openxmlformats.org/drawingml/2006/main">
            <a:off x="8210550" y="2447925"/>
            <a:ext cx="3371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Moved-code share</a:t>
            </a:r>
          </a:p>
        </p:txBody>
      </p:sp>
      <p:sp>
        <p:nvSpPr>
          <p:cNvPr id="30" name="">
            <a:extLst xmlns:a="http://schemas.openxmlformats.org/drawingml/2006/main">
              <a:ext uri="{FF2B5EF4-FFF2-40B4-BE49-F238E27FC236}">
                <a16:creationId xmlns:a16="http://schemas.microsoft.com/office/drawing/2014/main" id="{87C638BA-C485-4D31-8231-7B9D68105567}"/>
              </a:ext>
            </a:extLst>
          </p:cNvPr>
          <p:cNvSpPr>
            <a:spLocks xmlns:a="http://schemas.openxmlformats.org/drawingml/2006/main" noGrp="1"/>
          </p:cNvSpPr>
          <p:nvPr/>
        </p:nvSpPr>
        <p:spPr>
          <a:xfrm xmlns:a="http://schemas.openxmlformats.org/drawingml/2006/main">
            <a:off x="8210550" y="2800350"/>
            <a:ext cx="3371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850" b="1">
                <a:solidFill>
                  <a:srgbClr val="F4F7FA"/>
                </a:solidFill>
                <a:latin typeface="Arial"/>
                <a:ea typeface="Arial"/>
                <a:cs typeface="Arial"/>
              </a:defRPr>
            </a:pPr>
            <a:r>
              <a:rPr sz="2850" b="1">
                <a:solidFill>
                  <a:srgbClr val="F4F7FA"/>
                </a:solidFill>
                <a:latin typeface="Arial"/>
                <a:ea typeface="Arial"/>
                <a:cs typeface="Arial"/>
              </a:rPr>
              <a:t>13% → 3.8%</a:t>
            </a:r>
          </a:p>
        </p:txBody>
      </p:sp>
      <p:sp>
        <p:nvSpPr>
          <p:cNvPr id="31" name="">
            <a:extLst xmlns:a="http://schemas.openxmlformats.org/drawingml/2006/main">
              <a:ext uri="{FF2B5EF4-FFF2-40B4-BE49-F238E27FC236}">
                <a16:creationId xmlns:a16="http://schemas.microsoft.com/office/drawing/2014/main" id="{D56D5EB1-15D2-41C3-A1D0-7A0049FFCC0A}"/>
              </a:ext>
            </a:extLst>
          </p:cNvPr>
          <p:cNvSpPr>
            <a:spLocks xmlns:a="http://schemas.openxmlformats.org/drawingml/2006/main" noGrp="1"/>
          </p:cNvSpPr>
          <p:nvPr/>
        </p:nvSpPr>
        <p:spPr>
          <a:xfrm xmlns:a="http://schemas.openxmlformats.org/drawingml/2006/main">
            <a:off x="8210550" y="3514725"/>
            <a:ext cx="3371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Calls / 1k changed lines</a:t>
            </a:r>
          </a:p>
        </p:txBody>
      </p:sp>
      <p:sp>
        <p:nvSpPr>
          <p:cNvPr id="32" name="">
            <a:extLst xmlns:a="http://schemas.openxmlformats.org/drawingml/2006/main">
              <a:ext uri="{FF2B5EF4-FFF2-40B4-BE49-F238E27FC236}">
                <a16:creationId xmlns:a16="http://schemas.microsoft.com/office/drawing/2014/main" id="{A6EDF8C5-9B68-4880-8A7B-9B1E13A184B1}"/>
              </a:ext>
            </a:extLst>
          </p:cNvPr>
          <p:cNvSpPr>
            <a:spLocks xmlns:a="http://schemas.openxmlformats.org/drawingml/2006/main" noGrp="1"/>
          </p:cNvSpPr>
          <p:nvPr/>
        </p:nvSpPr>
        <p:spPr>
          <a:xfrm xmlns:a="http://schemas.openxmlformats.org/drawingml/2006/main">
            <a:off x="8210550" y="3867150"/>
            <a:ext cx="3371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850" b="1">
                <a:solidFill>
                  <a:srgbClr val="F4F7FA"/>
                </a:solidFill>
                <a:latin typeface="Arial"/>
                <a:ea typeface="Arial"/>
                <a:cs typeface="Arial"/>
              </a:defRPr>
            </a:pPr>
            <a:r>
              <a:rPr sz="2850" b="1">
                <a:solidFill>
                  <a:srgbClr val="F4F7FA"/>
                </a:solidFill>
                <a:latin typeface="Arial"/>
                <a:ea typeface="Arial"/>
                <a:cs typeface="Arial"/>
              </a:rPr>
              <a:t>343 → 223</a:t>
            </a:r>
          </a:p>
        </p:txBody>
      </p:sp>
      <p:sp>
        <p:nvSpPr>
          <p:cNvPr id="33" name="">
            <a:extLst xmlns:a="http://schemas.openxmlformats.org/drawingml/2006/main">
              <a:ext uri="{FF2B5EF4-FFF2-40B4-BE49-F238E27FC236}">
                <a16:creationId xmlns:a16="http://schemas.microsoft.com/office/drawing/2014/main" id="{16669AC0-1622-49BA-A294-7E5D7E795BFB}"/>
              </a:ext>
            </a:extLst>
          </p:cNvPr>
          <p:cNvSpPr>
            <a:spLocks xmlns:a="http://schemas.openxmlformats.org/drawingml/2006/main" noGrp="1"/>
          </p:cNvSpPr>
          <p:nvPr/>
        </p:nvSpPr>
        <p:spPr>
          <a:xfrm xmlns:a="http://schemas.openxmlformats.org/drawingml/2006/main">
            <a:off x="8210550" y="4686300"/>
            <a:ext cx="33718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Duplicated blocks ≈+81%</a:t>
            </a:r>
          </a:p>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Two-week churn +15%*</a:t>
            </a:r>
          </a:p>
        </p:txBody>
      </p:sp>
      <p:sp>
        <p:nvSpPr>
          <p:cNvPr id="34" name="">
            <a:extLst xmlns:a="http://schemas.openxmlformats.org/drawingml/2006/main">
              <a:ext uri="{FF2B5EF4-FFF2-40B4-BE49-F238E27FC236}">
                <a16:creationId xmlns:a16="http://schemas.microsoft.com/office/drawing/2014/main" id="{098B1AA7-C95B-4F51-97B0-B1AA995EF789}"/>
              </a:ext>
            </a:extLst>
          </p:cNvPr>
          <p:cNvSpPr>
            <a:spLocks xmlns:a="http://schemas.openxmlformats.org/drawingml/2006/main" noGrp="1"/>
          </p:cNvSpPr>
          <p:nvPr/>
        </p:nvSpPr>
        <p:spPr>
          <a:xfrm xmlns:a="http://schemas.openxmlformats.org/drawingml/2006/main">
            <a:off x="8210550" y="5467350"/>
            <a:ext cx="3371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Arial"/>
                <a:ea typeface="Arial"/>
                <a:cs typeface="Arial"/>
              </a:defRPr>
            </a:pPr>
            <a:r>
              <a:rPr sz="1275" b="0">
                <a:solidFill>
                  <a:srgbClr val="F5B61C"/>
                </a:solidFill>
                <a:latin typeface="Arial"/>
                <a:ea typeface="Arial"/>
                <a:cs typeface="Arial"/>
              </a:rPr>
              <a:t>Refactoring / connectivity proxies.</a:t>
            </a:r>
          </a:p>
          <a:p xmlns:a="http://schemas.openxmlformats.org/drawingml/2006/main">
            <a:pPr algn="l">
              <a:defRPr sz="1275" b="0">
                <a:solidFill>
                  <a:srgbClr val="F5B61C"/>
                </a:solidFill>
                <a:latin typeface="Arial"/>
                <a:ea typeface="Arial"/>
                <a:cs typeface="Arial"/>
              </a:defRPr>
            </a:pPr>
            <a:r>
              <a:rPr sz="1275" b="0">
                <a:solidFill>
                  <a:srgbClr val="F5B61C"/>
                </a:solidFill>
                <a:latin typeface="Arial"/>
                <a:ea typeface="Arial"/>
                <a:cs typeface="Arial"/>
              </a:rPr>
              <a:t>Different baselines for secondary signals.*</a:t>
            </a:r>
          </a:p>
        </p:txBody>
      </p:sp>
      <p:sp>
        <p:nvSpPr>
          <p:cNvPr id="35" name="">
            <a:extLst xmlns:a="http://schemas.openxmlformats.org/drawingml/2006/main">
              <a:ext uri="{FF2B5EF4-FFF2-40B4-BE49-F238E27FC236}">
                <a16:creationId xmlns:a16="http://schemas.microsoft.com/office/drawing/2014/main" id="{A631756D-7F08-4BC4-A69D-73548CBC82F9}"/>
              </a:ext>
            </a:extLst>
          </p:cNvPr>
          <p:cNvSpPr>
            <a:spLocks xmlns:a="http://schemas.openxmlformats.org/drawingml/2006/main" noGrp="1"/>
          </p:cNvSpPr>
          <p:nvPr/>
        </p:nvSpPr>
        <p:spPr>
          <a:xfrm xmlns:a="http://schemas.openxmlformats.org/drawingml/2006/main" flipH="0" flipV="0">
            <a:off x="609600" y="6115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6" name="">
            <a:extLst xmlns:a="http://schemas.openxmlformats.org/drawingml/2006/main">
              <a:ext uri="{FF2B5EF4-FFF2-40B4-BE49-F238E27FC236}">
                <a16:creationId xmlns:a16="http://schemas.microsoft.com/office/drawing/2014/main" id="{7458632C-EB87-4EF0-8551-D26B6C377B35}"/>
              </a:ext>
            </a:extLst>
          </p:cNvPr>
          <p:cNvSpPr>
            <a:spLocks xmlns:a="http://schemas.openxmlformats.org/drawingml/2006/main" noGrp="1"/>
          </p:cNvSpPr>
          <p:nvPr/>
        </p:nvSpPr>
        <p:spPr>
          <a:xfrm xmlns:a="http://schemas.openxmlformats.org/drawingml/2006/main">
            <a:off x="609600" y="61817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Different studies and outcomes. These signals do not form one causal estimate.</a:t>
            </a:r>
          </a:p>
        </p:txBody>
      </p:sp>
      <p:sp>
        <p:nvSpPr>
          <p:cNvPr id="37" name="">
            <a:extLst xmlns:a="http://schemas.openxmlformats.org/drawingml/2006/main">
              <a:ext uri="{FF2B5EF4-FFF2-40B4-BE49-F238E27FC236}">
                <a16:creationId xmlns:a16="http://schemas.microsoft.com/office/drawing/2014/main" id="{BD4235B8-3B2D-421D-BF7F-96F23EA8FB84}"/>
              </a:ext>
            </a:extLst>
          </p:cNvPr>
          <p:cNvSpPr>
            <a:spLocks xmlns:a="http://schemas.openxmlformats.org/drawingml/2006/main" noGrp="1"/>
          </p:cNvSpPr>
          <p:nvPr/>
        </p:nvSpPr>
        <p:spPr>
          <a:xfrm xmlns:a="http://schemas.openxmlformats.org/drawingml/2006/main">
            <a:off x="609600" y="6486525"/>
            <a:ext cx="10648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Code activity, delivery and user value are different outcomes.</a:t>
            </a:r>
          </a:p>
        </p:txBody>
      </p:sp>
    </p:spTree>
    <p:extLst>
      <p:ext uri="{BB962C8B-B14F-4D97-AF65-F5344CB8AC3E}">
        <p14:creationId xmlns:p14="http://schemas.microsoft.com/office/powerpoint/2010/main" val="152432571"/>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2C93CAC-6470-47CD-802F-F2FC65A4B06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New Scarcity Is Human Comprehension</a:t>
            </a:r>
          </a:p>
        </p:txBody>
      </p:sp>
      <p:sp>
        <p:nvSpPr>
          <p:cNvPr id="2" name="">
            <a:extLst xmlns:a="http://schemas.openxmlformats.org/drawingml/2006/main">
              <a:ext uri="{FF2B5EF4-FFF2-40B4-BE49-F238E27FC236}">
                <a16:creationId xmlns:a16="http://schemas.microsoft.com/office/drawing/2014/main" id="{3E58EBC3-6627-4804-9EA1-56DE7D58E15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F4FC5664-BE68-43DD-96A8-9060EDCD5DAB}"/>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5CF32AE4-F1AB-4238-82B2-CAADABD30829}"/>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C4778613-DEC9-425B-AF4D-4021E43A3AE5}"/>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06441794-9C74-48CE-9F3D-5BDC237903E8}"/>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28077262-FEC6-4B72-A7AF-F56F009DBFC0}"/>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781EE4B1-B175-44A2-9190-B66EE0AE577A}"/>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Arial"/>
                <a:ea typeface="Arial"/>
                <a:cs typeface="Arial"/>
              </a:defRPr>
            </a:pPr>
            <a:r>
              <a:rPr sz="1875" b="1">
                <a:solidFill>
                  <a:srgbClr val="28C7F7"/>
                </a:solidFill>
                <a:latin typeface="Arial"/>
                <a:ea typeface="Arial"/>
                <a:cs typeface="Arial"/>
              </a:rPr>
              <a:t>Machine generation capacity</a:t>
            </a:r>
          </a:p>
        </p:txBody>
      </p:sp>
      <p:sp>
        <p:nvSpPr>
          <p:cNvPr id="9" name="">
            <a:extLst xmlns:a="http://schemas.openxmlformats.org/drawingml/2006/main">
              <a:ext uri="{FF2B5EF4-FFF2-40B4-BE49-F238E27FC236}">
                <a16:creationId xmlns:a16="http://schemas.microsoft.com/office/drawing/2014/main" id="{06974932-ACEE-4C29-B26B-166D90424693}"/>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Arial"/>
                <a:ea typeface="Arial"/>
                <a:cs typeface="Arial"/>
              </a:defRPr>
            </a:pPr>
            <a:r>
              <a:rPr sz="1725" b="0">
                <a:solidFill>
                  <a:srgbClr val="F5B61C"/>
                </a:solidFill>
                <a:latin typeface="Arial"/>
                <a:ea typeface="Arial"/>
                <a:cs typeface="Arial"/>
              </a:rPr>
              <a:t>Human comprehension capacity</a:t>
            </a:r>
          </a:p>
        </p:txBody>
      </p:sp>
      <p:sp>
        <p:nvSpPr>
          <p:cNvPr id="10" name="">
            <a:extLst xmlns:a="http://schemas.openxmlformats.org/drawingml/2006/main">
              <a:ext uri="{FF2B5EF4-FFF2-40B4-BE49-F238E27FC236}">
                <a16:creationId xmlns:a16="http://schemas.microsoft.com/office/drawing/2014/main" id="{17B6407E-4FA0-4211-941D-99FEB9323964}"/>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Potential</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comprehension gap</a:t>
            </a:r>
          </a:p>
        </p:txBody>
      </p:sp>
      <p:sp>
        <p:nvSpPr>
          <p:cNvPr id="11" name="">
            <a:extLst xmlns:a="http://schemas.openxmlformats.org/drawingml/2006/main">
              <a:ext uri="{FF2B5EF4-FFF2-40B4-BE49-F238E27FC236}">
                <a16:creationId xmlns:a16="http://schemas.microsoft.com/office/drawing/2014/main" id="{2FDE0F25-AC17-47F1-A7A4-DDA4C96419A7}"/>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Adoption / time</a:t>
            </a:r>
          </a:p>
        </p:txBody>
      </p:sp>
      <p:sp>
        <p:nvSpPr>
          <p:cNvPr id="12" name="">
            <a:extLst xmlns:a="http://schemas.openxmlformats.org/drawingml/2006/main">
              <a:ext uri="{FF2B5EF4-FFF2-40B4-BE49-F238E27FC236}">
                <a16:creationId xmlns:a16="http://schemas.microsoft.com/office/drawing/2014/main" id="{207FE12C-4EFA-4D3F-BB79-504E6AE515DF}"/>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we generate faster?</a:t>
            </a:r>
          </a:p>
        </p:txBody>
      </p:sp>
      <p:sp>
        <p:nvSpPr>
          <p:cNvPr id="13" name="">
            <a:extLst xmlns:a="http://schemas.openxmlformats.org/drawingml/2006/main">
              <a:ext uri="{FF2B5EF4-FFF2-40B4-BE49-F238E27FC236}">
                <a16:creationId xmlns:a16="http://schemas.microsoft.com/office/drawing/2014/main" id="{0A6C414C-DC06-41D2-8AB6-E9FB95CA0B94}"/>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Arial"/>
                <a:ea typeface="Arial"/>
                <a:cs typeface="Arial"/>
              </a:defRPr>
            </a:pPr>
            <a:r>
              <a:rPr sz="2100" b="1">
                <a:solidFill>
                  <a:srgbClr val="28C7F7"/>
                </a:solidFill>
                <a:latin typeface="Arial"/>
                <a:ea typeface="Arial"/>
                <a:cs typeface="Arial"/>
              </a:rPr>
              <a:t>YES</a:t>
            </a:r>
          </a:p>
        </p:txBody>
      </p:sp>
      <p:sp>
        <p:nvSpPr>
          <p:cNvPr id="14" name="">
            <a:extLst xmlns:a="http://schemas.openxmlformats.org/drawingml/2006/main">
              <a:ext uri="{FF2B5EF4-FFF2-40B4-BE49-F238E27FC236}">
                <a16:creationId xmlns:a16="http://schemas.microsoft.com/office/drawing/2014/main" id="{8FD09CE5-5D36-432D-8DF6-0D4ECB115CC8}"/>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review keep pace?</a:t>
            </a:r>
          </a:p>
        </p:txBody>
      </p:sp>
      <p:sp>
        <p:nvSpPr>
          <p:cNvPr id="15" name="">
            <a:extLst xmlns:a="http://schemas.openxmlformats.org/drawingml/2006/main">
              <a:ext uri="{FF2B5EF4-FFF2-40B4-BE49-F238E27FC236}">
                <a16:creationId xmlns:a16="http://schemas.microsoft.com/office/drawing/2014/main" id="{4F68C2F3-6B58-4368-9BF0-E3C0F6B9CF16}"/>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Arial"/>
                <a:ea typeface="Arial"/>
                <a:cs typeface="Arial"/>
              </a:defRPr>
            </a:pPr>
            <a:r>
              <a:rPr sz="2100" b="1">
                <a:solidFill>
                  <a:srgbClr val="F5B61C"/>
                </a:solidFill>
                <a:latin typeface="Arial"/>
                <a:ea typeface="Arial"/>
                <a:cs typeface="Arial"/>
              </a:rPr>
              <a:t>NOT AT THIS RATE</a:t>
            </a:r>
          </a:p>
        </p:txBody>
      </p:sp>
      <p:sp>
        <p:nvSpPr>
          <p:cNvPr id="16" name="">
            <a:extLst xmlns:a="http://schemas.openxmlformats.org/drawingml/2006/main">
              <a:ext uri="{FF2B5EF4-FFF2-40B4-BE49-F238E27FC236}">
                <a16:creationId xmlns:a16="http://schemas.microsoft.com/office/drawing/2014/main" id="{57194993-3867-408C-ADDB-A1789878D979}"/>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Will we understand it</a:t>
            </a:r>
          </a:p>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in 5 years?</a:t>
            </a:r>
          </a:p>
        </p:txBody>
      </p:sp>
      <p:sp>
        <p:nvSpPr>
          <p:cNvPr id="17" name="">
            <a:extLst xmlns:a="http://schemas.openxmlformats.org/drawingml/2006/main">
              <a:ext uri="{FF2B5EF4-FFF2-40B4-BE49-F238E27FC236}">
                <a16:creationId xmlns:a16="http://schemas.microsoft.com/office/drawing/2014/main" id="{6E1DCDB7-1475-4F05-B92D-666611C9C99E}"/>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Arial"/>
                <a:ea typeface="Arial"/>
                <a:cs typeface="Arial"/>
              </a:defRPr>
            </a:pPr>
            <a:r>
              <a:rPr sz="3075" b="1">
                <a:solidFill>
                  <a:srgbClr val="F5B61C"/>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1E6637D6-AC92-4D67-9E01-D3D08F1DE3D6}"/>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B12B7DBB-615E-4A70-AC18-DD9FBC07FA42}"/>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C7AF82CD-6ACC-4B2D-9E24-5DA6CB23E60D}"/>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Generation scales differently from comprehension.</a:t>
            </a:r>
          </a:p>
        </p:txBody>
      </p:sp>
    </p:spTree>
    <p:extLst>
      <p:ext uri="{BB962C8B-B14F-4D97-AF65-F5344CB8AC3E}">
        <p14:creationId xmlns:p14="http://schemas.microsoft.com/office/powerpoint/2010/main" val="1420816543"/>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642DEE5-6F30-4945-BEE0-766932CF3A8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Team Is the Last Line of Defense</a:t>
            </a:r>
          </a:p>
        </p:txBody>
      </p:sp>
      <p:sp>
        <p:nvSpPr>
          <p:cNvPr id="2" name="">
            <a:extLst xmlns:a="http://schemas.openxmlformats.org/drawingml/2006/main">
              <a:ext uri="{FF2B5EF4-FFF2-40B4-BE49-F238E27FC236}">
                <a16:creationId xmlns:a16="http://schemas.microsoft.com/office/drawing/2014/main" id="{285B3AB8-2F08-4A9D-A1FD-9AD5BC9B14F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0ADA894-B16F-45B4-89DC-ABA31F7B5B6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E1A8D0E7-F7B1-451A-825A-7133A13BAF1D}"/>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Arial"/>
                <a:ea typeface="Arial"/>
                <a:cs typeface="Arial"/>
              </a:defRPr>
            </a:pPr>
            <a:r>
              <a:rPr sz="2175" b="1">
                <a:solidFill>
                  <a:srgbClr val="F4F7FA"/>
                </a:solidFill>
                <a:latin typeface="Arial"/>
                <a:ea typeface="Arial"/>
                <a:cs typeface="Arial"/>
              </a:rPr>
              <a:t>AI code generators are technical systems with limits.</a:t>
            </a:r>
          </a:p>
        </p:txBody>
      </p:sp>
      <p:sp>
        <p:nvSpPr>
          <p:cNvPr id="5" name="">
            <a:extLst xmlns:a="http://schemas.openxmlformats.org/drawingml/2006/main">
              <a:ext uri="{FF2B5EF4-FFF2-40B4-BE49-F238E27FC236}">
                <a16:creationId xmlns:a16="http://schemas.microsoft.com/office/drawing/2014/main" id="{16ADFF66-2D7E-48D3-9E8E-B3E128A1CC60}"/>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2869B936-A2BE-4F77-9B02-20235E756138}"/>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BEBDFCFB-73FC-4FCB-8117-073F9EACC7DF}"/>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Production</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incident</a:t>
            </a:r>
          </a:p>
        </p:txBody>
      </p:sp>
      <p:sp>
        <p:nvSpPr>
          <p:cNvPr id="8" name="">
            <a:extLst xmlns:a="http://schemas.openxmlformats.org/drawingml/2006/main">
              <a:ext uri="{FF2B5EF4-FFF2-40B4-BE49-F238E27FC236}">
                <a16:creationId xmlns:a16="http://schemas.microsoft.com/office/drawing/2014/main" id="{81C6DC2C-B976-4BCF-957C-BBCF19A388A3}"/>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Contain impact.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Roll back or use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fallback where safe.</a:t>
            </a:r>
          </a:p>
        </p:txBody>
      </p:sp>
      <p:sp>
        <p:nvSpPr>
          <p:cNvPr id="9" name="">
            <a:extLst xmlns:a="http://schemas.openxmlformats.org/drawingml/2006/main">
              <a:ext uri="{FF2B5EF4-FFF2-40B4-BE49-F238E27FC236}">
                <a16:creationId xmlns:a16="http://schemas.microsoft.com/office/drawing/2014/main" id="{00F1ED0C-753A-4630-9E2D-52C0BFCC53D3}"/>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A60E976E-5468-48A4-B41F-5D5C45E886D4}"/>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AI cannot</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recover</a:t>
            </a:r>
          </a:p>
        </p:txBody>
      </p:sp>
      <p:sp>
        <p:nvSpPr>
          <p:cNvPr id="11" name="">
            <a:extLst xmlns:a="http://schemas.openxmlformats.org/drawingml/2006/main">
              <a:ext uri="{FF2B5EF4-FFF2-40B4-BE49-F238E27FC236}">
                <a16:creationId xmlns:a16="http://schemas.microsoft.com/office/drawing/2014/main" id="{99F1B548-9B7B-4799-A526-A4E3A5AAA3F7}"/>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Stop at the agreed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retry limit. Preserve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traces and changes.</a:t>
            </a:r>
          </a:p>
        </p:txBody>
      </p:sp>
      <p:sp>
        <p:nvSpPr>
          <p:cNvPr id="12" name="">
            <a:extLst xmlns:a="http://schemas.openxmlformats.org/drawingml/2006/main">
              <a:ext uri="{FF2B5EF4-FFF2-40B4-BE49-F238E27FC236}">
                <a16:creationId xmlns:a16="http://schemas.microsoft.com/office/drawing/2014/main" id="{3FAA5653-53F3-4A6F-9696-868037CD6EC3}"/>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725F084D-AE33-4508-A9C4-4CF95F9F0280}"/>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Team diagnoses</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&amp; proposes fix</a:t>
            </a:r>
          </a:p>
        </p:txBody>
      </p:sp>
      <p:sp>
        <p:nvSpPr>
          <p:cNvPr id="14" name="">
            <a:extLst xmlns:a="http://schemas.openxmlformats.org/drawingml/2006/main">
              <a:ext uri="{FF2B5EF4-FFF2-40B4-BE49-F238E27FC236}">
                <a16:creationId xmlns:a16="http://schemas.microsoft.com/office/drawing/2014/main" id="{B801034E-38CC-4EBA-9151-2F8702ED0C2D}"/>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Reconstruct intent,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dependencies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system invariants.</a:t>
            </a:r>
          </a:p>
        </p:txBody>
      </p:sp>
      <p:sp>
        <p:nvSpPr>
          <p:cNvPr id="15" name="">
            <a:extLst xmlns:a="http://schemas.openxmlformats.org/drawingml/2006/main">
              <a:ext uri="{FF2B5EF4-FFF2-40B4-BE49-F238E27FC236}">
                <a16:creationId xmlns:a16="http://schemas.microsoft.com/office/drawing/2014/main" id="{135FCC7A-C9DC-4719-A04A-6DA11CA3CE7B}"/>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7FCCC858-9A54-41C2-BCBB-21459DE45DA3}"/>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Validate fix</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and restore</a:t>
            </a:r>
          </a:p>
        </p:txBody>
      </p:sp>
      <p:sp>
        <p:nvSpPr>
          <p:cNvPr id="17" name="">
            <a:extLst xmlns:a="http://schemas.openxmlformats.org/drawingml/2006/main">
              <a:ext uri="{FF2B5EF4-FFF2-40B4-BE49-F238E27FC236}">
                <a16:creationId xmlns:a16="http://schemas.microsoft.com/office/drawing/2014/main" id="{7D112A1C-6518-4C05-B244-CF80A687FCF4}"/>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Test the repair.</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Restore under incident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E249ECB5-7154-4CB7-AB9B-9F7761ADE6CB}"/>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ED7FE90A-C586-4341-9619-4BFFD9B783F6}"/>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3E1E0177-2E57-4E46-B072-47240FCBE2FE}"/>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If AI cannot recover the system, the team still must.</a:t>
            </a:r>
          </a:p>
        </p:txBody>
      </p:sp>
    </p:spTree>
    <p:extLst>
      <p:ext uri="{BB962C8B-B14F-4D97-AF65-F5344CB8AC3E}">
        <p14:creationId xmlns:p14="http://schemas.microsoft.com/office/powerpoint/2010/main" val="86652337"/>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988CB1BB-99E2-4681-94B3-42B480A647B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Are Searching for a New</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SDLC Equilibrium</a:t>
            </a:r>
          </a:p>
        </p:txBody>
      </p:sp>
      <p:sp>
        <p:nvSpPr>
          <p:cNvPr id="2" name="">
            <a:extLst xmlns:a="http://schemas.openxmlformats.org/drawingml/2006/main">
              <a:ext uri="{FF2B5EF4-FFF2-40B4-BE49-F238E27FC236}">
                <a16:creationId xmlns:a16="http://schemas.microsoft.com/office/drawing/2014/main" id="{068047A7-EDFB-447E-BBEF-48ACBF11DBD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825DC66-0CC9-4B78-A23B-E2F961228C8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B30E66F9-B9E4-4295-85F1-FB80D0436B2E}"/>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OLD EQUILIBRIUM</a:t>
            </a:r>
          </a:p>
        </p:txBody>
      </p:sp>
      <p:sp>
        <p:nvSpPr>
          <p:cNvPr id="5" name="">
            <a:extLst xmlns:a="http://schemas.openxmlformats.org/drawingml/2006/main">
              <a:ext uri="{FF2B5EF4-FFF2-40B4-BE49-F238E27FC236}">
                <a16:creationId xmlns:a16="http://schemas.microsoft.com/office/drawing/2014/main" id="{042C72A6-B1AA-4ACB-8A29-ACF88EB94972}"/>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Human-led flow</a:t>
            </a:r>
          </a:p>
        </p:txBody>
      </p:sp>
      <p:sp>
        <p:nvSpPr>
          <p:cNvPr id="6" name="">
            <a:extLst xmlns:a="http://schemas.openxmlformats.org/drawingml/2006/main">
              <a:ext uri="{FF2B5EF4-FFF2-40B4-BE49-F238E27FC236}">
                <a16:creationId xmlns:a16="http://schemas.microsoft.com/office/drawing/2014/main" id="{6C6B1C7B-7AF4-4759-8DE1-468057DA66CC}"/>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TODAY</a:t>
            </a:r>
          </a:p>
        </p:txBody>
      </p:sp>
      <p:sp>
        <p:nvSpPr>
          <p:cNvPr id="7" name="">
            <a:extLst xmlns:a="http://schemas.openxmlformats.org/drawingml/2006/main">
              <a:ext uri="{FF2B5EF4-FFF2-40B4-BE49-F238E27FC236}">
                <a16:creationId xmlns:a16="http://schemas.microsoft.com/office/drawing/2014/main" id="{326F69C1-2CEB-4657-97C0-9D96001A9DE8}"/>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Generation outpaces review</a:t>
            </a:r>
          </a:p>
        </p:txBody>
      </p:sp>
      <p:sp>
        <p:nvSpPr>
          <p:cNvPr id="8" name="">
            <a:extLst xmlns:a="http://schemas.openxmlformats.org/drawingml/2006/main">
              <a:ext uri="{FF2B5EF4-FFF2-40B4-BE49-F238E27FC236}">
                <a16:creationId xmlns:a16="http://schemas.microsoft.com/office/drawing/2014/main" id="{F2948481-D84E-4F00-8940-AB6B6309DEAF}"/>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NEW EQUILIBRIUM</a:t>
            </a:r>
          </a:p>
        </p:txBody>
      </p:sp>
      <p:sp>
        <p:nvSpPr>
          <p:cNvPr id="9" name="">
            <a:extLst xmlns:a="http://schemas.openxmlformats.org/drawingml/2006/main">
              <a:ext uri="{FF2B5EF4-FFF2-40B4-BE49-F238E27FC236}">
                <a16:creationId xmlns:a16="http://schemas.microsoft.com/office/drawing/2014/main" id="{8A1CF7F5-0F2F-4641-8694-52104255D461}"/>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Arial"/>
                <a:ea typeface="Arial"/>
                <a:cs typeface="Arial"/>
              </a:defRPr>
            </a:pPr>
            <a:r>
              <a:rPr sz="1650" b="0">
                <a:solidFill>
                  <a:srgbClr val="F5B61C"/>
                </a:solidFill>
                <a:latin typeface="Arial"/>
                <a:ea typeface="Arial"/>
                <a:cs typeface="Arial"/>
              </a:rPr>
              <a:t>Sustainable flow?</a:t>
            </a:r>
          </a:p>
        </p:txBody>
      </p:sp>
      <p:sp>
        <p:nvSpPr>
          <p:cNvPr id="10" name="">
            <a:extLst xmlns:a="http://schemas.openxmlformats.org/drawingml/2006/main">
              <a:ext uri="{FF2B5EF4-FFF2-40B4-BE49-F238E27FC236}">
                <a16:creationId xmlns:a16="http://schemas.microsoft.com/office/drawing/2014/main" id="{9AAB8728-49FA-42E4-8AE5-A62B962A72B3}"/>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5BAB0E07-00B2-4950-98BE-113EE76B372E}"/>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WATCH</a:t>
            </a:r>
          </a:p>
        </p:txBody>
      </p:sp>
      <p:sp>
        <p:nvSpPr>
          <p:cNvPr id="12" name="">
            <a:extLst xmlns:a="http://schemas.openxmlformats.org/drawingml/2006/main">
              <a:ext uri="{FF2B5EF4-FFF2-40B4-BE49-F238E27FC236}">
                <a16:creationId xmlns:a16="http://schemas.microsoft.com/office/drawing/2014/main" id="{75EFD5FA-BF53-47DB-BB19-98557E9AD8BC}"/>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Flow pressure</a:t>
            </a:r>
          </a:p>
        </p:txBody>
      </p:sp>
      <p:sp>
        <p:nvSpPr>
          <p:cNvPr id="13" name="">
            <a:extLst xmlns:a="http://schemas.openxmlformats.org/drawingml/2006/main">
              <a:ext uri="{FF2B5EF4-FFF2-40B4-BE49-F238E27FC236}">
                <a16:creationId xmlns:a16="http://schemas.microsoft.com/office/drawing/2014/main" id="{47AA6523-8D1B-4F95-BFA0-A2F5D35A5819}"/>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age, batch size and WIP</a:t>
            </a:r>
          </a:p>
        </p:txBody>
      </p:sp>
      <p:sp>
        <p:nvSpPr>
          <p:cNvPr id="14" name="">
            <a:extLst xmlns:a="http://schemas.openxmlformats.org/drawingml/2006/main">
              <a:ext uri="{FF2B5EF4-FFF2-40B4-BE49-F238E27FC236}">
                <a16:creationId xmlns:a16="http://schemas.microsoft.com/office/drawing/2014/main" id="{A95F9E6E-3A07-4372-A5B6-4C8BACECADC2}"/>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Rework and structure</a:t>
            </a:r>
          </a:p>
        </p:txBody>
      </p:sp>
      <p:sp>
        <p:nvSpPr>
          <p:cNvPr id="15" name="">
            <a:extLst xmlns:a="http://schemas.openxmlformats.org/drawingml/2006/main">
              <a:ext uri="{FF2B5EF4-FFF2-40B4-BE49-F238E27FC236}">
                <a16:creationId xmlns:a16="http://schemas.microsoft.com/office/drawing/2014/main" id="{23C65A21-4BC1-44A6-9E3E-82CAB18CC366}"/>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Churn, duplication, reuse, complexity</a:t>
            </a:r>
          </a:p>
        </p:txBody>
      </p:sp>
      <p:sp>
        <p:nvSpPr>
          <p:cNvPr id="16" name="">
            <a:extLst xmlns:a="http://schemas.openxmlformats.org/drawingml/2006/main">
              <a:ext uri="{FF2B5EF4-FFF2-40B4-BE49-F238E27FC236}">
                <a16:creationId xmlns:a16="http://schemas.microsoft.com/office/drawing/2014/main" id="{0DD45F11-CB52-4C5F-8208-3C61E65C603E}"/>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Ownership gaps</a:t>
            </a:r>
          </a:p>
        </p:txBody>
      </p:sp>
      <p:sp>
        <p:nvSpPr>
          <p:cNvPr id="17" name="">
            <a:extLst xmlns:a="http://schemas.openxmlformats.org/drawingml/2006/main">
              <a:ext uri="{FF2B5EF4-FFF2-40B4-BE49-F238E27FC236}">
                <a16:creationId xmlns:a16="http://schemas.microsoft.com/office/drawing/2014/main" id="{50FCE192-751B-42F1-AAFF-3A8D86BF1BCE}"/>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Unowned changes and stale docs</a:t>
            </a:r>
          </a:p>
        </p:txBody>
      </p:sp>
      <p:sp>
        <p:nvSpPr>
          <p:cNvPr id="18" name="">
            <a:extLst xmlns:a="http://schemas.openxmlformats.org/drawingml/2006/main">
              <a:ext uri="{FF2B5EF4-FFF2-40B4-BE49-F238E27FC236}">
                <a16:creationId xmlns:a16="http://schemas.microsoft.com/office/drawing/2014/main" id="{CD254D3C-7512-4129-BC49-C8CA4391DD9E}"/>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Recovery readiness</a:t>
            </a:r>
          </a:p>
        </p:txBody>
      </p:sp>
      <p:sp>
        <p:nvSpPr>
          <p:cNvPr id="19" name="">
            <a:extLst xmlns:a="http://schemas.openxmlformats.org/drawingml/2006/main">
              <a:ext uri="{FF2B5EF4-FFF2-40B4-BE49-F238E27FC236}">
                <a16:creationId xmlns:a16="http://schemas.microsoft.com/office/drawing/2014/main" id="{1AF3CEA1-D34C-4D08-8478-F23A688D4B46}"/>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Unaided diagnosis and restore time</a:t>
            </a:r>
          </a:p>
        </p:txBody>
      </p:sp>
      <p:sp>
        <p:nvSpPr>
          <p:cNvPr id="20" name="">
            <a:extLst xmlns:a="http://schemas.openxmlformats.org/drawingml/2006/main">
              <a:ext uri="{FF2B5EF4-FFF2-40B4-BE49-F238E27FC236}">
                <a16:creationId xmlns:a16="http://schemas.microsoft.com/office/drawing/2014/main" id="{D2018016-2F62-4DC6-A959-E37A1AEB9A41}"/>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EXPLORE</a:t>
            </a:r>
          </a:p>
        </p:txBody>
      </p:sp>
      <p:sp>
        <p:nvSpPr>
          <p:cNvPr id="21" name="">
            <a:extLst xmlns:a="http://schemas.openxmlformats.org/drawingml/2006/main">
              <a:ext uri="{FF2B5EF4-FFF2-40B4-BE49-F238E27FC236}">
                <a16:creationId xmlns:a16="http://schemas.microsoft.com/office/drawing/2014/main" id="{E17EF18D-A0BD-4ED8-97D7-2FC022AFE74A}"/>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Small batches and WIP limits</a:t>
            </a:r>
          </a:p>
        </p:txBody>
      </p:sp>
      <p:sp>
        <p:nvSpPr>
          <p:cNvPr id="22" name="">
            <a:extLst xmlns:a="http://schemas.openxmlformats.org/drawingml/2006/main">
              <a:ext uri="{FF2B5EF4-FFF2-40B4-BE49-F238E27FC236}">
                <a16:creationId xmlns:a16="http://schemas.microsoft.com/office/drawing/2014/main" id="{8C16AFCC-6262-440E-99A7-665574C8CC13}"/>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Keep intake within review capacity</a:t>
            </a:r>
          </a:p>
        </p:txBody>
      </p:sp>
      <p:sp>
        <p:nvSpPr>
          <p:cNvPr id="23" name="">
            <a:extLst xmlns:a="http://schemas.openxmlformats.org/drawingml/2006/main">
              <a:ext uri="{FF2B5EF4-FFF2-40B4-BE49-F238E27FC236}">
                <a16:creationId xmlns:a16="http://schemas.microsoft.com/office/drawing/2014/main" id="{D516D8C4-514B-40D4-808C-5026FF1F2DDC}"/>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Specs and living architecture</a:t>
            </a:r>
          </a:p>
        </p:txBody>
      </p:sp>
      <p:sp>
        <p:nvSpPr>
          <p:cNvPr id="24" name="">
            <a:extLst xmlns:a="http://schemas.openxmlformats.org/drawingml/2006/main">
              <a:ext uri="{FF2B5EF4-FFF2-40B4-BE49-F238E27FC236}">
                <a16:creationId xmlns:a16="http://schemas.microsoft.com/office/drawing/2014/main" id="{AE89AECD-5CC6-41C7-9350-9BD08D43C3AF}"/>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code and docs together</a:t>
            </a:r>
          </a:p>
        </p:txBody>
      </p:sp>
      <p:sp>
        <p:nvSpPr>
          <p:cNvPr id="25" name="">
            <a:extLst xmlns:a="http://schemas.openxmlformats.org/drawingml/2006/main">
              <a:ext uri="{FF2B5EF4-FFF2-40B4-BE49-F238E27FC236}">
                <a16:creationId xmlns:a16="http://schemas.microsoft.com/office/drawing/2014/main" id="{BE704809-7A6D-4375-A209-EC7E0CA744D9}"/>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Repository intelligence</a:t>
            </a:r>
          </a:p>
        </p:txBody>
      </p:sp>
      <p:sp>
        <p:nvSpPr>
          <p:cNvPr id="26" name="">
            <a:extLst xmlns:a="http://schemas.openxmlformats.org/drawingml/2006/main">
              <a:ext uri="{FF2B5EF4-FFF2-40B4-BE49-F238E27FC236}">
                <a16:creationId xmlns:a16="http://schemas.microsoft.com/office/drawing/2014/main" id="{0741278B-6AED-4973-A23D-4F989523BB77}"/>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Trace dependencies and owners</a:t>
            </a:r>
          </a:p>
        </p:txBody>
      </p:sp>
      <p:sp>
        <p:nvSpPr>
          <p:cNvPr id="27" name="">
            <a:extLst xmlns:a="http://schemas.openxmlformats.org/drawingml/2006/main">
              <a:ext uri="{FF2B5EF4-FFF2-40B4-BE49-F238E27FC236}">
                <a16:creationId xmlns:a16="http://schemas.microsoft.com/office/drawing/2014/main" id="{785A29A9-9ABC-49B0-887B-1B7DB5A2D12D}"/>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Human recovery drills</a:t>
            </a:r>
          </a:p>
        </p:txBody>
      </p:sp>
      <p:sp>
        <p:nvSpPr>
          <p:cNvPr id="28" name="">
            <a:extLst xmlns:a="http://schemas.openxmlformats.org/drawingml/2006/main">
              <a:ext uri="{FF2B5EF4-FFF2-40B4-BE49-F238E27FC236}">
                <a16:creationId xmlns:a16="http://schemas.microsoft.com/office/drawing/2014/main" id="{52AB8D56-2B4F-48D7-B7B3-B261C5C14F0D}"/>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Diagnose and fix without the agent</a:t>
            </a:r>
          </a:p>
        </p:txBody>
      </p:sp>
      <p:sp>
        <p:nvSpPr>
          <p:cNvPr id="29" name="">
            <a:extLst xmlns:a="http://schemas.openxmlformats.org/drawingml/2006/main">
              <a:ext uri="{FF2B5EF4-FFF2-40B4-BE49-F238E27FC236}">
                <a16:creationId xmlns:a16="http://schemas.microsoft.com/office/drawing/2014/main" id="{D12C9A70-A137-47DD-ADDB-07292839AE1A}"/>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6267078D-CE45-47A4-873F-AC0B8115D33E}"/>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91C68CF1-FE91-46AE-9D4D-C1C263110B68}"/>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Arial"/>
                <a:ea typeface="Arial"/>
                <a:cs typeface="Arial"/>
              </a:defRPr>
            </a:pPr>
            <a:r>
              <a:rPr sz="1725" b="0">
                <a:solidFill>
                  <a:srgbClr val="28C7F7"/>
                </a:solidFill>
                <a:latin typeface="Arial"/>
                <a:ea typeface="Arial"/>
                <a:cs typeface="Arial"/>
              </a:rPr>
              <a:t>Measure delivery and recovery. Next: AI inside the product.</a:t>
            </a:r>
          </a:p>
        </p:txBody>
      </p:sp>
    </p:spTree>
    <p:extLst>
      <p:ext uri="{BB962C8B-B14F-4D97-AF65-F5344CB8AC3E}">
        <p14:creationId xmlns:p14="http://schemas.microsoft.com/office/powerpoint/2010/main" val="25682080"/>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7D4A9916-807B-4BC1-AC8D-988B2CC8607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When Software Starts Thinking</a:t>
            </a:r>
          </a:p>
        </p:txBody>
      </p:sp>
      <p:sp>
        <p:nvSpPr>
          <p:cNvPr id="2" name="">
            <a:extLst xmlns:a="http://schemas.openxmlformats.org/drawingml/2006/main">
              <a:ext uri="{FF2B5EF4-FFF2-40B4-BE49-F238E27FC236}">
                <a16:creationId xmlns:a16="http://schemas.microsoft.com/office/drawing/2014/main" id="{3B058899-FBB5-423F-A0C6-C1DFCFB9BD0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9479A37-5B7A-4B80-B1BC-5002EDCE297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A9C02FD9-95CB-4D5F-BE8B-6F697F12A5C0}"/>
              </a:ext>
            </a:extLst>
          </p:cNvPr>
          <p:cNvSpPr>
            <a:spLocks xmlns:a="http://schemas.openxmlformats.org/drawingml/2006/main" noGrp="1"/>
          </p:cNvSpPr>
          <p:nvPr/>
        </p:nvSpPr>
        <p:spPr>
          <a:xfrm xmlns:a="http://schemas.openxmlformats.org/drawingml/2006/main">
            <a:off x="609600" y="16764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PRODUCT / PO · BA · PROJECT MANAGER · ENGINEERING · QA · OPERATIONS</a:t>
            </a:r>
          </a:p>
        </p:txBody>
      </p:sp>
      <p:sp>
        <p:nvSpPr>
          <p:cNvPr id="5" name="">
            <a:extLst xmlns:a="http://schemas.openxmlformats.org/drawingml/2006/main">
              <a:ext uri="{FF2B5EF4-FFF2-40B4-BE49-F238E27FC236}">
                <a16:creationId xmlns:a16="http://schemas.microsoft.com/office/drawing/2014/main" id="{674BFA17-8F8F-4972-8949-A1FDD17A9A33}"/>
              </a:ext>
            </a:extLst>
          </p:cNvPr>
          <p:cNvSpPr>
            <a:spLocks xmlns:a="http://schemas.openxmlformats.org/drawingml/2006/main" noGrp="1"/>
          </p:cNvSpPr>
          <p:nvPr/>
        </p:nvSpPr>
        <p:spPr>
          <a:xfrm xmlns:a="http://schemas.openxmlformats.org/drawingml/2006/main">
            <a:off x="609600" y="20193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85DE7A3D-E311-40D1-9BDE-6F639CF4572D}"/>
              </a:ext>
            </a:extLst>
          </p:cNvPr>
          <p:cNvSpPr>
            <a:spLocks xmlns:a="http://schemas.openxmlformats.org/drawingml/2006/main" noGrp="1"/>
          </p:cNvSpPr>
          <p:nvPr/>
        </p:nvSpPr>
        <p:spPr>
          <a:xfrm xmlns:a="http://schemas.openxmlformats.org/drawingml/2006/main">
            <a:off x="609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1.0</a:t>
            </a:r>
          </a:p>
        </p:txBody>
      </p:sp>
      <p:sp>
        <p:nvSpPr>
          <p:cNvPr id="7" name="">
            <a:extLst xmlns:a="http://schemas.openxmlformats.org/drawingml/2006/main">
              <a:ext uri="{FF2B5EF4-FFF2-40B4-BE49-F238E27FC236}">
                <a16:creationId xmlns:a16="http://schemas.microsoft.com/office/drawing/2014/main" id="{6662AE8B-7BEB-4BD8-962C-8ED5403EB4CB}"/>
              </a:ext>
            </a:extLst>
          </p:cNvPr>
          <p:cNvSpPr>
            <a:spLocks xmlns:a="http://schemas.openxmlformats.org/drawingml/2006/main" noGrp="1"/>
          </p:cNvSpPr>
          <p:nvPr/>
        </p:nvSpPr>
        <p:spPr>
          <a:xfrm xmlns:a="http://schemas.openxmlformats.org/drawingml/2006/main">
            <a:off x="609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28C7F7"/>
                </a:solidFill>
                <a:latin typeface="Arial"/>
                <a:ea typeface="Arial"/>
                <a:cs typeface="Arial"/>
              </a:defRPr>
            </a:pPr>
            <a:r>
              <a:rPr sz="3900" b="1">
                <a:solidFill>
                  <a:srgbClr val="28C7F7"/>
                </a:solidFill>
                <a:latin typeface="Arial"/>
                <a:ea typeface="Arial"/>
                <a:cs typeface="Arial"/>
              </a:rPr>
              <a:t>y = f(x)</a:t>
            </a:r>
          </a:p>
        </p:txBody>
      </p:sp>
      <p:sp>
        <p:nvSpPr>
          <p:cNvPr id="8" name="">
            <a:extLst xmlns:a="http://schemas.openxmlformats.org/drawingml/2006/main">
              <a:ext uri="{FF2B5EF4-FFF2-40B4-BE49-F238E27FC236}">
                <a16:creationId xmlns:a16="http://schemas.microsoft.com/office/drawing/2014/main" id="{67F46433-3B37-4F27-9C1B-D4FE982F8824}"/>
              </a:ext>
            </a:extLst>
          </p:cNvPr>
          <p:cNvSpPr>
            <a:spLocks xmlns:a="http://schemas.openxmlformats.org/drawingml/2006/main" noGrp="1"/>
          </p:cNvSpPr>
          <p:nvPr/>
        </p:nvSpPr>
        <p:spPr>
          <a:xfrm xmlns:a="http://schemas.openxmlformats.org/drawingml/2006/main">
            <a:off x="6324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with Model Judgment</a:t>
            </a:r>
          </a:p>
        </p:txBody>
      </p:sp>
      <p:sp>
        <p:nvSpPr>
          <p:cNvPr id="9" name="">
            <a:extLst xmlns:a="http://schemas.openxmlformats.org/drawingml/2006/main">
              <a:ext uri="{FF2B5EF4-FFF2-40B4-BE49-F238E27FC236}">
                <a16:creationId xmlns:a16="http://schemas.microsoft.com/office/drawing/2014/main" id="{7DC3B8EE-346A-4588-AF58-4253962D84E2}"/>
              </a:ext>
            </a:extLst>
          </p:cNvPr>
          <p:cNvSpPr>
            <a:spLocks xmlns:a="http://schemas.openxmlformats.org/drawingml/2006/main" noGrp="1"/>
          </p:cNvSpPr>
          <p:nvPr/>
        </p:nvSpPr>
        <p:spPr>
          <a:xfrm xmlns:a="http://schemas.openxmlformats.org/drawingml/2006/main">
            <a:off x="6324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F5B61C"/>
                </a:solidFill>
                <a:latin typeface="Arial"/>
                <a:ea typeface="Arial"/>
                <a:cs typeface="Arial"/>
              </a:defRPr>
            </a:pPr>
            <a:r>
              <a:rPr sz="3900" b="1">
                <a:solidFill>
                  <a:srgbClr val="F5B61C"/>
                </a:solidFill>
                <a:latin typeface="Arial"/>
                <a:ea typeface="Arial"/>
                <a:cs typeface="Arial"/>
              </a:rPr>
              <a:t>y ~ P(y | x)</a:t>
            </a:r>
          </a:p>
        </p:txBody>
      </p:sp>
      <p:sp>
        <p:nvSpPr>
          <p:cNvPr id="10" name="">
            <a:extLst xmlns:a="http://schemas.openxmlformats.org/drawingml/2006/main">
              <a:ext uri="{FF2B5EF4-FFF2-40B4-BE49-F238E27FC236}">
                <a16:creationId xmlns:a16="http://schemas.microsoft.com/office/drawing/2014/main" id="{6682CBC1-6179-491E-B73D-CCAC38272799}"/>
              </a:ext>
            </a:extLst>
          </p:cNvPr>
          <p:cNvSpPr>
            <a:spLocks xmlns:a="http://schemas.openxmlformats.org/drawingml/2006/main" noGrp="1"/>
          </p:cNvSpPr>
          <p:nvPr/>
        </p:nvSpPr>
        <p:spPr>
          <a:xfrm xmlns:a="http://schemas.openxmlformats.org/drawingml/2006/main" flipH="0" flipV="0">
            <a:off x="6096000" y="2781300"/>
            <a:ext cx="0" cy="2476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EAA8B988-62E8-461E-8403-0F47E3C1F61F}"/>
              </a:ext>
            </a:extLst>
          </p:cNvPr>
          <p:cNvSpPr>
            <a:spLocks xmlns:a="http://schemas.openxmlformats.org/drawingml/2006/main" noGrp="1"/>
          </p:cNvSpPr>
          <p:nvPr/>
        </p:nvSpPr>
        <p:spPr>
          <a:xfrm xmlns:a="http://schemas.openxmlformats.org/drawingml/2006/main" flipH="0" flipV="0">
            <a:off x="952500" y="4857750"/>
            <a:ext cx="44767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2" name="">
            <a:extLst xmlns:a="http://schemas.openxmlformats.org/drawingml/2006/main">
              <a:ext uri="{FF2B5EF4-FFF2-40B4-BE49-F238E27FC236}">
                <a16:creationId xmlns:a16="http://schemas.microsoft.com/office/drawing/2014/main" id="{13BC23DB-E9BB-40DE-96FA-2DD819F599F0}"/>
              </a:ext>
            </a:extLst>
          </p:cNvPr>
          <p:cNvSpPr>
            <a:spLocks xmlns:a="http://schemas.openxmlformats.org/drawingml/2006/main" noGrp="1"/>
          </p:cNvSpPr>
          <p:nvPr/>
        </p:nvSpPr>
        <p:spPr>
          <a:xfrm xmlns:a="http://schemas.openxmlformats.org/drawingml/2006/main">
            <a:off x="3086100" y="3905250"/>
            <a:ext cx="247650" cy="9525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3" name="">
            <a:extLst xmlns:a="http://schemas.openxmlformats.org/drawingml/2006/main">
              <a:ext uri="{FF2B5EF4-FFF2-40B4-BE49-F238E27FC236}">
                <a16:creationId xmlns:a16="http://schemas.microsoft.com/office/drawing/2014/main" id="{BC9EF446-CE3C-4054-AB67-D95A7BE4F87A}"/>
              </a:ext>
            </a:extLst>
          </p:cNvPr>
          <p:cNvSpPr>
            <a:spLocks xmlns:a="http://schemas.openxmlformats.org/drawingml/2006/main" noGrp="1"/>
          </p:cNvSpPr>
          <p:nvPr/>
        </p:nvSpPr>
        <p:spPr>
          <a:xfrm xmlns:a="http://schemas.openxmlformats.org/drawingml/2006/main">
            <a:off x="1333500" y="4933950"/>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Arial"/>
                <a:ea typeface="Arial"/>
                <a:cs typeface="Arial"/>
              </a:defRPr>
            </a:pPr>
            <a:r>
              <a:rPr sz="1575" b="1">
                <a:solidFill>
                  <a:srgbClr val="28C7F7"/>
                </a:solidFill>
                <a:latin typeface="Arial"/>
                <a:ea typeface="Arial"/>
                <a:cs typeface="Arial"/>
              </a:rPr>
              <a:t>One fixed result</a:t>
            </a:r>
          </a:p>
        </p:txBody>
      </p:sp>
      <p:sp>
        <p:nvSpPr>
          <p:cNvPr id="14" name="">
            <a:extLst xmlns:a="http://schemas.openxmlformats.org/drawingml/2006/main">
              <a:ext uri="{FF2B5EF4-FFF2-40B4-BE49-F238E27FC236}">
                <a16:creationId xmlns:a16="http://schemas.microsoft.com/office/drawing/2014/main" id="{42278FC3-2C58-4D65-A355-C91A69B2FB59}"/>
              </a:ext>
            </a:extLst>
          </p:cNvPr>
          <p:cNvSpPr>
            <a:spLocks xmlns:a="http://schemas.openxmlformats.org/drawingml/2006/main" noGrp="1"/>
          </p:cNvSpPr>
          <p:nvPr/>
        </p:nvSpPr>
        <p:spPr>
          <a:xfrm xmlns:a="http://schemas.openxmlformats.org/drawingml/2006/main">
            <a:off x="742950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5" name="">
            <a:extLst xmlns:a="http://schemas.openxmlformats.org/drawingml/2006/main">
              <a:ext uri="{FF2B5EF4-FFF2-40B4-BE49-F238E27FC236}">
                <a16:creationId xmlns:a16="http://schemas.microsoft.com/office/drawing/2014/main" id="{3147D1ED-9FA4-4079-AAAF-3F5132771268}"/>
              </a:ext>
            </a:extLst>
          </p:cNvPr>
          <p:cNvSpPr>
            <a:spLocks xmlns:a="http://schemas.openxmlformats.org/drawingml/2006/main" noGrp="1"/>
          </p:cNvSpPr>
          <p:nvPr/>
        </p:nvSpPr>
        <p:spPr>
          <a:xfrm xmlns:a="http://schemas.openxmlformats.org/drawingml/2006/main">
            <a:off x="77057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6" name="">
            <a:extLst xmlns:a="http://schemas.openxmlformats.org/drawingml/2006/main">
              <a:ext uri="{FF2B5EF4-FFF2-40B4-BE49-F238E27FC236}">
                <a16:creationId xmlns:a16="http://schemas.microsoft.com/office/drawing/2014/main" id="{29145015-C179-4869-9B23-681CDAD10002}"/>
              </a:ext>
            </a:extLst>
          </p:cNvPr>
          <p:cNvSpPr>
            <a:spLocks xmlns:a="http://schemas.openxmlformats.org/drawingml/2006/main" noGrp="1"/>
          </p:cNvSpPr>
          <p:nvPr/>
        </p:nvSpPr>
        <p:spPr>
          <a:xfrm xmlns:a="http://schemas.openxmlformats.org/drawingml/2006/main">
            <a:off x="798195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7" name="">
            <a:extLst xmlns:a="http://schemas.openxmlformats.org/drawingml/2006/main">
              <a:ext uri="{FF2B5EF4-FFF2-40B4-BE49-F238E27FC236}">
                <a16:creationId xmlns:a16="http://schemas.microsoft.com/office/drawing/2014/main" id="{038DC3D7-9437-412F-AFDD-47EA4A789393}"/>
              </a:ext>
            </a:extLst>
          </p:cNvPr>
          <p:cNvSpPr>
            <a:spLocks xmlns:a="http://schemas.openxmlformats.org/drawingml/2006/main" noGrp="1"/>
          </p:cNvSpPr>
          <p:nvPr/>
        </p:nvSpPr>
        <p:spPr>
          <a:xfrm xmlns:a="http://schemas.openxmlformats.org/drawingml/2006/main">
            <a:off x="82581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8" name="">
            <a:extLst xmlns:a="http://schemas.openxmlformats.org/drawingml/2006/main">
              <a:ext uri="{FF2B5EF4-FFF2-40B4-BE49-F238E27FC236}">
                <a16:creationId xmlns:a16="http://schemas.microsoft.com/office/drawing/2014/main" id="{D96BF515-4A4F-4629-AF9A-D4E2EFFF65A3}"/>
              </a:ext>
            </a:extLst>
          </p:cNvPr>
          <p:cNvSpPr>
            <a:spLocks xmlns:a="http://schemas.openxmlformats.org/drawingml/2006/main" noGrp="1"/>
          </p:cNvSpPr>
          <p:nvPr/>
        </p:nvSpPr>
        <p:spPr>
          <a:xfrm xmlns:a="http://schemas.openxmlformats.org/drawingml/2006/main">
            <a:off x="853440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9" name="">
            <a:extLst xmlns:a="http://schemas.openxmlformats.org/drawingml/2006/main">
              <a:ext uri="{FF2B5EF4-FFF2-40B4-BE49-F238E27FC236}">
                <a16:creationId xmlns:a16="http://schemas.microsoft.com/office/drawing/2014/main" id="{CF2903F3-8990-49CD-A52E-DF68AE90366D}"/>
              </a:ext>
            </a:extLst>
          </p:cNvPr>
          <p:cNvSpPr>
            <a:spLocks xmlns:a="http://schemas.openxmlformats.org/drawingml/2006/main" noGrp="1"/>
          </p:cNvSpPr>
          <p:nvPr/>
        </p:nvSpPr>
        <p:spPr>
          <a:xfrm xmlns:a="http://schemas.openxmlformats.org/drawingml/2006/main">
            <a:off x="8810625" y="3695700"/>
            <a:ext cx="200025" cy="116205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0" name="">
            <a:extLst xmlns:a="http://schemas.openxmlformats.org/drawingml/2006/main">
              <a:ext uri="{FF2B5EF4-FFF2-40B4-BE49-F238E27FC236}">
                <a16:creationId xmlns:a16="http://schemas.microsoft.com/office/drawing/2014/main" id="{218F26B4-4B99-48FC-93E1-18BD9E41B714}"/>
              </a:ext>
            </a:extLst>
          </p:cNvPr>
          <p:cNvSpPr>
            <a:spLocks xmlns:a="http://schemas.openxmlformats.org/drawingml/2006/main" noGrp="1"/>
          </p:cNvSpPr>
          <p:nvPr/>
        </p:nvSpPr>
        <p:spPr>
          <a:xfrm xmlns:a="http://schemas.openxmlformats.org/drawingml/2006/main">
            <a:off x="908685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1" name="">
            <a:extLst xmlns:a="http://schemas.openxmlformats.org/drawingml/2006/main">
              <a:ext uri="{FF2B5EF4-FFF2-40B4-BE49-F238E27FC236}">
                <a16:creationId xmlns:a16="http://schemas.microsoft.com/office/drawing/2014/main" id="{962993FE-E04A-480B-B3BF-A968C279423A}"/>
              </a:ext>
            </a:extLst>
          </p:cNvPr>
          <p:cNvSpPr>
            <a:spLocks xmlns:a="http://schemas.openxmlformats.org/drawingml/2006/main" noGrp="1"/>
          </p:cNvSpPr>
          <p:nvPr/>
        </p:nvSpPr>
        <p:spPr>
          <a:xfrm xmlns:a="http://schemas.openxmlformats.org/drawingml/2006/main">
            <a:off x="93630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2" name="">
            <a:extLst xmlns:a="http://schemas.openxmlformats.org/drawingml/2006/main">
              <a:ext uri="{FF2B5EF4-FFF2-40B4-BE49-F238E27FC236}">
                <a16:creationId xmlns:a16="http://schemas.microsoft.com/office/drawing/2014/main" id="{97A15C2E-9790-411C-B151-67F2D2CBE346}"/>
              </a:ext>
            </a:extLst>
          </p:cNvPr>
          <p:cNvSpPr>
            <a:spLocks xmlns:a="http://schemas.openxmlformats.org/drawingml/2006/main" noGrp="1"/>
          </p:cNvSpPr>
          <p:nvPr/>
        </p:nvSpPr>
        <p:spPr>
          <a:xfrm xmlns:a="http://schemas.openxmlformats.org/drawingml/2006/main">
            <a:off x="963930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3" name="">
            <a:extLst xmlns:a="http://schemas.openxmlformats.org/drawingml/2006/main">
              <a:ext uri="{FF2B5EF4-FFF2-40B4-BE49-F238E27FC236}">
                <a16:creationId xmlns:a16="http://schemas.microsoft.com/office/drawing/2014/main" id="{34DD153C-4270-4D8A-9877-C10D41AC5550}"/>
              </a:ext>
            </a:extLst>
          </p:cNvPr>
          <p:cNvSpPr>
            <a:spLocks xmlns:a="http://schemas.openxmlformats.org/drawingml/2006/main" noGrp="1"/>
          </p:cNvSpPr>
          <p:nvPr/>
        </p:nvSpPr>
        <p:spPr>
          <a:xfrm xmlns:a="http://schemas.openxmlformats.org/drawingml/2006/main">
            <a:off x="99155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4" name="">
            <a:extLst xmlns:a="http://schemas.openxmlformats.org/drawingml/2006/main">
              <a:ext uri="{FF2B5EF4-FFF2-40B4-BE49-F238E27FC236}">
                <a16:creationId xmlns:a16="http://schemas.microsoft.com/office/drawing/2014/main" id="{599DE302-231F-42EF-974C-562D6EA766AA}"/>
              </a:ext>
            </a:extLst>
          </p:cNvPr>
          <p:cNvSpPr>
            <a:spLocks xmlns:a="http://schemas.openxmlformats.org/drawingml/2006/main" noGrp="1"/>
          </p:cNvSpPr>
          <p:nvPr/>
        </p:nvSpPr>
        <p:spPr>
          <a:xfrm xmlns:a="http://schemas.openxmlformats.org/drawingml/2006/main">
            <a:off x="1019175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5" name="">
            <a:extLst xmlns:a="http://schemas.openxmlformats.org/drawingml/2006/main">
              <a:ext uri="{FF2B5EF4-FFF2-40B4-BE49-F238E27FC236}">
                <a16:creationId xmlns:a16="http://schemas.microsoft.com/office/drawing/2014/main" id="{77CB2A2E-2D81-4A95-A1B1-711078A13840}"/>
              </a:ext>
            </a:extLst>
          </p:cNvPr>
          <p:cNvSpPr>
            <a:spLocks xmlns:a="http://schemas.openxmlformats.org/drawingml/2006/main" noGrp="1"/>
          </p:cNvSpPr>
          <p:nvPr/>
        </p:nvSpPr>
        <p:spPr>
          <a:xfrm xmlns:a="http://schemas.openxmlformats.org/drawingml/2006/main" flipH="0" flipV="0">
            <a:off x="6619875" y="4857750"/>
            <a:ext cx="4867275"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7CB4C7D1-C6B8-45FF-AD8B-340E8163DB21}"/>
              </a:ext>
            </a:extLst>
          </p:cNvPr>
          <p:cNvSpPr>
            <a:spLocks xmlns:a="http://schemas.openxmlformats.org/drawingml/2006/main" noGrp="1"/>
          </p:cNvSpPr>
          <p:nvPr/>
        </p:nvSpPr>
        <p:spPr>
          <a:xfrm xmlns:a="http://schemas.openxmlformats.org/drawingml/2006/main">
            <a:off x="65436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7" name="">
            <a:extLst xmlns:a="http://schemas.openxmlformats.org/drawingml/2006/main">
              <a:ext uri="{FF2B5EF4-FFF2-40B4-BE49-F238E27FC236}">
                <a16:creationId xmlns:a16="http://schemas.microsoft.com/office/drawing/2014/main" id="{44896F84-AE26-4916-B888-4EAB94585173}"/>
              </a:ext>
            </a:extLst>
          </p:cNvPr>
          <p:cNvSpPr>
            <a:spLocks xmlns:a="http://schemas.openxmlformats.org/drawingml/2006/main" noGrp="1"/>
          </p:cNvSpPr>
          <p:nvPr/>
        </p:nvSpPr>
        <p:spPr>
          <a:xfrm xmlns:a="http://schemas.openxmlformats.org/drawingml/2006/main">
            <a:off x="7991475" y="496252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28C7F7"/>
                </a:solidFill>
                <a:latin typeface="Arial"/>
                <a:ea typeface="Arial"/>
                <a:cs typeface="Arial"/>
              </a:defRPr>
            </a:pPr>
            <a:r>
              <a:rPr sz="1500" b="1">
                <a:solidFill>
                  <a:srgbClr val="28C7F7"/>
                </a:solidFill>
                <a:latin typeface="Arial"/>
                <a:ea typeface="Arial"/>
                <a:cs typeface="Arial"/>
              </a:rPr>
              <a:t>Useful variation</a:t>
            </a:r>
          </a:p>
        </p:txBody>
      </p:sp>
      <p:sp>
        <p:nvSpPr>
          <p:cNvPr id="28" name="">
            <a:extLst xmlns:a="http://schemas.openxmlformats.org/drawingml/2006/main">
              <a:ext uri="{FF2B5EF4-FFF2-40B4-BE49-F238E27FC236}">
                <a16:creationId xmlns:a16="http://schemas.microsoft.com/office/drawing/2014/main" id="{5C2F54FB-B1C2-4E92-8D02-389A8D3962C2}"/>
              </a:ext>
            </a:extLst>
          </p:cNvPr>
          <p:cNvSpPr>
            <a:spLocks xmlns:a="http://schemas.openxmlformats.org/drawingml/2006/main" noGrp="1"/>
          </p:cNvSpPr>
          <p:nvPr/>
        </p:nvSpPr>
        <p:spPr>
          <a:xfrm xmlns:a="http://schemas.openxmlformats.org/drawingml/2006/main">
            <a:off x="102012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9" name="">
            <a:extLst xmlns:a="http://schemas.openxmlformats.org/drawingml/2006/main">
              <a:ext uri="{FF2B5EF4-FFF2-40B4-BE49-F238E27FC236}">
                <a16:creationId xmlns:a16="http://schemas.microsoft.com/office/drawing/2014/main" id="{7F330962-4460-4D05-8331-FF4F6D7BC4B1}"/>
              </a:ext>
            </a:extLst>
          </p:cNvPr>
          <p:cNvSpPr>
            <a:spLocks xmlns:a="http://schemas.openxmlformats.org/drawingml/2006/main" noGrp="1"/>
          </p:cNvSpPr>
          <p:nvPr/>
        </p:nvSpPr>
        <p:spPr>
          <a:xfrm xmlns:a="http://schemas.openxmlformats.org/drawingml/2006/main">
            <a:off x="609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Same input, state and version: same result.</a:t>
            </a:r>
          </a:p>
        </p:txBody>
      </p:sp>
      <p:sp>
        <p:nvSpPr>
          <p:cNvPr id="30" name="">
            <a:extLst xmlns:a="http://schemas.openxmlformats.org/drawingml/2006/main">
              <a:ext uri="{FF2B5EF4-FFF2-40B4-BE49-F238E27FC236}">
                <a16:creationId xmlns:a16="http://schemas.microsoft.com/office/drawing/2014/main" id="{496A7439-582D-4DD2-88BA-A78DEF6C6DF5}"/>
              </a:ext>
            </a:extLst>
          </p:cNvPr>
          <p:cNvSpPr>
            <a:spLocks xmlns:a="http://schemas.openxmlformats.org/drawingml/2006/main" noGrp="1"/>
          </p:cNvSpPr>
          <p:nvPr/>
        </p:nvSpPr>
        <p:spPr>
          <a:xfrm xmlns:a="http://schemas.openxmlformats.org/drawingml/2006/main">
            <a:off x="6324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The same request can produce different results.</a:t>
            </a:r>
          </a:p>
        </p:txBody>
      </p:sp>
      <p:sp>
        <p:nvSpPr>
          <p:cNvPr id="31" name="">
            <a:extLst xmlns:a="http://schemas.openxmlformats.org/drawingml/2006/main">
              <a:ext uri="{FF2B5EF4-FFF2-40B4-BE49-F238E27FC236}">
                <a16:creationId xmlns:a16="http://schemas.microsoft.com/office/drawing/2014/main" id="{9ED3F7DA-8C1C-4AF3-B009-DFC86E0D89C9}"/>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2FD08073-77FB-48E2-871F-6EBDF6CA50D8}"/>
              </a:ext>
            </a:extLst>
          </p:cNvPr>
          <p:cNvSpPr>
            <a:spLocks xmlns:a="http://schemas.openxmlformats.org/drawingml/2006/main" noGrp="1"/>
          </p:cNvSpPr>
          <p:nvPr/>
        </p:nvSpPr>
        <p:spPr>
          <a:xfrm xmlns:a="http://schemas.openxmlformats.org/drawingml/2006/main">
            <a:off x="609600" y="6029325"/>
            <a:ext cx="106489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IT assistant: help employees recover access</a:t>
            </a:r>
          </a:p>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using approved guidance and permitted actions.</a:t>
            </a:r>
          </a:p>
        </p:txBody>
      </p:sp>
      <p:sp>
        <p:nvSpPr>
          <p:cNvPr id="33" name="">
            <a:extLst xmlns:a="http://schemas.openxmlformats.org/drawingml/2006/main">
              <a:ext uri="{FF2B5EF4-FFF2-40B4-BE49-F238E27FC236}">
                <a16:creationId xmlns:a16="http://schemas.microsoft.com/office/drawing/2014/main" id="{52B9E9B6-F22A-456E-8923-FDD1B86BEDE1}"/>
              </a:ext>
            </a:extLst>
          </p:cNvPr>
          <p:cNvSpPr>
            <a:spLocks xmlns:a="http://schemas.openxmlformats.org/drawingml/2006/main" noGrp="1"/>
          </p:cNvSpPr>
          <p:nvPr/>
        </p:nvSpPr>
        <p:spPr>
          <a:xfrm xmlns:a="http://schemas.openxmlformats.org/drawingml/2006/main">
            <a:off x="609600" y="57721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Same request, different responses. Context, model and configuration also matter.</a:t>
            </a:r>
          </a:p>
        </p:txBody>
      </p:sp>
      <p:sp>
        <p:nvSpPr>
          <p:cNvPr id="34" name="">
            <a:extLst xmlns:a="http://schemas.openxmlformats.org/drawingml/2006/main">
              <a:ext uri="{FF2B5EF4-FFF2-40B4-BE49-F238E27FC236}">
                <a16:creationId xmlns:a16="http://schemas.microsoft.com/office/drawing/2014/main" id="{62F51EE3-E9BF-4EE7-A496-170F4BAFC4D8}"/>
              </a:ext>
            </a:extLst>
          </p:cNvPr>
          <p:cNvSpPr>
            <a:spLocks xmlns:a="http://schemas.openxmlformats.org/drawingml/2006/main" noGrp="1"/>
          </p:cNvSpPr>
          <p:nvPr/>
        </p:nvSpPr>
        <p:spPr>
          <a:xfrm xmlns:a="http://schemas.openxmlformats.org/drawingml/2006/main">
            <a:off x="609600" y="6619875"/>
            <a:ext cx="106489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distribution, not measured data. Shape depends on the task.</a:t>
            </a:r>
          </a:p>
        </p:txBody>
      </p:sp>
    </p:spTree>
    <p:extLst>
      <p:ext uri="{BB962C8B-B14F-4D97-AF65-F5344CB8AC3E}">
        <p14:creationId xmlns:p14="http://schemas.microsoft.com/office/powerpoint/2010/main" val="1353216935"/>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E4E76F4C-1DF2-4BB5-9248-A977AE64A88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Requirements Become Boundaries</a:t>
            </a:r>
          </a:p>
        </p:txBody>
      </p:sp>
      <p:sp>
        <p:nvSpPr>
          <p:cNvPr id="2" name="">
            <a:extLst xmlns:a="http://schemas.openxmlformats.org/drawingml/2006/main">
              <a:ext uri="{FF2B5EF4-FFF2-40B4-BE49-F238E27FC236}">
                <a16:creationId xmlns:a16="http://schemas.microsoft.com/office/drawing/2014/main" id="{6067BCF4-2A11-4EBA-95F6-050A2A9BE8D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0BC6DF0-EC9E-4962-A05B-1CEDAC8DAE2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44F63559-50D0-493C-87B1-F87B51B0D6C0}"/>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MANAGER / PRODUCT OWNER · BA · PROJECT MANAGER</a:t>
            </a:r>
          </a:p>
        </p:txBody>
      </p:sp>
      <p:sp>
        <p:nvSpPr>
          <p:cNvPr id="5" name="">
            <a:extLst xmlns:a="http://schemas.openxmlformats.org/drawingml/2006/main">
              <a:ext uri="{FF2B5EF4-FFF2-40B4-BE49-F238E27FC236}">
                <a16:creationId xmlns:a16="http://schemas.microsoft.com/office/drawing/2014/main" id="{ADD60BAE-B95C-45A3-A3E8-61D999BBDD7D}"/>
              </a:ext>
            </a:extLst>
          </p:cNvPr>
          <p:cNvSpPr>
            <a:spLocks xmlns:a="http://schemas.openxmlformats.org/drawingml/2006/main" noGrp="1"/>
          </p:cNvSpPr>
          <p:nvPr/>
        </p:nvSpPr>
        <p:spPr>
          <a:xfrm xmlns:a="http://schemas.openxmlformats.org/drawingml/2006/main" flipH="0" flipV="0">
            <a:off x="4838700" y="2095500"/>
            <a:ext cx="0" cy="2095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BB5C235B-A89A-463A-8D9F-1B919B055C88}"/>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Arial"/>
                <a:ea typeface="Arial"/>
                <a:cs typeface="Arial"/>
              </a:defRPr>
            </a:pPr>
            <a:r>
              <a:rPr sz="1425" b="1">
                <a:solidFill>
                  <a:srgbClr val="ADB8C5"/>
                </a:solidFill>
                <a:latin typeface="Arial"/>
                <a:ea typeface="Arial"/>
                <a:cs typeface="Arial"/>
              </a:rPr>
              <a:t>SPECIFIED FLOW · STILL REQUIRED</a:t>
            </a:r>
          </a:p>
        </p:txBody>
      </p:sp>
      <p:sp>
        <p:nvSpPr>
          <p:cNvPr id="7" name="">
            <a:extLst xmlns:a="http://schemas.openxmlformats.org/drawingml/2006/main">
              <a:ext uri="{FF2B5EF4-FFF2-40B4-BE49-F238E27FC236}">
                <a16:creationId xmlns:a16="http://schemas.microsoft.com/office/drawing/2014/main" id="{4DCEA189-588B-49DB-A68C-A1A3FF358936}"/>
              </a:ext>
            </a:extLst>
          </p:cNvPr>
          <p:cNvSpPr>
            <a:spLocks xmlns:a="http://schemas.openxmlformats.org/drawingml/2006/main" noGrp="1"/>
          </p:cNvSpPr>
          <p:nvPr/>
        </p:nvSpPr>
        <p:spPr>
          <a:xfrm xmlns:a="http://schemas.openxmlformats.org/drawingml/2006/main">
            <a:off x="609600" y="24669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847FC87E-7A3E-4F03-894C-5D3FA46018D2}"/>
              </a:ext>
            </a:extLst>
          </p:cNvPr>
          <p:cNvSpPr>
            <a:spLocks xmlns:a="http://schemas.openxmlformats.org/drawingml/2006/main" noGrp="1"/>
          </p:cNvSpPr>
          <p:nvPr/>
        </p:nvSpPr>
        <p:spPr>
          <a:xfrm xmlns:a="http://schemas.openxmlformats.org/drawingml/2006/main">
            <a:off x="723900" y="25431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Request</a:t>
            </a:r>
          </a:p>
        </p:txBody>
      </p:sp>
      <p:sp>
        <p:nvSpPr>
          <p:cNvPr id="9" name="">
            <a:extLst xmlns:a="http://schemas.openxmlformats.org/drawingml/2006/main">
              <a:ext uri="{FF2B5EF4-FFF2-40B4-BE49-F238E27FC236}">
                <a16:creationId xmlns:a16="http://schemas.microsoft.com/office/drawing/2014/main" id="{3014BE53-7012-4C79-934D-3D7F68829EAD}"/>
              </a:ext>
            </a:extLst>
          </p:cNvPr>
          <p:cNvSpPr>
            <a:spLocks xmlns:a="http://schemas.openxmlformats.org/drawingml/2006/main" noGrp="1"/>
          </p:cNvSpPr>
          <p:nvPr/>
        </p:nvSpPr>
        <p:spPr>
          <a:xfrm xmlns:a="http://schemas.openxmlformats.org/drawingml/2006/main">
            <a:off x="2876550" y="24669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57D2809C-A2A2-48B4-B194-0B13C952A30D}"/>
              </a:ext>
            </a:extLst>
          </p:cNvPr>
          <p:cNvSpPr>
            <a:spLocks xmlns:a="http://schemas.openxmlformats.org/drawingml/2006/main" noGrp="1"/>
          </p:cNvSpPr>
          <p:nvPr/>
        </p:nvSpPr>
        <p:spPr>
          <a:xfrm xmlns:a="http://schemas.openxmlformats.org/drawingml/2006/main">
            <a:off x="2990850" y="25431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Verify user</a:t>
            </a:r>
          </a:p>
        </p:txBody>
      </p:sp>
      <p:cxnSp>
        <p:nvCxnSpPr>
          <p:cNvPr id="56" name=""/>
          <p:cNvCxnSpPr>
            <a:stCxn xmlns:a="http://schemas.openxmlformats.org/drawingml/2006/main" id="7" idx="3"/>
            <a:endCxn xmlns:a="http://schemas.openxmlformats.org/drawingml/2006/main" id="9" idx="1"/>
          </p:cNvCxnSpPr>
          <p:nvPr/>
        </p:nvCxnSpPr>
        <p:spPr>
          <a:xfrm xmlns:a="http://schemas.openxmlformats.org/drawingml/2006/main">
            <a:off x="2219325" y="27432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4F0812CE-F55F-4725-9762-480D3F944E55}"/>
              </a:ext>
            </a:extLst>
          </p:cNvPr>
          <p:cNvSpPr>
            <a:spLocks xmlns:a="http://schemas.openxmlformats.org/drawingml/2006/main" noGrp="1"/>
          </p:cNvSpPr>
          <p:nvPr/>
        </p:nvSpPr>
        <p:spPr>
          <a:xfrm xmlns:a="http://schemas.openxmlformats.org/drawingml/2006/main">
            <a:off x="609600" y="3143250"/>
            <a:ext cx="4000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Exact permissions and transitions</a:t>
            </a:r>
          </a:p>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still apply to the IT assistant.</a:t>
            </a:r>
          </a:p>
        </p:txBody>
      </p:sp>
      <p:sp>
        <p:nvSpPr>
          <p:cNvPr id="13" name="">
            <a:extLst xmlns:a="http://schemas.openxmlformats.org/drawingml/2006/main">
              <a:ext uri="{FF2B5EF4-FFF2-40B4-BE49-F238E27FC236}">
                <a16:creationId xmlns:a16="http://schemas.microsoft.com/office/drawing/2014/main" id="{BBB3827B-88E2-4830-9D43-E81F6756369B}"/>
              </a:ext>
            </a:extLst>
          </p:cNvPr>
          <p:cNvSpPr>
            <a:spLocks xmlns:a="http://schemas.openxmlformats.org/drawingml/2006/main" noGrp="1"/>
          </p:cNvSpPr>
          <p:nvPr/>
        </p:nvSpPr>
        <p:spPr>
          <a:xfrm xmlns:a="http://schemas.openxmlformats.org/drawingml/2006/main">
            <a:off x="609600" y="3781425"/>
            <a:ext cx="4000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Product / PO: value and priorities.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BA: testable acceptance examples.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Project Manager: timely decisions.</a:t>
            </a:r>
          </a:p>
        </p:txBody>
      </p:sp>
      <p:sp>
        <p:nvSpPr>
          <p:cNvPr id="14" name="">
            <a:extLst xmlns:a="http://schemas.openxmlformats.org/drawingml/2006/main">
              <a:ext uri="{FF2B5EF4-FFF2-40B4-BE49-F238E27FC236}">
                <a16:creationId xmlns:a16="http://schemas.microsoft.com/office/drawing/2014/main" id="{88052B56-5E69-4CC7-83EE-6B073A9F938B}"/>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SPACE OF POSSIBLE BEHAVIORS</a:t>
            </a:r>
          </a:p>
        </p:txBody>
      </p:sp>
      <p:sp>
        <p:nvSpPr>
          <p:cNvPr id="15" name="">
            <a:extLst xmlns:a="http://schemas.openxmlformats.org/drawingml/2006/main">
              <a:ext uri="{FF2B5EF4-FFF2-40B4-BE49-F238E27FC236}">
                <a16:creationId xmlns:a16="http://schemas.microsoft.com/office/drawing/2014/main" id="{6036FA96-2424-45E5-A2D0-AD0E92C77B33}"/>
              </a:ext>
            </a:extLst>
          </p:cNvPr>
          <p:cNvSpPr>
            <a:spLocks xmlns:a="http://schemas.openxmlformats.org/drawingml/2006/main" noGrp="1"/>
          </p:cNvSpPr>
          <p:nvPr/>
        </p:nvSpPr>
        <p:spPr>
          <a:xfrm xmlns:a="http://schemas.openxmlformats.org/drawingml/2006/main" flipH="0" flipV="0">
            <a:off x="5305425" y="26574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5D423377-7CE3-49D7-AFDE-5A9D3E3D6B7A}"/>
              </a:ext>
            </a:extLst>
          </p:cNvPr>
          <p:cNvSpPr>
            <a:spLocks xmlns:a="http://schemas.openxmlformats.org/drawingml/2006/main" noGrp="1"/>
          </p:cNvSpPr>
          <p:nvPr/>
        </p:nvSpPr>
        <p:spPr>
          <a:xfrm xmlns:a="http://schemas.openxmlformats.org/drawingml/2006/main" flipH="0" flipV="0">
            <a:off x="5305425" y="29622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AB701AEC-4CE6-4E06-9DDA-140500BE4370}"/>
              </a:ext>
            </a:extLst>
          </p:cNvPr>
          <p:cNvSpPr>
            <a:spLocks xmlns:a="http://schemas.openxmlformats.org/drawingml/2006/main" noGrp="1"/>
          </p:cNvSpPr>
          <p:nvPr/>
        </p:nvSpPr>
        <p:spPr>
          <a:xfrm xmlns:a="http://schemas.openxmlformats.org/drawingml/2006/main" flipH="0" flipV="0">
            <a:off x="5305425" y="32670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9E1A7AB7-585D-42C8-BB5E-3C67A46C7F55}"/>
              </a:ext>
            </a:extLst>
          </p:cNvPr>
          <p:cNvSpPr>
            <a:spLocks xmlns:a="http://schemas.openxmlformats.org/drawingml/2006/main" noGrp="1"/>
          </p:cNvSpPr>
          <p:nvPr/>
        </p:nvSpPr>
        <p:spPr>
          <a:xfrm xmlns:a="http://schemas.openxmlformats.org/drawingml/2006/main" flipH="0" flipV="0">
            <a:off x="5305425" y="35718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21E0FF3C-4C86-4AC3-9FA2-01EDB1E90AB3}"/>
              </a:ext>
            </a:extLst>
          </p:cNvPr>
          <p:cNvSpPr>
            <a:spLocks xmlns:a="http://schemas.openxmlformats.org/drawingml/2006/main" noGrp="1"/>
          </p:cNvSpPr>
          <p:nvPr/>
        </p:nvSpPr>
        <p:spPr>
          <a:xfrm xmlns:a="http://schemas.openxmlformats.org/drawingml/2006/main" flipH="0" flipV="0">
            <a:off x="5305425" y="38766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7AF4E0A8-C7DC-4724-8770-D7CB1737C1CA}"/>
              </a:ext>
            </a:extLst>
          </p:cNvPr>
          <p:cNvSpPr>
            <a:spLocks xmlns:a="http://schemas.openxmlformats.org/drawingml/2006/main" noGrp="1"/>
          </p:cNvSpPr>
          <p:nvPr/>
        </p:nvSpPr>
        <p:spPr>
          <a:xfrm xmlns:a="http://schemas.openxmlformats.org/drawingml/2006/main" flipH="0" flipV="1">
            <a:off x="5305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1" name="">
            <a:extLst xmlns:a="http://schemas.openxmlformats.org/drawingml/2006/main">
              <a:ext uri="{FF2B5EF4-FFF2-40B4-BE49-F238E27FC236}">
                <a16:creationId xmlns:a16="http://schemas.microsoft.com/office/drawing/2014/main" id="{6D1F18B1-AD48-4D8E-8591-16B1C8E0D7D9}"/>
              </a:ext>
            </a:extLst>
          </p:cNvPr>
          <p:cNvSpPr>
            <a:spLocks xmlns:a="http://schemas.openxmlformats.org/drawingml/2006/main" noGrp="1"/>
          </p:cNvSpPr>
          <p:nvPr/>
        </p:nvSpPr>
        <p:spPr>
          <a:xfrm xmlns:a="http://schemas.openxmlformats.org/drawingml/2006/main" flipH="0" flipV="1">
            <a:off x="6353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01186795-ED33-477C-9EF1-52080670B4D2}"/>
              </a:ext>
            </a:extLst>
          </p:cNvPr>
          <p:cNvSpPr>
            <a:spLocks xmlns:a="http://schemas.openxmlformats.org/drawingml/2006/main" noGrp="1"/>
          </p:cNvSpPr>
          <p:nvPr/>
        </p:nvSpPr>
        <p:spPr>
          <a:xfrm xmlns:a="http://schemas.openxmlformats.org/drawingml/2006/main" flipH="0" flipV="1">
            <a:off x="74009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12B9FF5B-A9DA-4278-8DBF-DE47E505F3E0}"/>
              </a:ext>
            </a:extLst>
          </p:cNvPr>
          <p:cNvSpPr>
            <a:spLocks xmlns:a="http://schemas.openxmlformats.org/drawingml/2006/main" noGrp="1"/>
          </p:cNvSpPr>
          <p:nvPr/>
        </p:nvSpPr>
        <p:spPr>
          <a:xfrm xmlns:a="http://schemas.openxmlformats.org/drawingml/2006/main" flipH="0" flipV="1">
            <a:off x="84486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2A83C68C-5CBC-430B-BA06-DA67666147AE}"/>
              </a:ext>
            </a:extLst>
          </p:cNvPr>
          <p:cNvSpPr>
            <a:spLocks xmlns:a="http://schemas.openxmlformats.org/drawingml/2006/main" noGrp="1"/>
          </p:cNvSpPr>
          <p:nvPr/>
        </p:nvSpPr>
        <p:spPr>
          <a:xfrm xmlns:a="http://schemas.openxmlformats.org/drawingml/2006/main" flipH="0" flipV="1">
            <a:off x="9496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69FB44D3-A51B-49E3-90A7-B2E98555936E}"/>
              </a:ext>
            </a:extLst>
          </p:cNvPr>
          <p:cNvSpPr>
            <a:spLocks xmlns:a="http://schemas.openxmlformats.org/drawingml/2006/main" noGrp="1"/>
          </p:cNvSpPr>
          <p:nvPr/>
        </p:nvSpPr>
        <p:spPr>
          <a:xfrm xmlns:a="http://schemas.openxmlformats.org/drawingml/2006/main" flipH="0" flipV="1">
            <a:off x="10544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6" name="">
            <a:extLst xmlns:a="http://schemas.openxmlformats.org/drawingml/2006/main">
              <a:ext uri="{FF2B5EF4-FFF2-40B4-BE49-F238E27FC236}">
                <a16:creationId xmlns:a16="http://schemas.microsoft.com/office/drawing/2014/main" id="{D329E790-ED69-4A07-8C6E-8C298FD89336}"/>
              </a:ext>
            </a:extLst>
          </p:cNvPr>
          <p:cNvSpPr>
            <a:spLocks xmlns:a="http://schemas.openxmlformats.org/drawingml/2006/main" noGrp="1"/>
          </p:cNvSpPr>
          <p:nvPr/>
        </p:nvSpPr>
        <p:spPr>
          <a:xfrm xmlns:a="http://schemas.openxmlformats.org/drawingml/2006/main" flipH="0" flipV="0">
            <a:off x="5305425" y="3914775"/>
            <a:ext cx="61722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EBBBCC56-95E6-4438-8141-64BAD4BE43D1}"/>
              </a:ext>
            </a:extLst>
          </p:cNvPr>
          <p:cNvSpPr>
            <a:spLocks xmlns:a="http://schemas.openxmlformats.org/drawingml/2006/main" noGrp="1"/>
          </p:cNvSpPr>
          <p:nvPr/>
        </p:nvSpPr>
        <p:spPr>
          <a:xfrm xmlns:a="http://schemas.openxmlformats.org/drawingml/2006/main" flipH="0" flipV="1">
            <a:off x="5305425" y="2505075"/>
            <a:ext cx="0" cy="140970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20DEB021-9ECC-4680-8E85-36F6CD4F927E}"/>
              </a:ext>
            </a:extLst>
          </p:cNvPr>
          <p:cNvSpPr>
            <a:spLocks xmlns:a="http://schemas.openxmlformats.org/drawingml/2006/main" noGrp="1"/>
          </p:cNvSpPr>
          <p:nvPr/>
        </p:nvSpPr>
        <p:spPr>
          <a:xfrm xmlns:a="http://schemas.openxmlformats.org/drawingml/2006/main">
            <a:off x="5857875" y="2638425"/>
            <a:ext cx="4476750" cy="1143000"/>
          </a:xfrm>
          <a:custGeom xmlns:a="http://schemas.openxmlformats.org/drawingml/2006/main">
            <a:pathLst>
              <a:path w="4476750" h="1143000">
                <a:moveTo>
                  <a:pt x="419100" y="0"/>
                </a:moveTo>
                <a:lnTo>
                  <a:pt x="4476750" y="0"/>
                </a:lnTo>
                <a:lnTo>
                  <a:pt x="4057650" y="1143000"/>
                </a:lnTo>
                <a:lnTo>
                  <a:pt x="0" y="1143000"/>
                </a:lnTo>
                <a:close/>
              </a:path>
            </a:pathLst>
          </a:custGeom>
          <a:solidFill xmlns:a="http://schemas.openxmlformats.org/drawingml/2006/main">
            <a:srgbClr val="24231B"/>
          </a:solidFill>
          <a:ln xmlns:a="http://schemas.openxmlformats.org/drawingml/2006/main" w="19050">
            <a:solidFill>
              <a:srgbClr val="F5B61C"/>
            </a:solidFill>
            <a:prstDash val="solid"/>
          </a:ln>
        </p:spPr>
      </p:sp>
      <p:sp>
        <p:nvSpPr>
          <p:cNvPr id="29" name="">
            <a:extLst xmlns:a="http://schemas.openxmlformats.org/drawingml/2006/main">
              <a:ext uri="{FF2B5EF4-FFF2-40B4-BE49-F238E27FC236}">
                <a16:creationId xmlns:a16="http://schemas.microsoft.com/office/drawing/2014/main" id="{72D9297F-4B88-43DF-897F-0588F60930A7}"/>
              </a:ext>
            </a:extLst>
          </p:cNvPr>
          <p:cNvSpPr>
            <a:spLocks xmlns:a="http://schemas.openxmlformats.org/drawingml/2006/main" noGrp="1"/>
          </p:cNvSpPr>
          <p:nvPr/>
        </p:nvSpPr>
        <p:spPr>
          <a:xfrm xmlns:a="http://schemas.openxmlformats.org/drawingml/2006/main">
            <a:off x="6677025" y="2905125"/>
            <a:ext cx="3067050" cy="762000"/>
          </a:xfrm>
          <a:custGeom xmlns:a="http://schemas.openxmlformats.org/drawingml/2006/main">
            <a:pathLst>
              <a:path w="3067050" h="762000">
                <a:moveTo>
                  <a:pt x="219075" y="0"/>
                </a:moveTo>
                <a:lnTo>
                  <a:pt x="3067050" y="0"/>
                </a:lnTo>
                <a:lnTo>
                  <a:pt x="2847975" y="762000"/>
                </a:lnTo>
                <a:lnTo>
                  <a:pt x="0" y="762000"/>
                </a:lnTo>
                <a:close/>
              </a:path>
            </a:pathLst>
          </a:custGeom>
          <a:solidFill xmlns:a="http://schemas.openxmlformats.org/drawingml/2006/main">
            <a:srgbClr val="122934"/>
          </a:solidFill>
          <a:ln xmlns:a="http://schemas.openxmlformats.org/drawingml/2006/main" w="19050">
            <a:solidFill>
              <a:srgbClr val="28C7F7"/>
            </a:solidFill>
            <a:prstDash val="solid"/>
          </a:ln>
        </p:spPr>
      </p:sp>
      <p:sp>
        <p:nvSpPr>
          <p:cNvPr id="30" name="">
            <a:extLst xmlns:a="http://schemas.openxmlformats.org/drawingml/2006/main">
              <a:ext uri="{FF2B5EF4-FFF2-40B4-BE49-F238E27FC236}">
                <a16:creationId xmlns:a16="http://schemas.microsoft.com/office/drawing/2014/main" id="{73886EF3-4E18-4D04-9234-D9F63543AA6C}"/>
              </a:ext>
            </a:extLst>
          </p:cNvPr>
          <p:cNvSpPr>
            <a:spLocks xmlns:a="http://schemas.openxmlformats.org/drawingml/2006/main" noGrp="1"/>
          </p:cNvSpPr>
          <p:nvPr/>
        </p:nvSpPr>
        <p:spPr>
          <a:xfrm xmlns:a="http://schemas.openxmlformats.org/drawingml/2006/main">
            <a:off x="7105650" y="2371725"/>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Approved tolerance boundary</a:t>
            </a:r>
          </a:p>
        </p:txBody>
      </p:sp>
      <p:sp>
        <p:nvSpPr>
          <p:cNvPr id="31" name="">
            <a:extLst xmlns:a="http://schemas.openxmlformats.org/drawingml/2006/main">
              <a:ext uri="{FF2B5EF4-FFF2-40B4-BE49-F238E27FC236}">
                <a16:creationId xmlns:a16="http://schemas.microsoft.com/office/drawing/2014/main" id="{E7A541C5-A2E1-42E8-862E-239607BEA8F9}"/>
              </a:ext>
            </a:extLst>
          </p:cNvPr>
          <p:cNvSpPr>
            <a:spLocks xmlns:a="http://schemas.openxmlformats.org/drawingml/2006/main" noGrp="1"/>
          </p:cNvSpPr>
          <p:nvPr/>
        </p:nvSpPr>
        <p:spPr>
          <a:xfrm xmlns:a="http://schemas.openxmlformats.org/drawingml/2006/main">
            <a:off x="6896100" y="295275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28C7F7"/>
                </a:solidFill>
                <a:latin typeface="Arial"/>
                <a:ea typeface="Arial"/>
                <a:cs typeface="Arial"/>
              </a:defRPr>
            </a:pPr>
            <a:r>
              <a:rPr sz="1350" b="1">
                <a:solidFill>
                  <a:srgbClr val="28C7F7"/>
                </a:solidFill>
                <a:latin typeface="Arial"/>
                <a:ea typeface="Arial"/>
                <a:cs typeface="Arial"/>
              </a:rPr>
              <a:t>Target operating region</a:t>
            </a:r>
          </a:p>
        </p:txBody>
      </p:sp>
      <p:sp>
        <p:nvSpPr>
          <p:cNvPr id="32" name="">
            <a:extLst xmlns:a="http://schemas.openxmlformats.org/drawingml/2006/main">
              <a:ext uri="{FF2B5EF4-FFF2-40B4-BE49-F238E27FC236}">
                <a16:creationId xmlns:a16="http://schemas.microsoft.com/office/drawing/2014/main" id="{F05FD0C3-07C3-4A0C-A36A-F8D96FF5216A}"/>
              </a:ext>
            </a:extLst>
          </p:cNvPr>
          <p:cNvSpPr>
            <a:spLocks xmlns:a="http://schemas.openxmlformats.org/drawingml/2006/main" noGrp="1"/>
          </p:cNvSpPr>
          <p:nvPr/>
        </p:nvSpPr>
        <p:spPr>
          <a:xfrm xmlns:a="http://schemas.openxmlformats.org/drawingml/2006/main">
            <a:off x="6953250" y="322897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Approved recovery steps</a:t>
            </a:r>
          </a:p>
        </p:txBody>
      </p:sp>
      <p:sp>
        <p:nvSpPr>
          <p:cNvPr id="33" name="">
            <a:extLst xmlns:a="http://schemas.openxmlformats.org/drawingml/2006/main">
              <a:ext uri="{FF2B5EF4-FFF2-40B4-BE49-F238E27FC236}">
                <a16:creationId xmlns:a16="http://schemas.microsoft.com/office/drawing/2014/main" id="{66960267-5FE8-43D6-883E-F5A1E184C39E}"/>
              </a:ext>
            </a:extLst>
          </p:cNvPr>
          <p:cNvSpPr>
            <a:spLocks xmlns:a="http://schemas.openxmlformats.org/drawingml/2006/main" noGrp="1"/>
          </p:cNvSpPr>
          <p:nvPr/>
        </p:nvSpPr>
        <p:spPr>
          <a:xfrm xmlns:a="http://schemas.openxmlformats.org/drawingml/2006/main">
            <a:off x="6953250" y="343852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Clarifying question</a:t>
            </a:r>
          </a:p>
        </p:txBody>
      </p:sp>
      <p:sp>
        <p:nvSpPr>
          <p:cNvPr id="34" name="">
            <a:extLst xmlns:a="http://schemas.openxmlformats.org/drawingml/2006/main">
              <a:ext uri="{FF2B5EF4-FFF2-40B4-BE49-F238E27FC236}">
                <a16:creationId xmlns:a16="http://schemas.microsoft.com/office/drawing/2014/main" id="{63721800-91C7-4AE3-BAB5-CE13AB1EF2D9}"/>
              </a:ext>
            </a:extLst>
          </p:cNvPr>
          <p:cNvSpPr>
            <a:spLocks xmlns:a="http://schemas.openxmlformats.org/drawingml/2006/main" noGrp="1"/>
          </p:cNvSpPr>
          <p:nvPr/>
        </p:nvSpPr>
        <p:spPr>
          <a:xfrm xmlns:a="http://schemas.openxmlformats.org/drawingml/2006/main">
            <a:off x="11106150" y="3133725"/>
            <a:ext cx="95250" cy="9525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35" name="">
            <a:extLst xmlns:a="http://schemas.openxmlformats.org/drawingml/2006/main">
              <a:ext uri="{FF2B5EF4-FFF2-40B4-BE49-F238E27FC236}">
                <a16:creationId xmlns:a16="http://schemas.microsoft.com/office/drawing/2014/main" id="{8AB5B878-B5FC-42B7-B495-F0B26CCD1684}"/>
              </a:ext>
            </a:extLst>
          </p:cNvPr>
          <p:cNvSpPr>
            <a:spLocks xmlns:a="http://schemas.openxmlformats.org/drawingml/2006/main" noGrp="1"/>
          </p:cNvSpPr>
          <p:nvPr/>
        </p:nvSpPr>
        <p:spPr>
          <a:xfrm xmlns:a="http://schemas.openxmlformats.org/drawingml/2006/main">
            <a:off x="10344150" y="3305175"/>
            <a:ext cx="123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Another user’s</a:t>
            </a:r>
          </a:p>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private data</a:t>
            </a:r>
          </a:p>
        </p:txBody>
      </p:sp>
      <p:sp>
        <p:nvSpPr>
          <p:cNvPr id="36" name="">
            <a:extLst xmlns:a="http://schemas.openxmlformats.org/drawingml/2006/main">
              <a:ext uri="{FF2B5EF4-FFF2-40B4-BE49-F238E27FC236}">
                <a16:creationId xmlns:a16="http://schemas.microsoft.com/office/drawing/2014/main" id="{BE007113-05E1-489B-987D-B38B8BCC75DA}"/>
              </a:ext>
            </a:extLst>
          </p:cNvPr>
          <p:cNvSpPr>
            <a:spLocks xmlns:a="http://schemas.openxmlformats.org/drawingml/2006/main" noGrp="1"/>
          </p:cNvSpPr>
          <p:nvPr/>
        </p:nvSpPr>
        <p:spPr>
          <a:xfrm xmlns:a="http://schemas.openxmlformats.org/drawingml/2006/main">
            <a:off x="5305425" y="3933825"/>
            <a:ext cx="6276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Conceptual space, not a universal semantic metric</a:t>
            </a:r>
          </a:p>
        </p:txBody>
      </p:sp>
      <p:sp>
        <p:nvSpPr>
          <p:cNvPr id="37" name="">
            <a:extLst xmlns:a="http://schemas.openxmlformats.org/drawingml/2006/main">
              <a:ext uri="{FF2B5EF4-FFF2-40B4-BE49-F238E27FC236}">
                <a16:creationId xmlns:a16="http://schemas.microsoft.com/office/drawing/2014/main" id="{76E4B25E-FAEB-44F0-A85F-D0B2E23907B3}"/>
              </a:ext>
            </a:extLst>
          </p:cNvPr>
          <p:cNvSpPr>
            <a:spLocks xmlns:a="http://schemas.openxmlformats.org/drawingml/2006/main" noGrp="1"/>
          </p:cNvSpPr>
          <p:nvPr/>
        </p:nvSpPr>
        <p:spPr>
          <a:xfrm xmlns:a="http://schemas.openxmlformats.org/drawingml/2006/main">
            <a:off x="5105400" y="4210050"/>
            <a:ext cx="647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F4F7FA"/>
                </a:solidFill>
                <a:latin typeface="Arial"/>
                <a:ea typeface="Arial"/>
                <a:cs typeface="Arial"/>
              </a:defRPr>
            </a:pPr>
            <a:r>
              <a:rPr sz="1200" b="0">
                <a:solidFill>
                  <a:srgbClr val="F4F7FA"/>
                </a:solidFill>
                <a:latin typeface="Arial"/>
                <a:ea typeface="Arial"/>
                <a:cs typeface="Arial"/>
              </a:rPr>
              <a:t>ALLOW approved guidance · ASK for context · DENY access bypass</a:t>
            </a:r>
          </a:p>
        </p:txBody>
      </p:sp>
      <p:sp>
        <p:nvSpPr>
          <p:cNvPr id="38" name="">
            <a:extLst xmlns:a="http://schemas.openxmlformats.org/drawingml/2006/main">
              <a:ext uri="{FF2B5EF4-FFF2-40B4-BE49-F238E27FC236}">
                <a16:creationId xmlns:a16="http://schemas.microsoft.com/office/drawing/2014/main" id="{3DB6B889-135F-40B0-A616-F6ECC58F35F9}"/>
              </a:ext>
            </a:extLst>
          </p:cNvPr>
          <p:cNvSpPr>
            <a:spLocks xmlns:a="http://schemas.openxmlformats.org/drawingml/2006/main" noGrp="1"/>
          </p:cNvSpPr>
          <p:nvPr/>
        </p:nvSpPr>
        <p:spPr>
          <a:xfrm xmlns:a="http://schemas.openxmlformats.org/drawingml/2006/main" flipH="0" flipV="0">
            <a:off x="609600" y="45434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9" name="">
            <a:extLst xmlns:a="http://schemas.openxmlformats.org/drawingml/2006/main">
              <a:ext uri="{FF2B5EF4-FFF2-40B4-BE49-F238E27FC236}">
                <a16:creationId xmlns:a16="http://schemas.microsoft.com/office/drawing/2014/main" id="{AF007103-8AA7-4044-89FC-AA26340EC738}"/>
              </a:ext>
            </a:extLst>
          </p:cNvPr>
          <p:cNvSpPr>
            <a:spLocks xmlns:a="http://schemas.openxmlformats.org/drawingml/2006/main" noGrp="1"/>
          </p:cNvSpPr>
          <p:nvPr/>
        </p:nvSpPr>
        <p:spPr>
          <a:xfrm xmlns:a="http://schemas.openxmlformats.org/drawingml/2006/main">
            <a:off x="609600" y="46863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IT ASSISTANT: AGREED BEHAVIOR CONTRACT</a:t>
            </a:r>
          </a:p>
        </p:txBody>
      </p:sp>
      <p:sp>
        <p:nvSpPr>
          <p:cNvPr id="40" name="">
            <a:extLst xmlns:a="http://schemas.openxmlformats.org/drawingml/2006/main">
              <a:ext uri="{FF2B5EF4-FFF2-40B4-BE49-F238E27FC236}">
                <a16:creationId xmlns:a16="http://schemas.microsoft.com/office/drawing/2014/main" id="{7C08A65F-707F-4F48-A345-F0954B26AA05}"/>
              </a:ext>
            </a:extLst>
          </p:cNvPr>
          <p:cNvSpPr>
            <a:spLocks xmlns:a="http://schemas.openxmlformats.org/drawingml/2006/main" noGrp="1"/>
          </p:cNvSpPr>
          <p:nvPr/>
        </p:nvSpPr>
        <p:spPr>
          <a:xfrm xmlns:a="http://schemas.openxmlformats.org/drawingml/2006/main">
            <a:off x="609600" y="5086350"/>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Value: restored access, fewer repeat contacts</a:t>
            </a:r>
          </a:p>
        </p:txBody>
      </p:sp>
      <p:sp>
        <p:nvSpPr>
          <p:cNvPr id="41" name="">
            <a:extLst xmlns:a="http://schemas.openxmlformats.org/drawingml/2006/main">
              <a:ext uri="{FF2B5EF4-FFF2-40B4-BE49-F238E27FC236}">
                <a16:creationId xmlns:a16="http://schemas.microsoft.com/office/drawing/2014/main" id="{D89670ED-C44B-4A93-A286-4BA9A016C75D}"/>
              </a:ext>
            </a:extLst>
          </p:cNvPr>
          <p:cNvSpPr>
            <a:spLocks xmlns:a="http://schemas.openxmlformats.org/drawingml/2006/main" noGrp="1"/>
          </p:cNvSpPr>
          <p:nvPr/>
        </p:nvSpPr>
        <p:spPr>
          <a:xfrm xmlns:a="http://schemas.openxmlformats.org/drawingml/2006/main">
            <a:off x="6286500" y="5086350"/>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Safety: no data disclosure or access bypass</a:t>
            </a:r>
          </a:p>
        </p:txBody>
      </p:sp>
      <p:sp>
        <p:nvSpPr>
          <p:cNvPr id="42" name="">
            <a:extLst xmlns:a="http://schemas.openxmlformats.org/drawingml/2006/main">
              <a:ext uri="{FF2B5EF4-FFF2-40B4-BE49-F238E27FC236}">
                <a16:creationId xmlns:a16="http://schemas.microsoft.com/office/drawing/2014/main" id="{C3E1F8D8-AD1F-4AC8-917C-B6799BFE5C3A}"/>
              </a:ext>
            </a:extLst>
          </p:cNvPr>
          <p:cNvSpPr>
            <a:spLocks xmlns:a="http://schemas.openxmlformats.org/drawingml/2006/main" noGrp="1"/>
          </p:cNvSpPr>
          <p:nvPr/>
        </p:nvSpPr>
        <p:spPr>
          <a:xfrm xmlns:a="http://schemas.openxmlformats.org/drawingml/2006/main">
            <a:off x="609600" y="5419725"/>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Budget: latency, token and review costs</a:t>
            </a:r>
          </a:p>
        </p:txBody>
      </p:sp>
      <p:sp>
        <p:nvSpPr>
          <p:cNvPr id="43" name="">
            <a:extLst xmlns:a="http://schemas.openxmlformats.org/drawingml/2006/main">
              <a:ext uri="{FF2B5EF4-FFF2-40B4-BE49-F238E27FC236}">
                <a16:creationId xmlns:a16="http://schemas.microsoft.com/office/drawing/2014/main" id="{E4F9A9E2-84F1-4ECE-9E9A-524A8DF4EF8B}"/>
              </a:ext>
            </a:extLst>
          </p:cNvPr>
          <p:cNvSpPr>
            <a:spLocks xmlns:a="http://schemas.openxmlformats.org/drawingml/2006/main" noGrp="1"/>
          </p:cNvSpPr>
          <p:nvPr/>
        </p:nvSpPr>
        <p:spPr>
          <a:xfrm xmlns:a="http://schemas.openxmlformats.org/drawingml/2006/main">
            <a:off x="6286500" y="5419725"/>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Fallback: support ticket with approved context</a:t>
            </a:r>
          </a:p>
        </p:txBody>
      </p:sp>
      <p:sp>
        <p:nvSpPr>
          <p:cNvPr id="44" name="">
            <a:extLst xmlns:a="http://schemas.openxmlformats.org/drawingml/2006/main">
              <a:ext uri="{FF2B5EF4-FFF2-40B4-BE49-F238E27FC236}">
                <a16:creationId xmlns:a16="http://schemas.microsoft.com/office/drawing/2014/main" id="{B089AF96-8FE2-4BA0-A67D-DC33B022B27E}"/>
              </a:ext>
            </a:extLst>
          </p:cNvPr>
          <p:cNvSpPr>
            <a:spLocks xmlns:a="http://schemas.openxmlformats.org/drawingml/2006/main" noGrp="1"/>
          </p:cNvSpPr>
          <p:nvPr/>
        </p:nvSpPr>
        <p:spPr>
          <a:xfrm xmlns:a="http://schemas.openxmlformats.org/drawingml/2006/main">
            <a:off x="609600" y="5867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Business / risk owner approves limits. Product / PO + BA make them testable with Dev + QA.</a:t>
            </a:r>
          </a:p>
        </p:txBody>
      </p:sp>
      <p:sp>
        <p:nvSpPr>
          <p:cNvPr id="45" name="">
            <a:extLst xmlns:a="http://schemas.openxmlformats.org/drawingml/2006/main">
              <a:ext uri="{FF2B5EF4-FFF2-40B4-BE49-F238E27FC236}">
                <a16:creationId xmlns:a16="http://schemas.microsoft.com/office/drawing/2014/main" id="{A293F8F0-9F5D-42D0-A59B-783E16F6E335}"/>
              </a:ext>
            </a:extLst>
          </p:cNvPr>
          <p:cNvSpPr>
            <a:spLocks xmlns:a="http://schemas.openxmlformats.org/drawingml/2006/main" noGrp="1"/>
          </p:cNvSpPr>
          <p:nvPr/>
        </p:nvSpPr>
        <p:spPr>
          <a:xfrm xmlns:a="http://schemas.openxmlformats.org/drawingml/2006/main">
            <a:off x="609600" y="6353175"/>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Output: an agreed contract the team can implement, evaluate and operate.</a:t>
            </a:r>
          </a:p>
        </p:txBody>
      </p:sp>
    </p:spTree>
    <p:extLst>
      <p:ext uri="{BB962C8B-B14F-4D97-AF65-F5344CB8AC3E}">
        <p14:creationId xmlns:p14="http://schemas.microsoft.com/office/powerpoint/2010/main" val="530382493"/>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DBA72EF3-528C-43C6-B30E-C881BB7EE24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One Green Test Proves Almost Nothing</a:t>
            </a:r>
          </a:p>
        </p:txBody>
      </p:sp>
      <p:sp>
        <p:nvSpPr>
          <p:cNvPr id="2" name="">
            <a:extLst xmlns:a="http://schemas.openxmlformats.org/drawingml/2006/main">
              <a:ext uri="{FF2B5EF4-FFF2-40B4-BE49-F238E27FC236}">
                <a16:creationId xmlns:a16="http://schemas.microsoft.com/office/drawing/2014/main" id="{E0D613EA-23E1-46F2-8629-EFC4F371D43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D362883-E866-45E7-91CA-3A264EAF26F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D72EA9B9-0E37-48AE-B90C-810641840C92}"/>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QA + DOMAIN EXPERTS · DEVELOPERS · PRODUCT / PO · PROJECT MANAGER</a:t>
            </a:r>
          </a:p>
        </p:txBody>
      </p:sp>
      <p:sp>
        <p:nvSpPr>
          <p:cNvPr id="5" name="">
            <a:extLst xmlns:a="http://schemas.openxmlformats.org/drawingml/2006/main">
              <a:ext uri="{FF2B5EF4-FFF2-40B4-BE49-F238E27FC236}">
                <a16:creationId xmlns:a16="http://schemas.microsoft.com/office/drawing/2014/main" id="{57B41287-A001-451C-9DEB-622E01B46123}"/>
              </a:ext>
            </a:extLst>
          </p:cNvPr>
          <p:cNvSpPr>
            <a:spLocks xmlns:a="http://schemas.openxmlformats.org/drawingml/2006/main" noGrp="1"/>
          </p:cNvSpPr>
          <p:nvPr/>
        </p:nvSpPr>
        <p:spPr>
          <a:xfrm xmlns:a="http://schemas.openxmlformats.org/drawingml/2006/main">
            <a:off x="609600" y="210502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WHAT COUNTS AS A BUG</a:t>
            </a:r>
          </a:p>
        </p:txBody>
      </p:sp>
      <p:sp>
        <p:nvSpPr>
          <p:cNvPr id="6" name="">
            <a:extLst xmlns:a="http://schemas.openxmlformats.org/drawingml/2006/main">
              <a:ext uri="{FF2B5EF4-FFF2-40B4-BE49-F238E27FC236}">
                <a16:creationId xmlns:a16="http://schemas.microsoft.com/office/drawing/2014/main" id="{E47DF935-0992-4A41-A005-11A4C2379CBB}"/>
              </a:ext>
            </a:extLst>
          </p:cNvPr>
          <p:cNvSpPr>
            <a:spLocks xmlns:a="http://schemas.openxmlformats.org/drawingml/2006/main" noGrp="1"/>
          </p:cNvSpPr>
          <p:nvPr/>
        </p:nvSpPr>
        <p:spPr>
          <a:xfrm xmlns:a="http://schemas.openxmlformats.org/drawingml/2006/main">
            <a:off x="609600" y="2390775"/>
            <a:ext cx="4476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System behavior violates</a:t>
            </a:r>
          </a:p>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an approved requirement.</a:t>
            </a:r>
          </a:p>
        </p:txBody>
      </p:sp>
      <p:sp>
        <p:nvSpPr>
          <p:cNvPr id="7" name="">
            <a:extLst xmlns:a="http://schemas.openxmlformats.org/drawingml/2006/main">
              <a:ext uri="{FF2B5EF4-FFF2-40B4-BE49-F238E27FC236}">
                <a16:creationId xmlns:a16="http://schemas.microsoft.com/office/drawing/2014/main" id="{7537DF22-E914-4126-955A-27DFF3FF61D7}"/>
              </a:ext>
            </a:extLst>
          </p:cNvPr>
          <p:cNvSpPr>
            <a:spLocks xmlns:a="http://schemas.openxmlformats.org/drawingml/2006/main" noGrp="1"/>
          </p:cNvSpPr>
          <p:nvPr/>
        </p:nvSpPr>
        <p:spPr>
          <a:xfrm xmlns:a="http://schemas.openxmlformats.org/drawingml/2006/main">
            <a:off x="609600" y="3105150"/>
            <a:ext cx="4619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IT assistant: wrong recovery steps</a:t>
            </a:r>
          </a:p>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or another user’s private data.</a:t>
            </a:r>
          </a:p>
        </p:txBody>
      </p:sp>
      <p:sp>
        <p:nvSpPr>
          <p:cNvPr id="8" name="">
            <a:extLst xmlns:a="http://schemas.openxmlformats.org/drawingml/2006/main">
              <a:ext uri="{FF2B5EF4-FFF2-40B4-BE49-F238E27FC236}">
                <a16:creationId xmlns:a16="http://schemas.microsoft.com/office/drawing/2014/main" id="{38B44C01-DB79-4973-9887-08B2619FAC83}"/>
              </a:ext>
            </a:extLst>
          </p:cNvPr>
          <p:cNvSpPr>
            <a:spLocks xmlns:a="http://schemas.openxmlformats.org/drawingml/2006/main" noGrp="1"/>
          </p:cNvSpPr>
          <p:nvPr/>
        </p:nvSpPr>
        <p:spPr>
          <a:xfrm xmlns:a="http://schemas.openxmlformats.org/drawingml/2006/main">
            <a:off x="609600" y="3657600"/>
            <a:ext cx="4619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The code may stay unchanged while behavior changes.</a:t>
            </a:r>
          </a:p>
        </p:txBody>
      </p:sp>
      <p:sp>
        <p:nvSpPr>
          <p:cNvPr id="9" name="">
            <a:extLst xmlns:a="http://schemas.openxmlformats.org/drawingml/2006/main">
              <a:ext uri="{FF2B5EF4-FFF2-40B4-BE49-F238E27FC236}">
                <a16:creationId xmlns:a16="http://schemas.microsoft.com/office/drawing/2014/main" id="{A89D7575-4119-4964-BC08-8CEA7719B42F}"/>
              </a:ext>
            </a:extLst>
          </p:cNvPr>
          <p:cNvSpPr>
            <a:spLocks xmlns:a="http://schemas.openxmlformats.org/drawingml/2006/main" noGrp="1"/>
          </p:cNvSpPr>
          <p:nvPr/>
        </p:nvSpPr>
        <p:spPr>
          <a:xfrm xmlns:a="http://schemas.openxmlformats.org/drawingml/2006/main">
            <a:off x="6705600" y="2105025"/>
            <a:ext cx="3771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57CB8F"/>
                </a:solidFill>
                <a:latin typeface="Arial"/>
                <a:ea typeface="Arial"/>
                <a:cs typeface="Arial"/>
              </a:defRPr>
            </a:pPr>
            <a:r>
              <a:rPr sz="1350" b="1">
                <a:solidFill>
                  <a:srgbClr val="57CB8F"/>
                </a:solidFill>
                <a:latin typeface="Arial"/>
                <a:ea typeface="Arial"/>
                <a:cs typeface="Arial"/>
              </a:rPr>
              <a:t>APPROVED BUSINESS TOLERANCES</a:t>
            </a:r>
          </a:p>
        </p:txBody>
      </p:sp>
      <p:sp>
        <p:nvSpPr>
          <p:cNvPr id="10" name="">
            <a:extLst xmlns:a="http://schemas.openxmlformats.org/drawingml/2006/main">
              <a:ext uri="{FF2B5EF4-FFF2-40B4-BE49-F238E27FC236}">
                <a16:creationId xmlns:a16="http://schemas.microsoft.com/office/drawing/2014/main" id="{6951F125-33F6-495A-9E43-F87C03ABF2E5}"/>
              </a:ext>
            </a:extLst>
          </p:cNvPr>
          <p:cNvSpPr>
            <a:spLocks xmlns:a="http://schemas.openxmlformats.org/drawingml/2006/main" noGrp="1"/>
          </p:cNvSpPr>
          <p:nvPr/>
        </p:nvSpPr>
        <p:spPr>
          <a:xfrm xmlns:a="http://schemas.openxmlformats.org/drawingml/2006/main">
            <a:off x="7639050" y="2409825"/>
            <a:ext cx="2200275" cy="1276350"/>
          </a:xfrm>
          <a:prstGeom xmlns:a="http://schemas.openxmlformats.org/drawingml/2006/main" prst="rect">
            <a:avLst/>
          </a:prstGeom>
          <a:solidFill xmlns:a="http://schemas.openxmlformats.org/drawingml/2006/main">
            <a:srgbClr val="132A2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0EAFDD9-C914-48E6-95F5-C1DE8036C309}"/>
              </a:ext>
            </a:extLst>
          </p:cNvPr>
          <p:cNvSpPr>
            <a:spLocks xmlns:a="http://schemas.openxmlformats.org/drawingml/2006/main" noGrp="1"/>
          </p:cNvSpPr>
          <p:nvPr/>
        </p:nvSpPr>
        <p:spPr>
          <a:xfrm xmlns:a="http://schemas.openxmlformats.org/drawingml/2006/main">
            <a:off x="64960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2" name="">
            <a:extLst xmlns:a="http://schemas.openxmlformats.org/drawingml/2006/main">
              <a:ext uri="{FF2B5EF4-FFF2-40B4-BE49-F238E27FC236}">
                <a16:creationId xmlns:a16="http://schemas.microsoft.com/office/drawing/2014/main" id="{6B4D7687-FCE6-490D-A06D-34EE7387804A}"/>
              </a:ext>
            </a:extLst>
          </p:cNvPr>
          <p:cNvSpPr>
            <a:spLocks xmlns:a="http://schemas.openxmlformats.org/drawingml/2006/main" noGrp="1"/>
          </p:cNvSpPr>
          <p:nvPr/>
        </p:nvSpPr>
        <p:spPr>
          <a:xfrm xmlns:a="http://schemas.openxmlformats.org/drawingml/2006/main">
            <a:off x="6800850" y="3467100"/>
            <a:ext cx="219075" cy="2190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3" name="">
            <a:extLst xmlns:a="http://schemas.openxmlformats.org/drawingml/2006/main">
              <a:ext uri="{FF2B5EF4-FFF2-40B4-BE49-F238E27FC236}">
                <a16:creationId xmlns:a16="http://schemas.microsoft.com/office/drawing/2014/main" id="{DAB5476C-096C-466E-9C90-BCA7D4BA3DE9}"/>
              </a:ext>
            </a:extLst>
          </p:cNvPr>
          <p:cNvSpPr>
            <a:spLocks xmlns:a="http://schemas.openxmlformats.org/drawingml/2006/main" noGrp="1"/>
          </p:cNvSpPr>
          <p:nvPr/>
        </p:nvSpPr>
        <p:spPr>
          <a:xfrm xmlns:a="http://schemas.openxmlformats.org/drawingml/2006/main">
            <a:off x="7105650" y="3343275"/>
            <a:ext cx="219075" cy="3429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4" name="">
            <a:extLst xmlns:a="http://schemas.openxmlformats.org/drawingml/2006/main">
              <a:ext uri="{FF2B5EF4-FFF2-40B4-BE49-F238E27FC236}">
                <a16:creationId xmlns:a16="http://schemas.microsoft.com/office/drawing/2014/main" id="{AFF7B946-5C81-4903-AB99-1F0B0B2BBDC2}"/>
              </a:ext>
            </a:extLst>
          </p:cNvPr>
          <p:cNvSpPr>
            <a:spLocks xmlns:a="http://schemas.openxmlformats.org/drawingml/2006/main" noGrp="1"/>
          </p:cNvSpPr>
          <p:nvPr/>
        </p:nvSpPr>
        <p:spPr>
          <a:xfrm xmlns:a="http://schemas.openxmlformats.org/drawingml/2006/main">
            <a:off x="7410450" y="3190875"/>
            <a:ext cx="219075" cy="4953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5" name="">
            <a:extLst xmlns:a="http://schemas.openxmlformats.org/drawingml/2006/main">
              <a:ext uri="{FF2B5EF4-FFF2-40B4-BE49-F238E27FC236}">
                <a16:creationId xmlns:a16="http://schemas.microsoft.com/office/drawing/2014/main" id="{81D7940B-02A8-40F5-A4EC-6A1946796CA2}"/>
              </a:ext>
            </a:extLst>
          </p:cNvPr>
          <p:cNvSpPr>
            <a:spLocks xmlns:a="http://schemas.openxmlformats.org/drawingml/2006/main" noGrp="1"/>
          </p:cNvSpPr>
          <p:nvPr/>
        </p:nvSpPr>
        <p:spPr>
          <a:xfrm xmlns:a="http://schemas.openxmlformats.org/drawingml/2006/main">
            <a:off x="7715250" y="3000375"/>
            <a:ext cx="219075" cy="68580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6" name="">
            <a:extLst xmlns:a="http://schemas.openxmlformats.org/drawingml/2006/main">
              <a:ext uri="{FF2B5EF4-FFF2-40B4-BE49-F238E27FC236}">
                <a16:creationId xmlns:a16="http://schemas.microsoft.com/office/drawing/2014/main" id="{C48A87F2-C96C-4633-BFEE-AE1F70A484CB}"/>
              </a:ext>
            </a:extLst>
          </p:cNvPr>
          <p:cNvSpPr>
            <a:spLocks xmlns:a="http://schemas.openxmlformats.org/drawingml/2006/main" noGrp="1"/>
          </p:cNvSpPr>
          <p:nvPr/>
        </p:nvSpPr>
        <p:spPr>
          <a:xfrm xmlns:a="http://schemas.openxmlformats.org/drawingml/2006/main">
            <a:off x="8020050" y="2752725"/>
            <a:ext cx="219075" cy="9334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7" name="">
            <a:extLst xmlns:a="http://schemas.openxmlformats.org/drawingml/2006/main">
              <a:ext uri="{FF2B5EF4-FFF2-40B4-BE49-F238E27FC236}">
                <a16:creationId xmlns:a16="http://schemas.microsoft.com/office/drawing/2014/main" id="{CB434304-FF23-467D-A0F0-30F8059BB43B}"/>
              </a:ext>
            </a:extLst>
          </p:cNvPr>
          <p:cNvSpPr>
            <a:spLocks xmlns:a="http://schemas.openxmlformats.org/drawingml/2006/main" noGrp="1"/>
          </p:cNvSpPr>
          <p:nvPr/>
        </p:nvSpPr>
        <p:spPr>
          <a:xfrm xmlns:a="http://schemas.openxmlformats.org/drawingml/2006/main">
            <a:off x="8324850" y="2533650"/>
            <a:ext cx="219075" cy="11525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8" name="">
            <a:extLst xmlns:a="http://schemas.openxmlformats.org/drawingml/2006/main">
              <a:ext uri="{FF2B5EF4-FFF2-40B4-BE49-F238E27FC236}">
                <a16:creationId xmlns:a16="http://schemas.microsoft.com/office/drawing/2014/main" id="{3CD5825B-58E6-444D-9637-E0C5B6CDE6A3}"/>
              </a:ext>
            </a:extLst>
          </p:cNvPr>
          <p:cNvSpPr>
            <a:spLocks xmlns:a="http://schemas.openxmlformats.org/drawingml/2006/main" noGrp="1"/>
          </p:cNvSpPr>
          <p:nvPr/>
        </p:nvSpPr>
        <p:spPr>
          <a:xfrm xmlns:a="http://schemas.openxmlformats.org/drawingml/2006/main">
            <a:off x="8629650" y="2705100"/>
            <a:ext cx="219075" cy="9810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9" name="">
            <a:extLst xmlns:a="http://schemas.openxmlformats.org/drawingml/2006/main">
              <a:ext uri="{FF2B5EF4-FFF2-40B4-BE49-F238E27FC236}">
                <a16:creationId xmlns:a16="http://schemas.microsoft.com/office/drawing/2014/main" id="{EB6AF43D-4CCF-4B1F-AFC7-990BCB58DAB2}"/>
              </a:ext>
            </a:extLst>
          </p:cNvPr>
          <p:cNvSpPr>
            <a:spLocks xmlns:a="http://schemas.openxmlformats.org/drawingml/2006/main" noGrp="1"/>
          </p:cNvSpPr>
          <p:nvPr/>
        </p:nvSpPr>
        <p:spPr>
          <a:xfrm xmlns:a="http://schemas.openxmlformats.org/drawingml/2006/main">
            <a:off x="8934450" y="2952750"/>
            <a:ext cx="219075" cy="7334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0" name="">
            <a:extLst xmlns:a="http://schemas.openxmlformats.org/drawingml/2006/main">
              <a:ext uri="{FF2B5EF4-FFF2-40B4-BE49-F238E27FC236}">
                <a16:creationId xmlns:a16="http://schemas.microsoft.com/office/drawing/2014/main" id="{A43E2327-B987-4059-A743-39B1670B6E91}"/>
              </a:ext>
            </a:extLst>
          </p:cNvPr>
          <p:cNvSpPr>
            <a:spLocks xmlns:a="http://schemas.openxmlformats.org/drawingml/2006/main" noGrp="1"/>
          </p:cNvSpPr>
          <p:nvPr/>
        </p:nvSpPr>
        <p:spPr>
          <a:xfrm xmlns:a="http://schemas.openxmlformats.org/drawingml/2006/main">
            <a:off x="9239250" y="3171825"/>
            <a:ext cx="219075" cy="5143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1" name="">
            <a:extLst xmlns:a="http://schemas.openxmlformats.org/drawingml/2006/main">
              <a:ext uri="{FF2B5EF4-FFF2-40B4-BE49-F238E27FC236}">
                <a16:creationId xmlns:a16="http://schemas.microsoft.com/office/drawing/2014/main" id="{996EE8B6-9BA9-40E7-8B43-DEA9D8086CF6}"/>
              </a:ext>
            </a:extLst>
          </p:cNvPr>
          <p:cNvSpPr>
            <a:spLocks xmlns:a="http://schemas.openxmlformats.org/drawingml/2006/main" noGrp="1"/>
          </p:cNvSpPr>
          <p:nvPr/>
        </p:nvSpPr>
        <p:spPr>
          <a:xfrm xmlns:a="http://schemas.openxmlformats.org/drawingml/2006/main">
            <a:off x="9544050" y="3352800"/>
            <a:ext cx="219075" cy="3333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2" name="">
            <a:extLst xmlns:a="http://schemas.openxmlformats.org/drawingml/2006/main">
              <a:ext uri="{FF2B5EF4-FFF2-40B4-BE49-F238E27FC236}">
                <a16:creationId xmlns:a16="http://schemas.microsoft.com/office/drawing/2014/main" id="{51E75FF6-FF2F-4A1A-8222-DD263D3F0510}"/>
              </a:ext>
            </a:extLst>
          </p:cNvPr>
          <p:cNvSpPr>
            <a:spLocks xmlns:a="http://schemas.openxmlformats.org/drawingml/2006/main" noGrp="1"/>
          </p:cNvSpPr>
          <p:nvPr/>
        </p:nvSpPr>
        <p:spPr>
          <a:xfrm xmlns:a="http://schemas.openxmlformats.org/drawingml/2006/main">
            <a:off x="9848850" y="3457575"/>
            <a:ext cx="219075" cy="2286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3" name="">
            <a:extLst xmlns:a="http://schemas.openxmlformats.org/drawingml/2006/main">
              <a:ext uri="{FF2B5EF4-FFF2-40B4-BE49-F238E27FC236}">
                <a16:creationId xmlns:a16="http://schemas.microsoft.com/office/drawing/2014/main" id="{DA642A5C-D8C3-4647-BA49-DED14EDBA855}"/>
              </a:ext>
            </a:extLst>
          </p:cNvPr>
          <p:cNvSpPr>
            <a:spLocks xmlns:a="http://schemas.openxmlformats.org/drawingml/2006/main" noGrp="1"/>
          </p:cNvSpPr>
          <p:nvPr/>
        </p:nvSpPr>
        <p:spPr>
          <a:xfrm xmlns:a="http://schemas.openxmlformats.org/drawingml/2006/main">
            <a:off x="101536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4" name="">
            <a:extLst xmlns:a="http://schemas.openxmlformats.org/drawingml/2006/main">
              <a:ext uri="{FF2B5EF4-FFF2-40B4-BE49-F238E27FC236}">
                <a16:creationId xmlns:a16="http://schemas.microsoft.com/office/drawing/2014/main" id="{E1CB6CAF-2D74-4295-B8C1-018088E9D29E}"/>
              </a:ext>
            </a:extLst>
          </p:cNvPr>
          <p:cNvSpPr>
            <a:spLocks xmlns:a="http://schemas.openxmlformats.org/drawingml/2006/main" noGrp="1"/>
          </p:cNvSpPr>
          <p:nvPr/>
        </p:nvSpPr>
        <p:spPr>
          <a:xfrm xmlns:a="http://schemas.openxmlformats.org/drawingml/2006/main" flipH="0" flipV="0">
            <a:off x="7639050"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5" name="">
            <a:extLst xmlns:a="http://schemas.openxmlformats.org/drawingml/2006/main">
              <a:ext uri="{FF2B5EF4-FFF2-40B4-BE49-F238E27FC236}">
                <a16:creationId xmlns:a16="http://schemas.microsoft.com/office/drawing/2014/main" id="{7CCDD7BA-D15C-496B-9482-5AE87D12F5D5}"/>
              </a:ext>
            </a:extLst>
          </p:cNvPr>
          <p:cNvSpPr>
            <a:spLocks xmlns:a="http://schemas.openxmlformats.org/drawingml/2006/main" noGrp="1"/>
          </p:cNvSpPr>
          <p:nvPr/>
        </p:nvSpPr>
        <p:spPr>
          <a:xfrm xmlns:a="http://schemas.openxmlformats.org/drawingml/2006/main" flipH="0" flipV="0">
            <a:off x="9839325"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6" name="">
            <a:extLst xmlns:a="http://schemas.openxmlformats.org/drawingml/2006/main">
              <a:ext uri="{FF2B5EF4-FFF2-40B4-BE49-F238E27FC236}">
                <a16:creationId xmlns:a16="http://schemas.microsoft.com/office/drawing/2014/main" id="{A47EB203-36FA-48E8-8FE6-41F17FFB6212}"/>
              </a:ext>
            </a:extLst>
          </p:cNvPr>
          <p:cNvSpPr>
            <a:spLocks xmlns:a="http://schemas.openxmlformats.org/drawingml/2006/main" noGrp="1"/>
          </p:cNvSpPr>
          <p:nvPr/>
        </p:nvSpPr>
        <p:spPr>
          <a:xfrm xmlns:a="http://schemas.openxmlformats.org/drawingml/2006/main" flipH="0" flipV="0">
            <a:off x="5695950" y="3705225"/>
            <a:ext cx="58864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4B52E09B-64E4-40CE-A054-5205BD948065}"/>
              </a:ext>
            </a:extLst>
          </p:cNvPr>
          <p:cNvSpPr>
            <a:spLocks xmlns:a="http://schemas.openxmlformats.org/drawingml/2006/main" noGrp="1"/>
          </p:cNvSpPr>
          <p:nvPr/>
        </p:nvSpPr>
        <p:spPr>
          <a:xfrm xmlns:a="http://schemas.openxmlformats.org/drawingml/2006/main" flipH="0" flipV="1">
            <a:off x="10306050" y="3219450"/>
            <a:ext cx="266700" cy="3048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28" name="">
            <a:extLst xmlns:a="http://schemas.openxmlformats.org/drawingml/2006/main">
              <a:ext uri="{FF2B5EF4-FFF2-40B4-BE49-F238E27FC236}">
                <a16:creationId xmlns:a16="http://schemas.microsoft.com/office/drawing/2014/main" id="{FB5CB652-2DB8-45BA-A5AE-48DCB96E85D6}"/>
              </a:ext>
            </a:extLst>
          </p:cNvPr>
          <p:cNvSpPr>
            <a:spLocks xmlns:a="http://schemas.openxmlformats.org/drawingml/2006/main" noGrp="1"/>
          </p:cNvSpPr>
          <p:nvPr/>
        </p:nvSpPr>
        <p:spPr>
          <a:xfrm xmlns:a="http://schemas.openxmlformats.org/drawingml/2006/main">
            <a:off x="10629900" y="2743200"/>
            <a:ext cx="952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Bug:</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contract</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violation</a:t>
            </a:r>
          </a:p>
        </p:txBody>
      </p:sp>
      <p:sp>
        <p:nvSpPr>
          <p:cNvPr id="29" name="">
            <a:extLst xmlns:a="http://schemas.openxmlformats.org/drawingml/2006/main">
              <a:ext uri="{FF2B5EF4-FFF2-40B4-BE49-F238E27FC236}">
                <a16:creationId xmlns:a16="http://schemas.microsoft.com/office/drawing/2014/main" id="{06008782-2715-4753-B143-823CB88630A2}"/>
              </a:ext>
            </a:extLst>
          </p:cNvPr>
          <p:cNvSpPr>
            <a:spLocks xmlns:a="http://schemas.openxmlformats.org/drawingml/2006/main" noGrp="1"/>
          </p:cNvSpPr>
          <p:nvPr/>
        </p:nvSpPr>
        <p:spPr>
          <a:xfrm xmlns:a="http://schemas.openxmlformats.org/drawingml/2006/main">
            <a:off x="5657850" y="37433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0" name="">
            <a:extLst xmlns:a="http://schemas.openxmlformats.org/drawingml/2006/main">
              <a:ext uri="{FF2B5EF4-FFF2-40B4-BE49-F238E27FC236}">
                <a16:creationId xmlns:a16="http://schemas.microsoft.com/office/drawing/2014/main" id="{1B04BAEC-7AEF-4BF1-BDA6-8FCBEA14E50F}"/>
              </a:ext>
            </a:extLst>
          </p:cNvPr>
          <p:cNvSpPr>
            <a:spLocks xmlns:a="http://schemas.openxmlformats.org/drawingml/2006/main" noGrp="1"/>
          </p:cNvSpPr>
          <p:nvPr/>
        </p:nvSpPr>
        <p:spPr>
          <a:xfrm xmlns:a="http://schemas.openxmlformats.org/drawingml/2006/main">
            <a:off x="7715250" y="3743325"/>
            <a:ext cx="2019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57CB8F"/>
                </a:solidFill>
                <a:latin typeface="Arial"/>
                <a:ea typeface="Arial"/>
                <a:cs typeface="Arial"/>
              </a:defRPr>
            </a:pPr>
            <a:r>
              <a:rPr sz="1425" b="1">
                <a:solidFill>
                  <a:srgbClr val="57CB8F"/>
                </a:solidFill>
                <a:latin typeface="Arial"/>
                <a:ea typeface="Arial"/>
                <a:cs typeface="Arial"/>
              </a:rPr>
              <a:t>Allowed variation</a:t>
            </a:r>
          </a:p>
        </p:txBody>
      </p:sp>
      <p:sp>
        <p:nvSpPr>
          <p:cNvPr id="31" name="">
            <a:extLst xmlns:a="http://schemas.openxmlformats.org/drawingml/2006/main">
              <a:ext uri="{FF2B5EF4-FFF2-40B4-BE49-F238E27FC236}">
                <a16:creationId xmlns:a16="http://schemas.microsoft.com/office/drawing/2014/main" id="{6482E4FC-36FC-489E-A29F-93BBED553A5C}"/>
              </a:ext>
            </a:extLst>
          </p:cNvPr>
          <p:cNvSpPr>
            <a:spLocks xmlns:a="http://schemas.openxmlformats.org/drawingml/2006/main" noGrp="1"/>
          </p:cNvSpPr>
          <p:nvPr/>
        </p:nvSpPr>
        <p:spPr>
          <a:xfrm xmlns:a="http://schemas.openxmlformats.org/drawingml/2006/main">
            <a:off x="9877425" y="3743325"/>
            <a:ext cx="1704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2" name="">
            <a:extLst xmlns:a="http://schemas.openxmlformats.org/drawingml/2006/main">
              <a:ext uri="{FF2B5EF4-FFF2-40B4-BE49-F238E27FC236}">
                <a16:creationId xmlns:a16="http://schemas.microsoft.com/office/drawing/2014/main" id="{FC7E1B3F-B8F4-47CA-BACE-EA44F75C593B}"/>
              </a:ext>
            </a:extLst>
          </p:cNvPr>
          <p:cNvSpPr>
            <a:spLocks xmlns:a="http://schemas.openxmlformats.org/drawingml/2006/main" noGrp="1"/>
          </p:cNvSpPr>
          <p:nvPr/>
        </p:nvSpPr>
        <p:spPr>
          <a:xfrm xmlns:a="http://schemas.openxmlformats.org/drawingml/2006/main">
            <a:off x="5657850" y="3990975"/>
            <a:ext cx="5924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projection, not measured data. Limits are product-specific.</a:t>
            </a:r>
          </a:p>
        </p:txBody>
      </p:sp>
      <p:sp>
        <p:nvSpPr>
          <p:cNvPr id="33" name="">
            <a:extLst xmlns:a="http://schemas.openxmlformats.org/drawingml/2006/main">
              <a:ext uri="{FF2B5EF4-FFF2-40B4-BE49-F238E27FC236}">
                <a16:creationId xmlns:a16="http://schemas.microsoft.com/office/drawing/2014/main" id="{8E00FF1A-B52D-438B-859F-37603FBB7E65}"/>
              </a:ext>
            </a:extLst>
          </p:cNvPr>
          <p:cNvSpPr>
            <a:spLocks xmlns:a="http://schemas.openxmlformats.org/drawingml/2006/main" noGrp="1"/>
          </p:cNvSpPr>
          <p:nvPr/>
        </p:nvSpPr>
        <p:spPr>
          <a:xfrm xmlns:a="http://schemas.openxmlformats.org/drawingml/2006/main" flipH="0" flipV="0">
            <a:off x="609600" y="42957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A9315FA4-30D1-499F-9EF7-E18C9811EB93}"/>
              </a:ext>
            </a:extLst>
          </p:cNvPr>
          <p:cNvSpPr>
            <a:spLocks xmlns:a="http://schemas.openxmlformats.org/drawingml/2006/main" noGrp="1"/>
          </p:cNvSpPr>
          <p:nvPr/>
        </p:nvSpPr>
        <p:spPr>
          <a:xfrm xmlns:a="http://schemas.openxmlformats.org/drawingml/2006/main">
            <a:off x="609600" y="4343400"/>
            <a:ext cx="514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ILLUSTRATIVE INDEPENDENT SAMPLE · n = 200</a:t>
            </a:r>
          </a:p>
        </p:txBody>
      </p:sp>
      <p:graphicFrame>
        <p:nvGraphicFramePr>
          <p:cNvPr id="80" name="Chart"/>
          <p:cNvGraphicFramePr/>
          <p:nvPr/>
        </p:nvGraphicFramePr>
        <p:xfrm>
          <a:off xmlns:a="http://schemas.openxmlformats.org/drawingml/2006/main" x="609600" y="4610100"/>
          <a:ext xmlns:a="http://schemas.openxmlformats.org/drawingml/2006/main" cx="5143500" cy="1228725"/>
        </p:xfrm>
        <a:graphic xmlns:a="http://schemas.openxmlformats.org/drawingml/2006/main">
          <a:graphicData uri="http://schemas.openxmlformats.org/drawingml/2006/chart">
            <c:chart xmlns:r="http://schemas.openxmlformats.org/officeDocument/2006/relationships" xmlns:c="http://schemas.openxmlformats.org/drawingml/2006/chart" r:id="R36f5b6b22a2c4a65"/>
          </a:graphicData>
        </a:graphic>
      </p:graphicFrame>
      <p:sp>
        <p:nvSpPr>
          <p:cNvPr id="36" name="">
            <a:extLst xmlns:a="http://schemas.openxmlformats.org/drawingml/2006/main">
              <a:ext uri="{FF2B5EF4-FFF2-40B4-BE49-F238E27FC236}">
                <a16:creationId xmlns:a16="http://schemas.microsoft.com/office/drawing/2014/main" id="{3C80D6B1-D5D6-4648-B47F-253D0A0C5684}"/>
              </a:ext>
            </a:extLst>
          </p:cNvPr>
          <p:cNvSpPr>
            <a:spLocks xmlns:a="http://schemas.openxmlformats.org/drawingml/2006/main" noGrp="1"/>
          </p:cNvSpPr>
          <p:nvPr/>
        </p:nvSpPr>
        <p:spPr>
          <a:xfrm xmlns:a="http://schemas.openxmlformats.org/drawingml/2006/main" flipH="0" flipV="0">
            <a:off x="5953125" y="4391025"/>
            <a:ext cx="0" cy="13716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7" name="">
            <a:extLst xmlns:a="http://schemas.openxmlformats.org/drawingml/2006/main">
              <a:ext uri="{FF2B5EF4-FFF2-40B4-BE49-F238E27FC236}">
                <a16:creationId xmlns:a16="http://schemas.microsoft.com/office/drawing/2014/main" id="{5BC33692-3EBE-4653-919E-43340F522ACA}"/>
              </a:ext>
            </a:extLst>
          </p:cNvPr>
          <p:cNvSpPr>
            <a:spLocks xmlns:a="http://schemas.openxmlformats.org/drawingml/2006/main" noGrp="1"/>
          </p:cNvSpPr>
          <p:nvPr/>
        </p:nvSpPr>
        <p:spPr>
          <a:xfrm xmlns:a="http://schemas.openxmlformats.org/drawingml/2006/main">
            <a:off x="6286500" y="4343400"/>
            <a:ext cx="2324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Arial"/>
                <a:ea typeface="Arial"/>
                <a:cs typeface="Arial"/>
              </a:defRPr>
            </a:pPr>
            <a:r>
              <a:rPr sz="2325" b="1">
                <a:solidFill>
                  <a:srgbClr val="F4F7FA"/>
                </a:solidFill>
                <a:latin typeface="Arial"/>
                <a:ea typeface="Arial"/>
                <a:cs typeface="Arial"/>
              </a:rPr>
              <a:t>4 / 200 = 2%</a:t>
            </a:r>
          </a:p>
        </p:txBody>
      </p:sp>
      <p:sp>
        <p:nvSpPr>
          <p:cNvPr id="38" name="">
            <a:extLst xmlns:a="http://schemas.openxmlformats.org/drawingml/2006/main">
              <a:ext uri="{FF2B5EF4-FFF2-40B4-BE49-F238E27FC236}">
                <a16:creationId xmlns:a16="http://schemas.microsoft.com/office/drawing/2014/main" id="{0C811F5B-39A3-4FA5-8B4A-A74F3EF48851}"/>
              </a:ext>
            </a:extLst>
          </p:cNvPr>
          <p:cNvSpPr>
            <a:spLocks xmlns:a="http://schemas.openxmlformats.org/drawingml/2006/main" noGrp="1"/>
          </p:cNvSpPr>
          <p:nvPr/>
        </p:nvSpPr>
        <p:spPr>
          <a:xfrm xmlns:a="http://schemas.openxmlformats.org/drawingml/2006/main">
            <a:off x="8658225" y="4410075"/>
            <a:ext cx="2924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Any contract violation</a:t>
            </a:r>
          </a:p>
        </p:txBody>
      </p:sp>
      <p:sp>
        <p:nvSpPr>
          <p:cNvPr id="39" name="">
            <a:extLst xmlns:a="http://schemas.openxmlformats.org/drawingml/2006/main">
              <a:ext uri="{FF2B5EF4-FFF2-40B4-BE49-F238E27FC236}">
                <a16:creationId xmlns:a16="http://schemas.microsoft.com/office/drawing/2014/main" id="{AC20015E-6540-4D5F-A2F5-CCE6EBE7D62F}"/>
              </a:ext>
            </a:extLst>
          </p:cNvPr>
          <p:cNvSpPr>
            <a:spLocks xmlns:a="http://schemas.openxmlformats.org/drawingml/2006/main" noGrp="1"/>
          </p:cNvSpPr>
          <p:nvPr/>
        </p:nvSpPr>
        <p:spPr>
          <a:xfrm xmlns:a="http://schemas.openxmlformats.org/drawingml/2006/main">
            <a:off x="6286500" y="4733925"/>
            <a:ext cx="5295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28C7F7"/>
                </a:solidFill>
                <a:latin typeface="Arial"/>
                <a:ea typeface="Arial"/>
                <a:cs typeface="Arial"/>
              </a:defRPr>
            </a:pPr>
            <a:r>
              <a:rPr sz="1650" b="0">
                <a:solidFill>
                  <a:srgbClr val="28C7F7"/>
                </a:solidFill>
                <a:latin typeface="Arial"/>
                <a:ea typeface="Arial"/>
                <a:cs typeface="Arial"/>
              </a:rPr>
              <a:t>95% Wilson interval ≈ 0.8%–5.0%</a:t>
            </a:r>
          </a:p>
        </p:txBody>
      </p:sp>
      <p:sp>
        <p:nvSpPr>
          <p:cNvPr id="40" name="">
            <a:extLst xmlns:a="http://schemas.openxmlformats.org/drawingml/2006/main">
              <a:ext uri="{FF2B5EF4-FFF2-40B4-BE49-F238E27FC236}">
                <a16:creationId xmlns:a16="http://schemas.microsoft.com/office/drawing/2014/main" id="{06D00EA8-61A4-43CF-8A2C-9EC92D0D7CD8}"/>
              </a:ext>
            </a:extLst>
          </p:cNvPr>
          <p:cNvSpPr>
            <a:spLocks xmlns:a="http://schemas.openxmlformats.org/drawingml/2006/main" noGrp="1"/>
          </p:cNvSpPr>
          <p:nvPr/>
        </p:nvSpPr>
        <p:spPr>
          <a:xfrm xmlns:a="http://schemas.openxmlformats.org/drawingml/2006/main">
            <a:off x="6286500" y="5038725"/>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3 incorrect instructions → rework</a:t>
            </a:r>
          </a:p>
        </p:txBody>
      </p:sp>
      <p:sp>
        <p:nvSpPr>
          <p:cNvPr id="41" name="">
            <a:extLst xmlns:a="http://schemas.openxmlformats.org/drawingml/2006/main">
              <a:ext uri="{FF2B5EF4-FFF2-40B4-BE49-F238E27FC236}">
                <a16:creationId xmlns:a16="http://schemas.microsoft.com/office/drawing/2014/main" id="{D6ACCBC6-BAB6-4589-BD31-3AAF1E58F14D}"/>
              </a:ext>
            </a:extLst>
          </p:cNvPr>
          <p:cNvSpPr>
            <a:spLocks xmlns:a="http://schemas.openxmlformats.org/drawingml/2006/main" noGrp="1"/>
          </p:cNvSpPr>
          <p:nvPr/>
        </p:nvSpPr>
        <p:spPr>
          <a:xfrm xmlns:a="http://schemas.openxmlformats.org/drawingml/2006/main">
            <a:off x="6286500" y="5295900"/>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F6B75"/>
                </a:solidFill>
                <a:latin typeface="Arial"/>
                <a:ea typeface="Arial"/>
                <a:cs typeface="Arial"/>
              </a:defRPr>
            </a:pPr>
            <a:r>
              <a:rPr sz="1500" b="0">
                <a:solidFill>
                  <a:srgbClr val="FF6B75"/>
                </a:solidFill>
                <a:latin typeface="Arial"/>
                <a:ea typeface="Arial"/>
                <a:cs typeface="Arial"/>
              </a:rPr>
              <a:t>1 privacy leak → critical breach</a:t>
            </a:r>
          </a:p>
        </p:txBody>
      </p:sp>
      <p:sp>
        <p:nvSpPr>
          <p:cNvPr id="42" name="">
            <a:extLst xmlns:a="http://schemas.openxmlformats.org/drawingml/2006/main">
              <a:ext uri="{FF2B5EF4-FFF2-40B4-BE49-F238E27FC236}">
                <a16:creationId xmlns:a16="http://schemas.microsoft.com/office/drawing/2014/main" id="{33353760-96C0-4BD9-98E7-A8246EC30BB9}"/>
              </a:ext>
            </a:extLst>
          </p:cNvPr>
          <p:cNvSpPr>
            <a:spLocks xmlns:a="http://schemas.openxmlformats.org/drawingml/2006/main" noGrp="1"/>
          </p:cNvSpPr>
          <p:nvPr/>
        </p:nvSpPr>
        <p:spPr>
          <a:xfrm xmlns:a="http://schemas.openxmlformats.org/drawingml/2006/main">
            <a:off x="6286500" y="5562600"/>
            <a:ext cx="5295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Arial"/>
                <a:ea typeface="Arial"/>
                <a:cs typeface="Arial"/>
              </a:defRPr>
            </a:pPr>
            <a:r>
              <a:rPr sz="1725" b="1">
                <a:solidFill>
                  <a:srgbClr val="FF6B75"/>
                </a:solidFill>
                <a:latin typeface="Arial"/>
                <a:ea typeface="Arial"/>
                <a:cs typeface="Arial"/>
              </a:rPr>
              <a:t>Critical breach → BLOCK RELEASE</a:t>
            </a:r>
          </a:p>
        </p:txBody>
      </p:sp>
      <p:sp>
        <p:nvSpPr>
          <p:cNvPr id="43" name="">
            <a:extLst xmlns:a="http://schemas.openxmlformats.org/drawingml/2006/main">
              <a:ext uri="{FF2B5EF4-FFF2-40B4-BE49-F238E27FC236}">
                <a16:creationId xmlns:a16="http://schemas.microsoft.com/office/drawing/2014/main" id="{D9402F08-302E-43F6-900B-19376606616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Golden Set: probe known scenarios. Representative sample: estimate error rates.</a:t>
            </a:r>
          </a:p>
        </p:txBody>
      </p:sp>
      <p:sp>
        <p:nvSpPr>
          <p:cNvPr id="44" name="">
            <a:extLst xmlns:a="http://schemas.openxmlformats.org/drawingml/2006/main">
              <a:ext uri="{FF2B5EF4-FFF2-40B4-BE49-F238E27FC236}">
                <a16:creationId xmlns:a16="http://schemas.microsoft.com/office/drawing/2014/main" id="{6A0CF745-8399-4E50-BB68-40E0949E53B1}"/>
              </a:ext>
            </a:extLst>
          </p:cNvPr>
          <p:cNvSpPr>
            <a:spLocks xmlns:a="http://schemas.openxmlformats.org/drawingml/2006/main" noGrp="1"/>
          </p:cNvSpPr>
          <p:nvPr/>
        </p:nvSpPr>
        <p:spPr>
          <a:xfrm xmlns:a="http://schemas.openxmlformats.org/drawingml/2006/main">
            <a:off x="609600" y="62007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QA + domain experts calibrate scoring. Eval Gates compare evidence with release criteria.</a:t>
            </a:r>
          </a:p>
        </p:txBody>
      </p:sp>
      <p:sp>
        <p:nvSpPr>
          <p:cNvPr id="45" name="">
            <a:extLst xmlns:a="http://schemas.openxmlformats.org/drawingml/2006/main">
              <a:ext uri="{FF2B5EF4-FFF2-40B4-BE49-F238E27FC236}">
                <a16:creationId xmlns:a16="http://schemas.microsoft.com/office/drawing/2014/main" id="{A1C28D1B-B5C5-4C18-BFB4-2B9AF34D7BFD}"/>
              </a:ext>
            </a:extLst>
          </p:cNvPr>
          <p:cNvSpPr>
            <a:spLocks xmlns:a="http://schemas.openxmlformats.org/drawingml/2006/main" noGrp="1"/>
          </p:cNvSpPr>
          <p:nvPr/>
        </p:nvSpPr>
        <p:spPr>
          <a:xfrm xmlns:a="http://schemas.openxmlformats.org/drawingml/2006/main">
            <a:off x="609600" y="6486525"/>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A low average error rate does not excuse a prohibited disclosure.</a:t>
            </a:r>
          </a:p>
        </p:txBody>
      </p:sp>
    </p:spTree>
    <p:extLst>
      <p:ext uri="{BB962C8B-B14F-4D97-AF65-F5344CB8AC3E}">
        <p14:creationId xmlns:p14="http://schemas.microsoft.com/office/powerpoint/2010/main" val="367369909"/>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3428542-7BEE-4717-A72E-8226093602B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DoR / DoD Become Risk Contracts</a:t>
            </a:r>
          </a:p>
        </p:txBody>
      </p:sp>
      <p:sp>
        <p:nvSpPr>
          <p:cNvPr id="2" name="">
            <a:extLst xmlns:a="http://schemas.openxmlformats.org/drawingml/2006/main">
              <a:ext uri="{FF2B5EF4-FFF2-40B4-BE49-F238E27FC236}">
                <a16:creationId xmlns:a16="http://schemas.microsoft.com/office/drawing/2014/main" id="{36A9D5E6-09A9-4B2D-A388-2DEC3ACCDE4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4BE611A-E025-44DF-A477-B0A61DE762B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FBEE48F4-622B-4EB2-8027-822C95F30DB4}"/>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 PO + BA · DEVELOPERS + QA · PROJECT MANAGER · OPERATIONS</a:t>
            </a:r>
          </a:p>
        </p:txBody>
      </p:sp>
      <p:sp>
        <p:nvSpPr>
          <p:cNvPr id="5" name="">
            <a:extLst xmlns:a="http://schemas.openxmlformats.org/drawingml/2006/main">
              <a:ext uri="{FF2B5EF4-FFF2-40B4-BE49-F238E27FC236}">
                <a16:creationId xmlns:a16="http://schemas.microsoft.com/office/drawing/2014/main" id="{14971F22-3652-4DF8-9DB4-806A050F1B21}"/>
              </a:ext>
            </a:extLst>
          </p:cNvPr>
          <p:cNvSpPr>
            <a:spLocks xmlns:a="http://schemas.openxmlformats.org/drawingml/2006/main" noGrp="1"/>
          </p:cNvSpPr>
          <p:nvPr/>
        </p:nvSpPr>
        <p:spPr>
          <a:xfrm xmlns:a="http://schemas.openxmlformats.org/drawingml/2006/main">
            <a:off x="609600" y="202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IT assistant: the observed privacy breach blocks this candidate.</a:t>
            </a:r>
          </a:p>
        </p:txBody>
      </p:sp>
      <p:graphicFrame>
        <p:nvGraphicFramePr>
          <p:cNvPr id="17" name=""/>
          <p:cNvGraphicFramePr/>
          <p:nvPr/>
        </p:nvGraphicFramePr>
        <p:xfrm>
          <a:off xmlns:a="http://schemas.openxmlformats.org/drawingml/2006/main" x="609600" y="2381250"/>
          <a:ext xmlns:a="http://schemas.openxmlformats.org/drawingml/2006/main" cx="10972800" cy="2781300"/>
        </p:xfrm>
        <a:graphic xmlns:a="http://schemas.openxmlformats.org/drawingml/2006/main">
          <a:graphicData uri="http://schemas.openxmlformats.org/drawingml/2006/table">
            <a:tbl>
              <a:tblPr/>
              <a:tblGrid>
                <a:gridCol w="1562100"/>
                <a:gridCol w="3810000"/>
                <a:gridCol w="5600700"/>
              </a:tblGrid>
              <a:tr h="381000">
                <a:tc>
                  <a:txBody>
                    <a:bodyPr lIns="171450" tIns="76200" rIns="171450" bIns="76200">
                      <a:noAutofit/>
                    </a:bodyPr>
                    <a:lstStyle/>
                    <a:p>
                      <a:r>
                        <a:rPr sz="1575" b="1">
                          <a:solidFill>
                            <a:srgbClr val="F4F7FA"/>
                          </a:solidFill>
                          <a:latin typeface="Arial"/>
                          <a:ea typeface="Arial"/>
                          <a:cs typeface="Arial"/>
                        </a:rPr>
                        <a:t>CONTRACT</a:t>
                      </a:r>
                    </a:p>
                  </a:txBody>
                  <a:tcPr marL="91440" marR="91440" marT="45720" marB="45720" anchor="ctr">
                    <a:solidFill>
                      <a:srgbClr val="1A2734"/>
                    </a:solidFill>
                  </a:tcPr>
                </a:tc>
                <a:tc>
                  <a:txBody>
                    <a:bodyPr lIns="171450" tIns="76200" rIns="171450" bIns="76200">
                      <a:noAutofit/>
                    </a:bodyPr>
                    <a:lstStyle/>
                    <a:p>
                      <a:r>
                        <a:rPr sz="1575" b="1">
                          <a:solidFill>
                            <a:srgbClr val="F4F7FA"/>
                          </a:solidFill>
                          <a:latin typeface="Arial"/>
                          <a:ea typeface="Arial"/>
                          <a:cs typeface="Arial"/>
                        </a:rPr>
                        <a:t>TRADITIONAL DoR / DoD</a:t>
                      </a:r>
                    </a:p>
                  </a:txBody>
                  <a:tcPr marL="91440" marR="91440" marT="45720" marB="45720" anchor="ctr">
                    <a:solidFill>
                      <a:srgbClr val="1A2734"/>
                    </a:solidFill>
                  </a:tcPr>
                </a:tc>
                <a:tc>
                  <a:txBody>
                    <a:bodyPr lIns="171450" tIns="76200" rIns="171450" bIns="76200">
                      <a:noAutofit/>
                    </a:bodyPr>
                    <a:lstStyle/>
                    <a:p>
                      <a:r>
                        <a:rPr sz="1575" b="1">
                          <a:solidFill>
                            <a:srgbClr val="28C7F7"/>
                          </a:solidFill>
                          <a:latin typeface="Arial"/>
                          <a:ea typeface="Arial"/>
                          <a:cs typeface="Arial"/>
                        </a:rPr>
                        <a:t>IT ASSISTANT: ADDED REQUIREMENTS</a:t>
                      </a:r>
                    </a:p>
                  </a:txBody>
                  <a:tcPr marL="91440" marR="91440" marT="45720" marB="45720" anchor="ctr">
                    <a:solidFill>
                      <a:srgbClr val="1A2734"/>
                    </a:solidFill>
                  </a:tcPr>
                </a:tc>
              </a:tr>
              <a:tr h="1200150">
                <a:tc>
                  <a:txBody>
                    <a:bodyPr lIns="171450" tIns="76200" rIns="171450" bIns="76200">
                      <a:noAutofit/>
                    </a:bodyPr>
                    <a:lstStyle/>
                    <a:p>
                      <a:r>
                        <a:rPr sz="1575" b="1">
                          <a:solidFill>
                            <a:srgbClr val="F4F7FA"/>
                          </a:solidFill>
                          <a:latin typeface="Arial"/>
                          <a:ea typeface="Arial"/>
                          <a:cs typeface="Arial"/>
                        </a:rPr>
                        <a:t>DoR</a:t>
                      </a:r>
                    </a:p>
                    <a:p>
                      <a:r>
                        <a:rPr sz="1575" b="1">
                          <a:solidFill>
                            <a:srgbClr val="F4F7FA"/>
                          </a:solidFill>
                          <a:latin typeface="Arial"/>
                          <a:ea typeface="Arial"/>
                          <a:cs typeface="Arial"/>
                        </a:rPr>
                        <a:t>READY</a:t>
                      </a:r>
                    </a:p>
                  </a:txBody>
                  <a:tcPr marL="91440" marR="91440" marT="45720" marB="45720" anchor="ctr">
                    <a:solidFill>
                      <a:srgbClr val="0B0F14"/>
                    </a:solidFill>
                  </a:tcPr>
                </a:tc>
                <a:tc>
                  <a:txBody>
                    <a:bodyPr lIns="171450" tIns="76200" rIns="171450" bIns="76200">
                      <a:noAutofit/>
                    </a:bodyPr>
                    <a:lstStyle/>
                    <a:p>
                      <a:r>
                        <a:rPr sz="1575" b="0">
                          <a:solidFill>
                            <a:srgbClr val="F4F7FA"/>
                          </a:solidFill>
                          <a:latin typeface="Arial"/>
                          <a:ea typeface="Arial"/>
                          <a:cs typeface="Arial"/>
                        </a:rPr>
                        <a:t>Outcome and acceptance criteria</a:t>
                      </a:r>
                    </a:p>
                    <a:p>
                      <a:r>
                        <a:rPr sz="1575" b="0">
                          <a:solidFill>
                            <a:srgbClr val="F4F7FA"/>
                          </a:solidFill>
                          <a:latin typeface="Arial"/>
                          <a:ea typeface="Arial"/>
                          <a:cs typeface="Arial"/>
                        </a:rPr>
                        <a:t>Dependencies and feasibility</a:t>
                      </a:r>
                    </a:p>
                    <a:p>
                      <a:r>
                        <a:rPr sz="1575" b="0">
                          <a:solidFill>
                            <a:srgbClr val="F4F7FA"/>
                          </a:solidFill>
                          <a:latin typeface="Arial"/>
                          <a:ea typeface="Arial"/>
                          <a:cs typeface="Arial"/>
                        </a:rPr>
                        <a:t>Test approach and responsibilities</a:t>
                      </a:r>
                    </a:p>
                  </a:txBody>
                  <a:tcPr marL="91440" marR="91440" marT="45720" marB="45720" anchor="ctr">
                    <a:solidFill>
                      <a:srgbClr val="0B0F14"/>
                    </a:solidFill>
                  </a:tcPr>
                </a:tc>
                <a:tc>
                  <a:txBody>
                    <a:bodyPr lIns="171450" tIns="76200" rIns="171450" bIns="76200">
                      <a:noAutofit/>
                    </a:bodyPr>
                    <a:lstStyle/>
                    <a:p>
                      <a:r>
                        <a:rPr sz="1575" b="0">
                          <a:solidFill>
                            <a:srgbClr val="28C7F7"/>
                          </a:solidFill>
                          <a:latin typeface="Arial"/>
                          <a:ea typeface="Arial"/>
                          <a:cs typeface="Arial"/>
                        </a:rPr>
                        <a:t>Approved guidance + prohibited outcomes</a:t>
                      </a:r>
                    </a:p>
                    <a:p>
                      <a:r>
                        <a:rPr sz="1575" b="0">
                          <a:solidFill>
                            <a:srgbClr val="28C7F7"/>
                          </a:solidFill>
                          <a:latin typeface="Arial"/>
                          <a:ea typeface="Arial"/>
                          <a:cs typeface="Arial"/>
                        </a:rPr>
                        <a:t>Evaluation, controls and human-response plan</a:t>
                      </a:r>
                    </a:p>
                    <a:p>
                      <a:r>
                        <a:rPr sz="1575" b="0">
                          <a:solidFill>
                            <a:srgbClr val="28C7F7"/>
                          </a:solidFill>
                          <a:latin typeface="Arial"/>
                          <a:ea typeface="Arial"/>
                          <a:cs typeface="Arial"/>
                        </a:rPr>
                        <a:t>Cost, latency and capacity limits</a:t>
                      </a:r>
                    </a:p>
                  </a:txBody>
                  <a:tcPr marL="91440" marR="91440" marT="45720" marB="45720" anchor="ctr">
                    <a:solidFill>
                      <a:srgbClr val="0B0F14"/>
                    </a:solidFill>
                  </a:tcPr>
                </a:tc>
              </a:tr>
              <a:tr h="1200150">
                <a:tc>
                  <a:txBody>
                    <a:bodyPr lIns="171450" tIns="76200" rIns="171450" bIns="76200">
                      <a:noAutofit/>
                    </a:bodyPr>
                    <a:lstStyle/>
                    <a:p>
                      <a:r>
                        <a:rPr sz="1575" b="1">
                          <a:solidFill>
                            <a:srgbClr val="F4F7FA"/>
                          </a:solidFill>
                          <a:latin typeface="Arial"/>
                          <a:ea typeface="Arial"/>
                          <a:cs typeface="Arial"/>
                        </a:rPr>
                        <a:t>DoD</a:t>
                      </a:r>
                    </a:p>
                    <a:p>
                      <a:r>
                        <a:rPr sz="1575" b="1">
                          <a:solidFill>
                            <a:srgbClr val="F4F7FA"/>
                          </a:solidFill>
                          <a:latin typeface="Arial"/>
                          <a:ea typeface="Arial"/>
                          <a:cs typeface="Arial"/>
                        </a:rPr>
                        <a:t>DONE</a:t>
                      </a:r>
                    </a:p>
                  </a:txBody>
                  <a:tcPr marL="91440" marR="91440" marT="45720" marB="45720" anchor="ctr">
                    <a:solidFill>
                      <a:srgbClr val="0B0F14"/>
                    </a:solidFill>
                  </a:tcPr>
                </a:tc>
                <a:tc>
                  <a:txBody>
                    <a:bodyPr lIns="171450" tIns="76200" rIns="171450" bIns="76200">
                      <a:noAutofit/>
                    </a:bodyPr>
                    <a:lstStyle/>
                    <a:p>
                      <a:r>
                        <a:rPr sz="1575" b="0">
                          <a:solidFill>
                            <a:srgbClr val="F4F7FA"/>
                          </a:solidFill>
                          <a:latin typeface="Arial"/>
                          <a:ea typeface="Arial"/>
                          <a:cs typeface="Arial"/>
                        </a:rPr>
                        <a:t>Reviewed implementation</a:t>
                      </a:r>
                    </a:p>
                    <a:p>
                      <a:r>
                        <a:rPr sz="1575" b="0">
                          <a:solidFill>
                            <a:srgbClr val="F4F7FA"/>
                          </a:solidFill>
                          <a:latin typeface="Arial"/>
                          <a:ea typeface="Arial"/>
                          <a:cs typeface="Arial"/>
                        </a:rPr>
                        <a:t>Tests and acceptance checks pass</a:t>
                      </a:r>
                    </a:p>
                    <a:p>
                      <a:r>
                        <a:rPr sz="1575" b="0">
                          <a:solidFill>
                            <a:srgbClr val="F4F7FA"/>
                          </a:solidFill>
                          <a:latin typeface="Arial"/>
                          <a:ea typeface="Arial"/>
                          <a:cs typeface="Arial"/>
                        </a:rPr>
                        <a:t>Operational handover is ready</a:t>
                      </a:r>
                    </a:p>
                  </a:txBody>
                  <a:tcPr marL="91440" marR="91440" marT="45720" marB="45720" anchor="ctr">
                    <a:solidFill>
                      <a:srgbClr val="0B0F14"/>
                    </a:solidFill>
                  </a:tcPr>
                </a:tc>
                <a:tc>
                  <a:txBody>
                    <a:bodyPr lIns="171450" tIns="76200" rIns="171450" bIns="76200">
                      <a:noAutofit/>
                    </a:bodyPr>
                    <a:lstStyle/>
                    <a:p>
                      <a:r>
                        <a:rPr sz="1575" b="0">
                          <a:solidFill>
                            <a:srgbClr val="28C7F7"/>
                          </a:solidFill>
                          <a:latin typeface="Arial"/>
                          <a:ea typeface="Arial"/>
                          <a:cs typeface="Arial"/>
                        </a:rPr>
                        <a:t>Versioned evidence meets evaluation criteria</a:t>
                      </a:r>
                    </a:p>
                    <a:p>
                      <a:r>
                        <a:rPr sz="1575" b="0">
                          <a:solidFill>
                            <a:srgbClr val="28C7F7"/>
                          </a:solidFill>
                          <a:latin typeface="Arial"/>
                          <a:ea typeface="Arial"/>
                          <a:cs typeface="Arial"/>
                        </a:rPr>
                        <a:t>Permission checks + rehearsed support fallback</a:t>
                      </a:r>
                    </a:p>
                    <a:p>
                      <a:r>
                        <a:rPr sz="1575" b="0">
                          <a:solidFill>
                            <a:srgbClr val="28C7F7"/>
                          </a:solidFill>
                          <a:latin typeface="Arial"/>
                          <a:ea typeface="Arial"/>
                          <a:cs typeface="Arial"/>
                        </a:rPr>
                        <a:t>Measured cost, latency and responder capacity</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88E0FC42-DD02-4DA9-92E4-B8903220D442}"/>
              </a:ext>
            </a:extLst>
          </p:cNvPr>
          <p:cNvSpPr>
            <a:spLocks xmlns:a="http://schemas.openxmlformats.org/drawingml/2006/main" noGrp="1"/>
          </p:cNvSpPr>
          <p:nvPr/>
        </p:nvSpPr>
        <p:spPr>
          <a:xfrm xmlns:a="http://schemas.openxmlformats.org/drawingml/2006/main">
            <a:off x="609600" y="52673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RELEASE OWNER: AUTHORIZE · SERVICE OWNER: OPERATE</a:t>
            </a:r>
          </a:p>
        </p:txBody>
      </p:sp>
      <p:sp>
        <p:nvSpPr>
          <p:cNvPr id="8" name="">
            <a:extLst xmlns:a="http://schemas.openxmlformats.org/drawingml/2006/main">
              <a:ext uri="{FF2B5EF4-FFF2-40B4-BE49-F238E27FC236}">
                <a16:creationId xmlns:a16="http://schemas.microsoft.com/office/drawing/2014/main" id="{475CDFC5-774D-49A3-A6DC-B3D016348889}"/>
              </a:ext>
            </a:extLst>
          </p:cNvPr>
          <p:cNvSpPr>
            <a:spLocks xmlns:a="http://schemas.openxmlformats.org/drawingml/2006/main" noGrp="1"/>
          </p:cNvSpPr>
          <p:nvPr/>
        </p:nvSpPr>
        <p:spPr>
          <a:xfrm xmlns:a="http://schemas.openxmlformats.org/drawingml/2006/main">
            <a:off x="609600" y="55435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Approve scope and residual risk after the team demonstrates criteria and working controls.</a:t>
            </a:r>
          </a:p>
        </p:txBody>
      </p:sp>
      <p:sp>
        <p:nvSpPr>
          <p:cNvPr id="9" name="">
            <a:extLst xmlns:a="http://schemas.openxmlformats.org/drawingml/2006/main">
              <a:ext uri="{FF2B5EF4-FFF2-40B4-BE49-F238E27FC236}">
                <a16:creationId xmlns:a16="http://schemas.microsoft.com/office/drawing/2014/main" id="{1D3F24CC-21D0-44E2-AD27-F0CF32F1C26D}"/>
              </a:ext>
            </a:extLst>
          </p:cNvPr>
          <p:cNvSpPr>
            <a:spLocks xmlns:a="http://schemas.openxmlformats.org/drawingml/2006/main" noGrp="1"/>
          </p:cNvSpPr>
          <p:nvPr/>
        </p:nvSpPr>
        <p:spPr>
          <a:xfrm xmlns:a="http://schemas.openxmlformats.org/drawingml/2006/main">
            <a:off x="609600" y="583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28C7F7"/>
                </a:solidFill>
                <a:latin typeface="Arial"/>
                <a:ea typeface="Arial"/>
                <a:cs typeface="Arial"/>
              </a:defRPr>
            </a:pPr>
            <a:r>
              <a:rPr sz="1500" b="0">
                <a:solidFill>
                  <a:srgbClr val="28C7F7"/>
                </a:solidFill>
                <a:latin typeface="Arial"/>
                <a:ea typeface="Arial"/>
                <a:cs typeface="Arial"/>
              </a:rPr>
              <a:t>Service owner verifies response capacity. Incidents become regression cases.</a:t>
            </a:r>
          </a:p>
        </p:txBody>
      </p:sp>
      <p:sp>
        <p:nvSpPr>
          <p:cNvPr id="10" name="">
            <a:extLst xmlns:a="http://schemas.openxmlformats.org/drawingml/2006/main">
              <a:ext uri="{FF2B5EF4-FFF2-40B4-BE49-F238E27FC236}">
                <a16:creationId xmlns:a16="http://schemas.microsoft.com/office/drawing/2014/main" id="{A8D8DD18-B630-4A63-BDF2-F4AB990AE2DE}"/>
              </a:ext>
            </a:extLst>
          </p:cNvPr>
          <p:cNvSpPr>
            <a:spLocks xmlns:a="http://schemas.openxmlformats.org/drawingml/2006/main" noGrp="1"/>
          </p:cNvSpPr>
          <p:nvPr/>
        </p:nvSpPr>
        <p:spPr>
          <a:xfrm xmlns:a="http://schemas.openxmlformats.org/drawingml/2006/main">
            <a:off x="609600" y="61436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DoR is a team practice. DoD is a shared quality commitment. Release requires authorization.</a:t>
            </a:r>
          </a:p>
        </p:txBody>
      </p:sp>
      <p:sp>
        <p:nvSpPr>
          <p:cNvPr id="11" name="">
            <a:extLst xmlns:a="http://schemas.openxmlformats.org/drawingml/2006/main">
              <a:ext uri="{FF2B5EF4-FFF2-40B4-BE49-F238E27FC236}">
                <a16:creationId xmlns:a16="http://schemas.microsoft.com/office/drawing/2014/main" id="{CFA05E48-6947-4B49-8FD1-393DF2085BE3}"/>
              </a:ext>
            </a:extLst>
          </p:cNvPr>
          <p:cNvSpPr>
            <a:spLocks xmlns:a="http://schemas.openxmlformats.org/drawingml/2006/main" noGrp="1"/>
          </p:cNvSpPr>
          <p:nvPr/>
        </p:nvSpPr>
        <p:spPr>
          <a:xfrm xmlns:a="http://schemas.openxmlformats.org/drawingml/2006/main">
            <a:off x="609600" y="64389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4F7FA"/>
                </a:solidFill>
                <a:latin typeface="Arial"/>
                <a:ea typeface="Arial"/>
                <a:cs typeface="Arial"/>
              </a:defRPr>
            </a:pPr>
            <a:r>
              <a:rPr sz="1650" b="1">
                <a:solidFill>
                  <a:srgbClr val="F4F7FA"/>
                </a:solidFill>
                <a:latin typeface="Arial"/>
                <a:ea typeface="Arial"/>
                <a:cs typeface="Arial"/>
              </a:rPr>
              <a:t>Ready: a credible plan. Done: implemented and evidenced. Release: authorized use.</a:t>
            </a:r>
          </a:p>
        </p:txBody>
      </p:sp>
    </p:spTree>
    <p:extLst>
      <p:ext uri="{BB962C8B-B14F-4D97-AF65-F5344CB8AC3E}">
        <p14:creationId xmlns:p14="http://schemas.microsoft.com/office/powerpoint/2010/main" val="1303675791"/>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20671BDD-2536-4B85-AA60-B898D50775C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Production Needs a Control Loop</a:t>
            </a:r>
          </a:p>
        </p:txBody>
      </p:sp>
      <p:sp>
        <p:nvSpPr>
          <p:cNvPr id="2" name="">
            <a:extLst xmlns:a="http://schemas.openxmlformats.org/drawingml/2006/main">
              <a:ext uri="{FF2B5EF4-FFF2-40B4-BE49-F238E27FC236}">
                <a16:creationId xmlns:a16="http://schemas.microsoft.com/office/drawing/2014/main" id="{7DF425F2-9954-406C-A848-B4613402895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1A5D7A0D-EF11-42A4-81C2-F0892C8BE90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2B8A491D-B3DB-4695-9575-157543B3FC33}"/>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ARCHITECT + DEV: implement · QA: verify · SERVICE OWNER: operate · PM: dependencies</a:t>
            </a:r>
          </a:p>
        </p:txBody>
      </p:sp>
      <p:sp>
        <p:nvSpPr>
          <p:cNvPr id="5" name="">
            <a:extLst xmlns:a="http://schemas.openxmlformats.org/drawingml/2006/main">
              <a:ext uri="{FF2B5EF4-FFF2-40B4-BE49-F238E27FC236}">
                <a16:creationId xmlns:a16="http://schemas.microsoft.com/office/drawing/2014/main" id="{5A0055DC-EE32-457D-9C17-1A11608FA354}"/>
              </a:ext>
            </a:extLst>
          </p:cNvPr>
          <p:cNvSpPr>
            <a:spLocks xmlns:a="http://schemas.openxmlformats.org/drawingml/2006/main" noGrp="1"/>
          </p:cNvSpPr>
          <p:nvPr/>
        </p:nvSpPr>
        <p:spPr>
          <a:xfrm xmlns:a="http://schemas.openxmlformats.org/drawingml/2006/main">
            <a:off x="609600" y="20764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IT ASSISTANT: CONTROL BEFORE ACTION AND AFTER DEPLOYMENT</a:t>
            </a:r>
          </a:p>
        </p:txBody>
      </p:sp>
      <p:sp>
        <p:nvSpPr>
          <p:cNvPr id="6" name="">
            <a:extLst xmlns:a="http://schemas.openxmlformats.org/drawingml/2006/main">
              <a:ext uri="{FF2B5EF4-FFF2-40B4-BE49-F238E27FC236}">
                <a16:creationId xmlns:a16="http://schemas.microsoft.com/office/drawing/2014/main" id="{7E422E1C-3A6F-4D8A-B39E-74BB37F105C9}"/>
              </a:ext>
            </a:extLst>
          </p:cNvPr>
          <p:cNvSpPr>
            <a:spLocks xmlns:a="http://schemas.openxmlformats.org/drawingml/2006/main" noGrp="1"/>
          </p:cNvSpPr>
          <p:nvPr/>
        </p:nvSpPr>
        <p:spPr>
          <a:xfrm xmlns:a="http://schemas.openxmlformats.org/drawingml/2006/main">
            <a:off x="60960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0B715A56-4590-49DB-AD62-7AB1502924FB}"/>
              </a:ext>
            </a:extLst>
          </p:cNvPr>
          <p:cNvSpPr>
            <a:spLocks xmlns:a="http://schemas.openxmlformats.org/drawingml/2006/main" noGrp="1"/>
          </p:cNvSpPr>
          <p:nvPr/>
        </p:nvSpPr>
        <p:spPr>
          <a:xfrm xmlns:a="http://schemas.openxmlformats.org/drawingml/2006/main">
            <a:off x="72390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Model</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proposal</a:t>
            </a:r>
          </a:p>
        </p:txBody>
      </p:sp>
      <p:sp>
        <p:nvSpPr>
          <p:cNvPr id="8" name="">
            <a:extLst xmlns:a="http://schemas.openxmlformats.org/drawingml/2006/main">
              <a:ext uri="{FF2B5EF4-FFF2-40B4-BE49-F238E27FC236}">
                <a16:creationId xmlns:a16="http://schemas.microsoft.com/office/drawing/2014/main" id="{FE703524-0FBF-487B-8669-C657658724E5}"/>
              </a:ext>
            </a:extLst>
          </p:cNvPr>
          <p:cNvSpPr>
            <a:spLocks xmlns:a="http://schemas.openxmlformats.org/drawingml/2006/main" noGrp="1"/>
          </p:cNvSpPr>
          <p:nvPr/>
        </p:nvSpPr>
        <p:spPr>
          <a:xfrm xmlns:a="http://schemas.openxmlformats.org/drawingml/2006/main">
            <a:off x="348615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9" name="">
            <a:extLst xmlns:a="http://schemas.openxmlformats.org/drawingml/2006/main">
              <a:ext uri="{FF2B5EF4-FFF2-40B4-BE49-F238E27FC236}">
                <a16:creationId xmlns:a16="http://schemas.microsoft.com/office/drawing/2014/main" id="{42DA0E0B-B1DF-4B82-A950-ED8AA42669AE}"/>
              </a:ext>
            </a:extLst>
          </p:cNvPr>
          <p:cNvSpPr>
            <a:spLocks xmlns:a="http://schemas.openxmlformats.org/drawingml/2006/main" noGrp="1"/>
          </p:cNvSpPr>
          <p:nvPr/>
        </p:nvSpPr>
        <p:spPr>
          <a:xfrm xmlns:a="http://schemas.openxmlformats.org/drawingml/2006/main">
            <a:off x="360045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Check permissions</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required approval</a:t>
            </a:r>
          </a:p>
        </p:txBody>
      </p:sp>
      <p:sp>
        <p:nvSpPr>
          <p:cNvPr id="10" name="">
            <a:extLst xmlns:a="http://schemas.openxmlformats.org/drawingml/2006/main">
              <a:ext uri="{FF2B5EF4-FFF2-40B4-BE49-F238E27FC236}">
                <a16:creationId xmlns:a16="http://schemas.microsoft.com/office/drawing/2014/main" id="{285258C4-AE33-4A36-8579-1BFE61920C63}"/>
              </a:ext>
            </a:extLst>
          </p:cNvPr>
          <p:cNvSpPr>
            <a:spLocks xmlns:a="http://schemas.openxmlformats.org/drawingml/2006/main" noGrp="1"/>
          </p:cNvSpPr>
          <p:nvPr/>
        </p:nvSpPr>
        <p:spPr>
          <a:xfrm xmlns:a="http://schemas.openxmlformats.org/drawingml/2006/main">
            <a:off x="636270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2EFB30DC-4FA1-40A8-9F8E-4A66A34ECEF4}"/>
              </a:ext>
            </a:extLst>
          </p:cNvPr>
          <p:cNvSpPr>
            <a:spLocks xmlns:a="http://schemas.openxmlformats.org/drawingml/2006/main" noGrp="1"/>
          </p:cNvSpPr>
          <p:nvPr/>
        </p:nvSpPr>
        <p:spPr>
          <a:xfrm xmlns:a="http://schemas.openxmlformats.org/drawingml/2006/main">
            <a:off x="647700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Deliver / execute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allowed result</a:t>
            </a:r>
          </a:p>
        </p:txBody>
      </p:sp>
      <p:sp>
        <p:nvSpPr>
          <p:cNvPr id="12" name="">
            <a:extLst xmlns:a="http://schemas.openxmlformats.org/drawingml/2006/main">
              <a:ext uri="{FF2B5EF4-FFF2-40B4-BE49-F238E27FC236}">
                <a16:creationId xmlns:a16="http://schemas.microsoft.com/office/drawing/2014/main" id="{EE1029FB-AD8D-4FB5-8DA7-BF705EC750F4}"/>
              </a:ext>
            </a:extLst>
          </p:cNvPr>
          <p:cNvSpPr>
            <a:spLocks xmlns:a="http://schemas.openxmlformats.org/drawingml/2006/main" noGrp="1"/>
          </p:cNvSpPr>
          <p:nvPr/>
        </p:nvSpPr>
        <p:spPr>
          <a:xfrm xmlns:a="http://schemas.openxmlformats.org/drawingml/2006/main">
            <a:off x="923925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3A1A3ABB-D4CA-49C7-A849-D99CF344D733}"/>
              </a:ext>
            </a:extLst>
          </p:cNvPr>
          <p:cNvSpPr>
            <a:spLocks xmlns:a="http://schemas.openxmlformats.org/drawingml/2006/main" noGrp="1"/>
          </p:cNvSpPr>
          <p:nvPr/>
        </p:nvSpPr>
        <p:spPr>
          <a:xfrm xmlns:a="http://schemas.openxmlformats.org/drawingml/2006/main">
            <a:off x="935355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Observe outcomes</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control health</a:t>
            </a:r>
          </a:p>
        </p:txBody>
      </p:sp>
      <p:cxnSp>
        <p:nvCxnSpPr>
          <p:cNvPr id="53" name=""/>
          <p:cNvCxnSpPr>
            <a:stCxn xmlns:a="http://schemas.openxmlformats.org/drawingml/2006/main" id="6" idx="3"/>
            <a:endCxn xmlns:a="http://schemas.openxmlformats.org/drawingml/2006/main" id="8" idx="1"/>
          </p:cNvCxnSpPr>
          <p:nvPr/>
        </p:nvCxnSpPr>
        <p:spPr>
          <a:xfrm xmlns:a="http://schemas.openxmlformats.org/drawingml/2006/main">
            <a:off x="2952750" y="3000375"/>
            <a:ext cx="5334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4" name=""/>
          <p:cNvCxnSpPr>
            <a:stCxn xmlns:a="http://schemas.openxmlformats.org/drawingml/2006/main" id="8" idx="3"/>
            <a:endCxn xmlns:a="http://schemas.openxmlformats.org/drawingml/2006/main" id="10" idx="1"/>
          </p:cNvCxnSpPr>
          <p:nvPr/>
        </p:nvCxnSpPr>
        <p:spPr>
          <a:xfrm xmlns:a="http://schemas.openxmlformats.org/drawingml/2006/main">
            <a:off x="5829300" y="3000375"/>
            <a:ext cx="5334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5" name=""/>
          <p:cNvCxnSpPr>
            <a:stCxn xmlns:a="http://schemas.openxmlformats.org/drawingml/2006/main" id="10" idx="3"/>
            <a:endCxn xmlns:a="http://schemas.openxmlformats.org/drawingml/2006/main" id="12" idx="1"/>
          </p:cNvCxnSpPr>
          <p:nvPr/>
        </p:nvCxnSpPr>
        <p:spPr>
          <a:xfrm xmlns:a="http://schemas.openxmlformats.org/drawingml/2006/main">
            <a:off x="8705850" y="3000375"/>
            <a:ext cx="5334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17" name="">
            <a:extLst xmlns:a="http://schemas.openxmlformats.org/drawingml/2006/main">
              <a:ext uri="{FF2B5EF4-FFF2-40B4-BE49-F238E27FC236}">
                <a16:creationId xmlns:a16="http://schemas.microsoft.com/office/drawing/2014/main" id="{FC47250E-7F7E-48CC-8076-B60EB76AF478}"/>
              </a:ext>
            </a:extLst>
          </p:cNvPr>
          <p:cNvSpPr>
            <a:spLocks xmlns:a="http://schemas.openxmlformats.org/drawingml/2006/main" noGrp="1"/>
          </p:cNvSpPr>
          <p:nvPr/>
        </p:nvSpPr>
        <p:spPr>
          <a:xfrm xmlns:a="http://schemas.openxmlformats.org/drawingml/2006/main">
            <a:off x="60960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8" name="">
            <a:extLst xmlns:a="http://schemas.openxmlformats.org/drawingml/2006/main">
              <a:ext uri="{FF2B5EF4-FFF2-40B4-BE49-F238E27FC236}">
                <a16:creationId xmlns:a16="http://schemas.microsoft.com/office/drawing/2014/main" id="{F4D88030-16F6-4517-A435-460C6F1B7912}"/>
              </a:ext>
            </a:extLst>
          </p:cNvPr>
          <p:cNvSpPr>
            <a:spLocks xmlns:a="http://schemas.openxmlformats.org/drawingml/2006/main" noGrp="1"/>
          </p:cNvSpPr>
          <p:nvPr/>
        </p:nvSpPr>
        <p:spPr>
          <a:xfrm xmlns:a="http://schemas.openxmlformats.org/drawingml/2006/main">
            <a:off x="72390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Human authority</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when required</a:t>
            </a:r>
          </a:p>
        </p:txBody>
      </p:sp>
      <p:cxnSp>
        <p:nvCxnSpPr>
          <p:cNvPr id="58" name=""/>
          <p:cNvCxnSpPr>
            <a:stCxn xmlns:a="http://schemas.openxmlformats.org/drawingml/2006/main" id="17" idx="3"/>
            <a:endCxn xmlns:a="http://schemas.openxmlformats.org/drawingml/2006/main" id="8" idx="1"/>
          </p:cNvCxnSpPr>
          <p:nvPr/>
        </p:nvCxnSpPr>
        <p:spPr>
          <a:xfrm xmlns:a="http://schemas.openxmlformats.org/drawingml/2006/main" flipV="1">
            <a:off x="2952750" y="3000375"/>
            <a:ext cx="533400" cy="1509713"/>
          </a:xfrm>
          <a:prstGeom xmlns:a="http://schemas.openxmlformats.org/drawingml/2006/main" prst="bentConnector3">
            <a:avLst>
              <a:gd name="adj1" fmla="val 50000"/>
            </a:avLst>
          </a:prstGeom>
          <a:ln xmlns:a="http://schemas.openxmlformats.org/drawingml/2006/main" w="21908">
            <a:solidFill>
              <a:srgbClr val="ADB8C5"/>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04A89BD6-001D-4619-B734-F0EE48A460DC}"/>
              </a:ext>
            </a:extLst>
          </p:cNvPr>
          <p:cNvSpPr>
            <a:spLocks xmlns:a="http://schemas.openxmlformats.org/drawingml/2006/main" noGrp="1"/>
          </p:cNvSpPr>
          <p:nvPr/>
        </p:nvSpPr>
        <p:spPr>
          <a:xfrm xmlns:a="http://schemas.openxmlformats.org/drawingml/2006/main">
            <a:off x="609600" y="4886325"/>
            <a:ext cx="2343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Evidence, decision rights,</a:t>
            </a:r>
          </a:p>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competence, time and capacity</a:t>
            </a:r>
          </a:p>
        </p:txBody>
      </p:sp>
      <p:sp>
        <p:nvSpPr>
          <p:cNvPr id="21" name="">
            <a:extLst xmlns:a="http://schemas.openxmlformats.org/drawingml/2006/main">
              <a:ext uri="{FF2B5EF4-FFF2-40B4-BE49-F238E27FC236}">
                <a16:creationId xmlns:a16="http://schemas.microsoft.com/office/drawing/2014/main" id="{0B05C595-00BD-48E3-9844-23034699A160}"/>
              </a:ext>
            </a:extLst>
          </p:cNvPr>
          <p:cNvSpPr>
            <a:spLocks xmlns:a="http://schemas.openxmlformats.org/drawingml/2006/main" noGrp="1"/>
          </p:cNvSpPr>
          <p:nvPr/>
        </p:nvSpPr>
        <p:spPr>
          <a:xfrm xmlns:a="http://schemas.openxmlformats.org/drawingml/2006/main">
            <a:off x="348615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2" name="">
            <a:extLst xmlns:a="http://schemas.openxmlformats.org/drawingml/2006/main">
              <a:ext uri="{FF2B5EF4-FFF2-40B4-BE49-F238E27FC236}">
                <a16:creationId xmlns:a16="http://schemas.microsoft.com/office/drawing/2014/main" id="{28C33856-9AEB-4C32-BCA1-F0C27F2C0A78}"/>
              </a:ext>
            </a:extLst>
          </p:cNvPr>
          <p:cNvSpPr>
            <a:spLocks xmlns:a="http://schemas.openxmlformats.org/drawingml/2006/main" noGrp="1"/>
          </p:cNvSpPr>
          <p:nvPr/>
        </p:nvSpPr>
        <p:spPr>
          <a:xfrm xmlns:a="http://schemas.openxmlformats.org/drawingml/2006/main">
            <a:off x="360045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Deny / safe fallback</a:t>
            </a:r>
          </a:p>
        </p:txBody>
      </p:sp>
      <p:cxnSp>
        <p:nvCxnSpPr>
          <p:cNvPr id="62" name=""/>
          <p:cNvCxnSpPr>
            <a:stCxn xmlns:a="http://schemas.openxmlformats.org/drawingml/2006/main" id="8" idx="2"/>
            <a:endCxn xmlns:a="http://schemas.openxmlformats.org/drawingml/2006/main" id="21" idx="0"/>
          </p:cNvCxnSpPr>
          <p:nvPr/>
        </p:nvCxnSpPr>
        <p:spPr>
          <a:xfrm xmlns:a="http://schemas.openxmlformats.org/drawingml/2006/main">
            <a:off x="4657725" y="3352800"/>
            <a:ext cx="0" cy="828675"/>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DC6C1572-088B-439F-84B7-519C2B9F1864}"/>
              </a:ext>
            </a:extLst>
          </p:cNvPr>
          <p:cNvSpPr>
            <a:spLocks xmlns:a="http://schemas.openxmlformats.org/drawingml/2006/main" noGrp="1"/>
          </p:cNvSpPr>
          <p:nvPr/>
        </p:nvSpPr>
        <p:spPr>
          <a:xfrm xmlns:a="http://schemas.openxmlformats.org/drawingml/2006/main">
            <a:off x="4772025" y="3648075"/>
            <a:ext cx="1476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5B61C"/>
                </a:solidFill>
                <a:latin typeface="Arial"/>
                <a:ea typeface="Arial"/>
                <a:cs typeface="Arial"/>
              </a:defRPr>
            </a:pPr>
            <a:r>
              <a:rPr sz="1350" b="0">
                <a:solidFill>
                  <a:srgbClr val="F5B61C"/>
                </a:solidFill>
                <a:latin typeface="Arial"/>
                <a:ea typeface="Arial"/>
                <a:cs typeface="Arial"/>
              </a:rPr>
              <a:t>Denied or</a:t>
            </a:r>
          </a:p>
          <a:p xmlns:a="http://schemas.openxmlformats.org/drawingml/2006/main">
            <a:pPr algn="l">
              <a:defRPr sz="1350" b="0">
                <a:solidFill>
                  <a:srgbClr val="F5B61C"/>
                </a:solidFill>
                <a:latin typeface="Arial"/>
                <a:ea typeface="Arial"/>
                <a:cs typeface="Arial"/>
              </a:defRPr>
            </a:pPr>
            <a:r>
              <a:rPr sz="1350" b="0">
                <a:solidFill>
                  <a:srgbClr val="F5B61C"/>
                </a:solidFill>
                <a:latin typeface="Arial"/>
                <a:ea typeface="Arial"/>
                <a:cs typeface="Arial"/>
              </a:rPr>
              <a:t>unavailable</a:t>
            </a:r>
          </a:p>
        </p:txBody>
      </p:sp>
      <p:sp>
        <p:nvSpPr>
          <p:cNvPr id="25" name="">
            <a:extLst xmlns:a="http://schemas.openxmlformats.org/drawingml/2006/main">
              <a:ext uri="{FF2B5EF4-FFF2-40B4-BE49-F238E27FC236}">
                <a16:creationId xmlns:a16="http://schemas.microsoft.com/office/drawing/2014/main" id="{E24B99A1-C17A-4846-83E5-231CE05486D1}"/>
              </a:ext>
            </a:extLst>
          </p:cNvPr>
          <p:cNvSpPr>
            <a:spLocks xmlns:a="http://schemas.openxmlformats.org/drawingml/2006/main" noGrp="1"/>
          </p:cNvSpPr>
          <p:nvPr/>
        </p:nvSpPr>
        <p:spPr>
          <a:xfrm xmlns:a="http://schemas.openxmlformats.org/drawingml/2006/main">
            <a:off x="923925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6" name="">
            <a:extLst xmlns:a="http://schemas.openxmlformats.org/drawingml/2006/main">
              <a:ext uri="{FF2B5EF4-FFF2-40B4-BE49-F238E27FC236}">
                <a16:creationId xmlns:a16="http://schemas.microsoft.com/office/drawing/2014/main" id="{0A6A1E1E-4C82-46BD-BE11-B6BA5E46296A}"/>
              </a:ext>
            </a:extLst>
          </p:cNvPr>
          <p:cNvSpPr>
            <a:spLocks xmlns:a="http://schemas.openxmlformats.org/drawingml/2006/main" noGrp="1"/>
          </p:cNvSpPr>
          <p:nvPr/>
        </p:nvSpPr>
        <p:spPr>
          <a:xfrm xmlns:a="http://schemas.openxmlformats.org/drawingml/2006/main">
            <a:off x="935355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Decide within</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authorized limits</a:t>
            </a:r>
          </a:p>
        </p:txBody>
      </p:sp>
      <p:sp>
        <p:nvSpPr>
          <p:cNvPr id="27" name="">
            <a:extLst xmlns:a="http://schemas.openxmlformats.org/drawingml/2006/main">
              <a:ext uri="{FF2B5EF4-FFF2-40B4-BE49-F238E27FC236}">
                <a16:creationId xmlns:a16="http://schemas.microsoft.com/office/drawing/2014/main" id="{43802FC2-8B56-41E4-AB60-DFD036EE362A}"/>
              </a:ext>
            </a:extLst>
          </p:cNvPr>
          <p:cNvSpPr>
            <a:spLocks xmlns:a="http://schemas.openxmlformats.org/drawingml/2006/main" noGrp="1"/>
          </p:cNvSpPr>
          <p:nvPr/>
        </p:nvSpPr>
        <p:spPr>
          <a:xfrm xmlns:a="http://schemas.openxmlformats.org/drawingml/2006/main">
            <a:off x="636270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8" name="">
            <a:extLst xmlns:a="http://schemas.openxmlformats.org/drawingml/2006/main">
              <a:ext uri="{FF2B5EF4-FFF2-40B4-BE49-F238E27FC236}">
                <a16:creationId xmlns:a16="http://schemas.microsoft.com/office/drawing/2014/main" id="{55A3EE3C-887D-4C32-8F89-E1956116E5C0}"/>
              </a:ext>
            </a:extLst>
          </p:cNvPr>
          <p:cNvSpPr>
            <a:spLocks xmlns:a="http://schemas.openxmlformats.org/drawingml/2006/main" noGrp="1"/>
          </p:cNvSpPr>
          <p:nvPr/>
        </p:nvSpPr>
        <p:spPr>
          <a:xfrm xmlns:a="http://schemas.openxmlformats.org/drawingml/2006/main">
            <a:off x="647700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Stop / narrow</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Disable tools</a:t>
            </a:r>
          </a:p>
        </p:txBody>
      </p:sp>
      <p:cxnSp>
        <p:nvCxnSpPr>
          <p:cNvPr id="68" name=""/>
          <p:cNvCxnSpPr>
            <a:stCxn xmlns:a="http://schemas.openxmlformats.org/drawingml/2006/main" id="12" idx="2"/>
            <a:endCxn xmlns:a="http://schemas.openxmlformats.org/drawingml/2006/main" id="25" idx="0"/>
          </p:cNvCxnSpPr>
          <p:nvPr/>
        </p:nvCxnSpPr>
        <p:spPr>
          <a:xfrm xmlns:a="http://schemas.openxmlformats.org/drawingml/2006/main">
            <a:off x="10410825" y="3352800"/>
            <a:ext cx="0" cy="828675"/>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69" name=""/>
          <p:cNvCxnSpPr>
            <a:stCxn xmlns:a="http://schemas.openxmlformats.org/drawingml/2006/main" id="25" idx="1"/>
            <a:endCxn xmlns:a="http://schemas.openxmlformats.org/drawingml/2006/main" id="27" idx="3"/>
          </p:cNvCxnSpPr>
          <p:nvPr/>
        </p:nvCxnSpPr>
        <p:spPr>
          <a:xfrm xmlns:a="http://schemas.openxmlformats.org/drawingml/2006/main" flipH="1">
            <a:off x="8705850" y="4510088"/>
            <a:ext cx="5334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70" name=""/>
          <p:cNvCxnSpPr>
            <a:stCxn xmlns:a="http://schemas.openxmlformats.org/drawingml/2006/main" id="27" idx="0"/>
            <a:endCxn xmlns:a="http://schemas.openxmlformats.org/drawingml/2006/main" id="10" idx="2"/>
          </p:cNvCxnSpPr>
          <p:nvPr/>
        </p:nvCxnSpPr>
        <p:spPr>
          <a:xfrm xmlns:a="http://schemas.openxmlformats.org/drawingml/2006/main" flipV="1">
            <a:off x="7534275" y="3352800"/>
            <a:ext cx="0" cy="828675"/>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32" name="">
            <a:extLst xmlns:a="http://schemas.openxmlformats.org/drawingml/2006/main">
              <a:ext uri="{FF2B5EF4-FFF2-40B4-BE49-F238E27FC236}">
                <a16:creationId xmlns:a16="http://schemas.microsoft.com/office/drawing/2014/main" id="{D1B890C5-81BD-4A33-9BBE-CB68860A5716}"/>
              </a:ext>
            </a:extLst>
          </p:cNvPr>
          <p:cNvSpPr>
            <a:spLocks xmlns:a="http://schemas.openxmlformats.org/drawingml/2006/main" noGrp="1"/>
          </p:cNvSpPr>
          <p:nvPr/>
        </p:nvSpPr>
        <p:spPr>
          <a:xfrm xmlns:a="http://schemas.openxmlformats.org/drawingml/2006/main">
            <a:off x="3314700" y="4972050"/>
            <a:ext cx="8267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Check access before disclosure. Feedback cannot undo an irreversible effect.</a:t>
            </a:r>
          </a:p>
        </p:txBody>
      </p:sp>
      <p:sp>
        <p:nvSpPr>
          <p:cNvPr id="33" name="">
            <a:extLst xmlns:a="http://schemas.openxmlformats.org/drawingml/2006/main">
              <a:ext uri="{FF2B5EF4-FFF2-40B4-BE49-F238E27FC236}">
                <a16:creationId xmlns:a16="http://schemas.microsoft.com/office/drawing/2014/main" id="{27E93F24-35E7-403B-92C0-3C61C72DED98}"/>
              </a:ext>
            </a:extLst>
          </p:cNvPr>
          <p:cNvSpPr>
            <a:spLocks xmlns:a="http://schemas.openxmlformats.org/drawingml/2006/main" noGrp="1"/>
          </p:cNvSpPr>
          <p:nvPr/>
        </p:nvSpPr>
        <p:spPr>
          <a:xfrm xmlns:a="http://schemas.openxmlformats.org/drawingml/2006/main" flipH="0" flipV="0">
            <a:off x="609600" y="54102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AF639020-85C1-4B76-827E-A29A49E03F8B}"/>
              </a:ext>
            </a:extLst>
          </p:cNvPr>
          <p:cNvSpPr>
            <a:spLocks xmlns:a="http://schemas.openxmlformats.org/drawingml/2006/main" noGrp="1"/>
          </p:cNvSpPr>
          <p:nvPr/>
        </p:nvSpPr>
        <p:spPr>
          <a:xfrm xmlns:a="http://schemas.openxmlformats.org/drawingml/2006/main">
            <a:off x="609600" y="54959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CONTROL DEPENDS ON CONSEQUENCE, AUTHORITY AND REVERSIBILITY</a:t>
            </a:r>
          </a:p>
        </p:txBody>
      </p:sp>
      <p:sp>
        <p:nvSpPr>
          <p:cNvPr id="35" name="">
            <a:extLst xmlns:a="http://schemas.openxmlformats.org/drawingml/2006/main">
              <a:ext uri="{FF2B5EF4-FFF2-40B4-BE49-F238E27FC236}">
                <a16:creationId xmlns:a16="http://schemas.microsoft.com/office/drawing/2014/main" id="{B8595DBF-35D5-492D-8EB3-BB3063AD857E}"/>
              </a:ext>
            </a:extLst>
          </p:cNvPr>
          <p:cNvSpPr>
            <a:spLocks xmlns:a="http://schemas.openxmlformats.org/drawingml/2006/main" noGrp="1"/>
          </p:cNvSpPr>
          <p:nvPr/>
        </p:nvSpPr>
        <p:spPr>
          <a:xfrm xmlns:a="http://schemas.openxmlformats.org/drawingml/2006/main">
            <a:off x="609600" y="58102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DRAFT FOR HUMAN REVIEW</a:t>
            </a:r>
          </a:p>
        </p:txBody>
      </p:sp>
      <p:sp>
        <p:nvSpPr>
          <p:cNvPr id="36" name="">
            <a:extLst xmlns:a="http://schemas.openxmlformats.org/drawingml/2006/main">
              <a:ext uri="{FF2B5EF4-FFF2-40B4-BE49-F238E27FC236}">
                <a16:creationId xmlns:a16="http://schemas.microsoft.com/office/drawing/2014/main" id="{2892F08B-9DB1-406B-817A-652EC1297631}"/>
              </a:ext>
            </a:extLst>
          </p:cNvPr>
          <p:cNvSpPr>
            <a:spLocks xmlns:a="http://schemas.openxmlformats.org/drawingml/2006/main" noGrp="1"/>
          </p:cNvSpPr>
          <p:nvPr/>
        </p:nvSpPr>
        <p:spPr>
          <a:xfrm xmlns:a="http://schemas.openxmlformats.org/drawingml/2006/main">
            <a:off x="609600" y="609600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Human accepts before use.</a:t>
            </a:r>
          </a:p>
        </p:txBody>
      </p:sp>
      <p:sp>
        <p:nvSpPr>
          <p:cNvPr id="37" name="">
            <a:extLst xmlns:a="http://schemas.openxmlformats.org/drawingml/2006/main">
              <a:ext uri="{FF2B5EF4-FFF2-40B4-BE49-F238E27FC236}">
                <a16:creationId xmlns:a16="http://schemas.microsoft.com/office/drawing/2014/main" id="{9BFFA5A5-03E3-4D04-904B-EAFD621CBDD3}"/>
              </a:ext>
            </a:extLst>
          </p:cNvPr>
          <p:cNvSpPr>
            <a:spLocks xmlns:a="http://schemas.openxmlformats.org/drawingml/2006/main" noGrp="1"/>
          </p:cNvSpPr>
          <p:nvPr/>
        </p:nvSpPr>
        <p:spPr>
          <a:xfrm xmlns:a="http://schemas.openxmlformats.org/drawingml/2006/main">
            <a:off x="6286500" y="58102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AUTONOMOUS ACCESS CHANGE</a:t>
            </a:r>
          </a:p>
        </p:txBody>
      </p:sp>
      <p:sp>
        <p:nvSpPr>
          <p:cNvPr id="38" name="">
            <a:extLst xmlns:a="http://schemas.openxmlformats.org/drawingml/2006/main">
              <a:ext uri="{FF2B5EF4-FFF2-40B4-BE49-F238E27FC236}">
                <a16:creationId xmlns:a16="http://schemas.microsoft.com/office/drawing/2014/main" id="{BB5DC2D5-C45D-4BB9-9D25-5BB0AE281807}"/>
              </a:ext>
            </a:extLst>
          </p:cNvPr>
          <p:cNvSpPr>
            <a:spLocks xmlns:a="http://schemas.openxmlformats.org/drawingml/2006/main" noGrp="1"/>
          </p:cNvSpPr>
          <p:nvPr/>
        </p:nvSpPr>
        <p:spPr>
          <a:xfrm xmlns:a="http://schemas.openxmlformats.org/drawingml/2006/main">
            <a:off x="6286500" y="609600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Enforce rights and required approval first.</a:t>
            </a:r>
          </a:p>
        </p:txBody>
      </p:sp>
      <p:sp>
        <p:nvSpPr>
          <p:cNvPr id="39" name="">
            <a:extLst xmlns:a="http://schemas.openxmlformats.org/drawingml/2006/main">
              <a:ext uri="{FF2B5EF4-FFF2-40B4-BE49-F238E27FC236}">
                <a16:creationId xmlns:a16="http://schemas.microsoft.com/office/drawing/2014/main" id="{9EFB6D8B-D081-42F3-81A2-2ECE5B88A757}"/>
              </a:ext>
            </a:extLst>
          </p:cNvPr>
          <p:cNvSpPr>
            <a:spLocks xmlns:a="http://schemas.openxmlformats.org/drawingml/2006/main" noGrp="1"/>
          </p:cNvSpPr>
          <p:nvPr/>
        </p:nvSpPr>
        <p:spPr>
          <a:xfrm xmlns:a="http://schemas.openxmlformats.org/drawingml/2006/main">
            <a:off x="609600" y="6467475"/>
            <a:ext cx="10648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F6B75"/>
                </a:solidFill>
                <a:latin typeface="Arial"/>
                <a:ea typeface="Arial"/>
                <a:cs typeface="Arial"/>
              </a:defRPr>
            </a:pPr>
            <a:r>
              <a:rPr sz="1650" b="1">
                <a:solidFill>
                  <a:srgbClr val="FF6B75"/>
                </a:solidFill>
                <a:latin typeface="Arial"/>
                <a:ea typeface="Arial"/>
                <a:cs typeface="Arial"/>
              </a:rPr>
              <a:t>Cannot enforce the boundary or staff the response? Narrow, redesign or reject this path.</a:t>
            </a:r>
          </a:p>
        </p:txBody>
      </p:sp>
    </p:spTree>
    <p:extLst>
      <p:ext uri="{BB962C8B-B14F-4D97-AF65-F5344CB8AC3E}">
        <p14:creationId xmlns:p14="http://schemas.microsoft.com/office/powerpoint/2010/main" val="406500224"/>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2C63C92-5280-497A-9576-6EB808305908}"/>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Roles Move With the System</a:t>
            </a:r>
          </a:p>
        </p:txBody>
      </p:sp>
      <p:sp>
        <p:nvSpPr>
          <p:cNvPr id="2" name="">
            <a:extLst xmlns:a="http://schemas.openxmlformats.org/drawingml/2006/main">
              <a:ext uri="{FF2B5EF4-FFF2-40B4-BE49-F238E27FC236}">
                <a16:creationId xmlns:a16="http://schemas.microsoft.com/office/drawing/2014/main" id="{10AEFA7A-F241-419D-AF06-32476C367CE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F88CF2AB-35FA-4ED3-9057-EA1AF3C323F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CF7F27F9-3704-453E-A3C1-49C4672A8CEC}"/>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PROJECT MANAGER · coordinates Product / PO, BA, engineering, QA and operations</a:t>
            </a:r>
          </a:p>
        </p:txBody>
      </p:sp>
      <p:sp>
        <p:nvSpPr>
          <p:cNvPr id="5" name="">
            <a:extLst xmlns:a="http://schemas.openxmlformats.org/drawingml/2006/main">
              <a:ext uri="{FF2B5EF4-FFF2-40B4-BE49-F238E27FC236}">
                <a16:creationId xmlns:a16="http://schemas.microsoft.com/office/drawing/2014/main" id="{28B61C50-A7D4-40BD-B284-9F1FCDC35C49}"/>
              </a:ext>
            </a:extLst>
          </p:cNvPr>
          <p:cNvSpPr>
            <a:spLocks xmlns:a="http://schemas.openxmlformats.org/drawingml/2006/main" noGrp="1"/>
          </p:cNvSpPr>
          <p:nvPr/>
        </p:nvSpPr>
        <p:spPr>
          <a:xfrm xmlns:a="http://schemas.openxmlformats.org/drawingml/2006/main">
            <a:off x="609600" y="202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Scope, schedule, cost, risk and stakeholders remain the foundation.</a:t>
            </a:r>
          </a:p>
        </p:txBody>
      </p:sp>
      <p:sp>
        <p:nvSpPr>
          <p:cNvPr id="6" name="">
            <a:extLst xmlns:a="http://schemas.openxmlformats.org/drawingml/2006/main">
              <a:ext uri="{FF2B5EF4-FFF2-40B4-BE49-F238E27FC236}">
                <a16:creationId xmlns:a16="http://schemas.microsoft.com/office/drawing/2014/main" id="{243BFFC3-E736-4F8E-9237-5E4C65161EE4}"/>
              </a:ext>
            </a:extLst>
          </p:cNvPr>
          <p:cNvSpPr>
            <a:spLocks xmlns:a="http://schemas.openxmlformats.org/drawingml/2006/main" noGrp="1"/>
          </p:cNvSpPr>
          <p:nvPr/>
        </p:nvSpPr>
        <p:spPr>
          <a:xfrm xmlns:a="http://schemas.openxmlformats.org/drawingml/2006/main">
            <a:off x="609600" y="235267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A KNOWLEDGE GAP CAN BECOME A DELIVERY DEPENDENCY</a:t>
            </a:r>
          </a:p>
        </p:txBody>
      </p:sp>
      <p:sp>
        <p:nvSpPr>
          <p:cNvPr id="7" name="">
            <a:extLst xmlns:a="http://schemas.openxmlformats.org/drawingml/2006/main">
              <a:ext uri="{FF2B5EF4-FFF2-40B4-BE49-F238E27FC236}">
                <a16:creationId xmlns:a16="http://schemas.microsoft.com/office/drawing/2014/main" id="{03E51C69-A7DD-45FD-9C39-DE0C77C48BC3}"/>
              </a:ext>
            </a:extLst>
          </p:cNvPr>
          <p:cNvSpPr>
            <a:spLocks xmlns:a="http://schemas.openxmlformats.org/drawingml/2006/main" noGrp="1"/>
          </p:cNvSpPr>
          <p:nvPr/>
        </p:nvSpPr>
        <p:spPr>
          <a:xfrm xmlns:a="http://schemas.openxmlformats.org/drawingml/2006/main">
            <a:off x="609600" y="2676525"/>
            <a:ext cx="3162300" cy="5143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B4CD9ADD-C1EA-489A-9D3F-4F25C0E9839D}"/>
              </a:ext>
            </a:extLst>
          </p:cNvPr>
          <p:cNvSpPr>
            <a:spLocks xmlns:a="http://schemas.openxmlformats.org/drawingml/2006/main" noGrp="1"/>
          </p:cNvSpPr>
          <p:nvPr/>
        </p:nvSpPr>
        <p:spPr>
          <a:xfrm xmlns:a="http://schemas.openxmlformats.org/drawingml/2006/main">
            <a:off x="723900" y="2752725"/>
            <a:ext cx="293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AI adds code in a language</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the team does not know</a:t>
            </a:r>
          </a:p>
        </p:txBody>
      </p:sp>
      <p:sp>
        <p:nvSpPr>
          <p:cNvPr id="9" name="">
            <a:extLst xmlns:a="http://schemas.openxmlformats.org/drawingml/2006/main">
              <a:ext uri="{FF2B5EF4-FFF2-40B4-BE49-F238E27FC236}">
                <a16:creationId xmlns:a16="http://schemas.microsoft.com/office/drawing/2014/main" id="{A2558AF1-236C-418F-9C0A-94BDE181641F}"/>
              </a:ext>
            </a:extLst>
          </p:cNvPr>
          <p:cNvSpPr>
            <a:spLocks xmlns:a="http://schemas.openxmlformats.org/drawingml/2006/main" noGrp="1"/>
          </p:cNvSpPr>
          <p:nvPr/>
        </p:nvSpPr>
        <p:spPr>
          <a:xfrm xmlns:a="http://schemas.openxmlformats.org/drawingml/2006/main">
            <a:off x="4514850" y="2676525"/>
            <a:ext cx="3162300" cy="5143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0" name="">
            <a:extLst xmlns:a="http://schemas.openxmlformats.org/drawingml/2006/main">
              <a:ext uri="{FF2B5EF4-FFF2-40B4-BE49-F238E27FC236}">
                <a16:creationId xmlns:a16="http://schemas.microsoft.com/office/drawing/2014/main" id="{4B77C3AC-063B-43B1-A8E6-5A6B07054880}"/>
              </a:ext>
            </a:extLst>
          </p:cNvPr>
          <p:cNvSpPr>
            <a:spLocks xmlns:a="http://schemas.openxmlformats.org/drawingml/2006/main" noGrp="1"/>
          </p:cNvSpPr>
          <p:nvPr/>
        </p:nvSpPr>
        <p:spPr>
          <a:xfrm xmlns:a="http://schemas.openxmlformats.org/drawingml/2006/main">
            <a:off x="4629150" y="2752725"/>
            <a:ext cx="293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 small component grows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into a critical dependency</a:t>
            </a:r>
          </a:p>
        </p:txBody>
      </p:sp>
      <p:sp>
        <p:nvSpPr>
          <p:cNvPr id="11" name="">
            <a:extLst xmlns:a="http://schemas.openxmlformats.org/drawingml/2006/main">
              <a:ext uri="{FF2B5EF4-FFF2-40B4-BE49-F238E27FC236}">
                <a16:creationId xmlns:a16="http://schemas.microsoft.com/office/drawing/2014/main" id="{BA076D1C-1F5A-4D70-AF6D-5871DD14263A}"/>
              </a:ext>
            </a:extLst>
          </p:cNvPr>
          <p:cNvSpPr>
            <a:spLocks xmlns:a="http://schemas.openxmlformats.org/drawingml/2006/main" noGrp="1"/>
          </p:cNvSpPr>
          <p:nvPr/>
        </p:nvSpPr>
        <p:spPr>
          <a:xfrm xmlns:a="http://schemas.openxmlformats.org/drawingml/2006/main">
            <a:off x="8420100" y="2676525"/>
            <a:ext cx="3162300" cy="51435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2" name="">
            <a:extLst xmlns:a="http://schemas.openxmlformats.org/drawingml/2006/main">
              <a:ext uri="{FF2B5EF4-FFF2-40B4-BE49-F238E27FC236}">
                <a16:creationId xmlns:a16="http://schemas.microsoft.com/office/drawing/2014/main" id="{B288807A-DFAD-41BC-A1CE-54F5D4A15548}"/>
              </a:ext>
            </a:extLst>
          </p:cNvPr>
          <p:cNvSpPr>
            <a:spLocks xmlns:a="http://schemas.openxmlformats.org/drawingml/2006/main" noGrp="1"/>
          </p:cNvSpPr>
          <p:nvPr/>
        </p:nvSpPr>
        <p:spPr>
          <a:xfrm xmlns:a="http://schemas.openxmlformats.org/drawingml/2006/main">
            <a:off x="8534400" y="2752725"/>
            <a:ext cx="293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No qualified review</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No one can recover it</a:t>
            </a:r>
          </a:p>
        </p:txBody>
      </p:sp>
      <p:cxnSp>
        <p:nvCxnSpPr>
          <p:cNvPr id="32" name=""/>
          <p:cNvCxnSpPr>
            <a:stCxn xmlns:a="http://schemas.openxmlformats.org/drawingml/2006/main" id="7" idx="3"/>
            <a:endCxn xmlns:a="http://schemas.openxmlformats.org/drawingml/2006/main" id="9" idx="1"/>
          </p:cNvCxnSpPr>
          <p:nvPr/>
        </p:nvCxnSpPr>
        <p:spPr>
          <a:xfrm xmlns:a="http://schemas.openxmlformats.org/drawingml/2006/main">
            <a:off x="3771900" y="2933700"/>
            <a:ext cx="74295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33" name=""/>
          <p:cNvCxnSpPr>
            <a:stCxn xmlns:a="http://schemas.openxmlformats.org/drawingml/2006/main" id="9" idx="3"/>
            <a:endCxn xmlns:a="http://schemas.openxmlformats.org/drawingml/2006/main" id="11" idx="1"/>
          </p:cNvCxnSpPr>
          <p:nvPr/>
        </p:nvCxnSpPr>
        <p:spPr>
          <a:xfrm xmlns:a="http://schemas.openxmlformats.org/drawingml/2006/main">
            <a:off x="7677150" y="2933700"/>
            <a:ext cx="742950" cy="0"/>
          </a:xfrm>
          <a:prstGeom xmlns:a="http://schemas.openxmlformats.org/drawingml/2006/main" prst="straightConnector1">
            <a:avLst/>
          </a:prstGeom>
          <a:ln xmlns:a="http://schemas.openxmlformats.org/drawingml/2006/main" w="21908">
            <a:solidFill>
              <a:srgbClr val="FF6B75"/>
            </a:solidFill>
            <a:prstDash val="solid"/>
            <a:tailEnd type="triangle" w="med" len="med"/>
          </a:ln>
        </p:spPr>
      </p:cxnSp>
      <p:sp>
        <p:nvSpPr>
          <p:cNvPr id="15" name="">
            <a:extLst xmlns:a="http://schemas.openxmlformats.org/drawingml/2006/main">
              <a:ext uri="{FF2B5EF4-FFF2-40B4-BE49-F238E27FC236}">
                <a16:creationId xmlns:a16="http://schemas.microsoft.com/office/drawing/2014/main" id="{0F554D76-1AB1-46A4-90AF-0F3D113A7BE1}"/>
              </a:ext>
            </a:extLst>
          </p:cNvPr>
          <p:cNvSpPr>
            <a:spLocks xmlns:a="http://schemas.openxmlformats.org/drawingml/2006/main" noGrp="1"/>
          </p:cNvSpPr>
          <p:nvPr/>
        </p:nvSpPr>
        <p:spPr>
          <a:xfrm xmlns:a="http://schemas.openxmlformats.org/drawingml/2006/main">
            <a:off x="609600" y="32670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Project Manager secures an owner, time and closure evidence before criticality grows.</a:t>
            </a:r>
          </a:p>
        </p:txBody>
      </p:sp>
      <p:graphicFrame>
        <p:nvGraphicFramePr>
          <p:cNvPr id="35" name=""/>
          <p:cNvGraphicFramePr/>
          <p:nvPr/>
        </p:nvGraphicFramePr>
        <p:xfrm>
          <a:off xmlns:a="http://schemas.openxmlformats.org/drawingml/2006/main" x="609600" y="3667125"/>
          <a:ext xmlns:a="http://schemas.openxmlformats.org/drawingml/2006/main" cx="10972800" cy="2000250"/>
        </p:xfrm>
        <a:graphic xmlns:a="http://schemas.openxmlformats.org/drawingml/2006/main">
          <a:graphicData uri="http://schemas.openxmlformats.org/drawingml/2006/table">
            <a:tbl>
              <a:tblPr/>
              <a:tblGrid>
                <a:gridCol w="2247900"/>
                <a:gridCol w="4362450"/>
                <a:gridCol w="4362450"/>
              </a:tblGrid>
              <a:tr h="342900">
                <a:tc>
                  <a:txBody>
                    <a:bodyPr lIns="171450" tIns="38100" rIns="171450" bIns="38100">
                      <a:noAutofit/>
                    </a:bodyPr>
                    <a:lstStyle/>
                    <a:p>
                      <a:r>
                        <a:rPr sz="1575" b="1">
                          <a:solidFill>
                            <a:srgbClr val="F4F7FA"/>
                          </a:solidFill>
                          <a:latin typeface="Arial"/>
                          <a:ea typeface="Arial"/>
                          <a:cs typeface="Arial"/>
                        </a:rPr>
                        <a:t>PM RESPONSIBILITY</a:t>
                      </a:r>
                    </a:p>
                  </a:txBody>
                  <a:tcPr marL="91440" marR="91440" marT="45720" marB="45720" anchor="ctr">
                    <a:solidFill>
                      <a:srgbClr val="1A2734"/>
                    </a:solidFill>
                  </a:tcPr>
                </a:tc>
                <a:tc>
                  <a:txBody>
                    <a:bodyPr lIns="171450" tIns="38100" rIns="171450" bIns="38100">
                      <a:noAutofit/>
                    </a:bodyPr>
                    <a:lstStyle/>
                    <a:p>
                      <a:r>
                        <a:rPr sz="1575" b="1">
                          <a:solidFill>
                            <a:srgbClr val="F4F7FA"/>
                          </a:solidFill>
                          <a:latin typeface="Arial"/>
                          <a:ea typeface="Arial"/>
                          <a:cs typeface="Arial"/>
                        </a:rPr>
                        <a:t>HOW WE BUILD</a:t>
                      </a:r>
                    </a:p>
                  </a:txBody>
                  <a:tcPr marL="91440" marR="91440" marT="45720" marB="45720" anchor="ctr">
                    <a:solidFill>
                      <a:srgbClr val="1A2734"/>
                    </a:solidFill>
                  </a:tcPr>
                </a:tc>
                <a:tc>
                  <a:txBody>
                    <a:bodyPr lIns="171450" tIns="38100" rIns="171450" bIns="38100">
                      <a:noAutofit/>
                    </a:bodyPr>
                    <a:lstStyle/>
                    <a:p>
                      <a:r>
                        <a:rPr sz="1575" b="1">
                          <a:solidFill>
                            <a:srgbClr val="28C7F7"/>
                          </a:solidFill>
                          <a:latin typeface="Arial"/>
                          <a:ea typeface="Arial"/>
                          <a:cs typeface="Arial"/>
                        </a:rPr>
                        <a:t>WHAT WE BUILD</a:t>
                      </a:r>
                    </a:p>
                  </a:txBody>
                  <a:tcPr marL="91440" marR="91440" marT="45720" marB="45720" anchor="ctr">
                    <a:solidFill>
                      <a:srgbClr val="1A2734"/>
                    </a:solidFill>
                  </a:tcPr>
                </a:tc>
              </a:tr>
              <a:tr h="552450">
                <a:tc>
                  <a:txBody>
                    <a:bodyPr lIns="171450" tIns="38100" rIns="171450" bIns="38100">
                      <a:noAutofit/>
                    </a:bodyPr>
                    <a:lstStyle/>
                    <a:p>
                      <a:r>
                        <a:rPr sz="1425" b="1">
                          <a:solidFill>
                            <a:srgbClr val="F4F7FA"/>
                          </a:solidFill>
                          <a:latin typeface="Arial"/>
                          <a:ea typeface="Arial"/>
                          <a:cs typeface="Arial"/>
                        </a:rPr>
                        <a:t>Expertise + ownership</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Arial"/>
                          <a:ea typeface="Arial"/>
                          <a:cs typeface="Arial"/>
                        </a:rPr>
                        <a:t>Qualified reviewer and recovery owner</a:t>
                      </a:r>
                    </a:p>
                    <a:p>
                      <a:r>
                        <a:rPr sz="1425" b="0">
                          <a:solidFill>
                            <a:srgbClr val="F4F7FA"/>
                          </a:solidFill>
                          <a:latin typeface="Arial"/>
                          <a:ea typeface="Arial"/>
                          <a:cs typeface="Arial"/>
                        </a:rPr>
                        <a:t>Learning time for unfamiliar code</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Arial"/>
                          <a:ea typeface="Arial"/>
                          <a:cs typeface="Arial"/>
                        </a:rPr>
                        <a:t>Agreed criteria and a domain reviewer</a:t>
                      </a:r>
                    </a:p>
                    <a:p>
                      <a:r>
                        <a:rPr sz="1425" b="0">
                          <a:solidFill>
                            <a:srgbClr val="28C7F7"/>
                          </a:solidFill>
                          <a:latin typeface="Arial"/>
                          <a:ea typeface="Arial"/>
                          <a:cs typeface="Arial"/>
                        </a:rPr>
                        <a:t>Named responder with verified capacity</a:t>
                      </a:r>
                    </a:p>
                  </a:txBody>
                  <a:tcPr marL="91440" marR="91440" marT="45720" marB="45720" anchor="ctr">
                    <a:solidFill>
                      <a:srgbClr val="0B0F14"/>
                    </a:solidFill>
                  </a:tcPr>
                </a:tc>
              </a:tr>
              <a:tr h="552450">
                <a:tc>
                  <a:txBody>
                    <a:bodyPr lIns="171450" tIns="38100" rIns="171450" bIns="38100">
                      <a:noAutofit/>
                    </a:bodyPr>
                    <a:lstStyle/>
                    <a:p>
                      <a:r>
                        <a:rPr sz="1425" b="1">
                          <a:solidFill>
                            <a:srgbClr val="F4F7FA"/>
                          </a:solidFill>
                          <a:latin typeface="Arial"/>
                          <a:ea typeface="Arial"/>
                          <a:cs typeface="Arial"/>
                        </a:rPr>
                        <a:t>Evidence + flow</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Arial"/>
                          <a:ea typeface="Arial"/>
                          <a:cs typeface="Arial"/>
                        </a:rPr>
                        <a:t>Review queue, rework and batch size</a:t>
                      </a:r>
                    </a:p>
                    <a:p>
                      <a:r>
                        <a:rPr sz="1425" b="0">
                          <a:solidFill>
                            <a:srgbClr val="F4F7FA"/>
                          </a:solidFill>
                          <a:latin typeface="Arial"/>
                          <a:ea typeface="Arial"/>
                          <a:cs typeface="Arial"/>
                        </a:rPr>
                        <a:t>Evidence the team can maintain the code</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Arial"/>
                          <a:ea typeface="Arial"/>
                          <a:cs typeface="Arial"/>
                        </a:rPr>
                        <a:t>Useful resolutions and error severity</a:t>
                      </a:r>
                    </a:p>
                    <a:p>
                      <a:r>
                        <a:rPr sz="1425" b="0">
                          <a:solidFill>
                            <a:srgbClr val="28C7F7"/>
                          </a:solidFill>
                          <a:latin typeface="Arial"/>
                          <a:ea typeface="Arial"/>
                          <a:cs typeface="Arial"/>
                        </a:rPr>
                        <a:t>Evaluation and control evidence</a:t>
                      </a:r>
                    </a:p>
                  </a:txBody>
                  <a:tcPr marL="91440" marR="91440" marT="45720" marB="45720" anchor="ctr">
                    <a:solidFill>
                      <a:srgbClr val="0B0F14"/>
                    </a:solidFill>
                  </a:tcPr>
                </a:tc>
              </a:tr>
              <a:tr h="552450">
                <a:tc>
                  <a:txBody>
                    <a:bodyPr lIns="171450" tIns="38100" rIns="171450" bIns="38100">
                      <a:noAutofit/>
                    </a:bodyPr>
                    <a:lstStyle/>
                    <a:p>
                      <a:r>
                        <a:rPr sz="1425" b="1">
                          <a:solidFill>
                            <a:srgbClr val="F4F7FA"/>
                          </a:solidFill>
                          <a:latin typeface="Arial"/>
                          <a:ea typeface="Arial"/>
                          <a:cs typeface="Arial"/>
                        </a:rPr>
                        <a:t>Decision dependencies</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Arial"/>
                          <a:ea typeface="Arial"/>
                          <a:cs typeface="Arial"/>
                        </a:rPr>
                        <a:t>Training, staffing or narrower scope</a:t>
                      </a:r>
                    </a:p>
                    <a:p>
                      <a:r>
                        <a:rPr sz="1425" b="0">
                          <a:solidFill>
                            <a:srgbClr val="F4F7FA"/>
                          </a:solidFill>
                          <a:latin typeface="Arial"/>
                          <a:ea typeface="Arial"/>
                          <a:cs typeface="Arial"/>
                        </a:rPr>
                        <a:t>before the dependency becomes critical</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Arial"/>
                          <a:ea typeface="Arial"/>
                          <a:cs typeface="Arial"/>
                        </a:rPr>
                        <a:t>Unmet criteria or missing capacity</a:t>
                      </a:r>
                    </a:p>
                    <a:p>
                      <a:r>
                        <a:rPr sz="1425" b="0">
                          <a:solidFill>
                            <a:srgbClr val="28C7F7"/>
                          </a:solidFill>
                          <a:latin typeface="Arial"/>
                          <a:ea typeface="Arial"/>
                          <a:cs typeface="Arial"/>
                        </a:rPr>
                        <a:t>blocks the release decision</a:t>
                      </a:r>
                    </a:p>
                  </a:txBody>
                  <a:tcPr marL="91440" marR="91440" marT="45720" marB="45720" anchor="ctr">
                    <a:solidFill>
                      <a:srgbClr val="0B0F14"/>
                    </a:solidFill>
                  </a:tcPr>
                </a:tc>
              </a:tr>
            </a:tbl>
          </a:graphicData>
        </a:graphic>
      </p:graphicFrame>
      <p:sp>
        <p:nvSpPr>
          <p:cNvPr id="17" name="">
            <a:extLst xmlns:a="http://schemas.openxmlformats.org/drawingml/2006/main">
              <a:ext uri="{FF2B5EF4-FFF2-40B4-BE49-F238E27FC236}">
                <a16:creationId xmlns:a16="http://schemas.microsoft.com/office/drawing/2014/main" id="{371F788D-DD2C-45CF-ADE7-651D2EB6383A}"/>
              </a:ext>
            </a:extLst>
          </p:cNvPr>
          <p:cNvSpPr>
            <a:spLocks xmlns:a="http://schemas.openxmlformats.org/drawingml/2006/main" noGrp="1"/>
          </p:cNvSpPr>
          <p:nvPr/>
        </p:nvSpPr>
        <p:spPr>
          <a:xfrm xmlns:a="http://schemas.openxmlformats.org/drawingml/2006/main">
            <a:off x="609600" y="58007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5B61C"/>
                </a:solidFill>
                <a:latin typeface="Arial"/>
                <a:ea typeface="Arial"/>
                <a:cs typeface="Arial"/>
              </a:defRPr>
            </a:pPr>
            <a:r>
              <a:rPr sz="1575" b="0">
                <a:solidFill>
                  <a:srgbClr val="F5B61C"/>
                </a:solidFill>
                <a:latin typeface="Arial"/>
                <a:ea typeface="Arial"/>
                <a:cs typeface="Arial"/>
              </a:rPr>
              <a:t>Ask: is the sample relevant, how uncertain is it, and what decision does it support?</a:t>
            </a:r>
          </a:p>
        </p:txBody>
      </p:sp>
      <p:sp>
        <p:nvSpPr>
          <p:cNvPr id="18" name="">
            <a:extLst xmlns:a="http://schemas.openxmlformats.org/drawingml/2006/main">
              <a:ext uri="{FF2B5EF4-FFF2-40B4-BE49-F238E27FC236}">
                <a16:creationId xmlns:a16="http://schemas.microsoft.com/office/drawing/2014/main" id="{12CB026D-0BB9-4F4D-8D91-EB2F3C74F1CA}"/>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Project Manager coordinates decisions. Product, technical and risk owners retain authority.</a:t>
            </a:r>
          </a:p>
        </p:txBody>
      </p:sp>
      <p:sp>
        <p:nvSpPr>
          <p:cNvPr id="19" name="">
            <a:extLst xmlns:a="http://schemas.openxmlformats.org/drawingml/2006/main">
              <a:ext uri="{FF2B5EF4-FFF2-40B4-BE49-F238E27FC236}">
                <a16:creationId xmlns:a16="http://schemas.microsoft.com/office/drawing/2014/main" id="{4530357D-22E5-4D10-AA43-DC44D7123524}"/>
              </a:ext>
            </a:extLst>
          </p:cNvPr>
          <p:cNvSpPr>
            <a:spLocks xmlns:a="http://schemas.openxmlformats.org/drawingml/2006/main" noGrp="1"/>
          </p:cNvSpPr>
          <p:nvPr/>
        </p:nvSpPr>
        <p:spPr>
          <a:xfrm xmlns:a="http://schemas.openxmlformats.org/drawingml/2006/main">
            <a:off x="609600" y="6496050"/>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Delivery includes the ability to understand, evaluate and recover the system.</a:t>
            </a:r>
          </a:p>
        </p:txBody>
      </p:sp>
    </p:spTree>
    <p:extLst>
      <p:ext uri="{BB962C8B-B14F-4D97-AF65-F5344CB8AC3E}">
        <p14:creationId xmlns:p14="http://schemas.microsoft.com/office/powerpoint/2010/main" val="1283685169"/>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0B810A98-49E7-4C39-99F9-71DE683C54F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Engineering Rigor Moves —</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It Doesn’t Disappear</a:t>
            </a:r>
          </a:p>
        </p:txBody>
      </p:sp>
      <p:sp>
        <p:nvSpPr>
          <p:cNvPr id="2" name="">
            <a:extLst xmlns:a="http://schemas.openxmlformats.org/drawingml/2006/main">
              <a:ext uri="{FF2B5EF4-FFF2-40B4-BE49-F238E27FC236}">
                <a16:creationId xmlns:a16="http://schemas.microsoft.com/office/drawing/2014/main" id="{5D6007A3-2CC0-4843-8B15-5219D86D7B52}"/>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E2D1AD1-2F2C-412E-A18B-5B49317AAC8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778F4A3C-E742-4849-9304-90211B774DC1}"/>
              </a:ext>
            </a:extLst>
          </p:cNvPr>
          <p:cNvSpPr>
            <a:spLocks xmlns:a="http://schemas.openxmlformats.org/drawingml/2006/main" noGrp="1"/>
          </p:cNvSpPr>
          <p:nvPr/>
        </p:nvSpPr>
        <p:spPr>
          <a:xfrm xmlns:a="http://schemas.openxmlformats.org/drawingml/2006/main">
            <a:off x="609600" y="18573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DELIVERY STILL RUNS</a:t>
            </a:r>
          </a:p>
        </p:txBody>
      </p:sp>
      <p:sp>
        <p:nvSpPr>
          <p:cNvPr id="5" name="">
            <a:extLst xmlns:a="http://schemas.openxmlformats.org/drawingml/2006/main">
              <a:ext uri="{FF2B5EF4-FFF2-40B4-BE49-F238E27FC236}">
                <a16:creationId xmlns:a16="http://schemas.microsoft.com/office/drawing/2014/main" id="{1B265029-E639-4AD7-8335-E608E343CC52}"/>
              </a:ext>
            </a:extLst>
          </p:cNvPr>
          <p:cNvSpPr>
            <a:spLocks xmlns:a="http://schemas.openxmlformats.org/drawingml/2006/main" noGrp="1"/>
          </p:cNvSpPr>
          <p:nvPr/>
        </p:nvSpPr>
        <p:spPr>
          <a:xfrm xmlns:a="http://schemas.openxmlformats.org/drawingml/2006/main">
            <a:off x="609600" y="2238375"/>
            <a:ext cx="417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Plan → Build → Verify → Ship</a:t>
            </a:r>
          </a:p>
        </p:txBody>
      </p:sp>
      <p:sp>
        <p:nvSpPr>
          <p:cNvPr id="6" name="">
            <a:extLst xmlns:a="http://schemas.openxmlformats.org/drawingml/2006/main">
              <a:ext uri="{FF2B5EF4-FFF2-40B4-BE49-F238E27FC236}">
                <a16:creationId xmlns:a16="http://schemas.microsoft.com/office/drawing/2014/main" id="{AB426C9C-A4A5-44A7-9F5D-018719BBD910}"/>
              </a:ext>
            </a:extLst>
          </p:cNvPr>
          <p:cNvSpPr>
            <a:spLocks xmlns:a="http://schemas.openxmlformats.org/drawingml/2006/main" noGrp="1"/>
          </p:cNvSpPr>
          <p:nvPr/>
        </p:nvSpPr>
        <p:spPr>
          <a:xfrm xmlns:a="http://schemas.openxmlformats.org/drawingml/2006/main">
            <a:off x="609600" y="2619375"/>
            <a:ext cx="4171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Delivery commitments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operational ownership.</a:t>
            </a:r>
          </a:p>
        </p:txBody>
      </p:sp>
      <p:sp>
        <p:nvSpPr>
          <p:cNvPr id="7" name="">
            <a:extLst xmlns:a="http://schemas.openxmlformats.org/drawingml/2006/main">
              <a:ext uri="{FF2B5EF4-FFF2-40B4-BE49-F238E27FC236}">
                <a16:creationId xmlns:a16="http://schemas.microsoft.com/office/drawing/2014/main" id="{A1C0C340-C322-4EF8-8EFB-3A3B6E35ACF6}"/>
              </a:ext>
            </a:extLst>
          </p:cNvPr>
          <p:cNvSpPr>
            <a:spLocks xmlns:a="http://schemas.openxmlformats.org/drawingml/2006/main" noGrp="1"/>
          </p:cNvSpPr>
          <p:nvPr/>
        </p:nvSpPr>
        <p:spPr>
          <a:xfrm xmlns:a="http://schemas.openxmlformats.org/drawingml/2006/main">
            <a:off x="609600" y="3371850"/>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THE LABORATORY STAYS OPEN</a:t>
            </a:r>
          </a:p>
        </p:txBody>
      </p:sp>
      <p:sp>
        <p:nvSpPr>
          <p:cNvPr id="8" name="">
            <a:extLst xmlns:a="http://schemas.openxmlformats.org/drawingml/2006/main">
              <a:ext uri="{FF2B5EF4-FFF2-40B4-BE49-F238E27FC236}">
                <a16:creationId xmlns:a16="http://schemas.microsoft.com/office/drawing/2014/main" id="{BAABD1F9-54F3-4EF8-9827-EB3A30EE9D9D}"/>
              </a:ext>
            </a:extLst>
          </p:cNvPr>
          <p:cNvSpPr>
            <a:spLocks xmlns:a="http://schemas.openxmlformats.org/drawingml/2006/main" noGrp="1"/>
          </p:cNvSpPr>
          <p:nvPr/>
        </p:nvSpPr>
        <p:spPr>
          <a:xfrm xmlns:a="http://schemas.openxmlformats.org/drawingml/2006/main">
            <a:off x="609600" y="3743325"/>
            <a:ext cx="4171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Re-evaluate after material changes</a:t>
            </a:r>
          </a:p>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in model, data or authority.</a:t>
            </a:r>
          </a:p>
        </p:txBody>
      </p:sp>
      <p:sp>
        <p:nvSpPr>
          <p:cNvPr id="9" name="">
            <a:extLst xmlns:a="http://schemas.openxmlformats.org/drawingml/2006/main">
              <a:ext uri="{FF2B5EF4-FFF2-40B4-BE49-F238E27FC236}">
                <a16:creationId xmlns:a16="http://schemas.microsoft.com/office/drawing/2014/main" id="{3116626C-AF7F-4826-BD43-CF3EFAEB392C}"/>
              </a:ext>
            </a:extLst>
          </p:cNvPr>
          <p:cNvSpPr>
            <a:spLocks xmlns:a="http://schemas.openxmlformats.org/drawingml/2006/main" noGrp="1"/>
          </p:cNvSpPr>
          <p:nvPr/>
        </p:nvSpPr>
        <p:spPr>
          <a:xfrm xmlns:a="http://schemas.openxmlformats.org/drawingml/2006/main" flipH="0" flipV="0">
            <a:off x="5048250" y="1895475"/>
            <a:ext cx="0" cy="237172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9F09D0B8-9C29-4AAE-BFC8-7E1327019BD4}"/>
              </a:ext>
            </a:extLst>
          </p:cNvPr>
          <p:cNvSpPr>
            <a:spLocks xmlns:a="http://schemas.openxmlformats.org/drawingml/2006/main" noGrp="1"/>
          </p:cNvSpPr>
          <p:nvPr/>
        </p:nvSpPr>
        <p:spPr>
          <a:xfrm xmlns:a="http://schemas.openxmlformats.org/drawingml/2006/main">
            <a:off x="54102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2439EE07-00B8-4950-84F8-8F7B3D418B9E}"/>
              </a:ext>
            </a:extLst>
          </p:cNvPr>
          <p:cNvSpPr>
            <a:spLocks xmlns:a="http://schemas.openxmlformats.org/drawingml/2006/main" noGrp="1"/>
          </p:cNvSpPr>
          <p:nvPr/>
        </p:nvSpPr>
        <p:spPr>
          <a:xfrm xmlns:a="http://schemas.openxmlformats.org/drawingml/2006/main">
            <a:off x="55245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Hypothesis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 approved limits</a:t>
            </a:r>
          </a:p>
        </p:txBody>
      </p:sp>
      <p:sp>
        <p:nvSpPr>
          <p:cNvPr id="12" name="">
            <a:extLst xmlns:a="http://schemas.openxmlformats.org/drawingml/2006/main">
              <a:ext uri="{FF2B5EF4-FFF2-40B4-BE49-F238E27FC236}">
                <a16:creationId xmlns:a16="http://schemas.microsoft.com/office/drawing/2014/main" id="{0FE86729-39EB-44BF-9252-C7B247D9598D}"/>
              </a:ext>
            </a:extLst>
          </p:cNvPr>
          <p:cNvSpPr>
            <a:spLocks xmlns:a="http://schemas.openxmlformats.org/drawingml/2006/main" noGrp="1"/>
          </p:cNvSpPr>
          <p:nvPr/>
        </p:nvSpPr>
        <p:spPr>
          <a:xfrm xmlns:a="http://schemas.openxmlformats.org/drawingml/2006/main">
            <a:off x="92964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6B25FC02-9177-4FC3-AA82-72A06E4671C3}"/>
              </a:ext>
            </a:extLst>
          </p:cNvPr>
          <p:cNvSpPr>
            <a:spLocks xmlns:a="http://schemas.openxmlformats.org/drawingml/2006/main" noGrp="1"/>
          </p:cNvSpPr>
          <p:nvPr/>
        </p:nvSpPr>
        <p:spPr>
          <a:xfrm xmlns:a="http://schemas.openxmlformats.org/drawingml/2006/main">
            <a:off x="94107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Bounded</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experiment</a:t>
            </a:r>
          </a:p>
        </p:txBody>
      </p:sp>
      <p:sp>
        <p:nvSpPr>
          <p:cNvPr id="14" name="">
            <a:extLst xmlns:a="http://schemas.openxmlformats.org/drawingml/2006/main">
              <a:ext uri="{FF2B5EF4-FFF2-40B4-BE49-F238E27FC236}">
                <a16:creationId xmlns:a16="http://schemas.microsoft.com/office/drawing/2014/main" id="{8C3E6F76-22E0-466F-BF17-5CD35ECD686F}"/>
              </a:ext>
            </a:extLst>
          </p:cNvPr>
          <p:cNvSpPr>
            <a:spLocks xmlns:a="http://schemas.openxmlformats.org/drawingml/2006/main" noGrp="1"/>
          </p:cNvSpPr>
          <p:nvPr/>
        </p:nvSpPr>
        <p:spPr>
          <a:xfrm xmlns:a="http://schemas.openxmlformats.org/drawingml/2006/main">
            <a:off x="92964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EE7687CC-8736-4628-B48D-8EB98C26FF20}"/>
              </a:ext>
            </a:extLst>
          </p:cNvPr>
          <p:cNvSpPr>
            <a:spLocks xmlns:a="http://schemas.openxmlformats.org/drawingml/2006/main" noGrp="1"/>
          </p:cNvSpPr>
          <p:nvPr/>
        </p:nvSpPr>
        <p:spPr>
          <a:xfrm xmlns:a="http://schemas.openxmlformats.org/drawingml/2006/main">
            <a:off x="94107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Measure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compare</a:t>
            </a:r>
          </a:p>
        </p:txBody>
      </p:sp>
      <p:sp>
        <p:nvSpPr>
          <p:cNvPr id="16" name="">
            <a:extLst xmlns:a="http://schemas.openxmlformats.org/drawingml/2006/main">
              <a:ext uri="{FF2B5EF4-FFF2-40B4-BE49-F238E27FC236}">
                <a16:creationId xmlns:a16="http://schemas.microsoft.com/office/drawing/2014/main" id="{7FF533D6-D283-4D3C-8AD4-CA9510C9E7A3}"/>
              </a:ext>
            </a:extLst>
          </p:cNvPr>
          <p:cNvSpPr>
            <a:spLocks xmlns:a="http://schemas.openxmlformats.org/drawingml/2006/main" noGrp="1"/>
          </p:cNvSpPr>
          <p:nvPr/>
        </p:nvSpPr>
        <p:spPr>
          <a:xfrm xmlns:a="http://schemas.openxmlformats.org/drawingml/2006/main">
            <a:off x="54102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7" name="">
            <a:extLst xmlns:a="http://schemas.openxmlformats.org/drawingml/2006/main">
              <a:ext uri="{FF2B5EF4-FFF2-40B4-BE49-F238E27FC236}">
                <a16:creationId xmlns:a16="http://schemas.microsoft.com/office/drawing/2014/main" id="{E0B1AA68-26CD-44EB-B540-0D58350B9D54}"/>
              </a:ext>
            </a:extLst>
          </p:cNvPr>
          <p:cNvSpPr>
            <a:spLocks xmlns:a="http://schemas.openxmlformats.org/drawingml/2006/main" noGrp="1"/>
          </p:cNvSpPr>
          <p:nvPr/>
        </p:nvSpPr>
        <p:spPr>
          <a:xfrm xmlns:a="http://schemas.openxmlformats.org/drawingml/2006/main">
            <a:off x="55245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Decide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adapt</a:t>
            </a:r>
          </a:p>
        </p:txBody>
      </p:sp>
      <p:cxnSp>
        <p:nvCxnSpPr>
          <p:cNvPr id="56" name=""/>
          <p:cNvCxnSpPr>
            <a:stCxn xmlns:a="http://schemas.openxmlformats.org/drawingml/2006/main" id="10" idx="3"/>
            <a:endCxn xmlns:a="http://schemas.openxmlformats.org/drawingml/2006/main" id="12" idx="1"/>
          </p:cNvCxnSpPr>
          <p:nvPr/>
        </p:nvCxnSpPr>
        <p:spPr>
          <a:xfrm xmlns:a="http://schemas.openxmlformats.org/drawingml/2006/main">
            <a:off x="7600950" y="2276475"/>
            <a:ext cx="16954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7" name=""/>
          <p:cNvCxnSpPr>
            <a:stCxn xmlns:a="http://schemas.openxmlformats.org/drawingml/2006/main" id="12" idx="2"/>
            <a:endCxn xmlns:a="http://schemas.openxmlformats.org/drawingml/2006/main" id="14" idx="0"/>
          </p:cNvCxnSpPr>
          <p:nvPr/>
        </p:nvCxnSpPr>
        <p:spPr>
          <a:xfrm xmlns:a="http://schemas.openxmlformats.org/drawingml/2006/main">
            <a:off x="10391775" y="2562225"/>
            <a:ext cx="0" cy="110490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8" name=""/>
          <p:cNvCxnSpPr>
            <a:stCxn xmlns:a="http://schemas.openxmlformats.org/drawingml/2006/main" id="14" idx="1"/>
            <a:endCxn xmlns:a="http://schemas.openxmlformats.org/drawingml/2006/main" id="16" idx="3"/>
          </p:cNvCxnSpPr>
          <p:nvPr/>
        </p:nvCxnSpPr>
        <p:spPr>
          <a:xfrm xmlns:a="http://schemas.openxmlformats.org/drawingml/2006/main" flipH="1">
            <a:off x="7600950" y="3952875"/>
            <a:ext cx="16954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9" name=""/>
          <p:cNvCxnSpPr>
            <a:stCxn xmlns:a="http://schemas.openxmlformats.org/drawingml/2006/main" id="16" idx="0"/>
            <a:endCxn xmlns:a="http://schemas.openxmlformats.org/drawingml/2006/main" id="10" idx="2"/>
          </p:cNvCxnSpPr>
          <p:nvPr/>
        </p:nvCxnSpPr>
        <p:spPr>
          <a:xfrm xmlns:a="http://schemas.openxmlformats.org/drawingml/2006/main" flipV="1">
            <a:off x="6505575" y="2562225"/>
            <a:ext cx="0" cy="11049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2" name="">
            <a:extLst xmlns:a="http://schemas.openxmlformats.org/drawingml/2006/main">
              <a:ext uri="{FF2B5EF4-FFF2-40B4-BE49-F238E27FC236}">
                <a16:creationId xmlns:a16="http://schemas.microsoft.com/office/drawing/2014/main" id="{46A913FD-1C71-482C-9444-C2311288FFF7}"/>
              </a:ext>
            </a:extLst>
          </p:cNvPr>
          <p:cNvSpPr>
            <a:spLocks xmlns:a="http://schemas.openxmlformats.org/drawingml/2006/main" noGrp="1"/>
          </p:cNvSpPr>
          <p:nvPr/>
        </p:nvSpPr>
        <p:spPr>
          <a:xfrm xmlns:a="http://schemas.openxmlformats.org/drawingml/2006/main">
            <a:off x="5924550" y="2790825"/>
            <a:ext cx="5010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Production outcomes</a:t>
            </a:r>
          </a:p>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and incidents feed back</a:t>
            </a:r>
          </a:p>
        </p:txBody>
      </p:sp>
      <p:sp>
        <p:nvSpPr>
          <p:cNvPr id="23" name="">
            <a:extLst xmlns:a="http://schemas.openxmlformats.org/drawingml/2006/main">
              <a:ext uri="{FF2B5EF4-FFF2-40B4-BE49-F238E27FC236}">
                <a16:creationId xmlns:a16="http://schemas.microsoft.com/office/drawing/2014/main" id="{2B65BFDA-26EE-449A-82DF-E7C68939C93D}"/>
              </a:ext>
            </a:extLst>
          </p:cNvPr>
          <p:cNvSpPr>
            <a:spLocks xmlns:a="http://schemas.openxmlformats.org/drawingml/2006/main" noGrp="1"/>
          </p:cNvSpPr>
          <p:nvPr/>
        </p:nvSpPr>
        <p:spPr>
          <a:xfrm xmlns:a="http://schemas.openxmlformats.org/drawingml/2006/main" flipH="0" flipV="0">
            <a:off x="609600" y="44291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8030ADC2-1A13-4163-85E7-A9428EBCBB69}"/>
              </a:ext>
            </a:extLst>
          </p:cNvPr>
          <p:cNvSpPr>
            <a:spLocks xmlns:a="http://schemas.openxmlformats.org/drawingml/2006/main" noGrp="1"/>
          </p:cNvSpPr>
          <p:nvPr/>
        </p:nvSpPr>
        <p:spPr>
          <a:xfrm xmlns:a="http://schemas.openxmlformats.org/drawingml/2006/main">
            <a:off x="609600" y="45243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EXISTING TEAM CADENCE · Project Manager coordinates decisions</a:t>
            </a:r>
          </a:p>
        </p:txBody>
      </p:sp>
      <p:sp>
        <p:nvSpPr>
          <p:cNvPr id="25" name="">
            <a:extLst xmlns:a="http://schemas.openxmlformats.org/drawingml/2006/main">
              <a:ext uri="{FF2B5EF4-FFF2-40B4-BE49-F238E27FC236}">
                <a16:creationId xmlns:a16="http://schemas.microsoft.com/office/drawing/2014/main" id="{0427F524-EC98-43BA-A4C2-91464A5F8FC5}"/>
              </a:ext>
            </a:extLst>
          </p:cNvPr>
          <p:cNvSpPr>
            <a:spLocks xmlns:a="http://schemas.openxmlformats.org/drawingml/2006/main" noGrp="1"/>
          </p:cNvSpPr>
          <p:nvPr/>
        </p:nvSpPr>
        <p:spPr>
          <a:xfrm xmlns:a="http://schemas.openxmlformats.org/drawingml/2006/main">
            <a:off x="609600"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PLANNING</a:t>
            </a:r>
          </a:p>
        </p:txBody>
      </p:sp>
      <p:sp>
        <p:nvSpPr>
          <p:cNvPr id="26" name="">
            <a:extLst xmlns:a="http://schemas.openxmlformats.org/drawingml/2006/main">
              <a:ext uri="{FF2B5EF4-FFF2-40B4-BE49-F238E27FC236}">
                <a16:creationId xmlns:a16="http://schemas.microsoft.com/office/drawing/2014/main" id="{FCD3ED0B-B0C1-47D1-8B2F-AD79939E1F75}"/>
              </a:ext>
            </a:extLst>
          </p:cNvPr>
          <p:cNvSpPr>
            <a:spLocks xmlns:a="http://schemas.openxmlformats.org/drawingml/2006/main" noGrp="1"/>
          </p:cNvSpPr>
          <p:nvPr/>
        </p:nvSpPr>
        <p:spPr>
          <a:xfrm xmlns:a="http://schemas.openxmlformats.org/drawingml/2006/main">
            <a:off x="609600"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BA + team</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Value, limits, evidence + owner</a:t>
            </a:r>
          </a:p>
        </p:txBody>
      </p:sp>
      <p:sp>
        <p:nvSpPr>
          <p:cNvPr id="27" name="">
            <a:extLst xmlns:a="http://schemas.openxmlformats.org/drawingml/2006/main">
              <a:ext uri="{FF2B5EF4-FFF2-40B4-BE49-F238E27FC236}">
                <a16:creationId xmlns:a16="http://schemas.microsoft.com/office/drawing/2014/main" id="{ECA0FAC8-9E14-4E41-948B-AE0DCDE9A043}"/>
              </a:ext>
            </a:extLst>
          </p:cNvPr>
          <p:cNvSpPr>
            <a:spLocks xmlns:a="http://schemas.openxmlformats.org/drawingml/2006/main" noGrp="1"/>
          </p:cNvSpPr>
          <p:nvPr/>
        </p:nvSpPr>
        <p:spPr>
          <a:xfrm xmlns:a="http://schemas.openxmlformats.org/drawingml/2006/main">
            <a:off x="3400425"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DAILY WORK</a:t>
            </a:r>
          </a:p>
        </p:txBody>
      </p:sp>
      <p:sp>
        <p:nvSpPr>
          <p:cNvPr id="28" name="">
            <a:extLst xmlns:a="http://schemas.openxmlformats.org/drawingml/2006/main">
              <a:ext uri="{FF2B5EF4-FFF2-40B4-BE49-F238E27FC236}">
                <a16:creationId xmlns:a16="http://schemas.microsoft.com/office/drawing/2014/main" id="{FD954398-F491-4067-9E15-68FF744EEE18}"/>
              </a:ext>
            </a:extLst>
          </p:cNvPr>
          <p:cNvSpPr>
            <a:spLocks xmlns:a="http://schemas.openxmlformats.org/drawingml/2006/main" noGrp="1"/>
          </p:cNvSpPr>
          <p:nvPr/>
        </p:nvSpPr>
        <p:spPr>
          <a:xfrm xmlns:a="http://schemas.openxmlformats.org/drawingml/2006/main">
            <a:off x="3400425"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Dev + QA + Architect</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Build, evaluate + close gaps</a:t>
            </a:r>
          </a:p>
        </p:txBody>
      </p:sp>
      <p:sp>
        <p:nvSpPr>
          <p:cNvPr id="29" name="">
            <a:extLst xmlns:a="http://schemas.openxmlformats.org/drawingml/2006/main">
              <a:ext uri="{FF2B5EF4-FFF2-40B4-BE49-F238E27FC236}">
                <a16:creationId xmlns:a16="http://schemas.microsoft.com/office/drawing/2014/main" id="{26E8D852-2F67-4DBF-B50D-489D0D2B60D4}"/>
              </a:ext>
            </a:extLst>
          </p:cNvPr>
          <p:cNvSpPr>
            <a:spLocks xmlns:a="http://schemas.openxmlformats.org/drawingml/2006/main" noGrp="1"/>
          </p:cNvSpPr>
          <p:nvPr/>
        </p:nvSpPr>
        <p:spPr>
          <a:xfrm xmlns:a="http://schemas.openxmlformats.org/drawingml/2006/main">
            <a:off x="6191250"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30" name="">
            <a:extLst xmlns:a="http://schemas.openxmlformats.org/drawingml/2006/main">
              <a:ext uri="{FF2B5EF4-FFF2-40B4-BE49-F238E27FC236}">
                <a16:creationId xmlns:a16="http://schemas.microsoft.com/office/drawing/2014/main" id="{36AA358A-758D-4109-ABDD-C54D46A5201C}"/>
              </a:ext>
            </a:extLst>
          </p:cNvPr>
          <p:cNvSpPr>
            <a:spLocks xmlns:a="http://schemas.openxmlformats.org/drawingml/2006/main" noGrp="1"/>
          </p:cNvSpPr>
          <p:nvPr/>
        </p:nvSpPr>
        <p:spPr>
          <a:xfrm xmlns:a="http://schemas.openxmlformats.org/drawingml/2006/main">
            <a:off x="6191250"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release owner</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Evidence → accept / narrow / stop</a:t>
            </a:r>
          </a:p>
        </p:txBody>
      </p:sp>
      <p:sp>
        <p:nvSpPr>
          <p:cNvPr id="31" name="">
            <a:extLst xmlns:a="http://schemas.openxmlformats.org/drawingml/2006/main">
              <a:ext uri="{FF2B5EF4-FFF2-40B4-BE49-F238E27FC236}">
                <a16:creationId xmlns:a16="http://schemas.microsoft.com/office/drawing/2014/main" id="{D187006D-52A1-48D9-B3DE-392CA69CEC9E}"/>
              </a:ext>
            </a:extLst>
          </p:cNvPr>
          <p:cNvSpPr>
            <a:spLocks xmlns:a="http://schemas.openxmlformats.org/drawingml/2006/main" noGrp="1"/>
          </p:cNvSpPr>
          <p:nvPr/>
        </p:nvSpPr>
        <p:spPr>
          <a:xfrm xmlns:a="http://schemas.openxmlformats.org/drawingml/2006/main">
            <a:off x="8982075"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AFTER RELEASE</a:t>
            </a:r>
          </a:p>
        </p:txBody>
      </p:sp>
      <p:sp>
        <p:nvSpPr>
          <p:cNvPr id="32" name="">
            <a:extLst xmlns:a="http://schemas.openxmlformats.org/drawingml/2006/main">
              <a:ext uri="{FF2B5EF4-FFF2-40B4-BE49-F238E27FC236}">
                <a16:creationId xmlns:a16="http://schemas.microsoft.com/office/drawing/2014/main" id="{4B81BE99-320D-49AC-A92B-3501EC575647}"/>
              </a:ext>
            </a:extLst>
          </p:cNvPr>
          <p:cNvSpPr>
            <a:spLocks xmlns:a="http://schemas.openxmlformats.org/drawingml/2006/main" noGrp="1"/>
          </p:cNvSpPr>
          <p:nvPr/>
        </p:nvSpPr>
        <p:spPr>
          <a:xfrm xmlns:a="http://schemas.openxmlformats.org/drawingml/2006/main">
            <a:off x="8982075"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Service owner + responders</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Monitor, recover + learn</a:t>
            </a:r>
          </a:p>
        </p:txBody>
      </p:sp>
      <p:sp>
        <p:nvSpPr>
          <p:cNvPr id="33" name="">
            <a:extLst xmlns:a="http://schemas.openxmlformats.org/drawingml/2006/main">
              <a:ext uri="{FF2B5EF4-FFF2-40B4-BE49-F238E27FC236}">
                <a16:creationId xmlns:a16="http://schemas.microsoft.com/office/drawing/2014/main" id="{0C96CF60-403D-4317-AA73-FBF5FE3497A9}"/>
              </a:ext>
            </a:extLst>
          </p:cNvPr>
          <p:cNvSpPr>
            <a:spLocks xmlns:a="http://schemas.openxmlformats.org/drawingml/2006/main" noGrp="1"/>
          </p:cNvSpPr>
          <p:nvPr/>
        </p:nvSpPr>
        <p:spPr>
          <a:xfrm xmlns:a="http://schemas.openxmlformats.org/drawingml/2006/main" flipH="0" flipV="0">
            <a:off x="609600" y="57054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C0F8C840-2F1E-478F-B57D-01A4AA1F09F9}"/>
              </a:ext>
            </a:extLst>
          </p:cNvPr>
          <p:cNvSpPr>
            <a:spLocks xmlns:a="http://schemas.openxmlformats.org/drawingml/2006/main" noGrp="1"/>
          </p:cNvSpPr>
          <p:nvPr/>
        </p:nvSpPr>
        <p:spPr>
          <a:xfrm xmlns:a="http://schemas.openxmlformats.org/drawingml/2006/main">
            <a:off x="609600" y="580072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HOW: AI-assisted SDLC</a:t>
            </a:r>
          </a:p>
        </p:txBody>
      </p:sp>
      <p:sp>
        <p:nvSpPr>
          <p:cNvPr id="35" name="">
            <a:extLst xmlns:a="http://schemas.openxmlformats.org/drawingml/2006/main">
              <a:ext uri="{FF2B5EF4-FFF2-40B4-BE49-F238E27FC236}">
                <a16:creationId xmlns:a16="http://schemas.microsoft.com/office/drawing/2014/main" id="{FE59B1E9-4899-4FDA-9965-0118A8184A40}"/>
              </a:ext>
            </a:extLst>
          </p:cNvPr>
          <p:cNvSpPr>
            <a:spLocks xmlns:a="http://schemas.openxmlformats.org/drawingml/2006/main" noGrp="1"/>
          </p:cNvSpPr>
          <p:nvPr/>
        </p:nvSpPr>
        <p:spPr>
          <a:xfrm xmlns:a="http://schemas.openxmlformats.org/drawingml/2006/main">
            <a:off x="4200525" y="580072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Review throughput, rework and team understanding.</a:t>
            </a:r>
          </a:p>
        </p:txBody>
      </p:sp>
      <p:sp>
        <p:nvSpPr>
          <p:cNvPr id="36" name="">
            <a:extLst xmlns:a="http://schemas.openxmlformats.org/drawingml/2006/main">
              <a:ext uri="{FF2B5EF4-FFF2-40B4-BE49-F238E27FC236}">
                <a16:creationId xmlns:a16="http://schemas.microsoft.com/office/drawing/2014/main" id="{80830D3A-7ED7-42EE-BF90-8DD50C95ACCC}"/>
              </a:ext>
            </a:extLst>
          </p:cNvPr>
          <p:cNvSpPr>
            <a:spLocks xmlns:a="http://schemas.openxmlformats.org/drawingml/2006/main" noGrp="1"/>
          </p:cNvSpPr>
          <p:nvPr/>
        </p:nvSpPr>
        <p:spPr>
          <a:xfrm xmlns:a="http://schemas.openxmlformats.org/drawingml/2006/main">
            <a:off x="609600" y="608647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WHAT: Thinking Systems</a:t>
            </a:r>
          </a:p>
        </p:txBody>
      </p:sp>
      <p:sp>
        <p:nvSpPr>
          <p:cNvPr id="37" name="">
            <a:extLst xmlns:a="http://schemas.openxmlformats.org/drawingml/2006/main">
              <a:ext uri="{FF2B5EF4-FFF2-40B4-BE49-F238E27FC236}">
                <a16:creationId xmlns:a16="http://schemas.microsoft.com/office/drawing/2014/main" id="{09C525DA-10FE-4DC3-A04F-AE64A97FCA81}"/>
              </a:ext>
            </a:extLst>
          </p:cNvPr>
          <p:cNvSpPr>
            <a:spLocks xmlns:a="http://schemas.openxmlformats.org/drawingml/2006/main" noGrp="1"/>
          </p:cNvSpPr>
          <p:nvPr/>
        </p:nvSpPr>
        <p:spPr>
          <a:xfrm xmlns:a="http://schemas.openxmlformats.org/drawingml/2006/main">
            <a:off x="4200525" y="608647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Useful outcomes, failure impact and full operating cost.</a:t>
            </a:r>
          </a:p>
        </p:txBody>
      </p:sp>
      <p:sp>
        <p:nvSpPr>
          <p:cNvPr id="38" name="">
            <a:extLst xmlns:a="http://schemas.openxmlformats.org/drawingml/2006/main">
              <a:ext uri="{FF2B5EF4-FFF2-40B4-BE49-F238E27FC236}">
                <a16:creationId xmlns:a16="http://schemas.microsoft.com/office/drawing/2014/main" id="{642BE3CC-574A-4F0C-B65A-9218C30D0F24}"/>
              </a:ext>
            </a:extLst>
          </p:cNvPr>
          <p:cNvSpPr>
            <a:spLocks xmlns:a="http://schemas.openxmlformats.org/drawingml/2006/main" noGrp="1"/>
          </p:cNvSpPr>
          <p:nvPr/>
        </p:nvSpPr>
        <p:spPr>
          <a:xfrm xmlns:a="http://schemas.openxmlformats.org/drawingml/2006/main">
            <a:off x="609600" y="64770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4F7FA"/>
                </a:solidFill>
                <a:latin typeface="Arial"/>
                <a:ea typeface="Arial"/>
                <a:cs typeface="Arial"/>
              </a:defRPr>
            </a:pPr>
            <a:r>
              <a:rPr sz="1650" b="1">
                <a:solidFill>
                  <a:srgbClr val="F4F7FA"/>
                </a:solidFill>
                <a:latin typeface="Arial"/>
                <a:ea typeface="Arial"/>
                <a:cs typeface="Arial"/>
              </a:rPr>
              <a:t>First step: one access-recovery workflow, approved limits and a rehearsed support fallback.</a:t>
            </a:r>
          </a:p>
        </p:txBody>
      </p:sp>
    </p:spTree>
    <p:extLst>
      <p:ext uri="{BB962C8B-B14F-4D97-AF65-F5344CB8AC3E}">
        <p14:creationId xmlns:p14="http://schemas.microsoft.com/office/powerpoint/2010/main" val="71160224"/>
      </p:ext>
    </p:extLst>
  </p:cSld>
</p:sld>
</file>

<file path=ppt/slides/slide1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A26FC5D4-1ED9-4C91-97BC-61F6A5CCDDD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Continue the Conversation</a:t>
            </a:r>
          </a:p>
        </p:txBody>
      </p:sp>
      <p:sp>
        <p:nvSpPr>
          <p:cNvPr id="2" name="">
            <a:extLst xmlns:a="http://schemas.openxmlformats.org/drawingml/2006/main">
              <a:ext uri="{FF2B5EF4-FFF2-40B4-BE49-F238E27FC236}">
                <a16:creationId xmlns:a16="http://schemas.microsoft.com/office/drawing/2014/main" id="{4FD57AD1-39BD-49E9-BA91-FE2A4C52FFC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16AA55DA-264C-4702-AA6E-75989F826B6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A4CD49C8-9570-45C8-84F3-F5CD4E59DEA3}"/>
              </a:ext>
            </a:extLst>
          </p:cNvPr>
          <p:cNvSpPr>
            <a:spLocks xmlns:a="http://schemas.openxmlformats.org/drawingml/2006/main" noGrp="1"/>
          </p:cNvSpPr>
          <p:nvPr/>
        </p:nvSpPr>
        <p:spPr>
          <a:xfrm xmlns:a="http://schemas.openxmlformats.org/drawingml/2006/main">
            <a:off x="609600" y="17335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Two parts of the argument. Sources, framework and discussion.</a:t>
            </a:r>
          </a:p>
        </p:txBody>
      </p:sp>
      <p:sp>
        <p:nvSpPr>
          <p:cNvPr id="5" name="">
            <a:extLst xmlns:a="http://schemas.openxmlformats.org/drawingml/2006/main">
              <a:ext uri="{FF2B5EF4-FFF2-40B4-BE49-F238E27FC236}">
                <a16:creationId xmlns:a16="http://schemas.microsoft.com/office/drawing/2014/main" id="{E4707D00-53C9-4963-BA1C-5C8E9624B407}"/>
              </a:ext>
            </a:extLst>
          </p:cNvPr>
          <p:cNvSpPr>
            <a:spLocks xmlns:a="http://schemas.openxmlformats.org/drawingml/2006/main" noGrp="1"/>
          </p:cNvSpPr>
          <p:nvPr/>
        </p:nvSpPr>
        <p:spPr>
          <a:xfrm xmlns:a="http://schemas.openxmlformats.org/drawingml/2006/main">
            <a:off x="6096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28C7F7"/>
                </a:solidFill>
                <a:latin typeface="Arial"/>
                <a:ea typeface="Arial"/>
                <a:cs typeface="Arial"/>
              </a:defRPr>
            </a:pPr>
            <a:r>
              <a:rPr sz="2175" b="1">
                <a:solidFill>
                  <a:srgbClr val="28C7F7"/>
                </a:solidFill>
                <a:latin typeface="Arial"/>
                <a:ea typeface="Arial"/>
                <a:cs typeface="Arial"/>
              </a:rPr>
              <a:t>Uncertainty Architecture</a:t>
            </a:r>
          </a:p>
        </p:txBody>
      </p:sp>
      <p:sp>
        <p:nvSpPr>
          <p:cNvPr id="6" name="">
            <a:extLst xmlns:a="http://schemas.openxmlformats.org/drawingml/2006/main">
              <a:ext uri="{FF2B5EF4-FFF2-40B4-BE49-F238E27FC236}">
                <a16:creationId xmlns:a16="http://schemas.microsoft.com/office/drawing/2014/main" id="{47316587-4E33-40D2-9CED-5112E8F2A888}"/>
              </a:ext>
            </a:extLst>
          </p:cNvPr>
          <p:cNvSpPr>
            <a:spLocks xmlns:a="http://schemas.openxmlformats.org/drawingml/2006/main" noGrp="1"/>
          </p:cNvSpPr>
          <p:nvPr/>
        </p:nvSpPr>
        <p:spPr>
          <a:xfrm xmlns:a="http://schemas.openxmlformats.org/drawingml/2006/main">
            <a:off x="6096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Designing and governing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Thinking Systems</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3d5db90b4aab4f01"/>
          <a:stretch xmlns:a="http://schemas.openxmlformats.org/drawingml/2006/main"/>
        </p:blipFill>
        <p:spPr>
          <a:xfrm xmlns:a="http://schemas.openxmlformats.org/drawingml/2006/main">
            <a:off x="2171700" y="3333750"/>
            <a:ext cx="2057400" cy="20574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B7DFE44A-67E1-47F3-ADE5-6D927E81C7F7}"/>
              </a:ext>
            </a:extLst>
          </p:cNvPr>
          <p:cNvSpPr>
            <a:spLocks xmlns:a="http://schemas.openxmlformats.org/drawingml/2006/main" noGrp="1"/>
          </p:cNvSpPr>
          <p:nvPr/>
        </p:nvSpPr>
        <p:spPr>
          <a:xfrm xmlns:a="http://schemas.openxmlformats.org/drawingml/2006/main">
            <a:off x="6096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bee66baa649b4579"/>
              </a:rPr>
              <a:t>github.com/UncertaintyArchitectureGroup/</a:t>
            </a:r>
          </a:p>
        </p:txBody>
      </p:sp>
      <p:sp>
        <p:nvSpPr>
          <p:cNvPr id="9" name="">
            <a:extLst xmlns:a="http://schemas.openxmlformats.org/drawingml/2006/main">
              <a:ext uri="{FF2B5EF4-FFF2-40B4-BE49-F238E27FC236}">
                <a16:creationId xmlns:a16="http://schemas.microsoft.com/office/drawing/2014/main" id="{FB8A9E44-C68D-43B1-A865-8EFFC9B9C6E2}"/>
              </a:ext>
            </a:extLst>
          </p:cNvPr>
          <p:cNvSpPr>
            <a:spLocks xmlns:a="http://schemas.openxmlformats.org/drawingml/2006/main" noGrp="1"/>
          </p:cNvSpPr>
          <p:nvPr/>
        </p:nvSpPr>
        <p:spPr>
          <a:xfrm xmlns:a="http://schemas.openxmlformats.org/drawingml/2006/main">
            <a:off x="6096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28C7F7"/>
                </a:solidFill>
                <a:latin typeface="Arial"/>
                <a:ea typeface="Arial"/>
                <a:cs typeface="Arial"/>
              </a:defRPr>
            </a:pPr>
            <a:r>
              <a:rPr sz="1650" b="1">
                <a:solidFill>
                  <a:srgbClr val="28C7F7"/>
                </a:solidFill>
                <a:latin typeface="Arial"/>
                <a:ea typeface="Arial"/>
                <a:cs typeface="Arial"/>
                <a:hlinkClick xmlns:r="http://schemas.openxmlformats.org/officeDocument/2006/relationships" r:id="Ra96fa891f64f4d84"/>
              </a:rPr>
              <a:t>uncertainty-architecture</a:t>
            </a:r>
          </a:p>
        </p:txBody>
      </p:sp>
      <p:sp>
        <p:nvSpPr>
          <p:cNvPr id="10" name="">
            <a:extLst xmlns:a="http://schemas.openxmlformats.org/drawingml/2006/main">
              <a:ext uri="{FF2B5EF4-FFF2-40B4-BE49-F238E27FC236}">
                <a16:creationId xmlns:a16="http://schemas.microsoft.com/office/drawing/2014/main" id="{96D580D7-C0D3-4F0F-A6F9-CFC94BB324DB}"/>
              </a:ext>
            </a:extLst>
          </p:cNvPr>
          <p:cNvSpPr>
            <a:spLocks xmlns:a="http://schemas.openxmlformats.org/drawingml/2006/main" noGrp="1"/>
          </p:cNvSpPr>
          <p:nvPr/>
        </p:nvSpPr>
        <p:spPr>
          <a:xfrm xmlns:a="http://schemas.openxmlformats.org/drawingml/2006/main">
            <a:off x="64008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F5B61C"/>
                </a:solidFill>
                <a:latin typeface="Arial"/>
                <a:ea typeface="Arial"/>
                <a:cs typeface="Arial"/>
              </a:defRPr>
            </a:pPr>
            <a:r>
              <a:rPr sz="2175" b="1">
                <a:solidFill>
                  <a:srgbClr val="F5B61C"/>
                </a:solidFill>
                <a:latin typeface="Arial"/>
                <a:ea typeface="Arial"/>
                <a:cs typeface="Arial"/>
              </a:rPr>
              <a:t>The Subprime Code Crisis</a:t>
            </a:r>
          </a:p>
        </p:txBody>
      </p:sp>
      <p:sp>
        <p:nvSpPr>
          <p:cNvPr id="11" name="">
            <a:extLst xmlns:a="http://schemas.openxmlformats.org/drawingml/2006/main">
              <a:ext uri="{FF2B5EF4-FFF2-40B4-BE49-F238E27FC236}">
                <a16:creationId xmlns:a16="http://schemas.microsoft.com/office/drawing/2014/main" id="{FE61413D-4C3D-4F17-982E-A213B05521B9}"/>
              </a:ext>
            </a:extLst>
          </p:cNvPr>
          <p:cNvSpPr>
            <a:spLocks xmlns:a="http://schemas.openxmlformats.org/drawingml/2006/main" noGrp="1"/>
          </p:cNvSpPr>
          <p:nvPr/>
        </p:nvSpPr>
        <p:spPr>
          <a:xfrm xmlns:a="http://schemas.openxmlformats.org/drawingml/2006/main">
            <a:off x="64008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AI-assisted delivery, understanding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and long-term ownership</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1d4f435f39984686"/>
          <a:stretch xmlns:a="http://schemas.openxmlformats.org/drawingml/2006/main"/>
        </p:blipFill>
        <p:spPr>
          <a:xfrm xmlns:a="http://schemas.openxmlformats.org/drawingml/2006/main">
            <a:off x="7962900" y="3333750"/>
            <a:ext cx="2057400" cy="20574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7506B724-4ED1-4279-B8A7-9C0CEDE05403}"/>
              </a:ext>
            </a:extLst>
          </p:cNvPr>
          <p:cNvSpPr>
            <a:spLocks xmlns:a="http://schemas.openxmlformats.org/drawingml/2006/main" noGrp="1"/>
          </p:cNvSpPr>
          <p:nvPr/>
        </p:nvSpPr>
        <p:spPr>
          <a:xfrm xmlns:a="http://schemas.openxmlformats.org/drawingml/2006/main">
            <a:off x="64008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59743968aa304f81"/>
              </a:rPr>
              <a:t>github.com/UncertaintyArchitectureGroup/</a:t>
            </a:r>
          </a:p>
        </p:txBody>
      </p:sp>
      <p:sp>
        <p:nvSpPr>
          <p:cNvPr id="14" name="">
            <a:extLst xmlns:a="http://schemas.openxmlformats.org/drawingml/2006/main">
              <a:ext uri="{FF2B5EF4-FFF2-40B4-BE49-F238E27FC236}">
                <a16:creationId xmlns:a16="http://schemas.microsoft.com/office/drawing/2014/main" id="{9FB00A4E-D064-4583-B071-2AB2C9482257}"/>
              </a:ext>
            </a:extLst>
          </p:cNvPr>
          <p:cNvSpPr>
            <a:spLocks xmlns:a="http://schemas.openxmlformats.org/drawingml/2006/main" noGrp="1"/>
          </p:cNvSpPr>
          <p:nvPr/>
        </p:nvSpPr>
        <p:spPr>
          <a:xfrm xmlns:a="http://schemas.openxmlformats.org/drawingml/2006/main">
            <a:off x="64008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5B61C"/>
                </a:solidFill>
                <a:latin typeface="Arial"/>
                <a:ea typeface="Arial"/>
                <a:cs typeface="Arial"/>
              </a:defRPr>
            </a:pPr>
            <a:r>
              <a:rPr sz="1650" b="1">
                <a:solidFill>
                  <a:srgbClr val="F5B61C"/>
                </a:solidFill>
                <a:latin typeface="Arial"/>
                <a:ea typeface="Arial"/>
                <a:cs typeface="Arial"/>
                <a:hlinkClick xmlns:r="http://schemas.openxmlformats.org/officeDocument/2006/relationships" r:id="R7818dac15a1848d5"/>
              </a:rPr>
              <a:t>The-Subprime-Code-Crisis</a:t>
            </a:r>
          </a:p>
        </p:txBody>
      </p:sp>
      <p:sp>
        <p:nvSpPr>
          <p:cNvPr id="15" name="">
            <a:extLst xmlns:a="http://schemas.openxmlformats.org/drawingml/2006/main">
              <a:ext uri="{FF2B5EF4-FFF2-40B4-BE49-F238E27FC236}">
                <a16:creationId xmlns:a16="http://schemas.microsoft.com/office/drawing/2014/main" id="{FDFDB93E-E90D-41CB-AA25-9D785F54B287}"/>
              </a:ext>
            </a:extLst>
          </p:cNvPr>
          <p:cNvSpPr>
            <a:spLocks xmlns:a="http://schemas.openxmlformats.org/drawingml/2006/main" noGrp="1"/>
          </p:cNvSpPr>
          <p:nvPr/>
        </p:nvSpPr>
        <p:spPr>
          <a:xfrm xmlns:a="http://schemas.openxmlformats.org/drawingml/2006/main" flipH="0" flipV="0">
            <a:off x="6096000" y="2257425"/>
            <a:ext cx="0" cy="38004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2286D721-A783-4F5D-9C2F-3C575B9D20C4}"/>
              </a:ext>
            </a:extLst>
          </p:cNvPr>
          <p:cNvSpPr>
            <a:spLocks xmlns:a="http://schemas.openxmlformats.org/drawingml/2006/main" noGrp="1"/>
          </p:cNvSpPr>
          <p:nvPr/>
        </p:nvSpPr>
        <p:spPr>
          <a:xfrm xmlns:a="http://schemas.openxmlformats.org/drawingml/2006/main" flipH="0" flipV="0">
            <a:off x="609600" y="62198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73767701-AF18-4981-B560-E77B1EB8DAB7}"/>
              </a:ext>
            </a:extLst>
          </p:cNvPr>
          <p:cNvSpPr>
            <a:spLocks xmlns:a="http://schemas.openxmlformats.org/drawingml/2006/main" noGrp="1"/>
          </p:cNvSpPr>
          <p:nvPr/>
        </p:nvSpPr>
        <p:spPr>
          <a:xfrm xmlns:a="http://schemas.openxmlformats.org/drawingml/2006/main">
            <a:off x="609600" y="6353175"/>
            <a:ext cx="2247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Vitalii Oborskyi</a:t>
            </a:r>
          </a:p>
        </p:txBody>
      </p:sp>
      <p:sp>
        <p:nvSpPr>
          <p:cNvPr id="18" name="">
            <a:extLst xmlns:a="http://schemas.openxmlformats.org/drawingml/2006/main">
              <a:ext uri="{FF2B5EF4-FFF2-40B4-BE49-F238E27FC236}">
                <a16:creationId xmlns:a16="http://schemas.microsoft.com/office/drawing/2014/main" id="{B171B2AD-6B86-48F9-B0A4-86CEC4AE60D0}"/>
              </a:ext>
            </a:extLst>
          </p:cNvPr>
          <p:cNvSpPr>
            <a:spLocks xmlns:a="http://schemas.openxmlformats.org/drawingml/2006/main" noGrp="1"/>
          </p:cNvSpPr>
          <p:nvPr/>
        </p:nvSpPr>
        <p:spPr>
          <a:xfrm xmlns:a="http://schemas.openxmlformats.org/drawingml/2006/main">
            <a:off x="3000375" y="63531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28C7F7"/>
                </a:solidFill>
                <a:latin typeface="Arial"/>
                <a:ea typeface="Arial"/>
                <a:cs typeface="Arial"/>
              </a:defRPr>
            </a:pPr>
            <a:r>
              <a:rPr sz="1350" b="0">
                <a:solidFill>
                  <a:srgbClr val="28C7F7"/>
                </a:solidFill>
                <a:latin typeface="Arial"/>
                <a:ea typeface="Arial"/>
                <a:cs typeface="Arial"/>
                <a:hlinkClick xmlns:r="http://schemas.openxmlformats.org/officeDocument/2006/relationships" r:id="Rfb354755b9c14c30"/>
              </a:rPr>
              <a:t>oborskyivitalii@gmail.com</a:t>
            </a:r>
          </a:p>
        </p:txBody>
      </p:sp>
      <p:sp>
        <p:nvSpPr>
          <p:cNvPr id="19" name="">
            <a:extLst xmlns:a="http://schemas.openxmlformats.org/drawingml/2006/main">
              <a:ext uri="{FF2B5EF4-FFF2-40B4-BE49-F238E27FC236}">
                <a16:creationId xmlns:a16="http://schemas.microsoft.com/office/drawing/2014/main" id="{CA432B82-5944-483F-A17F-B9042156B73E}"/>
              </a:ext>
            </a:extLst>
          </p:cNvPr>
          <p:cNvSpPr>
            <a:spLocks xmlns:a="http://schemas.openxmlformats.org/drawingml/2006/main" noGrp="1"/>
          </p:cNvSpPr>
          <p:nvPr/>
        </p:nvSpPr>
        <p:spPr>
          <a:xfrm xmlns:a="http://schemas.openxmlformats.org/drawingml/2006/main">
            <a:off x="6438900" y="6353175"/>
            <a:ext cx="4552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28C7F7"/>
                </a:solidFill>
                <a:latin typeface="Arial"/>
                <a:ea typeface="Arial"/>
                <a:cs typeface="Arial"/>
              </a:defRPr>
            </a:pPr>
            <a:r>
              <a:rPr sz="1275" b="0">
                <a:solidFill>
                  <a:srgbClr val="28C7F7"/>
                </a:solidFill>
                <a:latin typeface="Arial"/>
                <a:ea typeface="Arial"/>
                <a:cs typeface="Arial"/>
                <a:hlinkClick xmlns:r="http://schemas.openxmlformats.org/officeDocument/2006/relationships" r:id="Rd5614afb826c4b64"/>
              </a:rPr>
              <a:t>https://www.linkedin.com/in/vitaliioborskyi/</a:t>
            </a:r>
          </a:p>
        </p:txBody>
      </p:sp>
    </p:spTree>
    <p:extLst>
      <p:ext uri="{BB962C8B-B14F-4D97-AF65-F5344CB8AC3E}">
        <p14:creationId xmlns:p14="http://schemas.microsoft.com/office/powerpoint/2010/main" val="13330895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2026-09-23T09:02:27.3510000Z</dcterms:created>
  <dcterms:modified xsi:type="dcterms:W3CDTF">2026-09-23T09:02:27.3510000Z</dcterms:modified>
</coreProperties>
</file>