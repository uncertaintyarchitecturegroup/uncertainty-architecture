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fntdata" ContentType="application/x-fontdata"/>
</Types>
</file>

<file path=_rels/.rels>&#65279;<?xml version="1.0" encoding="utf-8"?><Relationships xmlns="http://schemas.openxmlformats.org/package/2006/relationships"><Relationship Type="http://schemas.openxmlformats.org/package/2006/relationships/metadata/core-properties" Target="/docProps/core.xml" Id="R9c91c7592487472c" /><Relationship Type="http://schemas.openxmlformats.org/officeDocument/2006/relationships/extended-properties" Target="/docProps/app.xml" Id="Rbe5b018376974fc4" /><Relationship Type="http://schemas.openxmlformats.org/officeDocument/2006/relationships/officeDocument" Target="/ppt/presentation.xml" Id="Ra70e0efbcd884357" /></Relationships>
</file>

<file path=ppt/presentation.xml><?xml version="1.0" encoding="utf-8"?>
<p:presentation xmlns:p="http://schemas.openxmlformats.org/presentationml/2006/main" xmlns:r="http://schemas.openxmlformats.org/officeDocument/2006/relationships" embedTrueTypeFonts="1" saveSubsetFonts="0">
  <p:sldMasterIdLst>
    <p:sldMasterId id="2147483648" r:id="R6afd41ce6f5a43ce"/>
  </p:sldMasterIdLst>
  <p:notesMasterIdLst>
    <p:notesMasterId r:id="R08fc7b9174bb458c"/>
  </p:notesMasterIdLst>
  <p:sldIdLst>
    <p:sldId id="256" r:id="R6ae962ef92de4a21"/>
    <p:sldId id="257" r:id="R5c1c812a31c84db8"/>
    <p:sldId id="258" r:id="Rdfa92d576924486e"/>
    <p:sldId id="259" r:id="Ra647f649e2a44f03"/>
    <p:sldId id="260" r:id="Rda6307b5ae98413f"/>
    <p:sldId id="261" r:id="R58aa99502ade4622"/>
    <p:sldId id="262" r:id="R76537c50ea684176"/>
    <p:sldId id="263" r:id="R17ca6d163abf45a6"/>
    <p:sldId id="264" r:id="Rdf974524e17643b4"/>
    <p:sldId id="265" r:id="Rd04c11ffbafa4a8c"/>
    <p:sldId id="266" r:id="Rcc1f2a6bb41747a9"/>
    <p:sldId id="267" r:id="R9e61755143924d56"/>
    <p:sldId id="268" r:id="R797166bce4be48c6"/>
    <p:sldId id="269" r:id="R1935d7ede7764753"/>
  </p:sldIdLst>
  <p:sldSz cx="12192000" cy="6858000"/>
  <p:notesSz cx="6858000" cy="9144000"/>
  <p:embeddedFontLst>
    <p:embeddedFont>
      <p:font typeface="Roboto"/>
      <p:regular r:id="rIdRobotoRegular"/>
      <p:bold r:id="rIdRobotoBol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bd3c17e4792a46bc" /><Relationship Type="http://schemas.openxmlformats.org/officeDocument/2006/relationships/slideMaster" Target="/ppt/slideMasters/slideMaster1.xml" Id="R6afd41ce6f5a43ce" /><Relationship Type="http://schemas.openxmlformats.org/officeDocument/2006/relationships/notesMaster" Target="/ppt/notesMasters/notesMaster1.xml" Id="R08fc7b9174bb458c" /><Relationship Type="http://schemas.openxmlformats.org/officeDocument/2006/relationships/presProps" Target="/ppt/presProps.xml" Id="Rb87916aa0e164191" /><Relationship Type="http://schemas.openxmlformats.org/officeDocument/2006/relationships/tableStyles" Target="/ppt/tableStyles.xml" Id="R4f8a098234c8404d" /><Relationship Type="http://schemas.openxmlformats.org/officeDocument/2006/relationships/slide" Target="/ppt/slides/slide1.xml" Id="R6ae962ef92de4a21" /><Relationship Type="http://schemas.openxmlformats.org/officeDocument/2006/relationships/slide" Target="/ppt/slides/slide2.xml" Id="R5c1c812a31c84db8" /><Relationship Type="http://schemas.openxmlformats.org/officeDocument/2006/relationships/slide" Target="/ppt/slides/slide3.xml" Id="Rdfa92d576924486e" /><Relationship Type="http://schemas.openxmlformats.org/officeDocument/2006/relationships/slide" Target="/ppt/slides/slide4.xml" Id="Ra647f649e2a44f03" /><Relationship Type="http://schemas.openxmlformats.org/officeDocument/2006/relationships/slide" Target="/ppt/slides/slide5.xml" Id="Rda6307b5ae98413f" /><Relationship Type="http://schemas.openxmlformats.org/officeDocument/2006/relationships/slide" Target="/ppt/slides/slide6.xml" Id="R58aa99502ade4622" /><Relationship Type="http://schemas.openxmlformats.org/officeDocument/2006/relationships/slide" Target="/ppt/slides/slide7.xml" Id="R76537c50ea684176" /><Relationship Type="http://schemas.openxmlformats.org/officeDocument/2006/relationships/slide" Target="/ppt/slides/slide8.xml" Id="R17ca6d163abf45a6" /><Relationship Type="http://schemas.openxmlformats.org/officeDocument/2006/relationships/slide" Target="/ppt/slides/slide9.xml" Id="Rdf974524e17643b4" /><Relationship Type="http://schemas.openxmlformats.org/officeDocument/2006/relationships/slide" Target="/ppt/slides/slide10.xml" Id="Rd04c11ffbafa4a8c" /><Relationship Type="http://schemas.openxmlformats.org/officeDocument/2006/relationships/slide" Target="/ppt/slides/slide11.xml" Id="Rcc1f2a6bb41747a9" /><Relationship Type="http://schemas.openxmlformats.org/officeDocument/2006/relationships/slide" Target="/ppt/slides/slide12.xml" Id="R9e61755143924d56" /><Relationship Type="http://schemas.openxmlformats.org/officeDocument/2006/relationships/slide" Target="/ppt/slides/slide13.xml" Id="R797166bce4be48c6" /><Relationship Type="http://schemas.openxmlformats.org/officeDocument/2006/relationships/slide" Target="/ppt/slides/slide14.xml" Id="R1935d7ede7764753" /><Relationship Id="rIdRobotoRegular" Type="http://schemas.openxmlformats.org/officeDocument/2006/relationships/font" Target="fonts/Roboto-Regular.fntdata" /><Relationship Id="rIdRobotoBold" Type="http://schemas.openxmlformats.org/officeDocument/2006/relationships/font" Target="fonts/Roboto-Bold.fntdat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53c520656e47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af4216a80644d2" /><Relationship Type="http://schemas.openxmlformats.org/officeDocument/2006/relationships/notesMaster" Target="/ppt/notesMasters/notesMaster1.xml" Id="R39fd0307203b46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d3faeb3c604843" /><Relationship Type="http://schemas.openxmlformats.org/officeDocument/2006/relationships/notesMaster" Target="/ppt/notesMasters/notesMaster1.xml" Id="Rb7b7d5894fe341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eda35dbc8f43da" /><Relationship Type="http://schemas.openxmlformats.org/officeDocument/2006/relationships/notesMaster" Target="/ppt/notesMasters/notesMaster1.xml" Id="R49f402e4600b40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2c8ea60924f481f" /><Relationship Type="http://schemas.openxmlformats.org/officeDocument/2006/relationships/notesMaster" Target="/ppt/notesMasters/notesMaster1.xml" Id="R161024d24b004d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f17980018449e4" /><Relationship Type="http://schemas.openxmlformats.org/officeDocument/2006/relationships/notesMaster" Target="/ppt/notesMasters/notesMaster1.xml" Id="R68c7cdf0821b4d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76cc7793424a66" /><Relationship Type="http://schemas.openxmlformats.org/officeDocument/2006/relationships/notesMaster" Target="/ppt/notesMasters/notesMaster1.xml" Id="R87fd265bc925468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6119284d2a40c5" /><Relationship Type="http://schemas.openxmlformats.org/officeDocument/2006/relationships/notesMaster" Target="/ppt/notesMasters/notesMaster1.xml" Id="R119eac82331149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59e73a719f47c7" /><Relationship Type="http://schemas.openxmlformats.org/officeDocument/2006/relationships/notesMaster" Target="/ppt/notesMasters/notesMaster1.xml" Id="Rd1a6f6276fdd4e4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516c3de7b84087" /><Relationship Type="http://schemas.openxmlformats.org/officeDocument/2006/relationships/notesMaster" Target="/ppt/notesMasters/notesMaster1.xml" Id="R3f93bc4d26d24ea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ea5e1b596f42e8" /><Relationship Type="http://schemas.openxmlformats.org/officeDocument/2006/relationships/notesMaster" Target="/ppt/notesMasters/notesMaster1.xml" Id="Rbfcd00e4632641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ca670b70e474e38" /><Relationship Type="http://schemas.openxmlformats.org/officeDocument/2006/relationships/notesMaster" Target="/ppt/notesMasters/notesMaster1.xml" Id="Rf59872d31788467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5aea7abba146f9" /><Relationship Type="http://schemas.openxmlformats.org/officeDocument/2006/relationships/notesMaster" Target="/ppt/notesMasters/notesMaster1.xml" Id="R5479605477ee47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e39e15386140ec" /><Relationship Type="http://schemas.openxmlformats.org/officeDocument/2006/relationships/notesMaster" Target="/ppt/notesMasters/notesMaster1.xml" Id="Rac88de92c6454e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6026eae4f454df2" /><Relationship Type="http://schemas.openxmlformats.org/officeDocument/2006/relationships/notesMaster" Target="/ppt/notesMasters/notesMaster1.xml" Id="Ra001d87320e647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e09a802f3347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fdd0a7eb074f2e" /><Relationship Type="http://schemas.openxmlformats.org/officeDocument/2006/relationships/slideLayout" Target="/ppt/slideLayouts/slideLayout1.xml" Id="R7a6994ccc91842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6994ccc91842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8e54e18359d40eb" /><Relationship Type="http://schemas.openxmlformats.org/officeDocument/2006/relationships/image" Target="/ppt/media/image.png" Id="R6c512f1bba4e420a" /><Relationship Type="http://schemas.openxmlformats.org/officeDocument/2006/relationships/notesSlide" Target="/ppt/notesSlides/notesSlide1.xml" Id="R2c16e501845f4d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dac4404ab44b37" /><Relationship Type="http://schemas.openxmlformats.org/officeDocument/2006/relationships/notesSlide" Target="/ppt/notesSlides/notesSlide2.xml" Id="R0c0a638245c44e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e8de22e2e4f02" /><Relationship Type="http://schemas.openxmlformats.org/officeDocument/2006/relationships/notesSlide" Target="/ppt/notesSlides/notesSlide3.xml" Id="R59088f8603fb4b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d081f6299e84daa" /><Relationship Type="http://schemas.openxmlformats.org/officeDocument/2006/relationships/notesSlide" Target="/ppt/notesSlides/notesSlide4.xml" Id="Rcd879c856cd143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36358a5ded438e" /><Relationship Type="http://schemas.openxmlformats.org/officeDocument/2006/relationships/notesSlide" Target="/ppt/notesSlides/notesSlide5.xml" Id="R8df0f71872284c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8ef01019ade4b61" /><Relationship Type="http://schemas.openxmlformats.org/officeDocument/2006/relationships/notesSlide" Target="/ppt/notesSlides/notesSlide6.xml" Id="R0426981933b9427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62bdb337654ef0" /><Relationship Type="http://schemas.openxmlformats.org/officeDocument/2006/relationships/notesSlide" Target="/ppt/notesSlides/notesSlide7.xml" Id="R318cc03b29ee40c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a7b130143654bf0" /><Relationship Type="http://schemas.openxmlformats.org/officeDocument/2006/relationships/notesSlide" Target="/ppt/notesSlides/notesSlide8.xml" Id="R0ed95023816f42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2f32808f3494192" /><Relationship Type="http://schemas.openxmlformats.org/officeDocument/2006/relationships/notesSlide" Target="/ppt/notesSlides/notesSlide9.xml" Id="R0c4e444e6d1b4c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4a98d8f41f24236" /><Relationship Type="http://schemas.openxmlformats.org/officeDocument/2006/relationships/notesSlide" Target="/ppt/notesSlides/notesSlide10.xml" Id="Rd7a5f68269d7439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ad3e6ee0d3a4b5e" /><Relationship Type="http://schemas.openxmlformats.org/officeDocument/2006/relationships/notesSlide" Target="/ppt/notesSlides/notesSlide11.xml" Id="R286c930c31a14c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8ec59e0deb946fc" /><Relationship Type="http://schemas.openxmlformats.org/officeDocument/2006/relationships/notesSlide" Target="/ppt/notesSlides/notesSlide12.xml" Id="Rda79235c4cbe4e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00d91dfa0ed4c65" /><Relationship Type="http://schemas.openxmlformats.org/officeDocument/2006/relationships/notesSlide" Target="/ppt/notesSlides/notesSlide13.xml" Id="Rf33acef8ca8c4df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41a9f3eeb6c4210" /><Relationship Type="http://schemas.openxmlformats.org/officeDocument/2006/relationships/notesSlide" Target="/ppt/notesSlides/notesSlide14.xml" Id="Rdd5ee245294247a1"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EA25C2E-878C-4A8A-BDDC-0BB51B8A4DD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01</a:t>
            </a:r>
          </a:p>
        </p:txBody>
      </p:sp>
      <p:sp>
        <p:nvSpPr>
          <p:cNvPr id="2" name="">
            <a:extLst xmlns:a="http://schemas.openxmlformats.org/drawingml/2006/main">
              <a:ext uri="{FF2B5EF4-FFF2-40B4-BE49-F238E27FC236}">
                <a16:creationId xmlns:a16="http://schemas.microsoft.com/office/drawing/2014/main" id="{5B25C9BD-16BD-49F5-9650-1C7989944495}"/>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AI Changes Both Sides</a:t>
            </a:r>
          </a:p>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of Software Engineering</a:t>
            </a:r>
          </a:p>
        </p:txBody>
      </p:sp>
      <p:sp>
        <p:nvSpPr>
          <p:cNvPr id="3" name="">
            <a:extLst xmlns:a="http://schemas.openxmlformats.org/drawingml/2006/main">
              <a:ext uri="{FF2B5EF4-FFF2-40B4-BE49-F238E27FC236}">
                <a16:creationId xmlns:a16="http://schemas.microsoft.com/office/drawing/2014/main" id="{B934B01C-64DD-4E16-9547-4C54FD6CC152}"/>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Roboto"/>
                <a:ea typeface="Roboto"/>
                <a:cs typeface="Roboto"/>
              </a:defRPr>
            </a:pPr>
            <a:r>
              <a:rPr sz="2025" b="0">
                <a:solidFill>
                  <a:srgbClr val="ADB8C5"/>
                </a:solidFill>
                <a:latin typeface="Roboto"/>
                <a:ea typeface="Roboto"/>
                <a:cs typeface="Roboto"/>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c512f1bba4e420a"/>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D73E8BA-8F19-413D-A03A-1068533A842E}"/>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WE BUILD</a:t>
            </a:r>
          </a:p>
        </p:txBody>
      </p:sp>
      <p:sp>
        <p:nvSpPr>
          <p:cNvPr id="6" name="">
            <a:extLst xmlns:a="http://schemas.openxmlformats.org/drawingml/2006/main">
              <a:ext uri="{FF2B5EF4-FFF2-40B4-BE49-F238E27FC236}">
                <a16:creationId xmlns:a16="http://schemas.microsoft.com/office/drawing/2014/main" id="{6F64A888-FA98-4A42-A643-D19F1EB94CC1}"/>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helps a developer write software.</a:t>
            </a:r>
          </a:p>
        </p:txBody>
      </p:sp>
      <p:sp>
        <p:nvSpPr>
          <p:cNvPr id="7" name="">
            <a:extLst xmlns:a="http://schemas.openxmlformats.org/drawingml/2006/main">
              <a:ext uri="{FF2B5EF4-FFF2-40B4-BE49-F238E27FC236}">
                <a16:creationId xmlns:a16="http://schemas.microsoft.com/office/drawing/2014/main" id="{33AE5C12-65D0-445D-8377-DAD1278B78FE}"/>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WHAT WE BUILD</a:t>
            </a:r>
          </a:p>
        </p:txBody>
      </p:sp>
      <p:sp>
        <p:nvSpPr>
          <p:cNvPr id="8" name="">
            <a:extLst xmlns:a="http://schemas.openxmlformats.org/drawingml/2006/main">
              <a:ext uri="{FF2B5EF4-FFF2-40B4-BE49-F238E27FC236}">
                <a16:creationId xmlns:a16="http://schemas.microsoft.com/office/drawing/2014/main" id="{76BD820A-E501-4F15-9B5A-61740BA01B2F}"/>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interprets a user’s request at runtime.</a:t>
            </a:r>
          </a:p>
        </p:txBody>
      </p:sp>
      <p:sp>
        <p:nvSpPr>
          <p:cNvPr id="9" name="">
            <a:extLst xmlns:a="http://schemas.openxmlformats.org/drawingml/2006/main">
              <a:ext uri="{FF2B5EF4-FFF2-40B4-BE49-F238E27FC236}">
                <a16:creationId xmlns:a16="http://schemas.microsoft.com/office/drawing/2014/main" id="{62DDD849-15F0-44FD-BD8B-A7B4D0B2D223}"/>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Vitalii Oborskyi · PMDay</a:t>
            </a:r>
          </a:p>
        </p:txBody>
      </p:sp>
    </p:spTree>
    <p:extLst>
      <p:ext uri="{BB962C8B-B14F-4D97-AF65-F5344CB8AC3E}">
        <p14:creationId xmlns:p14="http://schemas.microsoft.com/office/powerpoint/2010/main" val="640247853"/>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55EDDCD-F5AF-40E5-A2DA-F18A913DC33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This Is a Real Phase Transition</a:t>
            </a:r>
          </a:p>
        </p:txBody>
      </p:sp>
      <p:sp>
        <p:nvSpPr>
          <p:cNvPr id="2" name="">
            <a:extLst xmlns:a="http://schemas.openxmlformats.org/drawingml/2006/main">
              <a:ext uri="{FF2B5EF4-FFF2-40B4-BE49-F238E27FC236}">
                <a16:creationId xmlns:a16="http://schemas.microsoft.com/office/drawing/2014/main" id="{3405C5D9-2E12-4D64-9A07-7FD1ADB391E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5D532D2-CB64-4A12-B359-3F37D74A881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02</a:t>
            </a:r>
          </a:p>
        </p:txBody>
      </p:sp>
      <p:sp>
        <p:nvSpPr>
          <p:cNvPr id="4" name="">
            <a:extLst xmlns:a="http://schemas.openxmlformats.org/drawingml/2006/main">
              <a:ext uri="{FF2B5EF4-FFF2-40B4-BE49-F238E27FC236}">
                <a16:creationId xmlns:a16="http://schemas.microsoft.com/office/drawing/2014/main" id="{958CFC86-F629-4EAD-9E4D-E819377CEE86}"/>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89167018-8D39-4F83-B314-7D35E27725A2}"/>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Writing</a:t>
            </a:r>
          </a:p>
        </p:txBody>
      </p:sp>
      <p:sp>
        <p:nvSpPr>
          <p:cNvPr id="6" name="">
            <a:extLst xmlns:a="http://schemas.openxmlformats.org/drawingml/2006/main">
              <a:ext uri="{FF2B5EF4-FFF2-40B4-BE49-F238E27FC236}">
                <a16:creationId xmlns:a16="http://schemas.microsoft.com/office/drawing/2014/main" id="{200C55F6-A0B9-45EA-B9BC-4AF6FEDBF236}"/>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Memory</a:t>
            </a:r>
          </a:p>
        </p:txBody>
      </p:sp>
      <p:sp>
        <p:nvSpPr>
          <p:cNvPr id="7" name="">
            <a:extLst xmlns:a="http://schemas.openxmlformats.org/drawingml/2006/main">
              <a:ext uri="{FF2B5EF4-FFF2-40B4-BE49-F238E27FC236}">
                <a16:creationId xmlns:a16="http://schemas.microsoft.com/office/drawing/2014/main" id="{7FF9CE7C-132E-4446-8155-103991121EFC}"/>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Records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can retrieve</a:t>
            </a:r>
          </a:p>
        </p:txBody>
      </p:sp>
      <p:sp>
        <p:nvSpPr>
          <p:cNvPr id="8" name="">
            <a:extLst xmlns:a="http://schemas.openxmlformats.org/drawingml/2006/main">
              <a:ext uri="{FF2B5EF4-FFF2-40B4-BE49-F238E27FC236}">
                <a16:creationId xmlns:a16="http://schemas.microsoft.com/office/drawing/2014/main" id="{BB9FE901-3934-4A1E-AC9C-05E3CE39E3D0}"/>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BC72979C-3BE1-4E52-A2C7-86AE24979C92}"/>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Computers</a:t>
            </a:r>
          </a:p>
        </p:txBody>
      </p:sp>
      <p:sp>
        <p:nvSpPr>
          <p:cNvPr id="10" name="">
            <a:extLst xmlns:a="http://schemas.openxmlformats.org/drawingml/2006/main">
              <a:ext uri="{FF2B5EF4-FFF2-40B4-BE49-F238E27FC236}">
                <a16:creationId xmlns:a16="http://schemas.microsoft.com/office/drawing/2014/main" id="{53BA1850-DA45-4A91-9145-7FBC02BD1B99}"/>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Calculation</a:t>
            </a:r>
          </a:p>
        </p:txBody>
      </p:sp>
      <p:sp>
        <p:nvSpPr>
          <p:cNvPr id="11" name="">
            <a:extLst xmlns:a="http://schemas.openxmlformats.org/drawingml/2006/main">
              <a:ext uri="{FF2B5EF4-FFF2-40B4-BE49-F238E27FC236}">
                <a16:creationId xmlns:a16="http://schemas.microsoft.com/office/drawing/2014/main" id="{1B5B70C8-DBB5-4EC4-ADA5-7FE87C3A1842}"/>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Rules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explicitly encode</a:t>
            </a:r>
          </a:p>
        </p:txBody>
      </p:sp>
      <p:sp>
        <p:nvSpPr>
          <p:cNvPr id="12" name="">
            <a:extLst xmlns:a="http://schemas.openxmlformats.org/drawingml/2006/main">
              <a:ext uri="{FF2B5EF4-FFF2-40B4-BE49-F238E27FC236}">
                <a16:creationId xmlns:a16="http://schemas.microsoft.com/office/drawing/2014/main" id="{D1BAB3C7-4207-4E1C-8049-36EBC740FF37}"/>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1B699484-9336-40DB-9F2E-79053970774B}"/>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Large Models</a:t>
            </a:r>
          </a:p>
        </p:txBody>
      </p:sp>
      <p:sp>
        <p:nvSpPr>
          <p:cNvPr id="14" name="">
            <a:extLst xmlns:a="http://schemas.openxmlformats.org/drawingml/2006/main">
              <a:ext uri="{FF2B5EF4-FFF2-40B4-BE49-F238E27FC236}">
                <a16:creationId xmlns:a16="http://schemas.microsoft.com/office/drawing/2014/main" id="{6683BCA0-883D-4459-A064-6F3C6C022DC4}"/>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Externalized</a:t>
            </a:r>
          </a:p>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Cognition</a:t>
            </a:r>
          </a:p>
        </p:txBody>
      </p:sp>
      <p:sp>
        <p:nvSpPr>
          <p:cNvPr id="15" name="">
            <a:extLst xmlns:a="http://schemas.openxmlformats.org/drawingml/2006/main">
              <a:ext uri="{FF2B5EF4-FFF2-40B4-BE49-F238E27FC236}">
                <a16:creationId xmlns:a16="http://schemas.microsoft.com/office/drawing/2014/main" id="{A6D4CCFE-7B80-4F92-ACE6-C2DA5CF74DE9}"/>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Judgment shaped</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0E084FA9-0D43-4DDE-AD4C-6F19D9A7A2CA}"/>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DBDBF3FE-B141-4C0F-9F08-2480A0D6A57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382876E-5094-49D8-8216-F9C47E370CE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We design the environment in which behavior is generated at runtime.</a:t>
            </a:r>
          </a:p>
        </p:txBody>
      </p:sp>
    </p:spTree>
    <p:extLst>
      <p:ext uri="{BB962C8B-B14F-4D97-AF65-F5344CB8AC3E}">
        <p14:creationId xmlns:p14="http://schemas.microsoft.com/office/powerpoint/2010/main" val="2096953442"/>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600AA6F9-9517-48BB-97AA-806FA17F5D8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Accelerated a Step. Not the System.</a:t>
            </a:r>
          </a:p>
        </p:txBody>
      </p:sp>
      <p:sp>
        <p:nvSpPr>
          <p:cNvPr id="2" name="">
            <a:extLst xmlns:a="http://schemas.openxmlformats.org/drawingml/2006/main">
              <a:ext uri="{FF2B5EF4-FFF2-40B4-BE49-F238E27FC236}">
                <a16:creationId xmlns:a16="http://schemas.microsoft.com/office/drawing/2014/main" id="{83F00256-42E2-48BC-ACFC-F463E06CF34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2F6A2BB-B8DA-4774-AEB3-5E1439C4AEF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03</a:t>
            </a:r>
          </a:p>
        </p:txBody>
      </p:sp>
      <p:sp>
        <p:nvSpPr>
          <p:cNvPr id="4" name="">
            <a:extLst xmlns:a="http://schemas.openxmlformats.org/drawingml/2006/main">
              <a:ext uri="{FF2B5EF4-FFF2-40B4-BE49-F238E27FC236}">
                <a16:creationId xmlns:a16="http://schemas.microsoft.com/office/drawing/2014/main" id="{FE78B4F4-1BC3-48A3-B187-5D65293D2CEF}"/>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A900BAC8-1D0D-459D-B076-C741A218077F}"/>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0EAB431E-4F3D-4C17-A563-F892FF695F01}"/>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Intent</a:t>
            </a:r>
          </a:p>
        </p:txBody>
      </p:sp>
      <p:sp>
        <p:nvSpPr>
          <p:cNvPr id="7" name="">
            <a:extLst xmlns:a="http://schemas.openxmlformats.org/drawingml/2006/main">
              <a:ext uri="{FF2B5EF4-FFF2-40B4-BE49-F238E27FC236}">
                <a16:creationId xmlns:a16="http://schemas.microsoft.com/office/drawing/2014/main" id="{3030C92D-A4C5-416E-9994-FC4D9F9C1998}"/>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7B99C4EA-9B5A-4B2E-B419-B7199974B46F}"/>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Design</a:t>
            </a:r>
          </a:p>
        </p:txBody>
      </p:sp>
      <p:sp>
        <p:nvSpPr>
          <p:cNvPr id="9" name="">
            <a:extLst xmlns:a="http://schemas.openxmlformats.org/drawingml/2006/main">
              <a:ext uri="{FF2B5EF4-FFF2-40B4-BE49-F238E27FC236}">
                <a16:creationId xmlns:a16="http://schemas.microsoft.com/office/drawing/2014/main" id="{985A8EB5-C7FF-47F8-AB19-C357F0B4EF4B}"/>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40EA8BB0-86DD-4FBA-9A80-BDE34D5C573F}"/>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Code</a:t>
            </a:r>
          </a:p>
        </p:txBody>
      </p:sp>
      <p:sp>
        <p:nvSpPr>
          <p:cNvPr id="11" name="">
            <a:extLst xmlns:a="http://schemas.openxmlformats.org/drawingml/2006/main">
              <a:ext uri="{FF2B5EF4-FFF2-40B4-BE49-F238E27FC236}">
                <a16:creationId xmlns:a16="http://schemas.microsoft.com/office/drawing/2014/main" id="{30A00BC4-2E5C-4C1D-B88A-EE25076547D5}"/>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D9D37933-B372-4FE4-B175-D11849E29690}"/>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Review</a:t>
            </a:r>
          </a:p>
        </p:txBody>
      </p:sp>
      <p:sp>
        <p:nvSpPr>
          <p:cNvPr id="13" name="">
            <a:extLst xmlns:a="http://schemas.openxmlformats.org/drawingml/2006/main">
              <a:ext uri="{FF2B5EF4-FFF2-40B4-BE49-F238E27FC236}">
                <a16:creationId xmlns:a16="http://schemas.microsoft.com/office/drawing/2014/main" id="{D3FFCBC0-D1E8-49EC-9ECF-877AC74D0CE2}"/>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6A52FDFF-6B09-4266-9C96-56DD5489D848}"/>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Test</a:t>
            </a:r>
          </a:p>
        </p:txBody>
      </p:sp>
      <p:sp>
        <p:nvSpPr>
          <p:cNvPr id="15" name="">
            <a:extLst xmlns:a="http://schemas.openxmlformats.org/drawingml/2006/main">
              <a:ext uri="{FF2B5EF4-FFF2-40B4-BE49-F238E27FC236}">
                <a16:creationId xmlns:a16="http://schemas.microsoft.com/office/drawing/2014/main" id="{6EF0CD11-0EA7-4355-98C7-490EA14B34C7}"/>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D78F2C0D-191F-4941-B486-4D754CEB5294}"/>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Integrate</a:t>
            </a:r>
          </a:p>
        </p:txBody>
      </p:sp>
      <p:sp>
        <p:nvSpPr>
          <p:cNvPr id="17" name="">
            <a:extLst xmlns:a="http://schemas.openxmlformats.org/drawingml/2006/main">
              <a:ext uri="{FF2B5EF4-FFF2-40B4-BE49-F238E27FC236}">
                <a16:creationId xmlns:a16="http://schemas.microsoft.com/office/drawing/2014/main" id="{DB4AD50E-3662-4136-ADBB-E13EECA8B40A}"/>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D13BF32F-CBED-42BE-9A4E-FFF6B513F6C3}"/>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Deploy</a:t>
            </a:r>
          </a:p>
        </p:txBody>
      </p:sp>
      <p:sp>
        <p:nvSpPr>
          <p:cNvPr id="19" name="">
            <a:extLst xmlns:a="http://schemas.openxmlformats.org/drawingml/2006/main">
              <a:ext uri="{FF2B5EF4-FFF2-40B4-BE49-F238E27FC236}">
                <a16:creationId xmlns:a16="http://schemas.microsoft.com/office/drawing/2014/main" id="{2A7A2451-D406-45DC-8CB6-39E3B6B05D9A}"/>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A32CE986-C61A-489B-BF9B-049E903188BE}"/>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Operate</a:t>
            </a:r>
          </a:p>
        </p:txBody>
      </p:sp>
      <p:sp>
        <p:nvSpPr>
          <p:cNvPr id="21" name="">
            <a:extLst xmlns:a="http://schemas.openxmlformats.org/drawingml/2006/main">
              <a:ext uri="{FF2B5EF4-FFF2-40B4-BE49-F238E27FC236}">
                <a16:creationId xmlns:a16="http://schemas.microsoft.com/office/drawing/2014/main" id="{13407E27-F4D5-428D-AFAA-19E4692765DD}"/>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4EC64F02-8779-4A67-A410-F93600310BD9}"/>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99F3BBD8-2A3B-49F4-A758-4C1F98366A58}"/>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70E11820-5350-43DF-9FA4-A60D80B12F90}"/>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BFE4B45A-C008-4215-9E96-117CDEC3400B}"/>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A10655FB-ADE3-458F-A70E-469FC9794726}"/>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B19B4059-C754-4BDA-AC92-2184A8B98E78}"/>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3DED5CEC-381B-42BC-99C9-9866109DDB78}"/>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29" name="">
            <a:extLst xmlns:a="http://schemas.openxmlformats.org/drawingml/2006/main">
              <a:ext uri="{FF2B5EF4-FFF2-40B4-BE49-F238E27FC236}">
                <a16:creationId xmlns:a16="http://schemas.microsoft.com/office/drawing/2014/main" id="{5975D5AA-F5E3-4C69-B96E-10F111393313}"/>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0" name="">
            <a:extLst xmlns:a="http://schemas.openxmlformats.org/drawingml/2006/main">
              <a:ext uri="{FF2B5EF4-FFF2-40B4-BE49-F238E27FC236}">
                <a16:creationId xmlns:a16="http://schemas.microsoft.com/office/drawing/2014/main" id="{28A97BF4-7B36-4F77-AF47-FC54265EF93B}"/>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1" name="">
            <a:extLst xmlns:a="http://schemas.openxmlformats.org/drawingml/2006/main">
              <a:ext uri="{FF2B5EF4-FFF2-40B4-BE49-F238E27FC236}">
                <a16:creationId xmlns:a16="http://schemas.microsoft.com/office/drawing/2014/main" id="{E47C0123-CADE-447F-A82B-085473DBA471}"/>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2" name="">
            <a:extLst xmlns:a="http://schemas.openxmlformats.org/drawingml/2006/main">
              <a:ext uri="{FF2B5EF4-FFF2-40B4-BE49-F238E27FC236}">
                <a16:creationId xmlns:a16="http://schemas.microsoft.com/office/drawing/2014/main" id="{1A48B619-5A75-4A1B-A37B-1CBB0E09C550}"/>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3" name="">
            <a:extLst xmlns:a="http://schemas.openxmlformats.org/drawingml/2006/main">
              <a:ext uri="{FF2B5EF4-FFF2-40B4-BE49-F238E27FC236}">
                <a16:creationId xmlns:a16="http://schemas.microsoft.com/office/drawing/2014/main" id="{6A5C3767-8E02-4C97-9B21-E827B9D7A9B0}"/>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4" name="">
            <a:extLst xmlns:a="http://schemas.openxmlformats.org/drawingml/2006/main">
              <a:ext uri="{FF2B5EF4-FFF2-40B4-BE49-F238E27FC236}">
                <a16:creationId xmlns:a16="http://schemas.microsoft.com/office/drawing/2014/main" id="{E1A4106A-CC6E-46DB-A2FE-456A95F9C7F2}"/>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5" name="">
            <a:extLst xmlns:a="http://schemas.openxmlformats.org/drawingml/2006/main">
              <a:ext uri="{FF2B5EF4-FFF2-40B4-BE49-F238E27FC236}">
                <a16:creationId xmlns:a16="http://schemas.microsoft.com/office/drawing/2014/main" id="{FF375ADB-D8F7-4F97-ACBE-BB08983045C3}"/>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CA88384D-4B58-467D-8F75-473A16FAC0EC}"/>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Code</a:t>
            </a:r>
          </a:p>
        </p:txBody>
      </p:sp>
      <p:sp>
        <p:nvSpPr>
          <p:cNvPr id="37" name="">
            <a:extLst xmlns:a="http://schemas.openxmlformats.org/drawingml/2006/main">
              <a:ext uri="{FF2B5EF4-FFF2-40B4-BE49-F238E27FC236}">
                <a16:creationId xmlns:a16="http://schemas.microsoft.com/office/drawing/2014/main" id="{E7D1F28A-1EBC-4DE6-97D0-EC6FCF1113E5}"/>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Review</a:t>
            </a:r>
          </a:p>
        </p:txBody>
      </p:sp>
      <p:sp>
        <p:nvSpPr>
          <p:cNvPr id="38" name="">
            <a:extLst xmlns:a="http://schemas.openxmlformats.org/drawingml/2006/main">
              <a:ext uri="{FF2B5EF4-FFF2-40B4-BE49-F238E27FC236}">
                <a16:creationId xmlns:a16="http://schemas.microsoft.com/office/drawing/2014/main" id="{E8F51C7D-6EC6-496B-8790-3561535BF429}"/>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Integrate</a:t>
            </a:r>
          </a:p>
        </p:txBody>
      </p:sp>
      <p:sp>
        <p:nvSpPr>
          <p:cNvPr id="39" name="">
            <a:extLst xmlns:a="http://schemas.openxmlformats.org/drawingml/2006/main">
              <a:ext uri="{FF2B5EF4-FFF2-40B4-BE49-F238E27FC236}">
                <a16:creationId xmlns:a16="http://schemas.microsoft.com/office/drawing/2014/main" id="{739DA376-99B7-4AF0-91CF-E9C9D5004DB5}"/>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Roboto"/>
                <a:ea typeface="Roboto"/>
                <a:cs typeface="Roboto"/>
              </a:defRPr>
            </a:pPr>
            <a:r>
              <a:rPr sz="1500" b="1">
                <a:solidFill>
                  <a:srgbClr val="ADB8C5"/>
                </a:solidFill>
                <a:latin typeface="Roboto"/>
                <a:ea typeface="Roboto"/>
                <a:cs typeface="Roboto"/>
              </a:rPr>
              <a:t>BACKLOG</a:t>
            </a:r>
          </a:p>
        </p:txBody>
      </p:sp>
      <p:sp>
        <p:nvSpPr>
          <p:cNvPr id="40" name="">
            <a:extLst xmlns:a="http://schemas.openxmlformats.org/drawingml/2006/main">
              <a:ext uri="{FF2B5EF4-FFF2-40B4-BE49-F238E27FC236}">
                <a16:creationId xmlns:a16="http://schemas.microsoft.com/office/drawing/2014/main" id="{2C8ADF08-63AE-478E-BA62-F61D05F18735}"/>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Roboto"/>
                <a:ea typeface="Roboto"/>
                <a:cs typeface="Roboto"/>
              </a:defRPr>
            </a:pPr>
            <a:r>
              <a:rPr sz="1650" b="1">
                <a:solidFill>
                  <a:srgbClr val="ADB8C5"/>
                </a:solidFill>
                <a:latin typeface="Roboto"/>
                <a:ea typeface="Roboto"/>
                <a:cs typeface="Roboto"/>
              </a:rPr>
              <a:t>BEFORE</a:t>
            </a:r>
          </a:p>
        </p:txBody>
      </p:sp>
      <p:sp>
        <p:nvSpPr>
          <p:cNvPr id="41" name="">
            <a:extLst xmlns:a="http://schemas.openxmlformats.org/drawingml/2006/main">
              <a:ext uri="{FF2B5EF4-FFF2-40B4-BE49-F238E27FC236}">
                <a16:creationId xmlns:a16="http://schemas.microsoft.com/office/drawing/2014/main" id="{5564876A-0E81-4432-A71D-15BC071A5230}"/>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Balanced flow</a:t>
            </a:r>
          </a:p>
        </p:txBody>
      </p:sp>
      <p:sp>
        <p:nvSpPr>
          <p:cNvPr id="42" name="">
            <a:extLst xmlns:a="http://schemas.openxmlformats.org/drawingml/2006/main">
              <a:ext uri="{FF2B5EF4-FFF2-40B4-BE49-F238E27FC236}">
                <a16:creationId xmlns:a16="http://schemas.microsoft.com/office/drawing/2014/main" id="{45DD4FB7-4DCC-4AC9-8B41-CDDE4694762E}"/>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6086B0EE-9F4A-43F1-9232-7A2034F358C7}"/>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4" name="">
            <a:extLst xmlns:a="http://schemas.openxmlformats.org/drawingml/2006/main">
              <a:ext uri="{FF2B5EF4-FFF2-40B4-BE49-F238E27FC236}">
                <a16:creationId xmlns:a16="http://schemas.microsoft.com/office/drawing/2014/main" id="{27C1512B-12AB-4E20-9058-DA31B54CB595}"/>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D3CCEE21-B686-4FC0-8D1A-72D27DBBDD10}"/>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6" name="">
            <a:extLst xmlns:a="http://schemas.openxmlformats.org/drawingml/2006/main">
              <a:ext uri="{FF2B5EF4-FFF2-40B4-BE49-F238E27FC236}">
                <a16:creationId xmlns:a16="http://schemas.microsoft.com/office/drawing/2014/main" id="{E92BAC23-86B3-43BE-97F6-A97CE2D2A67E}"/>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7CF1F448-A51C-4267-B665-5E2EBE385E53}"/>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8" name="">
            <a:extLst xmlns:a="http://schemas.openxmlformats.org/drawingml/2006/main">
              <a:ext uri="{FF2B5EF4-FFF2-40B4-BE49-F238E27FC236}">
                <a16:creationId xmlns:a16="http://schemas.microsoft.com/office/drawing/2014/main" id="{239F66E9-FA22-49E7-B99C-A15F744F02AC}"/>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8F100B14-9A02-4A73-AFAD-4D9D39C49071}"/>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BBE45132-CE40-4BEA-8EA6-2429A043A637}"/>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Roboto"/>
                <a:ea typeface="Roboto"/>
                <a:cs typeface="Roboto"/>
              </a:defRPr>
            </a:pPr>
            <a:r>
              <a:rPr sz="2925" b="1">
                <a:solidFill>
                  <a:srgbClr val="ADB8C5"/>
                </a:solidFill>
                <a:latin typeface="Roboto"/>
                <a:ea typeface="Roboto"/>
                <a:cs typeface="Roboto"/>
              </a:rPr>
              <a:t>0</a:t>
            </a:r>
          </a:p>
        </p:txBody>
      </p:sp>
      <p:sp>
        <p:nvSpPr>
          <p:cNvPr id="51" name="">
            <a:extLst xmlns:a="http://schemas.openxmlformats.org/drawingml/2006/main">
              <a:ext uri="{FF2B5EF4-FFF2-40B4-BE49-F238E27FC236}">
                <a16:creationId xmlns:a16="http://schemas.microsoft.com/office/drawing/2014/main" id="{110CEAEC-2EB2-4409-89C3-A88CB8AB6C55}"/>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no accumulation</a:t>
            </a:r>
          </a:p>
        </p:txBody>
      </p:sp>
      <p:sp>
        <p:nvSpPr>
          <p:cNvPr id="52" name="">
            <a:extLst xmlns:a="http://schemas.openxmlformats.org/drawingml/2006/main">
              <a:ext uri="{FF2B5EF4-FFF2-40B4-BE49-F238E27FC236}">
                <a16:creationId xmlns:a16="http://schemas.microsoft.com/office/drawing/2014/main" id="{9D5913BC-6EAB-49A9-8BCC-85089CE18652}"/>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AFTER AI</a:t>
            </a:r>
          </a:p>
        </p:txBody>
      </p:sp>
      <p:sp>
        <p:nvSpPr>
          <p:cNvPr id="53" name="">
            <a:extLst xmlns:a="http://schemas.openxmlformats.org/drawingml/2006/main">
              <a:ext uri="{FF2B5EF4-FFF2-40B4-BE49-F238E27FC236}">
                <a16:creationId xmlns:a16="http://schemas.microsoft.com/office/drawing/2014/main" id="{28A5847C-D9BD-4A92-A627-D4DBDAD7BBA2}"/>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Other stages have</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not sped up</a:t>
            </a:r>
          </a:p>
        </p:txBody>
      </p:sp>
      <p:sp>
        <p:nvSpPr>
          <p:cNvPr id="54" name="">
            <a:extLst xmlns:a="http://schemas.openxmlformats.org/drawingml/2006/main">
              <a:ext uri="{FF2B5EF4-FFF2-40B4-BE49-F238E27FC236}">
                <a16:creationId xmlns:a16="http://schemas.microsoft.com/office/drawing/2014/main" id="{61A43B5C-5844-4B46-9EB6-17D39FB12D4D}"/>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11FB0F8B-2962-4997-B097-DF02B9D1C09D}"/>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Roboto"/>
                <a:ea typeface="Roboto"/>
                <a:cs typeface="Roboto"/>
              </a:defRPr>
            </a:pPr>
            <a:r>
              <a:rPr sz="2700" b="1">
                <a:solidFill>
                  <a:srgbClr val="28C7F7"/>
                </a:solidFill>
                <a:latin typeface="Roboto"/>
                <a:ea typeface="Roboto"/>
                <a:cs typeface="Roboto"/>
              </a:rPr>
              <a:t>100</a:t>
            </a:r>
          </a:p>
        </p:txBody>
      </p:sp>
      <p:sp>
        <p:nvSpPr>
          <p:cNvPr id="56" name="">
            <a:extLst xmlns:a="http://schemas.openxmlformats.org/drawingml/2006/main">
              <a:ext uri="{FF2B5EF4-FFF2-40B4-BE49-F238E27FC236}">
                <a16:creationId xmlns:a16="http://schemas.microsoft.com/office/drawing/2014/main" id="{A910F3AE-B5B3-473C-BCEB-F60339BD76D5}"/>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89C518C5-8894-4715-93C1-4C585D242273}"/>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58" name="">
            <a:extLst xmlns:a="http://schemas.openxmlformats.org/drawingml/2006/main">
              <a:ext uri="{FF2B5EF4-FFF2-40B4-BE49-F238E27FC236}">
                <a16:creationId xmlns:a16="http://schemas.microsoft.com/office/drawing/2014/main" id="{42AE6095-F2D8-4D4E-9D08-A784F728CF98}"/>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702D26C3-48D7-4F26-8B06-A4742E33CA0E}"/>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60" name="">
            <a:extLst xmlns:a="http://schemas.openxmlformats.org/drawingml/2006/main">
              <a:ext uri="{FF2B5EF4-FFF2-40B4-BE49-F238E27FC236}">
                <a16:creationId xmlns:a16="http://schemas.microsoft.com/office/drawing/2014/main" id="{CEB36E81-D603-4E2D-9624-A541A7AD1DEC}"/>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B7365471-849C-4C43-A61F-8A16757ABB9A}"/>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111B64A8-BAA3-453E-A3F5-A173D2FF9932}"/>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Roboto"/>
                <a:ea typeface="Roboto"/>
                <a:cs typeface="Roboto"/>
              </a:defRPr>
            </a:pPr>
            <a:r>
              <a:rPr sz="2925" b="1">
                <a:solidFill>
                  <a:srgbClr val="F5B61C"/>
                </a:solidFill>
                <a:latin typeface="Roboto"/>
                <a:ea typeface="Roboto"/>
                <a:cs typeface="Roboto"/>
              </a:rPr>
              <a:t>+92</a:t>
            </a:r>
          </a:p>
        </p:txBody>
      </p:sp>
      <p:sp>
        <p:nvSpPr>
          <p:cNvPr id="63" name="">
            <a:extLst xmlns:a="http://schemas.openxmlformats.org/drawingml/2006/main">
              <a:ext uri="{FF2B5EF4-FFF2-40B4-BE49-F238E27FC236}">
                <a16:creationId xmlns:a16="http://schemas.microsoft.com/office/drawing/2014/main" id="{2A5BAB1B-2DE3-4C6E-9F39-E51979CD1BEF}"/>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unfinished / week</a:t>
            </a:r>
          </a:p>
        </p:txBody>
      </p:sp>
      <p:sp>
        <p:nvSpPr>
          <p:cNvPr id="64" name="">
            <a:extLst xmlns:a="http://schemas.openxmlformats.org/drawingml/2006/main">
              <a:ext uri="{FF2B5EF4-FFF2-40B4-BE49-F238E27FC236}">
                <a16:creationId xmlns:a16="http://schemas.microsoft.com/office/drawing/2014/main" id="{0E70DFC8-9005-47D6-977B-6E626BD97ABE}"/>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62F9C863-A9DB-4337-8B6B-77CE482CA7C1}"/>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THEORY OF CONSTRAINTS</a:t>
            </a:r>
          </a:p>
        </p:txBody>
      </p:sp>
      <p:sp>
        <p:nvSpPr>
          <p:cNvPr id="66" name="">
            <a:extLst xmlns:a="http://schemas.openxmlformats.org/drawingml/2006/main">
              <a:ext uri="{FF2B5EF4-FFF2-40B4-BE49-F238E27FC236}">
                <a16:creationId xmlns:a16="http://schemas.microsoft.com/office/drawing/2014/main" id="{BF51EC13-EEB1-4479-97B4-0C003BD0D9F6}"/>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51DEC7EE-F9AA-41F4-AD34-02E8A84D1048}"/>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Roboto"/>
                <a:ea typeface="Roboto"/>
                <a:cs typeface="Roboto"/>
              </a:defRPr>
            </a:pPr>
            <a:r>
              <a:rPr sz="1350" b="0">
                <a:solidFill>
                  <a:srgbClr val="ADB8C5"/>
                </a:solidFill>
                <a:latin typeface="Roboto"/>
                <a:ea typeface="Roboto"/>
                <a:cs typeface="Roboto"/>
              </a:rPr>
              <a:t>Push system: no WIP limit, no discarded work.</a:t>
            </a:r>
          </a:p>
        </p:txBody>
      </p:sp>
    </p:spTree>
    <p:extLst>
      <p:ext uri="{BB962C8B-B14F-4D97-AF65-F5344CB8AC3E}">
        <p14:creationId xmlns:p14="http://schemas.microsoft.com/office/powerpoint/2010/main" val="329325458"/>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B0043DB8-A82B-490C-928C-F0823A19BE5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Evidence Is Already Messy</a:t>
            </a:r>
          </a:p>
        </p:txBody>
      </p:sp>
      <p:sp>
        <p:nvSpPr>
          <p:cNvPr id="2" name="">
            <a:extLst xmlns:a="http://schemas.openxmlformats.org/drawingml/2006/main">
              <a:ext uri="{FF2B5EF4-FFF2-40B4-BE49-F238E27FC236}">
                <a16:creationId xmlns:a16="http://schemas.microsoft.com/office/drawing/2014/main" id="{6014E88D-4B55-4E6B-862C-7E36E3409D3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CF1A669-7FFB-44C1-9C61-5AFAEC95B24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04</a:t>
            </a:r>
          </a:p>
        </p:txBody>
      </p:sp>
      <p:sp>
        <p:nvSpPr>
          <p:cNvPr id="4" name="">
            <a:extLst xmlns:a="http://schemas.openxmlformats.org/drawingml/2006/main">
              <a:ext uri="{FF2B5EF4-FFF2-40B4-BE49-F238E27FC236}">
                <a16:creationId xmlns:a16="http://schemas.microsoft.com/office/drawing/2014/main" id="{4F8E4C0E-FD3D-45B0-ADFC-7F69CE9BE60E}"/>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90D5190A-30AE-401B-B442-EAB85E5F29DC}"/>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NBER · SEP 2026 REVISION</a:t>
            </a:r>
          </a:p>
        </p:txBody>
      </p:sp>
      <p:sp>
        <p:nvSpPr>
          <p:cNvPr id="6" name="">
            <a:extLst xmlns:a="http://schemas.openxmlformats.org/drawingml/2006/main">
              <a:ext uri="{FF2B5EF4-FFF2-40B4-BE49-F238E27FC236}">
                <a16:creationId xmlns:a16="http://schemas.microsoft.com/office/drawing/2014/main" id="{C8F8CB8E-6E9F-4738-8413-41ECB32CC7D7}"/>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25.5×</a:t>
            </a:r>
          </a:p>
        </p:txBody>
      </p:sp>
      <p:sp>
        <p:nvSpPr>
          <p:cNvPr id="7" name="">
            <a:extLst xmlns:a="http://schemas.openxmlformats.org/drawingml/2006/main">
              <a:ext uri="{FF2B5EF4-FFF2-40B4-BE49-F238E27FC236}">
                <a16:creationId xmlns:a16="http://schemas.microsoft.com/office/drawing/2014/main" id="{640A3107-7CB4-4548-8F9A-12E3AE207DED}"/>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changed LOC</a:t>
            </a:r>
          </a:p>
        </p:txBody>
      </p:sp>
      <p:sp>
        <p:nvSpPr>
          <p:cNvPr id="8" name="">
            <a:extLst xmlns:a="http://schemas.openxmlformats.org/drawingml/2006/main">
              <a:ext uri="{FF2B5EF4-FFF2-40B4-BE49-F238E27FC236}">
                <a16:creationId xmlns:a16="http://schemas.microsoft.com/office/drawing/2014/main" id="{D78119B2-17A8-4EA7-B674-678246B2833C}"/>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3.4×</a:t>
            </a:r>
          </a:p>
        </p:txBody>
      </p:sp>
      <p:sp>
        <p:nvSpPr>
          <p:cNvPr id="9" name="">
            <a:extLst xmlns:a="http://schemas.openxmlformats.org/drawingml/2006/main">
              <a:ext uri="{FF2B5EF4-FFF2-40B4-BE49-F238E27FC236}">
                <a16:creationId xmlns:a16="http://schemas.microsoft.com/office/drawing/2014/main" id="{0D7D4EAF-99BB-439B-BBFE-F5EA89B39538}"/>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commits</a:t>
            </a:r>
          </a:p>
        </p:txBody>
      </p:sp>
      <p:sp>
        <p:nvSpPr>
          <p:cNvPr id="10" name="">
            <a:extLst xmlns:a="http://schemas.openxmlformats.org/drawingml/2006/main">
              <a:ext uri="{FF2B5EF4-FFF2-40B4-BE49-F238E27FC236}">
                <a16:creationId xmlns:a16="http://schemas.microsoft.com/office/drawing/2014/main" id="{C9CE9232-4814-49C8-A3D9-17079274F432}"/>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1.3×</a:t>
            </a:r>
          </a:p>
        </p:txBody>
      </p:sp>
      <p:sp>
        <p:nvSpPr>
          <p:cNvPr id="11" name="">
            <a:extLst xmlns:a="http://schemas.openxmlformats.org/drawingml/2006/main">
              <a:ext uri="{FF2B5EF4-FFF2-40B4-BE49-F238E27FC236}">
                <a16:creationId xmlns:a16="http://schemas.microsoft.com/office/drawing/2014/main" id="{033378CF-AA7E-4909-82D9-EEEE67B8D36B}"/>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releases</a:t>
            </a:r>
          </a:p>
        </p:txBody>
      </p:sp>
      <p:sp>
        <p:nvSpPr>
          <p:cNvPr id="12" name="">
            <a:extLst xmlns:a="http://schemas.openxmlformats.org/drawingml/2006/main">
              <a:ext uri="{FF2B5EF4-FFF2-40B4-BE49-F238E27FC236}">
                <a16:creationId xmlns:a16="http://schemas.microsoft.com/office/drawing/2014/main" id="{512AEADA-F140-40B3-B078-1600BF73E9C4}"/>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Cumulative across three tool generations</a:t>
            </a:r>
          </a:p>
        </p:txBody>
      </p:sp>
      <p:sp>
        <p:nvSpPr>
          <p:cNvPr id="13" name="">
            <a:extLst xmlns:a="http://schemas.openxmlformats.org/drawingml/2006/main">
              <a:ext uri="{FF2B5EF4-FFF2-40B4-BE49-F238E27FC236}">
                <a16:creationId xmlns:a16="http://schemas.microsoft.com/office/drawing/2014/main" id="{7D036597-BC3A-48D5-957A-A2335D82AC9B}"/>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Fig. 1 rounded; LOC = additions + deletions.</a:t>
            </a:r>
          </a:p>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Async release effect not estimated.</a:t>
            </a:r>
          </a:p>
        </p:txBody>
      </p:sp>
      <p:sp>
        <p:nvSpPr>
          <p:cNvPr id="14" name="">
            <a:extLst xmlns:a="http://schemas.openxmlformats.org/drawingml/2006/main">
              <a:ext uri="{FF2B5EF4-FFF2-40B4-BE49-F238E27FC236}">
                <a16:creationId xmlns:a16="http://schemas.microsoft.com/office/drawing/2014/main" id="{3950114D-B960-4F57-AE91-B36266AD138B}"/>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More apps. Usage does not</a:t>
            </a:r>
          </a:p>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keep pace with new releases.</a:t>
            </a:r>
          </a:p>
        </p:txBody>
      </p:sp>
      <p:sp>
        <p:nvSpPr>
          <p:cNvPr id="15" name="">
            <a:extLst xmlns:a="http://schemas.openxmlformats.org/drawingml/2006/main">
              <a:ext uri="{FF2B5EF4-FFF2-40B4-BE49-F238E27FC236}">
                <a16:creationId xmlns:a16="http://schemas.microsoft.com/office/drawing/2014/main" id="{FD7F03FB-6B21-4BB0-BA72-E4E4C77F4D82}"/>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iOS: &lt;10 ratings</a:t>
            </a:r>
          </a:p>
        </p:txBody>
      </p:sp>
      <p:sp>
        <p:nvSpPr>
          <p:cNvPr id="16" name="">
            <a:extLst xmlns:a="http://schemas.openxmlformats.org/drawingml/2006/main">
              <a:ext uri="{FF2B5EF4-FFF2-40B4-BE49-F238E27FC236}">
                <a16:creationId xmlns:a16="http://schemas.microsoft.com/office/drawing/2014/main" id="{D69971B2-E24D-4919-AC2E-B31ACCB23F00}"/>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≈78% → 87%</a:t>
            </a:r>
          </a:p>
        </p:txBody>
      </p:sp>
      <p:sp>
        <p:nvSpPr>
          <p:cNvPr id="17" name="">
            <a:extLst xmlns:a="http://schemas.openxmlformats.org/drawingml/2006/main">
              <a:ext uri="{FF2B5EF4-FFF2-40B4-BE49-F238E27FC236}">
                <a16:creationId xmlns:a16="http://schemas.microsoft.com/office/drawing/2014/main" id="{958F2E99-FD0F-4F28-B05C-590E310115CA}"/>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Chrome: &lt;10 downloads</a:t>
            </a:r>
          </a:p>
        </p:txBody>
      </p:sp>
      <p:sp>
        <p:nvSpPr>
          <p:cNvPr id="18" name="">
            <a:extLst xmlns:a="http://schemas.openxmlformats.org/drawingml/2006/main">
              <a:ext uri="{FF2B5EF4-FFF2-40B4-BE49-F238E27FC236}">
                <a16:creationId xmlns:a16="http://schemas.microsoft.com/office/drawing/2014/main" id="{D382AD02-20D8-42F3-887F-6F9B77716FAC}"/>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19% → 33%</a:t>
            </a:r>
          </a:p>
        </p:txBody>
      </p:sp>
      <p:sp>
        <p:nvSpPr>
          <p:cNvPr id="19" name="">
            <a:extLst xmlns:a="http://schemas.openxmlformats.org/drawingml/2006/main">
              <a:ext uri="{FF2B5EF4-FFF2-40B4-BE49-F238E27FC236}">
                <a16:creationId xmlns:a16="http://schemas.microsoft.com/office/drawing/2014/main" id="{025960E5-7411-4B49-9809-DFD94EC1FDBE}"/>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Jan 2025 → Apr 2026; first 3 months.</a:t>
            </a:r>
          </a:p>
        </p:txBody>
      </p:sp>
      <p:sp>
        <p:nvSpPr>
          <p:cNvPr id="20" name="">
            <a:extLst xmlns:a="http://schemas.openxmlformats.org/drawingml/2006/main">
              <a:ext uri="{FF2B5EF4-FFF2-40B4-BE49-F238E27FC236}">
                <a16:creationId xmlns:a16="http://schemas.microsoft.com/office/drawing/2014/main" id="{45BE6E70-545C-4BB2-B6F1-6FB6B3E5D3BD}"/>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DORA · 2025</a:t>
            </a:r>
          </a:p>
        </p:txBody>
      </p:sp>
      <p:sp>
        <p:nvSpPr>
          <p:cNvPr id="21" name="">
            <a:extLst xmlns:a="http://schemas.openxmlformats.org/drawingml/2006/main">
              <a:ext uri="{FF2B5EF4-FFF2-40B4-BE49-F238E27FC236}">
                <a16:creationId xmlns:a16="http://schemas.microsoft.com/office/drawing/2014/main" id="{C0C649A9-573F-45BE-9B0E-ED3F6013462E}"/>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Higher throughput</a:t>
            </a:r>
          </a:p>
        </p:txBody>
      </p:sp>
      <p:sp>
        <p:nvSpPr>
          <p:cNvPr id="22" name="">
            <a:extLst xmlns:a="http://schemas.openxmlformats.org/drawingml/2006/main">
              <a:ext uri="{FF2B5EF4-FFF2-40B4-BE49-F238E27FC236}">
                <a16:creationId xmlns:a16="http://schemas.microsoft.com/office/drawing/2014/main" id="{03BC7603-DB24-4DFF-99CB-20A5A99D26F3}"/>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Lower delivery stability</a:t>
            </a:r>
          </a:p>
        </p:txBody>
      </p:sp>
      <p:sp>
        <p:nvSpPr>
          <p:cNvPr id="23" name="">
            <a:extLst xmlns:a="http://schemas.openxmlformats.org/drawingml/2006/main">
              <a:ext uri="{FF2B5EF4-FFF2-40B4-BE49-F238E27FC236}">
                <a16:creationId xmlns:a16="http://schemas.microsoft.com/office/drawing/2014/main" id="{9DEAB266-53D4-4BA9-9243-EAA7E90B6ACE}"/>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Roboto"/>
                <a:ea typeface="Roboto"/>
                <a:cs typeface="Roboto"/>
              </a:defRPr>
            </a:pPr>
            <a:r>
              <a:rPr sz="1425" b="0">
                <a:solidFill>
                  <a:srgbClr val="F5B61C"/>
                </a:solidFill>
                <a:latin typeface="Roboto"/>
                <a:ea typeface="Roboto"/>
                <a:cs typeface="Roboto"/>
              </a:rPr>
              <a:t>≈ +0.10 SD instability per +1 SD AI adoption</a:t>
            </a:r>
          </a:p>
        </p:txBody>
      </p:sp>
      <p:sp>
        <p:nvSpPr>
          <p:cNvPr id="24" name="">
            <a:extLst xmlns:a="http://schemas.openxmlformats.org/drawingml/2006/main">
              <a:ext uri="{FF2B5EF4-FFF2-40B4-BE49-F238E27FC236}">
                <a16:creationId xmlns:a16="http://schemas.microsoft.com/office/drawing/2014/main" id="{89BDE5B5-BE75-4037-B270-3BB17B7E7B26}"/>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89% credible interval ≈ +0.07 to +0.13</a:t>
            </a:r>
          </a:p>
        </p:txBody>
      </p:sp>
      <p:sp>
        <p:nvSpPr>
          <p:cNvPr id="25" name="">
            <a:extLst xmlns:a="http://schemas.openxmlformats.org/drawingml/2006/main">
              <a:ext uri="{FF2B5EF4-FFF2-40B4-BE49-F238E27FC236}">
                <a16:creationId xmlns:a16="http://schemas.microsoft.com/office/drawing/2014/main" id="{DE264192-623F-4895-A88F-1DF9F5E98898}"/>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Survey model, rounded reading of Fig. 28.</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SD = standard deviation, not a failure percentage.</a:t>
            </a:r>
          </a:p>
        </p:txBody>
      </p:sp>
      <p:sp>
        <p:nvSpPr>
          <p:cNvPr id="26" name="">
            <a:extLst xmlns:a="http://schemas.openxmlformats.org/drawingml/2006/main">
              <a:ext uri="{FF2B5EF4-FFF2-40B4-BE49-F238E27FC236}">
                <a16:creationId xmlns:a16="http://schemas.microsoft.com/office/drawing/2014/main" id="{5B1CAE3D-2830-4135-9E74-CBA7731C74E4}"/>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FC45FC72-E0A8-4ADD-971E-2C7EB86D0FA2}"/>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BE15E043-43D3-4D4E-A989-BF00B1219FFC}"/>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GITCLEAR · 2023 → 2026 YTD*</a:t>
            </a:r>
          </a:p>
        </p:txBody>
      </p:sp>
      <p:sp>
        <p:nvSpPr>
          <p:cNvPr id="29" name="">
            <a:extLst xmlns:a="http://schemas.openxmlformats.org/drawingml/2006/main">
              <a:ext uri="{FF2B5EF4-FFF2-40B4-BE49-F238E27FC236}">
                <a16:creationId xmlns:a16="http://schemas.microsoft.com/office/drawing/2014/main" id="{84D62D40-0A58-49F8-9D35-2C52B43B0AE4}"/>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Moved-code share</a:t>
            </a:r>
          </a:p>
        </p:txBody>
      </p:sp>
      <p:sp>
        <p:nvSpPr>
          <p:cNvPr id="30" name="">
            <a:extLst xmlns:a="http://schemas.openxmlformats.org/drawingml/2006/main">
              <a:ext uri="{FF2B5EF4-FFF2-40B4-BE49-F238E27FC236}">
                <a16:creationId xmlns:a16="http://schemas.microsoft.com/office/drawing/2014/main" id="{D812D5F3-884B-43B9-8E15-DF2BFD1D4773}"/>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13% → 3.8%</a:t>
            </a:r>
          </a:p>
        </p:txBody>
      </p:sp>
      <p:sp>
        <p:nvSpPr>
          <p:cNvPr id="31" name="">
            <a:extLst xmlns:a="http://schemas.openxmlformats.org/drawingml/2006/main">
              <a:ext uri="{FF2B5EF4-FFF2-40B4-BE49-F238E27FC236}">
                <a16:creationId xmlns:a16="http://schemas.microsoft.com/office/drawing/2014/main" id="{90AB162B-EBC5-4DB1-86C5-9D2BBA17E5EA}"/>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Moved / changed lines: −9.2 pp (−70.8%). Refactoring proxy.</a:t>
            </a:r>
          </a:p>
        </p:txBody>
      </p:sp>
      <p:sp>
        <p:nvSpPr>
          <p:cNvPr id="32" name="">
            <a:extLst xmlns:a="http://schemas.openxmlformats.org/drawingml/2006/main">
              <a:ext uri="{FF2B5EF4-FFF2-40B4-BE49-F238E27FC236}">
                <a16:creationId xmlns:a16="http://schemas.microsoft.com/office/drawing/2014/main" id="{2A31BDE9-8C1A-4F54-AE07-95AFFA8177B7}"/>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Calls / 1k changed lines</a:t>
            </a:r>
          </a:p>
        </p:txBody>
      </p:sp>
      <p:sp>
        <p:nvSpPr>
          <p:cNvPr id="33" name="">
            <a:extLst xmlns:a="http://schemas.openxmlformats.org/drawingml/2006/main">
              <a:ext uri="{FF2B5EF4-FFF2-40B4-BE49-F238E27FC236}">
                <a16:creationId xmlns:a16="http://schemas.microsoft.com/office/drawing/2014/main" id="{4A135513-F9BE-48D1-85E6-F31E4FE1818B}"/>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343 → 223</a:t>
            </a:r>
          </a:p>
        </p:txBody>
      </p:sp>
      <p:sp>
        <p:nvSpPr>
          <p:cNvPr id="34" name="">
            <a:extLst xmlns:a="http://schemas.openxmlformats.org/drawingml/2006/main">
              <a:ext uri="{FF2B5EF4-FFF2-40B4-BE49-F238E27FC236}">
                <a16:creationId xmlns:a16="http://schemas.microsoft.com/office/drawing/2014/main" id="{02C73361-F829-4DDF-9DE4-0D2835BABAB6}"/>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Other-function calls: −120 (≈−35%). Connectivity proxy.</a:t>
            </a:r>
          </a:p>
        </p:txBody>
      </p:sp>
      <p:sp>
        <p:nvSpPr>
          <p:cNvPr id="35" name="">
            <a:extLst xmlns:a="http://schemas.openxmlformats.org/drawingml/2006/main">
              <a:ext uri="{FF2B5EF4-FFF2-40B4-BE49-F238E27FC236}">
                <a16:creationId xmlns:a16="http://schemas.microsoft.com/office/drawing/2014/main" id="{DA1C30A2-9717-49FB-BA5A-9B2657D03C29}"/>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Roboto"/>
                <a:ea typeface="Roboto"/>
                <a:cs typeface="Roboto"/>
              </a:defRPr>
            </a:pPr>
            <a:r>
              <a:rPr sz="1425" b="0">
                <a:solidFill>
                  <a:srgbClr val="F4F7FA"/>
                </a:solidFill>
                <a:latin typeface="Roboto"/>
                <a:ea typeface="Roboto"/>
                <a:cs typeface="Roboto"/>
              </a:rPr>
              <a:t>Duplicated blocks ≈+81%   ·   Two-week churn +15%*</a:t>
            </a:r>
          </a:p>
        </p:txBody>
      </p:sp>
      <p:sp>
        <p:nvSpPr>
          <p:cNvPr id="36" name="">
            <a:extLst xmlns:a="http://schemas.openxmlformats.org/drawingml/2006/main">
              <a:ext uri="{FF2B5EF4-FFF2-40B4-BE49-F238E27FC236}">
                <a16:creationId xmlns:a16="http://schemas.microsoft.com/office/drawing/2014/main" id="{464258E3-73BE-413D-AF78-37835E33955A}"/>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Roboto"/>
                <a:ea typeface="Roboto"/>
                <a:cs typeface="Roboto"/>
              </a:defRPr>
            </a:pPr>
            <a:r>
              <a:rPr sz="1275" b="0">
                <a:solidFill>
                  <a:srgbClr val="F5B61C"/>
                </a:solidFill>
                <a:latin typeface="Roboto"/>
                <a:ea typeface="Roboto"/>
                <a:cs typeface="Roboto"/>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5076792C-29F2-4EAA-A644-185DCE4473C1}"/>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7E791274-BA43-4494-A5FE-2802FCDEC3C8}"/>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METR · MAY 2026</a:t>
            </a:r>
          </a:p>
        </p:txBody>
      </p:sp>
      <p:sp>
        <p:nvSpPr>
          <p:cNvPr id="39" name="">
            <a:extLst xmlns:a="http://schemas.openxmlformats.org/drawingml/2006/main">
              <a:ext uri="{FF2B5EF4-FFF2-40B4-BE49-F238E27FC236}">
                <a16:creationId xmlns:a16="http://schemas.microsoft.com/office/drawing/2014/main" id="{B8AFBD52-EA66-488A-AC3E-15B04662BFD9}"/>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Roboto"/>
                <a:ea typeface="Roboto"/>
                <a:cs typeface="Roboto"/>
              </a:defRPr>
            </a:pPr>
            <a:r>
              <a:rPr sz="1725" b="1">
                <a:solidFill>
                  <a:srgbClr val="F4F7FA"/>
                </a:solidFill>
                <a:latin typeface="Roboto"/>
                <a:ea typeface="Roboto"/>
                <a:cs typeface="Roboto"/>
              </a:rPr>
              <a:t>1.4–2× work value</a:t>
            </a:r>
          </a:p>
        </p:txBody>
      </p:sp>
      <p:sp>
        <p:nvSpPr>
          <p:cNvPr id="40" name="">
            <a:extLst xmlns:a="http://schemas.openxmlformats.org/drawingml/2006/main">
              <a:ext uri="{FF2B5EF4-FFF2-40B4-BE49-F238E27FC236}">
                <a16:creationId xmlns:a16="http://schemas.microsoft.com/office/drawing/2014/main" id="{CE2019BB-5FB2-4DF1-AE01-7A6405B0FC9D}"/>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Medians across 3 questions; self-reported, not causal.</a:t>
            </a:r>
          </a:p>
        </p:txBody>
      </p:sp>
      <p:sp>
        <p:nvSpPr>
          <p:cNvPr id="41" name="">
            <a:extLst xmlns:a="http://schemas.openxmlformats.org/drawingml/2006/main">
              <a:ext uri="{FF2B5EF4-FFF2-40B4-BE49-F238E27FC236}">
                <a16:creationId xmlns:a16="http://schemas.microsoft.com/office/drawing/2014/main" id="{D93D5329-5498-48DB-A26F-17346E023C3B}"/>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AGARWAL · JAN 2026</a:t>
            </a:r>
          </a:p>
        </p:txBody>
      </p:sp>
      <p:sp>
        <p:nvSpPr>
          <p:cNvPr id="42" name="">
            <a:extLst xmlns:a="http://schemas.openxmlformats.org/drawingml/2006/main">
              <a:ext uri="{FF2B5EF4-FFF2-40B4-BE49-F238E27FC236}">
                <a16:creationId xmlns:a16="http://schemas.microsoft.com/office/drawing/2014/main" id="{A66D88C5-5A29-4D9C-95AA-80A7231EA1BD}"/>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Roboto"/>
                <a:ea typeface="Roboto"/>
                <a:cs typeface="Roboto"/>
              </a:defRPr>
            </a:pPr>
            <a:r>
              <a:rPr sz="1575" b="1">
                <a:solidFill>
                  <a:srgbClr val="F4F7FA"/>
                </a:solidFill>
                <a:latin typeface="Roboto"/>
                <a:ea typeface="Roboto"/>
                <a:cs typeface="Roboto"/>
              </a:rPr>
              <a:t>+34.85% / +42.87%</a:t>
            </a:r>
          </a:p>
        </p:txBody>
      </p:sp>
      <p:sp>
        <p:nvSpPr>
          <p:cNvPr id="43" name="">
            <a:extLst xmlns:a="http://schemas.openxmlformats.org/drawingml/2006/main">
              <a:ext uri="{FF2B5EF4-FFF2-40B4-BE49-F238E27FC236}">
                <a16:creationId xmlns:a16="http://schemas.microsoft.com/office/drawing/2014/main" id="{8F092D2E-031D-450C-8538-83C5E719629A}"/>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Complexity: Agent-first / IDE-first. Xu: workload shifts.</a:t>
            </a:r>
          </a:p>
        </p:txBody>
      </p:sp>
      <p:sp>
        <p:nvSpPr>
          <p:cNvPr id="44" name="">
            <a:extLst xmlns:a="http://schemas.openxmlformats.org/drawingml/2006/main">
              <a:ext uri="{FF2B5EF4-FFF2-40B4-BE49-F238E27FC236}">
                <a16:creationId xmlns:a16="http://schemas.microsoft.com/office/drawing/2014/main" id="{988926B3-04DF-4384-B986-C31B64A4E1D0}"/>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Roboto"/>
                <a:ea typeface="Roboto"/>
                <a:cs typeface="Roboto"/>
              </a:defRPr>
            </a:pPr>
            <a:r>
              <a:rPr sz="1500" b="1">
                <a:solidFill>
                  <a:srgbClr val="F4F7FA"/>
                </a:solidFill>
                <a:latin typeface="Roboto"/>
                <a:ea typeface="Roboto"/>
                <a:cs typeface="Roboto"/>
              </a:rPr>
              <a:t>Code activity, delivery and user value are different outcomes.</a:t>
            </a:r>
          </a:p>
        </p:txBody>
      </p:sp>
    </p:spTree>
    <p:extLst>
      <p:ext uri="{BB962C8B-B14F-4D97-AF65-F5344CB8AC3E}">
        <p14:creationId xmlns:p14="http://schemas.microsoft.com/office/powerpoint/2010/main" val="435242221"/>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9A4621-8ED1-48E4-90D5-B0D9AFC87F3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New Scarcity Is Human Comprehension</a:t>
            </a:r>
          </a:p>
        </p:txBody>
      </p:sp>
      <p:sp>
        <p:nvSpPr>
          <p:cNvPr id="2" name="">
            <a:extLst xmlns:a="http://schemas.openxmlformats.org/drawingml/2006/main">
              <a:ext uri="{FF2B5EF4-FFF2-40B4-BE49-F238E27FC236}">
                <a16:creationId xmlns:a16="http://schemas.microsoft.com/office/drawing/2014/main" id="{EA761992-609F-4984-9471-15920062A83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269FE83-854B-42AA-BFBA-DFAED5D754E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05</a:t>
            </a:r>
          </a:p>
        </p:txBody>
      </p:sp>
      <p:sp>
        <p:nvSpPr>
          <p:cNvPr id="4" name="">
            <a:extLst xmlns:a="http://schemas.openxmlformats.org/drawingml/2006/main">
              <a:ext uri="{FF2B5EF4-FFF2-40B4-BE49-F238E27FC236}">
                <a16:creationId xmlns:a16="http://schemas.microsoft.com/office/drawing/2014/main" id="{778CE48A-203C-403F-9D16-46F9C8CC12D3}"/>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DB59533F-7E9E-4A66-95DA-239FC7F97F50}"/>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FD51EB82-DF3E-425E-A966-A884E27F578A}"/>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90679D84-39EB-4B7E-9AE4-A3CDAFAF6E3B}"/>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FF2BEAC5-DB92-472E-8D70-256CEAA0B71B}"/>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Roboto"/>
                <a:ea typeface="Roboto"/>
                <a:cs typeface="Roboto"/>
              </a:defRPr>
            </a:pPr>
            <a:r>
              <a:rPr sz="1875" b="1">
                <a:solidFill>
                  <a:srgbClr val="28C7F7"/>
                </a:solidFill>
                <a:latin typeface="Roboto"/>
                <a:ea typeface="Roboto"/>
                <a:cs typeface="Roboto"/>
              </a:rPr>
              <a:t>Machine generation capacity</a:t>
            </a:r>
          </a:p>
        </p:txBody>
      </p:sp>
      <p:sp>
        <p:nvSpPr>
          <p:cNvPr id="9" name="">
            <a:extLst xmlns:a="http://schemas.openxmlformats.org/drawingml/2006/main">
              <a:ext uri="{FF2B5EF4-FFF2-40B4-BE49-F238E27FC236}">
                <a16:creationId xmlns:a16="http://schemas.microsoft.com/office/drawing/2014/main" id="{6E748056-47C5-47CF-A01F-5DE6E401B43D}"/>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Roboto"/>
                <a:ea typeface="Roboto"/>
                <a:cs typeface="Roboto"/>
              </a:defRPr>
            </a:pPr>
            <a:r>
              <a:rPr sz="1725" b="0">
                <a:solidFill>
                  <a:srgbClr val="F5B61C"/>
                </a:solidFill>
                <a:latin typeface="Roboto"/>
                <a:ea typeface="Roboto"/>
                <a:cs typeface="Roboto"/>
              </a:rPr>
              <a:t>Human comprehension capacity</a:t>
            </a:r>
          </a:p>
        </p:txBody>
      </p:sp>
      <p:sp>
        <p:nvSpPr>
          <p:cNvPr id="10" name="">
            <a:extLst xmlns:a="http://schemas.openxmlformats.org/drawingml/2006/main">
              <a:ext uri="{FF2B5EF4-FFF2-40B4-BE49-F238E27FC236}">
                <a16:creationId xmlns:a16="http://schemas.microsoft.com/office/drawing/2014/main" id="{93608072-602C-4182-8950-58E3AF48AC7A}"/>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Potential</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comprehension gap</a:t>
            </a:r>
          </a:p>
        </p:txBody>
      </p:sp>
      <p:sp>
        <p:nvSpPr>
          <p:cNvPr id="11" name="">
            <a:extLst xmlns:a="http://schemas.openxmlformats.org/drawingml/2006/main">
              <a:ext uri="{FF2B5EF4-FFF2-40B4-BE49-F238E27FC236}">
                <a16:creationId xmlns:a16="http://schemas.microsoft.com/office/drawing/2014/main" id="{6FE7739A-2EC5-4ECC-80B4-EF06CE3AE5A6}"/>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Adoption / time</a:t>
            </a:r>
          </a:p>
        </p:txBody>
      </p:sp>
      <p:sp>
        <p:nvSpPr>
          <p:cNvPr id="12" name="">
            <a:extLst xmlns:a="http://schemas.openxmlformats.org/drawingml/2006/main">
              <a:ext uri="{FF2B5EF4-FFF2-40B4-BE49-F238E27FC236}">
                <a16:creationId xmlns:a16="http://schemas.microsoft.com/office/drawing/2014/main" id="{5563B57D-FADF-4FCA-B2E5-0C7378751F52}"/>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we generate faster?</a:t>
            </a:r>
          </a:p>
        </p:txBody>
      </p:sp>
      <p:sp>
        <p:nvSpPr>
          <p:cNvPr id="13" name="">
            <a:extLst xmlns:a="http://schemas.openxmlformats.org/drawingml/2006/main">
              <a:ext uri="{FF2B5EF4-FFF2-40B4-BE49-F238E27FC236}">
                <a16:creationId xmlns:a16="http://schemas.microsoft.com/office/drawing/2014/main" id="{7A88FAA8-43F8-4177-9057-5E0BC6BAF7A9}"/>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Roboto"/>
                <a:ea typeface="Roboto"/>
                <a:cs typeface="Roboto"/>
              </a:defRPr>
            </a:pPr>
            <a:r>
              <a:rPr sz="2100" b="1">
                <a:solidFill>
                  <a:srgbClr val="28C7F7"/>
                </a:solidFill>
                <a:latin typeface="Roboto"/>
                <a:ea typeface="Roboto"/>
                <a:cs typeface="Roboto"/>
              </a:rPr>
              <a:t>YES</a:t>
            </a:r>
          </a:p>
        </p:txBody>
      </p:sp>
      <p:sp>
        <p:nvSpPr>
          <p:cNvPr id="14" name="">
            <a:extLst xmlns:a="http://schemas.openxmlformats.org/drawingml/2006/main">
              <a:ext uri="{FF2B5EF4-FFF2-40B4-BE49-F238E27FC236}">
                <a16:creationId xmlns:a16="http://schemas.microsoft.com/office/drawing/2014/main" id="{E8308AAC-7EBC-4457-B44A-33860DA00BC2}"/>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review keep pace?</a:t>
            </a:r>
          </a:p>
        </p:txBody>
      </p:sp>
      <p:sp>
        <p:nvSpPr>
          <p:cNvPr id="15" name="">
            <a:extLst xmlns:a="http://schemas.openxmlformats.org/drawingml/2006/main">
              <a:ext uri="{FF2B5EF4-FFF2-40B4-BE49-F238E27FC236}">
                <a16:creationId xmlns:a16="http://schemas.microsoft.com/office/drawing/2014/main" id="{E8A6F431-A708-4917-9515-9B4FA135A56F}"/>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Roboto"/>
                <a:ea typeface="Roboto"/>
                <a:cs typeface="Roboto"/>
              </a:defRPr>
            </a:pPr>
            <a:r>
              <a:rPr sz="2100" b="1">
                <a:solidFill>
                  <a:srgbClr val="F5B61C"/>
                </a:solidFill>
                <a:latin typeface="Roboto"/>
                <a:ea typeface="Roboto"/>
                <a:cs typeface="Roboto"/>
              </a:rPr>
              <a:t>NOT AT THIS RATE</a:t>
            </a:r>
          </a:p>
        </p:txBody>
      </p:sp>
      <p:sp>
        <p:nvSpPr>
          <p:cNvPr id="16" name="">
            <a:extLst xmlns:a="http://schemas.openxmlformats.org/drawingml/2006/main">
              <a:ext uri="{FF2B5EF4-FFF2-40B4-BE49-F238E27FC236}">
                <a16:creationId xmlns:a16="http://schemas.microsoft.com/office/drawing/2014/main" id="{3D524BA8-EE75-4918-8D75-99BEF3385D50}"/>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Will we understand it</a:t>
            </a:r>
          </a:p>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in 5 years?</a:t>
            </a:r>
          </a:p>
        </p:txBody>
      </p:sp>
      <p:sp>
        <p:nvSpPr>
          <p:cNvPr id="17" name="">
            <a:extLst xmlns:a="http://schemas.openxmlformats.org/drawingml/2006/main">
              <a:ext uri="{FF2B5EF4-FFF2-40B4-BE49-F238E27FC236}">
                <a16:creationId xmlns:a16="http://schemas.microsoft.com/office/drawing/2014/main" id="{265A6746-DC95-4234-BA83-61CE50CF8634}"/>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Roboto"/>
                <a:ea typeface="Roboto"/>
                <a:cs typeface="Roboto"/>
              </a:defRPr>
            </a:pPr>
            <a:r>
              <a:rPr sz="3075" b="1">
                <a:solidFill>
                  <a:srgbClr val="F5B61C"/>
                </a:solidFill>
                <a:latin typeface="Roboto"/>
                <a:ea typeface="Roboto"/>
                <a:cs typeface="Roboto"/>
              </a:rPr>
              <a:t>?</a:t>
            </a:r>
          </a:p>
        </p:txBody>
      </p:sp>
      <p:sp>
        <p:nvSpPr>
          <p:cNvPr id="18" name="">
            <a:extLst xmlns:a="http://schemas.openxmlformats.org/drawingml/2006/main">
              <a:ext uri="{FF2B5EF4-FFF2-40B4-BE49-F238E27FC236}">
                <a16:creationId xmlns:a16="http://schemas.microsoft.com/office/drawing/2014/main" id="{C9E75820-E521-4C46-BF4E-3E0C5D3D455D}"/>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D7D4ADD5-8839-4CA8-8F69-79A6DA39C4B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8C0DCFD0-41F7-4873-A0EA-C540E2F6634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Generation scales differently from comprehension.</a:t>
            </a:r>
          </a:p>
        </p:txBody>
      </p:sp>
    </p:spTree>
    <p:extLst>
      <p:ext uri="{BB962C8B-B14F-4D97-AF65-F5344CB8AC3E}">
        <p14:creationId xmlns:p14="http://schemas.microsoft.com/office/powerpoint/2010/main" val="1609781418"/>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41D1ACD-B0CF-470D-B65B-D2996246358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Team Is the Last Line of Defense</a:t>
            </a:r>
          </a:p>
        </p:txBody>
      </p:sp>
      <p:sp>
        <p:nvSpPr>
          <p:cNvPr id="2" name="">
            <a:extLst xmlns:a="http://schemas.openxmlformats.org/drawingml/2006/main">
              <a:ext uri="{FF2B5EF4-FFF2-40B4-BE49-F238E27FC236}">
                <a16:creationId xmlns:a16="http://schemas.microsoft.com/office/drawing/2014/main" id="{3CF6B04C-3551-4784-8EFC-688EAD0BAD8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A705BF9-A8CA-429A-BF36-A3BE2419D14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06</a:t>
            </a:r>
          </a:p>
        </p:txBody>
      </p:sp>
      <p:sp>
        <p:nvSpPr>
          <p:cNvPr id="4" name="">
            <a:extLst xmlns:a="http://schemas.openxmlformats.org/drawingml/2006/main">
              <a:ext uri="{FF2B5EF4-FFF2-40B4-BE49-F238E27FC236}">
                <a16:creationId xmlns:a16="http://schemas.microsoft.com/office/drawing/2014/main" id="{3476FE5C-3DC8-4A6D-B457-1CCDCBCA9B20}"/>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Roboto"/>
                <a:ea typeface="Roboto"/>
                <a:cs typeface="Roboto"/>
              </a:defRPr>
            </a:pPr>
            <a:r>
              <a:rPr sz="2175" b="1">
                <a:solidFill>
                  <a:srgbClr val="F4F7FA"/>
                </a:solidFill>
                <a:latin typeface="Roboto"/>
                <a:ea typeface="Roboto"/>
                <a:cs typeface="Roboto"/>
              </a:rPr>
              <a:t>AI code generators are technical systems with limits.</a:t>
            </a:r>
          </a:p>
        </p:txBody>
      </p:sp>
      <p:sp>
        <p:nvSpPr>
          <p:cNvPr id="5" name="">
            <a:extLst xmlns:a="http://schemas.openxmlformats.org/drawingml/2006/main">
              <a:ext uri="{FF2B5EF4-FFF2-40B4-BE49-F238E27FC236}">
                <a16:creationId xmlns:a16="http://schemas.microsoft.com/office/drawing/2014/main" id="{F4F848F1-0962-444F-9FB1-855E93D772DA}"/>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1FF11A5B-3F30-4285-84F3-DF57F39ADBE3}"/>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2EEDE4C4-C3C8-4595-BD24-CCB84E638634}"/>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incident</a:t>
            </a:r>
          </a:p>
        </p:txBody>
      </p:sp>
      <p:sp>
        <p:nvSpPr>
          <p:cNvPr id="8" name="">
            <a:extLst xmlns:a="http://schemas.openxmlformats.org/drawingml/2006/main">
              <a:ext uri="{FF2B5EF4-FFF2-40B4-BE49-F238E27FC236}">
                <a16:creationId xmlns:a16="http://schemas.microsoft.com/office/drawing/2014/main" id="{0E8F35BD-4C7B-4150-BAC6-4A634B2932F6}"/>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Contain impact.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Roll back or use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fallback where safe.</a:t>
            </a:r>
          </a:p>
        </p:txBody>
      </p:sp>
      <p:sp>
        <p:nvSpPr>
          <p:cNvPr id="9" name="">
            <a:extLst xmlns:a="http://schemas.openxmlformats.org/drawingml/2006/main">
              <a:ext uri="{FF2B5EF4-FFF2-40B4-BE49-F238E27FC236}">
                <a16:creationId xmlns:a16="http://schemas.microsoft.com/office/drawing/2014/main" id="{56D4CFC7-6E8B-4B94-B101-D5BF4DCA27A1}"/>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CE0B82AE-0A89-4E30-AB02-CA0532B6FC5E}"/>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AI cannot</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recover</a:t>
            </a:r>
          </a:p>
        </p:txBody>
      </p:sp>
      <p:sp>
        <p:nvSpPr>
          <p:cNvPr id="11" name="">
            <a:extLst xmlns:a="http://schemas.openxmlformats.org/drawingml/2006/main">
              <a:ext uri="{FF2B5EF4-FFF2-40B4-BE49-F238E27FC236}">
                <a16:creationId xmlns:a16="http://schemas.microsoft.com/office/drawing/2014/main" id="{B174109B-2526-4567-B082-11B479186E4F}"/>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Stop at the agreed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retry limit. Preserve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traces and changes.</a:t>
            </a:r>
          </a:p>
        </p:txBody>
      </p:sp>
      <p:sp>
        <p:nvSpPr>
          <p:cNvPr id="12" name="">
            <a:extLst xmlns:a="http://schemas.openxmlformats.org/drawingml/2006/main">
              <a:ext uri="{FF2B5EF4-FFF2-40B4-BE49-F238E27FC236}">
                <a16:creationId xmlns:a16="http://schemas.microsoft.com/office/drawing/2014/main" id="{9FB325EC-8D1B-4F97-8867-24108A403E02}"/>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6C5B7654-B440-41BE-AA13-BC4E7508D71C}"/>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Team diagnoses</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&amp; proposes fix</a:t>
            </a:r>
          </a:p>
        </p:txBody>
      </p:sp>
      <p:sp>
        <p:nvSpPr>
          <p:cNvPr id="14" name="">
            <a:extLst xmlns:a="http://schemas.openxmlformats.org/drawingml/2006/main">
              <a:ext uri="{FF2B5EF4-FFF2-40B4-BE49-F238E27FC236}">
                <a16:creationId xmlns:a16="http://schemas.microsoft.com/office/drawing/2014/main" id="{0418F7C0-3EAA-4025-83D2-2C7511A3CD3A}"/>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Reconstruct intent,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dependencies and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system invariants.</a:t>
            </a:r>
          </a:p>
        </p:txBody>
      </p:sp>
      <p:sp>
        <p:nvSpPr>
          <p:cNvPr id="15" name="">
            <a:extLst xmlns:a="http://schemas.openxmlformats.org/drawingml/2006/main">
              <a:ext uri="{FF2B5EF4-FFF2-40B4-BE49-F238E27FC236}">
                <a16:creationId xmlns:a16="http://schemas.microsoft.com/office/drawing/2014/main" id="{808F9CCF-9272-4BBD-8D88-B2F661B2EF1C}"/>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06CE2C1C-43B2-4849-A6E8-E76C96799A02}"/>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Validate fix</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and restore</a:t>
            </a:r>
          </a:p>
        </p:txBody>
      </p:sp>
      <p:sp>
        <p:nvSpPr>
          <p:cNvPr id="17" name="">
            <a:extLst xmlns:a="http://schemas.openxmlformats.org/drawingml/2006/main">
              <a:ext uri="{FF2B5EF4-FFF2-40B4-BE49-F238E27FC236}">
                <a16:creationId xmlns:a16="http://schemas.microsoft.com/office/drawing/2014/main" id="{3A45FD8E-E07F-40B7-B66B-09F9C7233856}"/>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Test the repair.</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Restore under incident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F05EDBD7-8E7A-4D28-AAAF-278D7430E7D8}"/>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520810B1-89A4-4382-9713-905DAD7AF72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722C275E-30CE-4816-ACAF-9818AFB2820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If AI cannot recover the system, the team still must.</a:t>
            </a:r>
          </a:p>
        </p:txBody>
      </p:sp>
    </p:spTree>
    <p:extLst>
      <p:ext uri="{BB962C8B-B14F-4D97-AF65-F5344CB8AC3E}">
        <p14:creationId xmlns:p14="http://schemas.microsoft.com/office/powerpoint/2010/main" val="1571189558"/>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27BA4D8-54C0-4465-976E-55527F404C4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Are Searching for a New</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SDLC Equilibrium</a:t>
            </a:r>
          </a:p>
        </p:txBody>
      </p:sp>
      <p:sp>
        <p:nvSpPr>
          <p:cNvPr id="2" name="">
            <a:extLst xmlns:a="http://schemas.openxmlformats.org/drawingml/2006/main">
              <a:ext uri="{FF2B5EF4-FFF2-40B4-BE49-F238E27FC236}">
                <a16:creationId xmlns:a16="http://schemas.microsoft.com/office/drawing/2014/main" id="{84D5CC16-A465-4656-8F6D-07C6B194DC8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2173532-177B-4551-A257-B1CE140FE4B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07</a:t>
            </a:r>
          </a:p>
        </p:txBody>
      </p:sp>
      <p:sp>
        <p:nvSpPr>
          <p:cNvPr id="4" name="">
            <a:extLst xmlns:a="http://schemas.openxmlformats.org/drawingml/2006/main">
              <a:ext uri="{FF2B5EF4-FFF2-40B4-BE49-F238E27FC236}">
                <a16:creationId xmlns:a16="http://schemas.microsoft.com/office/drawing/2014/main" id="{2585A9B3-2D37-4E2C-A0F6-AED30779C08E}"/>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OLD EQUILIBRIUM</a:t>
            </a:r>
          </a:p>
        </p:txBody>
      </p:sp>
      <p:sp>
        <p:nvSpPr>
          <p:cNvPr id="5" name="">
            <a:extLst xmlns:a="http://schemas.openxmlformats.org/drawingml/2006/main">
              <a:ext uri="{FF2B5EF4-FFF2-40B4-BE49-F238E27FC236}">
                <a16:creationId xmlns:a16="http://schemas.microsoft.com/office/drawing/2014/main" id="{CA4415A5-9361-4EFC-9DC0-0F8CE04673F0}"/>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Human-led flow</a:t>
            </a:r>
          </a:p>
        </p:txBody>
      </p:sp>
      <p:sp>
        <p:nvSpPr>
          <p:cNvPr id="6" name="">
            <a:extLst xmlns:a="http://schemas.openxmlformats.org/drawingml/2006/main">
              <a:ext uri="{FF2B5EF4-FFF2-40B4-BE49-F238E27FC236}">
                <a16:creationId xmlns:a16="http://schemas.microsoft.com/office/drawing/2014/main" id="{4D6BDDBD-F4C9-466E-AFAE-CABF2294BB2A}"/>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TODAY</a:t>
            </a:r>
          </a:p>
        </p:txBody>
      </p:sp>
      <p:sp>
        <p:nvSpPr>
          <p:cNvPr id="7" name="">
            <a:extLst xmlns:a="http://schemas.openxmlformats.org/drawingml/2006/main">
              <a:ext uri="{FF2B5EF4-FFF2-40B4-BE49-F238E27FC236}">
                <a16:creationId xmlns:a16="http://schemas.microsoft.com/office/drawing/2014/main" id="{0F9CC82B-A56B-49FF-9263-F99686683F32}"/>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Generation outpaces review</a:t>
            </a:r>
          </a:p>
        </p:txBody>
      </p:sp>
      <p:sp>
        <p:nvSpPr>
          <p:cNvPr id="8" name="">
            <a:extLst xmlns:a="http://schemas.openxmlformats.org/drawingml/2006/main">
              <a:ext uri="{FF2B5EF4-FFF2-40B4-BE49-F238E27FC236}">
                <a16:creationId xmlns:a16="http://schemas.microsoft.com/office/drawing/2014/main" id="{63B7243C-628D-479E-A3F5-2D3598A4096A}"/>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NEW EQUILIBRIUM</a:t>
            </a:r>
          </a:p>
        </p:txBody>
      </p:sp>
      <p:sp>
        <p:nvSpPr>
          <p:cNvPr id="9" name="">
            <a:extLst xmlns:a="http://schemas.openxmlformats.org/drawingml/2006/main">
              <a:ext uri="{FF2B5EF4-FFF2-40B4-BE49-F238E27FC236}">
                <a16:creationId xmlns:a16="http://schemas.microsoft.com/office/drawing/2014/main" id="{5690354D-0A0E-4470-AAEB-AEB1CEC2F037}"/>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Roboto"/>
                <a:ea typeface="Roboto"/>
                <a:cs typeface="Roboto"/>
              </a:defRPr>
            </a:pPr>
            <a:r>
              <a:rPr sz="1650" b="0">
                <a:solidFill>
                  <a:srgbClr val="F5B61C"/>
                </a:solidFill>
                <a:latin typeface="Roboto"/>
                <a:ea typeface="Roboto"/>
                <a:cs typeface="Roboto"/>
              </a:rPr>
              <a:t>Sustainable flow?</a:t>
            </a:r>
          </a:p>
        </p:txBody>
      </p:sp>
      <p:sp>
        <p:nvSpPr>
          <p:cNvPr id="10" name="">
            <a:extLst xmlns:a="http://schemas.openxmlformats.org/drawingml/2006/main">
              <a:ext uri="{FF2B5EF4-FFF2-40B4-BE49-F238E27FC236}">
                <a16:creationId xmlns:a16="http://schemas.microsoft.com/office/drawing/2014/main" id="{D64A4B95-3951-41FA-8A95-D2A6641EAE90}"/>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46960C84-1725-4610-8495-DE0FDE42C57A}"/>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WATCH</a:t>
            </a:r>
          </a:p>
        </p:txBody>
      </p:sp>
      <p:sp>
        <p:nvSpPr>
          <p:cNvPr id="12" name="">
            <a:extLst xmlns:a="http://schemas.openxmlformats.org/drawingml/2006/main">
              <a:ext uri="{FF2B5EF4-FFF2-40B4-BE49-F238E27FC236}">
                <a16:creationId xmlns:a16="http://schemas.microsoft.com/office/drawing/2014/main" id="{8C427FCC-1E98-4B9C-979C-338DECADDCF8}"/>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Flow pressure</a:t>
            </a:r>
          </a:p>
        </p:txBody>
      </p:sp>
      <p:sp>
        <p:nvSpPr>
          <p:cNvPr id="13" name="">
            <a:extLst xmlns:a="http://schemas.openxmlformats.org/drawingml/2006/main">
              <a:ext uri="{FF2B5EF4-FFF2-40B4-BE49-F238E27FC236}">
                <a16:creationId xmlns:a16="http://schemas.microsoft.com/office/drawing/2014/main" id="{F4A5B854-087D-4D91-815C-57E1B7CBACA4}"/>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age, batch size and WIP</a:t>
            </a:r>
          </a:p>
        </p:txBody>
      </p:sp>
      <p:sp>
        <p:nvSpPr>
          <p:cNvPr id="14" name="">
            <a:extLst xmlns:a="http://schemas.openxmlformats.org/drawingml/2006/main">
              <a:ext uri="{FF2B5EF4-FFF2-40B4-BE49-F238E27FC236}">
                <a16:creationId xmlns:a16="http://schemas.microsoft.com/office/drawing/2014/main" id="{CC8229A1-E882-46F3-9B06-CD8A01ECF3AE}"/>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Rework and structure</a:t>
            </a:r>
          </a:p>
        </p:txBody>
      </p:sp>
      <p:sp>
        <p:nvSpPr>
          <p:cNvPr id="15" name="">
            <a:extLst xmlns:a="http://schemas.openxmlformats.org/drawingml/2006/main">
              <a:ext uri="{FF2B5EF4-FFF2-40B4-BE49-F238E27FC236}">
                <a16:creationId xmlns:a16="http://schemas.microsoft.com/office/drawing/2014/main" id="{878B08FC-58F7-4A77-819C-DE01EC531532}"/>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Churn, duplication, reuse, complexity</a:t>
            </a:r>
          </a:p>
        </p:txBody>
      </p:sp>
      <p:sp>
        <p:nvSpPr>
          <p:cNvPr id="16" name="">
            <a:extLst xmlns:a="http://schemas.openxmlformats.org/drawingml/2006/main">
              <a:ext uri="{FF2B5EF4-FFF2-40B4-BE49-F238E27FC236}">
                <a16:creationId xmlns:a16="http://schemas.microsoft.com/office/drawing/2014/main" id="{10DC2530-D6AC-49A4-9F27-AF0963C0E726}"/>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Ownership gaps</a:t>
            </a:r>
          </a:p>
        </p:txBody>
      </p:sp>
      <p:sp>
        <p:nvSpPr>
          <p:cNvPr id="17" name="">
            <a:extLst xmlns:a="http://schemas.openxmlformats.org/drawingml/2006/main">
              <a:ext uri="{FF2B5EF4-FFF2-40B4-BE49-F238E27FC236}">
                <a16:creationId xmlns:a16="http://schemas.microsoft.com/office/drawing/2014/main" id="{C5FCBBA6-8E5C-43AC-9B78-B71F05ABA793}"/>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Unowned changes and stale docs</a:t>
            </a:r>
          </a:p>
        </p:txBody>
      </p:sp>
      <p:sp>
        <p:nvSpPr>
          <p:cNvPr id="18" name="">
            <a:extLst xmlns:a="http://schemas.openxmlformats.org/drawingml/2006/main">
              <a:ext uri="{FF2B5EF4-FFF2-40B4-BE49-F238E27FC236}">
                <a16:creationId xmlns:a16="http://schemas.microsoft.com/office/drawing/2014/main" id="{B939E58D-3468-4CF7-8525-C20C033CF388}"/>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Recovery readiness</a:t>
            </a:r>
          </a:p>
        </p:txBody>
      </p:sp>
      <p:sp>
        <p:nvSpPr>
          <p:cNvPr id="19" name="">
            <a:extLst xmlns:a="http://schemas.openxmlformats.org/drawingml/2006/main">
              <a:ext uri="{FF2B5EF4-FFF2-40B4-BE49-F238E27FC236}">
                <a16:creationId xmlns:a16="http://schemas.microsoft.com/office/drawing/2014/main" id="{5EAE91AD-083A-492C-AA40-5BF4E01C90AC}"/>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Unaided diagnosis and restore time</a:t>
            </a:r>
          </a:p>
        </p:txBody>
      </p:sp>
      <p:sp>
        <p:nvSpPr>
          <p:cNvPr id="20" name="">
            <a:extLst xmlns:a="http://schemas.openxmlformats.org/drawingml/2006/main">
              <a:ext uri="{FF2B5EF4-FFF2-40B4-BE49-F238E27FC236}">
                <a16:creationId xmlns:a16="http://schemas.microsoft.com/office/drawing/2014/main" id="{7DA3390B-97B8-4DEA-85A5-01751C621E62}"/>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EXPLORE</a:t>
            </a:r>
          </a:p>
        </p:txBody>
      </p:sp>
      <p:sp>
        <p:nvSpPr>
          <p:cNvPr id="21" name="">
            <a:extLst xmlns:a="http://schemas.openxmlformats.org/drawingml/2006/main">
              <a:ext uri="{FF2B5EF4-FFF2-40B4-BE49-F238E27FC236}">
                <a16:creationId xmlns:a16="http://schemas.microsoft.com/office/drawing/2014/main" id="{3D4693C6-A4E6-42FE-BA24-E10E754608AA}"/>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Small batches and WIP limits</a:t>
            </a:r>
          </a:p>
        </p:txBody>
      </p:sp>
      <p:sp>
        <p:nvSpPr>
          <p:cNvPr id="22" name="">
            <a:extLst xmlns:a="http://schemas.openxmlformats.org/drawingml/2006/main">
              <a:ext uri="{FF2B5EF4-FFF2-40B4-BE49-F238E27FC236}">
                <a16:creationId xmlns:a16="http://schemas.microsoft.com/office/drawing/2014/main" id="{3B1939CF-EE54-40C3-BDA4-A78F2DDE86AB}"/>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Keep intake within review capacity</a:t>
            </a:r>
          </a:p>
        </p:txBody>
      </p:sp>
      <p:sp>
        <p:nvSpPr>
          <p:cNvPr id="23" name="">
            <a:extLst xmlns:a="http://schemas.openxmlformats.org/drawingml/2006/main">
              <a:ext uri="{FF2B5EF4-FFF2-40B4-BE49-F238E27FC236}">
                <a16:creationId xmlns:a16="http://schemas.microsoft.com/office/drawing/2014/main" id="{6211012A-5E1D-4905-BFCC-F59FF8043DEA}"/>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Specs and living architecture</a:t>
            </a:r>
          </a:p>
        </p:txBody>
      </p:sp>
      <p:sp>
        <p:nvSpPr>
          <p:cNvPr id="24" name="">
            <a:extLst xmlns:a="http://schemas.openxmlformats.org/drawingml/2006/main">
              <a:ext uri="{FF2B5EF4-FFF2-40B4-BE49-F238E27FC236}">
                <a16:creationId xmlns:a16="http://schemas.microsoft.com/office/drawing/2014/main" id="{5A8D5988-ED49-4153-87CB-16499A4DB6E6}"/>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code and docs together</a:t>
            </a:r>
          </a:p>
        </p:txBody>
      </p:sp>
      <p:sp>
        <p:nvSpPr>
          <p:cNvPr id="25" name="">
            <a:extLst xmlns:a="http://schemas.openxmlformats.org/drawingml/2006/main">
              <a:ext uri="{FF2B5EF4-FFF2-40B4-BE49-F238E27FC236}">
                <a16:creationId xmlns:a16="http://schemas.microsoft.com/office/drawing/2014/main" id="{B9803AC9-88FC-4A7E-83AA-97F2745ECE9A}"/>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Repository intelligence</a:t>
            </a:r>
          </a:p>
        </p:txBody>
      </p:sp>
      <p:sp>
        <p:nvSpPr>
          <p:cNvPr id="26" name="">
            <a:extLst xmlns:a="http://schemas.openxmlformats.org/drawingml/2006/main">
              <a:ext uri="{FF2B5EF4-FFF2-40B4-BE49-F238E27FC236}">
                <a16:creationId xmlns:a16="http://schemas.microsoft.com/office/drawing/2014/main" id="{557A1971-F689-429D-A9B6-631AD598DF21}"/>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Trace dependencies and owners</a:t>
            </a:r>
          </a:p>
        </p:txBody>
      </p:sp>
      <p:sp>
        <p:nvSpPr>
          <p:cNvPr id="27" name="">
            <a:extLst xmlns:a="http://schemas.openxmlformats.org/drawingml/2006/main">
              <a:ext uri="{FF2B5EF4-FFF2-40B4-BE49-F238E27FC236}">
                <a16:creationId xmlns:a16="http://schemas.microsoft.com/office/drawing/2014/main" id="{A0882576-6D68-49F8-B51F-C37A12851B7C}"/>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Human recovery drills</a:t>
            </a:r>
          </a:p>
        </p:txBody>
      </p:sp>
      <p:sp>
        <p:nvSpPr>
          <p:cNvPr id="28" name="">
            <a:extLst xmlns:a="http://schemas.openxmlformats.org/drawingml/2006/main">
              <a:ext uri="{FF2B5EF4-FFF2-40B4-BE49-F238E27FC236}">
                <a16:creationId xmlns:a16="http://schemas.microsoft.com/office/drawing/2014/main" id="{CA0E4040-4F8A-4B68-8F8E-E8037D2E825B}"/>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Diagnose and fix without the agent</a:t>
            </a:r>
          </a:p>
        </p:txBody>
      </p:sp>
      <p:sp>
        <p:nvSpPr>
          <p:cNvPr id="29" name="">
            <a:extLst xmlns:a="http://schemas.openxmlformats.org/drawingml/2006/main">
              <a:ext uri="{FF2B5EF4-FFF2-40B4-BE49-F238E27FC236}">
                <a16:creationId xmlns:a16="http://schemas.microsoft.com/office/drawing/2014/main" id="{CC1BA984-FE7E-4B20-B88D-4E076B7EED7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D1DB6EBE-8744-42CC-B610-E3B79867C026}"/>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D2A29099-6871-4316-BDFF-8F23913613E2}"/>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Measure delivery and recovery. Next: AI inside the product.</a:t>
            </a:r>
          </a:p>
        </p:txBody>
      </p:sp>
    </p:spTree>
    <p:extLst>
      <p:ext uri="{BB962C8B-B14F-4D97-AF65-F5344CB8AC3E}">
        <p14:creationId xmlns:p14="http://schemas.microsoft.com/office/powerpoint/2010/main" val="295389735"/>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7F680A-7939-4D99-B9C5-C481DF7BE08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When Software Starts Thinking</a:t>
            </a:r>
          </a:p>
        </p:txBody>
      </p:sp>
      <p:sp>
        <p:nvSpPr>
          <p:cNvPr id="2" name="">
            <a:extLst xmlns:a="http://schemas.openxmlformats.org/drawingml/2006/main">
              <a:ext uri="{FF2B5EF4-FFF2-40B4-BE49-F238E27FC236}">
                <a16:creationId xmlns:a16="http://schemas.microsoft.com/office/drawing/2014/main" id="{F1083850-C17F-4DA5-B0A2-8F5FB8A7945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98051BD-CBEE-487B-B3AD-2285A7B2EEE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08</a:t>
            </a:r>
          </a:p>
        </p:txBody>
      </p:sp>
      <p:sp>
        <p:nvSpPr>
          <p:cNvPr id="4" name="">
            <a:extLst xmlns:a="http://schemas.openxmlformats.org/drawingml/2006/main">
              <a:ext uri="{FF2B5EF4-FFF2-40B4-BE49-F238E27FC236}">
                <a16:creationId xmlns:a16="http://schemas.microsoft.com/office/drawing/2014/main" id="{7357E23E-7284-4BD2-AAAF-6F87515BC135}"/>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Roboto"/>
                <a:ea typeface="Roboto"/>
                <a:cs typeface="Roboto"/>
              </a:defRPr>
            </a:pPr>
            <a:r>
              <a:rPr sz="1725" b="1">
                <a:solidFill>
                  <a:srgbClr val="28C7F7"/>
                </a:solidFill>
                <a:latin typeface="Roboto"/>
                <a:ea typeface="Roboto"/>
                <a:cs typeface="Roboto"/>
              </a:rPr>
              <a:t>THINKING SYSTEMS</a:t>
            </a:r>
          </a:p>
        </p:txBody>
      </p:sp>
      <p:sp>
        <p:nvSpPr>
          <p:cNvPr id="5" name="">
            <a:extLst xmlns:a="http://schemas.openxmlformats.org/drawingml/2006/main">
              <a:ext uri="{FF2B5EF4-FFF2-40B4-BE49-F238E27FC236}">
                <a16:creationId xmlns:a16="http://schemas.microsoft.com/office/drawing/2014/main" id="{AB0CA0EA-CE12-4E2E-AF17-8ECB90FE9016}"/>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Roboto"/>
                <a:ea typeface="Roboto"/>
                <a:cs typeface="Roboto"/>
              </a:defRPr>
            </a:pPr>
            <a:r>
              <a:rPr sz="2400" b="1">
                <a:solidFill>
                  <a:srgbClr val="F4F7FA"/>
                </a:solidFill>
                <a:latin typeface="Roboto"/>
                <a:ea typeface="Roboto"/>
                <a:cs typeface="Roboto"/>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5AFCC6CC-091F-4A5A-BAB2-C6AFB67E64B9}"/>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1.0</a:t>
            </a:r>
          </a:p>
        </p:txBody>
      </p:sp>
      <p:sp>
        <p:nvSpPr>
          <p:cNvPr id="7" name="">
            <a:extLst xmlns:a="http://schemas.openxmlformats.org/drawingml/2006/main">
              <a:ext uri="{FF2B5EF4-FFF2-40B4-BE49-F238E27FC236}">
                <a16:creationId xmlns:a16="http://schemas.microsoft.com/office/drawing/2014/main" id="{AAFB4070-D917-42C7-BE40-6AD80401E2F5}"/>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Roboto"/>
                <a:ea typeface="Roboto"/>
                <a:cs typeface="Roboto"/>
              </a:defRPr>
            </a:pPr>
            <a:r>
              <a:rPr sz="4425" b="1">
                <a:solidFill>
                  <a:srgbClr val="28C7F7"/>
                </a:solidFill>
                <a:latin typeface="Roboto"/>
                <a:ea typeface="Roboto"/>
                <a:cs typeface="Roboto"/>
              </a:rPr>
              <a:t>y = f(x)</a:t>
            </a:r>
          </a:p>
        </p:txBody>
      </p:sp>
      <p:sp>
        <p:nvSpPr>
          <p:cNvPr id="8" name="">
            <a:extLst xmlns:a="http://schemas.openxmlformats.org/drawingml/2006/main">
              <a:ext uri="{FF2B5EF4-FFF2-40B4-BE49-F238E27FC236}">
                <a16:creationId xmlns:a16="http://schemas.microsoft.com/office/drawing/2014/main" id="{0445B188-1E8F-4471-8D3D-A58E7CC30E98}"/>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Roboto"/>
                <a:ea typeface="Roboto"/>
                <a:cs typeface="Roboto"/>
              </a:defRPr>
            </a:pPr>
            <a:r>
              <a:rPr sz="1800" b="0">
                <a:solidFill>
                  <a:srgbClr val="ADB8C5"/>
                </a:solidFill>
                <a:latin typeface="Roboto"/>
                <a:ea typeface="Roboto"/>
                <a:cs typeface="Roboto"/>
              </a:rPr>
              <a:t>Software with Model Judgment</a:t>
            </a:r>
          </a:p>
        </p:txBody>
      </p:sp>
      <p:sp>
        <p:nvSpPr>
          <p:cNvPr id="9" name="">
            <a:extLst xmlns:a="http://schemas.openxmlformats.org/drawingml/2006/main">
              <a:ext uri="{FF2B5EF4-FFF2-40B4-BE49-F238E27FC236}">
                <a16:creationId xmlns:a16="http://schemas.microsoft.com/office/drawing/2014/main" id="{9AECD848-A22C-44BD-A7C7-751B8167FAC0}"/>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Roboto"/>
                <a:ea typeface="Roboto"/>
                <a:cs typeface="Roboto"/>
              </a:defRPr>
            </a:pPr>
            <a:r>
              <a:rPr sz="4425" b="1">
                <a:solidFill>
                  <a:srgbClr val="F5B61C"/>
                </a:solidFill>
                <a:latin typeface="Roboto"/>
                <a:ea typeface="Roboto"/>
                <a:cs typeface="Roboto"/>
              </a:rPr>
              <a:t>y ~ P(y | x)</a:t>
            </a:r>
          </a:p>
        </p:txBody>
      </p:sp>
      <p:sp>
        <p:nvSpPr>
          <p:cNvPr id="10" name="">
            <a:extLst xmlns:a="http://schemas.openxmlformats.org/drawingml/2006/main">
              <a:ext uri="{FF2B5EF4-FFF2-40B4-BE49-F238E27FC236}">
                <a16:creationId xmlns:a16="http://schemas.microsoft.com/office/drawing/2014/main" id="{81F44783-6A8D-4B43-A9A2-84BA7E806882}"/>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00BF600E-D18E-4D4E-A7CE-5C25BC9DD96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955496C0-44A8-4D49-90B6-5B1AB55A5F3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Engineer the useful region of behavior.</a:t>
            </a:r>
          </a:p>
        </p:txBody>
      </p:sp>
    </p:spTree>
    <p:extLst>
      <p:ext uri="{BB962C8B-B14F-4D97-AF65-F5344CB8AC3E}">
        <p14:creationId xmlns:p14="http://schemas.microsoft.com/office/powerpoint/2010/main" val="1544992799"/>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5F92864-E352-4A3F-9996-87C87B6D39A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Requirements Become Boundaries</a:t>
            </a:r>
          </a:p>
        </p:txBody>
      </p:sp>
      <p:sp>
        <p:nvSpPr>
          <p:cNvPr id="2" name="">
            <a:extLst xmlns:a="http://schemas.openxmlformats.org/drawingml/2006/main">
              <a:ext uri="{FF2B5EF4-FFF2-40B4-BE49-F238E27FC236}">
                <a16:creationId xmlns:a16="http://schemas.microsoft.com/office/drawing/2014/main" id="{17847BC8-CD75-4E08-8DC1-4C1FFAA8474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87470C2-074A-4626-A19E-5200DCA2F36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09</a:t>
            </a:r>
          </a:p>
        </p:txBody>
      </p:sp>
      <p:sp>
        <p:nvSpPr>
          <p:cNvPr id="4" name="">
            <a:extLst xmlns:a="http://schemas.openxmlformats.org/drawingml/2006/main">
              <a:ext uri="{FF2B5EF4-FFF2-40B4-BE49-F238E27FC236}">
                <a16:creationId xmlns:a16="http://schemas.microsoft.com/office/drawing/2014/main" id="{E66172C8-FB4F-4489-89D6-C71626173E9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PRODUCT MANAGER + BA · agree what acceptable behavior means</a:t>
            </a:r>
          </a:p>
        </p:txBody>
      </p:sp>
      <p:sp>
        <p:nvSpPr>
          <p:cNvPr id="5" name="">
            <a:extLst xmlns:a="http://schemas.openxmlformats.org/drawingml/2006/main">
              <a:ext uri="{FF2B5EF4-FFF2-40B4-BE49-F238E27FC236}">
                <a16:creationId xmlns:a16="http://schemas.microsoft.com/office/drawing/2014/main" id="{2365349F-2B34-4A46-B252-E64FCB2786E2}"/>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B36BF598-33CF-4440-A93E-3F6A2FA89AD8}"/>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SPECIFIED FLOW · STILL REQUIRED</a:t>
            </a:r>
          </a:p>
        </p:txBody>
      </p:sp>
      <p:sp>
        <p:nvSpPr>
          <p:cNvPr id="7" name="">
            <a:extLst xmlns:a="http://schemas.openxmlformats.org/drawingml/2006/main">
              <a:ext uri="{FF2B5EF4-FFF2-40B4-BE49-F238E27FC236}">
                <a16:creationId xmlns:a16="http://schemas.microsoft.com/office/drawing/2014/main" id="{1BDD83C7-0FB4-4FAA-80C4-88A75F4C06E3}"/>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B416CE7D-2458-47A6-81B4-CFE3A21B60C5}"/>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Button A</a:t>
            </a:r>
          </a:p>
        </p:txBody>
      </p:sp>
      <p:sp>
        <p:nvSpPr>
          <p:cNvPr id="9" name="">
            <a:extLst xmlns:a="http://schemas.openxmlformats.org/drawingml/2006/main">
              <a:ext uri="{FF2B5EF4-FFF2-40B4-BE49-F238E27FC236}">
                <a16:creationId xmlns:a16="http://schemas.microsoft.com/office/drawing/2014/main" id="{4F38F41D-D08A-47C7-A7CC-BD57BAA9334D}"/>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6C0257C8-D924-4569-9CD5-8BE38D35BB89}"/>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Window B</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2776E413-D8D6-4E7A-886B-11A30901C79B}"/>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Exact states, permissions</a:t>
            </a:r>
          </a:p>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and transitions.</a:t>
            </a:r>
          </a:p>
        </p:txBody>
      </p:sp>
      <p:sp>
        <p:nvSpPr>
          <p:cNvPr id="13" name="">
            <a:extLst xmlns:a="http://schemas.openxmlformats.org/drawingml/2006/main">
              <a:ext uri="{FF2B5EF4-FFF2-40B4-BE49-F238E27FC236}">
                <a16:creationId xmlns:a16="http://schemas.microsoft.com/office/drawing/2014/main" id="{B9FC7D7C-D72C-4CE3-8F38-FD1B812068F0}"/>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Product + BA: examples and rubric.</a:t>
            </a:r>
          </a:p>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Project Manager: stakeholder decisions.</a:t>
            </a:r>
          </a:p>
        </p:txBody>
      </p:sp>
      <p:sp>
        <p:nvSpPr>
          <p:cNvPr id="14" name="">
            <a:extLst xmlns:a="http://schemas.openxmlformats.org/drawingml/2006/main">
              <a:ext uri="{FF2B5EF4-FFF2-40B4-BE49-F238E27FC236}">
                <a16:creationId xmlns:a16="http://schemas.microsoft.com/office/drawing/2014/main" id="{C4B57B16-D8BD-439E-B154-9B62CFCC263F}"/>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VARIABLE BEHAVIOR · ALSO REQUIRED</a:t>
            </a:r>
          </a:p>
        </p:txBody>
      </p:sp>
      <p:sp>
        <p:nvSpPr>
          <p:cNvPr id="15" name="">
            <a:extLst xmlns:a="http://schemas.openxmlformats.org/drawingml/2006/main">
              <a:ext uri="{FF2B5EF4-FFF2-40B4-BE49-F238E27FC236}">
                <a16:creationId xmlns:a16="http://schemas.microsoft.com/office/drawing/2014/main" id="{0CE18DD7-47A7-42A1-AA41-98D9FB2429DF}"/>
              </a:ext>
            </a:extLst>
          </p:cNvPr>
          <p:cNvSpPr>
            <a:spLocks xmlns:a="http://schemas.openxmlformats.org/drawingml/2006/main" noGrp="1"/>
          </p:cNvSpPr>
          <p:nvPr/>
        </p:nvSpPr>
        <p:spPr>
          <a:xfrm xmlns:a="http://schemas.openxmlformats.org/drawingml/2006/main" flipH="0" flipV="0">
            <a:off x="5105400" y="2466975"/>
            <a:ext cx="0" cy="4667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6" name="">
            <a:extLst xmlns:a="http://schemas.openxmlformats.org/drawingml/2006/main">
              <a:ext uri="{FF2B5EF4-FFF2-40B4-BE49-F238E27FC236}">
                <a16:creationId xmlns:a16="http://schemas.microsoft.com/office/drawing/2014/main" id="{BBECB1E8-0835-486A-A0AF-EDE65687C1D1}"/>
              </a:ext>
            </a:extLst>
          </p:cNvPr>
          <p:cNvSpPr>
            <a:spLocks xmlns:a="http://schemas.openxmlformats.org/drawingml/2006/main" noGrp="1"/>
          </p:cNvSpPr>
          <p:nvPr/>
        </p:nvSpPr>
        <p:spPr>
          <a:xfrm xmlns:a="http://schemas.openxmlformats.org/drawingml/2006/main">
            <a:off x="5276850" y="2428875"/>
            <a:ext cx="6305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ALLOW</a:t>
            </a:r>
          </a:p>
        </p:txBody>
      </p:sp>
      <p:sp>
        <p:nvSpPr>
          <p:cNvPr id="17" name="">
            <a:extLst xmlns:a="http://schemas.openxmlformats.org/drawingml/2006/main">
              <a:ext uri="{FF2B5EF4-FFF2-40B4-BE49-F238E27FC236}">
                <a16:creationId xmlns:a16="http://schemas.microsoft.com/office/drawing/2014/main" id="{490D787A-D1AB-46DD-97F2-BCA3F156D6F0}"/>
              </a:ext>
            </a:extLst>
          </p:cNvPr>
          <p:cNvSpPr>
            <a:spLocks xmlns:a="http://schemas.openxmlformats.org/drawingml/2006/main" noGrp="1"/>
          </p:cNvSpPr>
          <p:nvPr/>
        </p:nvSpPr>
        <p:spPr>
          <a:xfrm xmlns:a="http://schemas.openxmlformats.org/drawingml/2006/main">
            <a:off x="5276850" y="2667000"/>
            <a:ext cx="630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Explain an approved support article.</a:t>
            </a:r>
          </a:p>
        </p:txBody>
      </p:sp>
      <p:sp>
        <p:nvSpPr>
          <p:cNvPr id="18" name="">
            <a:extLst xmlns:a="http://schemas.openxmlformats.org/drawingml/2006/main">
              <a:ext uri="{FF2B5EF4-FFF2-40B4-BE49-F238E27FC236}">
                <a16:creationId xmlns:a16="http://schemas.microsoft.com/office/drawing/2014/main" id="{8AA61062-FF25-4A6A-AD28-A2C85A5D2B51}"/>
              </a:ext>
            </a:extLst>
          </p:cNvPr>
          <p:cNvSpPr>
            <a:spLocks xmlns:a="http://schemas.openxmlformats.org/drawingml/2006/main" noGrp="1"/>
          </p:cNvSpPr>
          <p:nvPr/>
        </p:nvSpPr>
        <p:spPr>
          <a:xfrm xmlns:a="http://schemas.openxmlformats.org/drawingml/2006/main" flipH="0" flipV="0">
            <a:off x="5105400" y="3067050"/>
            <a:ext cx="0" cy="4667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9" name="">
            <a:extLst xmlns:a="http://schemas.openxmlformats.org/drawingml/2006/main">
              <a:ext uri="{FF2B5EF4-FFF2-40B4-BE49-F238E27FC236}">
                <a16:creationId xmlns:a16="http://schemas.microsoft.com/office/drawing/2014/main" id="{66F3F57F-8DB2-47BA-B019-7979334E74CD}"/>
              </a:ext>
            </a:extLst>
          </p:cNvPr>
          <p:cNvSpPr>
            <a:spLocks xmlns:a="http://schemas.openxmlformats.org/drawingml/2006/main" noGrp="1"/>
          </p:cNvSpPr>
          <p:nvPr/>
        </p:nvSpPr>
        <p:spPr>
          <a:xfrm xmlns:a="http://schemas.openxmlformats.org/drawingml/2006/main">
            <a:off x="5276850" y="3028950"/>
            <a:ext cx="6305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Roboto"/>
                <a:ea typeface="Roboto"/>
                <a:cs typeface="Roboto"/>
              </a:defRPr>
            </a:pPr>
            <a:r>
              <a:rPr sz="1500" b="1">
                <a:solidFill>
                  <a:srgbClr val="F5B61C"/>
                </a:solidFill>
                <a:latin typeface="Roboto"/>
                <a:ea typeface="Roboto"/>
                <a:cs typeface="Roboto"/>
              </a:rPr>
              <a:t>CLARIFY</a:t>
            </a:r>
          </a:p>
        </p:txBody>
      </p:sp>
      <p:sp>
        <p:nvSpPr>
          <p:cNvPr id="20" name="">
            <a:extLst xmlns:a="http://schemas.openxmlformats.org/drawingml/2006/main">
              <a:ext uri="{FF2B5EF4-FFF2-40B4-BE49-F238E27FC236}">
                <a16:creationId xmlns:a16="http://schemas.microsoft.com/office/drawing/2014/main" id="{9A0CC1B0-24A5-49D4-BA40-107F7AD8FA81}"/>
              </a:ext>
            </a:extLst>
          </p:cNvPr>
          <p:cNvSpPr>
            <a:spLocks xmlns:a="http://schemas.openxmlformats.org/drawingml/2006/main" noGrp="1"/>
          </p:cNvSpPr>
          <p:nvPr/>
        </p:nvSpPr>
        <p:spPr>
          <a:xfrm xmlns:a="http://schemas.openxmlformats.org/drawingml/2006/main">
            <a:off x="5276850" y="3267075"/>
            <a:ext cx="630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Missing context? Ask before advising.</a:t>
            </a:r>
          </a:p>
        </p:txBody>
      </p:sp>
      <p:sp>
        <p:nvSpPr>
          <p:cNvPr id="21" name="">
            <a:extLst xmlns:a="http://schemas.openxmlformats.org/drawingml/2006/main">
              <a:ext uri="{FF2B5EF4-FFF2-40B4-BE49-F238E27FC236}">
                <a16:creationId xmlns:a16="http://schemas.microsoft.com/office/drawing/2014/main" id="{7C6A96D7-66BC-4DA1-875A-BA0353E1BC1D}"/>
              </a:ext>
            </a:extLst>
          </p:cNvPr>
          <p:cNvSpPr>
            <a:spLocks xmlns:a="http://schemas.openxmlformats.org/drawingml/2006/main" noGrp="1"/>
          </p:cNvSpPr>
          <p:nvPr/>
        </p:nvSpPr>
        <p:spPr>
          <a:xfrm xmlns:a="http://schemas.openxmlformats.org/drawingml/2006/main" flipH="0" flipV="0">
            <a:off x="5105400" y="3667125"/>
            <a:ext cx="0" cy="466725"/>
          </a:xfrm>
          <a:prstGeom xmlns:a="http://schemas.openxmlformats.org/drawingml/2006/main" prst="line">
            <a:avLst/>
          </a:prstGeom>
          <a:noFill xmlns:a="http://schemas.openxmlformats.org/drawingml/2006/main"/>
          <a:ln xmlns:a="http://schemas.openxmlformats.org/drawingml/2006/main" w="38100">
            <a:solidFill>
              <a:srgbClr val="FF6B75"/>
            </a:solidFill>
            <a:prstDash val="solid"/>
          </a:ln>
        </p:spPr>
      </p:sp>
      <p:sp>
        <p:nvSpPr>
          <p:cNvPr id="22" name="">
            <a:extLst xmlns:a="http://schemas.openxmlformats.org/drawingml/2006/main">
              <a:ext uri="{FF2B5EF4-FFF2-40B4-BE49-F238E27FC236}">
                <a16:creationId xmlns:a16="http://schemas.microsoft.com/office/drawing/2014/main" id="{2EBF3F29-1BAC-4564-B312-5D9E131B47E9}"/>
              </a:ext>
            </a:extLst>
          </p:cNvPr>
          <p:cNvSpPr>
            <a:spLocks xmlns:a="http://schemas.openxmlformats.org/drawingml/2006/main" noGrp="1"/>
          </p:cNvSpPr>
          <p:nvPr/>
        </p:nvSpPr>
        <p:spPr>
          <a:xfrm xmlns:a="http://schemas.openxmlformats.org/drawingml/2006/main">
            <a:off x="5276850" y="3629025"/>
            <a:ext cx="6305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F6B75"/>
                </a:solidFill>
                <a:latin typeface="Roboto"/>
                <a:ea typeface="Roboto"/>
                <a:cs typeface="Roboto"/>
              </a:defRPr>
            </a:pPr>
            <a:r>
              <a:rPr sz="1500" b="1">
                <a:solidFill>
                  <a:srgbClr val="FF6B75"/>
                </a:solidFill>
                <a:latin typeface="Roboto"/>
                <a:ea typeface="Roboto"/>
                <a:cs typeface="Roboto"/>
              </a:rPr>
              <a:t>PROHIBIT</a:t>
            </a:r>
          </a:p>
        </p:txBody>
      </p:sp>
      <p:sp>
        <p:nvSpPr>
          <p:cNvPr id="23" name="">
            <a:extLst xmlns:a="http://schemas.openxmlformats.org/drawingml/2006/main">
              <a:ext uri="{FF2B5EF4-FFF2-40B4-BE49-F238E27FC236}">
                <a16:creationId xmlns:a16="http://schemas.microsoft.com/office/drawing/2014/main" id="{169DF168-9F0E-4E42-B9FD-79A59CACC13F}"/>
              </a:ext>
            </a:extLst>
          </p:cNvPr>
          <p:cNvSpPr>
            <a:spLocks xmlns:a="http://schemas.openxmlformats.org/drawingml/2006/main" noGrp="1"/>
          </p:cNvSpPr>
          <p:nvPr/>
        </p:nvSpPr>
        <p:spPr>
          <a:xfrm xmlns:a="http://schemas.openxmlformats.org/drawingml/2006/main">
            <a:off x="5276850" y="3867150"/>
            <a:ext cx="630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Roboto"/>
                <a:ea typeface="Roboto"/>
                <a:cs typeface="Roboto"/>
              </a:defRPr>
            </a:pPr>
            <a:r>
              <a:rPr sz="1725" b="0">
                <a:solidFill>
                  <a:srgbClr val="F4F7FA"/>
                </a:solidFill>
                <a:latin typeface="Roboto"/>
                <a:ea typeface="Roboto"/>
                <a:cs typeface="Roboto"/>
              </a:rPr>
              <a:t>Invent steps, expose data, bypass approval.</a:t>
            </a:r>
          </a:p>
        </p:txBody>
      </p:sp>
      <p:sp>
        <p:nvSpPr>
          <p:cNvPr id="24" name="">
            <a:extLst xmlns:a="http://schemas.openxmlformats.org/drawingml/2006/main">
              <a:ext uri="{FF2B5EF4-FFF2-40B4-BE49-F238E27FC236}">
                <a16:creationId xmlns:a16="http://schemas.microsoft.com/office/drawing/2014/main" id="{A6E831CC-1FE5-483B-A15B-2C201663DF94}"/>
              </a:ext>
            </a:extLst>
          </p:cNvPr>
          <p:cNvSpPr>
            <a:spLocks xmlns:a="http://schemas.openxmlformats.org/drawingml/2006/main" noGrp="1"/>
          </p:cNvSpPr>
          <p:nvPr/>
        </p:nvSpPr>
        <p:spPr>
          <a:xfrm xmlns:a="http://schemas.openxmlformats.org/drawingml/2006/main" flipH="0" flipV="0">
            <a:off x="609600" y="4324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CD72CEDC-3928-4094-AAD7-FE3D2C491B53}"/>
              </a:ext>
            </a:extLst>
          </p:cNvPr>
          <p:cNvSpPr>
            <a:spLocks xmlns:a="http://schemas.openxmlformats.org/drawingml/2006/main" noGrp="1"/>
          </p:cNvSpPr>
          <p:nvPr/>
        </p:nvSpPr>
        <p:spPr>
          <a:xfrm xmlns:a="http://schemas.openxmlformats.org/drawingml/2006/main">
            <a:off x="609600" y="44100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5B61C"/>
                </a:solidFill>
                <a:latin typeface="Roboto"/>
                <a:ea typeface="Roboto"/>
                <a:cs typeface="Roboto"/>
              </a:defRPr>
            </a:pPr>
            <a:r>
              <a:rPr sz="1575" b="1">
                <a:solidFill>
                  <a:srgbClr val="F5B61C"/>
                </a:solidFill>
                <a:latin typeface="Roboto"/>
                <a:ea typeface="Roboto"/>
                <a:cs typeface="Roboto"/>
              </a:rPr>
              <a:t>BUSINESS TOLERANCE CONTRACT</a:t>
            </a:r>
          </a:p>
        </p:txBody>
      </p:sp>
      <p:sp>
        <p:nvSpPr>
          <p:cNvPr id="26" name="">
            <a:extLst xmlns:a="http://schemas.openxmlformats.org/drawingml/2006/main">
              <a:ext uri="{FF2B5EF4-FFF2-40B4-BE49-F238E27FC236}">
                <a16:creationId xmlns:a16="http://schemas.microsoft.com/office/drawing/2014/main" id="{C9B5834A-534C-4AC1-A481-F0F70209D922}"/>
              </a:ext>
            </a:extLst>
          </p:cNvPr>
          <p:cNvSpPr>
            <a:spLocks xmlns:a="http://schemas.openxmlformats.org/drawingml/2006/main" noGrp="1"/>
          </p:cNvSpPr>
          <p:nvPr/>
        </p:nvSpPr>
        <p:spPr>
          <a:xfrm xmlns:a="http://schemas.openxmlformats.org/drawingml/2006/main">
            <a:off x="609600" y="47625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Allowed variation: wording</a:t>
            </a:r>
          </a:p>
        </p:txBody>
      </p:sp>
      <p:sp>
        <p:nvSpPr>
          <p:cNvPr id="27" name="">
            <a:extLst xmlns:a="http://schemas.openxmlformats.org/drawingml/2006/main">
              <a:ext uri="{FF2B5EF4-FFF2-40B4-BE49-F238E27FC236}">
                <a16:creationId xmlns:a16="http://schemas.microsoft.com/office/drawing/2014/main" id="{C6EF09E4-D9B7-4DFB-8C43-5130D822B178}"/>
              </a:ext>
            </a:extLst>
          </p:cNvPr>
          <p:cNvSpPr>
            <a:spLocks xmlns:a="http://schemas.openxmlformats.org/drawingml/2006/main" noGrp="1"/>
          </p:cNvSpPr>
          <p:nvPr/>
        </p:nvSpPr>
        <p:spPr>
          <a:xfrm xmlns:a="http://schemas.openxmlformats.org/drawingml/2006/main">
            <a:off x="6286500" y="47625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Required meaning: approved steps</a:t>
            </a:r>
          </a:p>
        </p:txBody>
      </p:sp>
      <p:sp>
        <p:nvSpPr>
          <p:cNvPr id="28" name="">
            <a:extLst xmlns:a="http://schemas.openxmlformats.org/drawingml/2006/main">
              <a:ext uri="{FF2B5EF4-FFF2-40B4-BE49-F238E27FC236}">
                <a16:creationId xmlns:a16="http://schemas.microsoft.com/office/drawing/2014/main" id="{777A7C3B-CE35-4E98-AF07-23F8CBB44638}"/>
              </a:ext>
            </a:extLst>
          </p:cNvPr>
          <p:cNvSpPr>
            <a:spLocks xmlns:a="http://schemas.openxmlformats.org/drawingml/2006/main" noGrp="1"/>
          </p:cNvSpPr>
          <p:nvPr/>
        </p:nvSpPr>
        <p:spPr>
          <a:xfrm xmlns:a="http://schemas.openxmlformats.org/drawingml/2006/main">
            <a:off x="609600" y="50577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Limits: rework, cost and latency</a:t>
            </a:r>
          </a:p>
        </p:txBody>
      </p:sp>
      <p:sp>
        <p:nvSpPr>
          <p:cNvPr id="29" name="">
            <a:extLst xmlns:a="http://schemas.openxmlformats.org/drawingml/2006/main">
              <a:ext uri="{FF2B5EF4-FFF2-40B4-BE49-F238E27FC236}">
                <a16:creationId xmlns:a16="http://schemas.microsoft.com/office/drawing/2014/main" id="{342736E0-2AC2-4E60-9B6B-33A2621A3815}"/>
              </a:ext>
            </a:extLst>
          </p:cNvPr>
          <p:cNvSpPr>
            <a:spLocks xmlns:a="http://schemas.openxmlformats.org/drawingml/2006/main" noGrp="1"/>
          </p:cNvSpPr>
          <p:nvPr/>
        </p:nvSpPr>
        <p:spPr>
          <a:xfrm xmlns:a="http://schemas.openxmlformats.org/drawingml/2006/main">
            <a:off x="6286500" y="50577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Escalation: owner + fallback</a:t>
            </a:r>
          </a:p>
        </p:txBody>
      </p:sp>
      <p:sp>
        <p:nvSpPr>
          <p:cNvPr id="30" name="">
            <a:extLst xmlns:a="http://schemas.openxmlformats.org/drawingml/2006/main">
              <a:ext uri="{FF2B5EF4-FFF2-40B4-BE49-F238E27FC236}">
                <a16:creationId xmlns:a16="http://schemas.microsoft.com/office/drawing/2014/main" id="{6118A052-3ABC-478A-8D48-5C8DD9428E8E}"/>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A prompt influences behavior. Examples and acceptance rules define the contract.</a:t>
            </a:r>
          </a:p>
        </p:txBody>
      </p:sp>
      <p:sp>
        <p:nvSpPr>
          <p:cNvPr id="31" name="">
            <a:extLst xmlns:a="http://schemas.openxmlformats.org/drawingml/2006/main">
              <a:ext uri="{FF2B5EF4-FFF2-40B4-BE49-F238E27FC236}">
                <a16:creationId xmlns:a16="http://schemas.microsoft.com/office/drawing/2014/main" id="{7DFEFF4C-E1B5-4DD4-B99D-FADC2ECDD2F5}"/>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Shared quality vocabulary exists. Product-specific semantic limits still need agreement.</a:t>
            </a:r>
          </a:p>
        </p:txBody>
      </p:sp>
      <p:sp>
        <p:nvSpPr>
          <p:cNvPr id="32" name="">
            <a:extLst xmlns:a="http://schemas.openxmlformats.org/drawingml/2006/main">
              <a:ext uri="{FF2B5EF4-FFF2-40B4-BE49-F238E27FC236}">
                <a16:creationId xmlns:a16="http://schemas.microsoft.com/office/drawing/2014/main" id="{C22A686E-B1CF-4F22-BFB4-561874174772}"/>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Starting points: ISO/IEC 25059 · NIST AI RMF · CheckList (ACL 2020)</a:t>
            </a:r>
          </a:p>
        </p:txBody>
      </p:sp>
      <p:sp>
        <p:nvSpPr>
          <p:cNvPr id="33" name="">
            <a:extLst xmlns:a="http://schemas.openxmlformats.org/drawingml/2006/main">
              <a:ext uri="{FF2B5EF4-FFF2-40B4-BE49-F238E27FC236}">
                <a16:creationId xmlns:a16="http://schemas.microsoft.com/office/drawing/2014/main" id="{E805AF79-324F-42AA-8D57-54D6B92B0737}"/>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Business scenarios → examples + counterexamples → acceptance rules</a:t>
            </a:r>
          </a:p>
        </p:txBody>
      </p:sp>
    </p:spTree>
    <p:extLst>
      <p:ext uri="{BB962C8B-B14F-4D97-AF65-F5344CB8AC3E}">
        <p14:creationId xmlns:p14="http://schemas.microsoft.com/office/powerpoint/2010/main" val="907131382"/>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D94CDA76-B99D-4E77-B7C8-8FF57D94FD9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One Green Test Proves Almost Nothing</a:t>
            </a:r>
          </a:p>
        </p:txBody>
      </p:sp>
      <p:sp>
        <p:nvSpPr>
          <p:cNvPr id="2" name="">
            <a:extLst xmlns:a="http://schemas.openxmlformats.org/drawingml/2006/main">
              <a:ext uri="{FF2B5EF4-FFF2-40B4-BE49-F238E27FC236}">
                <a16:creationId xmlns:a16="http://schemas.microsoft.com/office/drawing/2014/main" id="{BCDB572D-5310-49F6-BA36-B5A648071E2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EE4A970-B8EE-41F0-8322-4177F25D934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10</a:t>
            </a:r>
          </a:p>
        </p:txBody>
      </p:sp>
      <p:sp>
        <p:nvSpPr>
          <p:cNvPr id="4" name="">
            <a:extLst xmlns:a="http://schemas.openxmlformats.org/drawingml/2006/main">
              <a:ext uri="{FF2B5EF4-FFF2-40B4-BE49-F238E27FC236}">
                <a16:creationId xmlns:a16="http://schemas.microsoft.com/office/drawing/2014/main" id="{A5AAC520-4BCC-49DB-88A7-DD4116A89D1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93F486A8-C946-4851-B598-87118EA8F375}"/>
              </a:ext>
            </a:extLst>
          </p:cNvPr>
          <p:cNvSpPr>
            <a:spLocks xmlns:a="http://schemas.openxmlformats.org/drawingml/2006/main" noGrp="1"/>
          </p:cNvSpPr>
          <p:nvPr/>
        </p:nvSpPr>
        <p:spPr>
          <a:xfrm xmlns:a="http://schemas.openxmlformats.org/drawingml/2006/main" flipH="0" flipV="0">
            <a:off x="5934075" y="2105025"/>
            <a:ext cx="0" cy="18288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3622FF7F-0FE3-40C2-B5B8-FC9202DFB7EC}"/>
              </a:ext>
            </a:extLst>
          </p:cNvPr>
          <p:cNvSpPr>
            <a:spLocks xmlns:a="http://schemas.openxmlformats.org/drawingml/2006/main" noGrp="1"/>
          </p:cNvSpPr>
          <p:nvPr/>
        </p:nvSpPr>
        <p:spPr>
          <a:xfrm xmlns:a="http://schemas.openxmlformats.org/drawingml/2006/main">
            <a:off x="609600" y="2114550"/>
            <a:ext cx="5048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OFTEN?</a:t>
            </a:r>
          </a:p>
        </p:txBody>
      </p:sp>
      <p:sp>
        <p:nvSpPr>
          <p:cNvPr id="7" name="">
            <a:extLst xmlns:a="http://schemas.openxmlformats.org/drawingml/2006/main">
              <a:ext uri="{FF2B5EF4-FFF2-40B4-BE49-F238E27FC236}">
                <a16:creationId xmlns:a16="http://schemas.microsoft.com/office/drawing/2014/main" id="{A5060348-45BF-419D-B93B-747DF91ED91E}"/>
              </a:ext>
            </a:extLst>
          </p:cNvPr>
          <p:cNvSpPr>
            <a:spLocks xmlns:a="http://schemas.openxmlformats.org/drawingml/2006/main" noGrp="1"/>
          </p:cNvSpPr>
          <p:nvPr/>
        </p:nvSpPr>
        <p:spPr>
          <a:xfrm xmlns:a="http://schemas.openxmlformats.org/drawingml/2006/main">
            <a:off x="609600" y="2457450"/>
            <a:ext cx="5048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4 / 200 = 2%</a:t>
            </a:r>
          </a:p>
        </p:txBody>
      </p:sp>
      <p:sp>
        <p:nvSpPr>
          <p:cNvPr id="8" name="">
            <a:extLst xmlns:a="http://schemas.openxmlformats.org/drawingml/2006/main">
              <a:ext uri="{FF2B5EF4-FFF2-40B4-BE49-F238E27FC236}">
                <a16:creationId xmlns:a16="http://schemas.microsoft.com/office/drawing/2014/main" id="{B72173C9-241C-4364-9E39-8DEA0E8FA86D}"/>
              </a:ext>
            </a:extLst>
          </p:cNvPr>
          <p:cNvSpPr>
            <a:spLocks xmlns:a="http://schemas.openxmlformats.org/drawingml/2006/main" noGrp="1"/>
          </p:cNvSpPr>
          <p:nvPr/>
        </p:nvSpPr>
        <p:spPr>
          <a:xfrm xmlns:a="http://schemas.openxmlformats.org/drawingml/2006/main">
            <a:off x="609600" y="3000375"/>
            <a:ext cx="504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Observed unacceptable outputs</a:t>
            </a:r>
          </a:p>
        </p:txBody>
      </p:sp>
      <p:sp>
        <p:nvSpPr>
          <p:cNvPr id="9" name="">
            <a:extLst xmlns:a="http://schemas.openxmlformats.org/drawingml/2006/main">
              <a:ext uri="{FF2B5EF4-FFF2-40B4-BE49-F238E27FC236}">
                <a16:creationId xmlns:a16="http://schemas.microsoft.com/office/drawing/2014/main" id="{6615C91A-C266-45AD-AC46-135FCC699D83}"/>
              </a:ext>
            </a:extLst>
          </p:cNvPr>
          <p:cNvSpPr>
            <a:spLocks xmlns:a="http://schemas.openxmlformats.org/drawingml/2006/main" noGrp="1"/>
          </p:cNvSpPr>
          <p:nvPr/>
        </p:nvSpPr>
        <p:spPr>
          <a:xfrm xmlns:a="http://schemas.openxmlformats.org/drawingml/2006/main">
            <a:off x="609600" y="33051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95% Wilson interval ≈ 0.8%–5.0%</a:t>
            </a:r>
          </a:p>
        </p:txBody>
      </p:sp>
      <p:sp>
        <p:nvSpPr>
          <p:cNvPr id="10" name="">
            <a:extLst xmlns:a="http://schemas.openxmlformats.org/drawingml/2006/main">
              <a:ext uri="{FF2B5EF4-FFF2-40B4-BE49-F238E27FC236}">
                <a16:creationId xmlns:a16="http://schemas.microsoft.com/office/drawing/2014/main" id="{57E89CCD-8A76-4B40-BEAE-BEF94CB09122}"/>
              </a:ext>
            </a:extLst>
          </p:cNvPr>
          <p:cNvSpPr>
            <a:spLocks xmlns:a="http://schemas.openxmlformats.org/drawingml/2006/main" noGrp="1"/>
          </p:cNvSpPr>
          <p:nvPr/>
        </p:nvSpPr>
        <p:spPr>
          <a:xfrm xmlns:a="http://schemas.openxmlformats.org/drawingml/2006/main" flipH="0" flipV="0">
            <a:off x="895350" y="3762375"/>
            <a:ext cx="43815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C29FBBC2-3E12-4058-93F7-24A8F48E06D0}"/>
              </a:ext>
            </a:extLst>
          </p:cNvPr>
          <p:cNvSpPr>
            <a:spLocks xmlns:a="http://schemas.openxmlformats.org/drawingml/2006/main" noGrp="1"/>
          </p:cNvSpPr>
          <p:nvPr/>
        </p:nvSpPr>
        <p:spPr>
          <a:xfrm xmlns:a="http://schemas.openxmlformats.org/drawingml/2006/main" flipH="0" flipV="0">
            <a:off x="1465268" y="3762375"/>
            <a:ext cx="3102296" cy="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2" name="">
            <a:extLst xmlns:a="http://schemas.openxmlformats.org/drawingml/2006/main">
              <a:ext uri="{FF2B5EF4-FFF2-40B4-BE49-F238E27FC236}">
                <a16:creationId xmlns:a16="http://schemas.microsoft.com/office/drawing/2014/main" id="{1A790B9D-29D8-4384-9A9F-6C4315EA1CC8}"/>
              </a:ext>
            </a:extLst>
          </p:cNvPr>
          <p:cNvSpPr>
            <a:spLocks xmlns:a="http://schemas.openxmlformats.org/drawingml/2006/main" noGrp="1"/>
          </p:cNvSpPr>
          <p:nvPr/>
        </p:nvSpPr>
        <p:spPr>
          <a:xfrm xmlns:a="http://schemas.openxmlformats.org/drawingml/2006/main" flipH="0" flipV="0">
            <a:off x="1465268" y="3695700"/>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3" name="">
            <a:extLst xmlns:a="http://schemas.openxmlformats.org/drawingml/2006/main">
              <a:ext uri="{FF2B5EF4-FFF2-40B4-BE49-F238E27FC236}">
                <a16:creationId xmlns:a16="http://schemas.microsoft.com/office/drawing/2014/main" id="{55239A97-8F4A-42A5-8486-FEF9FE7369A6}"/>
              </a:ext>
            </a:extLst>
          </p:cNvPr>
          <p:cNvSpPr>
            <a:spLocks xmlns:a="http://schemas.openxmlformats.org/drawingml/2006/main" noGrp="1"/>
          </p:cNvSpPr>
          <p:nvPr/>
        </p:nvSpPr>
        <p:spPr>
          <a:xfrm xmlns:a="http://schemas.openxmlformats.org/drawingml/2006/main" flipH="0" flipV="0">
            <a:off x="4567565" y="3695700"/>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4" name="">
            <a:extLst xmlns:a="http://schemas.openxmlformats.org/drawingml/2006/main">
              <a:ext uri="{FF2B5EF4-FFF2-40B4-BE49-F238E27FC236}">
                <a16:creationId xmlns:a16="http://schemas.microsoft.com/office/drawing/2014/main" id="{DCA2CC1C-23A9-4463-9F43-C65F3352AF80}"/>
              </a:ext>
            </a:extLst>
          </p:cNvPr>
          <p:cNvSpPr>
            <a:spLocks xmlns:a="http://schemas.openxmlformats.org/drawingml/2006/main" noGrp="1"/>
          </p:cNvSpPr>
          <p:nvPr/>
        </p:nvSpPr>
        <p:spPr>
          <a:xfrm xmlns:a="http://schemas.openxmlformats.org/drawingml/2006/main">
            <a:off x="2308225" y="3714750"/>
            <a:ext cx="95250" cy="95250"/>
          </a:xfrm>
          <a:prstGeom xmlns:a="http://schemas.openxmlformats.org/drawingml/2006/main" prst="rect">
            <a:avLst/>
          </a:prstGeom>
          <a:solidFill xmlns:a="http://schemas.openxmlformats.org/drawingml/2006/main">
            <a:srgbClr val="F4F7FA"/>
          </a:solidFill>
          <a:ln xmlns:a="http://schemas.openxmlformats.org/drawingml/2006/main" w="14288">
            <a:solidFill>
              <a:srgbClr val="F4F7FA"/>
            </a:solidFill>
            <a:prstDash val="solid"/>
          </a:ln>
        </p:spPr>
      </p:sp>
      <p:sp>
        <p:nvSpPr>
          <p:cNvPr id="15" name="">
            <a:extLst xmlns:a="http://schemas.openxmlformats.org/drawingml/2006/main">
              <a:ext uri="{FF2B5EF4-FFF2-40B4-BE49-F238E27FC236}">
                <a16:creationId xmlns:a16="http://schemas.microsoft.com/office/drawing/2014/main" id="{130BC8B3-EA91-4ACA-867A-AD207DCB24FA}"/>
              </a:ext>
            </a:extLst>
          </p:cNvPr>
          <p:cNvSpPr>
            <a:spLocks xmlns:a="http://schemas.openxmlformats.org/drawingml/2006/main" noGrp="1"/>
          </p:cNvSpPr>
          <p:nvPr/>
        </p:nvSpPr>
        <p:spPr>
          <a:xfrm xmlns:a="http://schemas.openxmlformats.org/drawingml/2006/main">
            <a:off x="714375" y="39052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0%</a:t>
            </a:r>
          </a:p>
        </p:txBody>
      </p:sp>
      <p:sp>
        <p:nvSpPr>
          <p:cNvPr id="16" name="">
            <a:extLst xmlns:a="http://schemas.openxmlformats.org/drawingml/2006/main">
              <a:ext uri="{FF2B5EF4-FFF2-40B4-BE49-F238E27FC236}">
                <a16:creationId xmlns:a16="http://schemas.microsoft.com/office/drawing/2014/main" id="{585079A4-7FB3-4ACF-834A-CE5E17F4167D}"/>
              </a:ext>
            </a:extLst>
          </p:cNvPr>
          <p:cNvSpPr>
            <a:spLocks xmlns:a="http://schemas.openxmlformats.org/drawingml/2006/main" noGrp="1"/>
          </p:cNvSpPr>
          <p:nvPr/>
        </p:nvSpPr>
        <p:spPr>
          <a:xfrm xmlns:a="http://schemas.openxmlformats.org/drawingml/2006/main">
            <a:off x="2174875" y="39052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2%</a:t>
            </a:r>
          </a:p>
        </p:txBody>
      </p:sp>
      <p:sp>
        <p:nvSpPr>
          <p:cNvPr id="17" name="">
            <a:extLst xmlns:a="http://schemas.openxmlformats.org/drawingml/2006/main">
              <a:ext uri="{FF2B5EF4-FFF2-40B4-BE49-F238E27FC236}">
                <a16:creationId xmlns:a16="http://schemas.microsoft.com/office/drawing/2014/main" id="{587A8754-C988-490C-B7E8-05F9860AB04E}"/>
              </a:ext>
            </a:extLst>
          </p:cNvPr>
          <p:cNvSpPr>
            <a:spLocks xmlns:a="http://schemas.openxmlformats.org/drawingml/2006/main" noGrp="1"/>
          </p:cNvSpPr>
          <p:nvPr/>
        </p:nvSpPr>
        <p:spPr>
          <a:xfrm xmlns:a="http://schemas.openxmlformats.org/drawingml/2006/main">
            <a:off x="3635375" y="39052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4%</a:t>
            </a:r>
          </a:p>
        </p:txBody>
      </p:sp>
      <p:sp>
        <p:nvSpPr>
          <p:cNvPr id="18" name="">
            <a:extLst xmlns:a="http://schemas.openxmlformats.org/drawingml/2006/main">
              <a:ext uri="{FF2B5EF4-FFF2-40B4-BE49-F238E27FC236}">
                <a16:creationId xmlns:a16="http://schemas.microsoft.com/office/drawing/2014/main" id="{C2DDF047-942F-4857-AF85-3678F85314BE}"/>
              </a:ext>
            </a:extLst>
          </p:cNvPr>
          <p:cNvSpPr>
            <a:spLocks xmlns:a="http://schemas.openxmlformats.org/drawingml/2006/main" noGrp="1"/>
          </p:cNvSpPr>
          <p:nvPr/>
        </p:nvSpPr>
        <p:spPr>
          <a:xfrm xmlns:a="http://schemas.openxmlformats.org/drawingml/2006/main">
            <a:off x="5095875" y="39052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6%</a:t>
            </a:r>
          </a:p>
        </p:txBody>
      </p:sp>
      <p:sp>
        <p:nvSpPr>
          <p:cNvPr id="19" name="">
            <a:extLst xmlns:a="http://schemas.openxmlformats.org/drawingml/2006/main">
              <a:ext uri="{FF2B5EF4-FFF2-40B4-BE49-F238E27FC236}">
                <a16:creationId xmlns:a16="http://schemas.microsoft.com/office/drawing/2014/main" id="{AF7EA3C3-A9DB-410C-B62A-20874420457E}"/>
              </a:ext>
            </a:extLst>
          </p:cNvPr>
          <p:cNvSpPr>
            <a:spLocks xmlns:a="http://schemas.openxmlformats.org/drawingml/2006/main" noGrp="1"/>
          </p:cNvSpPr>
          <p:nvPr/>
        </p:nvSpPr>
        <p:spPr>
          <a:xfrm xmlns:a="http://schemas.openxmlformats.org/drawingml/2006/main">
            <a:off x="6286500" y="2114550"/>
            <a:ext cx="5295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HOW HARMFUL?</a:t>
            </a:r>
          </a:p>
        </p:txBody>
      </p:sp>
      <p:sp>
        <p:nvSpPr>
          <p:cNvPr id="20" name="">
            <a:extLst xmlns:a="http://schemas.openxmlformats.org/drawingml/2006/main">
              <a:ext uri="{FF2B5EF4-FFF2-40B4-BE49-F238E27FC236}">
                <a16:creationId xmlns:a16="http://schemas.microsoft.com/office/drawing/2014/main" id="{47A64372-4270-4334-9BF5-0673669B8A98}"/>
              </a:ext>
            </a:extLst>
          </p:cNvPr>
          <p:cNvSpPr>
            <a:spLocks xmlns:a="http://schemas.openxmlformats.org/drawingml/2006/main" noGrp="1"/>
          </p:cNvSpPr>
          <p:nvPr/>
        </p:nvSpPr>
        <p:spPr>
          <a:xfrm xmlns:a="http://schemas.openxmlformats.org/drawingml/2006/main">
            <a:off x="6286500" y="2505075"/>
            <a:ext cx="5295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3 incorrect instructions → rework</a:t>
            </a:r>
          </a:p>
        </p:txBody>
      </p:sp>
      <p:sp>
        <p:nvSpPr>
          <p:cNvPr id="21" name="">
            <a:extLst xmlns:a="http://schemas.openxmlformats.org/drawingml/2006/main">
              <a:ext uri="{FF2B5EF4-FFF2-40B4-BE49-F238E27FC236}">
                <a16:creationId xmlns:a16="http://schemas.microsoft.com/office/drawing/2014/main" id="{59BDC597-FCDE-4AFD-962D-4B2FBBEBAC83}"/>
              </a:ext>
            </a:extLst>
          </p:cNvPr>
          <p:cNvSpPr>
            <a:spLocks xmlns:a="http://schemas.openxmlformats.org/drawingml/2006/main" noGrp="1"/>
          </p:cNvSpPr>
          <p:nvPr/>
        </p:nvSpPr>
        <p:spPr>
          <a:xfrm xmlns:a="http://schemas.openxmlformats.org/drawingml/2006/main">
            <a:off x="6286500" y="2933700"/>
            <a:ext cx="5295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F6B75"/>
                </a:solidFill>
                <a:latin typeface="Roboto"/>
                <a:ea typeface="Roboto"/>
                <a:cs typeface="Roboto"/>
              </a:defRPr>
            </a:pPr>
            <a:r>
              <a:rPr sz="1875" b="0">
                <a:solidFill>
                  <a:srgbClr val="FF6B75"/>
                </a:solidFill>
                <a:latin typeface="Roboto"/>
                <a:ea typeface="Roboto"/>
                <a:cs typeface="Roboto"/>
              </a:rPr>
              <a:t>1 privacy leak → critical breach</a:t>
            </a:r>
          </a:p>
        </p:txBody>
      </p:sp>
      <p:sp>
        <p:nvSpPr>
          <p:cNvPr id="22" name="">
            <a:extLst xmlns:a="http://schemas.openxmlformats.org/drawingml/2006/main">
              <a:ext uri="{FF2B5EF4-FFF2-40B4-BE49-F238E27FC236}">
                <a16:creationId xmlns:a16="http://schemas.microsoft.com/office/drawing/2014/main" id="{0982925D-68F5-42EB-B53C-A29F3F915A2D}"/>
              </a:ext>
            </a:extLst>
          </p:cNvPr>
          <p:cNvSpPr>
            <a:spLocks xmlns:a="http://schemas.openxmlformats.org/drawingml/2006/main" noGrp="1"/>
          </p:cNvSpPr>
          <p:nvPr/>
        </p:nvSpPr>
        <p:spPr>
          <a:xfrm xmlns:a="http://schemas.openxmlformats.org/drawingml/2006/main">
            <a:off x="6286500" y="3457575"/>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F6B75"/>
                </a:solidFill>
                <a:latin typeface="Roboto"/>
                <a:ea typeface="Roboto"/>
                <a:cs typeface="Roboto"/>
              </a:defRPr>
            </a:pPr>
            <a:r>
              <a:rPr sz="2025" b="1">
                <a:solidFill>
                  <a:srgbClr val="FF6B75"/>
                </a:solidFill>
                <a:latin typeface="Roboto"/>
                <a:ea typeface="Roboto"/>
                <a:cs typeface="Roboto"/>
              </a:rPr>
              <a:t>Critical breach → BLOCK RELEASE</a:t>
            </a:r>
          </a:p>
        </p:txBody>
      </p:sp>
      <p:sp>
        <p:nvSpPr>
          <p:cNvPr id="23" name="">
            <a:extLst xmlns:a="http://schemas.openxmlformats.org/drawingml/2006/main">
              <a:ext uri="{FF2B5EF4-FFF2-40B4-BE49-F238E27FC236}">
                <a16:creationId xmlns:a16="http://schemas.microsoft.com/office/drawing/2014/main" id="{79EA16CE-B5BC-465A-B49A-9640CDE1C62F}"/>
              </a:ext>
            </a:extLst>
          </p:cNvPr>
          <p:cNvSpPr>
            <a:spLocks xmlns:a="http://schemas.openxmlformats.org/drawingml/2006/main" noGrp="1"/>
          </p:cNvSpPr>
          <p:nvPr/>
        </p:nvSpPr>
        <p:spPr>
          <a:xfrm xmlns:a="http://schemas.openxmlformats.org/drawingml/2006/main">
            <a:off x="609600" y="42195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Illustrative independent sample; 196 / 200 acceptable. No production guarantee.</a:t>
            </a:r>
          </a:p>
        </p:txBody>
      </p:sp>
      <p:sp>
        <p:nvSpPr>
          <p:cNvPr id="24" name="">
            <a:extLst xmlns:a="http://schemas.openxmlformats.org/drawingml/2006/main">
              <a:ext uri="{FF2B5EF4-FFF2-40B4-BE49-F238E27FC236}">
                <a16:creationId xmlns:a16="http://schemas.microsoft.com/office/drawing/2014/main" id="{CE0685CA-0BD5-4189-A7AC-E52F237164DF}"/>
              </a:ext>
            </a:extLst>
          </p:cNvPr>
          <p:cNvSpPr>
            <a:spLocks xmlns:a="http://schemas.openxmlformats.org/drawingml/2006/main" noGrp="1"/>
          </p:cNvSpPr>
          <p:nvPr/>
        </p:nvSpPr>
        <p:spPr>
          <a:xfrm xmlns:a="http://schemas.openxmlformats.org/drawingml/2006/main">
            <a:off x="609600" y="455295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Golden Set: routine, edge and adversarial cases. Eval Gate: compare versions against agreed limits.</a:t>
            </a:r>
          </a:p>
        </p:txBody>
      </p:sp>
      <p:sp>
        <p:nvSpPr>
          <p:cNvPr id="25" name="">
            <a:extLst xmlns:a="http://schemas.openxmlformats.org/drawingml/2006/main">
              <a:ext uri="{FF2B5EF4-FFF2-40B4-BE49-F238E27FC236}">
                <a16:creationId xmlns:a16="http://schemas.microsoft.com/office/drawing/2014/main" id="{12ED1A67-B081-42D7-863E-FE5D0DD03181}"/>
              </a:ext>
            </a:extLst>
          </p:cNvPr>
          <p:cNvSpPr>
            <a:spLocks xmlns:a="http://schemas.openxmlformats.org/drawingml/2006/main" noGrp="1"/>
          </p:cNvSpPr>
          <p:nvPr/>
        </p:nvSpPr>
        <p:spPr>
          <a:xfrm xmlns:a="http://schemas.openxmlformats.org/drawingml/2006/main">
            <a:off x="609600" y="48672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QA calibrates the evaluator with domain experts. Incidents become new regression cases.</a:t>
            </a:r>
          </a:p>
        </p:txBody>
      </p:sp>
      <p:sp>
        <p:nvSpPr>
          <p:cNvPr id="26" name="">
            <a:extLst xmlns:a="http://schemas.openxmlformats.org/drawingml/2006/main">
              <a:ext uri="{FF2B5EF4-FFF2-40B4-BE49-F238E27FC236}">
                <a16:creationId xmlns:a16="http://schemas.microsoft.com/office/drawing/2014/main" id="{2EBBC9D9-32BB-4A19-9952-0EA172F0E798}"/>
              </a:ext>
            </a:extLst>
          </p:cNvPr>
          <p:cNvSpPr>
            <a:spLocks xmlns:a="http://schemas.openxmlformats.org/drawingml/2006/main" noGrp="1"/>
          </p:cNvSpPr>
          <p:nvPr/>
        </p:nvSpPr>
        <p:spPr>
          <a:xfrm xmlns:a="http://schemas.openxmlformats.org/drawingml/2006/main">
            <a:off x="609600" y="52387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Roboto"/>
                <a:ea typeface="Roboto"/>
                <a:cs typeface="Roboto"/>
              </a:defRPr>
            </a:pPr>
            <a:r>
              <a:rPr sz="1575" b="1">
                <a:solidFill>
                  <a:srgbClr val="F4F7FA"/>
                </a:solidFill>
                <a:latin typeface="Roboto"/>
                <a:ea typeface="Roboto"/>
                <a:cs typeface="Roboto"/>
              </a:rPr>
              <a:t>Ask the business: “How much rework is tolerable? Which harm must be prevented?”</a:t>
            </a:r>
          </a:p>
        </p:txBody>
      </p:sp>
      <p:sp>
        <p:nvSpPr>
          <p:cNvPr id="27" name="">
            <a:extLst xmlns:a="http://schemas.openxmlformats.org/drawingml/2006/main">
              <a:ext uri="{FF2B5EF4-FFF2-40B4-BE49-F238E27FC236}">
                <a16:creationId xmlns:a16="http://schemas.microsoft.com/office/drawing/2014/main" id="{E4560EAF-45BF-4E97-AF0E-5DC96FA9A0EA}"/>
              </a:ext>
            </a:extLst>
          </p:cNvPr>
          <p:cNvSpPr>
            <a:spLocks xmlns:a="http://schemas.openxmlformats.org/drawingml/2006/main" noGrp="1"/>
          </p:cNvSpPr>
          <p:nvPr/>
        </p:nvSpPr>
        <p:spPr>
          <a:xfrm xmlns:a="http://schemas.openxmlformats.org/drawingml/2006/main">
            <a:off x="609600" y="5619750"/>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Roboto"/>
                <a:ea typeface="Roboto"/>
                <a:cs typeface="Roboto"/>
              </a:defRPr>
            </a:pPr>
            <a:r>
              <a:rPr sz="1275" b="1">
                <a:solidFill>
                  <a:srgbClr val="28C7F7"/>
                </a:solidFill>
                <a:latin typeface="Roboto"/>
                <a:ea typeface="Roboto"/>
                <a:cs typeface="Roboto"/>
              </a:rPr>
              <a:t>PRODUCT + BA</a:t>
            </a:r>
          </a:p>
        </p:txBody>
      </p:sp>
      <p:sp>
        <p:nvSpPr>
          <p:cNvPr id="28" name="">
            <a:extLst xmlns:a="http://schemas.openxmlformats.org/drawingml/2006/main">
              <a:ext uri="{FF2B5EF4-FFF2-40B4-BE49-F238E27FC236}">
                <a16:creationId xmlns:a16="http://schemas.microsoft.com/office/drawing/2014/main" id="{671FC828-EDB6-4BD7-A8DB-850DA1E5E186}"/>
              </a:ext>
            </a:extLst>
          </p:cNvPr>
          <p:cNvSpPr>
            <a:spLocks xmlns:a="http://schemas.openxmlformats.org/drawingml/2006/main" noGrp="1"/>
          </p:cNvSpPr>
          <p:nvPr/>
        </p:nvSpPr>
        <p:spPr>
          <a:xfrm xmlns:a="http://schemas.openxmlformats.org/drawingml/2006/main">
            <a:off x="609600" y="5857875"/>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Elicit impact; agree acceptance</a:t>
            </a:r>
          </a:p>
        </p:txBody>
      </p:sp>
      <p:sp>
        <p:nvSpPr>
          <p:cNvPr id="29" name="">
            <a:extLst xmlns:a="http://schemas.openxmlformats.org/drawingml/2006/main">
              <a:ext uri="{FF2B5EF4-FFF2-40B4-BE49-F238E27FC236}">
                <a16:creationId xmlns:a16="http://schemas.microsoft.com/office/drawing/2014/main" id="{67CF1CD3-33D1-4063-B0DD-5A009A1D20F6}"/>
              </a:ext>
            </a:extLst>
          </p:cNvPr>
          <p:cNvSpPr>
            <a:spLocks xmlns:a="http://schemas.openxmlformats.org/drawingml/2006/main" noGrp="1"/>
          </p:cNvSpPr>
          <p:nvPr/>
        </p:nvSpPr>
        <p:spPr>
          <a:xfrm xmlns:a="http://schemas.openxmlformats.org/drawingml/2006/main">
            <a:off x="4391025" y="5619750"/>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Roboto"/>
                <a:ea typeface="Roboto"/>
                <a:cs typeface="Roboto"/>
              </a:defRPr>
            </a:pPr>
            <a:r>
              <a:rPr sz="1275" b="1">
                <a:solidFill>
                  <a:srgbClr val="28C7F7"/>
                </a:solidFill>
                <a:latin typeface="Roboto"/>
                <a:ea typeface="Roboto"/>
                <a:cs typeface="Roboto"/>
              </a:rPr>
              <a:t>QA + DEVELOPERS</a:t>
            </a:r>
          </a:p>
        </p:txBody>
      </p:sp>
      <p:sp>
        <p:nvSpPr>
          <p:cNvPr id="30" name="">
            <a:extLst xmlns:a="http://schemas.openxmlformats.org/drawingml/2006/main">
              <a:ext uri="{FF2B5EF4-FFF2-40B4-BE49-F238E27FC236}">
                <a16:creationId xmlns:a16="http://schemas.microsoft.com/office/drawing/2014/main" id="{3E2B601F-3A3B-4C38-A323-A1D8ACF8FA82}"/>
              </a:ext>
            </a:extLst>
          </p:cNvPr>
          <p:cNvSpPr>
            <a:spLocks xmlns:a="http://schemas.openxmlformats.org/drawingml/2006/main" noGrp="1"/>
          </p:cNvSpPr>
          <p:nvPr/>
        </p:nvSpPr>
        <p:spPr>
          <a:xfrm xmlns:a="http://schemas.openxmlformats.org/drawingml/2006/main">
            <a:off x="4391025" y="5857875"/>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Sample, calibrate, compare versions</a:t>
            </a:r>
          </a:p>
        </p:txBody>
      </p:sp>
      <p:sp>
        <p:nvSpPr>
          <p:cNvPr id="31" name="">
            <a:extLst xmlns:a="http://schemas.openxmlformats.org/drawingml/2006/main">
              <a:ext uri="{FF2B5EF4-FFF2-40B4-BE49-F238E27FC236}">
                <a16:creationId xmlns:a16="http://schemas.microsoft.com/office/drawing/2014/main" id="{4121F469-3BB3-4752-ADE7-D855D2A8EF7E}"/>
              </a:ext>
            </a:extLst>
          </p:cNvPr>
          <p:cNvSpPr>
            <a:spLocks xmlns:a="http://schemas.openxmlformats.org/drawingml/2006/main" noGrp="1"/>
          </p:cNvSpPr>
          <p:nvPr/>
        </p:nvSpPr>
        <p:spPr>
          <a:xfrm xmlns:a="http://schemas.openxmlformats.org/drawingml/2006/main">
            <a:off x="8172450" y="5619750"/>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F5B61C"/>
                </a:solidFill>
                <a:latin typeface="Roboto"/>
                <a:ea typeface="Roboto"/>
                <a:cs typeface="Roboto"/>
              </a:defRPr>
            </a:pPr>
            <a:r>
              <a:rPr sz="1275" b="1">
                <a:solidFill>
                  <a:srgbClr val="F5B61C"/>
                </a:solidFill>
                <a:latin typeface="Roboto"/>
                <a:ea typeface="Roboto"/>
                <a:cs typeface="Roboto"/>
              </a:rPr>
              <a:t>RISK / RELEASE OWNER</a:t>
            </a:r>
          </a:p>
        </p:txBody>
      </p:sp>
      <p:sp>
        <p:nvSpPr>
          <p:cNvPr id="32" name="">
            <a:extLst xmlns:a="http://schemas.openxmlformats.org/drawingml/2006/main">
              <a:ext uri="{FF2B5EF4-FFF2-40B4-BE49-F238E27FC236}">
                <a16:creationId xmlns:a16="http://schemas.microsoft.com/office/drawing/2014/main" id="{4DEC3D11-781C-4705-BF04-CB4B32F2D425}"/>
              </a:ext>
            </a:extLst>
          </p:cNvPr>
          <p:cNvSpPr>
            <a:spLocks xmlns:a="http://schemas.openxmlformats.org/drawingml/2006/main" noGrp="1"/>
          </p:cNvSpPr>
          <p:nvPr/>
        </p:nvSpPr>
        <p:spPr>
          <a:xfrm xmlns:a="http://schemas.openxmlformats.org/drawingml/2006/main">
            <a:off x="8172450" y="5857875"/>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Decide acceptability for this scope</a:t>
            </a:r>
          </a:p>
        </p:txBody>
      </p:sp>
      <p:sp>
        <p:nvSpPr>
          <p:cNvPr id="33" name="">
            <a:extLst xmlns:a="http://schemas.openxmlformats.org/drawingml/2006/main">
              <a:ext uri="{FF2B5EF4-FFF2-40B4-BE49-F238E27FC236}">
                <a16:creationId xmlns:a16="http://schemas.microsoft.com/office/drawing/2014/main" id="{4F53DC59-EB65-456E-A5FC-183B1237834F}"/>
              </a:ext>
            </a:extLst>
          </p:cNvPr>
          <p:cNvSpPr>
            <a:spLocks xmlns:a="http://schemas.openxmlformats.org/drawingml/2006/main" noGrp="1"/>
          </p:cNvSpPr>
          <p:nvPr/>
        </p:nvSpPr>
        <p:spPr>
          <a:xfrm xmlns:a="http://schemas.openxmlformats.org/drawingml/2006/main" flipH="0" flipV="0">
            <a:off x="609600" y="6172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2C6CBFA9-4FE5-4201-8415-CD708183CB9A}"/>
              </a:ext>
            </a:extLst>
          </p:cNvPr>
          <p:cNvSpPr>
            <a:spLocks xmlns:a="http://schemas.openxmlformats.org/drawingml/2006/main" noGrp="1"/>
          </p:cNvSpPr>
          <p:nvPr/>
        </p:nvSpPr>
        <p:spPr>
          <a:xfrm xmlns:a="http://schemas.openxmlformats.org/drawingml/2006/main">
            <a:off x="609600" y="62674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Statistics estimate frequency. Business authority decides acceptable consequences.</a:t>
            </a:r>
          </a:p>
        </p:txBody>
      </p:sp>
    </p:spTree>
    <p:extLst>
      <p:ext uri="{BB962C8B-B14F-4D97-AF65-F5344CB8AC3E}">
        <p14:creationId xmlns:p14="http://schemas.microsoft.com/office/powerpoint/2010/main" val="843440048"/>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C4105BC-D4D0-488A-8B1B-2DCFB937F29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DoR / DoD Become Risk Contracts</a:t>
            </a:r>
          </a:p>
        </p:txBody>
      </p:sp>
      <p:sp>
        <p:nvSpPr>
          <p:cNvPr id="2" name="">
            <a:extLst xmlns:a="http://schemas.openxmlformats.org/drawingml/2006/main">
              <a:ext uri="{FF2B5EF4-FFF2-40B4-BE49-F238E27FC236}">
                <a16:creationId xmlns:a16="http://schemas.microsoft.com/office/drawing/2014/main" id="{66FCEED0-220A-4FE6-A4A6-45858916195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F57310B-E684-4B71-BCFB-52FB214A1E3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11</a:t>
            </a:r>
          </a:p>
        </p:txBody>
      </p:sp>
      <p:sp>
        <p:nvSpPr>
          <p:cNvPr id="4" name="">
            <a:extLst xmlns:a="http://schemas.openxmlformats.org/drawingml/2006/main">
              <a:ext uri="{FF2B5EF4-FFF2-40B4-BE49-F238E27FC236}">
                <a16:creationId xmlns:a16="http://schemas.microsoft.com/office/drawing/2014/main" id="{5C13CEFD-A38F-40C9-BDBB-839E0215650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DEVELOPERS · deliver a reproducible evidence and recovery package</a:t>
            </a:r>
          </a:p>
        </p:txBody>
      </p:sp>
      <p:sp>
        <p:nvSpPr>
          <p:cNvPr id="5" name="">
            <a:extLst xmlns:a="http://schemas.openxmlformats.org/drawingml/2006/main">
              <a:ext uri="{FF2B5EF4-FFF2-40B4-BE49-F238E27FC236}">
                <a16:creationId xmlns:a16="http://schemas.microsoft.com/office/drawing/2014/main" id="{B5B2CB33-6913-4F51-8F86-9A9C5686C5E8}"/>
              </a:ext>
            </a:extLst>
          </p:cNvPr>
          <p:cNvSpPr>
            <a:spLocks xmlns:a="http://schemas.openxmlformats.org/drawingml/2006/main" noGrp="1"/>
          </p:cNvSpPr>
          <p:nvPr/>
        </p:nvSpPr>
        <p:spPr>
          <a:xfrm xmlns:a="http://schemas.openxmlformats.org/drawingml/2006/main">
            <a:off x="609600" y="20383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Behavior changes with prompts, models or retrieval, even when application code stays the same.</a:t>
            </a:r>
          </a:p>
        </p:txBody>
      </p:sp>
      <p:graphicFrame>
        <p:nvGraphicFramePr>
          <p:cNvPr id="15" name=""/>
          <p:cNvGraphicFramePr/>
          <p:nvPr/>
        </p:nvGraphicFramePr>
        <p:xfrm>
          <a:off xmlns:a="http://schemas.openxmlformats.org/drawingml/2006/main" x="609600" y="2438400"/>
          <a:ext xmlns:a="http://schemas.openxmlformats.org/drawingml/2006/main" cx="10972800" cy="3124200"/>
        </p:xfrm>
        <a:graphic xmlns:a="http://schemas.openxmlformats.org/drawingml/2006/main">
          <a:graphicData uri="http://schemas.openxmlformats.org/drawingml/2006/table">
            <a:tbl>
              <a:tblPr/>
              <a:tblGrid>
                <a:gridCol w="1466850"/>
                <a:gridCol w="4781550"/>
                <a:gridCol w="4724400"/>
              </a:tblGrid>
              <a:tr h="781050">
                <a:tc>
                  <a:txBody>
                    <a:bodyPr lIns="171450" tIns="66675" rIns="171450" bIns="66675">
                      <a:noAutofit/>
                    </a:bodyPr>
                    <a:lstStyle/>
                    <a:p>
                      <a:r>
                        <a:rPr sz="1575" b="1">
                          <a:solidFill>
                            <a:srgbClr val="F4F7FA"/>
                          </a:solidFill>
                          <a:latin typeface="Roboto"/>
                          <a:ea typeface="Roboto"/>
                          <a:cs typeface="Roboto"/>
                        </a:rPr>
                        <a:t>GATE</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Roboto"/>
                          <a:ea typeface="Roboto"/>
                          <a:cs typeface="Roboto"/>
                        </a:rPr>
                        <a:t>CONCRETE EVIDENCE</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Roboto"/>
                          <a:ea typeface="Roboto"/>
                          <a:cs typeface="Roboto"/>
                        </a:rPr>
                        <a:t>DECISION / OWNER</a:t>
                      </a:r>
                    </a:p>
                  </a:txBody>
                  <a:tcPr marL="91440" marR="91440" marT="45720" marB="45720" anchor="ctr">
                    <a:solidFill>
                      <a:srgbClr val="1A2734"/>
                    </a:solidFill>
                  </a:tcPr>
                </a:tc>
              </a:tr>
              <a:tr h="781050">
                <a:tc>
                  <a:txBody>
                    <a:bodyPr lIns="171450" tIns="66675" rIns="171450" bIns="66675">
                      <a:noAutofit/>
                    </a:bodyPr>
                    <a:lstStyle/>
                    <a:p>
                      <a:r>
                        <a:rPr sz="1575" b="1">
                          <a:solidFill>
                            <a:srgbClr val="F4F7FA"/>
                          </a:solidFill>
                          <a:latin typeface="Roboto"/>
                          <a:ea typeface="Roboto"/>
                          <a:cs typeface="Roboto"/>
                        </a:rPr>
                        <a:t>READY</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Roboto"/>
                          <a:ea typeface="Roboto"/>
                          <a:cs typeface="Roboto"/>
                        </a:rPr>
                        <a:t>Scope, rubric, evaluation plan</a:t>
                      </a:r>
                    </a:p>
                    <a:p>
                      <a:r>
                        <a:rPr sz="1575" b="0">
                          <a:solidFill>
                            <a:srgbClr val="F4F7FA"/>
                          </a:solidFill>
                          <a:latin typeface="Roboto"/>
                          <a:ea typeface="Roboto"/>
                          <a:cs typeface="Roboto"/>
                        </a:rPr>
                        <a:t>Fallback owner + dependencies</a:t>
                      </a:r>
                    </a:p>
                    <a:p>
                      <a:r>
                        <a:rPr sz="1575" b="0">
                          <a:solidFill>
                            <a:srgbClr val="F4F7FA"/>
                          </a:solidFill>
                          <a:latin typeface="Roboto"/>
                          <a:ea typeface="Roboto"/>
                          <a:cs typeface="Roboto"/>
                        </a:rPr>
                        <a:t>Quality, cost and latency budgets</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Roboto"/>
                          <a:ea typeface="Roboto"/>
                          <a:cs typeface="Roboto"/>
                        </a:rPr>
                        <a:t>Product + BA agree criteria</a:t>
                      </a:r>
                    </a:p>
                    <a:p>
                      <a:r>
                        <a:rPr sz="1575" b="0">
                          <a:solidFill>
                            <a:srgbClr val="28C7F7"/>
                          </a:solidFill>
                          <a:latin typeface="Roboto"/>
                          <a:ea typeface="Roboto"/>
                          <a:cs typeface="Roboto"/>
                        </a:rPr>
                        <a:t>Project Manager clears blockers</a:t>
                      </a:r>
                    </a:p>
                  </a:txBody>
                  <a:tcPr marL="91440" marR="91440" marT="45720" marB="45720" anchor="ctr">
                    <a:solidFill>
                      <a:srgbClr val="0B0F14"/>
                    </a:solidFill>
                  </a:tcPr>
                </a:tc>
              </a:tr>
              <a:tr h="781050">
                <a:tc>
                  <a:txBody>
                    <a:bodyPr lIns="171450" tIns="66675" rIns="171450" bIns="66675">
                      <a:noAutofit/>
                    </a:bodyPr>
                    <a:lstStyle/>
                    <a:p>
                      <a:r>
                        <a:rPr sz="1575" b="1">
                          <a:solidFill>
                            <a:srgbClr val="F4F7FA"/>
                          </a:solidFill>
                          <a:latin typeface="Roboto"/>
                          <a:ea typeface="Roboto"/>
                          <a:cs typeface="Roboto"/>
                        </a:rPr>
                        <a:t>DONE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Roboto"/>
                          <a:ea typeface="Roboto"/>
                          <a:cs typeface="Roboto"/>
                        </a:rPr>
                        <a:t>Versioned model / prompt / data</a:t>
                      </a:r>
                    </a:p>
                    <a:p>
                      <a:r>
                        <a:rPr sz="1575" b="0">
                          <a:solidFill>
                            <a:srgbClr val="F4F7FA"/>
                          </a:solidFill>
                          <a:latin typeface="Roboto"/>
                          <a:ea typeface="Roboto"/>
                          <a:cs typeface="Roboto"/>
                        </a:rPr>
                        <a:t>Tests, evals, rollback rehearsal</a:t>
                      </a:r>
                    </a:p>
                    <a:p>
                      <a:r>
                        <a:rPr sz="1575" b="0">
                          <a:solidFill>
                            <a:srgbClr val="F4F7FA"/>
                          </a:solidFill>
                          <a:latin typeface="Roboto"/>
                          <a:ea typeface="Roboto"/>
                          <a:cs typeface="Roboto"/>
                        </a:rPr>
                        <a:t>Coverage, uncertainty, baseline</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Roboto"/>
                          <a:ea typeface="Roboto"/>
                          <a:cs typeface="Roboto"/>
                        </a:rPr>
                        <a:t>Developer + QA verify the build</a:t>
                      </a:r>
                    </a:p>
                    <a:p>
                      <a:r>
                        <a:rPr sz="1575" b="0">
                          <a:solidFill>
                            <a:srgbClr val="28C7F7"/>
                          </a:solidFill>
                          <a:latin typeface="Roboto"/>
                          <a:ea typeface="Roboto"/>
                          <a:cs typeface="Roboto"/>
                        </a:rPr>
                        <a:t>Done does not authorize release</a:t>
                      </a:r>
                    </a:p>
                  </a:txBody>
                  <a:tcPr marL="91440" marR="91440" marT="45720" marB="45720" anchor="ctr">
                    <a:solidFill>
                      <a:srgbClr val="0B0F14"/>
                    </a:solidFill>
                  </a:tcPr>
                </a:tc>
              </a:tr>
              <a:tr h="781050">
                <a:tc>
                  <a:txBody>
                    <a:bodyPr lIns="171450" tIns="66675" rIns="171450" bIns="66675">
                      <a:noAutofit/>
                    </a:bodyPr>
                    <a:lstStyle/>
                    <a:p>
                      <a:r>
                        <a:rPr sz="1575" b="1">
                          <a:solidFill>
                            <a:srgbClr val="F4F7FA"/>
                          </a:solidFill>
                          <a:latin typeface="Roboto"/>
                          <a:ea typeface="Roboto"/>
                          <a:cs typeface="Roboto"/>
                        </a:rPr>
                        <a:t>RELEASE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Roboto"/>
                          <a:ea typeface="Roboto"/>
                          <a:cs typeface="Roboto"/>
                        </a:rPr>
                        <a:t>Population + tool permissions</a:t>
                      </a:r>
                    </a:p>
                    <a:p>
                      <a:r>
                        <a:rPr sz="1575" b="0">
                          <a:solidFill>
                            <a:srgbClr val="F4F7FA"/>
                          </a:solidFill>
                          <a:latin typeface="Roboto"/>
                          <a:ea typeface="Roboto"/>
                          <a:cs typeface="Roboto"/>
                        </a:rPr>
                        <a:t>Residual risk + stop triggers</a:t>
                      </a:r>
                    </a:p>
                    <a:p>
                      <a:r>
                        <a:rPr sz="1575" b="0">
                          <a:solidFill>
                            <a:srgbClr val="F4F7FA"/>
                          </a:solidFill>
                          <a:latin typeface="Roboto"/>
                          <a:ea typeface="Roboto"/>
                          <a:cs typeface="Roboto"/>
                        </a:rPr>
                        <a:t>Block, canary or scoped release</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Roboto"/>
                          <a:ea typeface="Roboto"/>
                          <a:cs typeface="Roboto"/>
                        </a:rPr>
                        <a:t>Authorized owner accepts scope</a:t>
                      </a:r>
                    </a:p>
                    <a:p>
                      <a:r>
                        <a:rPr sz="1575" b="0">
                          <a:solidFill>
                            <a:srgbClr val="28C7F7"/>
                          </a:solidFill>
                          <a:latin typeface="Roboto"/>
                          <a:ea typeface="Roboto"/>
                          <a:cs typeface="Roboto"/>
                        </a:rPr>
                        <a:t>Or narrows, defers, rejects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80621E57-4391-46DC-A8E1-A20B170ACFAB}"/>
              </a:ext>
            </a:extLst>
          </p:cNvPr>
          <p:cNvSpPr>
            <a:spLocks xmlns:a="http://schemas.openxmlformats.org/drawingml/2006/main" noGrp="1"/>
          </p:cNvSpPr>
          <p:nvPr/>
        </p:nvSpPr>
        <p:spPr>
          <a:xfrm xmlns:a="http://schemas.openxmlformats.org/drawingml/2006/main">
            <a:off x="609600" y="56483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Valid JSON can still contain an incorrect instruction.</a:t>
            </a:r>
          </a:p>
        </p:txBody>
      </p:sp>
      <p:sp>
        <p:nvSpPr>
          <p:cNvPr id="8" name="">
            <a:extLst xmlns:a="http://schemas.openxmlformats.org/drawingml/2006/main">
              <a:ext uri="{FF2B5EF4-FFF2-40B4-BE49-F238E27FC236}">
                <a16:creationId xmlns:a16="http://schemas.microsoft.com/office/drawing/2014/main" id="{3B528AE5-5397-4B1B-AD21-9A63DAAA4188}"/>
              </a:ext>
            </a:extLst>
          </p:cNvPr>
          <p:cNvSpPr>
            <a:spLocks xmlns:a="http://schemas.openxmlformats.org/drawingml/2006/main" noGrp="1"/>
          </p:cNvSpPr>
          <p:nvPr/>
        </p:nvSpPr>
        <p:spPr>
          <a:xfrm xmlns:a="http://schemas.openxmlformats.org/drawingml/2006/main">
            <a:off x="609600" y="59817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IT assistant: approved sources → traceable build → restricted rollout + manual fallback.</a:t>
            </a:r>
          </a:p>
        </p:txBody>
      </p:sp>
      <p:sp>
        <p:nvSpPr>
          <p:cNvPr id="9" name="">
            <a:extLst xmlns:a="http://schemas.openxmlformats.org/drawingml/2006/main">
              <a:ext uri="{FF2B5EF4-FFF2-40B4-BE49-F238E27FC236}">
                <a16:creationId xmlns:a16="http://schemas.microsoft.com/office/drawing/2014/main" id="{D11DFFAF-2B35-401D-A413-4F11A75AE85A}"/>
              </a:ext>
            </a:extLst>
          </p:cNvPr>
          <p:cNvSpPr>
            <a:spLocks xmlns:a="http://schemas.openxmlformats.org/drawingml/2006/main" noGrp="1"/>
          </p:cNvSpPr>
          <p:nvPr/>
        </p:nvSpPr>
        <p:spPr>
          <a:xfrm xmlns:a="http://schemas.openxmlformats.org/drawingml/2006/main">
            <a:off x="609600" y="6324600"/>
            <a:ext cx="1064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Roboto"/>
                <a:ea typeface="Roboto"/>
                <a:cs typeface="Roboto"/>
              </a:defRPr>
            </a:pPr>
            <a:r>
              <a:rPr sz="1950" b="1">
                <a:solidFill>
                  <a:srgbClr val="F4F7FA"/>
                </a:solidFill>
                <a:latin typeface="Roboto"/>
                <a:ea typeface="Roboto"/>
                <a:cs typeface="Roboto"/>
              </a:rPr>
              <a:t>“Done” is an evidence package. Release is a separate, scoped decision.</a:t>
            </a:r>
          </a:p>
        </p:txBody>
      </p:sp>
    </p:spTree>
    <p:extLst>
      <p:ext uri="{BB962C8B-B14F-4D97-AF65-F5344CB8AC3E}">
        <p14:creationId xmlns:p14="http://schemas.microsoft.com/office/powerpoint/2010/main" val="1215168919"/>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8195134E-90C0-40C2-BB7E-04E90C4EFDF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Production Needs a Control Loop</a:t>
            </a:r>
          </a:p>
        </p:txBody>
      </p:sp>
      <p:sp>
        <p:nvSpPr>
          <p:cNvPr id="2" name="">
            <a:extLst xmlns:a="http://schemas.openxmlformats.org/drawingml/2006/main">
              <a:ext uri="{FF2B5EF4-FFF2-40B4-BE49-F238E27FC236}">
                <a16:creationId xmlns:a16="http://schemas.microsoft.com/office/drawing/2014/main" id="{9D3103DF-A86A-4584-8CDC-21957918B8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A60FE6C-116A-45B0-9915-5DB82F0CD66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12</a:t>
            </a:r>
          </a:p>
        </p:txBody>
      </p:sp>
      <p:sp>
        <p:nvSpPr>
          <p:cNvPr id="4" name="">
            <a:extLst xmlns:a="http://schemas.openxmlformats.org/drawingml/2006/main">
              <a:ext uri="{FF2B5EF4-FFF2-40B4-BE49-F238E27FC236}">
                <a16:creationId xmlns:a16="http://schemas.microsoft.com/office/drawing/2014/main" id="{16AA9149-0709-4708-9DD0-8BF16D989C4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ARCHITECT · make boundaries and corrective actions operational</a:t>
            </a:r>
          </a:p>
        </p:txBody>
      </p:sp>
      <p:sp>
        <p:nvSpPr>
          <p:cNvPr id="5" name="">
            <a:extLst xmlns:a="http://schemas.openxmlformats.org/drawingml/2006/main">
              <a:ext uri="{FF2B5EF4-FFF2-40B4-BE49-F238E27FC236}">
                <a16:creationId xmlns:a16="http://schemas.microsoft.com/office/drawing/2014/main" id="{322C47E8-8EAF-48E5-BF43-773981594D45}"/>
              </a:ext>
            </a:extLst>
          </p:cNvPr>
          <p:cNvSpPr>
            <a:spLocks xmlns:a="http://schemas.openxmlformats.org/drawingml/2006/main" noGrp="1"/>
          </p:cNvSpPr>
          <p:nvPr/>
        </p:nvSpPr>
        <p:spPr>
          <a:xfrm xmlns:a="http://schemas.openxmlformats.org/drawingml/2006/main">
            <a:off x="609600" y="205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Allowlist + required approval; deny when the gate is unavailable.</a:t>
            </a:r>
          </a:p>
        </p:txBody>
      </p:sp>
      <p:sp>
        <p:nvSpPr>
          <p:cNvPr id="6" name="">
            <a:extLst xmlns:a="http://schemas.openxmlformats.org/drawingml/2006/main">
              <a:ext uri="{FF2B5EF4-FFF2-40B4-BE49-F238E27FC236}">
                <a16:creationId xmlns:a16="http://schemas.microsoft.com/office/drawing/2014/main" id="{B2D71B0F-AF11-4F71-BD20-16CC7D2A5976}"/>
              </a:ext>
            </a:extLst>
          </p:cNvPr>
          <p:cNvSpPr>
            <a:spLocks xmlns:a="http://schemas.openxmlformats.org/drawingml/2006/main" noGrp="1"/>
          </p:cNvSpPr>
          <p:nvPr/>
        </p:nvSpPr>
        <p:spPr>
          <a:xfrm xmlns:a="http://schemas.openxmlformats.org/drawingml/2006/main">
            <a:off x="609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BB67BEEA-464C-44F7-BBE3-29B9EFA489C3}"/>
              </a:ext>
            </a:extLst>
          </p:cNvPr>
          <p:cNvSpPr>
            <a:spLocks xmlns:a="http://schemas.openxmlformats.org/drawingml/2006/main" noGrp="1"/>
          </p:cNvSpPr>
          <p:nvPr/>
        </p:nvSpPr>
        <p:spPr>
          <a:xfrm xmlns:a="http://schemas.openxmlformats.org/drawingml/2006/main">
            <a:off x="723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Approved context</a:t>
            </a:r>
          </a:p>
        </p:txBody>
      </p:sp>
      <p:sp>
        <p:nvSpPr>
          <p:cNvPr id="8" name="">
            <a:extLst xmlns:a="http://schemas.openxmlformats.org/drawingml/2006/main">
              <a:ext uri="{FF2B5EF4-FFF2-40B4-BE49-F238E27FC236}">
                <a16:creationId xmlns:a16="http://schemas.microsoft.com/office/drawing/2014/main" id="{3A51F3FC-05A0-42A5-A727-A970B6438FFA}"/>
              </a:ext>
            </a:extLst>
          </p:cNvPr>
          <p:cNvSpPr>
            <a:spLocks xmlns:a="http://schemas.openxmlformats.org/drawingml/2006/main" noGrp="1"/>
          </p:cNvSpPr>
          <p:nvPr/>
        </p:nvSpPr>
        <p:spPr>
          <a:xfrm xmlns:a="http://schemas.openxmlformats.org/drawingml/2006/main">
            <a:off x="3467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9654680-967E-4E09-8E96-7CF02C0985A8}"/>
              </a:ext>
            </a:extLst>
          </p:cNvPr>
          <p:cNvSpPr>
            <a:spLocks xmlns:a="http://schemas.openxmlformats.org/drawingml/2006/main" noGrp="1"/>
          </p:cNvSpPr>
          <p:nvPr/>
        </p:nvSpPr>
        <p:spPr>
          <a:xfrm xmlns:a="http://schemas.openxmlformats.org/drawingml/2006/main">
            <a:off x="3581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Model proposal</a:t>
            </a:r>
          </a:p>
        </p:txBody>
      </p:sp>
      <p:sp>
        <p:nvSpPr>
          <p:cNvPr id="10" name="">
            <a:extLst xmlns:a="http://schemas.openxmlformats.org/drawingml/2006/main">
              <a:ext uri="{FF2B5EF4-FFF2-40B4-BE49-F238E27FC236}">
                <a16:creationId xmlns:a16="http://schemas.microsoft.com/office/drawing/2014/main" id="{F051C155-23EC-481E-B4AB-0175A4A51BE8}"/>
              </a:ext>
            </a:extLst>
          </p:cNvPr>
          <p:cNvSpPr>
            <a:spLocks xmlns:a="http://schemas.openxmlformats.org/drawingml/2006/main" noGrp="1"/>
          </p:cNvSpPr>
          <p:nvPr/>
        </p:nvSpPr>
        <p:spPr>
          <a:xfrm xmlns:a="http://schemas.openxmlformats.org/drawingml/2006/main">
            <a:off x="6324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F5508DC2-7D69-4B9E-B0BB-3332CCEF6922}"/>
              </a:ext>
            </a:extLst>
          </p:cNvPr>
          <p:cNvSpPr>
            <a:spLocks xmlns:a="http://schemas.openxmlformats.org/drawingml/2006/main" noGrp="1"/>
          </p:cNvSpPr>
          <p:nvPr/>
        </p:nvSpPr>
        <p:spPr>
          <a:xfrm xmlns:a="http://schemas.openxmlformats.org/drawingml/2006/main">
            <a:off x="6438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Permission gate</a:t>
            </a:r>
          </a:p>
        </p:txBody>
      </p:sp>
      <p:sp>
        <p:nvSpPr>
          <p:cNvPr id="12" name="">
            <a:extLst xmlns:a="http://schemas.openxmlformats.org/drawingml/2006/main">
              <a:ext uri="{FF2B5EF4-FFF2-40B4-BE49-F238E27FC236}">
                <a16:creationId xmlns:a16="http://schemas.microsoft.com/office/drawing/2014/main" id="{28B37610-185E-4B97-8BC0-D5C6A15E55F9}"/>
              </a:ext>
            </a:extLst>
          </p:cNvPr>
          <p:cNvSpPr>
            <a:spLocks xmlns:a="http://schemas.openxmlformats.org/drawingml/2006/main" noGrp="1"/>
          </p:cNvSpPr>
          <p:nvPr/>
        </p:nvSpPr>
        <p:spPr>
          <a:xfrm xmlns:a="http://schemas.openxmlformats.org/drawingml/2006/main">
            <a:off x="9182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E684E6C3-AAB2-409A-A465-DCCAA8DEB7AB}"/>
              </a:ext>
            </a:extLst>
          </p:cNvPr>
          <p:cNvSpPr>
            <a:spLocks xmlns:a="http://schemas.openxmlformats.org/drawingml/2006/main" noGrp="1"/>
          </p:cNvSpPr>
          <p:nvPr/>
        </p:nvSpPr>
        <p:spPr>
          <a:xfrm xmlns:a="http://schemas.openxmlformats.org/drawingml/2006/main">
            <a:off x="9296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Support tool</a:t>
            </a:r>
          </a:p>
        </p:txBody>
      </p:sp>
      <p:cxnSp>
        <p:nvCxnSpPr>
          <p:cNvPr id="52" name=""/>
          <p:cNvCxnSpPr>
            <a:stCxn xmlns:a="http://schemas.openxmlformats.org/drawingml/2006/main" id="6" idx="3"/>
            <a:endCxn xmlns:a="http://schemas.openxmlformats.org/drawingml/2006/main" id="8" idx="1"/>
          </p:cNvCxnSpPr>
          <p:nvPr/>
        </p:nvCxnSpPr>
        <p:spPr>
          <a:xfrm xmlns:a="http://schemas.openxmlformats.org/drawingml/2006/main">
            <a:off x="3009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3" name=""/>
          <p:cNvCxnSpPr>
            <a:stCxn xmlns:a="http://schemas.openxmlformats.org/drawingml/2006/main" id="8" idx="3"/>
            <a:endCxn xmlns:a="http://schemas.openxmlformats.org/drawingml/2006/main" id="10" idx="1"/>
          </p:cNvCxnSpPr>
          <p:nvPr/>
        </p:nvCxnSpPr>
        <p:spPr>
          <a:xfrm xmlns:a="http://schemas.openxmlformats.org/drawingml/2006/main">
            <a:off x="58674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4" name=""/>
          <p:cNvCxnSpPr>
            <a:stCxn xmlns:a="http://schemas.openxmlformats.org/drawingml/2006/main" id="10" idx="3"/>
            <a:endCxn xmlns:a="http://schemas.openxmlformats.org/drawingml/2006/main" id="12" idx="1"/>
          </p:cNvCxnSpPr>
          <p:nvPr/>
        </p:nvCxnSpPr>
        <p:spPr>
          <a:xfrm xmlns:a="http://schemas.openxmlformats.org/drawingml/2006/main">
            <a:off x="8724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D78AF184-CFAB-447B-9690-B38ECE3A4CCE}"/>
              </a:ext>
            </a:extLst>
          </p:cNvPr>
          <p:cNvSpPr>
            <a:spLocks xmlns:a="http://schemas.openxmlformats.org/drawingml/2006/main" noGrp="1"/>
          </p:cNvSpPr>
          <p:nvPr/>
        </p:nvSpPr>
        <p:spPr>
          <a:xfrm xmlns:a="http://schemas.openxmlformats.org/drawingml/2006/main">
            <a:off x="609600" y="3400425"/>
            <a:ext cx="2609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Roboto"/>
                <a:ea typeface="Roboto"/>
                <a:cs typeface="Roboto"/>
              </a:defRPr>
            </a:pPr>
            <a:r>
              <a:rPr sz="1350" b="1">
                <a:solidFill>
                  <a:srgbClr val="28C7F7"/>
                </a:solidFill>
                <a:latin typeface="Roboto"/>
                <a:ea typeface="Roboto"/>
                <a:cs typeface="Roboto"/>
              </a:rPr>
              <a:t>ARCHITECTURE ALSO OWNS</a:t>
            </a:r>
          </a:p>
        </p:txBody>
      </p:sp>
      <p:sp>
        <p:nvSpPr>
          <p:cNvPr id="18" name="">
            <a:extLst xmlns:a="http://schemas.openxmlformats.org/drawingml/2006/main">
              <a:ext uri="{FF2B5EF4-FFF2-40B4-BE49-F238E27FC236}">
                <a16:creationId xmlns:a16="http://schemas.microsoft.com/office/drawing/2014/main" id="{799A0CB5-F0C7-4A68-908F-435A8D00BA84}"/>
              </a:ext>
            </a:extLst>
          </p:cNvPr>
          <p:cNvSpPr>
            <a:spLocks xmlns:a="http://schemas.openxmlformats.org/drawingml/2006/main" noGrp="1"/>
          </p:cNvSpPr>
          <p:nvPr/>
        </p:nvSpPr>
        <p:spPr>
          <a:xfrm xmlns:a="http://schemas.openxmlformats.org/drawingml/2006/main">
            <a:off x="609600" y="3695700"/>
            <a:ext cx="260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Provider changes and isolation</a:t>
            </a:r>
          </a:p>
        </p:txBody>
      </p:sp>
      <p:sp>
        <p:nvSpPr>
          <p:cNvPr id="19" name="">
            <a:extLst xmlns:a="http://schemas.openxmlformats.org/drawingml/2006/main">
              <a:ext uri="{FF2B5EF4-FFF2-40B4-BE49-F238E27FC236}">
                <a16:creationId xmlns:a16="http://schemas.microsoft.com/office/drawing/2014/main" id="{59E90FC7-54B5-4B5D-B932-516EDF30201B}"/>
              </a:ext>
            </a:extLst>
          </p:cNvPr>
          <p:cNvSpPr>
            <a:spLocks xmlns:a="http://schemas.openxmlformats.org/drawingml/2006/main" noGrp="1"/>
          </p:cNvSpPr>
          <p:nvPr/>
        </p:nvSpPr>
        <p:spPr>
          <a:xfrm xmlns:a="http://schemas.openxmlformats.org/drawingml/2006/main">
            <a:off x="609600" y="4019550"/>
            <a:ext cx="260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Human response capacity</a:t>
            </a:r>
          </a:p>
        </p:txBody>
      </p:sp>
      <p:sp>
        <p:nvSpPr>
          <p:cNvPr id="20" name="">
            <a:extLst xmlns:a="http://schemas.openxmlformats.org/drawingml/2006/main">
              <a:ext uri="{FF2B5EF4-FFF2-40B4-BE49-F238E27FC236}">
                <a16:creationId xmlns:a16="http://schemas.microsoft.com/office/drawing/2014/main" id="{FF3B1614-600A-484E-8914-726FBD23D9D4}"/>
              </a:ext>
            </a:extLst>
          </p:cNvPr>
          <p:cNvSpPr>
            <a:spLocks xmlns:a="http://schemas.openxmlformats.org/drawingml/2006/main" noGrp="1"/>
          </p:cNvSpPr>
          <p:nvPr/>
        </p:nvSpPr>
        <p:spPr>
          <a:xfrm xmlns:a="http://schemas.openxmlformats.org/drawingml/2006/main">
            <a:off x="609600" y="4343400"/>
            <a:ext cx="260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Fallible semantic checks</a:t>
            </a:r>
          </a:p>
        </p:txBody>
      </p:sp>
      <p:sp>
        <p:nvSpPr>
          <p:cNvPr id="21" name="">
            <a:extLst xmlns:a="http://schemas.openxmlformats.org/drawingml/2006/main">
              <a:ext uri="{FF2B5EF4-FFF2-40B4-BE49-F238E27FC236}">
                <a16:creationId xmlns:a16="http://schemas.microsoft.com/office/drawing/2014/main" id="{98DBAC77-0FCF-4F06-B5BB-59BE60184A68}"/>
              </a:ext>
            </a:extLst>
          </p:cNvPr>
          <p:cNvSpPr>
            <a:spLocks xmlns:a="http://schemas.openxmlformats.org/drawingml/2006/main" noGrp="1"/>
          </p:cNvSpPr>
          <p:nvPr/>
        </p:nvSpPr>
        <p:spPr>
          <a:xfrm xmlns:a="http://schemas.openxmlformats.org/drawingml/2006/main">
            <a:off x="6324600" y="3543300"/>
            <a:ext cx="2400300" cy="3619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22" name="">
            <a:extLst xmlns:a="http://schemas.openxmlformats.org/drawingml/2006/main">
              <a:ext uri="{FF2B5EF4-FFF2-40B4-BE49-F238E27FC236}">
                <a16:creationId xmlns:a16="http://schemas.microsoft.com/office/drawing/2014/main" id="{43901F42-A3B6-4972-8D86-3E2521386D7E}"/>
              </a:ext>
            </a:extLst>
          </p:cNvPr>
          <p:cNvSpPr>
            <a:spLocks xmlns:a="http://schemas.openxmlformats.org/drawingml/2006/main" noGrp="1"/>
          </p:cNvSpPr>
          <p:nvPr/>
        </p:nvSpPr>
        <p:spPr>
          <a:xfrm xmlns:a="http://schemas.openxmlformats.org/drawingml/2006/main">
            <a:off x="6438900" y="3619500"/>
            <a:ext cx="2171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Approved limits</a:t>
            </a:r>
          </a:p>
        </p:txBody>
      </p:sp>
      <p:sp>
        <p:nvSpPr>
          <p:cNvPr id="23" name="">
            <a:extLst xmlns:a="http://schemas.openxmlformats.org/drawingml/2006/main">
              <a:ext uri="{FF2B5EF4-FFF2-40B4-BE49-F238E27FC236}">
                <a16:creationId xmlns:a16="http://schemas.microsoft.com/office/drawing/2014/main" id="{A15DEE46-9DA6-4207-9685-EBB74987B7C6}"/>
              </a:ext>
            </a:extLst>
          </p:cNvPr>
          <p:cNvSpPr>
            <a:spLocks xmlns:a="http://schemas.openxmlformats.org/drawingml/2006/main" noGrp="1"/>
          </p:cNvSpPr>
          <p:nvPr/>
        </p:nvSpPr>
        <p:spPr>
          <a:xfrm xmlns:a="http://schemas.openxmlformats.org/drawingml/2006/main">
            <a:off x="9182100" y="4229100"/>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4" name="">
            <a:extLst xmlns:a="http://schemas.openxmlformats.org/drawingml/2006/main">
              <a:ext uri="{FF2B5EF4-FFF2-40B4-BE49-F238E27FC236}">
                <a16:creationId xmlns:a16="http://schemas.microsoft.com/office/drawing/2014/main" id="{3339EF18-EF41-4219-A37C-84AF99659032}"/>
              </a:ext>
            </a:extLst>
          </p:cNvPr>
          <p:cNvSpPr>
            <a:spLocks xmlns:a="http://schemas.openxmlformats.org/drawingml/2006/main" noGrp="1"/>
          </p:cNvSpPr>
          <p:nvPr/>
        </p:nvSpPr>
        <p:spPr>
          <a:xfrm xmlns:a="http://schemas.openxmlformats.org/drawingml/2006/main">
            <a:off x="9296400" y="4305300"/>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Observe</a:t>
            </a:r>
          </a:p>
        </p:txBody>
      </p:sp>
      <p:sp>
        <p:nvSpPr>
          <p:cNvPr id="25" name="">
            <a:extLst xmlns:a="http://schemas.openxmlformats.org/drawingml/2006/main">
              <a:ext uri="{FF2B5EF4-FFF2-40B4-BE49-F238E27FC236}">
                <a16:creationId xmlns:a16="http://schemas.microsoft.com/office/drawing/2014/main" id="{DDC69DB0-E866-46F9-A183-C1F92299E603}"/>
              </a:ext>
            </a:extLst>
          </p:cNvPr>
          <p:cNvSpPr>
            <a:spLocks xmlns:a="http://schemas.openxmlformats.org/drawingml/2006/main" noGrp="1"/>
          </p:cNvSpPr>
          <p:nvPr/>
        </p:nvSpPr>
        <p:spPr>
          <a:xfrm xmlns:a="http://schemas.openxmlformats.org/drawingml/2006/main">
            <a:off x="6324600" y="4229100"/>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96D85496-4F30-45AF-A0FA-CBF9CD705F51}"/>
              </a:ext>
            </a:extLst>
          </p:cNvPr>
          <p:cNvSpPr>
            <a:spLocks xmlns:a="http://schemas.openxmlformats.org/drawingml/2006/main" noGrp="1"/>
          </p:cNvSpPr>
          <p:nvPr/>
        </p:nvSpPr>
        <p:spPr>
          <a:xfrm xmlns:a="http://schemas.openxmlformats.org/drawingml/2006/main">
            <a:off x="6438900" y="4305300"/>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Compare / authorize</a:t>
            </a:r>
          </a:p>
        </p:txBody>
      </p:sp>
      <p:sp>
        <p:nvSpPr>
          <p:cNvPr id="27" name="">
            <a:extLst xmlns:a="http://schemas.openxmlformats.org/drawingml/2006/main">
              <a:ext uri="{FF2B5EF4-FFF2-40B4-BE49-F238E27FC236}">
                <a16:creationId xmlns:a16="http://schemas.microsoft.com/office/drawing/2014/main" id="{7CC5BA4B-4198-4A30-BAA1-FBE451716206}"/>
              </a:ext>
            </a:extLst>
          </p:cNvPr>
          <p:cNvSpPr>
            <a:spLocks xmlns:a="http://schemas.openxmlformats.org/drawingml/2006/main" noGrp="1"/>
          </p:cNvSpPr>
          <p:nvPr/>
        </p:nvSpPr>
        <p:spPr>
          <a:xfrm xmlns:a="http://schemas.openxmlformats.org/drawingml/2006/main">
            <a:off x="3467100" y="4229100"/>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6CAF1378-ED69-4467-B84A-D1D06081C1EF}"/>
              </a:ext>
            </a:extLst>
          </p:cNvPr>
          <p:cNvSpPr>
            <a:spLocks xmlns:a="http://schemas.openxmlformats.org/drawingml/2006/main" noGrp="1"/>
          </p:cNvSpPr>
          <p:nvPr/>
        </p:nvSpPr>
        <p:spPr>
          <a:xfrm xmlns:a="http://schemas.openxmlformats.org/drawingml/2006/main">
            <a:off x="3581400" y="4305300"/>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Apply correction</a:t>
            </a:r>
          </a:p>
        </p:txBody>
      </p:sp>
      <p:cxnSp>
        <p:nvCxnSpPr>
          <p:cNvPr id="67" name=""/>
          <p:cNvCxnSpPr>
            <a:stCxn xmlns:a="http://schemas.openxmlformats.org/drawingml/2006/main" id="12" idx="2"/>
            <a:endCxn xmlns:a="http://schemas.openxmlformats.org/drawingml/2006/main" id="23" idx="0"/>
          </p:cNvCxnSpPr>
          <p:nvPr/>
        </p:nvCxnSpPr>
        <p:spPr>
          <a:xfrm xmlns:a="http://schemas.openxmlformats.org/drawingml/2006/main">
            <a:off x="10382250" y="3143250"/>
            <a:ext cx="0" cy="10858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8" name=""/>
          <p:cNvCxnSpPr>
            <a:stCxn xmlns:a="http://schemas.openxmlformats.org/drawingml/2006/main" id="23" idx="1"/>
            <a:endCxn xmlns:a="http://schemas.openxmlformats.org/drawingml/2006/main" id="25" idx="3"/>
          </p:cNvCxnSpPr>
          <p:nvPr/>
        </p:nvCxnSpPr>
        <p:spPr>
          <a:xfrm xmlns:a="http://schemas.openxmlformats.org/drawingml/2006/main" flipH="1">
            <a:off x="8724900" y="45148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9" name=""/>
          <p:cNvCxnSpPr>
            <a:stCxn xmlns:a="http://schemas.openxmlformats.org/drawingml/2006/main" id="21" idx="2"/>
            <a:endCxn xmlns:a="http://schemas.openxmlformats.org/drawingml/2006/main" id="25" idx="0"/>
          </p:cNvCxnSpPr>
          <p:nvPr/>
        </p:nvCxnSpPr>
        <p:spPr>
          <a:xfrm xmlns:a="http://schemas.openxmlformats.org/drawingml/2006/main">
            <a:off x="7524750" y="3905250"/>
            <a:ext cx="0" cy="32385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0" name=""/>
          <p:cNvCxnSpPr>
            <a:stCxn xmlns:a="http://schemas.openxmlformats.org/drawingml/2006/main" id="25" idx="1"/>
            <a:endCxn xmlns:a="http://schemas.openxmlformats.org/drawingml/2006/main" id="27" idx="3"/>
          </p:cNvCxnSpPr>
          <p:nvPr/>
        </p:nvCxnSpPr>
        <p:spPr>
          <a:xfrm xmlns:a="http://schemas.openxmlformats.org/drawingml/2006/main" flipH="1">
            <a:off x="5867400" y="45148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1" name=""/>
          <p:cNvCxnSpPr>
            <a:stCxn xmlns:a="http://schemas.openxmlformats.org/drawingml/2006/main" id="27" idx="0"/>
            <a:endCxn xmlns:a="http://schemas.openxmlformats.org/drawingml/2006/main" id="8" idx="2"/>
          </p:cNvCxnSpPr>
          <p:nvPr/>
        </p:nvCxnSpPr>
        <p:spPr>
          <a:xfrm xmlns:a="http://schemas.openxmlformats.org/drawingml/2006/main" flipV="1">
            <a:off x="4667250" y="3143250"/>
            <a:ext cx="0" cy="10858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9EB6DF52-B5D6-40E0-BB63-B88C20ED3102}"/>
              </a:ext>
            </a:extLst>
          </p:cNvPr>
          <p:cNvSpPr>
            <a:spLocks xmlns:a="http://schemas.openxmlformats.org/drawingml/2006/main" noGrp="1"/>
          </p:cNvSpPr>
          <p:nvPr/>
        </p:nvSpPr>
        <p:spPr>
          <a:xfrm xmlns:a="http://schemas.openxmlformats.org/drawingml/2006/main">
            <a:off x="609600" y="49434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Rollback / disable tool / manual fallback · inside delegated authority</a:t>
            </a:r>
          </a:p>
        </p:txBody>
      </p:sp>
      <p:sp>
        <p:nvSpPr>
          <p:cNvPr id="35" name="">
            <a:extLst xmlns:a="http://schemas.openxmlformats.org/drawingml/2006/main">
              <a:ext uri="{FF2B5EF4-FFF2-40B4-BE49-F238E27FC236}">
                <a16:creationId xmlns:a16="http://schemas.microsoft.com/office/drawing/2014/main" id="{3CD9056D-7C34-4953-9B37-D33537104C7B}"/>
              </a:ext>
            </a:extLst>
          </p:cNvPr>
          <p:cNvSpPr>
            <a:spLocks xmlns:a="http://schemas.openxmlformats.org/drawingml/2006/main" noGrp="1"/>
          </p:cNvSpPr>
          <p:nvPr/>
        </p:nvSpPr>
        <p:spPr>
          <a:xfrm xmlns:a="http://schemas.openxmlformats.org/drawingml/2006/main">
            <a:off x="609600" y="52768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Observe outcomes + gate health. Verify that the corrective action took effect.</a:t>
            </a:r>
          </a:p>
        </p:txBody>
      </p:sp>
      <p:sp>
        <p:nvSpPr>
          <p:cNvPr id="36" name="">
            <a:extLst xmlns:a="http://schemas.openxmlformats.org/drawingml/2006/main">
              <a:ext uri="{FF2B5EF4-FFF2-40B4-BE49-F238E27FC236}">
                <a16:creationId xmlns:a16="http://schemas.microsoft.com/office/drawing/2014/main" id="{96685751-601F-4849-B518-14CC21588C09}"/>
              </a:ext>
            </a:extLst>
          </p:cNvPr>
          <p:cNvSpPr>
            <a:spLocks xmlns:a="http://schemas.openxmlformats.org/drawingml/2006/main" noGrp="1"/>
          </p:cNvSpPr>
          <p:nvPr/>
        </p:nvSpPr>
        <p:spPr>
          <a:xfrm xmlns:a="http://schemas.openxmlformats.org/drawingml/2006/main">
            <a:off x="609600" y="56197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If control or viable cost cannot be demonstrated, narrow the scope or stop this AI path.</a:t>
            </a:r>
          </a:p>
        </p:txBody>
      </p:sp>
      <p:sp>
        <p:nvSpPr>
          <p:cNvPr id="37" name="">
            <a:extLst xmlns:a="http://schemas.openxmlformats.org/drawingml/2006/main">
              <a:ext uri="{FF2B5EF4-FFF2-40B4-BE49-F238E27FC236}">
                <a16:creationId xmlns:a16="http://schemas.microsoft.com/office/drawing/2014/main" id="{1AB38786-9F4A-454F-9356-1B77B6585EA1}"/>
              </a:ext>
            </a:extLst>
          </p:cNvPr>
          <p:cNvSpPr>
            <a:spLocks xmlns:a="http://schemas.openxmlformats.org/drawingml/2006/main" noGrp="1"/>
          </p:cNvSpPr>
          <p:nvPr/>
        </p:nvSpPr>
        <p:spPr>
          <a:xfrm xmlns:a="http://schemas.openxmlformats.org/drawingml/2006/main" flipH="0" flipV="0">
            <a:off x="609600" y="6086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3191BA4C-D296-4572-9283-B8867A6756BC}"/>
              </a:ext>
            </a:extLst>
          </p:cNvPr>
          <p:cNvSpPr>
            <a:spLocks xmlns:a="http://schemas.openxmlformats.org/drawingml/2006/main" noGrp="1"/>
          </p:cNvSpPr>
          <p:nvPr/>
        </p:nvSpPr>
        <p:spPr>
          <a:xfrm xmlns:a="http://schemas.openxmlformats.org/drawingml/2006/main">
            <a:off x="609600" y="6181725"/>
            <a:ext cx="106489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Roboto"/>
                <a:ea typeface="Roboto"/>
                <a:cs typeface="Roboto"/>
              </a:defRPr>
            </a:pPr>
            <a:r>
              <a:rPr sz="1950" b="1">
                <a:solidFill>
                  <a:srgbClr val="F4F7FA"/>
                </a:solidFill>
                <a:latin typeface="Roboto"/>
                <a:ea typeface="Roboto"/>
                <a:cs typeface="Roboto"/>
              </a:rPr>
              <a:t>A dashboard sees a problem. An authorized control path can change operation.</a:t>
            </a:r>
          </a:p>
        </p:txBody>
      </p:sp>
    </p:spTree>
    <p:extLst>
      <p:ext uri="{BB962C8B-B14F-4D97-AF65-F5344CB8AC3E}">
        <p14:creationId xmlns:p14="http://schemas.microsoft.com/office/powerpoint/2010/main" val="159482016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AAA680C-4C53-4A23-B4D3-3F1D2E03BA8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Roles Move With the System</a:t>
            </a:r>
          </a:p>
        </p:txBody>
      </p:sp>
      <p:sp>
        <p:nvSpPr>
          <p:cNvPr id="2" name="">
            <a:extLst xmlns:a="http://schemas.openxmlformats.org/drawingml/2006/main">
              <a:ext uri="{FF2B5EF4-FFF2-40B4-BE49-F238E27FC236}">
                <a16:creationId xmlns:a16="http://schemas.microsoft.com/office/drawing/2014/main" id="{ABBEB8F6-DE6A-4B0E-9048-3DBE0ED1394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92710D3-0B7D-450A-A440-84AD8262244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13</a:t>
            </a:r>
          </a:p>
        </p:txBody>
      </p:sp>
      <p:sp>
        <p:nvSpPr>
          <p:cNvPr id="4" name="">
            <a:extLst xmlns:a="http://schemas.openxmlformats.org/drawingml/2006/main">
              <a:ext uri="{FF2B5EF4-FFF2-40B4-BE49-F238E27FC236}">
                <a16:creationId xmlns:a16="http://schemas.microsoft.com/office/drawing/2014/main" id="{D146A858-D218-4830-8E9D-168C61B2CC07}"/>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PROJECT MANAGER · manage the learning loop as well as delivery</a:t>
            </a:r>
          </a:p>
        </p:txBody>
      </p:sp>
      <p:sp>
        <p:nvSpPr>
          <p:cNvPr id="5" name="">
            <a:extLst xmlns:a="http://schemas.openxmlformats.org/drawingml/2006/main">
              <a:ext uri="{FF2B5EF4-FFF2-40B4-BE49-F238E27FC236}">
                <a16:creationId xmlns:a16="http://schemas.microsoft.com/office/drawing/2014/main" id="{4C68A4C1-E758-48A8-95C5-29201F1413A0}"/>
              </a:ext>
            </a:extLst>
          </p:cNvPr>
          <p:cNvSpPr>
            <a:spLocks xmlns:a="http://schemas.openxmlformats.org/drawingml/2006/main" noGrp="1"/>
          </p:cNvSpPr>
          <p:nvPr/>
        </p:nvSpPr>
        <p:spPr>
          <a:xfrm xmlns:a="http://schemas.openxmlformats.org/drawingml/2006/main">
            <a:off x="609600" y="2057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Delivery now includes experiments, evaluation time and decisions about feasibility.</a:t>
            </a:r>
          </a:p>
        </p:txBody>
      </p:sp>
      <p:sp>
        <p:nvSpPr>
          <p:cNvPr id="6" name="">
            <a:extLst xmlns:a="http://schemas.openxmlformats.org/drawingml/2006/main">
              <a:ext uri="{FF2B5EF4-FFF2-40B4-BE49-F238E27FC236}">
                <a16:creationId xmlns:a16="http://schemas.microsoft.com/office/drawing/2014/main" id="{0ADD2423-1ACC-4420-B9B0-BE74784BE4A2}"/>
              </a:ext>
            </a:extLst>
          </p:cNvPr>
          <p:cNvSpPr>
            <a:spLocks xmlns:a="http://schemas.openxmlformats.org/drawingml/2006/main" noGrp="1"/>
          </p:cNvSpPr>
          <p:nvPr/>
        </p:nvSpPr>
        <p:spPr>
          <a:xfrm xmlns:a="http://schemas.openxmlformats.org/drawingml/2006/main">
            <a:off x="609600" y="2428875"/>
            <a:ext cx="2400300" cy="4762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068FED98-4D36-478B-B108-F3A3489CF101}"/>
              </a:ext>
            </a:extLst>
          </p:cNvPr>
          <p:cNvSpPr>
            <a:spLocks xmlns:a="http://schemas.openxmlformats.org/drawingml/2006/main" noGrp="1"/>
          </p:cNvSpPr>
          <p:nvPr/>
        </p:nvSpPr>
        <p:spPr>
          <a:xfrm xmlns:a="http://schemas.openxmlformats.org/drawingml/2006/main">
            <a:off x="723900" y="2505075"/>
            <a:ext cx="2171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Hypothesis</a:t>
            </a:r>
          </a:p>
        </p:txBody>
      </p:sp>
      <p:sp>
        <p:nvSpPr>
          <p:cNvPr id="8" name="">
            <a:extLst xmlns:a="http://schemas.openxmlformats.org/drawingml/2006/main">
              <a:ext uri="{FF2B5EF4-FFF2-40B4-BE49-F238E27FC236}">
                <a16:creationId xmlns:a16="http://schemas.microsoft.com/office/drawing/2014/main" id="{E6DA3887-C01D-4B89-8136-071C606AD653}"/>
              </a:ext>
            </a:extLst>
          </p:cNvPr>
          <p:cNvSpPr>
            <a:spLocks xmlns:a="http://schemas.openxmlformats.org/drawingml/2006/main" noGrp="1"/>
          </p:cNvSpPr>
          <p:nvPr/>
        </p:nvSpPr>
        <p:spPr>
          <a:xfrm xmlns:a="http://schemas.openxmlformats.org/drawingml/2006/main">
            <a:off x="3467100" y="2428875"/>
            <a:ext cx="2400300" cy="4762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B9521AF5-8CFA-41D9-B28C-7F5DE2F6096A}"/>
              </a:ext>
            </a:extLst>
          </p:cNvPr>
          <p:cNvSpPr>
            <a:spLocks xmlns:a="http://schemas.openxmlformats.org/drawingml/2006/main" noGrp="1"/>
          </p:cNvSpPr>
          <p:nvPr/>
        </p:nvSpPr>
        <p:spPr>
          <a:xfrm xmlns:a="http://schemas.openxmlformats.org/drawingml/2006/main">
            <a:off x="3581400" y="2505075"/>
            <a:ext cx="2171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Bounded trial</a:t>
            </a:r>
          </a:p>
        </p:txBody>
      </p:sp>
      <p:sp>
        <p:nvSpPr>
          <p:cNvPr id="10" name="">
            <a:extLst xmlns:a="http://schemas.openxmlformats.org/drawingml/2006/main">
              <a:ext uri="{FF2B5EF4-FFF2-40B4-BE49-F238E27FC236}">
                <a16:creationId xmlns:a16="http://schemas.microsoft.com/office/drawing/2014/main" id="{9C721864-8B1D-40FF-83D1-4C17CB8D43AB}"/>
              </a:ext>
            </a:extLst>
          </p:cNvPr>
          <p:cNvSpPr>
            <a:spLocks xmlns:a="http://schemas.openxmlformats.org/drawingml/2006/main" noGrp="1"/>
          </p:cNvSpPr>
          <p:nvPr/>
        </p:nvSpPr>
        <p:spPr>
          <a:xfrm xmlns:a="http://schemas.openxmlformats.org/drawingml/2006/main">
            <a:off x="6324600" y="2428875"/>
            <a:ext cx="2400300" cy="4762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25E811C8-4853-4060-B955-B089B5EFDFAA}"/>
              </a:ext>
            </a:extLst>
          </p:cNvPr>
          <p:cNvSpPr>
            <a:spLocks xmlns:a="http://schemas.openxmlformats.org/drawingml/2006/main" noGrp="1"/>
          </p:cNvSpPr>
          <p:nvPr/>
        </p:nvSpPr>
        <p:spPr>
          <a:xfrm xmlns:a="http://schemas.openxmlformats.org/drawingml/2006/main">
            <a:off x="6438900" y="2505075"/>
            <a:ext cx="2171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Evidence</a:t>
            </a:r>
          </a:p>
        </p:txBody>
      </p:sp>
      <p:sp>
        <p:nvSpPr>
          <p:cNvPr id="12" name="">
            <a:extLst xmlns:a="http://schemas.openxmlformats.org/drawingml/2006/main">
              <a:ext uri="{FF2B5EF4-FFF2-40B4-BE49-F238E27FC236}">
                <a16:creationId xmlns:a16="http://schemas.microsoft.com/office/drawing/2014/main" id="{58D5D951-28FE-4493-B818-831589C5D80F}"/>
              </a:ext>
            </a:extLst>
          </p:cNvPr>
          <p:cNvSpPr>
            <a:spLocks xmlns:a="http://schemas.openxmlformats.org/drawingml/2006/main" noGrp="1"/>
          </p:cNvSpPr>
          <p:nvPr/>
        </p:nvSpPr>
        <p:spPr>
          <a:xfrm xmlns:a="http://schemas.openxmlformats.org/drawingml/2006/main">
            <a:off x="9182100" y="2428875"/>
            <a:ext cx="2400300" cy="4762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C600E804-02EB-4D17-8A89-61C80EA25E3C}"/>
              </a:ext>
            </a:extLst>
          </p:cNvPr>
          <p:cNvSpPr>
            <a:spLocks xmlns:a="http://schemas.openxmlformats.org/drawingml/2006/main" noGrp="1"/>
          </p:cNvSpPr>
          <p:nvPr/>
        </p:nvSpPr>
        <p:spPr>
          <a:xfrm xmlns:a="http://schemas.openxmlformats.org/drawingml/2006/main">
            <a:off x="9296400" y="2505075"/>
            <a:ext cx="2171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Decision</a:t>
            </a:r>
          </a:p>
        </p:txBody>
      </p:sp>
      <p:cxnSp>
        <p:nvCxnSpPr>
          <p:cNvPr id="35" name=""/>
          <p:cNvCxnSpPr>
            <a:stCxn xmlns:a="http://schemas.openxmlformats.org/drawingml/2006/main" id="6" idx="3"/>
            <a:endCxn xmlns:a="http://schemas.openxmlformats.org/drawingml/2006/main" id="8" idx="1"/>
          </p:cNvCxnSpPr>
          <p:nvPr/>
        </p:nvCxnSpPr>
        <p:spPr>
          <a:xfrm xmlns:a="http://schemas.openxmlformats.org/drawingml/2006/main">
            <a:off x="3009900" y="26670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6" name=""/>
          <p:cNvCxnSpPr>
            <a:stCxn xmlns:a="http://schemas.openxmlformats.org/drawingml/2006/main" id="8" idx="3"/>
            <a:endCxn xmlns:a="http://schemas.openxmlformats.org/drawingml/2006/main" id="10" idx="1"/>
          </p:cNvCxnSpPr>
          <p:nvPr/>
        </p:nvCxnSpPr>
        <p:spPr>
          <a:xfrm xmlns:a="http://schemas.openxmlformats.org/drawingml/2006/main">
            <a:off x="5867400" y="26670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7" name=""/>
          <p:cNvCxnSpPr>
            <a:stCxn xmlns:a="http://schemas.openxmlformats.org/drawingml/2006/main" id="10" idx="3"/>
            <a:endCxn xmlns:a="http://schemas.openxmlformats.org/drawingml/2006/main" id="12" idx="1"/>
          </p:cNvCxnSpPr>
          <p:nvPr/>
        </p:nvCxnSpPr>
        <p:spPr>
          <a:xfrm xmlns:a="http://schemas.openxmlformats.org/drawingml/2006/main">
            <a:off x="8724900" y="26670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C43058B2-B148-4992-A71F-A15D86B4BC92}"/>
              </a:ext>
            </a:extLst>
          </p:cNvPr>
          <p:cNvSpPr>
            <a:spLocks xmlns:a="http://schemas.openxmlformats.org/drawingml/2006/main" noGrp="1"/>
          </p:cNvSpPr>
          <p:nvPr/>
        </p:nvSpPr>
        <p:spPr>
          <a:xfrm xmlns:a="http://schemas.openxmlformats.org/drawingml/2006/main">
            <a:off x="609600" y="30194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Adapt or stop; production evidence feeds the next iteration.</a:t>
            </a:r>
          </a:p>
        </p:txBody>
      </p:sp>
      <p:sp>
        <p:nvSpPr>
          <p:cNvPr id="18" name="">
            <a:extLst xmlns:a="http://schemas.openxmlformats.org/drawingml/2006/main">
              <a:ext uri="{FF2B5EF4-FFF2-40B4-BE49-F238E27FC236}">
                <a16:creationId xmlns:a16="http://schemas.microsoft.com/office/drawing/2014/main" id="{D7DACE9E-32D3-4DCD-A309-E2AEBC172C06}"/>
              </a:ext>
            </a:extLst>
          </p:cNvPr>
          <p:cNvSpPr>
            <a:spLocks xmlns:a="http://schemas.openxmlformats.org/drawingml/2006/main" noGrp="1"/>
          </p:cNvSpPr>
          <p:nvPr/>
        </p:nvSpPr>
        <p:spPr>
          <a:xfrm xmlns:a="http://schemas.openxmlformats.org/drawingml/2006/main">
            <a:off x="609600" y="3333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28C7F7"/>
                </a:solidFill>
                <a:latin typeface="Roboto"/>
                <a:ea typeface="Roboto"/>
                <a:cs typeface="Roboto"/>
              </a:defRPr>
            </a:pPr>
            <a:r>
              <a:rPr sz="1575" b="0">
                <a:solidFill>
                  <a:srgbClr val="28C7F7"/>
                </a:solidFill>
                <a:latin typeface="Roboto"/>
                <a:ea typeface="Roboto"/>
                <a:cs typeface="Roboto"/>
              </a:rPr>
              <a:t>Trial: can approved knowledge answer routine cases without unsupported steps?</a:t>
            </a:r>
          </a:p>
        </p:txBody>
      </p:sp>
      <p:graphicFrame>
        <p:nvGraphicFramePr>
          <p:cNvPr id="40" name=""/>
          <p:cNvGraphicFramePr/>
          <p:nvPr/>
        </p:nvGraphicFramePr>
        <p:xfrm>
          <a:off xmlns:a="http://schemas.openxmlformats.org/drawingml/2006/main" x="609600" y="3695700"/>
          <a:ext xmlns:a="http://schemas.openxmlformats.org/drawingml/2006/main" cx="10972800" cy="2190750"/>
        </p:xfrm>
        <a:graphic xmlns:a="http://schemas.openxmlformats.org/drawingml/2006/main">
          <a:graphicData uri="http://schemas.openxmlformats.org/drawingml/2006/table">
            <a:tbl>
              <a:tblPr/>
              <a:tblGrid>
                <a:gridCol w="2028825"/>
                <a:gridCol w="4467225"/>
                <a:gridCol w="4476750"/>
              </a:tblGrid>
              <a:tr h="547688">
                <a:tc>
                  <a:txBody>
                    <a:bodyPr lIns="171450" tIns="66675" rIns="171450" bIns="66675">
                      <a:noAutofit/>
                    </a:bodyPr>
                    <a:lstStyle/>
                    <a:p>
                      <a:r>
                        <a:rPr sz="1575" b="1">
                          <a:solidFill>
                            <a:srgbClr val="F4F7FA"/>
                          </a:solidFill>
                          <a:latin typeface="Roboto"/>
                          <a:ea typeface="Roboto"/>
                          <a:cs typeface="Roboto"/>
                        </a:rPr>
                        <a:t>CHECKPOINT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Roboto"/>
                          <a:ea typeface="Roboto"/>
                          <a:cs typeface="Roboto"/>
                        </a:rPr>
                        <a:t>PROJECT MANAGER’S WORK</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Roboto"/>
                          <a:ea typeface="Roboto"/>
                          <a:cs typeface="Roboto"/>
                        </a:rPr>
                        <a:t>VISIBLE RESULT</a:t>
                      </a:r>
                    </a:p>
                  </a:txBody>
                  <a:tcPr marL="91440" marR="91440" marT="45720" marB="45720" anchor="ctr">
                    <a:solidFill>
                      <a:srgbClr val="1A2734"/>
                    </a:solidFill>
                  </a:tcPr>
                </a:tc>
              </a:tr>
              <a:tr h="547688">
                <a:tc>
                  <a:txBody>
                    <a:bodyPr lIns="171450" tIns="66675" rIns="171450" bIns="66675">
                      <a:noAutofit/>
                    </a:bodyPr>
                    <a:lstStyle/>
                    <a:p>
                      <a:r>
                        <a:rPr sz="1500" b="1">
                          <a:solidFill>
                            <a:srgbClr val="F4F7FA"/>
                          </a:solidFill>
                          <a:latin typeface="Roboto"/>
                          <a:ea typeface="Roboto"/>
                          <a:cs typeface="Roboto"/>
                        </a:rPr>
                        <a:t>Planning</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Sequence evidence gaps + dependencies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Trial budget, owner, stop condition</a:t>
                      </a:r>
                    </a:p>
                  </a:txBody>
                  <a:tcPr marL="91440" marR="91440" marT="45720" marB="45720" anchor="ctr">
                    <a:solidFill>
                      <a:srgbClr val="0B0F14"/>
                    </a:solidFill>
                  </a:tcPr>
                </a:tc>
              </a:tr>
              <a:tr h="547688">
                <a:tc>
                  <a:txBody>
                    <a:bodyPr lIns="171450" tIns="66675" rIns="171450" bIns="66675">
                      <a:noAutofit/>
                    </a:bodyPr>
                    <a:lstStyle/>
                    <a:p>
                      <a:r>
                        <a:rPr sz="1500" b="1">
                          <a:solidFill>
                            <a:srgbClr val="F4F7FA"/>
                          </a:solidFill>
                          <a:latin typeface="Roboto"/>
                          <a:ea typeface="Roboto"/>
                          <a:cs typeface="Roboto"/>
                        </a:rPr>
                        <a:t>Sprint review</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Bring Product, BA, QA, Dev, Architect together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Accept, adjust, narrow or stop</a:t>
                      </a:r>
                    </a:p>
                  </a:txBody>
                  <a:tcPr marL="91440" marR="91440" marT="45720" marB="45720" anchor="ctr">
                    <a:solidFill>
                      <a:srgbClr val="0B0F14"/>
                    </a:solidFill>
                  </a:tcPr>
                </a:tc>
              </a:tr>
              <a:tr h="547688">
                <a:tc>
                  <a:txBody>
                    <a:bodyPr lIns="171450" tIns="66675" rIns="171450" bIns="66675">
                      <a:noAutofit/>
                    </a:bodyPr>
                    <a:lstStyle/>
                    <a:p>
                      <a:r>
                        <a:rPr sz="1500" b="1">
                          <a:solidFill>
                            <a:srgbClr val="F4F7FA"/>
                          </a:solidFill>
                          <a:latin typeface="Roboto"/>
                          <a:ea typeface="Roboto"/>
                          <a:cs typeface="Roboto"/>
                        </a:rPr>
                        <a:t>Release + operate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Roboto"/>
                          <a:ea typeface="Roboto"/>
                          <a:cs typeface="Roboto"/>
                        </a:rPr>
                        <a:t>Track authorization + response capacity</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Roboto"/>
                          <a:ea typeface="Roboto"/>
                          <a:cs typeface="Roboto"/>
                        </a:rPr>
                        <a:t>Scoped rollout; trigger to reopen</a:t>
                      </a:r>
                    </a:p>
                  </a:txBody>
                  <a:tcPr marL="91440" marR="91440" marT="45720" marB="45720" anchor="ctr">
                    <a:solidFill>
                      <a:srgbClr val="0B0F14"/>
                    </a:solidFill>
                  </a:tcPr>
                </a:tc>
              </a:tr>
            </a:tbl>
          </a:graphicData>
        </a:graphic>
      </p:graphicFrame>
      <p:sp>
        <p:nvSpPr>
          <p:cNvPr id="20" name="">
            <a:extLst xmlns:a="http://schemas.openxmlformats.org/drawingml/2006/main">
              <a:ext uri="{FF2B5EF4-FFF2-40B4-BE49-F238E27FC236}">
                <a16:creationId xmlns:a16="http://schemas.microsoft.com/office/drawing/2014/main" id="{61C6B4F3-D414-41B1-9D3E-BA16DB5FDBE2}"/>
              </a:ext>
            </a:extLst>
          </p:cNvPr>
          <p:cNvSpPr>
            <a:spLocks xmlns:a="http://schemas.openxmlformats.org/drawingml/2006/main" noGrp="1"/>
          </p:cNvSpPr>
          <p:nvPr/>
        </p:nvSpPr>
        <p:spPr>
          <a:xfrm xmlns:a="http://schemas.openxmlformats.org/drawingml/2006/main">
            <a:off x="609600" y="5962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Roboto"/>
                <a:ea typeface="Roboto"/>
                <a:cs typeface="Roboto"/>
              </a:defRPr>
            </a:pPr>
            <a:r>
              <a:rPr sz="1500" b="0">
                <a:solidFill>
                  <a:srgbClr val="F5B61C"/>
                </a:solidFill>
                <a:latin typeface="Roboto"/>
                <a:ea typeface="Roboto"/>
                <a:cs typeface="Roboto"/>
              </a:rPr>
              <a:t>Time-box the investigation before promising production capability.</a:t>
            </a:r>
          </a:p>
        </p:txBody>
      </p:sp>
      <p:sp>
        <p:nvSpPr>
          <p:cNvPr id="21" name="">
            <a:extLst xmlns:a="http://schemas.openxmlformats.org/drawingml/2006/main">
              <a:ext uri="{FF2B5EF4-FFF2-40B4-BE49-F238E27FC236}">
                <a16:creationId xmlns:a16="http://schemas.microsoft.com/office/drawing/2014/main" id="{E79FCAA3-A946-47BC-BE6F-42BC8DD51FCD}"/>
              </a:ext>
            </a:extLst>
          </p:cNvPr>
          <p:cNvSpPr>
            <a:spLocks xmlns:a="http://schemas.openxmlformats.org/drawingml/2006/main" noGrp="1"/>
          </p:cNvSpPr>
          <p:nvPr/>
        </p:nvSpPr>
        <p:spPr>
          <a:xfrm xmlns:a="http://schemas.openxmlformats.org/drawingml/2006/main">
            <a:off x="609600" y="633412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Progress = working capability + reduced uncertainty + explicit decisions.</a:t>
            </a:r>
          </a:p>
        </p:txBody>
      </p:sp>
    </p:spTree>
    <p:extLst>
      <p:ext uri="{BB962C8B-B14F-4D97-AF65-F5344CB8AC3E}">
        <p14:creationId xmlns:p14="http://schemas.microsoft.com/office/powerpoint/2010/main" val="679121277"/>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C35B943-3FB4-444B-A744-91AC036A7AB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Engineering Rigor Moves —</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It Doesn’t Disappear</a:t>
            </a:r>
          </a:p>
        </p:txBody>
      </p:sp>
      <p:sp>
        <p:nvSpPr>
          <p:cNvPr id="2" name="">
            <a:extLst xmlns:a="http://schemas.openxmlformats.org/drawingml/2006/main">
              <a:ext uri="{FF2B5EF4-FFF2-40B4-BE49-F238E27FC236}">
                <a16:creationId xmlns:a16="http://schemas.microsoft.com/office/drawing/2014/main" id="{9C96BFA7-8978-4156-BB0C-C4D64F09241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CB3C06D-8C8C-4CB9-B6A3-80BBA5137F4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14</a:t>
            </a:r>
          </a:p>
        </p:txBody>
      </p:sp>
      <p:sp>
        <p:nvSpPr>
          <p:cNvPr id="4" name="">
            <a:extLst xmlns:a="http://schemas.openxmlformats.org/drawingml/2006/main">
              <a:ext uri="{FF2B5EF4-FFF2-40B4-BE49-F238E27FC236}">
                <a16:creationId xmlns:a16="http://schemas.microsoft.com/office/drawing/2014/main" id="{675478BA-CA2E-4CE0-8384-F91867A61A69}"/>
              </a:ext>
            </a:extLst>
          </p:cNvPr>
          <p:cNvSpPr>
            <a:spLocks xmlns:a="http://schemas.openxmlformats.org/drawingml/2006/main" noGrp="1"/>
          </p:cNvSpPr>
          <p:nvPr/>
        </p:nvSpPr>
        <p:spPr>
          <a:xfrm xmlns:a="http://schemas.openxmlformats.org/drawingml/2006/main">
            <a:off x="609600" y="18097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Roboto"/>
                <a:ea typeface="Roboto"/>
                <a:cs typeface="Roboto"/>
              </a:defRPr>
            </a:pPr>
            <a:r>
              <a:rPr sz="1725" b="1">
                <a:solidFill>
                  <a:srgbClr val="28C7F7"/>
                </a:solidFill>
                <a:latin typeface="Roboto"/>
                <a:ea typeface="Roboto"/>
                <a:cs typeface="Roboto"/>
              </a:rPr>
              <a:t>HOW WE BUILD</a:t>
            </a:r>
          </a:p>
        </p:txBody>
      </p:sp>
      <p:sp>
        <p:nvSpPr>
          <p:cNvPr id="5" name="">
            <a:extLst xmlns:a="http://schemas.openxmlformats.org/drawingml/2006/main">
              <a:ext uri="{FF2B5EF4-FFF2-40B4-BE49-F238E27FC236}">
                <a16:creationId xmlns:a16="http://schemas.microsoft.com/office/drawing/2014/main" id="{35FCCEB4-4297-4BB1-8EAC-27398EF93F6B}"/>
              </a:ext>
            </a:extLst>
          </p:cNvPr>
          <p:cNvSpPr>
            <a:spLocks xmlns:a="http://schemas.openxmlformats.org/drawingml/2006/main" noGrp="1"/>
          </p:cNvSpPr>
          <p:nvPr/>
        </p:nvSpPr>
        <p:spPr>
          <a:xfrm xmlns:a="http://schemas.openxmlformats.org/drawingml/2006/main">
            <a:off x="609600" y="22288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Roboto"/>
                <a:ea typeface="Roboto"/>
                <a:cs typeface="Roboto"/>
              </a:defRPr>
            </a:pPr>
            <a:r>
              <a:rPr sz="2700" b="1">
                <a:solidFill>
                  <a:srgbClr val="F4F7FA"/>
                </a:solidFill>
                <a:latin typeface="Roboto"/>
                <a:ea typeface="Roboto"/>
                <a:cs typeface="Roboto"/>
              </a:rPr>
              <a:t>Protect delivery</a:t>
            </a:r>
          </a:p>
        </p:txBody>
      </p:sp>
      <p:sp>
        <p:nvSpPr>
          <p:cNvPr id="6" name="">
            <a:extLst xmlns:a="http://schemas.openxmlformats.org/drawingml/2006/main">
              <a:ext uri="{FF2B5EF4-FFF2-40B4-BE49-F238E27FC236}">
                <a16:creationId xmlns:a16="http://schemas.microsoft.com/office/drawing/2014/main" id="{CE844D99-AB4B-400D-BC9E-A6D6DAC8E3A1}"/>
              </a:ext>
            </a:extLst>
          </p:cNvPr>
          <p:cNvSpPr>
            <a:spLocks xmlns:a="http://schemas.openxmlformats.org/drawingml/2006/main" noGrp="1"/>
          </p:cNvSpPr>
          <p:nvPr/>
        </p:nvSpPr>
        <p:spPr>
          <a:xfrm xmlns:a="http://schemas.openxmlformats.org/drawingml/2006/main" flipH="0" flipV="0">
            <a:off x="609600" y="28765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F29F9024-B494-4FF6-8383-BF169CA5AB2C}"/>
              </a:ext>
            </a:extLst>
          </p:cNvPr>
          <p:cNvSpPr>
            <a:spLocks xmlns:a="http://schemas.openxmlformats.org/drawingml/2006/main" noGrp="1"/>
          </p:cNvSpPr>
          <p:nvPr/>
        </p:nvSpPr>
        <p:spPr>
          <a:xfrm xmlns:a="http://schemas.openxmlformats.org/drawingml/2006/main">
            <a:off x="609600" y="30575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Team: comprehension + ownership</a:t>
            </a:r>
          </a:p>
        </p:txBody>
      </p:sp>
      <p:sp>
        <p:nvSpPr>
          <p:cNvPr id="8" name="">
            <a:extLst xmlns:a="http://schemas.openxmlformats.org/drawingml/2006/main">
              <a:ext uri="{FF2B5EF4-FFF2-40B4-BE49-F238E27FC236}">
                <a16:creationId xmlns:a16="http://schemas.microsoft.com/office/drawing/2014/main" id="{F3686B4C-8ECE-4BFB-9F2B-A7DCC809F4FD}"/>
              </a:ext>
            </a:extLst>
          </p:cNvPr>
          <p:cNvSpPr>
            <a:spLocks xmlns:a="http://schemas.openxmlformats.org/drawingml/2006/main" noGrp="1"/>
          </p:cNvSpPr>
          <p:nvPr/>
        </p:nvSpPr>
        <p:spPr>
          <a:xfrm xmlns:a="http://schemas.openxmlformats.org/drawingml/2006/main">
            <a:off x="609600" y="34766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Project Manager: evidence + flow</a:t>
            </a:r>
          </a:p>
        </p:txBody>
      </p:sp>
      <p:sp>
        <p:nvSpPr>
          <p:cNvPr id="9" name="">
            <a:extLst xmlns:a="http://schemas.openxmlformats.org/drawingml/2006/main">
              <a:ext uri="{FF2B5EF4-FFF2-40B4-BE49-F238E27FC236}">
                <a16:creationId xmlns:a16="http://schemas.microsoft.com/office/drawing/2014/main" id="{7D536A8F-5829-49EE-BF00-95FE0B8F4542}"/>
              </a:ext>
            </a:extLst>
          </p:cNvPr>
          <p:cNvSpPr>
            <a:spLocks xmlns:a="http://schemas.openxmlformats.org/drawingml/2006/main" noGrp="1"/>
          </p:cNvSpPr>
          <p:nvPr/>
        </p:nvSpPr>
        <p:spPr>
          <a:xfrm xmlns:a="http://schemas.openxmlformats.org/drawingml/2006/main">
            <a:off x="609600" y="38957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Small batches, bounded experiments</a:t>
            </a:r>
          </a:p>
        </p:txBody>
      </p:sp>
      <p:sp>
        <p:nvSpPr>
          <p:cNvPr id="10" name="">
            <a:extLst xmlns:a="http://schemas.openxmlformats.org/drawingml/2006/main">
              <a:ext uri="{FF2B5EF4-FFF2-40B4-BE49-F238E27FC236}">
                <a16:creationId xmlns:a16="http://schemas.microsoft.com/office/drawing/2014/main" id="{F4D1AA38-7393-4FA9-A674-9A03D5356F31}"/>
              </a:ext>
            </a:extLst>
          </p:cNvPr>
          <p:cNvSpPr>
            <a:spLocks xmlns:a="http://schemas.openxmlformats.org/drawingml/2006/main" noGrp="1"/>
          </p:cNvSpPr>
          <p:nvPr/>
        </p:nvSpPr>
        <p:spPr>
          <a:xfrm xmlns:a="http://schemas.openxmlformats.org/drawingml/2006/main">
            <a:off x="609600" y="43148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Review decisions, not just demos</a:t>
            </a:r>
          </a:p>
        </p:txBody>
      </p:sp>
      <p:sp>
        <p:nvSpPr>
          <p:cNvPr id="11" name="">
            <a:extLst xmlns:a="http://schemas.openxmlformats.org/drawingml/2006/main">
              <a:ext uri="{FF2B5EF4-FFF2-40B4-BE49-F238E27FC236}">
                <a16:creationId xmlns:a16="http://schemas.microsoft.com/office/drawing/2014/main" id="{0CDB184F-9CE6-4BAB-B30E-574123C1106E}"/>
              </a:ext>
            </a:extLst>
          </p:cNvPr>
          <p:cNvSpPr>
            <a:spLocks xmlns:a="http://schemas.openxmlformats.org/drawingml/2006/main" noGrp="1"/>
          </p:cNvSpPr>
          <p:nvPr/>
        </p:nvSpPr>
        <p:spPr>
          <a:xfrm xmlns:a="http://schemas.openxmlformats.org/drawingml/2006/main">
            <a:off x="6324600" y="18097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Roboto"/>
                <a:ea typeface="Roboto"/>
                <a:cs typeface="Roboto"/>
              </a:defRPr>
            </a:pPr>
            <a:r>
              <a:rPr sz="1725" b="1">
                <a:solidFill>
                  <a:srgbClr val="F5B61C"/>
                </a:solidFill>
                <a:latin typeface="Roboto"/>
                <a:ea typeface="Roboto"/>
                <a:cs typeface="Roboto"/>
              </a:rPr>
              <a:t>WHAT WE BUILD</a:t>
            </a:r>
          </a:p>
        </p:txBody>
      </p:sp>
      <p:sp>
        <p:nvSpPr>
          <p:cNvPr id="12" name="">
            <a:extLst xmlns:a="http://schemas.openxmlformats.org/drawingml/2006/main">
              <a:ext uri="{FF2B5EF4-FFF2-40B4-BE49-F238E27FC236}">
                <a16:creationId xmlns:a16="http://schemas.microsoft.com/office/drawing/2014/main" id="{56BEA4B4-702F-4DC5-A6B1-C7F13E8267F5}"/>
              </a:ext>
            </a:extLst>
          </p:cNvPr>
          <p:cNvSpPr>
            <a:spLocks xmlns:a="http://schemas.openxmlformats.org/drawingml/2006/main" noGrp="1"/>
          </p:cNvSpPr>
          <p:nvPr/>
        </p:nvSpPr>
        <p:spPr>
          <a:xfrm xmlns:a="http://schemas.openxmlformats.org/drawingml/2006/main">
            <a:off x="6324600" y="22288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Roboto"/>
                <a:ea typeface="Roboto"/>
                <a:cs typeface="Roboto"/>
              </a:defRPr>
            </a:pPr>
            <a:r>
              <a:rPr sz="2700" b="1">
                <a:solidFill>
                  <a:srgbClr val="F4F7FA"/>
                </a:solidFill>
                <a:latin typeface="Roboto"/>
                <a:ea typeface="Roboto"/>
                <a:cs typeface="Roboto"/>
              </a:rPr>
              <a:t>Govern behavior</a:t>
            </a:r>
          </a:p>
        </p:txBody>
      </p:sp>
      <p:sp>
        <p:nvSpPr>
          <p:cNvPr id="13" name="">
            <a:extLst xmlns:a="http://schemas.openxmlformats.org/drawingml/2006/main">
              <a:ext uri="{FF2B5EF4-FFF2-40B4-BE49-F238E27FC236}">
                <a16:creationId xmlns:a16="http://schemas.microsoft.com/office/drawing/2014/main" id="{60BD395D-3D0D-4EDD-9948-0C5FA811FCCB}"/>
              </a:ext>
            </a:extLst>
          </p:cNvPr>
          <p:cNvSpPr>
            <a:spLocks xmlns:a="http://schemas.openxmlformats.org/drawingml/2006/main" noGrp="1"/>
          </p:cNvSpPr>
          <p:nvPr/>
        </p:nvSpPr>
        <p:spPr>
          <a:xfrm xmlns:a="http://schemas.openxmlformats.org/drawingml/2006/main" flipH="0" flipV="0">
            <a:off x="6324600" y="28765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C1C84054-7CD8-4DED-84F3-429D395EFDBF}"/>
              </a:ext>
            </a:extLst>
          </p:cNvPr>
          <p:cNvSpPr>
            <a:spLocks xmlns:a="http://schemas.openxmlformats.org/drawingml/2006/main" noGrp="1"/>
          </p:cNvSpPr>
          <p:nvPr/>
        </p:nvSpPr>
        <p:spPr>
          <a:xfrm xmlns:a="http://schemas.openxmlformats.org/drawingml/2006/main">
            <a:off x="6324600" y="30575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Product + BA: agreed acceptance</a:t>
            </a:r>
          </a:p>
        </p:txBody>
      </p:sp>
      <p:sp>
        <p:nvSpPr>
          <p:cNvPr id="15" name="">
            <a:extLst xmlns:a="http://schemas.openxmlformats.org/drawingml/2006/main">
              <a:ext uri="{FF2B5EF4-FFF2-40B4-BE49-F238E27FC236}">
                <a16:creationId xmlns:a16="http://schemas.microsoft.com/office/drawing/2014/main" id="{B0ABA99E-E527-4944-BE8B-16575473775F}"/>
              </a:ext>
            </a:extLst>
          </p:cNvPr>
          <p:cNvSpPr>
            <a:spLocks xmlns:a="http://schemas.openxmlformats.org/drawingml/2006/main" noGrp="1"/>
          </p:cNvSpPr>
          <p:nvPr/>
        </p:nvSpPr>
        <p:spPr>
          <a:xfrm xmlns:a="http://schemas.openxmlformats.org/drawingml/2006/main">
            <a:off x="6324600" y="34766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QA + Dev: calibrated evidence</a:t>
            </a:r>
          </a:p>
        </p:txBody>
      </p:sp>
      <p:sp>
        <p:nvSpPr>
          <p:cNvPr id="16" name="">
            <a:extLst xmlns:a="http://schemas.openxmlformats.org/drawingml/2006/main">
              <a:ext uri="{FF2B5EF4-FFF2-40B4-BE49-F238E27FC236}">
                <a16:creationId xmlns:a16="http://schemas.microsoft.com/office/drawing/2014/main" id="{6712380B-21A6-4B97-932F-DEDDA12A3F91}"/>
              </a:ext>
            </a:extLst>
          </p:cNvPr>
          <p:cNvSpPr>
            <a:spLocks xmlns:a="http://schemas.openxmlformats.org/drawingml/2006/main" noGrp="1"/>
          </p:cNvSpPr>
          <p:nvPr/>
        </p:nvSpPr>
        <p:spPr>
          <a:xfrm xmlns:a="http://schemas.openxmlformats.org/drawingml/2006/main">
            <a:off x="6324600" y="38957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Architect: effective control paths</a:t>
            </a:r>
          </a:p>
        </p:txBody>
      </p:sp>
      <p:sp>
        <p:nvSpPr>
          <p:cNvPr id="17" name="">
            <a:extLst xmlns:a="http://schemas.openxmlformats.org/drawingml/2006/main">
              <a:ext uri="{FF2B5EF4-FFF2-40B4-BE49-F238E27FC236}">
                <a16:creationId xmlns:a16="http://schemas.microsoft.com/office/drawing/2014/main" id="{35985FB6-F742-49E9-B2D4-A6F79D3DBBF5}"/>
              </a:ext>
            </a:extLst>
          </p:cNvPr>
          <p:cNvSpPr>
            <a:spLocks xmlns:a="http://schemas.openxmlformats.org/drawingml/2006/main" noGrp="1"/>
          </p:cNvSpPr>
          <p:nvPr/>
        </p:nvSpPr>
        <p:spPr>
          <a:xfrm xmlns:a="http://schemas.openxmlformats.org/drawingml/2006/main">
            <a:off x="6324600" y="43148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Release owner: scope + residual risk</a:t>
            </a:r>
          </a:p>
        </p:txBody>
      </p:sp>
      <p:sp>
        <p:nvSpPr>
          <p:cNvPr id="18" name="">
            <a:extLst xmlns:a="http://schemas.openxmlformats.org/drawingml/2006/main">
              <a:ext uri="{FF2B5EF4-FFF2-40B4-BE49-F238E27FC236}">
                <a16:creationId xmlns:a16="http://schemas.microsoft.com/office/drawing/2014/main" id="{8FC76B28-12DE-40B5-ADF7-3E0C26968FB1}"/>
              </a:ext>
            </a:extLst>
          </p:cNvPr>
          <p:cNvSpPr>
            <a:spLocks xmlns:a="http://schemas.openxmlformats.org/drawingml/2006/main" noGrp="1"/>
          </p:cNvSpPr>
          <p:nvPr/>
        </p:nvSpPr>
        <p:spPr>
          <a:xfrm xmlns:a="http://schemas.openxmlformats.org/drawingml/2006/main">
            <a:off x="609600" y="49244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START WITH ONE WORKFLOW</a:t>
            </a:r>
          </a:p>
        </p:txBody>
      </p:sp>
      <p:sp>
        <p:nvSpPr>
          <p:cNvPr id="19" name="">
            <a:extLst xmlns:a="http://schemas.openxmlformats.org/drawingml/2006/main">
              <a:ext uri="{FF2B5EF4-FFF2-40B4-BE49-F238E27FC236}">
                <a16:creationId xmlns:a16="http://schemas.microsoft.com/office/drawing/2014/main" id="{A5DA2FB1-680A-49E7-B940-1FEF34A2937E}"/>
              </a:ext>
            </a:extLst>
          </p:cNvPr>
          <p:cNvSpPr>
            <a:spLocks xmlns:a="http://schemas.openxmlformats.org/drawingml/2006/main" noGrp="1"/>
          </p:cNvSpPr>
          <p:nvPr/>
        </p:nvSpPr>
        <p:spPr>
          <a:xfrm xmlns:a="http://schemas.openxmlformats.org/drawingml/2006/main">
            <a:off x="609600" y="52197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Agree tolerances, calibrate a Golden Set, connect an Eval Gate and rehearse the fallback.</a:t>
            </a:r>
          </a:p>
        </p:txBody>
      </p:sp>
      <p:sp>
        <p:nvSpPr>
          <p:cNvPr id="20" name="">
            <a:extLst xmlns:a="http://schemas.openxmlformats.org/drawingml/2006/main">
              <a:ext uri="{FF2B5EF4-FFF2-40B4-BE49-F238E27FC236}">
                <a16:creationId xmlns:a16="http://schemas.microsoft.com/office/drawing/2014/main" id="{A08D0A8D-4DA8-48D4-A5AC-CD843BBB699F}"/>
              </a:ext>
            </a:extLst>
          </p:cNvPr>
          <p:cNvSpPr>
            <a:spLocks xmlns:a="http://schemas.openxmlformats.org/drawingml/2006/main" noGrp="1"/>
          </p:cNvSpPr>
          <p:nvPr/>
        </p:nvSpPr>
        <p:spPr>
          <a:xfrm xmlns:a="http://schemas.openxmlformats.org/drawingml/2006/main">
            <a:off x="609600" y="57245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Team process: hypothesize → measure → decide → adapt</a:t>
            </a:r>
          </a:p>
        </p:txBody>
      </p:sp>
      <p:sp>
        <p:nvSpPr>
          <p:cNvPr id="21" name="">
            <a:extLst xmlns:a="http://schemas.openxmlformats.org/drawingml/2006/main">
              <a:ext uri="{FF2B5EF4-FFF2-40B4-BE49-F238E27FC236}">
                <a16:creationId xmlns:a16="http://schemas.microsoft.com/office/drawing/2014/main" id="{8795A2DB-333E-4E5D-B20A-3F45E34A835A}"/>
              </a:ext>
            </a:extLst>
          </p:cNvPr>
          <p:cNvSpPr>
            <a:spLocks xmlns:a="http://schemas.openxmlformats.org/drawingml/2006/main" noGrp="1"/>
          </p:cNvSpPr>
          <p:nvPr/>
        </p:nvSpPr>
        <p:spPr>
          <a:xfrm xmlns:a="http://schemas.openxmlformats.org/drawingml/2006/main" flipH="0" flipV="0">
            <a:off x="609600" y="61531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9DB0AA14-580A-43B5-B6E5-3D400C1E6C64}"/>
              </a:ext>
            </a:extLst>
          </p:cNvPr>
          <p:cNvSpPr>
            <a:spLocks xmlns:a="http://schemas.openxmlformats.org/drawingml/2006/main" noGrp="1"/>
          </p:cNvSpPr>
          <p:nvPr/>
        </p:nvSpPr>
        <p:spPr>
          <a:xfrm xmlns:a="http://schemas.openxmlformats.org/drawingml/2006/main">
            <a:off x="609600" y="6267450"/>
            <a:ext cx="10648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The team remains accountable for the whole system.</a:t>
            </a:r>
          </a:p>
        </p:txBody>
      </p:sp>
    </p:spTree>
    <p:extLst>
      <p:ext uri="{BB962C8B-B14F-4D97-AF65-F5344CB8AC3E}">
        <p14:creationId xmlns:p14="http://schemas.microsoft.com/office/powerpoint/2010/main" val="50431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2026-09-21T18:38:00.0970000Z</dcterms:created>
  <dcterms:modified xsi:type="dcterms:W3CDTF">2026-09-21T18:38:00.0970000Z</dcterms:modified>
</coreProperties>
</file>