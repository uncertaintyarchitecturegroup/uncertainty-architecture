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52d0951ecf44cc3" /><Relationship Type="http://schemas.openxmlformats.org/officeDocument/2006/relationships/extended-properties" Target="/docProps/app.xml" Id="R483d888689224e27" /><Relationship Type="http://schemas.openxmlformats.org/officeDocument/2006/relationships/officeDocument" Target="/ppt/presentation.xml" Id="Rc2467ef7c29743ab" /></Relationships>
</file>

<file path=ppt/presentation.xml><?xml version="1.0" encoding="utf-8"?>
<p:presentation xmlns:p="http://schemas.openxmlformats.org/presentationml/2006/main">
  <p:sldMasterIdLst>
    <p:sldMasterId xmlns:r="http://schemas.openxmlformats.org/officeDocument/2006/relationships" id="2147483648" r:id="R7f9dc059c3534c17"/>
  </p:sldMasterIdLst>
  <p:notesMasterIdLst>
    <p:notesMasterId xmlns:r="http://schemas.openxmlformats.org/officeDocument/2006/relationships" r:id="R475a76d8033840cf"/>
  </p:notesMasterIdLst>
  <p:sldIdLst>
    <p:sldId xmlns:r="http://schemas.openxmlformats.org/officeDocument/2006/relationships" id="256" r:id="Rdcbf9f7cc370432e"/>
    <p:sldId xmlns:r="http://schemas.openxmlformats.org/officeDocument/2006/relationships" id="257" r:id="R34be3620b1304a0d"/>
    <p:sldId xmlns:r="http://schemas.openxmlformats.org/officeDocument/2006/relationships" id="258" r:id="R15a1e1ad3dec45fa"/>
    <p:sldId xmlns:r="http://schemas.openxmlformats.org/officeDocument/2006/relationships" id="259" r:id="Re60744c52e864c0e"/>
    <p:sldId xmlns:r="http://schemas.openxmlformats.org/officeDocument/2006/relationships" id="260" r:id="Rac623f5b73d7483e"/>
    <p:sldId xmlns:r="http://schemas.openxmlformats.org/officeDocument/2006/relationships" id="261" r:id="Reb06a3760c4448f0"/>
    <p:sldId xmlns:r="http://schemas.openxmlformats.org/officeDocument/2006/relationships" id="262" r:id="R85bf28c6ce1542c4"/>
    <p:sldId xmlns:r="http://schemas.openxmlformats.org/officeDocument/2006/relationships" id="263" r:id="R95f691b2b9e44076"/>
    <p:sldId xmlns:r="http://schemas.openxmlformats.org/officeDocument/2006/relationships" id="264" r:id="Rf3a752b048e74033"/>
    <p:sldId xmlns:r="http://schemas.openxmlformats.org/officeDocument/2006/relationships" id="265" r:id="R6f38a6864ee94ba3"/>
    <p:sldId xmlns:r="http://schemas.openxmlformats.org/officeDocument/2006/relationships" id="266" r:id="R0f35c44aa80b4256"/>
    <p:sldId xmlns:r="http://schemas.openxmlformats.org/officeDocument/2006/relationships" id="267" r:id="Rd43e93feb1894cf4"/>
    <p:sldId xmlns:r="http://schemas.openxmlformats.org/officeDocument/2006/relationships" id="268" r:id="Red7043531968471a"/>
    <p:sldId xmlns:r="http://schemas.openxmlformats.org/officeDocument/2006/relationships" id="269" r:id="R0634b3f967a6438e"/>
    <p:sldId xmlns:r="http://schemas.openxmlformats.org/officeDocument/2006/relationships" id="270" r:id="R5f2f1335cfee438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d73e29fdf204fd6" /><Relationship Type="http://schemas.openxmlformats.org/officeDocument/2006/relationships/slideMaster" Target="/ppt/slideMasters/slideMaster1.xml" Id="R7f9dc059c3534c17" /><Relationship Type="http://schemas.openxmlformats.org/officeDocument/2006/relationships/notesMaster" Target="/ppt/notesMasters/notesMaster1.xml" Id="R475a76d8033840cf" /><Relationship Type="http://schemas.openxmlformats.org/officeDocument/2006/relationships/presProps" Target="/ppt/presProps.xml" Id="R9db68e4ad98246a3" /><Relationship Type="http://schemas.openxmlformats.org/officeDocument/2006/relationships/tableStyles" Target="/ppt/tableStyles.xml" Id="R0e616ad7aabe4451" /><Relationship Type="http://schemas.openxmlformats.org/officeDocument/2006/relationships/slide" Target="/ppt/slides/slide1.xml" Id="Rdcbf9f7cc370432e" /><Relationship Type="http://schemas.openxmlformats.org/officeDocument/2006/relationships/slide" Target="/ppt/slides/slide2.xml" Id="R34be3620b1304a0d" /><Relationship Type="http://schemas.openxmlformats.org/officeDocument/2006/relationships/slide" Target="/ppt/slides/slide3.xml" Id="R15a1e1ad3dec45fa" /><Relationship Type="http://schemas.openxmlformats.org/officeDocument/2006/relationships/slide" Target="/ppt/slides/slide4.xml" Id="Re60744c52e864c0e" /><Relationship Type="http://schemas.openxmlformats.org/officeDocument/2006/relationships/slide" Target="/ppt/slides/slide5.xml" Id="Rac623f5b73d7483e" /><Relationship Type="http://schemas.openxmlformats.org/officeDocument/2006/relationships/slide" Target="/ppt/slides/slide6.xml" Id="Reb06a3760c4448f0" /><Relationship Type="http://schemas.openxmlformats.org/officeDocument/2006/relationships/slide" Target="/ppt/slides/slide7.xml" Id="R85bf28c6ce1542c4" /><Relationship Type="http://schemas.openxmlformats.org/officeDocument/2006/relationships/slide" Target="/ppt/slides/slide8.xml" Id="R95f691b2b9e44076" /><Relationship Type="http://schemas.openxmlformats.org/officeDocument/2006/relationships/slide" Target="/ppt/slides/slide9.xml" Id="Rf3a752b048e74033" /><Relationship Type="http://schemas.openxmlformats.org/officeDocument/2006/relationships/slide" Target="/ppt/slides/slide10.xml" Id="R6f38a6864ee94ba3" /><Relationship Type="http://schemas.openxmlformats.org/officeDocument/2006/relationships/slide" Target="/ppt/slides/slide11.xml" Id="R0f35c44aa80b4256" /><Relationship Type="http://schemas.openxmlformats.org/officeDocument/2006/relationships/slide" Target="/ppt/slides/slide12.xml" Id="Rd43e93feb1894cf4" /><Relationship Type="http://schemas.openxmlformats.org/officeDocument/2006/relationships/slide" Target="/ppt/slides/slide13.xml" Id="Red7043531968471a" /><Relationship Type="http://schemas.openxmlformats.org/officeDocument/2006/relationships/slide" Target="/ppt/slides/slide14.xml" Id="R0634b3f967a6438e" /><Relationship Type="http://schemas.openxmlformats.org/officeDocument/2006/relationships/slide" Target="/ppt/slides/slide15.xml" Id="R5f2f1335cfee438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d89f42eba941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5d44b895e64d69" /><Relationship Type="http://schemas.openxmlformats.org/officeDocument/2006/relationships/notesMaster" Target="/ppt/notesMasters/notesMaster1.xml" Id="R7a96fbc6673148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27df9bf6b042da" /><Relationship Type="http://schemas.openxmlformats.org/officeDocument/2006/relationships/notesMaster" Target="/ppt/notesMasters/notesMaster1.xml" Id="R77030ea8fa46427e"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4419960f5c43c3" /><Relationship Type="http://schemas.openxmlformats.org/officeDocument/2006/relationships/notesMaster" Target="/ppt/notesMasters/notesMaster1.xml" Id="R6d58b449ca9e4a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ba1cec2e134a9b" /><Relationship Type="http://schemas.openxmlformats.org/officeDocument/2006/relationships/notesMaster" Target="/ppt/notesMasters/notesMaster1.xml" Id="Rbd5be97fbf0845f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8033f4b3131490c" /><Relationship Type="http://schemas.openxmlformats.org/officeDocument/2006/relationships/notesMaster" Target="/ppt/notesMasters/notesMaster1.xml" Id="R64cf3bcb7ffe44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7d782634f24773" /><Relationship Type="http://schemas.openxmlformats.org/officeDocument/2006/relationships/notesMaster" Target="/ppt/notesMasters/notesMaster1.xml" Id="R3f2f7e9c733548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a24839ba724b03" /><Relationship Type="http://schemas.openxmlformats.org/officeDocument/2006/relationships/notesMaster" Target="/ppt/notesMasters/notesMaster1.xml" Id="R87fc7923295044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c94595e7524c48" /><Relationship Type="http://schemas.openxmlformats.org/officeDocument/2006/relationships/notesMaster" Target="/ppt/notesMasters/notesMaster1.xml" Id="Re6e793f6b3d249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06576c8a29485d" /><Relationship Type="http://schemas.openxmlformats.org/officeDocument/2006/relationships/notesMaster" Target="/ppt/notesMasters/notesMaster1.xml" Id="Rb682337684a647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405699aab84730" /><Relationship Type="http://schemas.openxmlformats.org/officeDocument/2006/relationships/notesMaster" Target="/ppt/notesMasters/notesMaster1.xml" Id="Rd7fab5647fe941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134369ad404151" /><Relationship Type="http://schemas.openxmlformats.org/officeDocument/2006/relationships/notesMaster" Target="/ppt/notesMasters/notesMaster1.xml" Id="R744e226383b543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30caa507084760" /><Relationship Type="http://schemas.openxmlformats.org/officeDocument/2006/relationships/notesMaster" Target="/ppt/notesMasters/notesMaster1.xml" Id="Rc621e891e07d46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5e5409798334813" /><Relationship Type="http://schemas.openxmlformats.org/officeDocument/2006/relationships/notesMaster" Target="/ppt/notesMasters/notesMaster1.xml" Id="R04c353f171d74e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994783617f40d6" /><Relationship Type="http://schemas.openxmlformats.org/officeDocument/2006/relationships/notesMaster" Target="/ppt/notesMasters/notesMaster1.xml" Id="Rde6f463849d949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b11cc9c4b34fa6" /><Relationship Type="http://schemas.openxmlformats.org/officeDocument/2006/relationships/notesMaster" Target="/ppt/notesMasters/notesMaster1.xml" Id="R75270b603a4746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0875f92a524d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d9400e57724111" /><Relationship Type="http://schemas.openxmlformats.org/officeDocument/2006/relationships/slideLayout" Target="/ppt/slideLayouts/slideLayout1.xml" Id="R793c412630c14e44"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93c412630c14e44"/>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8595ec2c704b74" /><Relationship Type="http://schemas.openxmlformats.org/officeDocument/2006/relationships/image" Target="/ppt/media/image.png" Id="R60aed5db41324a09" /><Relationship Type="http://schemas.openxmlformats.org/officeDocument/2006/relationships/hyperlink" Target="mailto:oborskyivitalii@gmail.com" TargetMode="External" Id="R65d02f19bf034118" /><Relationship Type="http://schemas.openxmlformats.org/officeDocument/2006/relationships/hyperlink" Target="https://www.linkedin.com/in/vitaliioborskyi/" TargetMode="External" Id="R67ddf98c64184597" /><Relationship Type="http://schemas.openxmlformats.org/officeDocument/2006/relationships/notesSlide" Target="/ppt/notesSlides/notesSlide1.xml" Id="Rce52456827af4d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fbb92e69d84992" /><Relationship Type="http://schemas.openxmlformats.org/officeDocument/2006/relationships/notesSlide" Target="/ppt/notesSlides/notesSlide2.xml" Id="R3f47b887c892468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31c42d7af04cd7" /><Relationship Type="http://schemas.openxmlformats.org/officeDocument/2006/relationships/notesSlide" Target="/ppt/notesSlides/notesSlide3.xml" Id="R0c7ab8f8beb54d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5726faf372a4eba" /><Relationship Type="http://schemas.openxmlformats.org/officeDocument/2006/relationships/notesSlide" Target="/ppt/notesSlides/notesSlide4.xml" Id="R254f31b7b2b9406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ff28b8e8864cc2" /><Relationship Type="http://schemas.openxmlformats.org/officeDocument/2006/relationships/notesSlide" Target="/ppt/notesSlides/notesSlide5.xml" Id="R144ce6ff0dc947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50ed5a3df14da6" /><Relationship Type="http://schemas.openxmlformats.org/officeDocument/2006/relationships/notesSlide" Target="/ppt/notesSlides/notesSlide6.xml" Id="R092e5c85612f428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ddd2c97670a43b7" /><Relationship Type="http://schemas.openxmlformats.org/officeDocument/2006/relationships/notesSlide" Target="/ppt/notesSlides/notesSlide7.xml" Id="R491fdd03ca0047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821a9cf8670459b" /><Relationship Type="http://schemas.openxmlformats.org/officeDocument/2006/relationships/notesSlide" Target="/ppt/notesSlides/notesSlide8.xml" Id="R60bd5d090a0b451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e62c5244b149f7" /><Relationship Type="http://schemas.openxmlformats.org/officeDocument/2006/relationships/notesSlide" Target="/ppt/notesSlides/notesSlide9.xml" Id="R7b43a03b07304fa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3ce9f9f8df4404b" /><Relationship Type="http://schemas.openxmlformats.org/officeDocument/2006/relationships/chart" Target="/ppt/slides/charts/chart1.xml" Id="R24857f5f07c0432b" /><Relationship Type="http://schemas.openxmlformats.org/officeDocument/2006/relationships/notesSlide" Target="/ppt/notesSlides/notesSlide10.xml" Id="Ra8c69c17d3954e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7923f527e5340b2" /><Relationship Type="http://schemas.openxmlformats.org/officeDocument/2006/relationships/notesSlide" Target="/ppt/notesSlides/notesSlide11.xml" Id="R923f6fc5b0134f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1b9f4d137ea41f3" /><Relationship Type="http://schemas.openxmlformats.org/officeDocument/2006/relationships/notesSlide" Target="/ppt/notesSlides/notesSlide12.xml" Id="R63f192a805c54b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2bb6fa5b7ec466e" /><Relationship Type="http://schemas.openxmlformats.org/officeDocument/2006/relationships/notesSlide" Target="/ppt/notesSlides/notesSlide13.xml" Id="R245cc239644d45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6fd7d9204724791" /><Relationship Type="http://schemas.openxmlformats.org/officeDocument/2006/relationships/notesSlide" Target="/ppt/notesSlides/notesSlide14.xml" Id="R3e4c709bf6c045e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4bda4e8b574ee9" /><Relationship Type="http://schemas.openxmlformats.org/officeDocument/2006/relationships/image" Target="/ppt/media/image2.png" Id="Rbf6e96ac296f4f6d" /><Relationship Type="http://schemas.openxmlformats.org/officeDocument/2006/relationships/hyperlink" Target="https://github.com/UncertaintyArchitectureGroup/uncertainty-architecture" TargetMode="External" Id="R39a2ece99f594d0a" /><Relationship Type="http://schemas.openxmlformats.org/officeDocument/2006/relationships/hyperlink" Target="https://github.com/UncertaintyArchitectureGroup/uncertainty-architecture" TargetMode="External" Id="R847c0f25a3774211" /><Relationship Type="http://schemas.openxmlformats.org/officeDocument/2006/relationships/image" Target="/ppt/media/image3.png" Id="R1315c93274cc46ed" /><Relationship Type="http://schemas.openxmlformats.org/officeDocument/2006/relationships/hyperlink" Target="https://github.com/UncertaintyArchitectureGroup/The-Subprime-Code-Crisis" TargetMode="External" Id="R67570a16a5f34cc5" /><Relationship Type="http://schemas.openxmlformats.org/officeDocument/2006/relationships/hyperlink" Target="https://github.com/UncertaintyArchitectureGroup/The-Subprime-Code-Crisis" TargetMode="External" Id="R80f7e563f10e44c7" /><Relationship Type="http://schemas.openxmlformats.org/officeDocument/2006/relationships/hyperlink" Target="mailto:oborskyivitalii@gmail.com" TargetMode="External" Id="Rc07ca3a4e7f64fcc" /><Relationship Type="http://schemas.openxmlformats.org/officeDocument/2006/relationships/hyperlink" Target="https://www.linkedin.com/in/vitaliioborskyi/" TargetMode="External" Id="R3aabb5c058204f36" /><Relationship Type="http://schemas.openxmlformats.org/officeDocument/2006/relationships/notesSlide" Target="/ppt/notesSlides/notesSlide15.xml" Id="R271ebaa0c96440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dLbls>
            <c:dLbl>
              <c:idx val="0"/>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196
98%</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3
1.5%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200" b="1">
                        <a:solidFill>
                          <a:srgbClr val="F4F7FA"/>
                        </a:solidFill>
                        <a:latin typeface="Arial"/>
                        <a:ea typeface="Arial"/>
                        <a:cs typeface="Arial"/>
                      </a:rPr>
                      <a:t>1
0.5%</a:t>
                    </a:r>
                  </a:p>
                </c:rich>
              </c:tx>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dLbl>
          </c:dLbls>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8535B5D-25ED-42EC-B263-0AB37BD870E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16C16F01-D5E5-466C-9EC1-7AE17238A7AE}"/>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28C27854-E247-4327-BACC-DAE53B8651DD}"/>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0aed5db41324a09"/>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1EF368E-024B-45AF-B145-D9A992F602C3}"/>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644E823D-5E9D-4940-A3E9-6C4D9BDF519E}"/>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6445FE88-2E36-4C66-BDEA-940ACB1A61DF}"/>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F89782B2-60D9-4FEE-8E1E-2FE9204796E7}"/>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42251012-636F-4BC4-9C36-B393CE64847D}"/>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1F3D34E6-57E9-4C30-BD3D-2A95AC2EF4BC}"/>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07C2C301-A2BE-4580-B1DF-73E3C2AC3ABF}"/>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8013F979-F6E0-4958-BC70-0A40B8ABC36A}"/>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65d02f19bf034118"/>
              </a:rPr>
              <a:t>oborskyivitalii@gmail.com</a:t>
            </a:r>
          </a:p>
        </p:txBody>
      </p:sp>
      <p:sp>
        <p:nvSpPr>
          <p:cNvPr id="13" name="">
            <a:extLst xmlns:a="http://schemas.openxmlformats.org/drawingml/2006/main">
              <a:ext uri="{FF2B5EF4-FFF2-40B4-BE49-F238E27FC236}">
                <a16:creationId xmlns:a16="http://schemas.microsoft.com/office/drawing/2014/main" id="{3E5DC91A-3CDE-4280-BFC8-1EF1DB82CD84}"/>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67ddf98c64184597"/>
              </a:rPr>
              <a:t>https://www.linkedin.com/in/vitaliioborskyi/</a:t>
            </a:r>
          </a:p>
        </p:txBody>
      </p:sp>
    </p:spTree>
    <p:extLst>
      <p:ext uri="{BB962C8B-B14F-4D97-AF65-F5344CB8AC3E}">
        <p14:creationId xmlns:p14="http://schemas.microsoft.com/office/powerpoint/2010/main" val="20194842"/>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C6DEC8F-1A6D-4140-8541-A5E0DB112B0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56A382AC-441C-48DD-9707-41BCDE72227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F84BC28-4F51-4A6B-9A20-282A567A70C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2173AF0C-F285-4CB0-9A7E-D252E6F8281B}"/>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72BE674-A91A-40D7-B5AD-B484145BB80D}"/>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DD4D46D8-EBC6-4006-B077-D14DAD3A2715}"/>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5C4D8BCB-F482-45F4-B2EF-43C397C00692}"/>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074B9427-C465-4ABF-B491-7B88FB3824A3}"/>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8FF317FD-1D1A-4E67-B06A-D39AEEC7A306}"/>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02832086-5F8D-4C0D-BE16-2BC927B03080}"/>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C1DAEFE6-2C93-4BC9-A226-DC48479884F5}"/>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792ACAE7-AFC1-481D-BB2E-A4CC7CE00EFA}"/>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CA79742-8F0E-44AE-A1A6-8A5186EE8A68}"/>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9E3DC2ED-9245-4731-AFF7-329203325749}"/>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CA31D7CD-7755-47F2-9E76-1AFAA37B7661}"/>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2B1B09C5-E797-4531-8B4D-DB98ED6403E5}"/>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CFE03B72-2C7C-4C68-A924-0E05C011E31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E62D9DC8-86DE-45C3-8802-257D0092EDD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214504655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09246A4A-1858-45DE-8088-A9576FE89AB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F022465E-FAE5-436E-8B90-3E6DCC6A53A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1E68941-D3B7-4851-ADD1-DDC22F81159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4668B76F-C2B6-44CA-AF86-C9C9AD65B306}"/>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9D2C8218-AA7B-4766-B25F-EC8BB8096762}"/>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6C0982EE-F658-42A7-96D7-4086A776A89D}"/>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A0196782-6738-4025-9706-3C9894A93A2E}"/>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C9E7A890-DB1B-46EB-A0EE-C86DA384B5AF}"/>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F68B1CCB-F486-4A3A-9EE6-2BB97F86420E}"/>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69BCC7FE-5382-4CAE-A74C-508B93FE53F5}"/>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633A9EB3-BFE7-4A5A-A81E-DA26F2EACDEA}"/>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2265766D-2510-48D3-ACC7-0A36B98D2AEE}"/>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04539BB5-D103-4EC7-9A78-34BF5E822FA3}"/>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7BA07608-6C82-4231-BF58-2D01A67DAB91}"/>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014489AB-E2BC-440F-AB92-0B95ADB65A5E}"/>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94A5A618-5FFC-477E-9946-1F5A19941BB2}"/>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6D42CF64-AB89-4B2B-98A2-BC5BD713F1FF}"/>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BF77AB64-D67F-4C5A-BB2F-1B8AC533C06B}"/>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9ECDEC4A-918F-49C6-8F70-6F8608A60025}"/>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66795AE2-8513-47F6-BA5D-35BC01EF99E2}"/>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87ADE5BD-31E0-43BD-9B76-BA54E7F84AB6}"/>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FF26FABA-57A9-4D3B-B4BA-CD38508296B3}"/>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D1EB6B07-C6EC-4BE0-B2B8-FDBBF9928358}"/>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EDA991D7-15DB-417E-954F-ADF136551828}"/>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3D467F8A-05D8-4EC6-B1C4-C4F886FF909D}"/>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89F57677-E6F2-44AE-B608-15B66CD879B2}"/>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CBFC7393-CBDC-44BA-AFAB-1AE4E6DD8E37}"/>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CA5A9EDB-3AFC-46D8-A934-3A15C63D3617}"/>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1674875A-6845-45F2-897B-0ABCC71C13E7}"/>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9A77C838-4F36-4EF1-B0EB-1A6A999B6A87}"/>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08B2FA6D-4018-472A-882F-083480044359}"/>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203B380F-B7E0-4D8C-8D07-7BF8D8CF8807}"/>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C1EE7F43-F4ED-4705-8C08-207C8DF5798C}"/>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7648F5DE-F22E-4620-A11D-B298EC588B64}"/>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974D481A-D77F-416A-A403-12B95D19DD95}"/>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6F047994-5BD3-4721-8326-A4D856DA90D1}"/>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19B28EE6-555D-4B93-9C4D-032370801DB1}"/>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B856A189-5121-40B5-9D88-2C5C31C849D0}"/>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E0C497EC-BCC3-48B1-B098-7319F8E4F45A}"/>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DC6E44E8-1DAD-4E35-B461-3B836E7010B3}"/>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98D96CEC-8752-46B4-86E8-C42032DF3E66}"/>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206EDD3C-2B90-41F7-BF0A-60B647977994}"/>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2E61F12D-F798-465A-99C1-299670EF1228}"/>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AA5AEB0C-5EEF-4C69-AA9E-60C01E4370D4}"/>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8EFCFDBA-E5B7-44EB-9F6B-DCE8F41623E6}"/>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A56B8C9E-3F91-4A91-AE7B-827965CAD0FB}"/>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65F88BBF-EC5E-4ED4-846B-F4DAE22CB0F2}"/>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4846D085-2AA9-4210-9264-FA304021D754}"/>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76313547-CEE6-4844-B399-FDA754999332}"/>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47C27C61-8E69-46E5-9690-4C25030E0434}"/>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5A5A8F88-74B9-4168-9468-BF0456EF2539}"/>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4DD4B505-58C1-4C2F-A2F7-5EC4B9BE5E66}"/>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2FAD2359-C355-49E1-AF3E-888C0BEF7E9B}"/>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04435311-89A7-4EA8-BC6C-9141F79C330D}"/>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08A62405-5E1C-4FBD-BB40-218EE771A988}"/>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339865DE-95A3-474E-9C54-B48F41067070}"/>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626A4934-D99D-4DC2-A7FD-91F764334FD7}"/>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EB847F23-64A8-4C0E-97B8-3A8FC09295E2}"/>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EFCE7652-E067-4C60-AA6B-F54EEB37695B}"/>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4B23DF52-7370-49BF-B71E-6447C7137BA7}"/>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B2EB1EE2-2CF8-4AB1-8157-1127E6DB1430}"/>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F2584D99-CFA9-42D7-AC85-336A16B4C0C5}"/>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2BACEB58-48A7-4B33-A083-6D2EBD6116FC}"/>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C2D324C2-F373-445D-9CA5-14C6E66056C7}"/>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CCC504B0-27CC-421A-B084-B938A5BC1271}"/>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70A3876C-60C6-436A-AFC0-0BA92C0D5C31}"/>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2BEEF025-5E18-443A-9F0C-05368C3C5505}"/>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1565182534"/>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C841FFEB-4511-4906-916B-A01BDA15BB4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A65B11A5-224E-448E-92C3-9B931AA7FEF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529AA6D-DA45-4F3F-9751-B20433073CE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9BFD310-6A43-4423-818E-FB8A64C69C71}"/>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E891EE99-C9F6-45B5-B49A-4A81B1CD7903}"/>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ED45A64D-8351-40DA-B1E6-807AFADDAEF4}"/>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B6DFDCD1-FFA2-4E35-A2D2-322D116D61F8}"/>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2DECBA79-4946-4A7A-A026-4C3D100C84FB}"/>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42B8D076-BC76-4EF0-8911-7AF59FA09BF7}"/>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4E893B5E-659B-46F3-9D9C-C0CBE2742C4E}"/>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9EC9D0D0-970C-4C80-946D-2EC82F6315AA}"/>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6D437284-CEF4-44A2-9827-F0BF7839001A}"/>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3865FF5A-843E-47A9-90EC-EBA09BBB5314}"/>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C0305380-351E-4612-AE3C-24EBEF361CBF}"/>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B54669C2-4300-466B-8A72-6CB51A22405D}"/>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1FFBECA4-BA3B-4FF2-9DF2-F988A5816F34}"/>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B6B2D706-4BFB-4F0C-957E-9011BDFFF7B3}"/>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0A2DFE16-7616-4075-A520-04688D5C6A21}"/>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7A9A0C49-64EA-4B40-B2B9-C6CAEEF33C12}"/>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A721582A-DC75-4DF0-BBEA-6026DEE4D9FA}"/>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2458C309-27C1-40FF-B861-6808099A5F93}"/>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90B150ED-BB91-4AB0-B17D-BA47F40A3A5D}"/>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FCA47EEA-BDC7-4121-8494-0FDE30118DB9}"/>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78923CD0-0467-49CF-B92E-5D4630E470A4}"/>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3D90DB91-F7CC-4D81-AACF-6032EF07B6C2}"/>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Survey model, rounded reading of Fig. 28.</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8A439248-E522-449F-B866-C4CBE17A19AA}"/>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5FD1E8C2-4179-48A2-8128-68055D35229F}"/>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278F99FC-4BC7-4835-A8A2-B745D8FED434}"/>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GITCLEAR · 2023 → 2026 YTD*</a:t>
            </a:r>
          </a:p>
        </p:txBody>
      </p:sp>
      <p:sp>
        <p:nvSpPr>
          <p:cNvPr id="29" name="">
            <a:extLst xmlns:a="http://schemas.openxmlformats.org/drawingml/2006/main">
              <a:ext uri="{FF2B5EF4-FFF2-40B4-BE49-F238E27FC236}">
                <a16:creationId xmlns:a16="http://schemas.microsoft.com/office/drawing/2014/main" id="{5AE8F910-2613-4FE1-8466-6B62271F8A59}"/>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Moved-code share</a:t>
            </a:r>
          </a:p>
        </p:txBody>
      </p:sp>
      <p:sp>
        <p:nvSpPr>
          <p:cNvPr id="30" name="">
            <a:extLst xmlns:a="http://schemas.openxmlformats.org/drawingml/2006/main">
              <a:ext uri="{FF2B5EF4-FFF2-40B4-BE49-F238E27FC236}">
                <a16:creationId xmlns:a16="http://schemas.microsoft.com/office/drawing/2014/main" id="{59D7B5C3-94A2-4594-BC07-60AE4CD550E2}"/>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13% → 3.8%</a:t>
            </a:r>
          </a:p>
        </p:txBody>
      </p:sp>
      <p:sp>
        <p:nvSpPr>
          <p:cNvPr id="31" name="">
            <a:extLst xmlns:a="http://schemas.openxmlformats.org/drawingml/2006/main">
              <a:ext uri="{FF2B5EF4-FFF2-40B4-BE49-F238E27FC236}">
                <a16:creationId xmlns:a16="http://schemas.microsoft.com/office/drawing/2014/main" id="{04B4E9A1-A7C6-441E-BEEE-812752D2F111}"/>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Moved / changed lines: −9.2 pp (−70.8%). Refactoring proxy.</a:t>
            </a:r>
          </a:p>
        </p:txBody>
      </p:sp>
      <p:sp>
        <p:nvSpPr>
          <p:cNvPr id="32" name="">
            <a:extLst xmlns:a="http://schemas.openxmlformats.org/drawingml/2006/main">
              <a:ext uri="{FF2B5EF4-FFF2-40B4-BE49-F238E27FC236}">
                <a16:creationId xmlns:a16="http://schemas.microsoft.com/office/drawing/2014/main" id="{0AFBE468-610E-469B-B3B9-1587568B2A09}"/>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Calls / 1k changed lines</a:t>
            </a:r>
          </a:p>
        </p:txBody>
      </p:sp>
      <p:sp>
        <p:nvSpPr>
          <p:cNvPr id="33" name="">
            <a:extLst xmlns:a="http://schemas.openxmlformats.org/drawingml/2006/main">
              <a:ext uri="{FF2B5EF4-FFF2-40B4-BE49-F238E27FC236}">
                <a16:creationId xmlns:a16="http://schemas.microsoft.com/office/drawing/2014/main" id="{19D9EDDE-4942-49D0-81C9-A25B48D10427}"/>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Arial"/>
                <a:ea typeface="Arial"/>
                <a:cs typeface="Arial"/>
              </a:defRPr>
            </a:pPr>
            <a:r>
              <a:rPr sz="1800" b="1">
                <a:solidFill>
                  <a:srgbClr val="F4F7FA"/>
                </a:solidFill>
                <a:latin typeface="Arial"/>
                <a:ea typeface="Arial"/>
                <a:cs typeface="Arial"/>
              </a:rPr>
              <a:t>343 → 223</a:t>
            </a:r>
          </a:p>
        </p:txBody>
      </p:sp>
      <p:sp>
        <p:nvSpPr>
          <p:cNvPr id="34" name="">
            <a:extLst xmlns:a="http://schemas.openxmlformats.org/drawingml/2006/main">
              <a:ext uri="{FF2B5EF4-FFF2-40B4-BE49-F238E27FC236}">
                <a16:creationId xmlns:a16="http://schemas.microsoft.com/office/drawing/2014/main" id="{91887AF0-67B8-4E6C-8D4A-CA6CCEE8C712}"/>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Other-function calls: −120 (≈−35%). Connectivity proxy.</a:t>
            </a:r>
          </a:p>
        </p:txBody>
      </p:sp>
      <p:sp>
        <p:nvSpPr>
          <p:cNvPr id="35" name="">
            <a:extLst xmlns:a="http://schemas.openxmlformats.org/drawingml/2006/main">
              <a:ext uri="{FF2B5EF4-FFF2-40B4-BE49-F238E27FC236}">
                <a16:creationId xmlns:a16="http://schemas.microsoft.com/office/drawing/2014/main" id="{7907C432-EEFF-43AD-A70A-22522DD69CF3}"/>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Duplicated blocks ≈+81%   ·   Two-week churn +15%*</a:t>
            </a:r>
          </a:p>
        </p:txBody>
      </p:sp>
      <p:sp>
        <p:nvSpPr>
          <p:cNvPr id="36" name="">
            <a:extLst xmlns:a="http://schemas.openxmlformats.org/drawingml/2006/main">
              <a:ext uri="{FF2B5EF4-FFF2-40B4-BE49-F238E27FC236}">
                <a16:creationId xmlns:a16="http://schemas.microsoft.com/office/drawing/2014/main" id="{BA370D7E-196E-4F37-AAD4-89F921399C9E}"/>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D6A2315A-BA1B-465F-AA65-4B1C58D4F2D4}"/>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73C120C9-5B24-47A7-9704-13965A8DB658}"/>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39" name="">
            <a:extLst xmlns:a="http://schemas.openxmlformats.org/drawingml/2006/main">
              <a:ext uri="{FF2B5EF4-FFF2-40B4-BE49-F238E27FC236}">
                <a16:creationId xmlns:a16="http://schemas.microsoft.com/office/drawing/2014/main" id="{B9491AA7-B5B4-4A33-ABA2-CC125C229183}"/>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0" name="">
            <a:extLst xmlns:a="http://schemas.openxmlformats.org/drawingml/2006/main">
              <a:ext uri="{FF2B5EF4-FFF2-40B4-BE49-F238E27FC236}">
                <a16:creationId xmlns:a16="http://schemas.microsoft.com/office/drawing/2014/main" id="{48DAB02D-3E4C-4BF3-AF95-410C1EDEA978}"/>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1" name="">
            <a:extLst xmlns:a="http://schemas.openxmlformats.org/drawingml/2006/main">
              <a:ext uri="{FF2B5EF4-FFF2-40B4-BE49-F238E27FC236}">
                <a16:creationId xmlns:a16="http://schemas.microsoft.com/office/drawing/2014/main" id="{5F11A35A-FA24-4052-8C73-A4A9A51C2181}"/>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2" name="">
            <a:extLst xmlns:a="http://schemas.openxmlformats.org/drawingml/2006/main">
              <a:ext uri="{FF2B5EF4-FFF2-40B4-BE49-F238E27FC236}">
                <a16:creationId xmlns:a16="http://schemas.microsoft.com/office/drawing/2014/main" id="{909A80AC-8841-41C1-8FBF-C2A7C8576FAD}"/>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3" name="">
            <a:extLst xmlns:a="http://schemas.openxmlformats.org/drawingml/2006/main">
              <a:ext uri="{FF2B5EF4-FFF2-40B4-BE49-F238E27FC236}">
                <a16:creationId xmlns:a16="http://schemas.microsoft.com/office/drawing/2014/main" id="{AB97C086-7655-4CDE-97D8-5C5E0F4BD4C9}"/>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4" name="">
            <a:extLst xmlns:a="http://schemas.openxmlformats.org/drawingml/2006/main">
              <a:ext uri="{FF2B5EF4-FFF2-40B4-BE49-F238E27FC236}">
                <a16:creationId xmlns:a16="http://schemas.microsoft.com/office/drawing/2014/main" id="{A34A68C1-4C32-4637-864B-9A501191DD72}"/>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33253958"/>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60E1A9F-B6C9-4482-967B-E72E521EA47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0924B2E2-4C75-4365-B4EC-9B39DB06B3B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82E5E7D-7E2F-47A3-AD8A-D71A3CC9203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07B07C4-6FF9-4C7A-9A56-5A6EED550BD5}"/>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59D7B679-D3C0-49FB-A568-3E3122A90A90}"/>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A8F583B9-5120-4BB1-83D1-65AD2913F280}"/>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1B34F9B9-857C-4D17-BD5D-7B205F6DEAA7}"/>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B52055B6-8753-48DF-8D2C-FE4DF7F656D0}"/>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1F41153B-DD30-4379-8808-CD500395E7C5}"/>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31BCFFD7-FC8B-41A1-AF0A-529425C8936B}"/>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05AE39CE-8B8F-40FE-9E27-9D037789A1E0}"/>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C4FFC2CD-FDD4-4BEF-BB53-47768A298FF1}"/>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9652E965-4960-4B05-9EDD-7CC60E88C975}"/>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4019991D-3830-45F0-8049-815251FA11BF}"/>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CB10DECD-DE82-47E1-A68F-F1A507D95097}"/>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89C38CE9-AE7E-4661-8608-94320C21398D}"/>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690D34FD-4BD7-4E6B-956C-97BDA912F65F}"/>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CFB10B04-5A15-4D3D-AEDB-6F93278A2A7B}"/>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FB3F29AC-C161-4E4D-AE22-C49B985301A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CD0E5CE-EE5D-42C4-A8D9-09C854F7E1D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1168160561"/>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512616C-0448-449B-BAFC-FEEA33B5DB9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E3D70B0F-CAF6-4AB1-A51B-9A0E426DE52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2BB9AB7-B60B-46C0-9C05-BA205385629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6F2413DF-21E8-421D-B0B5-3CF18E09ED19}"/>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73835890-6C32-409B-9132-7CE5CD7F5CC8}"/>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F1103155-F1B3-442F-BFDC-E3BBF29CE6B5}"/>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EA57E13A-6459-43CB-A9E3-307AF64CA1C8}"/>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D1E78A07-53EE-4B10-A035-1DE4FE9847D6}"/>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B39AC609-8D47-4170-9333-0F26C2EC8392}"/>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305CB8EE-903B-49FC-A39A-B1B6EC1C1334}"/>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125F733A-26C9-47B2-BC2B-2AF17269808A}"/>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745C78B2-64E4-4DDD-8974-17956BB48C89}"/>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469396F-EB28-4F74-8B38-C8627FC9AED7}"/>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6E8FDF98-9B13-43EC-9198-4D2D2ED0074A}"/>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1FE1D8F0-16C4-4753-A14A-19A3DFB20B62}"/>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ED3C0E4F-935C-4D81-A198-8A139CD017E5}"/>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BBE401A5-E914-4000-94BD-3B766BE4F8A3}"/>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744BD6F7-AC80-4C3C-B5BE-5F371FE3C964}"/>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66BA954A-57CE-45F6-8EB1-CF4FA0C0E30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C3323F49-0317-4ABF-9B5A-9251E290F08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363127715"/>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C3B6F6F-1DE4-4DED-9255-8E232C942CA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6D2EA891-567C-444D-B1ED-B0D8FE9803E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326609D-8B0D-4DA5-BAE8-CB47CD30AB0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159A628C-9131-4669-AD8F-F9613BE9E021}"/>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9016F01D-23EF-4A7A-918D-09F5CD0E8A28}"/>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FFD6C9E5-B161-4C4F-805B-015CA953B390}"/>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EC647FAA-FA21-4B8E-B151-6148C22BF200}"/>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81E3B19B-4CFB-4703-BCF7-BD8BCACF1120}"/>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76AFACDD-C98D-4563-B702-C95A9E52E0A3}"/>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F734D40C-F559-4781-B4EB-445BE1FC1758}"/>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CD5B655A-C8B6-4CEE-9FDE-67E55A5063E9}"/>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38BB6246-4AEA-40D9-AF89-604704C68EBA}"/>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BE779A0E-80AA-4B94-A607-B90CB84EF523}"/>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F9E2532B-EE9E-41D0-B856-CDDBA59E132D}"/>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BD6015DD-3FD8-4DEB-BBFE-F11D827D908A}"/>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98756443-D40F-4074-94F0-64D1DDD6CE67}"/>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9D67DCB5-1F8A-4C99-8EBE-48CB1AC8922C}"/>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4E99A253-59DE-45A4-AB88-75FC98864A0E}"/>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57A262BB-9A2E-4C53-A93A-622E292EAB6F}"/>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19DBF78C-940E-4814-B2BE-85CF35220F41}"/>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995B93E9-BDAC-4D8E-A262-A42655F58127}"/>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E9698CF4-17A3-4AE7-8287-D38DEAAC65C5}"/>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7FDC0EAC-2E71-477F-8D85-46EAEECD3AFB}"/>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6A28249E-AC52-4074-BA5D-6941D567FF93}"/>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257DE6FF-C409-49DF-B179-0C99648C64B6}"/>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1A1DED06-13A6-4B47-923D-20A646D3AAB0}"/>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CEB280B2-18F8-4B29-8E59-490A22E28C12}"/>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2AC380D4-A58F-4524-A255-8DBE8ED99FDD}"/>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275C909C-70D2-4C73-BBFF-FC213B4AE426}"/>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05991020-97BE-48A6-9153-B7445560AEC6}"/>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9F6B2ED9-5687-478E-9077-BF44846A0D4E}"/>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81088531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A8988C3-F17A-426C-81CC-5591A2CE46F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43FDC125-6E38-4C79-92AD-B1755DCE59B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069527D-DC78-42AF-BA32-18CAA77A934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C625402F-FABC-495D-84A6-DDF3072F6A88}"/>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THINKING SYSTEMS · affects product, delivery, engineering and operations</a:t>
            </a:r>
          </a:p>
        </p:txBody>
      </p:sp>
      <p:sp>
        <p:nvSpPr>
          <p:cNvPr id="5" name="">
            <a:extLst xmlns:a="http://schemas.openxmlformats.org/drawingml/2006/main">
              <a:ext uri="{FF2B5EF4-FFF2-40B4-BE49-F238E27FC236}">
                <a16:creationId xmlns:a16="http://schemas.microsoft.com/office/drawing/2014/main" id="{079F988A-5E11-4650-AFEC-A3E2C54C7DA3}"/>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97A01905-F0F7-4FB5-AE30-0FDCF5D7CF0D}"/>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5E57C44C-B550-44BE-9656-EB9393F9A207}"/>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84BA3D43-ECC9-4F56-9ED8-D64EC4378291}"/>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E5BC21A3-ACF0-4306-A235-433F8FF83EB1}"/>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DF30EA48-44B5-442C-9155-6ECA805B1D6B}"/>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AC6099D3-43AD-4245-9F87-60BA7BD66462}"/>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64B506DA-DA73-46FC-A80B-A3643713BE2B}"/>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7C12FE7C-C5C4-4023-A029-7B2BCCAA2639}"/>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9010A364-47CF-45E1-90F0-2E0E01412540}"/>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3B888C69-9DF9-40C1-81EA-2C9169645780}"/>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614986D6-F0CC-44A2-8BB2-007B22AE0625}"/>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6C2E8809-F122-4646-8752-EDC3D079DD8C}"/>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E9045098-AF6D-4F08-8C89-17F283251B16}"/>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E0B7998C-6082-4523-B772-801AB1826BD6}"/>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3B17A5AF-248E-4E25-821A-A8AD77D0027A}"/>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4E6E9CC6-70BA-4DAB-B53E-5F86BE674D38}"/>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8BF38D27-B70B-4886-96E7-3B754A89D65E}"/>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8BD3AD31-B1F0-4B6F-884B-F2A8CAEAC247}"/>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F0A4BD1D-4E43-483F-8243-5CA1A40D7863}"/>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99F2DC06-C203-43D3-A9C2-52207A39F067}"/>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67EAEE1F-7678-4427-821D-D3F8834B8915}"/>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3913AF33-86D0-4354-9CB1-FEFA0797649B}"/>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7B6B7149-DC04-4FCB-A71A-82DBB03EBA55}"/>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36B036C3-7F17-40EC-B712-09FCCEEBF77C}"/>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3B0BEE1A-B161-4919-917F-45E0E51D375B}"/>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CB749AEE-1EE8-408E-A394-3892E06AF21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FCDE9BAC-A918-4D28-8FEA-6AE20B0E309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Engineer the useful region: define → evaluate → control → operate.</a:t>
            </a:r>
          </a:p>
        </p:txBody>
      </p:sp>
      <p:sp>
        <p:nvSpPr>
          <p:cNvPr id="33" name="">
            <a:extLst xmlns:a="http://schemas.openxmlformats.org/drawingml/2006/main">
              <a:ext uri="{FF2B5EF4-FFF2-40B4-BE49-F238E27FC236}">
                <a16:creationId xmlns:a16="http://schemas.microsoft.com/office/drawing/2014/main" id="{3C1C2085-A73E-4AC5-84F6-7975240EC909}"/>
              </a:ext>
            </a:extLst>
          </p:cNvPr>
          <p:cNvSpPr>
            <a:spLocks xmlns:a="http://schemas.openxmlformats.org/drawingml/2006/main" noGrp="1"/>
          </p:cNvSpPr>
          <p:nvPr/>
        </p:nvSpPr>
        <p:spPr>
          <a:xfrm xmlns:a="http://schemas.openxmlformats.org/drawingml/2006/main">
            <a:off x="609600" y="57912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Distribution also depends on context, model and configuration.</a:t>
            </a:r>
          </a:p>
        </p:txBody>
      </p:sp>
      <p:sp>
        <p:nvSpPr>
          <p:cNvPr id="34" name="">
            <a:extLst xmlns:a="http://schemas.openxmlformats.org/drawingml/2006/main">
              <a:ext uri="{FF2B5EF4-FFF2-40B4-BE49-F238E27FC236}">
                <a16:creationId xmlns:a16="http://schemas.microsoft.com/office/drawing/2014/main" id="{61B1FF3E-D1DC-4D28-AE1F-0FB703A3BBCB}"/>
              </a:ext>
            </a:extLst>
          </p:cNvPr>
          <p:cNvSpPr>
            <a:spLocks xmlns:a="http://schemas.openxmlformats.org/drawingml/2006/main" noGrp="1"/>
          </p:cNvSpPr>
          <p:nvPr/>
        </p:nvSpPr>
        <p:spPr>
          <a:xfrm xmlns:a="http://schemas.openxmlformats.org/drawingml/2006/main">
            <a:off x="609600" y="643890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1221685465"/>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8580D3F-7D57-4F7B-9C47-F58D3650072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059AC6FA-D076-4F1B-ABDA-2DE21C627ED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CF13D9B-D082-4705-81A4-AF6323ADD8E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D05E735D-6078-4D37-BBDA-04AF3EA22631}"/>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PROJECT MANAGER</a:t>
            </a:r>
          </a:p>
        </p:txBody>
      </p:sp>
      <p:sp>
        <p:nvSpPr>
          <p:cNvPr id="5" name="">
            <a:extLst xmlns:a="http://schemas.openxmlformats.org/drawingml/2006/main">
              <a:ext uri="{FF2B5EF4-FFF2-40B4-BE49-F238E27FC236}">
                <a16:creationId xmlns:a16="http://schemas.microsoft.com/office/drawing/2014/main" id="{3B2B8AB9-2AF4-4FAA-B7F7-6F68FB61EB5B}"/>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ACD399B5-8C76-4B30-BC74-E6A17EF2A88B}"/>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86BDF06A-7CF0-4669-AF37-6FB57101A277}"/>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1EF6ADDC-F8C1-41B7-A88C-902E019475C2}"/>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Button A</a:t>
            </a:r>
          </a:p>
        </p:txBody>
      </p:sp>
      <p:sp>
        <p:nvSpPr>
          <p:cNvPr id="9" name="">
            <a:extLst xmlns:a="http://schemas.openxmlformats.org/drawingml/2006/main">
              <a:ext uri="{FF2B5EF4-FFF2-40B4-BE49-F238E27FC236}">
                <a16:creationId xmlns:a16="http://schemas.microsoft.com/office/drawing/2014/main" id="{D573A656-665D-4983-BF85-A1633A9D3322}"/>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1265265F-387F-4BCB-8206-7E7BD688587F}"/>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cxnSp>
        <p:nvCxnSpPr>
          <p:cNvPr id="58"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8FCE502D-9D42-4CBC-88FF-2ADD105B79AC}"/>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states, permissions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and transitions.</a:t>
            </a:r>
          </a:p>
        </p:txBody>
      </p:sp>
      <p:sp>
        <p:nvSpPr>
          <p:cNvPr id="13" name="">
            <a:extLst xmlns:a="http://schemas.openxmlformats.org/drawingml/2006/main">
              <a:ext uri="{FF2B5EF4-FFF2-40B4-BE49-F238E27FC236}">
                <a16:creationId xmlns:a16="http://schemas.microsoft.com/office/drawing/2014/main" id="{5ED97271-25B1-47B6-BCF8-FA7D71ED95AA}"/>
              </a:ext>
            </a:extLst>
          </p:cNvPr>
          <p:cNvSpPr>
            <a:spLocks xmlns:a="http://schemas.openxmlformats.org/drawingml/2006/main" noGrp="1"/>
          </p:cNvSpPr>
          <p:nvPr/>
        </p:nvSpPr>
        <p:spPr>
          <a:xfrm xmlns:a="http://schemas.openxmlformats.org/drawingml/2006/main">
            <a:off x="609600" y="3781425"/>
            <a:ext cx="4000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value + backlog priorities.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 examples + acceptance rules.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Project Manager: decisions + dependencies.</a:t>
            </a:r>
          </a:p>
        </p:txBody>
      </p:sp>
      <p:sp>
        <p:nvSpPr>
          <p:cNvPr id="14" name="">
            <a:extLst xmlns:a="http://schemas.openxmlformats.org/drawingml/2006/main">
              <a:ext uri="{FF2B5EF4-FFF2-40B4-BE49-F238E27FC236}">
                <a16:creationId xmlns:a16="http://schemas.microsoft.com/office/drawing/2014/main" id="{18D3527A-2382-4809-8B23-AFAEF670ED8B}"/>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DA0BDC2E-777E-4B19-B4F3-A3B3FCF32C57}"/>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74848020-C612-47B5-9D22-566A31324CD1}"/>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C721432B-F7B5-4D0D-B72E-3FDF6D547B87}"/>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112685AB-CD4E-4A9C-BF24-849477854096}"/>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B71A5831-906E-4C7A-8BA2-8C111449B2B1}"/>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5611582F-8AA4-42D9-94B6-AA37CCD6283C}"/>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F9E1E7A2-1B22-41DC-961B-38807877AF3E}"/>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7F9187E2-2E23-4DA2-AC83-F4485453C1A6}"/>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5D1BBACE-BAED-4256-A931-19ED2AAAC657}"/>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E8A4703D-21FB-4647-A90B-FB01AF516A34}"/>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107639BC-EA15-4CDD-9582-D31D0BE9BDF0}"/>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30FCFF8B-77BB-49C3-9EE6-F5C97C1F223C}"/>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F2F0E17-4A83-4C4D-9009-087E1E49DC37}"/>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D80BF4AC-0C70-4E48-BC66-6C9FF8E95E8B}"/>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0FF8D2C9-281A-4B40-8B7E-9645B9CEEBDF}"/>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F5AECDB5-FE89-47A9-A6F8-A73632B98A59}"/>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CF9C24E4-B556-4802-8CA2-F9D155817598}"/>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44C0340B-2F84-4626-B275-DF27187BED42}"/>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Short explanation</a:t>
            </a:r>
          </a:p>
        </p:txBody>
      </p:sp>
      <p:sp>
        <p:nvSpPr>
          <p:cNvPr id="33" name="">
            <a:extLst xmlns:a="http://schemas.openxmlformats.org/drawingml/2006/main">
              <a:ext uri="{FF2B5EF4-FFF2-40B4-BE49-F238E27FC236}">
                <a16:creationId xmlns:a16="http://schemas.microsoft.com/office/drawing/2014/main" id="{C16BE7B1-6527-4FA4-B8FD-FEF045199F8D}"/>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Detailed explanation</a:t>
            </a:r>
          </a:p>
        </p:txBody>
      </p:sp>
      <p:sp>
        <p:nvSpPr>
          <p:cNvPr id="34" name="">
            <a:extLst xmlns:a="http://schemas.openxmlformats.org/drawingml/2006/main">
              <a:ext uri="{FF2B5EF4-FFF2-40B4-BE49-F238E27FC236}">
                <a16:creationId xmlns:a16="http://schemas.microsoft.com/office/drawing/2014/main" id="{D8A9F47D-FB0A-4A56-B995-7E75354DF329}"/>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B3E03D4D-BFEA-49B4-8DD6-ACABD87D0CCF}"/>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Prohibited outcome</a:t>
            </a:r>
          </a:p>
        </p:txBody>
      </p:sp>
      <p:sp>
        <p:nvSpPr>
          <p:cNvPr id="36" name="">
            <a:extLst xmlns:a="http://schemas.openxmlformats.org/drawingml/2006/main">
              <a:ext uri="{FF2B5EF4-FFF2-40B4-BE49-F238E27FC236}">
                <a16:creationId xmlns:a16="http://schemas.microsoft.com/office/drawing/2014/main" id="{1BF810DF-4D36-4023-9D85-9C14A2C26B8F}"/>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7F850A33-4A6F-4640-8C8C-232657E19883}"/>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sources   ·   CLARIFY missing context   ·   PROHIBIT unsafe actions</a:t>
            </a:r>
          </a:p>
        </p:txBody>
      </p:sp>
      <p:sp>
        <p:nvSpPr>
          <p:cNvPr id="38" name="">
            <a:extLst xmlns:a="http://schemas.openxmlformats.org/drawingml/2006/main">
              <a:ext uri="{FF2B5EF4-FFF2-40B4-BE49-F238E27FC236}">
                <a16:creationId xmlns:a16="http://schemas.microsoft.com/office/drawing/2014/main" id="{EB406962-7004-4680-878F-52D114B5FAB3}"/>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39AE8D48-90D4-40C5-8B5B-1F36DEA3E3B9}"/>
              </a:ext>
            </a:extLst>
          </p:cNvPr>
          <p:cNvSpPr>
            <a:spLocks xmlns:a="http://schemas.openxmlformats.org/drawingml/2006/main" noGrp="1"/>
          </p:cNvSpPr>
          <p:nvPr/>
        </p:nvSpPr>
        <p:spPr>
          <a:xfrm xmlns:a="http://schemas.openxmlformats.org/drawingml/2006/main">
            <a:off x="609600" y="45910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Arial"/>
                <a:ea typeface="Arial"/>
                <a:cs typeface="Arial"/>
              </a:defRPr>
            </a:pPr>
            <a:r>
              <a:rPr sz="1500" b="1">
                <a:solidFill>
                  <a:srgbClr val="F5B61C"/>
                </a:solidFill>
                <a:latin typeface="Arial"/>
                <a:ea typeface="Arial"/>
                <a:cs typeface="Arial"/>
              </a:rPr>
              <a:t>PRODUCT VALUE → RISK TOLERANCE → COST ENVELOPE → RELEASE DECISION</a:t>
            </a:r>
          </a:p>
        </p:txBody>
      </p:sp>
      <p:sp>
        <p:nvSpPr>
          <p:cNvPr id="40" name="">
            <a:extLst xmlns:a="http://schemas.openxmlformats.org/drawingml/2006/main">
              <a:ext uri="{FF2B5EF4-FFF2-40B4-BE49-F238E27FC236}">
                <a16:creationId xmlns:a16="http://schemas.microsoft.com/office/drawing/2014/main" id="{685133CB-3679-4A46-A4B5-32B151564643}"/>
              </a:ext>
            </a:extLst>
          </p:cNvPr>
          <p:cNvSpPr>
            <a:spLocks xmlns:a="http://schemas.openxmlformats.org/drawingml/2006/main" noGrp="1"/>
          </p:cNvSpPr>
          <p:nvPr/>
        </p:nvSpPr>
        <p:spPr>
          <a:xfrm xmlns:a="http://schemas.openxmlformats.org/drawingml/2006/main">
            <a:off x="6096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Meaning: approved steps; wording may vary</a:t>
            </a:r>
          </a:p>
        </p:txBody>
      </p:sp>
      <p:sp>
        <p:nvSpPr>
          <p:cNvPr id="41" name="">
            <a:extLst xmlns:a="http://schemas.openxmlformats.org/drawingml/2006/main">
              <a:ext uri="{FF2B5EF4-FFF2-40B4-BE49-F238E27FC236}">
                <a16:creationId xmlns:a16="http://schemas.microsoft.com/office/drawing/2014/main" id="{5542D4C9-2D99-4ABC-8B88-60AB95D35DE1}"/>
              </a:ext>
            </a:extLst>
          </p:cNvPr>
          <p:cNvSpPr>
            <a:spLocks xmlns:a="http://schemas.openxmlformats.org/drawingml/2006/main" noGrp="1"/>
          </p:cNvSpPr>
          <p:nvPr/>
        </p:nvSpPr>
        <p:spPr>
          <a:xfrm xmlns:a="http://schemas.openxmlformats.org/drawingml/2006/main">
            <a:off x="6286500" y="4886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Errors: acceptable frequency AND impact</a:t>
            </a:r>
          </a:p>
        </p:txBody>
      </p:sp>
      <p:sp>
        <p:nvSpPr>
          <p:cNvPr id="42" name="">
            <a:extLst xmlns:a="http://schemas.openxmlformats.org/drawingml/2006/main">
              <a:ext uri="{FF2B5EF4-FFF2-40B4-BE49-F238E27FC236}">
                <a16:creationId xmlns:a16="http://schemas.microsoft.com/office/drawing/2014/main" id="{55AAF021-EE58-4FA0-BC5F-26581FD94A89}"/>
              </a:ext>
            </a:extLst>
          </p:cNvPr>
          <p:cNvSpPr>
            <a:spLocks xmlns:a="http://schemas.openxmlformats.org/drawingml/2006/main" noGrp="1"/>
          </p:cNvSpPr>
          <p:nvPr/>
        </p:nvSpPr>
        <p:spPr>
          <a:xfrm xmlns:a="http://schemas.openxmlformats.org/drawingml/2006/main">
            <a:off x="6096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Economics: token + review cost; latency</a:t>
            </a:r>
          </a:p>
        </p:txBody>
      </p:sp>
      <p:sp>
        <p:nvSpPr>
          <p:cNvPr id="43" name="">
            <a:extLst xmlns:a="http://schemas.openxmlformats.org/drawingml/2006/main">
              <a:ext uri="{FF2B5EF4-FFF2-40B4-BE49-F238E27FC236}">
                <a16:creationId xmlns:a16="http://schemas.microsoft.com/office/drawing/2014/main" id="{4E88EEFB-88AF-4B98-A31F-D4BF93C3131C}"/>
              </a:ext>
            </a:extLst>
          </p:cNvPr>
          <p:cNvSpPr>
            <a:spLocks xmlns:a="http://schemas.openxmlformats.org/drawingml/2006/main" noGrp="1"/>
          </p:cNvSpPr>
          <p:nvPr/>
        </p:nvSpPr>
        <p:spPr>
          <a:xfrm xmlns:a="http://schemas.openxmlformats.org/drawingml/2006/main">
            <a:off x="6286500" y="51530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Liability: prohibit, escalate or use fallback</a:t>
            </a:r>
          </a:p>
        </p:txBody>
      </p:sp>
      <p:sp>
        <p:nvSpPr>
          <p:cNvPr id="44" name="">
            <a:extLst xmlns:a="http://schemas.openxmlformats.org/drawingml/2006/main">
              <a:ext uri="{FF2B5EF4-FFF2-40B4-BE49-F238E27FC236}">
                <a16:creationId xmlns:a16="http://schemas.microsoft.com/office/drawing/2014/main" id="{35C7834D-87D6-48A9-90C4-1CBB3535260F}"/>
              </a:ext>
            </a:extLst>
          </p:cNvPr>
          <p:cNvSpPr>
            <a:spLocks xmlns:a="http://schemas.openxmlformats.org/drawingml/2006/main" noGrp="1"/>
          </p:cNvSpPr>
          <p:nvPr/>
        </p:nvSpPr>
        <p:spPr>
          <a:xfrm xmlns:a="http://schemas.openxmlformats.org/drawingml/2006/main">
            <a:off x="609600" y="54102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Business / risk owner approves limits. Product / PO + BA make them testable with Dev + QA.</a:t>
            </a:r>
          </a:p>
        </p:txBody>
      </p:sp>
      <p:sp>
        <p:nvSpPr>
          <p:cNvPr id="45" name="">
            <a:extLst xmlns:a="http://schemas.openxmlformats.org/drawingml/2006/main">
              <a:ext uri="{FF2B5EF4-FFF2-40B4-BE49-F238E27FC236}">
                <a16:creationId xmlns:a16="http://schemas.microsoft.com/office/drawing/2014/main" id="{66A69727-5511-491C-BB74-1D0C275E0564}"/>
              </a:ext>
            </a:extLst>
          </p:cNvPr>
          <p:cNvSpPr>
            <a:spLocks xmlns:a="http://schemas.openxmlformats.org/drawingml/2006/main" noGrp="1"/>
          </p:cNvSpPr>
          <p:nvPr/>
        </p:nvSpPr>
        <p:spPr>
          <a:xfrm xmlns:a="http://schemas.openxmlformats.org/drawingml/2006/main">
            <a:off x="609600" y="57435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Shared quality vocabulary exists. Product-specific semantic limits still need agreement.</a:t>
            </a:r>
          </a:p>
        </p:txBody>
      </p:sp>
      <p:sp>
        <p:nvSpPr>
          <p:cNvPr id="46" name="">
            <a:extLst xmlns:a="http://schemas.openxmlformats.org/drawingml/2006/main">
              <a:ext uri="{FF2B5EF4-FFF2-40B4-BE49-F238E27FC236}">
                <a16:creationId xmlns:a16="http://schemas.microsoft.com/office/drawing/2014/main" id="{A14BAE83-2A9B-4E8A-BDBA-E88C8AC8D75E}"/>
              </a:ext>
            </a:extLst>
          </p:cNvPr>
          <p:cNvSpPr>
            <a:spLocks xmlns:a="http://schemas.openxmlformats.org/drawingml/2006/main" noGrp="1"/>
          </p:cNvSpPr>
          <p:nvPr/>
        </p:nvSpPr>
        <p:spPr>
          <a:xfrm xmlns:a="http://schemas.openxmlformats.org/drawingml/2006/main">
            <a:off x="609600" y="60579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Starting points: ISO/IEC 25059 · NIST AI RMF · CheckList (ACL 2020)</a:t>
            </a:r>
          </a:p>
        </p:txBody>
      </p:sp>
      <p:sp>
        <p:nvSpPr>
          <p:cNvPr id="47" name="">
            <a:extLst xmlns:a="http://schemas.openxmlformats.org/drawingml/2006/main">
              <a:ext uri="{FF2B5EF4-FFF2-40B4-BE49-F238E27FC236}">
                <a16:creationId xmlns:a16="http://schemas.microsoft.com/office/drawing/2014/main" id="{486F9B6A-0955-4CE2-8F1C-881A1C381996}"/>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One behavior contract connects product value, delivery and release.</a:t>
            </a:r>
          </a:p>
        </p:txBody>
      </p:sp>
    </p:spTree>
    <p:extLst>
      <p:ext uri="{BB962C8B-B14F-4D97-AF65-F5344CB8AC3E}">
        <p14:creationId xmlns:p14="http://schemas.microsoft.com/office/powerpoint/2010/main" val="25439729"/>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F627C10E-9A41-4494-B771-2D9A33E4869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BAEDC387-0BE5-4CEA-A10F-19F2B65ADA2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CED899C-02D4-4EAD-9E37-803831E1D98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51FE2D7E-6E8C-4A79-A338-CB8C43A10AAF}"/>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DEVELOPERS · DOMAIN EXPERTS · PRODUCT / PO · PROJECT MANAGER</a:t>
            </a:r>
          </a:p>
        </p:txBody>
      </p:sp>
      <p:sp>
        <p:nvSpPr>
          <p:cNvPr id="5" name="">
            <a:extLst xmlns:a="http://schemas.openxmlformats.org/drawingml/2006/main">
              <a:ext uri="{FF2B5EF4-FFF2-40B4-BE49-F238E27FC236}">
                <a16:creationId xmlns:a16="http://schemas.microsoft.com/office/drawing/2014/main" id="{830FED93-A0E9-4890-B56C-20C72C5EB48A}"/>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BAD13256-E5F8-4F30-9CBC-A7DAA499299F}"/>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BC428CA1-350C-4450-9651-90B59871D6D7}"/>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Model behavior can leave agreed tolerances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produce a prohibited outcome.</a:t>
            </a:r>
          </a:p>
        </p:txBody>
      </p:sp>
      <p:sp>
        <p:nvSpPr>
          <p:cNvPr id="8" name="">
            <a:extLst xmlns:a="http://schemas.openxmlformats.org/drawingml/2006/main">
              <a:ext uri="{FF2B5EF4-FFF2-40B4-BE49-F238E27FC236}">
                <a16:creationId xmlns:a16="http://schemas.microsoft.com/office/drawing/2014/main" id="{7FAB6843-A2FF-4037-8824-2989215D268A}"/>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84FA727C-00F2-4B64-A07F-041560C82C09}"/>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C5EEAE5B-4C4D-4F35-BB98-49ACA06EA936}"/>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F29A5E7-4AAC-4BC4-B6A5-710BA5ABE0E0}"/>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FAD102FD-1474-45BB-AD11-80F975101B56}"/>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1BFE0B96-6DE3-44F0-8125-AE3D3FE8211E}"/>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A3211510-E245-484B-B3F6-0B5562EBD9E5}"/>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1BECE619-028D-4EBB-A894-2E6500F9841E}"/>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575523F6-3011-446A-85B0-D57CF8C89D83}"/>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EAE9FDD7-734A-4E57-BDA0-33E6E4D95046}"/>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EA9F7F30-F97F-4B11-8F73-9F20D8CB99CB}"/>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B2CB59BE-6F5F-4159-860B-BC3622E85C81}"/>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1ECC638B-E9C2-4761-B2DC-BBB49ACB133A}"/>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0F7A0894-98C3-4049-B769-334DB1EE58F8}"/>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A764DDD6-B784-4ED3-957A-A00B23895EF8}"/>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3AA620FC-AD39-4EDB-831C-8E3C8F5A0AA7}"/>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0E845741-2D61-45B2-9308-17925BDE918C}"/>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3E27CD8C-6F44-492F-8983-6B6235D94836}"/>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97167CF9-E1FC-4EE7-87FD-E985D1778536}"/>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1EA325FA-FFC9-4842-8E7F-860CE65BB3A8}"/>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4671E096-38FB-4FB5-BDA2-2C2ECBFAEA3A}"/>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EC95C5E2-9E18-443F-ACAE-21B403F20499}"/>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F79AC079-6FE9-4889-83C0-C878943AD8BD}"/>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2F372D8C-577A-4761-9CDD-167A80E14191}"/>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F9059EE7-89A0-4DE8-8B35-21CC09518A00}"/>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2CC0F64C-5FFE-4314-BDD5-7C73B47410B3}"/>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D0B024B3-A50E-4DCD-947F-4F152C6B5263}"/>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0" name="Chart"/>
          <p:cNvGraphicFramePr/>
          <p:nvPr/>
        </p:nvGraphicFramePr>
        <p:xfrm>
          <a:off xmlns:a="http://schemas.openxmlformats.org/drawingml/2006/main" x="609600" y="4610100"/>
          <a:ext xmlns:a="http://schemas.openxmlformats.org/drawingml/2006/main" cx="5143500" cy="1228725"/>
        </p:xfrm>
        <a:graphic xmlns:a="http://schemas.openxmlformats.org/drawingml/2006/main">
          <a:graphicData uri="http://schemas.openxmlformats.org/drawingml/2006/chart">
            <c:chart xmlns:r="http://schemas.openxmlformats.org/officeDocument/2006/relationships" xmlns:c="http://schemas.openxmlformats.org/drawingml/2006/chart" r:id="R24857f5f07c0432b"/>
          </a:graphicData>
        </a:graphic>
      </p:graphicFrame>
      <p:sp>
        <p:nvSpPr>
          <p:cNvPr id="36" name="">
            <a:extLst xmlns:a="http://schemas.openxmlformats.org/drawingml/2006/main">
              <a:ext uri="{FF2B5EF4-FFF2-40B4-BE49-F238E27FC236}">
                <a16:creationId xmlns:a16="http://schemas.microsoft.com/office/drawing/2014/main" id="{2C5EB51E-8CE3-40E3-834C-56AE6100B384}"/>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7" name="">
            <a:extLst xmlns:a="http://schemas.openxmlformats.org/drawingml/2006/main">
              <a:ext uri="{FF2B5EF4-FFF2-40B4-BE49-F238E27FC236}">
                <a16:creationId xmlns:a16="http://schemas.microsoft.com/office/drawing/2014/main" id="{6BCF0936-2BF1-4E87-80B8-4D7B39CE6159}"/>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38" name="">
            <a:extLst xmlns:a="http://schemas.openxmlformats.org/drawingml/2006/main">
              <a:ext uri="{FF2B5EF4-FFF2-40B4-BE49-F238E27FC236}">
                <a16:creationId xmlns:a16="http://schemas.microsoft.com/office/drawing/2014/main" id="{0F1FF59D-75C6-4A07-B293-9FF1F924FD91}"/>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Observed unacceptable outputs</a:t>
            </a:r>
          </a:p>
        </p:txBody>
      </p:sp>
      <p:sp>
        <p:nvSpPr>
          <p:cNvPr id="39" name="">
            <a:extLst xmlns:a="http://schemas.openxmlformats.org/drawingml/2006/main">
              <a:ext uri="{FF2B5EF4-FFF2-40B4-BE49-F238E27FC236}">
                <a16:creationId xmlns:a16="http://schemas.microsoft.com/office/drawing/2014/main" id="{60D04BD6-7645-448E-9016-9096D5FE1E71}"/>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0" name="">
            <a:extLst xmlns:a="http://schemas.openxmlformats.org/drawingml/2006/main">
              <a:ext uri="{FF2B5EF4-FFF2-40B4-BE49-F238E27FC236}">
                <a16:creationId xmlns:a16="http://schemas.microsoft.com/office/drawing/2014/main" id="{D459B4DE-E95B-4D09-BCB0-88B5C0556B8C}"/>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1" name="">
            <a:extLst xmlns:a="http://schemas.openxmlformats.org/drawingml/2006/main">
              <a:ext uri="{FF2B5EF4-FFF2-40B4-BE49-F238E27FC236}">
                <a16:creationId xmlns:a16="http://schemas.microsoft.com/office/drawing/2014/main" id="{72EE4776-D37E-432F-83D4-9A66B398C840}"/>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2" name="">
            <a:extLst xmlns:a="http://schemas.openxmlformats.org/drawingml/2006/main">
              <a:ext uri="{FF2B5EF4-FFF2-40B4-BE49-F238E27FC236}">
                <a16:creationId xmlns:a16="http://schemas.microsoft.com/office/drawing/2014/main" id="{65277F8A-58C1-40BB-882E-AEA7A114E994}"/>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3" name="">
            <a:extLst xmlns:a="http://schemas.openxmlformats.org/drawingml/2006/main">
              <a:ext uri="{FF2B5EF4-FFF2-40B4-BE49-F238E27FC236}">
                <a16:creationId xmlns:a16="http://schemas.microsoft.com/office/drawing/2014/main" id="{A7D7C992-C6D2-4594-A1C8-615ED51C016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probes scenarios; representative samples estimate rates. Eval Gates compare versions.</a:t>
            </a:r>
          </a:p>
        </p:txBody>
      </p:sp>
      <p:sp>
        <p:nvSpPr>
          <p:cNvPr id="44" name="">
            <a:extLst xmlns:a="http://schemas.openxmlformats.org/drawingml/2006/main">
              <a:ext uri="{FF2B5EF4-FFF2-40B4-BE49-F238E27FC236}">
                <a16:creationId xmlns:a16="http://schemas.microsoft.com/office/drawing/2014/main" id="{8715A9EA-0267-4C06-AF75-829A25DF394C}"/>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judgments. Production incidents become regression cases.</a:t>
            </a:r>
          </a:p>
        </p:txBody>
      </p:sp>
      <p:sp>
        <p:nvSpPr>
          <p:cNvPr id="45" name="">
            <a:extLst xmlns:a="http://schemas.openxmlformats.org/drawingml/2006/main">
              <a:ext uri="{FF2B5EF4-FFF2-40B4-BE49-F238E27FC236}">
                <a16:creationId xmlns:a16="http://schemas.microsoft.com/office/drawing/2014/main" id="{30D7B2C4-1A8A-49F7-A81D-891C58363787}"/>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Product / PO + BA: limits · Project Manager: readiness · Authorized owner: release</a:t>
            </a:r>
          </a:p>
        </p:txBody>
      </p:sp>
    </p:spTree>
    <p:extLst>
      <p:ext uri="{BB962C8B-B14F-4D97-AF65-F5344CB8AC3E}">
        <p14:creationId xmlns:p14="http://schemas.microsoft.com/office/powerpoint/2010/main" val="2117778541"/>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42F13B-A2CE-41D2-BD85-3E14425573A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C472F373-80EC-430D-A558-32EA05D6B62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08B1101-9F18-4C41-BE5D-ED913AF61A4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2D563497-AA61-4ECD-AB28-5AFFF2D3E32B}"/>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OWNER + BA · DEVELOPERS + QA · PROJECT MANAGER · OPERATIONS</a:t>
            </a:r>
          </a:p>
        </p:txBody>
      </p:sp>
      <p:sp>
        <p:nvSpPr>
          <p:cNvPr id="5" name="">
            <a:extLst xmlns:a="http://schemas.openxmlformats.org/drawingml/2006/main">
              <a:ext uri="{FF2B5EF4-FFF2-40B4-BE49-F238E27FC236}">
                <a16:creationId xmlns:a16="http://schemas.microsoft.com/office/drawing/2014/main" id="{7499D15F-7985-4B0E-A668-FA214567C169}"/>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Shared readiness and completion; the authorized release owner decides when and where to launch.</a:t>
            </a:r>
          </a:p>
        </p:txBody>
      </p:sp>
      <p:graphicFrame>
        <p:nvGraphicFramePr>
          <p:cNvPr id="17" name=""/>
          <p:cNvGraphicFramePr/>
          <p:nvPr/>
        </p:nvGraphicFramePr>
        <p:xfrm>
          <a:off xmlns:a="http://schemas.openxmlformats.org/drawingml/2006/main" x="609600" y="2381250"/>
          <a:ext xmlns:a="http://schemas.openxmlformats.org/drawingml/2006/main" cx="10972800" cy="2781300"/>
        </p:xfrm>
        <a:graphic xmlns:a="http://schemas.openxmlformats.org/drawingml/2006/main">
          <a:graphicData uri="http://schemas.openxmlformats.org/drawingml/2006/table">
            <a:tbl>
              <a:tblPr/>
              <a:tblGrid>
                <a:gridCol w="1562100"/>
                <a:gridCol w="3810000"/>
                <a:gridCol w="5600700"/>
              </a:tblGrid>
              <a:tr h="381000">
                <a:tc>
                  <a:txBody>
                    <a:bodyPr lIns="171450" tIns="76200" rIns="171450" bIns="76200">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76200" rIns="171450" bIns="76200">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76200" rIns="171450" bIns="76200">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1200150">
                <a:tc>
                  <a:txBody>
                    <a:bodyPr lIns="171450" tIns="76200" rIns="171450" bIns="76200">
                      <a:noAutofit/>
                    </a:bodyPr>
                    <a:lstStyle/>
                    <a:p>
                      <a:r>
                        <a:rPr sz="1575" b="1">
                          <a:solidFill>
                            <a:srgbClr val="F4F7FA"/>
                          </a:solidFill>
                          <a:latin typeface="Arial"/>
                          <a:ea typeface="Arial"/>
                          <a:cs typeface="Arial"/>
                        </a:rPr>
                        <a:t>DoR</a:t>
                      </a:r>
                    </a:p>
                    <a:p>
                      <a:r>
                        <a:rPr sz="1575" b="1">
                          <a:solidFill>
                            <a:srgbClr val="F4F7FA"/>
                          </a:solidFill>
                          <a:latin typeface="Arial"/>
                          <a:ea typeface="Arial"/>
                          <a:cs typeface="Arial"/>
                        </a:rPr>
                        <a:t>READY</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Outcome and acceptance criteria</a:t>
                      </a:r>
                    </a:p>
                    <a:p>
                      <a:r>
                        <a:rPr sz="1575" b="0">
                          <a:solidFill>
                            <a:srgbClr val="F4F7FA"/>
                          </a:solidFill>
                          <a:latin typeface="Arial"/>
                          <a:ea typeface="Arial"/>
                          <a:cs typeface="Arial"/>
                        </a:rPr>
                        <a:t>Dependencies and feasibility</a:t>
                      </a:r>
                    </a:p>
                    <a:p>
                      <a:r>
                        <a:rPr sz="1575" b="0">
                          <a:solidFill>
                            <a:srgbClr val="F4F7FA"/>
                          </a:solidFill>
                          <a:latin typeface="Arial"/>
                          <a:ea typeface="Arial"/>
                          <a:cs typeface="Arial"/>
                        </a:rPr>
                        <a:t>Test approach and responsibilities</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Acceptable variation + prohibited outcomes</a:t>
                      </a:r>
                    </a:p>
                    <a:p>
                      <a:r>
                        <a:rPr sz="1575" b="0">
                          <a:solidFill>
                            <a:srgbClr val="28C7F7"/>
                          </a:solidFill>
                          <a:latin typeface="Arial"/>
                          <a:ea typeface="Arial"/>
                          <a:cs typeface="Arial"/>
                        </a:rPr>
                        <a:t>Evaluation plan + complete control / HITL design</a:t>
                      </a:r>
                    </a:p>
                    <a:p>
                      <a:r>
                        <a:rPr sz="1575" b="0">
                          <a:solidFill>
                            <a:srgbClr val="28C7F7"/>
                          </a:solidFill>
                          <a:latin typeface="Arial"/>
                          <a:ea typeface="Arial"/>
                          <a:cs typeface="Arial"/>
                        </a:rPr>
                        <a:t>Cost, latency and human-capacity limits</a:t>
                      </a:r>
                    </a:p>
                  </a:txBody>
                  <a:tcPr marL="91440" marR="91440" marT="45720" marB="45720" anchor="ctr">
                    <a:solidFill>
                      <a:srgbClr val="0B0F14"/>
                    </a:solidFill>
                  </a:tcPr>
                </a:tc>
              </a:tr>
              <a:tr h="1200150">
                <a:tc>
                  <a:txBody>
                    <a:bodyPr lIns="171450" tIns="76200" rIns="171450" bIns="76200">
                      <a:noAutofit/>
                    </a:bodyPr>
                    <a:lstStyle/>
                    <a:p>
                      <a:r>
                        <a:rPr sz="1575" b="1">
                          <a:solidFill>
                            <a:srgbClr val="F4F7FA"/>
                          </a:solidFill>
                          <a:latin typeface="Arial"/>
                          <a:ea typeface="Arial"/>
                          <a:cs typeface="Arial"/>
                        </a:rPr>
                        <a:t>DoD</a:t>
                      </a:r>
                    </a:p>
                    <a:p>
                      <a:r>
                        <a:rPr sz="1575" b="1">
                          <a:solidFill>
                            <a:srgbClr val="F4F7FA"/>
                          </a:solidFill>
                          <a:latin typeface="Arial"/>
                          <a:ea typeface="Arial"/>
                          <a:cs typeface="Arial"/>
                        </a:rPr>
                        <a:t>DONE</a:t>
                      </a:r>
                    </a:p>
                  </a:txBody>
                  <a:tcPr marL="91440" marR="91440" marT="45720" marB="45720" anchor="ctr">
                    <a:solidFill>
                      <a:srgbClr val="0B0F14"/>
                    </a:solidFill>
                  </a:tcPr>
                </a:tc>
                <a:tc>
                  <a:txBody>
                    <a:bodyPr lIns="171450" tIns="76200" rIns="171450" bIns="76200">
                      <a:noAutofit/>
                    </a:bodyPr>
                    <a:lstStyle/>
                    <a:p>
                      <a:r>
                        <a:rPr sz="1575" b="0">
                          <a:solidFill>
                            <a:srgbClr val="F4F7FA"/>
                          </a:solidFill>
                          <a:latin typeface="Arial"/>
                          <a:ea typeface="Arial"/>
                          <a:cs typeface="Arial"/>
                        </a:rPr>
                        <a:t>Reviewed implementation</a:t>
                      </a:r>
                    </a:p>
                    <a:p>
                      <a:r>
                        <a:rPr sz="1575" b="0">
                          <a:solidFill>
                            <a:srgbClr val="F4F7FA"/>
                          </a:solidFill>
                          <a:latin typeface="Arial"/>
                          <a:ea typeface="Arial"/>
                          <a:cs typeface="Arial"/>
                        </a:rPr>
                        <a:t>Tests and acceptance checks pass</a:t>
                      </a:r>
                    </a:p>
                    <a:p>
                      <a:r>
                        <a:rPr sz="1575" b="0">
                          <a:solidFill>
                            <a:srgbClr val="F4F7FA"/>
                          </a:solidFill>
                          <a:latin typeface="Arial"/>
                          <a:ea typeface="Arial"/>
                          <a:cs typeface="Arial"/>
                        </a:rPr>
                        <a:t>Operational handover is ready</a:t>
                      </a:r>
                    </a:p>
                  </a:txBody>
                  <a:tcPr marL="91440" marR="91440" marT="45720" marB="45720" anchor="ctr">
                    <a:solidFill>
                      <a:srgbClr val="0B0F14"/>
                    </a:solidFill>
                  </a:tcPr>
                </a:tc>
                <a:tc>
                  <a:txBody>
                    <a:bodyPr lIns="171450" tIns="76200" rIns="171450" bIns="76200">
                      <a:noAutofit/>
                    </a:bodyPr>
                    <a:lstStyle/>
                    <a:p>
                      <a:r>
                        <a:rPr sz="1575" b="0">
                          <a:solidFill>
                            <a:srgbClr val="28C7F7"/>
                          </a:solidFill>
                          <a:latin typeface="Arial"/>
                          <a:ea typeface="Arial"/>
                          <a:cs typeface="Arial"/>
                        </a:rPr>
                        <a:t>Versioned evidence + statistical Eval Gates</a:t>
                      </a:r>
                    </a:p>
                    <a:p>
                      <a:r>
                        <a:rPr sz="1575" b="0">
                          <a:solidFill>
                            <a:srgbClr val="28C7F7"/>
                          </a:solidFill>
                          <a:latin typeface="Arial"/>
                          <a:ea typeface="Arial"/>
                          <a:cs typeface="Arial"/>
                        </a:rPr>
                        <a:t>Coverage, uncertainty and measured limits</a:t>
                      </a:r>
                    </a:p>
                    <a:p>
                      <a:r>
                        <a:rPr sz="1575" b="0">
                          <a:solidFill>
                            <a:srgbClr val="28C7F7"/>
                          </a:solidFill>
                          <a:latin typeface="Arial"/>
                          <a:ea typeface="Arial"/>
                          <a:cs typeface="Arial"/>
                        </a:rPr>
                        <a:t>Working controls + rehearsed human / fallback paths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AF9AF41E-CB40-436C-9EDB-B2DC40E8B9B3}"/>
              </a:ext>
            </a:extLst>
          </p:cNvPr>
          <p:cNvSpPr>
            <a:spLocks xmlns:a="http://schemas.openxmlformats.org/drawingml/2006/main" noGrp="1"/>
          </p:cNvSpPr>
          <p:nvPr/>
        </p:nvSpPr>
        <p:spPr>
          <a:xfrm xmlns:a="http://schemas.openxmlformats.org/drawingml/2006/main">
            <a:off x="609600" y="52673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RELEASE OWNER: AUTHORIZE · SERVICE OWNER: OPERATE</a:t>
            </a:r>
          </a:p>
        </p:txBody>
      </p:sp>
      <p:sp>
        <p:nvSpPr>
          <p:cNvPr id="8" name="">
            <a:extLst xmlns:a="http://schemas.openxmlformats.org/drawingml/2006/main">
              <a:ext uri="{FF2B5EF4-FFF2-40B4-BE49-F238E27FC236}">
                <a16:creationId xmlns:a16="http://schemas.microsoft.com/office/drawing/2014/main" id="{E9EA8908-7759-43D7-AFB2-069AD222E02E}"/>
              </a:ext>
            </a:extLst>
          </p:cNvPr>
          <p:cNvSpPr>
            <a:spLocks xmlns:a="http://schemas.openxmlformats.org/drawingml/2006/main" noGrp="1"/>
          </p:cNvSpPr>
          <p:nvPr/>
        </p:nvSpPr>
        <p:spPr>
          <a:xfrm xmlns:a="http://schemas.openxmlformats.org/drawingml/2006/main">
            <a:off x="609600" y="55435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Approve scope and residual risk; verify responder capacity, monitoring and rollback ownership.</a:t>
            </a:r>
          </a:p>
        </p:txBody>
      </p:sp>
      <p:sp>
        <p:nvSpPr>
          <p:cNvPr id="9" name="">
            <a:extLst xmlns:a="http://schemas.openxmlformats.org/drawingml/2006/main">
              <a:ext uri="{FF2B5EF4-FFF2-40B4-BE49-F238E27FC236}">
                <a16:creationId xmlns:a16="http://schemas.microsoft.com/office/drawing/2014/main" id="{112A9BEB-2F74-4703-AB9A-944F3DB6F7A3}"/>
              </a:ext>
            </a:extLst>
          </p:cNvPr>
          <p:cNvSpPr>
            <a:spLocks xmlns:a="http://schemas.openxmlformats.org/drawingml/2006/main" noGrp="1"/>
          </p:cNvSpPr>
          <p:nvPr/>
        </p:nvSpPr>
        <p:spPr>
          <a:xfrm xmlns:a="http://schemas.openxmlformats.org/drawingml/2006/main">
            <a:off x="609600" y="583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28C7F7"/>
                </a:solidFill>
                <a:latin typeface="Arial"/>
                <a:ea typeface="Arial"/>
                <a:cs typeface="Arial"/>
              </a:defRPr>
            </a:pPr>
            <a:r>
              <a:rPr sz="1500" b="0">
                <a:solidFill>
                  <a:srgbClr val="28C7F7"/>
                </a:solidFill>
                <a:latin typeface="Arial"/>
                <a:ea typeface="Arial"/>
                <a:cs typeface="Arial"/>
              </a:rPr>
              <a:t>Production incidents update regression cases, Eval Gates and monitoring rules.</a:t>
            </a:r>
          </a:p>
        </p:txBody>
      </p:sp>
      <p:sp>
        <p:nvSpPr>
          <p:cNvPr id="10" name="">
            <a:extLst xmlns:a="http://schemas.openxmlformats.org/drawingml/2006/main">
              <a:ext uri="{FF2B5EF4-FFF2-40B4-BE49-F238E27FC236}">
                <a16:creationId xmlns:a16="http://schemas.microsoft.com/office/drawing/2014/main" id="{ACA20CB3-074C-49B3-9184-C75FC412A15A}"/>
              </a:ext>
            </a:extLst>
          </p:cNvPr>
          <p:cNvSpPr>
            <a:spLocks xmlns:a="http://schemas.openxmlformats.org/drawingml/2006/main" noGrp="1"/>
          </p:cNvSpPr>
          <p:nvPr/>
        </p:nvSpPr>
        <p:spPr>
          <a:xfrm xmlns:a="http://schemas.openxmlformats.org/drawingml/2006/main">
            <a:off x="609600" y="61436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a team practice. DoD: a shared quality commitment. Release: a separate authorized decision.</a:t>
            </a:r>
          </a:p>
        </p:txBody>
      </p:sp>
      <p:sp>
        <p:nvSpPr>
          <p:cNvPr id="11" name="">
            <a:extLst xmlns:a="http://schemas.openxmlformats.org/drawingml/2006/main">
              <a:ext uri="{FF2B5EF4-FFF2-40B4-BE49-F238E27FC236}">
                <a16:creationId xmlns:a16="http://schemas.microsoft.com/office/drawing/2014/main" id="{DA3BEE58-02B3-4A41-BB1F-3E131AE2305E}"/>
              </a:ext>
            </a:extLst>
          </p:cNvPr>
          <p:cNvSpPr>
            <a:spLocks xmlns:a="http://schemas.openxmlformats.org/drawingml/2006/main" noGrp="1"/>
          </p:cNvSpPr>
          <p:nvPr/>
        </p:nvSpPr>
        <p:spPr>
          <a:xfrm xmlns:a="http://schemas.openxmlformats.org/drawingml/2006/main">
            <a:off x="609600" y="64389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Ready: a credible plan. Done: implemented and evidenced. Release: authorized use.</a:t>
            </a:r>
          </a:p>
        </p:txBody>
      </p:sp>
    </p:spTree>
    <p:extLst>
      <p:ext uri="{BB962C8B-B14F-4D97-AF65-F5344CB8AC3E}">
        <p14:creationId xmlns:p14="http://schemas.microsoft.com/office/powerpoint/2010/main" val="1037068932"/>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A27B3EC1-E18E-4DB3-855A-BA26442DB66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40D63978-E165-450F-8B7C-465BA3D3DA7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E98FF1A-821B-4FEE-9736-711AC8FADB3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D9B91595-9945-4277-BDF4-2B4EACB7A476}"/>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ARCHITECT + DEVELOPERS · QA · SERVICE OWNER / OPERATIONS · PROJECT MANAGER</a:t>
            </a:r>
          </a:p>
        </p:txBody>
      </p:sp>
      <p:sp>
        <p:nvSpPr>
          <p:cNvPr id="5" name="">
            <a:extLst xmlns:a="http://schemas.openxmlformats.org/drawingml/2006/main">
              <a:ext uri="{FF2B5EF4-FFF2-40B4-BE49-F238E27FC236}">
                <a16:creationId xmlns:a16="http://schemas.microsoft.com/office/drawing/2014/main" id="{30DC6D8F-2888-4F8B-AF5B-6A3C7370BE92}"/>
              </a:ext>
            </a:extLst>
          </p:cNvPr>
          <p:cNvSpPr>
            <a:spLocks xmlns:a="http://schemas.openxmlformats.org/drawingml/2006/main" noGrp="1"/>
          </p:cNvSpPr>
          <p:nvPr/>
        </p:nvSpPr>
        <p:spPr>
          <a:xfrm xmlns:a="http://schemas.openxmlformats.org/drawingml/2006/main">
            <a:off x="609600" y="20574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COMPLETE CONTROL PERIMETER</a:t>
            </a:r>
          </a:p>
        </p:txBody>
      </p:sp>
      <p:sp>
        <p:nvSpPr>
          <p:cNvPr id="6" name="">
            <a:extLst xmlns:a="http://schemas.openxmlformats.org/drawingml/2006/main">
              <a:ext uri="{FF2B5EF4-FFF2-40B4-BE49-F238E27FC236}">
                <a16:creationId xmlns:a16="http://schemas.microsoft.com/office/drawing/2014/main" id="{2DC287CE-761E-40EA-832E-0962581AA2FC}"/>
              </a:ext>
            </a:extLst>
          </p:cNvPr>
          <p:cNvSpPr>
            <a:spLocks xmlns:a="http://schemas.openxmlformats.org/drawingml/2006/main" noGrp="1"/>
          </p:cNvSpPr>
          <p:nvPr/>
        </p:nvSpPr>
        <p:spPr>
          <a:xfrm xmlns:a="http://schemas.openxmlformats.org/drawingml/2006/main">
            <a:off x="609600" y="2381250"/>
            <a:ext cx="7620000" cy="2733675"/>
          </a:xfrm>
          <a:prstGeom xmlns:a="http://schemas.openxmlformats.org/drawingml/2006/main" prst="rect">
            <a:avLst/>
          </a:prstGeom>
          <a:noFill xmlns:a="http://schemas.openxmlformats.org/drawingml/2006/main"/>
          <a:ln xmlns:a="http://schemas.openxmlformats.org/drawingml/2006/main" w="14288">
            <a:solidFill>
              <a:srgbClr val="344454"/>
            </a:solidFill>
            <a:prstDash val="solid"/>
          </a:ln>
        </p:spPr>
      </p:sp>
      <p:sp>
        <p:nvSpPr>
          <p:cNvPr id="7" name="">
            <a:extLst xmlns:a="http://schemas.openxmlformats.org/drawingml/2006/main">
              <a:ext uri="{FF2B5EF4-FFF2-40B4-BE49-F238E27FC236}">
                <a16:creationId xmlns:a16="http://schemas.microsoft.com/office/drawing/2014/main" id="{421EAC94-C3BA-458A-88AE-081F2CFCF018}"/>
              </a:ext>
            </a:extLst>
          </p:cNvPr>
          <p:cNvSpPr>
            <a:spLocks xmlns:a="http://schemas.openxmlformats.org/drawingml/2006/main" noGrp="1"/>
          </p:cNvSpPr>
          <p:nvPr/>
        </p:nvSpPr>
        <p:spPr>
          <a:xfrm xmlns:a="http://schemas.openxmlformats.org/drawingml/2006/main">
            <a:off x="838200" y="2428875"/>
            <a:ext cx="716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5B61C"/>
                </a:solidFill>
                <a:latin typeface="Arial"/>
                <a:ea typeface="Arial"/>
                <a:cs typeface="Arial"/>
              </a:defRPr>
            </a:pPr>
            <a:r>
              <a:rPr sz="1500" b="1">
                <a:solidFill>
                  <a:srgbClr val="F5B61C"/>
                </a:solidFill>
                <a:latin typeface="Arial"/>
                <a:ea typeface="Arial"/>
                <a:cs typeface="Arial"/>
              </a:rPr>
              <a:t>Approved boundaries + credible enforcement</a:t>
            </a:r>
          </a:p>
        </p:txBody>
      </p:sp>
      <p:sp>
        <p:nvSpPr>
          <p:cNvPr id="8" name="">
            <a:extLst xmlns:a="http://schemas.openxmlformats.org/drawingml/2006/main">
              <a:ext uri="{FF2B5EF4-FFF2-40B4-BE49-F238E27FC236}">
                <a16:creationId xmlns:a16="http://schemas.microsoft.com/office/drawing/2014/main" id="{C86F0B9F-4333-4280-966F-3115FBB700A3}"/>
              </a:ext>
            </a:extLst>
          </p:cNvPr>
          <p:cNvSpPr>
            <a:spLocks xmlns:a="http://schemas.openxmlformats.org/drawingml/2006/main" noGrp="1"/>
          </p:cNvSpPr>
          <p:nvPr/>
        </p:nvSpPr>
        <p:spPr>
          <a:xfrm xmlns:a="http://schemas.openxmlformats.org/drawingml/2006/main">
            <a:off x="838200" y="2809875"/>
            <a:ext cx="22098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4F69C4D6-C6CC-42F2-AD12-6BFA715AC5E6}"/>
              </a:ext>
            </a:extLst>
          </p:cNvPr>
          <p:cNvSpPr>
            <a:spLocks xmlns:a="http://schemas.openxmlformats.org/drawingml/2006/main" noGrp="1"/>
          </p:cNvSpPr>
          <p:nvPr/>
        </p:nvSpPr>
        <p:spPr>
          <a:xfrm xmlns:a="http://schemas.openxmlformats.org/drawingml/2006/main">
            <a:off x="952500" y="2886075"/>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 + tools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Business action</a:t>
            </a:r>
          </a:p>
        </p:txBody>
      </p:sp>
      <p:sp>
        <p:nvSpPr>
          <p:cNvPr id="10" name="">
            <a:extLst xmlns:a="http://schemas.openxmlformats.org/drawingml/2006/main">
              <a:ext uri="{FF2B5EF4-FFF2-40B4-BE49-F238E27FC236}">
                <a16:creationId xmlns:a16="http://schemas.microsoft.com/office/drawing/2014/main" id="{418101DA-8D8C-4868-99F7-887B0A788377}"/>
              </a:ext>
            </a:extLst>
          </p:cNvPr>
          <p:cNvSpPr>
            <a:spLocks xmlns:a="http://schemas.openxmlformats.org/drawingml/2006/main" noGrp="1"/>
          </p:cNvSpPr>
          <p:nvPr/>
        </p:nvSpPr>
        <p:spPr>
          <a:xfrm xmlns:a="http://schemas.openxmlformats.org/drawingml/2006/main">
            <a:off x="5715000" y="2809875"/>
            <a:ext cx="22860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0D7BF3D9-4217-45BB-9BBC-61DEF2C845DE}"/>
              </a:ext>
            </a:extLst>
          </p:cNvPr>
          <p:cNvSpPr>
            <a:spLocks xmlns:a="http://schemas.openxmlformats.org/drawingml/2006/main" noGrp="1"/>
          </p:cNvSpPr>
          <p:nvPr/>
        </p:nvSpPr>
        <p:spPr>
          <a:xfrm xmlns:a="http://schemas.openxmlformats.org/drawingml/2006/main">
            <a:off x="5829300" y="2886075"/>
            <a:ext cx="2057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Observe behavior</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and control health</a:t>
            </a:r>
          </a:p>
        </p:txBody>
      </p:sp>
      <p:sp>
        <p:nvSpPr>
          <p:cNvPr id="12" name="">
            <a:extLst xmlns:a="http://schemas.openxmlformats.org/drawingml/2006/main">
              <a:ext uri="{FF2B5EF4-FFF2-40B4-BE49-F238E27FC236}">
                <a16:creationId xmlns:a16="http://schemas.microsoft.com/office/drawing/2014/main" id="{D4A7B8CF-898A-4263-B853-246B82A4BB41}"/>
              </a:ext>
            </a:extLst>
          </p:cNvPr>
          <p:cNvSpPr>
            <a:spLocks xmlns:a="http://schemas.openxmlformats.org/drawingml/2006/main" noGrp="1"/>
          </p:cNvSpPr>
          <p:nvPr/>
        </p:nvSpPr>
        <p:spPr>
          <a:xfrm xmlns:a="http://schemas.openxmlformats.org/drawingml/2006/main">
            <a:off x="5715000" y="4162425"/>
            <a:ext cx="22860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5C4A6927-B2BE-4ACB-86AC-E953E80DEFC3}"/>
              </a:ext>
            </a:extLst>
          </p:cNvPr>
          <p:cNvSpPr>
            <a:spLocks xmlns:a="http://schemas.openxmlformats.org/drawingml/2006/main" noGrp="1"/>
          </p:cNvSpPr>
          <p:nvPr/>
        </p:nvSpPr>
        <p:spPr>
          <a:xfrm xmlns:a="http://schemas.openxmlformats.org/drawingml/2006/main">
            <a:off x="5829300" y="4238625"/>
            <a:ext cx="2057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14" name="">
            <a:extLst xmlns:a="http://schemas.openxmlformats.org/drawingml/2006/main">
              <a:ext uri="{FF2B5EF4-FFF2-40B4-BE49-F238E27FC236}">
                <a16:creationId xmlns:a16="http://schemas.microsoft.com/office/drawing/2014/main" id="{854B67BB-D476-4E2B-8893-9F3056DDB1A6}"/>
              </a:ext>
            </a:extLst>
          </p:cNvPr>
          <p:cNvSpPr>
            <a:spLocks xmlns:a="http://schemas.openxmlformats.org/drawingml/2006/main" noGrp="1"/>
          </p:cNvSpPr>
          <p:nvPr/>
        </p:nvSpPr>
        <p:spPr>
          <a:xfrm xmlns:a="http://schemas.openxmlformats.org/drawingml/2006/main">
            <a:off x="838200" y="4162425"/>
            <a:ext cx="2209800" cy="60007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AD68A280-A679-4FD9-990E-6598E3D7A462}"/>
              </a:ext>
            </a:extLst>
          </p:cNvPr>
          <p:cNvSpPr>
            <a:spLocks xmlns:a="http://schemas.openxmlformats.org/drawingml/2006/main" noGrp="1"/>
          </p:cNvSpPr>
          <p:nvPr/>
        </p:nvSpPr>
        <p:spPr>
          <a:xfrm xmlns:a="http://schemas.openxmlformats.org/drawingml/2006/main">
            <a:off x="952500" y="4238625"/>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Fallback / rollback</a:t>
            </a:r>
          </a:p>
        </p:txBody>
      </p:sp>
      <p:cxnSp>
        <p:nvCxnSpPr>
          <p:cNvPr id="56" name=""/>
          <p:cNvCxnSpPr>
            <a:stCxn xmlns:a="http://schemas.openxmlformats.org/drawingml/2006/main" id="8" idx="3"/>
            <a:endCxn xmlns:a="http://schemas.openxmlformats.org/drawingml/2006/main" id="10" idx="1"/>
          </p:cNvCxnSpPr>
          <p:nvPr/>
        </p:nvCxnSpPr>
        <p:spPr>
          <a:xfrm xmlns:a="http://schemas.openxmlformats.org/drawingml/2006/main">
            <a:off x="3048000" y="3109913"/>
            <a:ext cx="26670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0" idx="2"/>
            <a:endCxn xmlns:a="http://schemas.openxmlformats.org/drawingml/2006/main" id="12" idx="0"/>
          </p:cNvCxnSpPr>
          <p:nvPr/>
        </p:nvCxnSpPr>
        <p:spPr>
          <a:xfrm xmlns:a="http://schemas.openxmlformats.org/drawingml/2006/main">
            <a:off x="6858000" y="3409950"/>
            <a:ext cx="0" cy="7524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C0A8F8DE-54C5-43A5-8F29-5C2E86A89AAC}"/>
              </a:ext>
            </a:extLst>
          </p:cNvPr>
          <p:cNvSpPr>
            <a:spLocks xmlns:a="http://schemas.openxmlformats.org/drawingml/2006/main" noGrp="1"/>
          </p:cNvSpPr>
          <p:nvPr/>
        </p:nvSpPr>
        <p:spPr>
          <a:xfrm xmlns:a="http://schemas.openxmlformats.org/drawingml/2006/main" flipH="0" flipV="0">
            <a:off x="6858000" y="4762500"/>
            <a:ext cx="0" cy="20955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9" name="">
            <a:extLst xmlns:a="http://schemas.openxmlformats.org/drawingml/2006/main">
              <a:ext uri="{FF2B5EF4-FFF2-40B4-BE49-F238E27FC236}">
                <a16:creationId xmlns:a16="http://schemas.microsoft.com/office/drawing/2014/main" id="{9B3E3E63-C2EF-4EDD-BE5D-FF9B7C7750F5}"/>
              </a:ext>
            </a:extLst>
          </p:cNvPr>
          <p:cNvSpPr>
            <a:spLocks xmlns:a="http://schemas.openxmlformats.org/drawingml/2006/main" noGrp="1"/>
          </p:cNvSpPr>
          <p:nvPr/>
        </p:nvSpPr>
        <p:spPr>
          <a:xfrm xmlns:a="http://schemas.openxmlformats.org/drawingml/2006/main" flipH="1" flipV="0">
            <a:off x="1943100" y="4972050"/>
            <a:ext cx="491490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20" name="">
            <a:extLst xmlns:a="http://schemas.openxmlformats.org/drawingml/2006/main">
              <a:ext uri="{FF2B5EF4-FFF2-40B4-BE49-F238E27FC236}">
                <a16:creationId xmlns:a16="http://schemas.microsoft.com/office/drawing/2014/main" id="{18004FCB-5439-41D3-9A65-7AEDB4E76F27}"/>
              </a:ext>
            </a:extLst>
          </p:cNvPr>
          <p:cNvSpPr>
            <a:spLocks xmlns:a="http://schemas.openxmlformats.org/drawingml/2006/main" noGrp="1"/>
          </p:cNvSpPr>
          <p:nvPr/>
        </p:nvSpPr>
        <p:spPr>
          <a:xfrm xmlns:a="http://schemas.openxmlformats.org/drawingml/2006/main">
            <a:off x="1938338" y="4962525"/>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61" name=""/>
          <p:cNvCxnSpPr>
            <a:stCxn xmlns:a="http://schemas.openxmlformats.org/drawingml/2006/main" id="20" idx="0"/>
            <a:endCxn xmlns:a="http://schemas.openxmlformats.org/drawingml/2006/main" id="14" idx="2"/>
          </p:cNvCxnSpPr>
          <p:nvPr/>
        </p:nvCxnSpPr>
        <p:spPr>
          <a:xfrm xmlns:a="http://schemas.openxmlformats.org/drawingml/2006/main" flipH="1" flipV="1">
            <a:off x="1943100" y="4762500"/>
            <a:ext cx="0" cy="20002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2" name=""/>
          <p:cNvCxnSpPr>
            <a:stCxn xmlns:a="http://schemas.openxmlformats.org/drawingml/2006/main" id="14" idx="0"/>
            <a:endCxn xmlns:a="http://schemas.openxmlformats.org/drawingml/2006/main" id="8" idx="2"/>
          </p:cNvCxnSpPr>
          <p:nvPr/>
        </p:nvCxnSpPr>
        <p:spPr>
          <a:xfrm xmlns:a="http://schemas.openxmlformats.org/drawingml/2006/main" flipV="1">
            <a:off x="1943100" y="3409950"/>
            <a:ext cx="0" cy="7524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3" name="">
            <a:extLst xmlns:a="http://schemas.openxmlformats.org/drawingml/2006/main">
              <a:ext uri="{FF2B5EF4-FFF2-40B4-BE49-F238E27FC236}">
                <a16:creationId xmlns:a16="http://schemas.microsoft.com/office/drawing/2014/main" id="{C7479101-D504-4911-92E2-88D896F5F1E1}"/>
              </a:ext>
            </a:extLst>
          </p:cNvPr>
          <p:cNvSpPr>
            <a:spLocks xmlns:a="http://schemas.openxmlformats.org/drawingml/2006/main" noGrp="1"/>
          </p:cNvSpPr>
          <p:nvPr/>
        </p:nvSpPr>
        <p:spPr>
          <a:xfrm xmlns:a="http://schemas.openxmlformats.org/drawingml/2006/main">
            <a:off x="3352800" y="3619500"/>
            <a:ext cx="2057400" cy="10477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24" name="">
            <a:extLst xmlns:a="http://schemas.openxmlformats.org/drawingml/2006/main">
              <a:ext uri="{FF2B5EF4-FFF2-40B4-BE49-F238E27FC236}">
                <a16:creationId xmlns:a16="http://schemas.microsoft.com/office/drawing/2014/main" id="{E969FD47-F6BB-4641-9432-8D45FF6C9487}"/>
              </a:ext>
            </a:extLst>
          </p:cNvPr>
          <p:cNvSpPr>
            <a:spLocks xmlns:a="http://schemas.openxmlformats.org/drawingml/2006/main" noGrp="1"/>
          </p:cNvSpPr>
          <p:nvPr/>
        </p:nvSpPr>
        <p:spPr>
          <a:xfrm xmlns:a="http://schemas.openxmlformats.org/drawingml/2006/main">
            <a:off x="3467100" y="3695700"/>
            <a:ext cx="1828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HUMAN AUTHORITY</a:t>
            </a:r>
          </a:p>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Evidence + context</a:t>
            </a:r>
          </a:p>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Real decision rights</a:t>
            </a:r>
          </a:p>
        </p:txBody>
      </p:sp>
      <p:cxnSp>
        <p:nvCxnSpPr>
          <p:cNvPr id="65" name=""/>
          <p:cNvCxnSpPr>
            <a:stCxn xmlns:a="http://schemas.openxmlformats.org/drawingml/2006/main" id="23" idx="3"/>
            <a:endCxn xmlns:a="http://schemas.openxmlformats.org/drawingml/2006/main" id="12" idx="1"/>
          </p:cNvCxnSpPr>
          <p:nvPr/>
        </p:nvCxnSpPr>
        <p:spPr>
          <a:xfrm xmlns:a="http://schemas.openxmlformats.org/drawingml/2006/main">
            <a:off x="5410200" y="4143375"/>
            <a:ext cx="304800" cy="319088"/>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6" name="">
            <a:extLst xmlns:a="http://schemas.openxmlformats.org/drawingml/2006/main">
              <a:ext uri="{FF2B5EF4-FFF2-40B4-BE49-F238E27FC236}">
                <a16:creationId xmlns:a16="http://schemas.microsoft.com/office/drawing/2014/main" id="{F741E803-561F-4A05-B72A-2327581E7536}"/>
              </a:ext>
            </a:extLst>
          </p:cNvPr>
          <p:cNvSpPr>
            <a:spLocks xmlns:a="http://schemas.openxmlformats.org/drawingml/2006/main" noGrp="1"/>
          </p:cNvSpPr>
          <p:nvPr/>
        </p:nvSpPr>
        <p:spPr>
          <a:xfrm xmlns:a="http://schemas.openxmlformats.org/drawingml/2006/main">
            <a:off x="3276600" y="3209925"/>
            <a:ext cx="2247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ADB8C5"/>
                </a:solidFill>
                <a:latin typeface="Arial"/>
                <a:ea typeface="Arial"/>
                <a:cs typeface="Arial"/>
              </a:defRPr>
            </a:pPr>
            <a:r>
              <a:rPr sz="1200" b="0">
                <a:solidFill>
                  <a:srgbClr val="ADB8C5"/>
                </a:solidFill>
                <a:latin typeface="Arial"/>
                <a:ea typeface="Arial"/>
                <a:cs typeface="Arial"/>
              </a:rPr>
              <a:t>Competence + response time</a:t>
            </a:r>
          </a:p>
          <a:p xmlns:a="http://schemas.openxmlformats.org/drawingml/2006/main">
            <a:pPr algn="ctr">
              <a:defRPr sz="1200" b="0">
                <a:solidFill>
                  <a:srgbClr val="ADB8C5"/>
                </a:solidFill>
                <a:latin typeface="Arial"/>
                <a:ea typeface="Arial"/>
                <a:cs typeface="Arial"/>
              </a:defRPr>
            </a:pPr>
            <a:r>
              <a:rPr sz="1200" b="0">
                <a:solidFill>
                  <a:srgbClr val="ADB8C5"/>
                </a:solidFill>
                <a:latin typeface="Arial"/>
                <a:ea typeface="Arial"/>
                <a:cs typeface="Arial"/>
              </a:rPr>
              <a:t>Peak capacity + backup</a:t>
            </a:r>
          </a:p>
        </p:txBody>
      </p:sp>
      <p:sp>
        <p:nvSpPr>
          <p:cNvPr id="27" name="">
            <a:extLst xmlns:a="http://schemas.openxmlformats.org/drawingml/2006/main">
              <a:ext uri="{FF2B5EF4-FFF2-40B4-BE49-F238E27FC236}">
                <a16:creationId xmlns:a16="http://schemas.microsoft.com/office/drawing/2014/main" id="{1BDC0EE2-8E51-4F8A-AE7E-9CA78877D2F9}"/>
              </a:ext>
            </a:extLst>
          </p:cNvPr>
          <p:cNvSpPr>
            <a:spLocks xmlns:a="http://schemas.openxmlformats.org/drawingml/2006/main" noGrp="1"/>
          </p:cNvSpPr>
          <p:nvPr/>
        </p:nvSpPr>
        <p:spPr>
          <a:xfrm xmlns:a="http://schemas.openxmlformats.org/drawingml/2006/main" flipH="0" flipV="0">
            <a:off x="8486775" y="2076450"/>
            <a:ext cx="0" cy="3038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39E92616-B6D2-4E60-88C0-13E218B27158}"/>
              </a:ext>
            </a:extLst>
          </p:cNvPr>
          <p:cNvSpPr>
            <a:spLocks xmlns:a="http://schemas.openxmlformats.org/drawingml/2006/main" noGrp="1"/>
          </p:cNvSpPr>
          <p:nvPr/>
        </p:nvSpPr>
        <p:spPr>
          <a:xfrm xmlns:a="http://schemas.openxmlformats.org/drawingml/2006/main">
            <a:off x="8743950" y="2057400"/>
            <a:ext cx="2838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F6B75"/>
                </a:solidFill>
                <a:latin typeface="Arial"/>
                <a:ea typeface="Arial"/>
                <a:cs typeface="Arial"/>
              </a:defRPr>
            </a:pPr>
            <a:r>
              <a:rPr sz="1500" b="1">
                <a:solidFill>
                  <a:srgbClr val="FF6B75"/>
                </a:solidFill>
                <a:latin typeface="Arial"/>
                <a:ea typeface="Arial"/>
                <a:cs typeface="Arial"/>
              </a:rPr>
              <a:t>ARCHITECTURAL VETO</a:t>
            </a:r>
          </a:p>
        </p:txBody>
      </p:sp>
      <p:sp>
        <p:nvSpPr>
          <p:cNvPr id="29" name="">
            <a:extLst xmlns:a="http://schemas.openxmlformats.org/drawingml/2006/main">
              <a:ext uri="{FF2B5EF4-FFF2-40B4-BE49-F238E27FC236}">
                <a16:creationId xmlns:a16="http://schemas.microsoft.com/office/drawing/2014/main" id="{57345E90-42E4-43DA-A954-41C04AE3E841}"/>
              </a:ext>
            </a:extLst>
          </p:cNvPr>
          <p:cNvSpPr>
            <a:spLocks xmlns:a="http://schemas.openxmlformats.org/drawingml/2006/main" noGrp="1"/>
          </p:cNvSpPr>
          <p:nvPr/>
        </p:nvSpPr>
        <p:spPr>
          <a:xfrm xmlns:a="http://schemas.openxmlformats.org/drawingml/2006/main">
            <a:off x="8743950" y="2409825"/>
            <a:ext cx="2838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Required control cannot be made reliable and operable within the approved boundaries?</a:t>
            </a:r>
          </a:p>
        </p:txBody>
      </p:sp>
      <p:sp>
        <p:nvSpPr>
          <p:cNvPr id="30" name="">
            <a:extLst xmlns:a="http://schemas.openxmlformats.org/drawingml/2006/main">
              <a:ext uri="{FF2B5EF4-FFF2-40B4-BE49-F238E27FC236}">
                <a16:creationId xmlns:a16="http://schemas.microsoft.com/office/drawing/2014/main" id="{CEBA2A79-A25C-4779-B4BC-6CEB63A6E84B}"/>
              </a:ext>
            </a:extLst>
          </p:cNvPr>
          <p:cNvSpPr>
            <a:spLocks xmlns:a="http://schemas.openxmlformats.org/drawingml/2006/main" noGrp="1"/>
          </p:cNvSpPr>
          <p:nvPr/>
        </p:nvSpPr>
        <p:spPr>
          <a:xfrm xmlns:a="http://schemas.openxmlformats.org/drawingml/2006/main">
            <a:off x="8743950" y="3667125"/>
            <a:ext cx="28384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F6B75"/>
                </a:solidFill>
                <a:latin typeface="Arial"/>
                <a:ea typeface="Arial"/>
                <a:cs typeface="Arial"/>
              </a:defRPr>
            </a:pPr>
            <a:r>
              <a:rPr sz="1800" b="1">
                <a:solidFill>
                  <a:srgbClr val="FF6B75"/>
                </a:solidFill>
                <a:latin typeface="Arial"/>
                <a:ea typeface="Arial"/>
                <a:cs typeface="Arial"/>
              </a:rPr>
              <a:t>Narrow, redesign or reject this AI path.</a:t>
            </a:r>
          </a:p>
        </p:txBody>
      </p:sp>
      <p:sp>
        <p:nvSpPr>
          <p:cNvPr id="31" name="">
            <a:extLst xmlns:a="http://schemas.openxmlformats.org/drawingml/2006/main">
              <a:ext uri="{FF2B5EF4-FFF2-40B4-BE49-F238E27FC236}">
                <a16:creationId xmlns:a16="http://schemas.microsoft.com/office/drawing/2014/main" id="{03A47553-B508-4EFE-9EF8-1C282ACD48AB}"/>
              </a:ext>
            </a:extLst>
          </p:cNvPr>
          <p:cNvSpPr>
            <a:spLocks xmlns:a="http://schemas.openxmlformats.org/drawingml/2006/main" noGrp="1"/>
          </p:cNvSpPr>
          <p:nvPr/>
        </p:nvSpPr>
        <p:spPr>
          <a:xfrm xmlns:a="http://schemas.openxmlformats.org/drawingml/2006/main">
            <a:off x="8743950" y="4343400"/>
            <a:ext cx="2838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Missing evidence, ineffective intervention or nominal human oversight can block production.</a:t>
            </a:r>
          </a:p>
        </p:txBody>
      </p:sp>
      <p:sp>
        <p:nvSpPr>
          <p:cNvPr id="32" name="">
            <a:extLst xmlns:a="http://schemas.openxmlformats.org/drawingml/2006/main">
              <a:ext uri="{FF2B5EF4-FFF2-40B4-BE49-F238E27FC236}">
                <a16:creationId xmlns:a16="http://schemas.microsoft.com/office/drawing/2014/main" id="{CB73F477-00B5-45D4-A56D-8A985A1A9B76}"/>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WHY THIS DOMAIN IS HARD</a:t>
            </a:r>
          </a:p>
        </p:txBody>
      </p:sp>
      <p:sp>
        <p:nvSpPr>
          <p:cNvPr id="33" name="">
            <a:extLst xmlns:a="http://schemas.openxmlformats.org/drawingml/2006/main">
              <a:ext uri="{FF2B5EF4-FFF2-40B4-BE49-F238E27FC236}">
                <a16:creationId xmlns:a16="http://schemas.microsoft.com/office/drawing/2014/main" id="{433B5B66-7315-457A-9712-F5208C01A917}"/>
              </a:ext>
            </a:extLst>
          </p:cNvPr>
          <p:cNvSpPr>
            <a:spLocks xmlns:a="http://schemas.openxmlformats.org/drawingml/2006/main" noGrp="1"/>
          </p:cNvSpPr>
          <p:nvPr/>
        </p:nvSpPr>
        <p:spPr>
          <a:xfrm xmlns:a="http://schemas.openxmlformats.org/drawingml/2006/main">
            <a:off x="60960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Latency + human capacity</a:t>
            </a:r>
          </a:p>
        </p:txBody>
      </p:sp>
      <p:sp>
        <p:nvSpPr>
          <p:cNvPr id="34" name="">
            <a:extLst xmlns:a="http://schemas.openxmlformats.org/drawingml/2006/main">
              <a:ext uri="{FF2B5EF4-FFF2-40B4-BE49-F238E27FC236}">
                <a16:creationId xmlns:a16="http://schemas.microsoft.com/office/drawing/2014/main" id="{06C0D0DE-4E19-4A1B-95AB-321123A8EDBE}"/>
              </a:ext>
            </a:extLst>
          </p:cNvPr>
          <p:cNvSpPr>
            <a:spLocks xmlns:a="http://schemas.openxmlformats.org/drawingml/2006/main" noGrp="1"/>
          </p:cNvSpPr>
          <p:nvPr/>
        </p:nvSpPr>
        <p:spPr>
          <a:xfrm xmlns:a="http://schemas.openxmlformats.org/drawingml/2006/main">
            <a:off x="60960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Will detection and intervention be timely?</a:t>
            </a:r>
          </a:p>
        </p:txBody>
      </p:sp>
      <p:sp>
        <p:nvSpPr>
          <p:cNvPr id="35" name="">
            <a:extLst xmlns:a="http://schemas.openxmlformats.org/drawingml/2006/main">
              <a:ext uri="{FF2B5EF4-FFF2-40B4-BE49-F238E27FC236}">
                <a16:creationId xmlns:a16="http://schemas.microsoft.com/office/drawing/2014/main" id="{64684F50-4FE9-4B93-A078-870F2A89EEB3}"/>
              </a:ext>
            </a:extLst>
          </p:cNvPr>
          <p:cNvSpPr>
            <a:spLocks xmlns:a="http://schemas.openxmlformats.org/drawingml/2006/main" noGrp="1"/>
          </p:cNvSpPr>
          <p:nvPr/>
        </p:nvSpPr>
        <p:spPr>
          <a:xfrm xmlns:a="http://schemas.openxmlformats.org/drawingml/2006/main">
            <a:off x="432435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Token + control costs</a:t>
            </a:r>
          </a:p>
        </p:txBody>
      </p:sp>
      <p:sp>
        <p:nvSpPr>
          <p:cNvPr id="36" name="">
            <a:extLst xmlns:a="http://schemas.openxmlformats.org/drawingml/2006/main">
              <a:ext uri="{FF2B5EF4-FFF2-40B4-BE49-F238E27FC236}">
                <a16:creationId xmlns:a16="http://schemas.microsoft.com/office/drawing/2014/main" id="{42E36096-C5C9-462E-B5EC-933E55228133}"/>
              </a:ext>
            </a:extLst>
          </p:cNvPr>
          <p:cNvSpPr>
            <a:spLocks xmlns:a="http://schemas.openxmlformats.org/drawingml/2006/main" noGrp="1"/>
          </p:cNvSpPr>
          <p:nvPr/>
        </p:nvSpPr>
        <p:spPr>
          <a:xfrm xmlns:a="http://schemas.openxmlformats.org/drawingml/2006/main">
            <a:off x="432435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Calls, evaluation and review demand vary.</a:t>
            </a:r>
          </a:p>
        </p:txBody>
      </p:sp>
      <p:sp>
        <p:nvSpPr>
          <p:cNvPr id="37" name="">
            <a:extLst xmlns:a="http://schemas.openxmlformats.org/drawingml/2006/main">
              <a:ext uri="{FF2B5EF4-FFF2-40B4-BE49-F238E27FC236}">
                <a16:creationId xmlns:a16="http://schemas.microsoft.com/office/drawing/2014/main" id="{71DA780C-033B-48CB-B57E-9C197B1789BE}"/>
              </a:ext>
            </a:extLst>
          </p:cNvPr>
          <p:cNvSpPr>
            <a:spLocks xmlns:a="http://schemas.openxmlformats.org/drawingml/2006/main" noGrp="1"/>
          </p:cNvSpPr>
          <p:nvPr/>
        </p:nvSpPr>
        <p:spPr>
          <a:xfrm xmlns:a="http://schemas.openxmlformats.org/drawingml/2006/main">
            <a:off x="8039100" y="5505450"/>
            <a:ext cx="3543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Opaque vendor changes</a:t>
            </a:r>
          </a:p>
        </p:txBody>
      </p:sp>
      <p:sp>
        <p:nvSpPr>
          <p:cNvPr id="38" name="">
            <a:extLst xmlns:a="http://schemas.openxmlformats.org/drawingml/2006/main">
              <a:ext uri="{FF2B5EF4-FFF2-40B4-BE49-F238E27FC236}">
                <a16:creationId xmlns:a16="http://schemas.microsoft.com/office/drawing/2014/main" id="{60EB6D81-9866-434C-8CD7-9E2F7211CC63}"/>
              </a:ext>
            </a:extLst>
          </p:cNvPr>
          <p:cNvSpPr>
            <a:spLocks xmlns:a="http://schemas.openxmlformats.org/drawingml/2006/main" noGrp="1"/>
          </p:cNvSpPr>
          <p:nvPr/>
        </p:nvSpPr>
        <p:spPr>
          <a:xfrm xmlns:a="http://schemas.openxmlformats.org/drawingml/2006/main">
            <a:off x="8039100" y="5781675"/>
            <a:ext cx="3543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Behavior may change without a local commit.</a:t>
            </a:r>
          </a:p>
        </p:txBody>
      </p:sp>
      <p:sp>
        <p:nvSpPr>
          <p:cNvPr id="39" name="">
            <a:extLst xmlns:a="http://schemas.openxmlformats.org/drawingml/2006/main">
              <a:ext uri="{FF2B5EF4-FFF2-40B4-BE49-F238E27FC236}">
                <a16:creationId xmlns:a16="http://schemas.microsoft.com/office/drawing/2014/main" id="{F63A9FB4-F075-4730-A440-985FD28F9F3D}"/>
              </a:ext>
            </a:extLst>
          </p:cNvPr>
          <p:cNvSpPr>
            <a:spLocks xmlns:a="http://schemas.openxmlformats.org/drawingml/2006/main" noGrp="1"/>
          </p:cNvSpPr>
          <p:nvPr/>
        </p:nvSpPr>
        <p:spPr>
          <a:xfrm xmlns:a="http://schemas.openxmlformats.org/drawingml/2006/main">
            <a:off x="609600" y="61817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Arial"/>
                <a:ea typeface="Arial"/>
                <a:cs typeface="Arial"/>
              </a:defRPr>
            </a:pPr>
            <a:r>
              <a:rPr sz="1425" b="0">
                <a:solidFill>
                  <a:srgbClr val="F5B61C"/>
                </a:solidFill>
                <a:latin typeface="Arial"/>
                <a:ea typeface="Arial"/>
                <a:cs typeface="Arial"/>
              </a:rPr>
              <a:t>Unknown load: bounded trial with working controls, exposure limits and stop criteria.</a:t>
            </a:r>
          </a:p>
        </p:txBody>
      </p:sp>
      <p:sp>
        <p:nvSpPr>
          <p:cNvPr id="40" name="">
            <a:extLst xmlns:a="http://schemas.openxmlformats.org/drawingml/2006/main">
              <a:ext uri="{FF2B5EF4-FFF2-40B4-BE49-F238E27FC236}">
                <a16:creationId xmlns:a16="http://schemas.microsoft.com/office/drawing/2014/main" id="{CA39B8AA-2B37-4A6A-A7BC-92E6E62297A1}"/>
              </a:ext>
            </a:extLst>
          </p:cNvPr>
          <p:cNvSpPr>
            <a:spLocks xmlns:a="http://schemas.openxmlformats.org/drawingml/2006/main" noGrp="1"/>
          </p:cNvSpPr>
          <p:nvPr/>
        </p:nvSpPr>
        <p:spPr>
          <a:xfrm xmlns:a="http://schemas.openxmlformats.org/drawingml/2006/main">
            <a:off x="609600" y="647700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Architect + Dev build the path. QA tests it. Service owner keeps it operable.</a:t>
            </a:r>
          </a:p>
        </p:txBody>
      </p:sp>
    </p:spTree>
    <p:extLst>
      <p:ext uri="{BB962C8B-B14F-4D97-AF65-F5344CB8AC3E}">
        <p14:creationId xmlns:p14="http://schemas.microsoft.com/office/powerpoint/2010/main" val="2019540854"/>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E7E183C-DCAD-4D8F-9381-F33DCF453A1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C687D57F-8BC1-4CC0-A2E9-785E43ECEFA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4775808-572E-4EB9-BDCF-FAE6A247E52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C3CD935C-EA4F-4E77-B134-3C9477D0FBD1}"/>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connects Product / PO, BA, engineering, QA and operations</a:t>
            </a:r>
          </a:p>
        </p:txBody>
      </p:sp>
      <p:sp>
        <p:nvSpPr>
          <p:cNvPr id="5" name="">
            <a:extLst xmlns:a="http://schemas.openxmlformats.org/drawingml/2006/main">
              <a:ext uri="{FF2B5EF4-FFF2-40B4-BE49-F238E27FC236}">
                <a16:creationId xmlns:a16="http://schemas.microsoft.com/office/drawing/2014/main" id="{367DA691-720B-43B7-8409-B2CBBA93A538}"/>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Scope, schedule, cost, risk and stakeholders remain the foundation.</a:t>
            </a:r>
          </a:p>
        </p:txBody>
      </p:sp>
      <p:sp>
        <p:nvSpPr>
          <p:cNvPr id="6" name="">
            <a:extLst xmlns:a="http://schemas.openxmlformats.org/drawingml/2006/main">
              <a:ext uri="{FF2B5EF4-FFF2-40B4-BE49-F238E27FC236}">
                <a16:creationId xmlns:a16="http://schemas.microsoft.com/office/drawing/2014/main" id="{E9308541-FECB-4BE9-BB47-DB03768B6F28}"/>
              </a:ext>
            </a:extLst>
          </p:cNvPr>
          <p:cNvSpPr>
            <a:spLocks xmlns:a="http://schemas.openxmlformats.org/drawingml/2006/main" noGrp="1"/>
          </p:cNvSpPr>
          <p:nvPr/>
        </p:nvSpPr>
        <p:spPr>
          <a:xfrm xmlns:a="http://schemas.openxmlformats.org/drawingml/2006/main">
            <a:off x="609600" y="235267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 KNOWLEDGE GAP CAN BECOME A DELIVERY DEPENDENCY</a:t>
            </a:r>
          </a:p>
        </p:txBody>
      </p:sp>
      <p:sp>
        <p:nvSpPr>
          <p:cNvPr id="7" name="">
            <a:extLst xmlns:a="http://schemas.openxmlformats.org/drawingml/2006/main">
              <a:ext uri="{FF2B5EF4-FFF2-40B4-BE49-F238E27FC236}">
                <a16:creationId xmlns:a16="http://schemas.microsoft.com/office/drawing/2014/main" id="{B7C37E45-CCF3-4D9A-B5C0-5FB1E2CDD8CC}"/>
              </a:ext>
            </a:extLst>
          </p:cNvPr>
          <p:cNvSpPr>
            <a:spLocks xmlns:a="http://schemas.openxmlformats.org/drawingml/2006/main" noGrp="1"/>
          </p:cNvSpPr>
          <p:nvPr/>
        </p:nvSpPr>
        <p:spPr>
          <a:xfrm xmlns:a="http://schemas.openxmlformats.org/drawingml/2006/main">
            <a:off x="6096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38C84742-AEE7-49C3-85F4-2FB326CF7FB2}"/>
              </a:ext>
            </a:extLst>
          </p:cNvPr>
          <p:cNvSpPr>
            <a:spLocks xmlns:a="http://schemas.openxmlformats.org/drawingml/2006/main" noGrp="1"/>
          </p:cNvSpPr>
          <p:nvPr/>
        </p:nvSpPr>
        <p:spPr>
          <a:xfrm xmlns:a="http://schemas.openxmlformats.org/drawingml/2006/main">
            <a:off x="7239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AI adds code in a language</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the team does not know</a:t>
            </a:r>
          </a:p>
        </p:txBody>
      </p:sp>
      <p:sp>
        <p:nvSpPr>
          <p:cNvPr id="9" name="">
            <a:extLst xmlns:a="http://schemas.openxmlformats.org/drawingml/2006/main">
              <a:ext uri="{FF2B5EF4-FFF2-40B4-BE49-F238E27FC236}">
                <a16:creationId xmlns:a16="http://schemas.microsoft.com/office/drawing/2014/main" id="{CDAD3AE6-D057-4ABC-9361-3B6D6D7BAB51}"/>
              </a:ext>
            </a:extLst>
          </p:cNvPr>
          <p:cNvSpPr>
            <a:spLocks xmlns:a="http://schemas.openxmlformats.org/drawingml/2006/main" noGrp="1"/>
          </p:cNvSpPr>
          <p:nvPr/>
        </p:nvSpPr>
        <p:spPr>
          <a:xfrm xmlns:a="http://schemas.openxmlformats.org/drawingml/2006/main">
            <a:off x="451485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0" name="">
            <a:extLst xmlns:a="http://schemas.openxmlformats.org/drawingml/2006/main">
              <a:ext uri="{FF2B5EF4-FFF2-40B4-BE49-F238E27FC236}">
                <a16:creationId xmlns:a16="http://schemas.microsoft.com/office/drawing/2014/main" id="{8D32F348-5A3B-4542-AF6E-8AB2D6A7A6B4}"/>
              </a:ext>
            </a:extLst>
          </p:cNvPr>
          <p:cNvSpPr>
            <a:spLocks xmlns:a="http://schemas.openxmlformats.org/drawingml/2006/main" noGrp="1"/>
          </p:cNvSpPr>
          <p:nvPr/>
        </p:nvSpPr>
        <p:spPr>
          <a:xfrm xmlns:a="http://schemas.openxmlformats.org/drawingml/2006/main">
            <a:off x="462915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 small component grows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into a critical dependency</a:t>
            </a:r>
          </a:p>
        </p:txBody>
      </p:sp>
      <p:sp>
        <p:nvSpPr>
          <p:cNvPr id="11" name="">
            <a:extLst xmlns:a="http://schemas.openxmlformats.org/drawingml/2006/main">
              <a:ext uri="{FF2B5EF4-FFF2-40B4-BE49-F238E27FC236}">
                <a16:creationId xmlns:a16="http://schemas.microsoft.com/office/drawing/2014/main" id="{1E2B79AC-0E86-4C0D-AE29-BE990AF1CDF2}"/>
              </a:ext>
            </a:extLst>
          </p:cNvPr>
          <p:cNvSpPr>
            <a:spLocks xmlns:a="http://schemas.openxmlformats.org/drawingml/2006/main" noGrp="1"/>
          </p:cNvSpPr>
          <p:nvPr/>
        </p:nvSpPr>
        <p:spPr>
          <a:xfrm xmlns:a="http://schemas.openxmlformats.org/drawingml/2006/main">
            <a:off x="8420100" y="2676525"/>
            <a:ext cx="3162300" cy="5143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2" name="">
            <a:extLst xmlns:a="http://schemas.openxmlformats.org/drawingml/2006/main">
              <a:ext uri="{FF2B5EF4-FFF2-40B4-BE49-F238E27FC236}">
                <a16:creationId xmlns:a16="http://schemas.microsoft.com/office/drawing/2014/main" id="{9CDE2437-B54C-437A-BACB-E0F5752F6B8B}"/>
              </a:ext>
            </a:extLst>
          </p:cNvPr>
          <p:cNvSpPr>
            <a:spLocks xmlns:a="http://schemas.openxmlformats.org/drawingml/2006/main" noGrp="1"/>
          </p:cNvSpPr>
          <p:nvPr/>
        </p:nvSpPr>
        <p:spPr>
          <a:xfrm xmlns:a="http://schemas.openxmlformats.org/drawingml/2006/main">
            <a:off x="8534400" y="2752725"/>
            <a:ext cx="293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qualified review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No one can recover it</a:t>
            </a:r>
          </a:p>
        </p:txBody>
      </p:sp>
      <p:cxnSp>
        <p:nvCxnSpPr>
          <p:cNvPr id="32" name=""/>
          <p:cNvCxnSpPr>
            <a:stCxn xmlns:a="http://schemas.openxmlformats.org/drawingml/2006/main" id="7" idx="3"/>
            <a:endCxn xmlns:a="http://schemas.openxmlformats.org/drawingml/2006/main" id="9" idx="1"/>
          </p:cNvCxnSpPr>
          <p:nvPr/>
        </p:nvCxnSpPr>
        <p:spPr>
          <a:xfrm xmlns:a="http://schemas.openxmlformats.org/drawingml/2006/main">
            <a:off x="3771900" y="2933700"/>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3" name=""/>
          <p:cNvCxnSpPr>
            <a:stCxn xmlns:a="http://schemas.openxmlformats.org/drawingml/2006/main" id="9" idx="3"/>
            <a:endCxn xmlns:a="http://schemas.openxmlformats.org/drawingml/2006/main" id="11" idx="1"/>
          </p:cNvCxnSpPr>
          <p:nvPr/>
        </p:nvCxnSpPr>
        <p:spPr>
          <a:xfrm xmlns:a="http://schemas.openxmlformats.org/drawingml/2006/main">
            <a:off x="7677150" y="2933700"/>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5" name="">
            <a:extLst xmlns:a="http://schemas.openxmlformats.org/drawingml/2006/main">
              <a:ext uri="{FF2B5EF4-FFF2-40B4-BE49-F238E27FC236}">
                <a16:creationId xmlns:a16="http://schemas.microsoft.com/office/drawing/2014/main" id="{DB161749-EC94-469C-A2D1-BCC924D04BDC}"/>
              </a:ext>
            </a:extLst>
          </p:cNvPr>
          <p:cNvSpPr>
            <a:spLocks xmlns:a="http://schemas.openxmlformats.org/drawingml/2006/main" noGrp="1"/>
          </p:cNvSpPr>
          <p:nvPr/>
        </p:nvSpPr>
        <p:spPr>
          <a:xfrm xmlns:a="http://schemas.openxmlformats.org/drawingml/2006/main">
            <a:off x="609600" y="32670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Project Manager secures an owner, time and closure evidence before criticality grows.</a:t>
            </a:r>
          </a:p>
        </p:txBody>
      </p:sp>
      <p:graphicFrame>
        <p:nvGraphicFramePr>
          <p:cNvPr id="35" name=""/>
          <p:cNvGraphicFramePr/>
          <p:nvPr/>
        </p:nvGraphicFramePr>
        <p:xfrm>
          <a:off xmlns:a="http://schemas.openxmlformats.org/drawingml/2006/main" x="609600" y="3667125"/>
          <a:ext xmlns:a="http://schemas.openxmlformats.org/drawingml/2006/main" cx="10972800" cy="2000250"/>
        </p:xfrm>
        <a:graphic xmlns:a="http://schemas.openxmlformats.org/drawingml/2006/main">
          <a:graphicData uri="http://schemas.openxmlformats.org/drawingml/2006/table">
            <a:tbl>
              <a:tblPr/>
              <a:tblGrid>
                <a:gridCol w="2247900"/>
                <a:gridCol w="4362450"/>
                <a:gridCol w="4362450"/>
              </a:tblGrid>
              <a:tr h="342900">
                <a:tc>
                  <a:txBody>
                    <a:bodyPr lIns="171450" tIns="38100" rIns="171450" bIns="38100">
                      <a:noAutofit/>
                    </a:bodyPr>
                    <a:lstStyle/>
                    <a:p>
                      <a:r>
                        <a:rPr sz="1575" b="1">
                          <a:solidFill>
                            <a:srgbClr val="F4F7FA"/>
                          </a:solidFill>
                          <a:latin typeface="Arial"/>
                          <a:ea typeface="Arial"/>
                          <a:cs typeface="Arial"/>
                        </a:rPr>
                        <a:t>PM RESPONSIBILITY</a:t>
                      </a:r>
                    </a:p>
                  </a:txBody>
                  <a:tcPr marL="91440" marR="91440" marT="45720" marB="45720" anchor="ctr">
                    <a:solidFill>
                      <a:srgbClr val="1A2734"/>
                    </a:solidFill>
                  </a:tcPr>
                </a:tc>
                <a:tc>
                  <a:txBody>
                    <a:bodyPr lIns="171450" tIns="38100" rIns="171450" bIns="38100">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38100" rIns="171450" bIns="38100">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552450">
                <a:tc>
                  <a:txBody>
                    <a:bodyPr lIns="171450" tIns="38100" rIns="171450" bIns="38100">
                      <a:noAutofit/>
                    </a:bodyPr>
                    <a:lstStyle/>
                    <a:p>
                      <a:r>
                        <a:rPr sz="1425" b="1">
                          <a:solidFill>
                            <a:srgbClr val="F4F7FA"/>
                          </a:solidFill>
                          <a:latin typeface="Arial"/>
                          <a:ea typeface="Arial"/>
                          <a:cs typeface="Arial"/>
                        </a:rPr>
                        <a:t>Expertise + ownership</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New stack, reviewer coverage,</a:t>
                      </a:r>
                    </a:p>
                    <a:p>
                      <a:r>
                        <a:rPr sz="1425" b="0">
                          <a:solidFill>
                            <a:srgbClr val="F4F7FA"/>
                          </a:solidFill>
                          <a:latin typeface="Arial"/>
                          <a:ea typeface="Arial"/>
                          <a:cs typeface="Arial"/>
                        </a:rPr>
                        <a:t>understanding and recovery capability</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Product / PO, BA, QA, Dev, Architect,</a:t>
                      </a:r>
                    </a:p>
                    <a:p>
                      <a:r>
                        <a:rPr sz="1425" b="0">
                          <a:solidFill>
                            <a:srgbClr val="28C7F7"/>
                          </a:solidFill>
                          <a:latin typeface="Arial"/>
                          <a:ea typeface="Arial"/>
                          <a:cs typeface="Arial"/>
                        </a:rPr>
                        <a:t>service owner and responders</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Evidence + flow</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Review load, rework and batch size</a:t>
                      </a:r>
                    </a:p>
                    <a:p>
                      <a:r>
                        <a:rPr sz="1425" b="0">
                          <a:solidFill>
                            <a:srgbClr val="F4F7FA"/>
                          </a:solidFill>
                          <a:latin typeface="Arial"/>
                          <a:ea typeface="Arial"/>
                          <a:cs typeface="Arial"/>
                        </a:rPr>
                        <a:t>Learning and dependency validation</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Business value, severity and uncertainty,</a:t>
                      </a:r>
                    </a:p>
                    <a:p>
                      <a:r>
                        <a:rPr sz="1425" b="0">
                          <a:solidFill>
                            <a:srgbClr val="28C7F7"/>
                          </a:solidFill>
                          <a:latin typeface="Arial"/>
                          <a:ea typeface="Arial"/>
                          <a:cs typeface="Arial"/>
                        </a:rPr>
                        <a:t>eval quality and control effectiveness</a:t>
                      </a:r>
                    </a:p>
                  </a:txBody>
                  <a:tcPr marL="91440" marR="91440" marT="45720" marB="45720" anchor="ctr">
                    <a:solidFill>
                      <a:srgbClr val="0B0F14"/>
                    </a:solidFill>
                  </a:tcPr>
                </a:tc>
              </a:tr>
              <a:tr h="552450">
                <a:tc>
                  <a:txBody>
                    <a:bodyPr lIns="171450" tIns="38100" rIns="171450" bIns="38100">
                      <a:noAutofit/>
                    </a:bodyPr>
                    <a:lstStyle/>
                    <a:p>
                      <a:r>
                        <a:rPr sz="1425" b="1">
                          <a:solidFill>
                            <a:srgbClr val="F4F7FA"/>
                          </a:solidFill>
                          <a:latin typeface="Arial"/>
                          <a:ea typeface="Arial"/>
                          <a:cs typeface="Arial"/>
                        </a:rPr>
                        <a:t>Decision dependencies</a:t>
                      </a:r>
                    </a:p>
                  </a:txBody>
                  <a:tcPr marL="91440" marR="91440" marT="45720" marB="45720" anchor="ctr">
                    <a:solidFill>
                      <a:srgbClr val="0B0F14"/>
                    </a:solidFill>
                  </a:tcPr>
                </a:tc>
                <a:tc>
                  <a:txBody>
                    <a:bodyPr lIns="171450" tIns="38100" rIns="171450" bIns="38100">
                      <a:noAutofit/>
                    </a:bodyPr>
                    <a:lstStyle/>
                    <a:p>
                      <a:r>
                        <a:rPr sz="1425" b="0">
                          <a:solidFill>
                            <a:srgbClr val="F4F7FA"/>
                          </a:solidFill>
                          <a:latin typeface="Arial"/>
                          <a:ea typeface="Arial"/>
                          <a:cs typeface="Arial"/>
                        </a:rPr>
                        <a:t>Prototype growth needs reassessment</a:t>
                      </a:r>
                    </a:p>
                    <a:p>
                      <a:r>
                        <a:rPr sz="1425" b="0">
                          <a:solidFill>
                            <a:srgbClr val="F4F7FA"/>
                          </a:solidFill>
                          <a:latin typeface="Arial"/>
                          <a:ea typeface="Arial"/>
                          <a:cs typeface="Arial"/>
                        </a:rPr>
                        <a:t>Training / staffing / scope decision</a:t>
                      </a:r>
                    </a:p>
                  </a:txBody>
                  <a:tcPr marL="91440" marR="91440" marT="45720" marB="45720" anchor="ctr">
                    <a:solidFill>
                      <a:srgbClr val="0B0F14"/>
                    </a:solidFill>
                  </a:tcPr>
                </a:tc>
                <a:tc>
                  <a:txBody>
                    <a:bodyPr lIns="171450" tIns="38100" rIns="171450" bIns="38100">
                      <a:noAutofit/>
                    </a:bodyPr>
                    <a:lstStyle/>
                    <a:p>
                      <a:r>
                        <a:rPr sz="1425" b="0">
                          <a:solidFill>
                            <a:srgbClr val="28C7F7"/>
                          </a:solidFill>
                          <a:latin typeface="Arial"/>
                          <a:ea typeface="Arial"/>
                          <a:cs typeface="Arial"/>
                        </a:rPr>
                        <a:t>Limits → evidence → controls → release</a:t>
                      </a:r>
                    </a:p>
                    <a:p>
                      <a:r>
                        <a:rPr sz="1425" b="0">
                          <a:solidFill>
                            <a:srgbClr val="28C7F7"/>
                          </a:solidFill>
                          <a:latin typeface="Arial"/>
                          <a:ea typeface="Arial"/>
                          <a:cs typeface="Arial"/>
                        </a:rPr>
                        <a:t>Named owners, capacity and stop rules</a:t>
                      </a:r>
                    </a:p>
                  </a:txBody>
                  <a:tcPr marL="91440" marR="91440" marT="45720" marB="45720" anchor="ctr">
                    <a:solidFill>
                      <a:srgbClr val="0B0F14"/>
                    </a:solidFill>
                  </a:tcPr>
                </a:tc>
              </a:tr>
            </a:tbl>
          </a:graphicData>
        </a:graphic>
      </p:graphicFrame>
      <p:sp>
        <p:nvSpPr>
          <p:cNvPr id="17" name="">
            <a:extLst xmlns:a="http://schemas.openxmlformats.org/drawingml/2006/main">
              <a:ext uri="{FF2B5EF4-FFF2-40B4-BE49-F238E27FC236}">
                <a16:creationId xmlns:a16="http://schemas.microsoft.com/office/drawing/2014/main" id="{5557B887-F95E-4DF7-981C-294424278F0B}"/>
              </a:ext>
            </a:extLst>
          </p:cNvPr>
          <p:cNvSpPr>
            <a:spLocks xmlns:a="http://schemas.openxmlformats.org/drawingml/2006/main" noGrp="1"/>
          </p:cNvSpPr>
          <p:nvPr/>
        </p:nvSpPr>
        <p:spPr>
          <a:xfrm xmlns:a="http://schemas.openxmlformats.org/drawingml/2006/main">
            <a:off x="609600" y="58007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5B61C"/>
                </a:solidFill>
                <a:latin typeface="Arial"/>
                <a:ea typeface="Arial"/>
                <a:cs typeface="Arial"/>
              </a:defRPr>
            </a:pPr>
            <a:r>
              <a:rPr sz="1575" b="0">
                <a:solidFill>
                  <a:srgbClr val="F5B61C"/>
                </a:solidFill>
                <a:latin typeface="Arial"/>
                <a:ea typeface="Arial"/>
                <a:cs typeface="Arial"/>
              </a:rPr>
              <a:t>Statistical literacy: question the sample, uncertainty, thresholds and decision evidence.</a:t>
            </a:r>
          </a:p>
        </p:txBody>
      </p:sp>
      <p:sp>
        <p:nvSpPr>
          <p:cNvPr id="18" name="">
            <a:extLst xmlns:a="http://schemas.openxmlformats.org/drawingml/2006/main">
              <a:ext uri="{FF2B5EF4-FFF2-40B4-BE49-F238E27FC236}">
                <a16:creationId xmlns:a16="http://schemas.microsoft.com/office/drawing/2014/main" id="{6A51D981-678A-43C5-9D6B-A2AD89EEE7B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Project Manager coordinates decisions. Product, technical and risk owners retain authority.</a:t>
            </a:r>
          </a:p>
        </p:txBody>
      </p:sp>
      <p:sp>
        <p:nvSpPr>
          <p:cNvPr id="19" name="">
            <a:extLst xmlns:a="http://schemas.openxmlformats.org/drawingml/2006/main">
              <a:ext uri="{FF2B5EF4-FFF2-40B4-BE49-F238E27FC236}">
                <a16:creationId xmlns:a16="http://schemas.microsoft.com/office/drawing/2014/main" id="{192BFF6F-76AA-454C-9D83-F6EA57A58428}"/>
              </a:ext>
            </a:extLst>
          </p:cNvPr>
          <p:cNvSpPr>
            <a:spLocks xmlns:a="http://schemas.openxmlformats.org/drawingml/2006/main" noGrp="1"/>
          </p:cNvSpPr>
          <p:nvPr/>
        </p:nvSpPr>
        <p:spPr>
          <a:xfrm xmlns:a="http://schemas.openxmlformats.org/drawingml/2006/main">
            <a:off x="609600" y="6496050"/>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Working code, team competence and operating readiness must develop together.</a:t>
            </a:r>
          </a:p>
        </p:txBody>
      </p:sp>
    </p:spTree>
    <p:extLst>
      <p:ext uri="{BB962C8B-B14F-4D97-AF65-F5344CB8AC3E}">
        <p14:creationId xmlns:p14="http://schemas.microsoft.com/office/powerpoint/2010/main" val="862357229"/>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8BC196F8-432B-4197-9F8B-ECA3185852E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4F2C2553-9943-4D03-9512-96F41503364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1BFAC2D-7EE0-45F7-A70B-1529B7A09CB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B416CADE-2BD4-4BA2-BF5F-FF17063156A1}"/>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10200F71-086B-40AC-85E4-C3B4630E27EC}"/>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1687B6FD-ABEB-49E8-BBB6-EE13354F1493}"/>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Working increments, commitments</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and operational ownership.</a:t>
            </a:r>
          </a:p>
        </p:txBody>
      </p:sp>
      <p:sp>
        <p:nvSpPr>
          <p:cNvPr id="7" name="">
            <a:extLst xmlns:a="http://schemas.openxmlformats.org/drawingml/2006/main">
              <a:ext uri="{FF2B5EF4-FFF2-40B4-BE49-F238E27FC236}">
                <a16:creationId xmlns:a16="http://schemas.microsoft.com/office/drawing/2014/main" id="{2A14EEB1-96FC-479A-988A-CB25FC8E3E59}"/>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BF693224-286E-46B1-8B68-5752CD588DAA}"/>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Each material change reopens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a hypothesis and its evidence.</a:t>
            </a:r>
          </a:p>
        </p:txBody>
      </p:sp>
      <p:sp>
        <p:nvSpPr>
          <p:cNvPr id="9" name="">
            <a:extLst xmlns:a="http://schemas.openxmlformats.org/drawingml/2006/main">
              <a:ext uri="{FF2B5EF4-FFF2-40B4-BE49-F238E27FC236}">
                <a16:creationId xmlns:a16="http://schemas.microsoft.com/office/drawing/2014/main" id="{25CDB131-8723-40D0-B019-8ED2CE4A64F9}"/>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75B19A79-C33B-427B-A51C-E0F5F0CB3804}"/>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3D8F063A-AC9E-4B04-8A37-863386CB277F}"/>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4EED5556-766E-4558-AFF5-DE84042429EE}"/>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A7AD82E2-6E28-43B5-AD41-645D0E3B15C2}"/>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4ADC0848-3158-4189-90B6-A12AA7283615}"/>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CCA23CC1-0921-4742-8F3D-955BD4ED0975}"/>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5AE714D2-906B-467A-8D30-5C7B3859C3E4}"/>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182D6A53-47AA-442D-B304-CA2B1DF8938A}"/>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CE336FEF-39AE-43BE-B5B4-2C7660CA3A33}"/>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8172F0C3-76B5-4ED0-ACF8-8BDC3A4E7904}"/>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A66DC39C-C0E8-45F9-872F-984D2A03F4F0}"/>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SHARED OPERATING MODEL · Project Manager coordinates dependencies and decisions</a:t>
            </a:r>
          </a:p>
        </p:txBody>
      </p:sp>
      <p:sp>
        <p:nvSpPr>
          <p:cNvPr id="25" name="">
            <a:extLst xmlns:a="http://schemas.openxmlformats.org/drawingml/2006/main">
              <a:ext uri="{FF2B5EF4-FFF2-40B4-BE49-F238E27FC236}">
                <a16:creationId xmlns:a16="http://schemas.microsoft.com/office/drawing/2014/main" id="{E3CDB637-4ED5-4FC7-A32A-772AF99A27FA}"/>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3C3314CD-BC7E-4339-8B13-9FAE9C952141}"/>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 team</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Value, limits, evidence + owner</a:t>
            </a:r>
          </a:p>
        </p:txBody>
      </p:sp>
      <p:sp>
        <p:nvSpPr>
          <p:cNvPr id="27" name="">
            <a:extLst xmlns:a="http://schemas.openxmlformats.org/drawingml/2006/main">
              <a:ext uri="{FF2B5EF4-FFF2-40B4-BE49-F238E27FC236}">
                <a16:creationId xmlns:a16="http://schemas.microsoft.com/office/drawing/2014/main" id="{46C5C001-7476-418F-B043-88C132423250}"/>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E81CAAEF-47EF-4937-8FC3-F96CE9CFA663}"/>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Dev + QA + Architect</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Build, evaluate + close gaps</a:t>
            </a:r>
          </a:p>
        </p:txBody>
      </p:sp>
      <p:sp>
        <p:nvSpPr>
          <p:cNvPr id="29" name="">
            <a:extLst xmlns:a="http://schemas.openxmlformats.org/drawingml/2006/main">
              <a:ext uri="{FF2B5EF4-FFF2-40B4-BE49-F238E27FC236}">
                <a16:creationId xmlns:a16="http://schemas.microsoft.com/office/drawing/2014/main" id="{14B0E3F9-8C36-4F9D-9F4F-27F28816516B}"/>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FFB2C459-855F-493E-BC05-C2E9582C09F2}"/>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release owner</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Evidence → accept / narrow / stop</a:t>
            </a:r>
          </a:p>
        </p:txBody>
      </p:sp>
      <p:sp>
        <p:nvSpPr>
          <p:cNvPr id="31" name="">
            <a:extLst xmlns:a="http://schemas.openxmlformats.org/drawingml/2006/main">
              <a:ext uri="{FF2B5EF4-FFF2-40B4-BE49-F238E27FC236}">
                <a16:creationId xmlns:a16="http://schemas.microsoft.com/office/drawing/2014/main" id="{1A397AEF-D052-4F71-8044-5F8CFDDCE62C}"/>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5C0E1A59-AC5E-4547-81C2-5B8565655F32}"/>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Service owner + responders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5C5CE3E4-375B-4375-9DF2-3C20EA3E7BF0}"/>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CD5693A6-E9AA-4F0D-AB0A-54FBA4823532}"/>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2DEB011A-9154-43D4-8860-87A358FD365B}"/>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Measure flow, review, rework and retained understanding.</a:t>
            </a:r>
          </a:p>
        </p:txBody>
      </p:sp>
      <p:sp>
        <p:nvSpPr>
          <p:cNvPr id="36" name="">
            <a:extLst xmlns:a="http://schemas.openxmlformats.org/drawingml/2006/main">
              <a:ext uri="{FF2B5EF4-FFF2-40B4-BE49-F238E27FC236}">
                <a16:creationId xmlns:a16="http://schemas.microsoft.com/office/drawing/2014/main" id="{D6591F1E-E3F0-4CC2-BBBC-852B75B14CBC}"/>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E0DDFAD5-9FBE-472C-81B3-FA7CB52BF282}"/>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Measure useful outcomes, behavior, control capacity and full cost.</a:t>
            </a:r>
          </a:p>
        </p:txBody>
      </p:sp>
      <p:sp>
        <p:nvSpPr>
          <p:cNvPr id="38" name="">
            <a:extLst xmlns:a="http://schemas.openxmlformats.org/drawingml/2006/main">
              <a:ext uri="{FF2B5EF4-FFF2-40B4-BE49-F238E27FC236}">
                <a16:creationId xmlns:a16="http://schemas.microsoft.com/office/drawing/2014/main" id="{2B5C878D-4874-41F1-986E-5320F5474DBD}"/>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Start with one workflow: value target, limits, evidence, owner and rehearsed fallback.</a:t>
            </a:r>
          </a:p>
        </p:txBody>
      </p:sp>
    </p:spTree>
    <p:extLst>
      <p:ext uri="{BB962C8B-B14F-4D97-AF65-F5344CB8AC3E}">
        <p14:creationId xmlns:p14="http://schemas.microsoft.com/office/powerpoint/2010/main" val="756971467"/>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60D0B57-2A36-4CBE-821E-B11E2FA5099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3C1701F0-8457-4E23-9F66-8441784B851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951282A-AFEF-43F0-AA7A-2952CAB7360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BE0EDD7D-534F-4284-BB97-A8AA572CD526}"/>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90384492-7942-4104-BB38-DA3302EFCE3A}"/>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2D555DD1-CF23-4F80-B9A7-11D030998257}"/>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f6e96ac296f4f6d"/>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9BCE97E-A8D8-43C0-86AC-62DD1C2CE49B}"/>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39a2ece99f594d0a"/>
              </a:rPr>
              <a:t>github.com/UncertaintyArchitectureGroup/</a:t>
            </a:r>
          </a:p>
        </p:txBody>
      </p:sp>
      <p:sp>
        <p:nvSpPr>
          <p:cNvPr id="9" name="">
            <a:extLst xmlns:a="http://schemas.openxmlformats.org/drawingml/2006/main">
              <a:ext uri="{FF2B5EF4-FFF2-40B4-BE49-F238E27FC236}">
                <a16:creationId xmlns:a16="http://schemas.microsoft.com/office/drawing/2014/main" id="{8501B18D-2A87-4C55-8CDC-C59266A4A0C6}"/>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847c0f25a3774211"/>
              </a:rPr>
              <a:t>uncertainty-architecture</a:t>
            </a:r>
          </a:p>
        </p:txBody>
      </p:sp>
      <p:sp>
        <p:nvSpPr>
          <p:cNvPr id="10" name="">
            <a:extLst xmlns:a="http://schemas.openxmlformats.org/drawingml/2006/main">
              <a:ext uri="{FF2B5EF4-FFF2-40B4-BE49-F238E27FC236}">
                <a16:creationId xmlns:a16="http://schemas.microsoft.com/office/drawing/2014/main" id="{3FCB38C7-8019-4389-97FE-22E4FFBC25EB}"/>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E09F7205-D733-47A7-8886-238F733DC4A0}"/>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315c93274cc46ed"/>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101FE5F-A584-401C-A089-376FD1EEC850}"/>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67570a16a5f34cc5"/>
              </a:rPr>
              <a:t>github.com/UncertaintyArchitectureGroup/</a:t>
            </a:r>
          </a:p>
        </p:txBody>
      </p:sp>
      <p:sp>
        <p:nvSpPr>
          <p:cNvPr id="14" name="">
            <a:extLst xmlns:a="http://schemas.openxmlformats.org/drawingml/2006/main">
              <a:ext uri="{FF2B5EF4-FFF2-40B4-BE49-F238E27FC236}">
                <a16:creationId xmlns:a16="http://schemas.microsoft.com/office/drawing/2014/main" id="{4784D8D0-1687-4FBD-9094-FEE9F9015205}"/>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80f7e563f10e44c7"/>
              </a:rPr>
              <a:t>The-Subprime-Code-Crisis</a:t>
            </a:r>
          </a:p>
        </p:txBody>
      </p:sp>
      <p:sp>
        <p:nvSpPr>
          <p:cNvPr id="15" name="">
            <a:extLst xmlns:a="http://schemas.openxmlformats.org/drawingml/2006/main">
              <a:ext uri="{FF2B5EF4-FFF2-40B4-BE49-F238E27FC236}">
                <a16:creationId xmlns:a16="http://schemas.microsoft.com/office/drawing/2014/main" id="{1A364CD4-008E-4027-8D95-71A0BABF3544}"/>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2E4A443D-ACD4-42D0-B7DA-277B129358FB}"/>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57809C57-4D4A-4690-823D-5A109C71F35C}"/>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82639BDB-6667-49E1-8EC4-BF3B7D3E1656}"/>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c07ca3a4e7f64fcc"/>
              </a:rPr>
              <a:t>oborskyivitalii@gmail.com</a:t>
            </a:r>
          </a:p>
        </p:txBody>
      </p:sp>
      <p:sp>
        <p:nvSpPr>
          <p:cNvPr id="19" name="">
            <a:extLst xmlns:a="http://schemas.openxmlformats.org/drawingml/2006/main">
              <a:ext uri="{FF2B5EF4-FFF2-40B4-BE49-F238E27FC236}">
                <a16:creationId xmlns:a16="http://schemas.microsoft.com/office/drawing/2014/main" id="{1367586A-D095-4B52-A666-83D0E927C967}"/>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3aabb5c058204f36"/>
              </a:rPr>
              <a:t>https://www.linkedin.com/in/vitaliioborskyi/</a:t>
            </a:r>
          </a:p>
        </p:txBody>
      </p:sp>
    </p:spTree>
    <p:extLst>
      <p:ext uri="{BB962C8B-B14F-4D97-AF65-F5344CB8AC3E}">
        <p14:creationId xmlns:p14="http://schemas.microsoft.com/office/powerpoint/2010/main" val="10390280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2026-09-23T07:47:42.1480000Z</dcterms:created>
  <dcterms:modified xsi:type="dcterms:W3CDTF">2026-09-23T07:47:42.1480000Z</dcterms:modified>
</coreProperties>
</file>