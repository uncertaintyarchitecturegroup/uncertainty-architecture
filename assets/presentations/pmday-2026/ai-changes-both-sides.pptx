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7bde6a0d2ec409d" /><Relationship Type="http://schemas.openxmlformats.org/officeDocument/2006/relationships/extended-properties" Target="/docProps/app.xml" Id="R2f4f6e592cbb45df" /><Relationship Type="http://schemas.openxmlformats.org/officeDocument/2006/relationships/officeDocument" Target="/ppt/presentation.xml" Id="R599ad68fe10c4d45" /></Relationships>
</file>

<file path=ppt/presentation.xml><?xml version="1.0" encoding="utf-8"?>
<p:presentation xmlns:p="http://schemas.openxmlformats.org/presentationml/2006/main">
  <p:sldMasterIdLst>
    <p:sldMasterId xmlns:r="http://schemas.openxmlformats.org/officeDocument/2006/relationships" id="2147483648" r:id="R5d8fcc0c389644af"/>
  </p:sldMasterIdLst>
  <p:notesMasterIdLst>
    <p:notesMasterId xmlns:r="http://schemas.openxmlformats.org/officeDocument/2006/relationships" r:id="R10ade2a4823645cc"/>
  </p:notesMasterIdLst>
  <p:sldIdLst>
    <p:sldId xmlns:r="http://schemas.openxmlformats.org/officeDocument/2006/relationships" id="256" r:id="Ra111139d2e0c4bfd"/>
    <p:sldId xmlns:r="http://schemas.openxmlformats.org/officeDocument/2006/relationships" id="257" r:id="Recc21c0419f642d8"/>
    <p:sldId xmlns:r="http://schemas.openxmlformats.org/officeDocument/2006/relationships" id="258" r:id="Re7fff0aecef74d9e"/>
    <p:sldId xmlns:r="http://schemas.openxmlformats.org/officeDocument/2006/relationships" id="259" r:id="Re5cb8de3c4a24157"/>
    <p:sldId xmlns:r="http://schemas.openxmlformats.org/officeDocument/2006/relationships" id="260" r:id="R2002f9702749494e"/>
    <p:sldId xmlns:r="http://schemas.openxmlformats.org/officeDocument/2006/relationships" id="261" r:id="R1530516c06294ff5"/>
    <p:sldId xmlns:r="http://schemas.openxmlformats.org/officeDocument/2006/relationships" id="262" r:id="Rb66b3c6e1d1640a5"/>
    <p:sldId xmlns:r="http://schemas.openxmlformats.org/officeDocument/2006/relationships" id="263" r:id="Re34f95b9f6f742fa"/>
    <p:sldId xmlns:r="http://schemas.openxmlformats.org/officeDocument/2006/relationships" id="264" r:id="Rc437afb9f74e4be1"/>
    <p:sldId xmlns:r="http://schemas.openxmlformats.org/officeDocument/2006/relationships" id="265" r:id="R1a44bccfe5e5431d"/>
    <p:sldId xmlns:r="http://schemas.openxmlformats.org/officeDocument/2006/relationships" id="266" r:id="R3181d128e00949c1"/>
    <p:sldId xmlns:r="http://schemas.openxmlformats.org/officeDocument/2006/relationships" id="267" r:id="R98afc8bb7086423d"/>
    <p:sldId xmlns:r="http://schemas.openxmlformats.org/officeDocument/2006/relationships" id="268" r:id="R5fec5151696d485f"/>
    <p:sldId xmlns:r="http://schemas.openxmlformats.org/officeDocument/2006/relationships" id="269" r:id="R5ed276a104504c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b4f3df8d544a6b" /><Relationship Type="http://schemas.openxmlformats.org/officeDocument/2006/relationships/slideMaster" Target="/ppt/slideMasters/slideMaster1.xml" Id="R5d8fcc0c389644af" /><Relationship Type="http://schemas.openxmlformats.org/officeDocument/2006/relationships/notesMaster" Target="/ppt/notesMasters/notesMaster1.xml" Id="R10ade2a4823645cc" /><Relationship Type="http://schemas.openxmlformats.org/officeDocument/2006/relationships/presProps" Target="/ppt/presProps.xml" Id="R311493edef5b42b9" /><Relationship Type="http://schemas.openxmlformats.org/officeDocument/2006/relationships/tableStyles" Target="/ppt/tableStyles.xml" Id="Rea3127cb038e4008" /><Relationship Type="http://schemas.openxmlformats.org/officeDocument/2006/relationships/slide" Target="/ppt/slides/slide1.xml" Id="Ra111139d2e0c4bfd" /><Relationship Type="http://schemas.openxmlformats.org/officeDocument/2006/relationships/slide" Target="/ppt/slides/slide2.xml" Id="Recc21c0419f642d8" /><Relationship Type="http://schemas.openxmlformats.org/officeDocument/2006/relationships/slide" Target="/ppt/slides/slide3.xml" Id="Re7fff0aecef74d9e" /><Relationship Type="http://schemas.openxmlformats.org/officeDocument/2006/relationships/slide" Target="/ppt/slides/slide4.xml" Id="Re5cb8de3c4a24157" /><Relationship Type="http://schemas.openxmlformats.org/officeDocument/2006/relationships/slide" Target="/ppt/slides/slide5.xml" Id="R2002f9702749494e" /><Relationship Type="http://schemas.openxmlformats.org/officeDocument/2006/relationships/slide" Target="/ppt/slides/slide6.xml" Id="R1530516c06294ff5" /><Relationship Type="http://schemas.openxmlformats.org/officeDocument/2006/relationships/slide" Target="/ppt/slides/slide7.xml" Id="Rb66b3c6e1d1640a5" /><Relationship Type="http://schemas.openxmlformats.org/officeDocument/2006/relationships/slide" Target="/ppt/slides/slide8.xml" Id="Re34f95b9f6f742fa" /><Relationship Type="http://schemas.openxmlformats.org/officeDocument/2006/relationships/slide" Target="/ppt/slides/slide9.xml" Id="Rc437afb9f74e4be1" /><Relationship Type="http://schemas.openxmlformats.org/officeDocument/2006/relationships/slide" Target="/ppt/slides/slide10.xml" Id="R1a44bccfe5e5431d" /><Relationship Type="http://schemas.openxmlformats.org/officeDocument/2006/relationships/slide" Target="/ppt/slides/slide11.xml" Id="R3181d128e00949c1" /><Relationship Type="http://schemas.openxmlformats.org/officeDocument/2006/relationships/slide" Target="/ppt/slides/slide12.xml" Id="R98afc8bb7086423d" /><Relationship Type="http://schemas.openxmlformats.org/officeDocument/2006/relationships/slide" Target="/ppt/slides/slide13.xml" Id="R5fec5151696d485f" /><Relationship Type="http://schemas.openxmlformats.org/officeDocument/2006/relationships/slide" Target="/ppt/slides/slide14.xml" Id="R5ed276a104504c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35eaa32fa748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8b93e1e9b6473f" /><Relationship Type="http://schemas.openxmlformats.org/officeDocument/2006/relationships/notesMaster" Target="/ppt/notesMasters/notesMaster1.xml" Id="R240b358f6ec34a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ca557b4dc44c7e" /><Relationship Type="http://schemas.openxmlformats.org/officeDocument/2006/relationships/notesMaster" Target="/ppt/notesMasters/notesMaster1.xml" Id="R2c1bdd30317a4d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6b4c4863b44961" /><Relationship Type="http://schemas.openxmlformats.org/officeDocument/2006/relationships/notesMaster" Target="/ppt/notesMasters/notesMaster1.xml" Id="Rac29c9ede45a44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5feeaec69a45b6" /><Relationship Type="http://schemas.openxmlformats.org/officeDocument/2006/relationships/notesMaster" Target="/ppt/notesMasters/notesMaster1.xml" Id="Rfc9671a140444e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9847336b4a494b" /><Relationship Type="http://schemas.openxmlformats.org/officeDocument/2006/relationships/notesMaster" Target="/ppt/notesMasters/notesMaster1.xml" Id="Rc1803eb5ea834e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703f32ec0243d5" /><Relationship Type="http://schemas.openxmlformats.org/officeDocument/2006/relationships/notesMaster" Target="/ppt/notesMasters/notesMaster1.xml" Id="Re8a3ef9dc8ca4b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390df9b5474bf1" /><Relationship Type="http://schemas.openxmlformats.org/officeDocument/2006/relationships/notesMaster" Target="/ppt/notesMasters/notesMaster1.xml" Id="R3a6afde512cf4a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109c612d4542ed" /><Relationship Type="http://schemas.openxmlformats.org/officeDocument/2006/relationships/notesMaster" Target="/ppt/notesMasters/notesMaster1.xml" Id="R932a48ec586747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a2e3f242354a5e" /><Relationship Type="http://schemas.openxmlformats.org/officeDocument/2006/relationships/notesMaster" Target="/ppt/notesMasters/notesMaster1.xml" Id="R57bae3739e564d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4157847ffb6493b" /><Relationship Type="http://schemas.openxmlformats.org/officeDocument/2006/relationships/notesMaster" Target="/ppt/notesMasters/notesMaster1.xml" Id="R7f2aba779d7a49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933708a000e46a4" /><Relationship Type="http://schemas.openxmlformats.org/officeDocument/2006/relationships/notesMaster" Target="/ppt/notesMasters/notesMaster1.xml" Id="Rb8a8b929844643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56346cc09454187" /><Relationship Type="http://schemas.openxmlformats.org/officeDocument/2006/relationships/notesMaster" Target="/ppt/notesMasters/notesMaster1.xml" Id="Rcc2acb9a67bc452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d82c0da94204bbd" /><Relationship Type="http://schemas.openxmlformats.org/officeDocument/2006/relationships/notesMaster" Target="/ppt/notesMasters/notesMaster1.xml" Id="Ra25ee570eafd4d4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b0c0610d00d4be3" /><Relationship Type="http://schemas.openxmlformats.org/officeDocument/2006/relationships/notesMaster" Target="/ppt/notesMasters/notesMaster1.xml" Id="R2c407a29f1a2407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понад 100 тисяч GitHub developers; matched event study, не RCT. Changed LOC = additions + deletions, не чисте зростання кодової бази.</a:t>
            </a:r>
          </a:p>
          <a:p xmlns:a="http://schemas.openxmlformats.org/drawingml/2006/main">
            <a:r>
              <a:t>Table 5, друкована с. 33, тижні 21–30: Autocomplete — LOC +228.2%, commits +35.9%, PRs +11.0%, releases +10.2%. Synchronous agents — LOC +741.3%, commits +109.1%, PRs +65.5%, releases +20.3%. Asynchronous agents — LOC +658.3%, commits +33.6%, PRs +71.8%; releases не оцінено окремо. Figure 1, с. 3: cumulative LOC 17.3×, files 3.9×, commits 2.8×, PRs 2.5×, repos 1.5×, releases 1.3×. Не перемножувати компоненти.</a:t>
            </a:r>
          </a:p>
          <a:p xmlns:a="http://schemas.openxmlformats.org/drawingml/2006/main">
            <a:r>
              <a:t>Figure 12, с. 41; §8.2, с. 42–43: iOS — 30–50 тисяч нових apps/month → близько 100 тисяч у квітні 2026; Android — 42 тисячі у січні 2025 → близько 60 тисяч у середині 2026; Chrome — 5 тисяч у 2023 → близько 13 тисяч у середині 2026. Total cohort usage за перші 3 місяці стабільне або знижується. Частка iOS apps із &lt;10 ratings: 79→86%; Chrome extensions із &lt;10 downloads: 18→31%. SourceForge без прискорення entry, не входить у три usage panels. Це не всі existing apps, не весь software market і не пряме вимірювання consumer welfare. Chrome decline передував agentic era.</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травень 2026: 349 technical workers; 1.4–2× median self-reported work value залежно від питання,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+34.85/+42.87%,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IT-асистента: лише затверджені джерела й доступний цьому користувачу контекст. Можна перефразувати, але не вигадувати кроки чи прибирати approval. Недостатні докази означають уточнення або ескалацію. Заборони реалізуються також поза моделлю. Operating Envelope доповнює повний Requirement, не підміняє його. API, права доступу та детерміновані інваріанти залишаються.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99/100 routine, 39/40 ambiguous, 39/40 missing evidence, 19/20 access/privacy = 196/200 = 98%. Одна помилка — витік чужих даних. Загальний utility gate не перекриває critical boundary. Golden Set потребує покриття сценаріїв; repeated runs не роблять нерепрезентативні дані репрезентативними. Semantic judges калібруємо. Unit, integration і security tests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 scope, заборонені дії, ризики, рубрика, Golden Set, ескалація та decision owner. Done: зафіксована конфігурація model/prompt/retrieval/tools/policy, результати за сегментами, перевірені permissions і rollback. Release: погоджені аудиторія пілота, monitoring та умови зупинки. Класичний engineering також працює з ризиком. PM координує, але не привласнює security/business authority. Delivery release не розширює project authorization.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Архітектура спрощена. Policy gate стоїть перед зовнішньою дією. Evidence саме по собі не control: потрібні reference conditions, уповноважене рішення й ефективний шлях виконання. Runtime не розширює меж вищого рівня. Retry має бюджет. Kill switch має owner і runbook. Монітор має false positives / false negatives. Інцидент після review поповнює Golden Set; автоматичного навчання на приватних даних не припускаємо.</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Функції розширюються, а попередні обов'язки не зникають. PM координує tolerance. QA калібрує вимірювання. Architect визначає дозволений judgment, permissions і containment. Developer відповідає за implementation, ownership, instrumentation та runbooks. Це не вимога нового headcount і не передача всіх рішень PM.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gives us extraordinary leverage. But leverage does not remove engineering responsibility. It moves where engineering rigor has to live. Для HOW: protect comprehension and ownership. Для WHAT: measure, bound and control judgment. Стрілки означають розширення предмета інженерії, не усунення tests або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885ef2c94240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4c9e2728add48a7" /><Relationship Type="http://schemas.openxmlformats.org/officeDocument/2006/relationships/slideLayout" Target="/ppt/slideLayouts/slideLayout1.xml" Id="R717928390e7e43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7928390e7e43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11f883ce4434d5c" /><Relationship Type="http://schemas.openxmlformats.org/officeDocument/2006/relationships/image" Target="/ppt/media/image.png" Id="R2ef7a0b80e1c4e84" /><Relationship Type="http://schemas.openxmlformats.org/officeDocument/2006/relationships/notesSlide" Target="/ppt/notesSlides/notesSlide1.xml" Id="R7e96f5bbd84145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a0b9363bdcd4988" /><Relationship Type="http://schemas.openxmlformats.org/officeDocument/2006/relationships/notesSlide" Target="/ppt/notesSlides/notesSlide2.xml" Id="Re3db9d83194d44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53cc1eaa97d4a3b" /><Relationship Type="http://schemas.openxmlformats.org/officeDocument/2006/relationships/notesSlide" Target="/ppt/notesSlides/notesSlide3.xml" Id="Ra623dfd5187249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3283ab3b76405a" /><Relationship Type="http://schemas.openxmlformats.org/officeDocument/2006/relationships/notesSlide" Target="/ppt/notesSlides/notesSlide4.xml" Id="Ra5ec69770d8a43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d90a73ad23248e0" /><Relationship Type="http://schemas.openxmlformats.org/officeDocument/2006/relationships/notesSlide" Target="/ppt/notesSlides/notesSlide5.xml" Id="R226c4a3e73a945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f395d185e3495f" /><Relationship Type="http://schemas.openxmlformats.org/officeDocument/2006/relationships/notesSlide" Target="/ppt/notesSlides/notesSlide6.xml" Id="R644581e2a3fc49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422e14b53242eb" /><Relationship Type="http://schemas.openxmlformats.org/officeDocument/2006/relationships/notesSlide" Target="/ppt/notesSlides/notesSlide7.xml" Id="Rd8192867ff8a4a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21a31058fd42e4" /><Relationship Type="http://schemas.openxmlformats.org/officeDocument/2006/relationships/notesSlide" Target="/ppt/notesSlides/notesSlide8.xml" Id="Rc2a17dec97444ca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774c1ff1227449b" /><Relationship Type="http://schemas.openxmlformats.org/officeDocument/2006/relationships/notesSlide" Target="/ppt/notesSlides/notesSlide9.xml" Id="R41154f39de5c47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34156f4e5d945a7" /><Relationship Type="http://schemas.openxmlformats.org/officeDocument/2006/relationships/notesSlide" Target="/ppt/notesSlides/notesSlide10.xml" Id="Rd609d7dbde2f462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cdf3403d32949cc" /><Relationship Type="http://schemas.openxmlformats.org/officeDocument/2006/relationships/notesSlide" Target="/ppt/notesSlides/notesSlide11.xml" Id="R364b47b3851940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ddb38809a7c49b4" /><Relationship Type="http://schemas.openxmlformats.org/officeDocument/2006/relationships/notesSlide" Target="/ppt/notesSlides/notesSlide12.xml" Id="R7d2acfaccca845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de7bc2ebd04895" /><Relationship Type="http://schemas.openxmlformats.org/officeDocument/2006/relationships/notesSlide" Target="/ppt/notesSlides/notesSlide13.xml" Id="R62fdbc4888c042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c38a6ec5104d88" /><Relationship Type="http://schemas.openxmlformats.org/officeDocument/2006/relationships/notesSlide" Target="/ppt/notesSlides/notesSlide14.xml" Id="Rb92419cdee5b4c5a"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4993F33-AA7F-43E9-A9B1-0C10DF03F24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384F4B5C-36C0-4830-AD20-3C84CA994A9E}"/>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DejaVu Sans"/>
                <a:ea typeface="DejaVu Sans"/>
                <a:cs typeface="DejaVu Sans"/>
              </a:defRPr>
            </a:pPr>
            <a:r>
              <a:rPr sz="3450" b="1">
                <a:solidFill>
                  <a:srgbClr val="F4F7FA"/>
                </a:solidFill>
                <a:latin typeface="DejaVu Sans"/>
                <a:ea typeface="DejaVu Sans"/>
                <a:cs typeface="DejaVu Sans"/>
              </a:rPr>
              <a:t>AI Changes Both Sides</a:t>
            </a:r>
          </a:p>
          <a:p xmlns:a="http://schemas.openxmlformats.org/drawingml/2006/main">
            <a:pPr algn="l">
              <a:defRPr sz="3450" b="1">
                <a:solidFill>
                  <a:srgbClr val="F4F7FA"/>
                </a:solidFill>
                <a:latin typeface="DejaVu Sans"/>
                <a:ea typeface="DejaVu Sans"/>
                <a:cs typeface="DejaVu Sans"/>
              </a:defRPr>
            </a:pPr>
            <a:r>
              <a:rPr sz="34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41DB12ED-A520-41C0-9AFB-8DE8C2241AE2}"/>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ef7a0b80e1c4e84"/>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E7A07D4-49E6-4EE7-9C75-259FFCD6D548}"/>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HOW WE BUILD</a:t>
            </a:r>
          </a:p>
        </p:txBody>
      </p:sp>
      <p:sp>
        <p:nvSpPr>
          <p:cNvPr id="6" name="">
            <a:extLst xmlns:a="http://schemas.openxmlformats.org/drawingml/2006/main">
              <a:ext uri="{FF2B5EF4-FFF2-40B4-BE49-F238E27FC236}">
                <a16:creationId xmlns:a16="http://schemas.microsoft.com/office/drawing/2014/main" id="{A932991C-E037-4ACD-BEC4-104DD7B820D1}"/>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DejaVu Sans"/>
                <a:ea typeface="DejaVu Sans"/>
                <a:cs typeface="DejaVu Sans"/>
              </a:defRPr>
            </a:pPr>
            <a:r>
              <a:rPr sz="1800" b="0">
                <a:solidFill>
                  <a:srgbClr val="F4F7FA"/>
                </a:solidFill>
                <a:latin typeface="DejaVu Sans"/>
                <a:ea typeface="DejaVu Sans"/>
                <a:cs typeface="DejaVu Sans"/>
              </a:rPr>
              <a:t>AI helps a developer write software.</a:t>
            </a:r>
          </a:p>
        </p:txBody>
      </p:sp>
      <p:sp>
        <p:nvSpPr>
          <p:cNvPr id="7" name="">
            <a:extLst xmlns:a="http://schemas.openxmlformats.org/drawingml/2006/main">
              <a:ext uri="{FF2B5EF4-FFF2-40B4-BE49-F238E27FC236}">
                <a16:creationId xmlns:a16="http://schemas.microsoft.com/office/drawing/2014/main" id="{8A678390-23E1-480C-86D9-107EC68B8D7A}"/>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WHAT WE BUILD</a:t>
            </a:r>
          </a:p>
        </p:txBody>
      </p:sp>
      <p:sp>
        <p:nvSpPr>
          <p:cNvPr id="8" name="">
            <a:extLst xmlns:a="http://schemas.openxmlformats.org/drawingml/2006/main">
              <a:ext uri="{FF2B5EF4-FFF2-40B4-BE49-F238E27FC236}">
                <a16:creationId xmlns:a16="http://schemas.microsoft.com/office/drawing/2014/main" id="{BEDDF72A-EA4B-4B9B-8A86-0082F8F241D8}"/>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DejaVu Sans"/>
                <a:ea typeface="DejaVu Sans"/>
                <a:cs typeface="DejaVu Sans"/>
              </a:defRPr>
            </a:pPr>
            <a:r>
              <a:rPr sz="1800" b="0">
                <a:solidFill>
                  <a:srgbClr val="F4F7FA"/>
                </a:solidFill>
                <a:latin typeface="DejaVu Sans"/>
                <a:ea typeface="DejaVu Sans"/>
                <a:cs typeface="DejaVu Sans"/>
              </a:rPr>
              <a:t>AI interprets a user’s request at runtime.</a:t>
            </a:r>
          </a:p>
        </p:txBody>
      </p:sp>
      <p:sp>
        <p:nvSpPr>
          <p:cNvPr id="9" name="">
            <a:extLst xmlns:a="http://schemas.openxmlformats.org/drawingml/2006/main">
              <a:ext uri="{FF2B5EF4-FFF2-40B4-BE49-F238E27FC236}">
                <a16:creationId xmlns:a16="http://schemas.microsoft.com/office/drawing/2014/main" id="{4E944CBC-CFB3-427E-A0F4-9A7050235618}"/>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1103237118"/>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3EE68E6-D4F2-45EA-AF87-9C038A8155F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54C063C2-2B70-4E07-94E3-76D27EA1CA1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0A453BA-2859-4977-B51B-D420747DD85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A5F39C5B-337C-42CB-BAD2-6708983375FE}"/>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597BD4DB-E5F0-4A7B-BA26-182BADBB6B14}"/>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Writing</a:t>
            </a:r>
          </a:p>
        </p:txBody>
      </p:sp>
      <p:sp>
        <p:nvSpPr>
          <p:cNvPr id="6" name="">
            <a:extLst xmlns:a="http://schemas.openxmlformats.org/drawingml/2006/main">
              <a:ext uri="{FF2B5EF4-FFF2-40B4-BE49-F238E27FC236}">
                <a16:creationId xmlns:a16="http://schemas.microsoft.com/office/drawing/2014/main" id="{4EABD9B8-AE2D-44A4-9292-2513D73A509C}"/>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Memory</a:t>
            </a:r>
          </a:p>
        </p:txBody>
      </p:sp>
      <p:sp>
        <p:nvSpPr>
          <p:cNvPr id="7" name="">
            <a:extLst xmlns:a="http://schemas.openxmlformats.org/drawingml/2006/main">
              <a:ext uri="{FF2B5EF4-FFF2-40B4-BE49-F238E27FC236}">
                <a16:creationId xmlns:a16="http://schemas.microsoft.com/office/drawing/2014/main" id="{472806F0-2D59-4839-A154-65259696D139}"/>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Records we</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can retrieve</a:t>
            </a:r>
          </a:p>
        </p:txBody>
      </p:sp>
      <p:sp>
        <p:nvSpPr>
          <p:cNvPr id="8" name="">
            <a:extLst xmlns:a="http://schemas.openxmlformats.org/drawingml/2006/main">
              <a:ext uri="{FF2B5EF4-FFF2-40B4-BE49-F238E27FC236}">
                <a16:creationId xmlns:a16="http://schemas.microsoft.com/office/drawing/2014/main" id="{86EB014B-F21D-441E-87BB-11FD19433CAF}"/>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4D86422D-F686-4D5F-947C-7A89A231EE6E}"/>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Computers</a:t>
            </a:r>
          </a:p>
        </p:txBody>
      </p:sp>
      <p:sp>
        <p:nvSpPr>
          <p:cNvPr id="10" name="">
            <a:extLst xmlns:a="http://schemas.openxmlformats.org/drawingml/2006/main">
              <a:ext uri="{FF2B5EF4-FFF2-40B4-BE49-F238E27FC236}">
                <a16:creationId xmlns:a16="http://schemas.microsoft.com/office/drawing/2014/main" id="{6B7D0A80-1DA0-4218-8ABE-083CDD653C93}"/>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Calculation</a:t>
            </a:r>
          </a:p>
        </p:txBody>
      </p:sp>
      <p:sp>
        <p:nvSpPr>
          <p:cNvPr id="11" name="">
            <a:extLst xmlns:a="http://schemas.openxmlformats.org/drawingml/2006/main">
              <a:ext uri="{FF2B5EF4-FFF2-40B4-BE49-F238E27FC236}">
                <a16:creationId xmlns:a16="http://schemas.microsoft.com/office/drawing/2014/main" id="{09F83EA2-1D04-40B2-B2FE-B09B6C6C4C3F}"/>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Rules we</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explicitly encode</a:t>
            </a:r>
          </a:p>
        </p:txBody>
      </p:sp>
      <p:sp>
        <p:nvSpPr>
          <p:cNvPr id="12" name="">
            <a:extLst xmlns:a="http://schemas.openxmlformats.org/drawingml/2006/main">
              <a:ext uri="{FF2B5EF4-FFF2-40B4-BE49-F238E27FC236}">
                <a16:creationId xmlns:a16="http://schemas.microsoft.com/office/drawing/2014/main" id="{B8ABB109-8423-4D4D-8A8B-D22D53FAA5AF}"/>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FC47528D-9256-476F-9878-249BB07780CE}"/>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Large Models</a:t>
            </a:r>
          </a:p>
        </p:txBody>
      </p:sp>
      <p:sp>
        <p:nvSpPr>
          <p:cNvPr id="14" name="">
            <a:extLst xmlns:a="http://schemas.openxmlformats.org/drawingml/2006/main">
              <a:ext uri="{FF2B5EF4-FFF2-40B4-BE49-F238E27FC236}">
                <a16:creationId xmlns:a16="http://schemas.microsoft.com/office/drawing/2014/main" id="{C7D7E87F-B516-4E42-B262-2D508D4FF2C9}"/>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Externalized</a:t>
            </a:r>
          </a:p>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Cognition</a:t>
            </a:r>
          </a:p>
        </p:txBody>
      </p:sp>
      <p:sp>
        <p:nvSpPr>
          <p:cNvPr id="15" name="">
            <a:extLst xmlns:a="http://schemas.openxmlformats.org/drawingml/2006/main">
              <a:ext uri="{FF2B5EF4-FFF2-40B4-BE49-F238E27FC236}">
                <a16:creationId xmlns:a16="http://schemas.microsoft.com/office/drawing/2014/main" id="{38FAF65A-98A8-41A2-BD33-6AFC76F5C676}"/>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Judgment shaped</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CD44B4AC-536F-4947-992F-7371DAC2BCC3}"/>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01FA73E0-9529-4C1F-A98A-73104343436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A94C2F45-EC82-4509-802E-EF61FD943B7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135374681"/>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F956A45D-BA8C-40A0-87E7-83039AA8A16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5E12D6D8-4DAE-4D18-9ECD-7AF83C8E874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B067776-706D-408F-A56B-CA7D824915C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641CCB41-0326-444F-93D8-C495DB85A101}"/>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F9693E2D-0BFF-4422-B73B-DC2B8662226E}"/>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700F7A59-688D-4114-81AA-E0F423A5027F}"/>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Intent</a:t>
            </a:r>
          </a:p>
        </p:txBody>
      </p:sp>
      <p:sp>
        <p:nvSpPr>
          <p:cNvPr id="7" name="">
            <a:extLst xmlns:a="http://schemas.openxmlformats.org/drawingml/2006/main">
              <a:ext uri="{FF2B5EF4-FFF2-40B4-BE49-F238E27FC236}">
                <a16:creationId xmlns:a16="http://schemas.microsoft.com/office/drawing/2014/main" id="{ED873C37-88CF-4ABB-9430-252A2597A874}"/>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2A886099-0493-4E4A-AB84-1F07F5DAE926}"/>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Design</a:t>
            </a:r>
          </a:p>
        </p:txBody>
      </p:sp>
      <p:sp>
        <p:nvSpPr>
          <p:cNvPr id="9" name="">
            <a:extLst xmlns:a="http://schemas.openxmlformats.org/drawingml/2006/main">
              <a:ext uri="{FF2B5EF4-FFF2-40B4-BE49-F238E27FC236}">
                <a16:creationId xmlns:a16="http://schemas.microsoft.com/office/drawing/2014/main" id="{0864EA53-9E0E-4173-8D89-D75B174CE3E5}"/>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C390F390-58CF-4D0B-B735-8AFB129B7339}"/>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Code</a:t>
            </a:r>
          </a:p>
        </p:txBody>
      </p:sp>
      <p:sp>
        <p:nvSpPr>
          <p:cNvPr id="11" name="">
            <a:extLst xmlns:a="http://schemas.openxmlformats.org/drawingml/2006/main">
              <a:ext uri="{FF2B5EF4-FFF2-40B4-BE49-F238E27FC236}">
                <a16:creationId xmlns:a16="http://schemas.microsoft.com/office/drawing/2014/main" id="{D37729C8-4B2B-4FE7-B4C5-A56450A6C68D}"/>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BA63EAB3-2074-4E01-A807-2E8383CD26A5}"/>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Review</a:t>
            </a:r>
          </a:p>
        </p:txBody>
      </p:sp>
      <p:sp>
        <p:nvSpPr>
          <p:cNvPr id="13" name="">
            <a:extLst xmlns:a="http://schemas.openxmlformats.org/drawingml/2006/main">
              <a:ext uri="{FF2B5EF4-FFF2-40B4-BE49-F238E27FC236}">
                <a16:creationId xmlns:a16="http://schemas.microsoft.com/office/drawing/2014/main" id="{E93BF5F0-5F06-4286-B08A-7400E3956250}"/>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FEB5D73C-55AB-415A-A926-7854630AACAF}"/>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Test</a:t>
            </a:r>
          </a:p>
        </p:txBody>
      </p:sp>
      <p:sp>
        <p:nvSpPr>
          <p:cNvPr id="15" name="">
            <a:extLst xmlns:a="http://schemas.openxmlformats.org/drawingml/2006/main">
              <a:ext uri="{FF2B5EF4-FFF2-40B4-BE49-F238E27FC236}">
                <a16:creationId xmlns:a16="http://schemas.microsoft.com/office/drawing/2014/main" id="{2606EDD2-2CF5-406B-BD6F-2D2414FA4A42}"/>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4CF2C0CA-6BA4-4E91-9D0C-6376CF30353F}"/>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DejaVu Sans"/>
                <a:ea typeface="DejaVu Sans"/>
                <a:cs typeface="DejaVu Sans"/>
              </a:defRPr>
            </a:pPr>
            <a:r>
              <a:rPr sz="1350" b="1">
                <a:solidFill>
                  <a:srgbClr val="F4F7FA"/>
                </a:solidFill>
                <a:latin typeface="DejaVu Sans"/>
                <a:ea typeface="DejaVu Sans"/>
                <a:cs typeface="DejaVu Sans"/>
              </a:rPr>
              <a:t>Integrate</a:t>
            </a:r>
          </a:p>
        </p:txBody>
      </p:sp>
      <p:sp>
        <p:nvSpPr>
          <p:cNvPr id="17" name="">
            <a:extLst xmlns:a="http://schemas.openxmlformats.org/drawingml/2006/main">
              <a:ext uri="{FF2B5EF4-FFF2-40B4-BE49-F238E27FC236}">
                <a16:creationId xmlns:a16="http://schemas.microsoft.com/office/drawing/2014/main" id="{DEC3530F-DE20-4B60-8C9F-C1DEDB1CF9FE}"/>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2A3DD20A-B9BA-4D19-AC56-4B0041B27BE1}"/>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Deploy</a:t>
            </a:r>
          </a:p>
        </p:txBody>
      </p:sp>
      <p:sp>
        <p:nvSpPr>
          <p:cNvPr id="19" name="">
            <a:extLst xmlns:a="http://schemas.openxmlformats.org/drawingml/2006/main">
              <a:ext uri="{FF2B5EF4-FFF2-40B4-BE49-F238E27FC236}">
                <a16:creationId xmlns:a16="http://schemas.microsoft.com/office/drawing/2014/main" id="{9385FA65-85BD-40B9-93AF-C703C7F22BAF}"/>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0809ED2C-C89E-46FF-BA88-B1F8CFA5C085}"/>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Operate</a:t>
            </a:r>
          </a:p>
        </p:txBody>
      </p:sp>
      <p:sp>
        <p:nvSpPr>
          <p:cNvPr id="21" name="">
            <a:extLst xmlns:a="http://schemas.openxmlformats.org/drawingml/2006/main">
              <a:ext uri="{FF2B5EF4-FFF2-40B4-BE49-F238E27FC236}">
                <a16:creationId xmlns:a16="http://schemas.microsoft.com/office/drawing/2014/main" id="{04E3575D-4D2F-4D94-9F42-B3AC78EFA6E4}"/>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BC4A71F6-1918-4E92-A5FD-E0638563DB03}"/>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30170334-82BD-41ED-B153-D63805339837}"/>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ED09DF8C-1A22-4DB5-9B6A-B109FC7556C0}"/>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AC184259-2B14-45AF-A19B-B0A8323CB754}"/>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801015C6-B2E5-430C-9CD3-CCD05FEA35D4}"/>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A95A4920-7A11-4FEE-B5C5-A1249998F51C}"/>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D5D28CC6-CC95-47B9-B966-B988636106FC}"/>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EC324559-D462-47B7-B6A9-316C168D6BA2}"/>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A2357A1C-C50A-460F-A3AC-28D944CE562E}"/>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10E6BA4D-D953-43EC-A8BB-0128239C3F1C}"/>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F6ACB435-CB77-4AC0-B7F3-86BCA69C4B3F}"/>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3" name="">
            <a:extLst xmlns:a="http://schemas.openxmlformats.org/drawingml/2006/main">
              <a:ext uri="{FF2B5EF4-FFF2-40B4-BE49-F238E27FC236}">
                <a16:creationId xmlns:a16="http://schemas.microsoft.com/office/drawing/2014/main" id="{0DDCABF2-21CA-41AD-A6EA-7AC850CFE9F0}"/>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4" name="">
            <a:extLst xmlns:a="http://schemas.openxmlformats.org/drawingml/2006/main">
              <a:ext uri="{FF2B5EF4-FFF2-40B4-BE49-F238E27FC236}">
                <a16:creationId xmlns:a16="http://schemas.microsoft.com/office/drawing/2014/main" id="{08F561B8-2337-4BBC-BDDA-73722D6E48BF}"/>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5" name="">
            <a:extLst xmlns:a="http://schemas.openxmlformats.org/drawingml/2006/main">
              <a:ext uri="{FF2B5EF4-FFF2-40B4-BE49-F238E27FC236}">
                <a16:creationId xmlns:a16="http://schemas.microsoft.com/office/drawing/2014/main" id="{79967EF0-067C-4359-AB98-51DBAF746E28}"/>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B6F6B98C-7D65-4A54-8BE7-517DE00D1423}"/>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Code</a:t>
            </a:r>
          </a:p>
        </p:txBody>
      </p:sp>
      <p:sp>
        <p:nvSpPr>
          <p:cNvPr id="37" name="">
            <a:extLst xmlns:a="http://schemas.openxmlformats.org/drawingml/2006/main">
              <a:ext uri="{FF2B5EF4-FFF2-40B4-BE49-F238E27FC236}">
                <a16:creationId xmlns:a16="http://schemas.microsoft.com/office/drawing/2014/main" id="{DB0F1FB4-8931-4E51-B070-C7EAD3487B48}"/>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Review</a:t>
            </a:r>
          </a:p>
        </p:txBody>
      </p:sp>
      <p:sp>
        <p:nvSpPr>
          <p:cNvPr id="38" name="">
            <a:extLst xmlns:a="http://schemas.openxmlformats.org/drawingml/2006/main">
              <a:ext uri="{FF2B5EF4-FFF2-40B4-BE49-F238E27FC236}">
                <a16:creationId xmlns:a16="http://schemas.microsoft.com/office/drawing/2014/main" id="{5972D063-CF64-42B6-B999-7AA4E3A1EDDA}"/>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Integrate</a:t>
            </a:r>
          </a:p>
        </p:txBody>
      </p:sp>
      <p:sp>
        <p:nvSpPr>
          <p:cNvPr id="39" name="">
            <a:extLst xmlns:a="http://schemas.openxmlformats.org/drawingml/2006/main">
              <a:ext uri="{FF2B5EF4-FFF2-40B4-BE49-F238E27FC236}">
                <a16:creationId xmlns:a16="http://schemas.microsoft.com/office/drawing/2014/main" id="{7B1ECD5A-DF17-4D19-8C9B-BB4AB5E456A9}"/>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DejaVu Sans"/>
                <a:ea typeface="DejaVu Sans"/>
                <a:cs typeface="DejaVu Sans"/>
              </a:defRPr>
            </a:pPr>
            <a:r>
              <a:rPr sz="1500" b="1">
                <a:solidFill>
                  <a:srgbClr val="ADB8C5"/>
                </a:solidFill>
                <a:latin typeface="DejaVu Sans"/>
                <a:ea typeface="DejaVu Sans"/>
                <a:cs typeface="DejaVu Sans"/>
              </a:rPr>
              <a:t>BACKLOG</a:t>
            </a:r>
          </a:p>
        </p:txBody>
      </p:sp>
      <p:sp>
        <p:nvSpPr>
          <p:cNvPr id="40" name="">
            <a:extLst xmlns:a="http://schemas.openxmlformats.org/drawingml/2006/main">
              <a:ext uri="{FF2B5EF4-FFF2-40B4-BE49-F238E27FC236}">
                <a16:creationId xmlns:a16="http://schemas.microsoft.com/office/drawing/2014/main" id="{33B1B275-D272-452A-BEF1-387C14760E9A}"/>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DejaVu Sans"/>
                <a:ea typeface="DejaVu Sans"/>
                <a:cs typeface="DejaVu Sans"/>
              </a:defRPr>
            </a:pPr>
            <a:r>
              <a:rPr sz="1650" b="1">
                <a:solidFill>
                  <a:srgbClr val="ADB8C5"/>
                </a:solidFill>
                <a:latin typeface="DejaVu Sans"/>
                <a:ea typeface="DejaVu Sans"/>
                <a:cs typeface="DejaVu Sans"/>
              </a:rPr>
              <a:t>BEFORE</a:t>
            </a:r>
          </a:p>
        </p:txBody>
      </p:sp>
      <p:sp>
        <p:nvSpPr>
          <p:cNvPr id="41" name="">
            <a:extLst xmlns:a="http://schemas.openxmlformats.org/drawingml/2006/main">
              <a:ext uri="{FF2B5EF4-FFF2-40B4-BE49-F238E27FC236}">
                <a16:creationId xmlns:a16="http://schemas.microsoft.com/office/drawing/2014/main" id="{CCD25E0D-7588-416E-B912-423387754408}"/>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Balanced flow</a:t>
            </a:r>
          </a:p>
        </p:txBody>
      </p:sp>
      <p:sp>
        <p:nvSpPr>
          <p:cNvPr id="42" name="">
            <a:extLst xmlns:a="http://schemas.openxmlformats.org/drawingml/2006/main">
              <a:ext uri="{FF2B5EF4-FFF2-40B4-BE49-F238E27FC236}">
                <a16:creationId xmlns:a16="http://schemas.microsoft.com/office/drawing/2014/main" id="{850EAC4C-8082-4F59-83D5-0DE7AC67BD2A}"/>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1197C83A-A653-4BD2-91A8-63FA6C154E01}"/>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4" name="">
            <a:extLst xmlns:a="http://schemas.openxmlformats.org/drawingml/2006/main">
              <a:ext uri="{FF2B5EF4-FFF2-40B4-BE49-F238E27FC236}">
                <a16:creationId xmlns:a16="http://schemas.microsoft.com/office/drawing/2014/main" id="{49492FFB-CD4C-44FD-B312-2E6E5C3849BA}"/>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A4018D93-B241-4DAE-B1A2-D877C3E15E60}"/>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6" name="">
            <a:extLst xmlns:a="http://schemas.openxmlformats.org/drawingml/2006/main">
              <a:ext uri="{FF2B5EF4-FFF2-40B4-BE49-F238E27FC236}">
                <a16:creationId xmlns:a16="http://schemas.microsoft.com/office/drawing/2014/main" id="{B790BC6B-7AB4-46E5-880B-AD621C02B9A0}"/>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66DAA835-B8D6-48CF-94FB-5DCEFE6A0855}"/>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8" name="">
            <a:extLst xmlns:a="http://schemas.openxmlformats.org/drawingml/2006/main">
              <a:ext uri="{FF2B5EF4-FFF2-40B4-BE49-F238E27FC236}">
                <a16:creationId xmlns:a16="http://schemas.microsoft.com/office/drawing/2014/main" id="{DEC6F310-2B86-4464-AF7C-6AFE59AB86E2}"/>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D9A54453-C7BE-43C8-A172-BD12D1CFBB22}"/>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A7310CD8-853D-4517-804E-65C4E28C9003}"/>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DejaVu Sans"/>
                <a:ea typeface="DejaVu Sans"/>
                <a:cs typeface="DejaVu Sans"/>
              </a:defRPr>
            </a:pPr>
            <a:r>
              <a:rPr sz="2925" b="1">
                <a:solidFill>
                  <a:srgbClr val="ADB8C5"/>
                </a:solidFill>
                <a:latin typeface="DejaVu Sans"/>
                <a:ea typeface="DejaVu Sans"/>
                <a:cs typeface="DejaVu Sans"/>
              </a:rPr>
              <a:t>0</a:t>
            </a:r>
          </a:p>
        </p:txBody>
      </p:sp>
      <p:sp>
        <p:nvSpPr>
          <p:cNvPr id="51" name="">
            <a:extLst xmlns:a="http://schemas.openxmlformats.org/drawingml/2006/main">
              <a:ext uri="{FF2B5EF4-FFF2-40B4-BE49-F238E27FC236}">
                <a16:creationId xmlns:a16="http://schemas.microsoft.com/office/drawing/2014/main" id="{7EE0F90A-997C-4BFC-B07E-FB64C5BC4B24}"/>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no accumulation</a:t>
            </a:r>
          </a:p>
        </p:txBody>
      </p:sp>
      <p:sp>
        <p:nvSpPr>
          <p:cNvPr id="52" name="">
            <a:extLst xmlns:a="http://schemas.openxmlformats.org/drawingml/2006/main">
              <a:ext uri="{FF2B5EF4-FFF2-40B4-BE49-F238E27FC236}">
                <a16:creationId xmlns:a16="http://schemas.microsoft.com/office/drawing/2014/main" id="{C7FA2AD6-F310-4582-9AB8-E2785CFDB88B}"/>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AFTER AI</a:t>
            </a:r>
          </a:p>
        </p:txBody>
      </p:sp>
      <p:sp>
        <p:nvSpPr>
          <p:cNvPr id="53" name="">
            <a:extLst xmlns:a="http://schemas.openxmlformats.org/drawingml/2006/main">
              <a:ext uri="{FF2B5EF4-FFF2-40B4-BE49-F238E27FC236}">
                <a16:creationId xmlns:a16="http://schemas.microsoft.com/office/drawing/2014/main" id="{77998EAC-5546-46F9-8F53-745ADE657CB9}"/>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Other stages have</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not sped up</a:t>
            </a:r>
          </a:p>
        </p:txBody>
      </p:sp>
      <p:sp>
        <p:nvSpPr>
          <p:cNvPr id="54" name="">
            <a:extLst xmlns:a="http://schemas.openxmlformats.org/drawingml/2006/main">
              <a:ext uri="{FF2B5EF4-FFF2-40B4-BE49-F238E27FC236}">
                <a16:creationId xmlns:a16="http://schemas.microsoft.com/office/drawing/2014/main" id="{DAC9C497-8FB4-4DB9-9DD7-4FC22E076861}"/>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B8A7E032-33EB-4BB2-8A4D-9179FD0BF053}"/>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DejaVu Sans"/>
                <a:ea typeface="DejaVu Sans"/>
                <a:cs typeface="DejaVu Sans"/>
              </a:defRPr>
            </a:pPr>
            <a:r>
              <a:rPr sz="2700" b="1">
                <a:solidFill>
                  <a:srgbClr val="28C7F7"/>
                </a:solidFill>
                <a:latin typeface="DejaVu Sans"/>
                <a:ea typeface="DejaVu Sans"/>
                <a:cs typeface="DejaVu Sans"/>
              </a:rPr>
              <a:t>100</a:t>
            </a:r>
          </a:p>
        </p:txBody>
      </p:sp>
      <p:sp>
        <p:nvSpPr>
          <p:cNvPr id="56" name="">
            <a:extLst xmlns:a="http://schemas.openxmlformats.org/drawingml/2006/main">
              <a:ext uri="{FF2B5EF4-FFF2-40B4-BE49-F238E27FC236}">
                <a16:creationId xmlns:a16="http://schemas.microsoft.com/office/drawing/2014/main" id="{C621CAD3-5392-44A9-81CC-15CC873DFD8E}"/>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6772B283-A7F4-45DC-B556-8AA369187C23}"/>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58" name="">
            <a:extLst xmlns:a="http://schemas.openxmlformats.org/drawingml/2006/main">
              <a:ext uri="{FF2B5EF4-FFF2-40B4-BE49-F238E27FC236}">
                <a16:creationId xmlns:a16="http://schemas.microsoft.com/office/drawing/2014/main" id="{AD385E86-7A8F-4A00-B94C-84973D632C75}"/>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EDD1F9DD-DF89-4EA0-9C8A-15AE7115C933}"/>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60" name="">
            <a:extLst xmlns:a="http://schemas.openxmlformats.org/drawingml/2006/main">
              <a:ext uri="{FF2B5EF4-FFF2-40B4-BE49-F238E27FC236}">
                <a16:creationId xmlns:a16="http://schemas.microsoft.com/office/drawing/2014/main" id="{97170FF0-0DB3-4888-BCCC-3EF1A3606488}"/>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B28AFE3D-76DA-4789-8637-3BAC7781075C}"/>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B9B85F70-C6B6-4209-94D1-FCE09E9EF98E}"/>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DejaVu Sans"/>
                <a:ea typeface="DejaVu Sans"/>
                <a:cs typeface="DejaVu Sans"/>
              </a:defRPr>
            </a:pPr>
            <a:r>
              <a:rPr sz="2925" b="1">
                <a:solidFill>
                  <a:srgbClr val="F5B61C"/>
                </a:solidFill>
                <a:latin typeface="DejaVu Sans"/>
                <a:ea typeface="DejaVu Sans"/>
                <a:cs typeface="DejaVu Sans"/>
              </a:rPr>
              <a:t>+92</a:t>
            </a:r>
          </a:p>
        </p:txBody>
      </p:sp>
      <p:sp>
        <p:nvSpPr>
          <p:cNvPr id="63" name="">
            <a:extLst xmlns:a="http://schemas.openxmlformats.org/drawingml/2006/main">
              <a:ext uri="{FF2B5EF4-FFF2-40B4-BE49-F238E27FC236}">
                <a16:creationId xmlns:a16="http://schemas.microsoft.com/office/drawing/2014/main" id="{722D8F83-D143-4C5F-841F-3B9860046846}"/>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unfinished / week</a:t>
            </a:r>
          </a:p>
        </p:txBody>
      </p:sp>
      <p:sp>
        <p:nvSpPr>
          <p:cNvPr id="64" name="">
            <a:extLst xmlns:a="http://schemas.openxmlformats.org/drawingml/2006/main">
              <a:ext uri="{FF2B5EF4-FFF2-40B4-BE49-F238E27FC236}">
                <a16:creationId xmlns:a16="http://schemas.microsoft.com/office/drawing/2014/main" id="{35E905C4-EED3-4BD2-A1BD-B840B43CFFE5}"/>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DCCCAC18-7F9A-4CBC-B0A4-005ABDC95A5A}"/>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THEORY OF CONSTRAINTS</a:t>
            </a:r>
          </a:p>
        </p:txBody>
      </p:sp>
      <p:sp>
        <p:nvSpPr>
          <p:cNvPr id="66" name="">
            <a:extLst xmlns:a="http://schemas.openxmlformats.org/drawingml/2006/main">
              <a:ext uri="{FF2B5EF4-FFF2-40B4-BE49-F238E27FC236}">
                <a16:creationId xmlns:a16="http://schemas.microsoft.com/office/drawing/2014/main" id="{DD52E734-784E-413B-9149-356BAFB525FA}"/>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499599A3-5DFE-43E3-A7CA-AD4DC6DCC281}"/>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Push system: no WIP limit, no discarded work.</a:t>
            </a:r>
          </a:p>
        </p:txBody>
      </p:sp>
    </p:spTree>
    <p:extLst>
      <p:ext uri="{BB962C8B-B14F-4D97-AF65-F5344CB8AC3E}">
        <p14:creationId xmlns:p14="http://schemas.microsoft.com/office/powerpoint/2010/main" val="1488332322"/>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B1D81563-C56E-4994-9317-3CD109561BF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5F69D1C0-8824-436B-92CB-9031A0FF900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B1575C0-E038-4BAE-A2A2-337610BCBCA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B54E7535-2535-46FC-BEA3-8A66CBCBAD9D}"/>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D5686C32-5DE8-410D-8B38-EE3453091BA4}"/>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2026</a:t>
            </a:r>
          </a:p>
        </p:txBody>
      </p:sp>
      <p:sp>
        <p:nvSpPr>
          <p:cNvPr id="6" name="">
            <a:extLst xmlns:a="http://schemas.openxmlformats.org/drawingml/2006/main">
              <a:ext uri="{FF2B5EF4-FFF2-40B4-BE49-F238E27FC236}">
                <a16:creationId xmlns:a16="http://schemas.microsoft.com/office/drawing/2014/main" id="{7E3B7303-E251-458C-8C47-C90003CBE38D}"/>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17.3×</a:t>
            </a:r>
          </a:p>
        </p:txBody>
      </p:sp>
      <p:sp>
        <p:nvSpPr>
          <p:cNvPr id="7" name="">
            <a:extLst xmlns:a="http://schemas.openxmlformats.org/drawingml/2006/main">
              <a:ext uri="{FF2B5EF4-FFF2-40B4-BE49-F238E27FC236}">
                <a16:creationId xmlns:a16="http://schemas.microsoft.com/office/drawing/2014/main" id="{E55B1111-2273-4ACA-A020-F839B2C3C136}"/>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C4E2FE82-0B48-458E-AB0B-BECCF803F4C1}"/>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2.8×</a:t>
            </a:r>
          </a:p>
        </p:txBody>
      </p:sp>
      <p:sp>
        <p:nvSpPr>
          <p:cNvPr id="9" name="">
            <a:extLst xmlns:a="http://schemas.openxmlformats.org/drawingml/2006/main">
              <a:ext uri="{FF2B5EF4-FFF2-40B4-BE49-F238E27FC236}">
                <a16:creationId xmlns:a16="http://schemas.microsoft.com/office/drawing/2014/main" id="{EAAFAC70-F20D-4967-87CB-1F7D0FA46F3A}"/>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commits</a:t>
            </a:r>
          </a:p>
        </p:txBody>
      </p:sp>
      <p:sp>
        <p:nvSpPr>
          <p:cNvPr id="10" name="">
            <a:extLst xmlns:a="http://schemas.openxmlformats.org/drawingml/2006/main">
              <a:ext uri="{FF2B5EF4-FFF2-40B4-BE49-F238E27FC236}">
                <a16:creationId xmlns:a16="http://schemas.microsoft.com/office/drawing/2014/main" id="{33D1F367-6372-4271-9C8F-5C52E7E2D570}"/>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1.3×</a:t>
            </a:r>
          </a:p>
        </p:txBody>
      </p:sp>
      <p:sp>
        <p:nvSpPr>
          <p:cNvPr id="11" name="">
            <a:extLst xmlns:a="http://schemas.openxmlformats.org/drawingml/2006/main">
              <a:ext uri="{FF2B5EF4-FFF2-40B4-BE49-F238E27FC236}">
                <a16:creationId xmlns:a16="http://schemas.microsoft.com/office/drawing/2014/main" id="{AAB23C4D-2149-4874-B022-93FD796F2C03}"/>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releases</a:t>
            </a:r>
          </a:p>
        </p:txBody>
      </p:sp>
      <p:sp>
        <p:nvSpPr>
          <p:cNvPr id="12" name="">
            <a:extLst xmlns:a="http://schemas.openxmlformats.org/drawingml/2006/main">
              <a:ext uri="{FF2B5EF4-FFF2-40B4-BE49-F238E27FC236}">
                <a16:creationId xmlns:a16="http://schemas.microsoft.com/office/drawing/2014/main" id="{74610405-5208-4155-A752-F9A15FF9FFD7}"/>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Cumulative across three tool generations</a:t>
            </a:r>
          </a:p>
        </p:txBody>
      </p:sp>
      <p:sp>
        <p:nvSpPr>
          <p:cNvPr id="13" name="">
            <a:extLst xmlns:a="http://schemas.openxmlformats.org/drawingml/2006/main">
              <a:ext uri="{FF2B5EF4-FFF2-40B4-BE49-F238E27FC236}">
                <a16:creationId xmlns:a16="http://schemas.microsoft.com/office/drawing/2014/main" id="{79D66AD7-DC0A-4027-BC9E-63B098EC55BD}"/>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Changed LOC = additions + deletions.</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Async release effect not estimated.</a:t>
            </a:r>
          </a:p>
        </p:txBody>
      </p:sp>
      <p:sp>
        <p:nvSpPr>
          <p:cNvPr id="14" name="">
            <a:extLst xmlns:a="http://schemas.openxmlformats.org/drawingml/2006/main">
              <a:ext uri="{FF2B5EF4-FFF2-40B4-BE49-F238E27FC236}">
                <a16:creationId xmlns:a16="http://schemas.microsoft.com/office/drawing/2014/main" id="{ECC5F0A4-9678-4020-993F-EA54635E7004}"/>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More apps. Aggregate usage</a:t>
            </a:r>
          </a:p>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flat or lower in these cohorts.</a:t>
            </a:r>
          </a:p>
        </p:txBody>
      </p:sp>
      <p:sp>
        <p:nvSpPr>
          <p:cNvPr id="15" name="">
            <a:extLst xmlns:a="http://schemas.openxmlformats.org/drawingml/2006/main">
              <a:ext uri="{FF2B5EF4-FFF2-40B4-BE49-F238E27FC236}">
                <a16:creationId xmlns:a16="http://schemas.microsoft.com/office/drawing/2014/main" id="{2A0806F9-E9F3-482E-A58F-551E7775C734}"/>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16" name="">
            <a:extLst xmlns:a="http://schemas.openxmlformats.org/drawingml/2006/main">
              <a:ext uri="{FF2B5EF4-FFF2-40B4-BE49-F238E27FC236}">
                <a16:creationId xmlns:a16="http://schemas.microsoft.com/office/drawing/2014/main" id="{1B989595-E2A1-46AF-9E23-57C27DEE04EA}"/>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79% → 86%</a:t>
            </a:r>
          </a:p>
        </p:txBody>
      </p:sp>
      <p:sp>
        <p:nvSpPr>
          <p:cNvPr id="17" name="">
            <a:extLst xmlns:a="http://schemas.openxmlformats.org/drawingml/2006/main">
              <a:ext uri="{FF2B5EF4-FFF2-40B4-BE49-F238E27FC236}">
                <a16:creationId xmlns:a16="http://schemas.microsoft.com/office/drawing/2014/main" id="{2809B229-0342-4787-AFF5-C3E88558960C}"/>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18" name="">
            <a:extLst xmlns:a="http://schemas.openxmlformats.org/drawingml/2006/main">
              <a:ext uri="{FF2B5EF4-FFF2-40B4-BE49-F238E27FC236}">
                <a16:creationId xmlns:a16="http://schemas.microsoft.com/office/drawing/2014/main" id="{B1951F57-24C8-40C4-90CA-655A6B934851}"/>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18% → 31%</a:t>
            </a:r>
          </a:p>
        </p:txBody>
      </p:sp>
      <p:sp>
        <p:nvSpPr>
          <p:cNvPr id="19" name="">
            <a:extLst xmlns:a="http://schemas.openxmlformats.org/drawingml/2006/main">
              <a:ext uri="{FF2B5EF4-FFF2-40B4-BE49-F238E27FC236}">
                <a16:creationId xmlns:a16="http://schemas.microsoft.com/office/drawing/2014/main" id="{EAA2BF86-A236-4623-8D6D-DBF35C24F05D}"/>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New cohorts; first 3 months. Usage proxies.</a:t>
            </a:r>
          </a:p>
        </p:txBody>
      </p:sp>
      <p:sp>
        <p:nvSpPr>
          <p:cNvPr id="20" name="">
            <a:extLst xmlns:a="http://schemas.openxmlformats.org/drawingml/2006/main">
              <a:ext uri="{FF2B5EF4-FFF2-40B4-BE49-F238E27FC236}">
                <a16:creationId xmlns:a16="http://schemas.microsoft.com/office/drawing/2014/main" id="{FF4E2760-DD67-4197-8D3C-320B2A1CD8F4}"/>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DORA · 2025</a:t>
            </a:r>
          </a:p>
        </p:txBody>
      </p:sp>
      <p:sp>
        <p:nvSpPr>
          <p:cNvPr id="21" name="">
            <a:extLst xmlns:a="http://schemas.openxmlformats.org/drawingml/2006/main">
              <a:ext uri="{FF2B5EF4-FFF2-40B4-BE49-F238E27FC236}">
                <a16:creationId xmlns:a16="http://schemas.microsoft.com/office/drawing/2014/main" id="{C8BD9B78-4E4A-4306-B545-598B7F516611}"/>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Higher throughput</a:t>
            </a:r>
          </a:p>
        </p:txBody>
      </p:sp>
      <p:sp>
        <p:nvSpPr>
          <p:cNvPr id="22" name="">
            <a:extLst xmlns:a="http://schemas.openxmlformats.org/drawingml/2006/main">
              <a:ext uri="{FF2B5EF4-FFF2-40B4-BE49-F238E27FC236}">
                <a16:creationId xmlns:a16="http://schemas.microsoft.com/office/drawing/2014/main" id="{DE0EDBA4-0BE2-4AB2-A7FA-DC8643EF7BA7}"/>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Lower delivery stability</a:t>
            </a:r>
          </a:p>
        </p:txBody>
      </p:sp>
      <p:sp>
        <p:nvSpPr>
          <p:cNvPr id="23" name="">
            <a:extLst xmlns:a="http://schemas.openxmlformats.org/drawingml/2006/main">
              <a:ext uri="{FF2B5EF4-FFF2-40B4-BE49-F238E27FC236}">
                <a16:creationId xmlns:a16="http://schemas.microsoft.com/office/drawing/2014/main" id="{C5E770D1-9A1B-490A-84F2-4EA44D681EBC}"/>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DejaVu Sans"/>
                <a:ea typeface="DejaVu Sans"/>
                <a:cs typeface="DejaVu Sans"/>
              </a:defRPr>
            </a:pPr>
            <a:r>
              <a:rPr sz="1425" b="0">
                <a:solidFill>
                  <a:srgbClr val="F5B61C"/>
                </a:solidFill>
                <a:latin typeface="DejaVu Sans"/>
                <a:ea typeface="DejaVu Sans"/>
                <a:cs typeface="DejaVu Sans"/>
              </a:rPr>
              <a:t>≈ +0.10 SD instability per +1 SD AI adoption</a:t>
            </a:r>
          </a:p>
        </p:txBody>
      </p:sp>
      <p:sp>
        <p:nvSpPr>
          <p:cNvPr id="24" name="">
            <a:extLst xmlns:a="http://schemas.openxmlformats.org/drawingml/2006/main">
              <a:ext uri="{FF2B5EF4-FFF2-40B4-BE49-F238E27FC236}">
                <a16:creationId xmlns:a16="http://schemas.microsoft.com/office/drawing/2014/main" id="{45574296-6797-45A6-BA85-723189B5A95E}"/>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89% credible interval ≈ +0.07 to +0.13</a:t>
            </a:r>
          </a:p>
        </p:txBody>
      </p:sp>
      <p:sp>
        <p:nvSpPr>
          <p:cNvPr id="25" name="">
            <a:extLst xmlns:a="http://schemas.openxmlformats.org/drawingml/2006/main">
              <a:ext uri="{FF2B5EF4-FFF2-40B4-BE49-F238E27FC236}">
                <a16:creationId xmlns:a16="http://schemas.microsoft.com/office/drawing/2014/main" id="{D633509B-A5EC-4B09-BA03-93AB84CD0E8A}"/>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Survey model, rounded reading of Fig. 28.</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SD = standard deviation, not a failure percentage.</a:t>
            </a:r>
          </a:p>
        </p:txBody>
      </p:sp>
      <p:sp>
        <p:nvSpPr>
          <p:cNvPr id="26" name="">
            <a:extLst xmlns:a="http://schemas.openxmlformats.org/drawingml/2006/main">
              <a:ext uri="{FF2B5EF4-FFF2-40B4-BE49-F238E27FC236}">
                <a16:creationId xmlns:a16="http://schemas.microsoft.com/office/drawing/2014/main" id="{6737E127-2563-4C59-821E-D369CF411BF3}"/>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Report improvement: &gt;80% productivity; 59% code quality.</a:t>
            </a:r>
          </a:p>
        </p:txBody>
      </p:sp>
      <p:sp>
        <p:nvSpPr>
          <p:cNvPr id="27" name="">
            <a:extLst xmlns:a="http://schemas.openxmlformats.org/drawingml/2006/main">
              <a:ext uri="{FF2B5EF4-FFF2-40B4-BE49-F238E27FC236}">
                <a16:creationId xmlns:a16="http://schemas.microsoft.com/office/drawing/2014/main" id="{BDB8E301-D8B8-4C2D-A9D3-F3049DE5E187}"/>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BD30590A-5D4F-41AB-8D3A-033C47635C24}"/>
              </a:ext>
            </a:extLst>
          </p:cNvPr>
          <p:cNvSpPr>
            <a:spLocks xmlns:a="http://schemas.openxmlformats.org/drawingml/2006/main" noGrp="1"/>
          </p:cNvSpPr>
          <p:nvPr/>
        </p:nvSpPr>
        <p:spPr>
          <a:xfrm xmlns:a="http://schemas.openxmlformats.org/drawingml/2006/main">
            <a:off x="5867400" y="43053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GITCLEAR · JUN 2026</a:t>
            </a:r>
          </a:p>
        </p:txBody>
      </p:sp>
      <p:sp>
        <p:nvSpPr>
          <p:cNvPr id="29" name="">
            <a:extLst xmlns:a="http://schemas.openxmlformats.org/drawingml/2006/main">
              <a:ext uri="{FF2B5EF4-FFF2-40B4-BE49-F238E27FC236}">
                <a16:creationId xmlns:a16="http://schemas.microsoft.com/office/drawing/2014/main" id="{A153B523-162D-415D-AD60-A82BAD997874}"/>
              </a:ext>
            </a:extLst>
          </p:cNvPr>
          <p:cNvSpPr>
            <a:spLocks xmlns:a="http://schemas.openxmlformats.org/drawingml/2006/main" noGrp="1"/>
          </p:cNvSpPr>
          <p:nvPr/>
        </p:nvSpPr>
        <p:spPr>
          <a:xfrm xmlns:a="http://schemas.openxmlformats.org/drawingml/2006/main">
            <a:off x="5867400" y="460057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Moved-code share</a:t>
            </a:r>
          </a:p>
        </p:txBody>
      </p:sp>
      <p:sp>
        <p:nvSpPr>
          <p:cNvPr id="30" name="">
            <a:extLst xmlns:a="http://schemas.openxmlformats.org/drawingml/2006/main">
              <a:ext uri="{FF2B5EF4-FFF2-40B4-BE49-F238E27FC236}">
                <a16:creationId xmlns:a16="http://schemas.microsoft.com/office/drawing/2014/main" id="{E2E4014A-300B-4757-B6B8-3FE4BD111208}"/>
              </a:ext>
            </a:extLst>
          </p:cNvPr>
          <p:cNvSpPr>
            <a:spLocks xmlns:a="http://schemas.openxmlformats.org/drawingml/2006/main" noGrp="1"/>
          </p:cNvSpPr>
          <p:nvPr/>
        </p:nvSpPr>
        <p:spPr>
          <a:xfrm xmlns:a="http://schemas.openxmlformats.org/drawingml/2006/main">
            <a:off x="9667875" y="460057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13% → 3.8%</a:t>
            </a:r>
          </a:p>
        </p:txBody>
      </p:sp>
      <p:sp>
        <p:nvSpPr>
          <p:cNvPr id="31" name="">
            <a:extLst xmlns:a="http://schemas.openxmlformats.org/drawingml/2006/main">
              <a:ext uri="{FF2B5EF4-FFF2-40B4-BE49-F238E27FC236}">
                <a16:creationId xmlns:a16="http://schemas.microsoft.com/office/drawing/2014/main" id="{F066C3A5-4C27-455B-95B2-02A3962CCDFF}"/>
              </a:ext>
            </a:extLst>
          </p:cNvPr>
          <p:cNvSpPr>
            <a:spLocks xmlns:a="http://schemas.openxmlformats.org/drawingml/2006/main" noGrp="1"/>
          </p:cNvSpPr>
          <p:nvPr/>
        </p:nvSpPr>
        <p:spPr>
          <a:xfrm xmlns:a="http://schemas.openxmlformats.org/drawingml/2006/main">
            <a:off x="5867400" y="484822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Calls / 1k changed lines</a:t>
            </a:r>
          </a:p>
        </p:txBody>
      </p:sp>
      <p:sp>
        <p:nvSpPr>
          <p:cNvPr id="32" name="">
            <a:extLst xmlns:a="http://schemas.openxmlformats.org/drawingml/2006/main">
              <a:ext uri="{FF2B5EF4-FFF2-40B4-BE49-F238E27FC236}">
                <a16:creationId xmlns:a16="http://schemas.microsoft.com/office/drawing/2014/main" id="{0477650C-DE1A-4876-B1BA-273CBED17300}"/>
              </a:ext>
            </a:extLst>
          </p:cNvPr>
          <p:cNvSpPr>
            <a:spLocks xmlns:a="http://schemas.openxmlformats.org/drawingml/2006/main" noGrp="1"/>
          </p:cNvSpPr>
          <p:nvPr/>
        </p:nvSpPr>
        <p:spPr>
          <a:xfrm xmlns:a="http://schemas.openxmlformats.org/drawingml/2006/main">
            <a:off x="9667875" y="484822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−35%</a:t>
            </a:r>
          </a:p>
        </p:txBody>
      </p:sp>
      <p:sp>
        <p:nvSpPr>
          <p:cNvPr id="33" name="">
            <a:extLst xmlns:a="http://schemas.openxmlformats.org/drawingml/2006/main">
              <a:ext uri="{FF2B5EF4-FFF2-40B4-BE49-F238E27FC236}">
                <a16:creationId xmlns:a16="http://schemas.microsoft.com/office/drawing/2014/main" id="{F1EA8228-E56C-4887-B69B-1C77F07B523C}"/>
              </a:ext>
            </a:extLst>
          </p:cNvPr>
          <p:cNvSpPr>
            <a:spLocks xmlns:a="http://schemas.openxmlformats.org/drawingml/2006/main" noGrp="1"/>
          </p:cNvSpPr>
          <p:nvPr/>
        </p:nvSpPr>
        <p:spPr>
          <a:xfrm xmlns:a="http://schemas.openxmlformats.org/drawingml/2006/main">
            <a:off x="5867400" y="509587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Duplicated blocks</a:t>
            </a:r>
          </a:p>
        </p:txBody>
      </p:sp>
      <p:sp>
        <p:nvSpPr>
          <p:cNvPr id="34" name="">
            <a:extLst xmlns:a="http://schemas.openxmlformats.org/drawingml/2006/main">
              <a:ext uri="{FF2B5EF4-FFF2-40B4-BE49-F238E27FC236}">
                <a16:creationId xmlns:a16="http://schemas.microsoft.com/office/drawing/2014/main" id="{4D34EF9B-9E79-47EA-846E-A9F0600FB797}"/>
              </a:ext>
            </a:extLst>
          </p:cNvPr>
          <p:cNvSpPr>
            <a:spLocks xmlns:a="http://schemas.openxmlformats.org/drawingml/2006/main" noGrp="1"/>
          </p:cNvSpPr>
          <p:nvPr/>
        </p:nvSpPr>
        <p:spPr>
          <a:xfrm xmlns:a="http://schemas.openxmlformats.org/drawingml/2006/main">
            <a:off x="9667875" y="509587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+81%</a:t>
            </a:r>
          </a:p>
        </p:txBody>
      </p:sp>
      <p:sp>
        <p:nvSpPr>
          <p:cNvPr id="35" name="">
            <a:extLst xmlns:a="http://schemas.openxmlformats.org/drawingml/2006/main">
              <a:ext uri="{FF2B5EF4-FFF2-40B4-BE49-F238E27FC236}">
                <a16:creationId xmlns:a16="http://schemas.microsoft.com/office/drawing/2014/main" id="{45296008-26A7-4155-B9F1-09148DB061AA}"/>
              </a:ext>
            </a:extLst>
          </p:cNvPr>
          <p:cNvSpPr>
            <a:spLocks xmlns:a="http://schemas.openxmlformats.org/drawingml/2006/main" noGrp="1"/>
          </p:cNvSpPr>
          <p:nvPr/>
        </p:nvSpPr>
        <p:spPr>
          <a:xfrm xmlns:a="http://schemas.openxmlformats.org/drawingml/2006/main">
            <a:off x="5867400" y="534352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Two-week code churn</a:t>
            </a:r>
          </a:p>
        </p:txBody>
      </p:sp>
      <p:sp>
        <p:nvSpPr>
          <p:cNvPr id="36" name="">
            <a:extLst xmlns:a="http://schemas.openxmlformats.org/drawingml/2006/main">
              <a:ext uri="{FF2B5EF4-FFF2-40B4-BE49-F238E27FC236}">
                <a16:creationId xmlns:a16="http://schemas.microsoft.com/office/drawing/2014/main" id="{EE7BC32F-05BA-49AE-934F-48B241E422CD}"/>
              </a:ext>
            </a:extLst>
          </p:cNvPr>
          <p:cNvSpPr>
            <a:spLocks xmlns:a="http://schemas.openxmlformats.org/drawingml/2006/main" noGrp="1"/>
          </p:cNvSpPr>
          <p:nvPr/>
        </p:nvSpPr>
        <p:spPr>
          <a:xfrm xmlns:a="http://schemas.openxmlformats.org/drawingml/2006/main">
            <a:off x="9667875" y="534352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+15%</a:t>
            </a:r>
          </a:p>
        </p:txBody>
      </p:sp>
      <p:sp>
        <p:nvSpPr>
          <p:cNvPr id="37" name="">
            <a:extLst xmlns:a="http://schemas.openxmlformats.org/drawingml/2006/main">
              <a:ext uri="{FF2B5EF4-FFF2-40B4-BE49-F238E27FC236}">
                <a16:creationId xmlns:a16="http://schemas.microsoft.com/office/drawing/2014/main" id="{8A54CEB0-E879-47EF-B136-B59A3A3A0BDC}"/>
              </a:ext>
            </a:extLst>
          </p:cNvPr>
          <p:cNvSpPr>
            <a:spLocks xmlns:a="http://schemas.openxmlformats.org/drawingml/2006/main" noGrp="1"/>
          </p:cNvSpPr>
          <p:nvPr/>
        </p:nvSpPr>
        <p:spPr>
          <a:xfrm xmlns:a="http://schemas.openxmlformats.org/drawingml/2006/main">
            <a:off x="5867400" y="562927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Observed code proxies; not a causal AI estimate.</a:t>
            </a:r>
          </a:p>
        </p:txBody>
      </p:sp>
      <p:sp>
        <p:nvSpPr>
          <p:cNvPr id="38" name="">
            <a:extLst xmlns:a="http://schemas.openxmlformats.org/drawingml/2006/main">
              <a:ext uri="{FF2B5EF4-FFF2-40B4-BE49-F238E27FC236}">
                <a16:creationId xmlns:a16="http://schemas.microsoft.com/office/drawing/2014/main" id="{D6749B61-53B3-4D14-95DA-7B3C870817EF}"/>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BFD6C9D1-6732-494A-9F9B-2E7BC67EEAF0}"/>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METR · MAY 2026</a:t>
            </a:r>
          </a:p>
        </p:txBody>
      </p:sp>
      <p:sp>
        <p:nvSpPr>
          <p:cNvPr id="40" name="">
            <a:extLst xmlns:a="http://schemas.openxmlformats.org/drawingml/2006/main">
              <a:ext uri="{FF2B5EF4-FFF2-40B4-BE49-F238E27FC236}">
                <a16:creationId xmlns:a16="http://schemas.microsoft.com/office/drawing/2014/main" id="{ACE93ABC-0C05-479E-8A43-8F55844EE14B}"/>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1.4–2× work value</a:t>
            </a:r>
          </a:p>
        </p:txBody>
      </p:sp>
      <p:sp>
        <p:nvSpPr>
          <p:cNvPr id="41" name="">
            <a:extLst xmlns:a="http://schemas.openxmlformats.org/drawingml/2006/main">
              <a:ext uri="{FF2B5EF4-FFF2-40B4-BE49-F238E27FC236}">
                <a16:creationId xmlns:a16="http://schemas.microsoft.com/office/drawing/2014/main" id="{F6682437-B164-4B62-B29E-3B2082A5853B}"/>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Median self-reported work value; survey, not causal uplift</a:t>
            </a:r>
          </a:p>
        </p:txBody>
      </p:sp>
      <p:sp>
        <p:nvSpPr>
          <p:cNvPr id="42" name="">
            <a:extLst xmlns:a="http://schemas.openxmlformats.org/drawingml/2006/main">
              <a:ext uri="{FF2B5EF4-FFF2-40B4-BE49-F238E27FC236}">
                <a16:creationId xmlns:a16="http://schemas.microsoft.com/office/drawing/2014/main" id="{672C4459-6FC4-40DC-AE24-3A8BD6804970}"/>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XU + AGARWAL · 2026</a:t>
            </a:r>
          </a:p>
        </p:txBody>
      </p:sp>
      <p:sp>
        <p:nvSpPr>
          <p:cNvPr id="43" name="">
            <a:extLst xmlns:a="http://schemas.openxmlformats.org/drawingml/2006/main">
              <a:ext uri="{FF2B5EF4-FFF2-40B4-BE49-F238E27FC236}">
                <a16:creationId xmlns:a16="http://schemas.microsoft.com/office/drawing/2014/main" id="{2F3D3845-F581-4862-A39E-0338D98CBFF7}"/>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+35% / +43%</a:t>
            </a:r>
          </a:p>
        </p:txBody>
      </p:sp>
      <p:sp>
        <p:nvSpPr>
          <p:cNvPr id="44" name="">
            <a:extLst xmlns:a="http://schemas.openxmlformats.org/drawingml/2006/main">
              <a:ext uri="{FF2B5EF4-FFF2-40B4-BE49-F238E27FC236}">
                <a16:creationId xmlns:a16="http://schemas.microsoft.com/office/drawing/2014/main" id="{10870B62-C1A4-47BC-8B6F-540A349C6717}"/>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Agarwal: complexity proxy. Xu: contributor workload shifts.</a:t>
            </a:r>
          </a:p>
        </p:txBody>
      </p:sp>
      <p:sp>
        <p:nvSpPr>
          <p:cNvPr id="45" name="">
            <a:extLst xmlns:a="http://schemas.openxmlformats.org/drawingml/2006/main">
              <a:ext uri="{FF2B5EF4-FFF2-40B4-BE49-F238E27FC236}">
                <a16:creationId xmlns:a16="http://schemas.microsoft.com/office/drawing/2014/main" id="{53B673D2-C086-4BB0-8A1E-9CAB8E31F8D2}"/>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DejaVu Sans"/>
                <a:ea typeface="DejaVu Sans"/>
                <a:cs typeface="DejaVu Sans"/>
              </a:defRPr>
            </a:pPr>
            <a:r>
              <a:rPr sz="1500"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652858348"/>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CDCAED2-C079-43E2-B2F3-309A4C7AA64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4A24FF51-7083-4A83-8751-D03416CF180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D8C0301-12E7-4061-AFB1-FE7FEF6A3A4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A1521179-50EF-4C0F-A805-DD64DEB1FD70}"/>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39C19E7C-A27A-42A0-9ABB-CD074F05D5F2}"/>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41F4CF03-0746-4CC3-B7AE-CA9C220BE0AD}"/>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33D913F4-84BC-4A07-BFA4-1FA819C4371F}"/>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4B4A008A-30A5-412E-A784-6AF8F886C11C}"/>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DejaVu Sans"/>
                <a:ea typeface="DejaVu Sans"/>
                <a:cs typeface="DejaVu Sans"/>
              </a:defRPr>
            </a:pPr>
            <a:r>
              <a:rPr sz="1875" b="1">
                <a:solidFill>
                  <a:srgbClr val="28C7F7"/>
                </a:solidFill>
                <a:latin typeface="DejaVu Sans"/>
                <a:ea typeface="DejaVu Sans"/>
                <a:cs typeface="DejaVu Sans"/>
              </a:rPr>
              <a:t>Machine generation capacity</a:t>
            </a:r>
          </a:p>
        </p:txBody>
      </p:sp>
      <p:sp>
        <p:nvSpPr>
          <p:cNvPr id="9" name="">
            <a:extLst xmlns:a="http://schemas.openxmlformats.org/drawingml/2006/main">
              <a:ext uri="{FF2B5EF4-FFF2-40B4-BE49-F238E27FC236}">
                <a16:creationId xmlns:a16="http://schemas.microsoft.com/office/drawing/2014/main" id="{92740204-2AA6-49C4-BB36-D6E0491AB37F}"/>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DejaVu Sans"/>
                <a:ea typeface="DejaVu Sans"/>
                <a:cs typeface="DejaVu Sans"/>
              </a:defRPr>
            </a:pPr>
            <a:r>
              <a:rPr sz="1725" b="0">
                <a:solidFill>
                  <a:srgbClr val="F5B61C"/>
                </a:solidFill>
                <a:latin typeface="DejaVu Sans"/>
                <a:ea typeface="DejaVu Sans"/>
                <a:cs typeface="DejaVu Sans"/>
              </a:rPr>
              <a:t>Human comprehension capacity</a:t>
            </a:r>
          </a:p>
        </p:txBody>
      </p:sp>
      <p:sp>
        <p:nvSpPr>
          <p:cNvPr id="10" name="">
            <a:extLst xmlns:a="http://schemas.openxmlformats.org/drawingml/2006/main">
              <a:ext uri="{FF2B5EF4-FFF2-40B4-BE49-F238E27FC236}">
                <a16:creationId xmlns:a16="http://schemas.microsoft.com/office/drawing/2014/main" id="{031DC1D9-7C1E-4238-BE91-B34A4AEDF61E}"/>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Potential</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comprehension gap</a:t>
            </a:r>
          </a:p>
        </p:txBody>
      </p:sp>
      <p:sp>
        <p:nvSpPr>
          <p:cNvPr id="11" name="">
            <a:extLst xmlns:a="http://schemas.openxmlformats.org/drawingml/2006/main">
              <a:ext uri="{FF2B5EF4-FFF2-40B4-BE49-F238E27FC236}">
                <a16:creationId xmlns:a16="http://schemas.microsoft.com/office/drawing/2014/main" id="{2258070B-34BE-4A91-902F-CA481BAE0E96}"/>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Adoption / time</a:t>
            </a:r>
          </a:p>
        </p:txBody>
      </p:sp>
      <p:sp>
        <p:nvSpPr>
          <p:cNvPr id="12" name="">
            <a:extLst xmlns:a="http://schemas.openxmlformats.org/drawingml/2006/main">
              <a:ext uri="{FF2B5EF4-FFF2-40B4-BE49-F238E27FC236}">
                <a16:creationId xmlns:a16="http://schemas.microsoft.com/office/drawing/2014/main" id="{8B7E5F23-A6C9-495C-BB52-E6DA7AB9D8FE}"/>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Can we generate faster?</a:t>
            </a:r>
          </a:p>
        </p:txBody>
      </p:sp>
      <p:sp>
        <p:nvSpPr>
          <p:cNvPr id="13" name="">
            <a:extLst xmlns:a="http://schemas.openxmlformats.org/drawingml/2006/main">
              <a:ext uri="{FF2B5EF4-FFF2-40B4-BE49-F238E27FC236}">
                <a16:creationId xmlns:a16="http://schemas.microsoft.com/office/drawing/2014/main" id="{93C5E641-F28C-40E3-8D08-BB9138A7BA24}"/>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DejaVu Sans"/>
                <a:ea typeface="DejaVu Sans"/>
                <a:cs typeface="DejaVu Sans"/>
              </a:defRPr>
            </a:pPr>
            <a:r>
              <a:rPr sz="2100" b="1">
                <a:solidFill>
                  <a:srgbClr val="28C7F7"/>
                </a:solidFill>
                <a:latin typeface="DejaVu Sans"/>
                <a:ea typeface="DejaVu Sans"/>
                <a:cs typeface="DejaVu Sans"/>
              </a:rPr>
              <a:t>YES</a:t>
            </a:r>
          </a:p>
        </p:txBody>
      </p:sp>
      <p:sp>
        <p:nvSpPr>
          <p:cNvPr id="14" name="">
            <a:extLst xmlns:a="http://schemas.openxmlformats.org/drawingml/2006/main">
              <a:ext uri="{FF2B5EF4-FFF2-40B4-BE49-F238E27FC236}">
                <a16:creationId xmlns:a16="http://schemas.microsoft.com/office/drawing/2014/main" id="{042A0DEB-4DCF-4918-B10F-926B54A2D23B}"/>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Can review keep pace?</a:t>
            </a:r>
          </a:p>
        </p:txBody>
      </p:sp>
      <p:sp>
        <p:nvSpPr>
          <p:cNvPr id="15" name="">
            <a:extLst xmlns:a="http://schemas.openxmlformats.org/drawingml/2006/main">
              <a:ext uri="{FF2B5EF4-FFF2-40B4-BE49-F238E27FC236}">
                <a16:creationId xmlns:a16="http://schemas.microsoft.com/office/drawing/2014/main" id="{750F38AB-088B-4528-92E4-01F536C35002}"/>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DejaVu Sans"/>
                <a:ea typeface="DejaVu Sans"/>
                <a:cs typeface="DejaVu Sans"/>
              </a:defRPr>
            </a:pPr>
            <a:r>
              <a:rPr sz="2100" b="1">
                <a:solidFill>
                  <a:srgbClr val="F5B61C"/>
                </a:solidFill>
                <a:latin typeface="DejaVu Sans"/>
                <a:ea typeface="DejaVu Sans"/>
                <a:cs typeface="DejaVu Sans"/>
              </a:rPr>
              <a:t>NOT AT THIS RATE</a:t>
            </a:r>
          </a:p>
        </p:txBody>
      </p:sp>
      <p:sp>
        <p:nvSpPr>
          <p:cNvPr id="16" name="">
            <a:extLst xmlns:a="http://schemas.openxmlformats.org/drawingml/2006/main">
              <a:ext uri="{FF2B5EF4-FFF2-40B4-BE49-F238E27FC236}">
                <a16:creationId xmlns:a16="http://schemas.microsoft.com/office/drawing/2014/main" id="{24ED7B37-7E05-4352-B1A4-FD4EF3B9E412}"/>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Will we understand it</a:t>
            </a:r>
          </a:p>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in 5 years?</a:t>
            </a:r>
          </a:p>
        </p:txBody>
      </p:sp>
      <p:sp>
        <p:nvSpPr>
          <p:cNvPr id="17" name="">
            <a:extLst xmlns:a="http://schemas.openxmlformats.org/drawingml/2006/main">
              <a:ext uri="{FF2B5EF4-FFF2-40B4-BE49-F238E27FC236}">
                <a16:creationId xmlns:a16="http://schemas.microsoft.com/office/drawing/2014/main" id="{999A732D-495A-4F79-9E4F-70EBC9B1E9BA}"/>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DejaVu Sans"/>
                <a:ea typeface="DejaVu Sans"/>
                <a:cs typeface="DejaVu Sans"/>
              </a:defRPr>
            </a:pPr>
            <a:r>
              <a:rPr sz="3075" b="1">
                <a:solidFill>
                  <a:srgbClr val="F5B61C"/>
                </a:solidFill>
                <a:latin typeface="DejaVu Sans"/>
                <a:ea typeface="DejaVu Sans"/>
                <a:cs typeface="DejaVu Sans"/>
              </a:rPr>
              <a:t>?</a:t>
            </a:r>
          </a:p>
        </p:txBody>
      </p:sp>
      <p:sp>
        <p:nvSpPr>
          <p:cNvPr id="18" name="">
            <a:extLst xmlns:a="http://schemas.openxmlformats.org/drawingml/2006/main">
              <a:ext uri="{FF2B5EF4-FFF2-40B4-BE49-F238E27FC236}">
                <a16:creationId xmlns:a16="http://schemas.microsoft.com/office/drawing/2014/main" id="{0B3C0977-2FD7-4374-BBBD-4BBBFCCD24D9}"/>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BEBD4B82-C0B2-42FC-A55C-76BE8B063B6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045BA6B2-0CE3-4903-9446-BAAF18793D8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1801804329"/>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EF7427B-5147-4461-A3F5-A414D68495F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54584BCD-FDBF-4D3B-9A7E-B448862DB63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C8BC1B4-62C9-4E48-B1B6-18F906580B3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AB098F30-6978-4022-A059-EAA56A170A2D}"/>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AI code generators are technical systems with limits.</a:t>
            </a:r>
          </a:p>
        </p:txBody>
      </p:sp>
      <p:sp>
        <p:nvSpPr>
          <p:cNvPr id="5" name="">
            <a:extLst xmlns:a="http://schemas.openxmlformats.org/drawingml/2006/main">
              <a:ext uri="{FF2B5EF4-FFF2-40B4-BE49-F238E27FC236}">
                <a16:creationId xmlns:a16="http://schemas.microsoft.com/office/drawing/2014/main" id="{279314B9-1FAC-4A24-B414-559BB72F0CFD}"/>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0330D391-9D43-4442-8D86-B073C76E4400}"/>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7FEF8001-1CE6-4240-AE07-2F6C99D57F80}"/>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Production</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incident</a:t>
            </a:r>
          </a:p>
        </p:txBody>
      </p:sp>
      <p:sp>
        <p:nvSpPr>
          <p:cNvPr id="8" name="">
            <a:extLst xmlns:a="http://schemas.openxmlformats.org/drawingml/2006/main">
              <a:ext uri="{FF2B5EF4-FFF2-40B4-BE49-F238E27FC236}">
                <a16:creationId xmlns:a16="http://schemas.microsoft.com/office/drawing/2014/main" id="{3F095A59-D111-4392-8071-F541ADB8388B}"/>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Contain impact.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Roll back or use</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fallback where safe.</a:t>
            </a:r>
          </a:p>
        </p:txBody>
      </p:sp>
      <p:sp>
        <p:nvSpPr>
          <p:cNvPr id="9" name="">
            <a:extLst xmlns:a="http://schemas.openxmlformats.org/drawingml/2006/main">
              <a:ext uri="{FF2B5EF4-FFF2-40B4-BE49-F238E27FC236}">
                <a16:creationId xmlns:a16="http://schemas.microsoft.com/office/drawing/2014/main" id="{407ADCA6-007F-45F9-82CE-91D09CA8751A}"/>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44E0D7A2-BC09-471C-905C-945C5A017320}"/>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AI cannot</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recover</a:t>
            </a:r>
          </a:p>
        </p:txBody>
      </p:sp>
      <p:sp>
        <p:nvSpPr>
          <p:cNvPr id="11" name="">
            <a:extLst xmlns:a="http://schemas.openxmlformats.org/drawingml/2006/main">
              <a:ext uri="{FF2B5EF4-FFF2-40B4-BE49-F238E27FC236}">
                <a16:creationId xmlns:a16="http://schemas.microsoft.com/office/drawing/2014/main" id="{6887609A-BB16-47D6-8660-F233CF2EE74A}"/>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Stop at the agreed</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retry limit. Preserve</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traces and changes.</a:t>
            </a:r>
          </a:p>
        </p:txBody>
      </p:sp>
      <p:sp>
        <p:nvSpPr>
          <p:cNvPr id="12" name="">
            <a:extLst xmlns:a="http://schemas.openxmlformats.org/drawingml/2006/main">
              <a:ext uri="{FF2B5EF4-FFF2-40B4-BE49-F238E27FC236}">
                <a16:creationId xmlns:a16="http://schemas.microsoft.com/office/drawing/2014/main" id="{FF32C3CD-FC89-4A34-A24C-DE0320A98180}"/>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76ECA203-E40B-44A2-9AB6-EF1A898A783C}"/>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Team diagnoses</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&amp; proposes fix</a:t>
            </a:r>
          </a:p>
        </p:txBody>
      </p:sp>
      <p:sp>
        <p:nvSpPr>
          <p:cNvPr id="14" name="">
            <a:extLst xmlns:a="http://schemas.openxmlformats.org/drawingml/2006/main">
              <a:ext uri="{FF2B5EF4-FFF2-40B4-BE49-F238E27FC236}">
                <a16:creationId xmlns:a16="http://schemas.microsoft.com/office/drawing/2014/main" id="{3832DC54-17C7-4D06-9574-1A632053AB93}"/>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Reconstruct intent,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dependencies and</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system invariants.</a:t>
            </a:r>
          </a:p>
        </p:txBody>
      </p:sp>
      <p:sp>
        <p:nvSpPr>
          <p:cNvPr id="15" name="">
            <a:extLst xmlns:a="http://schemas.openxmlformats.org/drawingml/2006/main">
              <a:ext uri="{FF2B5EF4-FFF2-40B4-BE49-F238E27FC236}">
                <a16:creationId xmlns:a16="http://schemas.microsoft.com/office/drawing/2014/main" id="{0F856338-26AF-4182-9701-EDDD4FDE9D79}"/>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E02C66CE-FBD3-4B33-BD14-58A917D4CA45}"/>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Validate fix</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and restore</a:t>
            </a:r>
          </a:p>
        </p:txBody>
      </p:sp>
      <p:sp>
        <p:nvSpPr>
          <p:cNvPr id="17" name="">
            <a:extLst xmlns:a="http://schemas.openxmlformats.org/drawingml/2006/main">
              <a:ext uri="{FF2B5EF4-FFF2-40B4-BE49-F238E27FC236}">
                <a16:creationId xmlns:a16="http://schemas.microsoft.com/office/drawing/2014/main" id="{DE3379DD-F2C3-43CB-AC8A-2BC702905461}"/>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Test the repair.</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Restore under incident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4D9EB0F1-6814-40E7-B3E3-CB3526FA65EC}"/>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8ED286AA-5B0F-4AFC-80DE-4959B5D4E47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DD896936-EAFB-42A1-9C5C-885A010FAD8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651339990"/>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1ABF768-B3A6-43F1-B03D-F1725935840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Are Searching for a New</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SDLC Equilibrium</a:t>
            </a:r>
          </a:p>
        </p:txBody>
      </p:sp>
      <p:sp>
        <p:nvSpPr>
          <p:cNvPr id="2" name="">
            <a:extLst xmlns:a="http://schemas.openxmlformats.org/drawingml/2006/main">
              <a:ext uri="{FF2B5EF4-FFF2-40B4-BE49-F238E27FC236}">
                <a16:creationId xmlns:a16="http://schemas.microsoft.com/office/drawing/2014/main" id="{6192726A-4541-40B4-9543-F7B1D22CAA4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0AFA2B6-9CB6-45F5-8104-DD82BC4F961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37CB5E65-E02B-4576-B585-FEE9BC31C7A6}"/>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DejaVu Sans"/>
                <a:ea typeface="DejaVu Sans"/>
                <a:cs typeface="DejaVu Sans"/>
              </a:defRPr>
            </a:pPr>
            <a:r>
              <a:rPr sz="1575"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0D08CB82-4DF1-4FFC-BC63-A6C7B22005C3}"/>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Human-led flow</a:t>
            </a:r>
          </a:p>
        </p:txBody>
      </p:sp>
      <p:sp>
        <p:nvSpPr>
          <p:cNvPr id="6" name="">
            <a:extLst xmlns:a="http://schemas.openxmlformats.org/drawingml/2006/main">
              <a:ext uri="{FF2B5EF4-FFF2-40B4-BE49-F238E27FC236}">
                <a16:creationId xmlns:a16="http://schemas.microsoft.com/office/drawing/2014/main" id="{3FF01222-DC52-4B84-B49F-A85AA46D506F}"/>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TODAY</a:t>
            </a:r>
          </a:p>
        </p:txBody>
      </p:sp>
      <p:sp>
        <p:nvSpPr>
          <p:cNvPr id="7" name="">
            <a:extLst xmlns:a="http://schemas.openxmlformats.org/drawingml/2006/main">
              <a:ext uri="{FF2B5EF4-FFF2-40B4-BE49-F238E27FC236}">
                <a16:creationId xmlns:a16="http://schemas.microsoft.com/office/drawing/2014/main" id="{8E9437CF-04C2-4FD5-8EE8-4270668EB1DC}"/>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Generation outpaces review</a:t>
            </a:r>
          </a:p>
        </p:txBody>
      </p:sp>
      <p:sp>
        <p:nvSpPr>
          <p:cNvPr id="8" name="">
            <a:extLst xmlns:a="http://schemas.openxmlformats.org/drawingml/2006/main">
              <a:ext uri="{FF2B5EF4-FFF2-40B4-BE49-F238E27FC236}">
                <a16:creationId xmlns:a16="http://schemas.microsoft.com/office/drawing/2014/main" id="{1DFDE493-CC49-4472-B785-1C1C80DE5FF7}"/>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DejaVu Sans"/>
                <a:ea typeface="DejaVu Sans"/>
                <a:cs typeface="DejaVu Sans"/>
              </a:defRPr>
            </a:pPr>
            <a:r>
              <a:rPr sz="1575" b="1">
                <a:solidFill>
                  <a:srgbClr val="ADB8C5"/>
                </a:solidFill>
                <a:latin typeface="DejaVu Sans"/>
                <a:ea typeface="DejaVu Sans"/>
                <a:cs typeface="DejaVu Sans"/>
              </a:rPr>
              <a:t>NEW EQUILIBRIUM</a:t>
            </a:r>
          </a:p>
        </p:txBody>
      </p:sp>
      <p:sp>
        <p:nvSpPr>
          <p:cNvPr id="9" name="">
            <a:extLst xmlns:a="http://schemas.openxmlformats.org/drawingml/2006/main">
              <a:ext uri="{FF2B5EF4-FFF2-40B4-BE49-F238E27FC236}">
                <a16:creationId xmlns:a16="http://schemas.microsoft.com/office/drawing/2014/main" id="{70F026D6-BD59-4B59-B68D-E772938CC7AE}"/>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DejaVu Sans"/>
                <a:ea typeface="DejaVu Sans"/>
                <a:cs typeface="DejaVu Sans"/>
              </a:defRPr>
            </a:pPr>
            <a:r>
              <a:rPr sz="1650" b="0">
                <a:solidFill>
                  <a:srgbClr val="F5B61C"/>
                </a:solidFill>
                <a:latin typeface="DejaVu Sans"/>
                <a:ea typeface="DejaVu Sans"/>
                <a:cs typeface="DejaVu Sans"/>
              </a:rPr>
              <a:t>Sustainable flow?</a:t>
            </a:r>
          </a:p>
        </p:txBody>
      </p:sp>
      <p:sp>
        <p:nvSpPr>
          <p:cNvPr id="10" name="">
            <a:extLst xmlns:a="http://schemas.openxmlformats.org/drawingml/2006/main">
              <a:ext uri="{FF2B5EF4-FFF2-40B4-BE49-F238E27FC236}">
                <a16:creationId xmlns:a16="http://schemas.microsoft.com/office/drawing/2014/main" id="{74F34E97-821F-42BC-B27A-F8D019C9E19A}"/>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3844B907-9924-4991-8780-FB16C7D470BB}"/>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WATCH</a:t>
            </a:r>
          </a:p>
        </p:txBody>
      </p:sp>
      <p:sp>
        <p:nvSpPr>
          <p:cNvPr id="12" name="">
            <a:extLst xmlns:a="http://schemas.openxmlformats.org/drawingml/2006/main">
              <a:ext uri="{FF2B5EF4-FFF2-40B4-BE49-F238E27FC236}">
                <a16:creationId xmlns:a16="http://schemas.microsoft.com/office/drawing/2014/main" id="{E4F23F36-80DD-47A8-AFBE-CCA72F1B5637}"/>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Flow pressure</a:t>
            </a:r>
          </a:p>
        </p:txBody>
      </p:sp>
      <p:sp>
        <p:nvSpPr>
          <p:cNvPr id="13" name="">
            <a:extLst xmlns:a="http://schemas.openxmlformats.org/drawingml/2006/main">
              <a:ext uri="{FF2B5EF4-FFF2-40B4-BE49-F238E27FC236}">
                <a16:creationId xmlns:a16="http://schemas.microsoft.com/office/drawing/2014/main" id="{AE37F604-3724-4C3C-B9C3-89443951C5E3}"/>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Review age, batch size and WIP</a:t>
            </a:r>
          </a:p>
        </p:txBody>
      </p:sp>
      <p:sp>
        <p:nvSpPr>
          <p:cNvPr id="14" name="">
            <a:extLst xmlns:a="http://schemas.openxmlformats.org/drawingml/2006/main">
              <a:ext uri="{FF2B5EF4-FFF2-40B4-BE49-F238E27FC236}">
                <a16:creationId xmlns:a16="http://schemas.microsoft.com/office/drawing/2014/main" id="{4BBE2A3B-30E4-41E1-B661-82C717796D3E}"/>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Rework and structure</a:t>
            </a:r>
          </a:p>
        </p:txBody>
      </p:sp>
      <p:sp>
        <p:nvSpPr>
          <p:cNvPr id="15" name="">
            <a:extLst xmlns:a="http://schemas.openxmlformats.org/drawingml/2006/main">
              <a:ext uri="{FF2B5EF4-FFF2-40B4-BE49-F238E27FC236}">
                <a16:creationId xmlns:a16="http://schemas.microsoft.com/office/drawing/2014/main" id="{74DFB657-2240-4B15-8566-C714D69BD59A}"/>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Churn, duplication, reuse, complexity</a:t>
            </a:r>
          </a:p>
        </p:txBody>
      </p:sp>
      <p:sp>
        <p:nvSpPr>
          <p:cNvPr id="16" name="">
            <a:extLst xmlns:a="http://schemas.openxmlformats.org/drawingml/2006/main">
              <a:ext uri="{FF2B5EF4-FFF2-40B4-BE49-F238E27FC236}">
                <a16:creationId xmlns:a16="http://schemas.microsoft.com/office/drawing/2014/main" id="{5C378DE2-B466-4CC1-9238-7E3FB3ACE5D5}"/>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Ownership gaps</a:t>
            </a:r>
          </a:p>
        </p:txBody>
      </p:sp>
      <p:sp>
        <p:nvSpPr>
          <p:cNvPr id="17" name="">
            <a:extLst xmlns:a="http://schemas.openxmlformats.org/drawingml/2006/main">
              <a:ext uri="{FF2B5EF4-FFF2-40B4-BE49-F238E27FC236}">
                <a16:creationId xmlns:a16="http://schemas.microsoft.com/office/drawing/2014/main" id="{D89E5EB3-12F1-46F6-BE9D-95DF980ECD5C}"/>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Unowned changes and stale docs</a:t>
            </a:r>
          </a:p>
        </p:txBody>
      </p:sp>
      <p:sp>
        <p:nvSpPr>
          <p:cNvPr id="18" name="">
            <a:extLst xmlns:a="http://schemas.openxmlformats.org/drawingml/2006/main">
              <a:ext uri="{FF2B5EF4-FFF2-40B4-BE49-F238E27FC236}">
                <a16:creationId xmlns:a16="http://schemas.microsoft.com/office/drawing/2014/main" id="{29F558D2-A42C-4B54-B384-9F5DDC23DAD4}"/>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Recovery readiness</a:t>
            </a:r>
          </a:p>
        </p:txBody>
      </p:sp>
      <p:sp>
        <p:nvSpPr>
          <p:cNvPr id="19" name="">
            <a:extLst xmlns:a="http://schemas.openxmlformats.org/drawingml/2006/main">
              <a:ext uri="{FF2B5EF4-FFF2-40B4-BE49-F238E27FC236}">
                <a16:creationId xmlns:a16="http://schemas.microsoft.com/office/drawing/2014/main" id="{BF2CA8E6-7547-4BD0-BA3D-3E2E3F037510}"/>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Unaided diagnosis and restore time</a:t>
            </a:r>
          </a:p>
        </p:txBody>
      </p:sp>
      <p:sp>
        <p:nvSpPr>
          <p:cNvPr id="20" name="">
            <a:extLst xmlns:a="http://schemas.openxmlformats.org/drawingml/2006/main">
              <a:ext uri="{FF2B5EF4-FFF2-40B4-BE49-F238E27FC236}">
                <a16:creationId xmlns:a16="http://schemas.microsoft.com/office/drawing/2014/main" id="{599C27A7-919D-4F30-9C82-8A6B8D5B98C8}"/>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EXPLORE</a:t>
            </a:r>
          </a:p>
        </p:txBody>
      </p:sp>
      <p:sp>
        <p:nvSpPr>
          <p:cNvPr id="21" name="">
            <a:extLst xmlns:a="http://schemas.openxmlformats.org/drawingml/2006/main">
              <a:ext uri="{FF2B5EF4-FFF2-40B4-BE49-F238E27FC236}">
                <a16:creationId xmlns:a16="http://schemas.microsoft.com/office/drawing/2014/main" id="{D5705578-2841-413B-993F-A55D9F00EC63}"/>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Small batches and WIP limits</a:t>
            </a:r>
          </a:p>
        </p:txBody>
      </p:sp>
      <p:sp>
        <p:nvSpPr>
          <p:cNvPr id="22" name="">
            <a:extLst xmlns:a="http://schemas.openxmlformats.org/drawingml/2006/main">
              <a:ext uri="{FF2B5EF4-FFF2-40B4-BE49-F238E27FC236}">
                <a16:creationId xmlns:a16="http://schemas.microsoft.com/office/drawing/2014/main" id="{CFE1A348-308E-4546-A686-B6B53A65C9DF}"/>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Keep intake within review capacity</a:t>
            </a:r>
          </a:p>
        </p:txBody>
      </p:sp>
      <p:sp>
        <p:nvSpPr>
          <p:cNvPr id="23" name="">
            <a:extLst xmlns:a="http://schemas.openxmlformats.org/drawingml/2006/main">
              <a:ext uri="{FF2B5EF4-FFF2-40B4-BE49-F238E27FC236}">
                <a16:creationId xmlns:a16="http://schemas.microsoft.com/office/drawing/2014/main" id="{BA0BC734-0027-4348-97D3-7825C1AE6798}"/>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Specs and living architecture</a:t>
            </a:r>
          </a:p>
        </p:txBody>
      </p:sp>
      <p:sp>
        <p:nvSpPr>
          <p:cNvPr id="24" name="">
            <a:extLst xmlns:a="http://schemas.openxmlformats.org/drawingml/2006/main">
              <a:ext uri="{FF2B5EF4-FFF2-40B4-BE49-F238E27FC236}">
                <a16:creationId xmlns:a16="http://schemas.microsoft.com/office/drawing/2014/main" id="{83692943-6133-4180-80A5-68E63663E426}"/>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Review code and docs together</a:t>
            </a:r>
          </a:p>
        </p:txBody>
      </p:sp>
      <p:sp>
        <p:nvSpPr>
          <p:cNvPr id="25" name="">
            <a:extLst xmlns:a="http://schemas.openxmlformats.org/drawingml/2006/main">
              <a:ext uri="{FF2B5EF4-FFF2-40B4-BE49-F238E27FC236}">
                <a16:creationId xmlns:a16="http://schemas.microsoft.com/office/drawing/2014/main" id="{28B024ED-6D0F-4985-8209-95B7288B4BB3}"/>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Repository intelligence</a:t>
            </a:r>
          </a:p>
        </p:txBody>
      </p:sp>
      <p:sp>
        <p:nvSpPr>
          <p:cNvPr id="26" name="">
            <a:extLst xmlns:a="http://schemas.openxmlformats.org/drawingml/2006/main">
              <a:ext uri="{FF2B5EF4-FFF2-40B4-BE49-F238E27FC236}">
                <a16:creationId xmlns:a16="http://schemas.microsoft.com/office/drawing/2014/main" id="{A8F53A12-910D-4264-9B1B-F3A7787FFDE0}"/>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Trace dependencies and owners</a:t>
            </a:r>
          </a:p>
        </p:txBody>
      </p:sp>
      <p:sp>
        <p:nvSpPr>
          <p:cNvPr id="27" name="">
            <a:extLst xmlns:a="http://schemas.openxmlformats.org/drawingml/2006/main">
              <a:ext uri="{FF2B5EF4-FFF2-40B4-BE49-F238E27FC236}">
                <a16:creationId xmlns:a16="http://schemas.microsoft.com/office/drawing/2014/main" id="{912B34E9-00BC-4714-AE0B-8246C2365D6B}"/>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Human recovery drills</a:t>
            </a:r>
          </a:p>
        </p:txBody>
      </p:sp>
      <p:sp>
        <p:nvSpPr>
          <p:cNvPr id="28" name="">
            <a:extLst xmlns:a="http://schemas.openxmlformats.org/drawingml/2006/main">
              <a:ext uri="{FF2B5EF4-FFF2-40B4-BE49-F238E27FC236}">
                <a16:creationId xmlns:a16="http://schemas.microsoft.com/office/drawing/2014/main" id="{62B6B943-A8BB-445A-81D7-DC5A87D311DF}"/>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Diagnose and fix without the agent</a:t>
            </a:r>
          </a:p>
        </p:txBody>
      </p:sp>
      <p:sp>
        <p:nvSpPr>
          <p:cNvPr id="29" name="">
            <a:extLst xmlns:a="http://schemas.openxmlformats.org/drawingml/2006/main">
              <a:ext uri="{FF2B5EF4-FFF2-40B4-BE49-F238E27FC236}">
                <a16:creationId xmlns:a16="http://schemas.microsoft.com/office/drawing/2014/main" id="{9C538ACF-1782-490E-8FC8-780F574F004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D3608966-998F-4258-8CD9-BBE7C3AE9759}"/>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51BF388A-E6F2-4104-AD59-D3F67281B2C8}"/>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DejaVu Sans"/>
                <a:ea typeface="DejaVu Sans"/>
                <a:cs typeface="DejaVu Sans"/>
              </a:defRPr>
            </a:pPr>
            <a:r>
              <a:rPr sz="1725" b="0">
                <a:solidFill>
                  <a:srgbClr val="28C7F7"/>
                </a:solidFill>
                <a:latin typeface="DejaVu Sans"/>
                <a:ea typeface="DejaVu Sans"/>
                <a:cs typeface="DejaVu Sans"/>
              </a:rPr>
              <a:t>Measure delivery and recovery. Next: AI inside the product.</a:t>
            </a:r>
          </a:p>
        </p:txBody>
      </p:sp>
    </p:spTree>
    <p:extLst>
      <p:ext uri="{BB962C8B-B14F-4D97-AF65-F5344CB8AC3E}">
        <p14:creationId xmlns:p14="http://schemas.microsoft.com/office/powerpoint/2010/main" val="37158302"/>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0A2160D-6EA6-48A1-81CC-6CD987A0B36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BD2E84F7-BE80-4525-BC99-A6410F1DA3F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AEC155B-26CE-43EB-A0D5-3A513D48FA7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10FF0476-119E-47F3-BB9C-182B3CC78C5C}"/>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A6B5BE9C-C3F5-498A-AEE1-131CD7228D52}"/>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DejaVu Sans"/>
                <a:ea typeface="DejaVu Sans"/>
                <a:cs typeface="DejaVu Sans"/>
              </a:defRPr>
            </a:pPr>
            <a:r>
              <a:rPr sz="2400"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0C4003EA-D2B0-431A-B446-A9276DDCDAB9}"/>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3C0808F7-36A6-46DB-B91C-0E07244C7C2A}"/>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DejaVu Sans"/>
                <a:ea typeface="DejaVu Sans"/>
                <a:cs typeface="DejaVu Sans"/>
              </a:defRPr>
            </a:pPr>
            <a:r>
              <a:rPr sz="442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04E0A51F-135B-47D7-8B99-B1CAE8378C9C}"/>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0F7CE378-E27A-47CF-9C87-324C3E5920D1}"/>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DejaVu Sans"/>
                <a:ea typeface="DejaVu Sans"/>
                <a:cs typeface="DejaVu Sans"/>
              </a:defRPr>
            </a:pPr>
            <a:r>
              <a:rPr sz="442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0C10A195-B033-47DC-8E04-DDD83FBC00B6}"/>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2E4F82FE-B038-4688-A1A1-ADCCDD8B56E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7062B5D2-E45D-4163-8BBE-2E35E65B238A}"/>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1010104369"/>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8C494D-50CA-4A95-B9FF-56628330FF0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C52A8733-7B72-4C7B-BCC3-A8B3D37F7F3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3580599-876F-458E-B099-BCC545D2674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661075AC-F3EA-4AF2-B76F-0E37CBDF5ED3}"/>
              </a:ext>
            </a:extLst>
          </p:cNvPr>
          <p:cNvSpPr>
            <a:spLocks xmlns:a="http://schemas.openxmlformats.org/drawingml/2006/main" noGrp="1"/>
          </p:cNvSpPr>
          <p:nvPr/>
        </p:nvSpPr>
        <p:spPr>
          <a:xfrm xmlns:a="http://schemas.openxmlformats.org/drawingml/2006/main">
            <a:off x="609600" y="1990725"/>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a:t>
            </a:r>
          </a:p>
        </p:txBody>
      </p:sp>
      <p:sp>
        <p:nvSpPr>
          <p:cNvPr id="5" name="">
            <a:extLst xmlns:a="http://schemas.openxmlformats.org/drawingml/2006/main">
              <a:ext uri="{FF2B5EF4-FFF2-40B4-BE49-F238E27FC236}">
                <a16:creationId xmlns:a16="http://schemas.microsoft.com/office/drawing/2014/main" id="{4B44D3D5-103F-40CC-A5EA-A505964EC26E}"/>
              </a:ext>
            </a:extLst>
          </p:cNvPr>
          <p:cNvSpPr>
            <a:spLocks xmlns:a="http://schemas.openxmlformats.org/drawingml/2006/main" noGrp="1"/>
          </p:cNvSpPr>
          <p:nvPr/>
        </p:nvSpPr>
        <p:spPr>
          <a:xfrm xmlns:a="http://schemas.openxmlformats.org/drawingml/2006/main">
            <a:off x="609600" y="27241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Button A</a:t>
            </a:r>
          </a:p>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 Window B</a:t>
            </a:r>
          </a:p>
        </p:txBody>
      </p:sp>
      <p:sp>
        <p:nvSpPr>
          <p:cNvPr id="6" name="">
            <a:extLst xmlns:a="http://schemas.openxmlformats.org/drawingml/2006/main">
              <a:ext uri="{FF2B5EF4-FFF2-40B4-BE49-F238E27FC236}">
                <a16:creationId xmlns:a16="http://schemas.microsoft.com/office/drawing/2014/main" id="{456BEAA9-8395-4FE8-B6CB-C15F989A68AE}"/>
              </a:ext>
            </a:extLst>
          </p:cNvPr>
          <p:cNvSpPr>
            <a:spLocks xmlns:a="http://schemas.openxmlformats.org/drawingml/2006/main" noGrp="1"/>
          </p:cNvSpPr>
          <p:nvPr/>
        </p:nvSpPr>
        <p:spPr>
          <a:xfrm xmlns:a="http://schemas.openxmlformats.org/drawingml/2006/main">
            <a:off x="4152900" y="1990725"/>
            <a:ext cx="685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NEW</a:t>
            </a:r>
          </a:p>
        </p:txBody>
      </p:sp>
      <p:sp>
        <p:nvSpPr>
          <p:cNvPr id="7" name="">
            <a:extLst xmlns:a="http://schemas.openxmlformats.org/drawingml/2006/main">
              <a:ext uri="{FF2B5EF4-FFF2-40B4-BE49-F238E27FC236}">
                <a16:creationId xmlns:a16="http://schemas.microsoft.com/office/drawing/2014/main" id="{7DCE09A8-757A-4733-B53E-273B14B08220}"/>
              </a:ext>
            </a:extLst>
          </p:cNvPr>
          <p:cNvSpPr>
            <a:spLocks xmlns:a="http://schemas.openxmlformats.org/drawingml/2006/main" noGrp="1"/>
          </p:cNvSpPr>
          <p:nvPr/>
        </p:nvSpPr>
        <p:spPr>
          <a:xfrm xmlns:a="http://schemas.openxmlformats.org/drawingml/2006/main">
            <a:off x="4152900" y="2524125"/>
            <a:ext cx="5238750" cy="2828925"/>
          </a:xfrm>
          <a:prstGeom xmlns:a="http://schemas.openxmlformats.org/drawingml/2006/main" prst="rect">
            <a:avLst/>
          </a:prstGeom>
          <a:solidFill xmlns:a="http://schemas.openxmlformats.org/drawingml/2006/main">
            <a:srgbClr val="0B0F14"/>
          </a:solidFill>
          <a:ln xmlns:a="http://schemas.openxmlformats.org/drawingml/2006/main" w="19050">
            <a:solidFill>
              <a:srgbClr val="F5B61C"/>
            </a:solidFill>
            <a:prstDash val="solid"/>
          </a:ln>
        </p:spPr>
      </p:sp>
      <p:sp>
        <p:nvSpPr>
          <p:cNvPr id="8" name="">
            <a:extLst xmlns:a="http://schemas.openxmlformats.org/drawingml/2006/main">
              <a:ext uri="{FF2B5EF4-FFF2-40B4-BE49-F238E27FC236}">
                <a16:creationId xmlns:a16="http://schemas.microsoft.com/office/drawing/2014/main" id="{45B5CBDE-FB4C-4FD9-884C-ADC4B8AE34D7}"/>
              </a:ext>
            </a:extLst>
          </p:cNvPr>
          <p:cNvSpPr>
            <a:spLocks xmlns:a="http://schemas.openxmlformats.org/drawingml/2006/main" noGrp="1"/>
          </p:cNvSpPr>
          <p:nvPr/>
        </p:nvSpPr>
        <p:spPr>
          <a:xfrm xmlns:a="http://schemas.openxmlformats.org/drawingml/2006/main">
            <a:off x="4362450" y="27051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5B61C"/>
                </a:solidFill>
                <a:latin typeface="DejaVu Sans"/>
                <a:ea typeface="DejaVu Sans"/>
                <a:cs typeface="DejaVu Sans"/>
              </a:defRPr>
            </a:pPr>
            <a:r>
              <a:rPr sz="1875" b="0">
                <a:solidFill>
                  <a:srgbClr val="F5B61C"/>
                </a:solidFill>
                <a:latin typeface="DejaVu Sans"/>
                <a:ea typeface="DejaVu Sans"/>
                <a:cs typeface="DejaVu Sans"/>
              </a:rPr>
              <a:t>Clarify / escalate</a:t>
            </a:r>
          </a:p>
        </p:txBody>
      </p:sp>
      <p:sp>
        <p:nvSpPr>
          <p:cNvPr id="9" name="">
            <a:extLst xmlns:a="http://schemas.openxmlformats.org/drawingml/2006/main">
              <a:ext uri="{FF2B5EF4-FFF2-40B4-BE49-F238E27FC236}">
                <a16:creationId xmlns:a16="http://schemas.microsoft.com/office/drawing/2014/main" id="{D3F13BD8-4B25-4D50-A138-F3A75387CA16}"/>
              </a:ext>
            </a:extLst>
          </p:cNvPr>
          <p:cNvSpPr>
            <a:spLocks xmlns:a="http://schemas.openxmlformats.org/drawingml/2006/main" noGrp="1"/>
          </p:cNvSpPr>
          <p:nvPr/>
        </p:nvSpPr>
        <p:spPr>
          <a:xfrm xmlns:a="http://schemas.openxmlformats.org/drawingml/2006/main">
            <a:off x="4362450" y="3267075"/>
            <a:ext cx="4819650" cy="1866900"/>
          </a:xfrm>
          <a:prstGeom xmlns:a="http://schemas.openxmlformats.org/drawingml/2006/main" prst="rect">
            <a:avLst/>
          </a:prstGeom>
          <a:solidFill xmlns:a="http://schemas.openxmlformats.org/drawingml/2006/main">
            <a:srgbClr val="141C26"/>
          </a:solidFill>
          <a:ln xmlns:a="http://schemas.openxmlformats.org/drawingml/2006/main" w="19050">
            <a:solidFill>
              <a:srgbClr val="28C7F7"/>
            </a:solidFill>
            <a:prstDash val="solid"/>
          </a:ln>
        </p:spPr>
      </p:sp>
      <p:sp>
        <p:nvSpPr>
          <p:cNvPr id="10" name="">
            <a:extLst xmlns:a="http://schemas.openxmlformats.org/drawingml/2006/main">
              <a:ext uri="{FF2B5EF4-FFF2-40B4-BE49-F238E27FC236}">
                <a16:creationId xmlns:a16="http://schemas.microsoft.com/office/drawing/2014/main" id="{9F3D225B-FF37-451C-B3D2-C5A9A44116BC}"/>
              </a:ext>
            </a:extLst>
          </p:cNvPr>
          <p:cNvSpPr>
            <a:spLocks xmlns:a="http://schemas.openxmlformats.org/drawingml/2006/main" noGrp="1"/>
          </p:cNvSpPr>
          <p:nvPr/>
        </p:nvSpPr>
        <p:spPr>
          <a:xfrm xmlns:a="http://schemas.openxmlformats.org/drawingml/2006/main">
            <a:off x="4552950" y="3390900"/>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APPROVED OPERATING ENVELOPE</a:t>
            </a:r>
          </a:p>
        </p:txBody>
      </p:sp>
      <p:sp>
        <p:nvSpPr>
          <p:cNvPr id="11" name="">
            <a:extLst xmlns:a="http://schemas.openxmlformats.org/drawingml/2006/main">
              <a:ext uri="{FF2B5EF4-FFF2-40B4-BE49-F238E27FC236}">
                <a16:creationId xmlns:a16="http://schemas.microsoft.com/office/drawing/2014/main" id="{F47B2249-DD2E-411C-813D-1F2A9FFC53A5}"/>
              </a:ext>
            </a:extLst>
          </p:cNvPr>
          <p:cNvSpPr>
            <a:spLocks xmlns:a="http://schemas.openxmlformats.org/drawingml/2006/main" noGrp="1"/>
          </p:cNvSpPr>
          <p:nvPr/>
        </p:nvSpPr>
        <p:spPr>
          <a:xfrm xmlns:a="http://schemas.openxmlformats.org/drawingml/2006/main">
            <a:off x="4552950" y="38100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Topics &amp; sources</a:t>
            </a:r>
          </a:p>
        </p:txBody>
      </p:sp>
      <p:sp>
        <p:nvSpPr>
          <p:cNvPr id="12" name="">
            <a:extLst xmlns:a="http://schemas.openxmlformats.org/drawingml/2006/main">
              <a:ext uri="{FF2B5EF4-FFF2-40B4-BE49-F238E27FC236}">
                <a16:creationId xmlns:a16="http://schemas.microsoft.com/office/drawing/2014/main" id="{5E4F96D2-260C-4BA6-99B0-3A500BB38AB7}"/>
              </a:ext>
            </a:extLst>
          </p:cNvPr>
          <p:cNvSpPr>
            <a:spLocks xmlns:a="http://schemas.openxmlformats.org/drawingml/2006/main" noGrp="1"/>
          </p:cNvSpPr>
          <p:nvPr/>
        </p:nvSpPr>
        <p:spPr>
          <a:xfrm xmlns:a="http://schemas.openxmlformats.org/drawingml/2006/main">
            <a:off x="4552950" y="40957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Constraints</a:t>
            </a:r>
          </a:p>
        </p:txBody>
      </p:sp>
      <p:sp>
        <p:nvSpPr>
          <p:cNvPr id="13" name="">
            <a:extLst xmlns:a="http://schemas.openxmlformats.org/drawingml/2006/main">
              <a:ext uri="{FF2B5EF4-FFF2-40B4-BE49-F238E27FC236}">
                <a16:creationId xmlns:a16="http://schemas.microsoft.com/office/drawing/2014/main" id="{DDFEDB49-19A4-46A5-9FE0-67AB4B879EC9}"/>
              </a:ext>
            </a:extLst>
          </p:cNvPr>
          <p:cNvSpPr>
            <a:spLocks xmlns:a="http://schemas.openxmlformats.org/drawingml/2006/main" noGrp="1"/>
          </p:cNvSpPr>
          <p:nvPr/>
        </p:nvSpPr>
        <p:spPr>
          <a:xfrm xmlns:a="http://schemas.openxmlformats.org/drawingml/2006/main">
            <a:off x="4552950" y="43815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Acceptable semantic movement</a:t>
            </a:r>
          </a:p>
        </p:txBody>
      </p:sp>
      <p:sp>
        <p:nvSpPr>
          <p:cNvPr id="14" name="">
            <a:extLst xmlns:a="http://schemas.openxmlformats.org/drawingml/2006/main">
              <a:ext uri="{FF2B5EF4-FFF2-40B4-BE49-F238E27FC236}">
                <a16:creationId xmlns:a16="http://schemas.microsoft.com/office/drawing/2014/main" id="{0B2E479C-64AE-48F3-821D-A19ED4B7EBB0}"/>
              </a:ext>
            </a:extLst>
          </p:cNvPr>
          <p:cNvSpPr>
            <a:spLocks xmlns:a="http://schemas.openxmlformats.org/drawingml/2006/main" noGrp="1"/>
          </p:cNvSpPr>
          <p:nvPr/>
        </p:nvSpPr>
        <p:spPr>
          <a:xfrm xmlns:a="http://schemas.openxmlformats.org/drawingml/2006/main">
            <a:off x="4552950" y="46672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Business risk</a:t>
            </a:r>
          </a:p>
        </p:txBody>
      </p:sp>
      <p:sp>
        <p:nvSpPr>
          <p:cNvPr id="15" name="">
            <a:extLst xmlns:a="http://schemas.openxmlformats.org/drawingml/2006/main">
              <a:ext uri="{FF2B5EF4-FFF2-40B4-BE49-F238E27FC236}">
                <a16:creationId xmlns:a16="http://schemas.microsoft.com/office/drawing/2014/main" id="{151B41DD-4AE9-418E-BB96-C72D2CDE7AA3}"/>
              </a:ext>
            </a:extLst>
          </p:cNvPr>
          <p:cNvSpPr>
            <a:spLocks xmlns:a="http://schemas.openxmlformats.org/drawingml/2006/main" noGrp="1"/>
          </p:cNvSpPr>
          <p:nvPr/>
        </p:nvSpPr>
        <p:spPr>
          <a:xfrm xmlns:a="http://schemas.openxmlformats.org/drawingml/2006/main">
            <a:off x="9620250" y="3362325"/>
            <a:ext cx="1962150" cy="1123950"/>
          </a:xfrm>
          <a:prstGeom xmlns:a="http://schemas.openxmlformats.org/drawingml/2006/main" prst="rect">
            <a:avLst/>
          </a:prstGeom>
          <a:solidFill xmlns:a="http://schemas.openxmlformats.org/drawingml/2006/main">
            <a:srgbClr val="0B0F14"/>
          </a:solidFill>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69E1FAB0-0357-4E94-BFC4-E03CE4F00B32}"/>
              </a:ext>
            </a:extLst>
          </p:cNvPr>
          <p:cNvSpPr>
            <a:spLocks xmlns:a="http://schemas.openxmlformats.org/drawingml/2006/main" noGrp="1"/>
          </p:cNvSpPr>
          <p:nvPr/>
        </p:nvSpPr>
        <p:spPr>
          <a:xfrm xmlns:a="http://schemas.openxmlformats.org/drawingml/2006/main">
            <a:off x="9772650" y="3648075"/>
            <a:ext cx="1657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6B75"/>
                </a:solidFill>
                <a:latin typeface="DejaVu Sans"/>
                <a:ea typeface="DejaVu Sans"/>
                <a:cs typeface="DejaVu Sans"/>
              </a:defRPr>
            </a:pPr>
            <a:r>
              <a:rPr sz="1575" b="1">
                <a:solidFill>
                  <a:srgbClr val="FF6B75"/>
                </a:solidFill>
                <a:latin typeface="DejaVu Sans"/>
                <a:ea typeface="DejaVu Sans"/>
                <a:cs typeface="DejaVu Sans"/>
              </a:rPr>
              <a:t>FORBIDDEN</a:t>
            </a:r>
          </a:p>
        </p:txBody>
      </p:sp>
      <p:sp>
        <p:nvSpPr>
          <p:cNvPr id="17" name="">
            <a:extLst xmlns:a="http://schemas.openxmlformats.org/drawingml/2006/main">
              <a:ext uri="{FF2B5EF4-FFF2-40B4-BE49-F238E27FC236}">
                <a16:creationId xmlns:a16="http://schemas.microsoft.com/office/drawing/2014/main" id="{0BF8BF89-C90D-4926-AF0F-C5BC7B9E836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981E2074-E953-44BD-8880-780FE023CB17}"/>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Requirements define where acceptable behavior may exist.</a:t>
            </a:r>
          </a:p>
        </p:txBody>
      </p:sp>
    </p:spTree>
    <p:extLst>
      <p:ext uri="{BB962C8B-B14F-4D97-AF65-F5344CB8AC3E}">
        <p14:creationId xmlns:p14="http://schemas.microsoft.com/office/powerpoint/2010/main" val="615758645"/>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657578B-4246-41C2-8D2B-649547E8774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7518D657-E920-46C9-945C-34B990647DD3}"/>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80D1767-8C6D-42CB-B8F5-B5ED11FFF95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E0BBCA44-8EF3-4B35-8822-E64D6835BEDB}"/>
              </a:ext>
            </a:extLst>
          </p:cNvPr>
          <p:cNvSpPr>
            <a:spLocks xmlns:a="http://schemas.openxmlformats.org/drawingml/2006/main" noGrp="1"/>
          </p:cNvSpPr>
          <p:nvPr/>
        </p:nvSpPr>
        <p:spPr>
          <a:xfrm xmlns:a="http://schemas.openxmlformats.org/drawingml/2006/main">
            <a:off x="609600" y="19335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Input → Expected Output → PASS</a:t>
            </a:r>
          </a:p>
        </p:txBody>
      </p:sp>
      <p:sp>
        <p:nvSpPr>
          <p:cNvPr id="5" name="">
            <a:extLst xmlns:a="http://schemas.openxmlformats.org/drawingml/2006/main">
              <a:ext uri="{FF2B5EF4-FFF2-40B4-BE49-F238E27FC236}">
                <a16:creationId xmlns:a16="http://schemas.microsoft.com/office/drawing/2014/main" id="{C56E5204-C34A-4520-A229-AAABDEFAD8EE}"/>
              </a:ext>
            </a:extLst>
          </p:cNvPr>
          <p:cNvSpPr>
            <a:spLocks xmlns:a="http://schemas.openxmlformats.org/drawingml/2006/main" noGrp="1"/>
          </p:cNvSpPr>
          <p:nvPr/>
        </p:nvSpPr>
        <p:spPr>
          <a:xfrm xmlns:a="http://schemas.openxmlformats.org/drawingml/2006/main">
            <a:off x="6096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85D77815-6D15-4C55-ACC4-F630989F9A2E}"/>
              </a:ext>
            </a:extLst>
          </p:cNvPr>
          <p:cNvSpPr>
            <a:spLocks xmlns:a="http://schemas.openxmlformats.org/drawingml/2006/main" noGrp="1"/>
          </p:cNvSpPr>
          <p:nvPr/>
        </p:nvSpPr>
        <p:spPr>
          <a:xfrm xmlns:a="http://schemas.openxmlformats.org/drawingml/2006/main">
            <a:off x="7239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Golden Set</a:t>
            </a:r>
          </a:p>
        </p:txBody>
      </p:sp>
      <p:sp>
        <p:nvSpPr>
          <p:cNvPr id="7" name="">
            <a:extLst xmlns:a="http://schemas.openxmlformats.org/drawingml/2006/main">
              <a:ext uri="{FF2B5EF4-FFF2-40B4-BE49-F238E27FC236}">
                <a16:creationId xmlns:a16="http://schemas.microsoft.com/office/drawing/2014/main" id="{5F75A075-3455-472E-9A41-7CCBEEC7CE33}"/>
              </a:ext>
            </a:extLst>
          </p:cNvPr>
          <p:cNvSpPr>
            <a:spLocks xmlns:a="http://schemas.openxmlformats.org/drawingml/2006/main" noGrp="1"/>
          </p:cNvSpPr>
          <p:nvPr/>
        </p:nvSpPr>
        <p:spPr>
          <a:xfrm xmlns:a="http://schemas.openxmlformats.org/drawingml/2006/main">
            <a:off x="28575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85D52076-6CF4-43A5-9793-22CDC05762FD}"/>
              </a:ext>
            </a:extLst>
          </p:cNvPr>
          <p:cNvSpPr>
            <a:spLocks xmlns:a="http://schemas.openxmlformats.org/drawingml/2006/main" noGrp="1"/>
          </p:cNvSpPr>
          <p:nvPr/>
        </p:nvSpPr>
        <p:spPr>
          <a:xfrm xmlns:a="http://schemas.openxmlformats.org/drawingml/2006/main">
            <a:off x="29718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Repeated runs</a:t>
            </a:r>
          </a:p>
        </p:txBody>
      </p:sp>
      <p:sp>
        <p:nvSpPr>
          <p:cNvPr id="9" name="">
            <a:extLst xmlns:a="http://schemas.openxmlformats.org/drawingml/2006/main">
              <a:ext uri="{FF2B5EF4-FFF2-40B4-BE49-F238E27FC236}">
                <a16:creationId xmlns:a16="http://schemas.microsoft.com/office/drawing/2014/main" id="{01D4FEFE-3EBC-4EC4-96F1-F606BFE7FC08}"/>
              </a:ext>
            </a:extLst>
          </p:cNvPr>
          <p:cNvSpPr>
            <a:spLocks xmlns:a="http://schemas.openxmlformats.org/drawingml/2006/main" noGrp="1"/>
          </p:cNvSpPr>
          <p:nvPr/>
        </p:nvSpPr>
        <p:spPr>
          <a:xfrm xmlns:a="http://schemas.openxmlformats.org/drawingml/2006/main">
            <a:off x="51054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42AAABB7-1B1E-4BD5-A6A2-78E157C282B5}"/>
              </a:ext>
            </a:extLst>
          </p:cNvPr>
          <p:cNvSpPr>
            <a:spLocks xmlns:a="http://schemas.openxmlformats.org/drawingml/2006/main" noGrp="1"/>
          </p:cNvSpPr>
          <p:nvPr/>
        </p:nvSpPr>
        <p:spPr>
          <a:xfrm xmlns:a="http://schemas.openxmlformats.org/drawingml/2006/main">
            <a:off x="52197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Distribution</a:t>
            </a:r>
          </a:p>
        </p:txBody>
      </p:sp>
      <p:sp>
        <p:nvSpPr>
          <p:cNvPr id="11" name="">
            <a:extLst xmlns:a="http://schemas.openxmlformats.org/drawingml/2006/main">
              <a:ext uri="{FF2B5EF4-FFF2-40B4-BE49-F238E27FC236}">
                <a16:creationId xmlns:a16="http://schemas.microsoft.com/office/drawing/2014/main" id="{2237652C-AA29-48EC-BF08-DF916EF4F031}"/>
              </a:ext>
            </a:extLst>
          </p:cNvPr>
          <p:cNvSpPr>
            <a:spLocks xmlns:a="http://schemas.openxmlformats.org/drawingml/2006/main" noGrp="1"/>
          </p:cNvSpPr>
          <p:nvPr/>
        </p:nvSpPr>
        <p:spPr>
          <a:xfrm xmlns:a="http://schemas.openxmlformats.org/drawingml/2006/main">
            <a:off x="73533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34B35BFA-9D24-49C7-AA22-D601E6754655}"/>
              </a:ext>
            </a:extLst>
          </p:cNvPr>
          <p:cNvSpPr>
            <a:spLocks xmlns:a="http://schemas.openxmlformats.org/drawingml/2006/main" noGrp="1"/>
          </p:cNvSpPr>
          <p:nvPr/>
        </p:nvSpPr>
        <p:spPr>
          <a:xfrm xmlns:a="http://schemas.openxmlformats.org/drawingml/2006/main">
            <a:off x="74676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Metric gates</a:t>
            </a:r>
          </a:p>
        </p:txBody>
      </p:sp>
      <p:sp>
        <p:nvSpPr>
          <p:cNvPr id="13" name="">
            <a:extLst xmlns:a="http://schemas.openxmlformats.org/drawingml/2006/main">
              <a:ext uri="{FF2B5EF4-FFF2-40B4-BE49-F238E27FC236}">
                <a16:creationId xmlns:a16="http://schemas.microsoft.com/office/drawing/2014/main" id="{97F3E113-8945-4B59-B1C0-9A3237B4A147}"/>
              </a:ext>
            </a:extLst>
          </p:cNvPr>
          <p:cNvSpPr>
            <a:spLocks xmlns:a="http://schemas.openxmlformats.org/drawingml/2006/main" noGrp="1"/>
          </p:cNvSpPr>
          <p:nvPr/>
        </p:nvSpPr>
        <p:spPr>
          <a:xfrm xmlns:a="http://schemas.openxmlformats.org/drawingml/2006/main">
            <a:off x="96012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4" name="">
            <a:extLst xmlns:a="http://schemas.openxmlformats.org/drawingml/2006/main">
              <a:ext uri="{FF2B5EF4-FFF2-40B4-BE49-F238E27FC236}">
                <a16:creationId xmlns:a16="http://schemas.microsoft.com/office/drawing/2014/main" id="{857F6404-43DB-4D4F-8D3B-60677A3FE39C}"/>
              </a:ext>
            </a:extLst>
          </p:cNvPr>
          <p:cNvSpPr>
            <a:spLocks xmlns:a="http://schemas.openxmlformats.org/drawingml/2006/main" noGrp="1"/>
          </p:cNvSpPr>
          <p:nvPr/>
        </p:nvSpPr>
        <p:spPr>
          <a:xfrm xmlns:a="http://schemas.openxmlformats.org/drawingml/2006/main">
            <a:off x="97155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Release</a:t>
            </a:r>
          </a:p>
        </p:txBody>
      </p:sp>
      <p:cxnSp>
        <p:nvCxnSpPr>
          <p:cNvPr id="39" name=""/>
          <p:cNvCxnSpPr>
            <a:stCxn xmlns:a="http://schemas.openxmlformats.org/drawingml/2006/main" id="5" idx="3"/>
            <a:endCxn xmlns:a="http://schemas.openxmlformats.org/drawingml/2006/main" id="7" idx="1"/>
          </p:cNvCxnSpPr>
          <p:nvPr/>
        </p:nvCxnSpPr>
        <p:spPr>
          <a:xfrm xmlns:a="http://schemas.openxmlformats.org/drawingml/2006/main">
            <a:off x="25908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0" name=""/>
          <p:cNvCxnSpPr>
            <a:stCxn xmlns:a="http://schemas.openxmlformats.org/drawingml/2006/main" id="7" idx="3"/>
            <a:endCxn xmlns:a="http://schemas.openxmlformats.org/drawingml/2006/main" id="9" idx="1"/>
          </p:cNvCxnSpPr>
          <p:nvPr/>
        </p:nvCxnSpPr>
        <p:spPr>
          <a:xfrm xmlns:a="http://schemas.openxmlformats.org/drawingml/2006/main">
            <a:off x="48387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1" name=""/>
          <p:cNvCxnSpPr>
            <a:stCxn xmlns:a="http://schemas.openxmlformats.org/drawingml/2006/main" id="9" idx="3"/>
            <a:endCxn xmlns:a="http://schemas.openxmlformats.org/drawingml/2006/main" id="11" idx="1"/>
          </p:cNvCxnSpPr>
          <p:nvPr/>
        </p:nvCxnSpPr>
        <p:spPr>
          <a:xfrm xmlns:a="http://schemas.openxmlformats.org/drawingml/2006/main">
            <a:off x="70866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11" idx="3"/>
            <a:endCxn xmlns:a="http://schemas.openxmlformats.org/drawingml/2006/main" id="13" idx="1"/>
          </p:cNvCxnSpPr>
          <p:nvPr/>
        </p:nvCxnSpPr>
        <p:spPr>
          <a:xfrm xmlns:a="http://schemas.openxmlformats.org/drawingml/2006/main">
            <a:off x="93345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9" name="">
            <a:extLst xmlns:a="http://schemas.openxmlformats.org/drawingml/2006/main">
              <a:ext uri="{FF2B5EF4-FFF2-40B4-BE49-F238E27FC236}">
                <a16:creationId xmlns:a16="http://schemas.microsoft.com/office/drawing/2014/main" id="{D96D144B-509B-40E4-BF55-9D7775E0CBBD}"/>
              </a:ext>
            </a:extLst>
          </p:cNvPr>
          <p:cNvSpPr>
            <a:spLocks xmlns:a="http://schemas.openxmlformats.org/drawingml/2006/main" noGrp="1"/>
          </p:cNvSpPr>
          <p:nvPr/>
        </p:nvSpPr>
        <p:spPr>
          <a:xfrm xmlns:a="http://schemas.openxmlformats.org/drawingml/2006/main">
            <a:off x="609600" y="4029075"/>
            <a:ext cx="4324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825" b="1">
                <a:solidFill>
                  <a:srgbClr val="28C7F7"/>
                </a:solidFill>
                <a:latin typeface="DejaVu Sans"/>
                <a:ea typeface="DejaVu Sans"/>
                <a:cs typeface="DejaVu Sans"/>
              </a:defRPr>
            </a:pPr>
            <a:r>
              <a:rPr sz="3825" b="1">
                <a:solidFill>
                  <a:srgbClr val="28C7F7"/>
                </a:solidFill>
                <a:latin typeface="DejaVu Sans"/>
                <a:ea typeface="DejaVu Sans"/>
                <a:cs typeface="DejaVu Sans"/>
              </a:rPr>
              <a:t>98% overall</a:t>
            </a:r>
          </a:p>
        </p:txBody>
      </p:sp>
      <p:sp>
        <p:nvSpPr>
          <p:cNvPr id="20" name="">
            <a:extLst xmlns:a="http://schemas.openxmlformats.org/drawingml/2006/main">
              <a:ext uri="{FF2B5EF4-FFF2-40B4-BE49-F238E27FC236}">
                <a16:creationId xmlns:a16="http://schemas.microsoft.com/office/drawing/2014/main" id="{203494CC-AAB3-4302-9A03-C2585C7752BF}"/>
              </a:ext>
            </a:extLst>
          </p:cNvPr>
          <p:cNvSpPr>
            <a:spLocks xmlns:a="http://schemas.openxmlformats.org/drawingml/2006/main" noGrp="1"/>
          </p:cNvSpPr>
          <p:nvPr/>
        </p:nvSpPr>
        <p:spPr>
          <a:xfrm xmlns:a="http://schemas.openxmlformats.org/drawingml/2006/main">
            <a:off x="5353050" y="3981450"/>
            <a:ext cx="609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1 critical boundary violation</a:t>
            </a:r>
          </a:p>
        </p:txBody>
      </p:sp>
      <p:sp>
        <p:nvSpPr>
          <p:cNvPr id="21" name="">
            <a:extLst xmlns:a="http://schemas.openxmlformats.org/drawingml/2006/main">
              <a:ext uri="{FF2B5EF4-FFF2-40B4-BE49-F238E27FC236}">
                <a16:creationId xmlns:a16="http://schemas.microsoft.com/office/drawing/2014/main" id="{27E1099E-2E2C-479F-8CD1-F204F3403741}"/>
              </a:ext>
            </a:extLst>
          </p:cNvPr>
          <p:cNvSpPr>
            <a:spLocks xmlns:a="http://schemas.openxmlformats.org/drawingml/2006/main" noGrp="1"/>
          </p:cNvSpPr>
          <p:nvPr/>
        </p:nvSpPr>
        <p:spPr>
          <a:xfrm xmlns:a="http://schemas.openxmlformats.org/drawingml/2006/main">
            <a:off x="5353050" y="457200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6B75"/>
                </a:solidFill>
                <a:latin typeface="DejaVu Sans"/>
                <a:ea typeface="DejaVu Sans"/>
                <a:cs typeface="DejaVu Sans"/>
              </a:defRPr>
            </a:pPr>
            <a:r>
              <a:rPr sz="2400" b="1">
                <a:solidFill>
                  <a:srgbClr val="FF6B75"/>
                </a:solidFill>
                <a:latin typeface="DejaVu Sans"/>
                <a:ea typeface="DejaVu Sans"/>
                <a:cs typeface="DejaVu Sans"/>
              </a:rPr>
              <a:t>BLOCK RELEASE</a:t>
            </a:r>
          </a:p>
        </p:txBody>
      </p:sp>
      <p:sp>
        <p:nvSpPr>
          <p:cNvPr id="22" name="">
            <a:extLst xmlns:a="http://schemas.openxmlformats.org/drawingml/2006/main">
              <a:ext uri="{FF2B5EF4-FFF2-40B4-BE49-F238E27FC236}">
                <a16:creationId xmlns:a16="http://schemas.microsoft.com/office/drawing/2014/main" id="{E05118AD-2F1A-4AF1-B24C-0B436C039508}"/>
              </a:ext>
            </a:extLst>
          </p:cNvPr>
          <p:cNvSpPr>
            <a:spLocks xmlns:a="http://schemas.openxmlformats.org/drawingml/2006/main" noGrp="1"/>
          </p:cNvSpPr>
          <p:nvPr/>
        </p:nvSpPr>
        <p:spPr>
          <a:xfrm xmlns:a="http://schemas.openxmlformats.org/drawingml/2006/main">
            <a:off x="609600" y="5219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Illustrative: 196/200 acceptable evaluations; not a sample-size recommendation.</a:t>
            </a:r>
          </a:p>
        </p:txBody>
      </p:sp>
      <p:sp>
        <p:nvSpPr>
          <p:cNvPr id="23" name="">
            <a:extLst xmlns:a="http://schemas.openxmlformats.org/drawingml/2006/main">
              <a:ext uri="{FF2B5EF4-FFF2-40B4-BE49-F238E27FC236}">
                <a16:creationId xmlns:a16="http://schemas.microsoft.com/office/drawing/2014/main" id="{9401799D-695C-4E8D-98D5-E854909666C5}"/>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FEBE13A9-23A2-4DE3-83AD-47FF536542C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Release evidence must match the risk being controlled.</a:t>
            </a:r>
          </a:p>
        </p:txBody>
      </p:sp>
    </p:spTree>
    <p:extLst>
      <p:ext uri="{BB962C8B-B14F-4D97-AF65-F5344CB8AC3E}">
        <p14:creationId xmlns:p14="http://schemas.microsoft.com/office/powerpoint/2010/main" val="174314789"/>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00E282-EDB9-43D2-A4BB-C6F5CCB0D10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A39800C3-919A-4BBD-AFA6-452C3C5B57C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B24B5B6-C244-430D-B97C-7A803C4B263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11</a:t>
            </a:r>
          </a:p>
        </p:txBody>
      </p:sp>
      <p:graphicFrame>
        <p:nvGraphicFramePr>
          <p:cNvPr id="11" name=""/>
          <p:cNvGraphicFramePr/>
          <p:nvPr/>
        </p:nvGraphicFramePr>
        <p:xfrm>
          <a:off xmlns:a="http://schemas.openxmlformats.org/drawingml/2006/main" x="609600" y="1981200"/>
          <a:ext xmlns:a="http://schemas.openxmlformats.org/drawingml/2006/main" cx="10972800" cy="3105150"/>
        </p:xfrm>
        <a:graphic xmlns:a="http://schemas.openxmlformats.org/drawingml/2006/main">
          <a:graphicData uri="http://schemas.openxmlformats.org/drawingml/2006/table">
            <a:tbl>
              <a:tblPr/>
              <a:tblGrid>
                <a:gridCol w="1581150"/>
                <a:gridCol w="3333750"/>
                <a:gridCol w="6057900"/>
              </a:tblGrid>
              <a:tr h="776288">
                <a:tc>
                  <a:txBody>
                    <a:bodyPr lIns="171450" tIns="114300" rIns="171450" bIns="114300">
                      <a:noAutofit/>
                    </a:bodyPr>
                    <a:lstStyle/>
                    <a:p>
                      <a:r>
                        <a:rPr sz="1725" b="1">
                          <a:solidFill>
                            <a:srgbClr val="F4F7FA"/>
                          </a:solidFill>
                          <a:latin typeface="DejaVu Sans"/>
                          <a:ea typeface="DejaVu Sans"/>
                          <a:cs typeface="DejaVu Sans"/>
                        </a:rPr>
                        <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Traditional shorthand</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Thinking System</a:t>
                      </a:r>
                    </a:p>
                  </a:txBody>
                  <a:tcPr marL="91440" marR="91440" marT="45720" marB="45720" anchor="ctr">
                    <a:solidFill>
                      <a:srgbClr val="1A2734"/>
                    </a:solidFill>
                  </a:tcPr>
                </a:tc>
              </a:tr>
              <a:tr h="776288">
                <a:tc>
                  <a:txBody>
                    <a:bodyPr lIns="171450" tIns="114300" rIns="171450" bIns="114300">
                      <a:noAutofit/>
                    </a:bodyPr>
                    <a:lstStyle/>
                    <a:p>
                      <a:r>
                        <a:rPr sz="1875" b="1">
                          <a:solidFill>
                            <a:srgbClr val="F4F7FA"/>
                          </a:solidFill>
                          <a:latin typeface="DejaVu Sans"/>
                          <a:ea typeface="DejaVu Sans"/>
                          <a:cs typeface="DejaVu Sans"/>
                        </a:rPr>
                        <a:t>READY</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Specification known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Tolerance / risk envelope known</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DONE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Tests pass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Evaluation evidence within boundaries</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RELEASE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Yes / no</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Measured risk accepted</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378EA4B1-AF39-4D9F-8D7D-7606A2A38707}"/>
              </a:ext>
            </a:extLst>
          </p:cNvPr>
          <p:cNvSpPr>
            <a:spLocks xmlns:a="http://schemas.openxmlformats.org/drawingml/2006/main" noGrp="1"/>
          </p:cNvSpPr>
          <p:nvPr/>
        </p:nvSpPr>
        <p:spPr>
          <a:xfrm xmlns:a="http://schemas.openxmlformats.org/drawingml/2006/main">
            <a:off x="609600" y="52578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Evidence, decision owner and fallback belong in the contract.</a:t>
            </a:r>
          </a:p>
        </p:txBody>
      </p:sp>
      <p:sp>
        <p:nvSpPr>
          <p:cNvPr id="6" name="">
            <a:extLst xmlns:a="http://schemas.openxmlformats.org/drawingml/2006/main">
              <a:ext uri="{FF2B5EF4-FFF2-40B4-BE49-F238E27FC236}">
                <a16:creationId xmlns:a16="http://schemas.microsoft.com/office/drawing/2014/main" id="{612528BE-BBE4-403F-A168-34751E10988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7" name="">
            <a:extLst xmlns:a="http://schemas.openxmlformats.org/drawingml/2006/main">
              <a:ext uri="{FF2B5EF4-FFF2-40B4-BE49-F238E27FC236}">
                <a16:creationId xmlns:a16="http://schemas.microsoft.com/office/drawing/2014/main" id="{2F5E5206-442F-4897-930A-F3395DAF18D2}"/>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Quality is released as a measured distribution.</a:t>
            </a:r>
          </a:p>
        </p:txBody>
      </p:sp>
    </p:spTree>
    <p:extLst>
      <p:ext uri="{BB962C8B-B14F-4D97-AF65-F5344CB8AC3E}">
        <p14:creationId xmlns:p14="http://schemas.microsoft.com/office/powerpoint/2010/main" val="2137794210"/>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2E6D622-1D1D-4631-B352-B2E0A43F4C0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46FF5450-1E0B-49E8-991B-C74DBF6E75E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C66A3D4-F361-4921-AF07-7EAA9CB7231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E4B10553-522D-4397-9306-434A0B500B95}"/>
              </a:ext>
            </a:extLst>
          </p:cNvPr>
          <p:cNvSpPr>
            <a:spLocks xmlns:a="http://schemas.openxmlformats.org/drawingml/2006/main" noGrp="1"/>
          </p:cNvSpPr>
          <p:nvPr/>
        </p:nvSpPr>
        <p:spPr>
          <a:xfrm xmlns:a="http://schemas.openxmlformats.org/drawingml/2006/main">
            <a:off x="6096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F66D6C04-AB7B-4599-AF98-2B41A2460EFE}"/>
              </a:ext>
            </a:extLst>
          </p:cNvPr>
          <p:cNvSpPr>
            <a:spLocks xmlns:a="http://schemas.openxmlformats.org/drawingml/2006/main" noGrp="1"/>
          </p:cNvSpPr>
          <p:nvPr/>
        </p:nvSpPr>
        <p:spPr>
          <a:xfrm xmlns:a="http://schemas.openxmlformats.org/drawingml/2006/main">
            <a:off x="7239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1992D63F-2F09-4BC5-B4EE-94C3DC141531}"/>
              </a:ext>
            </a:extLst>
          </p:cNvPr>
          <p:cNvSpPr>
            <a:spLocks xmlns:a="http://schemas.openxmlformats.org/drawingml/2006/main" noGrp="1"/>
          </p:cNvSpPr>
          <p:nvPr/>
        </p:nvSpPr>
        <p:spPr>
          <a:xfrm xmlns:a="http://schemas.openxmlformats.org/drawingml/2006/main">
            <a:off x="28575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2F1AF8DF-46FA-458C-A6A1-769857F83CF6}"/>
              </a:ext>
            </a:extLst>
          </p:cNvPr>
          <p:cNvSpPr>
            <a:spLocks xmlns:a="http://schemas.openxmlformats.org/drawingml/2006/main" noGrp="1"/>
          </p:cNvSpPr>
          <p:nvPr/>
        </p:nvSpPr>
        <p:spPr>
          <a:xfrm xmlns:a="http://schemas.openxmlformats.org/drawingml/2006/main">
            <a:off x="29718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Model</a:t>
            </a:r>
          </a:p>
        </p:txBody>
      </p:sp>
      <p:sp>
        <p:nvSpPr>
          <p:cNvPr id="8" name="">
            <a:extLst xmlns:a="http://schemas.openxmlformats.org/drawingml/2006/main">
              <a:ext uri="{FF2B5EF4-FFF2-40B4-BE49-F238E27FC236}">
                <a16:creationId xmlns:a16="http://schemas.microsoft.com/office/drawing/2014/main" id="{07F2F772-AA2C-4EEA-AB90-C632932B490F}"/>
              </a:ext>
            </a:extLst>
          </p:cNvPr>
          <p:cNvSpPr>
            <a:spLocks xmlns:a="http://schemas.openxmlformats.org/drawingml/2006/main" noGrp="1"/>
          </p:cNvSpPr>
          <p:nvPr/>
        </p:nvSpPr>
        <p:spPr>
          <a:xfrm xmlns:a="http://schemas.openxmlformats.org/drawingml/2006/main">
            <a:off x="51054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082869A7-25D4-4E51-8F58-AAFFA0B99902}"/>
              </a:ext>
            </a:extLst>
          </p:cNvPr>
          <p:cNvSpPr>
            <a:spLocks xmlns:a="http://schemas.openxmlformats.org/drawingml/2006/main" noGrp="1"/>
          </p:cNvSpPr>
          <p:nvPr/>
        </p:nvSpPr>
        <p:spPr>
          <a:xfrm xmlns:a="http://schemas.openxmlformats.org/drawingml/2006/main">
            <a:off x="52197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Proposed action</a:t>
            </a:r>
          </a:p>
        </p:txBody>
      </p:sp>
      <p:sp>
        <p:nvSpPr>
          <p:cNvPr id="10" name="">
            <a:extLst xmlns:a="http://schemas.openxmlformats.org/drawingml/2006/main">
              <a:ext uri="{FF2B5EF4-FFF2-40B4-BE49-F238E27FC236}">
                <a16:creationId xmlns:a16="http://schemas.microsoft.com/office/drawing/2014/main" id="{26269ACE-D69E-4D35-9BF1-8D1C9BF17F86}"/>
              </a:ext>
            </a:extLst>
          </p:cNvPr>
          <p:cNvSpPr>
            <a:spLocks xmlns:a="http://schemas.openxmlformats.org/drawingml/2006/main" noGrp="1"/>
          </p:cNvSpPr>
          <p:nvPr/>
        </p:nvSpPr>
        <p:spPr>
          <a:xfrm xmlns:a="http://schemas.openxmlformats.org/drawingml/2006/main">
            <a:off x="73533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21E9717D-21FF-4053-A973-97F208BB432C}"/>
              </a:ext>
            </a:extLst>
          </p:cNvPr>
          <p:cNvSpPr>
            <a:spLocks xmlns:a="http://schemas.openxmlformats.org/drawingml/2006/main" noGrp="1"/>
          </p:cNvSpPr>
          <p:nvPr/>
        </p:nvSpPr>
        <p:spPr>
          <a:xfrm xmlns:a="http://schemas.openxmlformats.org/drawingml/2006/main">
            <a:off x="74676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Policy gate</a:t>
            </a:r>
          </a:p>
        </p:txBody>
      </p:sp>
      <p:sp>
        <p:nvSpPr>
          <p:cNvPr id="12" name="">
            <a:extLst xmlns:a="http://schemas.openxmlformats.org/drawingml/2006/main">
              <a:ext uri="{FF2B5EF4-FFF2-40B4-BE49-F238E27FC236}">
                <a16:creationId xmlns:a16="http://schemas.microsoft.com/office/drawing/2014/main" id="{8847E2D9-FF37-4437-8851-972EAC0C62E6}"/>
              </a:ext>
            </a:extLst>
          </p:cNvPr>
          <p:cNvSpPr>
            <a:spLocks xmlns:a="http://schemas.openxmlformats.org/drawingml/2006/main" noGrp="1"/>
          </p:cNvSpPr>
          <p:nvPr/>
        </p:nvSpPr>
        <p:spPr>
          <a:xfrm xmlns:a="http://schemas.openxmlformats.org/drawingml/2006/main">
            <a:off x="96012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0E7EEE24-F292-4546-84E1-4E634EA26093}"/>
              </a:ext>
            </a:extLst>
          </p:cNvPr>
          <p:cNvSpPr>
            <a:spLocks xmlns:a="http://schemas.openxmlformats.org/drawingml/2006/main" noGrp="1"/>
          </p:cNvSpPr>
          <p:nvPr/>
        </p:nvSpPr>
        <p:spPr>
          <a:xfrm xmlns:a="http://schemas.openxmlformats.org/drawingml/2006/main">
            <a:off x="97155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User / tool</a:t>
            </a:r>
          </a:p>
        </p:txBody>
      </p:sp>
      <p:cxnSp>
        <p:nvCxnSpPr>
          <p:cNvPr id="45" name=""/>
          <p:cNvCxnSpPr>
            <a:stCxn xmlns:a="http://schemas.openxmlformats.org/drawingml/2006/main" id="4" idx="3"/>
            <a:endCxn xmlns:a="http://schemas.openxmlformats.org/drawingml/2006/main" id="6" idx="1"/>
          </p:cNvCxnSpPr>
          <p:nvPr/>
        </p:nvCxnSpPr>
        <p:spPr>
          <a:xfrm xmlns:a="http://schemas.openxmlformats.org/drawingml/2006/main">
            <a:off x="25908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6" name=""/>
          <p:cNvCxnSpPr>
            <a:stCxn xmlns:a="http://schemas.openxmlformats.org/drawingml/2006/main" id="6" idx="3"/>
            <a:endCxn xmlns:a="http://schemas.openxmlformats.org/drawingml/2006/main" id="8" idx="1"/>
          </p:cNvCxnSpPr>
          <p:nvPr/>
        </p:nvCxnSpPr>
        <p:spPr>
          <a:xfrm xmlns:a="http://schemas.openxmlformats.org/drawingml/2006/main">
            <a:off x="48387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8" idx="3"/>
            <a:endCxn xmlns:a="http://schemas.openxmlformats.org/drawingml/2006/main" id="10" idx="1"/>
          </p:cNvCxnSpPr>
          <p:nvPr/>
        </p:nvCxnSpPr>
        <p:spPr>
          <a:xfrm xmlns:a="http://schemas.openxmlformats.org/drawingml/2006/main">
            <a:off x="70866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10" idx="3"/>
            <a:endCxn xmlns:a="http://schemas.openxmlformats.org/drawingml/2006/main" id="12" idx="1"/>
          </p:cNvCxnSpPr>
          <p:nvPr/>
        </p:nvCxnSpPr>
        <p:spPr>
          <a:xfrm xmlns:a="http://schemas.openxmlformats.org/drawingml/2006/main">
            <a:off x="93345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FC1B7F88-91BD-4B7D-AB91-EB5E24C182F5}"/>
              </a:ext>
            </a:extLst>
          </p:cNvPr>
          <p:cNvSpPr>
            <a:spLocks xmlns:a="http://schemas.openxmlformats.org/drawingml/2006/main" noGrp="1"/>
          </p:cNvSpPr>
          <p:nvPr/>
        </p:nvSpPr>
        <p:spPr>
          <a:xfrm xmlns:a="http://schemas.openxmlformats.org/drawingml/2006/main">
            <a:off x="9601200" y="390525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9" name="">
            <a:extLst xmlns:a="http://schemas.openxmlformats.org/drawingml/2006/main">
              <a:ext uri="{FF2B5EF4-FFF2-40B4-BE49-F238E27FC236}">
                <a16:creationId xmlns:a16="http://schemas.microsoft.com/office/drawing/2014/main" id="{CDA4C618-72A7-4C71-AF91-C8D7DC28C9E5}"/>
              </a:ext>
            </a:extLst>
          </p:cNvPr>
          <p:cNvSpPr>
            <a:spLocks xmlns:a="http://schemas.openxmlformats.org/drawingml/2006/main" noGrp="1"/>
          </p:cNvSpPr>
          <p:nvPr/>
        </p:nvSpPr>
        <p:spPr>
          <a:xfrm xmlns:a="http://schemas.openxmlformats.org/drawingml/2006/main">
            <a:off x="9715500" y="398145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Observe</a:t>
            </a:r>
          </a:p>
        </p:txBody>
      </p:sp>
      <p:sp>
        <p:nvSpPr>
          <p:cNvPr id="20" name="">
            <a:extLst xmlns:a="http://schemas.openxmlformats.org/drawingml/2006/main">
              <a:ext uri="{FF2B5EF4-FFF2-40B4-BE49-F238E27FC236}">
                <a16:creationId xmlns:a16="http://schemas.microsoft.com/office/drawing/2014/main" id="{BD70EE2F-8B0F-45D0-8D48-49E2FCE37D16}"/>
              </a:ext>
            </a:extLst>
          </p:cNvPr>
          <p:cNvSpPr>
            <a:spLocks xmlns:a="http://schemas.openxmlformats.org/drawingml/2006/main" noGrp="1"/>
          </p:cNvSpPr>
          <p:nvPr/>
        </p:nvSpPr>
        <p:spPr>
          <a:xfrm xmlns:a="http://schemas.openxmlformats.org/drawingml/2006/main">
            <a:off x="6667500" y="3905250"/>
            <a:ext cx="22479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1" name="">
            <a:extLst xmlns:a="http://schemas.openxmlformats.org/drawingml/2006/main">
              <a:ext uri="{FF2B5EF4-FFF2-40B4-BE49-F238E27FC236}">
                <a16:creationId xmlns:a16="http://schemas.microsoft.com/office/drawing/2014/main" id="{162D168F-7FFD-4869-BFED-229108B0BABB}"/>
              </a:ext>
            </a:extLst>
          </p:cNvPr>
          <p:cNvSpPr>
            <a:spLocks xmlns:a="http://schemas.openxmlformats.org/drawingml/2006/main" noGrp="1"/>
          </p:cNvSpPr>
          <p:nvPr/>
        </p:nvSpPr>
        <p:spPr>
          <a:xfrm xmlns:a="http://schemas.openxmlformats.org/drawingml/2006/main">
            <a:off x="6781800" y="3981450"/>
            <a:ext cx="2019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Evaluate / decide</a:t>
            </a:r>
          </a:p>
        </p:txBody>
      </p:sp>
      <p:sp>
        <p:nvSpPr>
          <p:cNvPr id="22" name="">
            <a:extLst xmlns:a="http://schemas.openxmlformats.org/drawingml/2006/main">
              <a:ext uri="{FF2B5EF4-FFF2-40B4-BE49-F238E27FC236}">
                <a16:creationId xmlns:a16="http://schemas.microsoft.com/office/drawing/2014/main" id="{3CE842E6-207D-4750-8541-EEB6A6BCD30F}"/>
              </a:ext>
            </a:extLst>
          </p:cNvPr>
          <p:cNvSpPr>
            <a:spLocks xmlns:a="http://schemas.openxmlformats.org/drawingml/2006/main" noGrp="1"/>
          </p:cNvSpPr>
          <p:nvPr/>
        </p:nvSpPr>
        <p:spPr>
          <a:xfrm xmlns:a="http://schemas.openxmlformats.org/drawingml/2006/main">
            <a:off x="2857500" y="3905250"/>
            <a:ext cx="26670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3" name="">
            <a:extLst xmlns:a="http://schemas.openxmlformats.org/drawingml/2006/main">
              <a:ext uri="{FF2B5EF4-FFF2-40B4-BE49-F238E27FC236}">
                <a16:creationId xmlns:a16="http://schemas.microsoft.com/office/drawing/2014/main" id="{D96F5C55-9B40-48AE-9B74-FFD8E993DA01}"/>
              </a:ext>
            </a:extLst>
          </p:cNvPr>
          <p:cNvSpPr>
            <a:spLocks xmlns:a="http://schemas.openxmlformats.org/drawingml/2006/main" noGrp="1"/>
          </p:cNvSpPr>
          <p:nvPr/>
        </p:nvSpPr>
        <p:spPr>
          <a:xfrm xmlns:a="http://schemas.openxmlformats.org/drawingml/2006/main">
            <a:off x="2971800" y="3981450"/>
            <a:ext cx="2438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Act within authority</a:t>
            </a:r>
          </a:p>
        </p:txBody>
      </p:sp>
      <p:cxnSp>
        <p:nvCxnSpPr>
          <p:cNvPr id="55" name=""/>
          <p:cNvCxnSpPr>
            <a:stCxn xmlns:a="http://schemas.openxmlformats.org/drawingml/2006/main" id="12" idx="2"/>
            <a:endCxn xmlns:a="http://schemas.openxmlformats.org/drawingml/2006/main" id="18" idx="0"/>
          </p:cNvCxnSpPr>
          <p:nvPr/>
        </p:nvCxnSpPr>
        <p:spPr>
          <a:xfrm xmlns:a="http://schemas.openxmlformats.org/drawingml/2006/main">
            <a:off x="10591800" y="2857500"/>
            <a:ext cx="0" cy="10477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6" name=""/>
          <p:cNvCxnSpPr>
            <a:stCxn xmlns:a="http://schemas.openxmlformats.org/drawingml/2006/main" id="18" idx="1"/>
            <a:endCxn xmlns:a="http://schemas.openxmlformats.org/drawingml/2006/main" id="20" idx="3"/>
          </p:cNvCxnSpPr>
          <p:nvPr/>
        </p:nvCxnSpPr>
        <p:spPr>
          <a:xfrm xmlns:a="http://schemas.openxmlformats.org/drawingml/2006/main" flipH="1">
            <a:off x="8915400" y="4286250"/>
            <a:ext cx="6858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7" name=""/>
          <p:cNvCxnSpPr>
            <a:stCxn xmlns:a="http://schemas.openxmlformats.org/drawingml/2006/main" id="20" idx="1"/>
            <a:endCxn xmlns:a="http://schemas.openxmlformats.org/drawingml/2006/main" id="22" idx="3"/>
          </p:cNvCxnSpPr>
          <p:nvPr/>
        </p:nvCxnSpPr>
        <p:spPr>
          <a:xfrm xmlns:a="http://schemas.openxmlformats.org/drawingml/2006/main" flipH="1">
            <a:off x="5524500" y="4286250"/>
            <a:ext cx="1143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8" name=""/>
          <p:cNvCxnSpPr>
            <a:stCxn xmlns:a="http://schemas.openxmlformats.org/drawingml/2006/main" id="22" idx="0"/>
            <a:endCxn xmlns:a="http://schemas.openxmlformats.org/drawingml/2006/main" id="6" idx="2"/>
          </p:cNvCxnSpPr>
          <p:nvPr/>
        </p:nvCxnSpPr>
        <p:spPr>
          <a:xfrm xmlns:a="http://schemas.openxmlformats.org/drawingml/2006/main" flipH="1" flipV="1">
            <a:off x="3848100" y="2857500"/>
            <a:ext cx="342900" cy="1047750"/>
          </a:xfrm>
          <a:prstGeom xmlns:a="http://schemas.openxmlformats.org/drawingml/2006/main" prst="bentConnector4">
            <a:avLst>
              <a:gd name="adj1" fmla="val 0"/>
              <a:gd name="adj2" fmla="val 50000"/>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BCEE45B9-3D15-4AC8-AE70-5AFD412DA271}"/>
              </a:ext>
            </a:extLst>
          </p:cNvPr>
          <p:cNvSpPr>
            <a:spLocks xmlns:a="http://schemas.openxmlformats.org/drawingml/2006/main" noGrp="1"/>
          </p:cNvSpPr>
          <p:nvPr/>
        </p:nvSpPr>
        <p:spPr>
          <a:xfrm xmlns:a="http://schemas.openxmlformats.org/drawingml/2006/main">
            <a:off x="609600" y="4953000"/>
            <a:ext cx="10896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F4F7FA"/>
                </a:solidFill>
                <a:latin typeface="DejaVu Sans"/>
                <a:ea typeface="DejaVu Sans"/>
                <a:cs typeface="DejaVu Sans"/>
              </a:defRPr>
            </a:pPr>
            <a:r>
              <a:rPr sz="1950" b="0">
                <a:solidFill>
                  <a:srgbClr val="F4F7FA"/>
                </a:solidFill>
                <a:latin typeface="DejaVu Sans"/>
                <a:ea typeface="DejaVu Sans"/>
                <a:cs typeface="DejaVu Sans"/>
              </a:rPr>
              <a:t>Correct / retry / escalate / fallback / stop</a:t>
            </a:r>
          </a:p>
        </p:txBody>
      </p:sp>
      <p:sp>
        <p:nvSpPr>
          <p:cNvPr id="29" name="">
            <a:extLst xmlns:a="http://schemas.openxmlformats.org/drawingml/2006/main">
              <a:ext uri="{FF2B5EF4-FFF2-40B4-BE49-F238E27FC236}">
                <a16:creationId xmlns:a16="http://schemas.microsoft.com/office/drawing/2014/main" id="{1EFEDCE2-F407-4F83-9B92-28E85F6C1AC2}"/>
              </a:ext>
            </a:extLst>
          </p:cNvPr>
          <p:cNvSpPr>
            <a:spLocks xmlns:a="http://schemas.openxmlformats.org/drawingml/2006/main" noGrp="1"/>
          </p:cNvSpPr>
          <p:nvPr/>
        </p:nvSpPr>
        <p:spPr>
          <a:xfrm xmlns:a="http://schemas.openxmlformats.org/drawingml/2006/main">
            <a:off x="609600" y="54006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Gate consequential actions before execution. Review incidents into Golden Sets.</a:t>
            </a:r>
          </a:p>
        </p:txBody>
      </p:sp>
      <p:sp>
        <p:nvSpPr>
          <p:cNvPr id="30" name="">
            <a:extLst xmlns:a="http://schemas.openxmlformats.org/drawingml/2006/main">
              <a:ext uri="{FF2B5EF4-FFF2-40B4-BE49-F238E27FC236}">
                <a16:creationId xmlns:a16="http://schemas.microsoft.com/office/drawing/2014/main" id="{45786761-AF50-4868-8DC8-A5C6F5970C1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1" name="">
            <a:extLst xmlns:a="http://schemas.openxmlformats.org/drawingml/2006/main">
              <a:ext uri="{FF2B5EF4-FFF2-40B4-BE49-F238E27FC236}">
                <a16:creationId xmlns:a16="http://schemas.microsoft.com/office/drawing/2014/main" id="{2DAF3526-4519-402F-BCF9-69E1C8229D6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Production needs evidence connected to corrective action.</a:t>
            </a:r>
          </a:p>
        </p:txBody>
      </p:sp>
    </p:spTree>
    <p:extLst>
      <p:ext uri="{BB962C8B-B14F-4D97-AF65-F5344CB8AC3E}">
        <p14:creationId xmlns:p14="http://schemas.microsoft.com/office/powerpoint/2010/main" val="415600603"/>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74AF8D-6A57-4EFC-BEF5-B46BDA20798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C88E2438-D823-4197-82E5-D99171946BE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92ED037-8CA7-4AC6-9232-BE06F2AD522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13</a:t>
            </a:r>
          </a:p>
        </p:txBody>
      </p:sp>
      <p:graphicFrame>
        <p:nvGraphicFramePr>
          <p:cNvPr id="10" name=""/>
          <p:cNvGraphicFramePr/>
          <p:nvPr/>
        </p:nvGraphicFramePr>
        <p:xfrm>
          <a:off xmlns:a="http://schemas.openxmlformats.org/drawingml/2006/main" x="609600" y="2009775"/>
          <a:ext xmlns:a="http://schemas.openxmlformats.org/drawingml/2006/main" cx="10972800" cy="3429000"/>
        </p:xfrm>
        <a:graphic xmlns:a="http://schemas.openxmlformats.org/drawingml/2006/main">
          <a:graphicData uri="http://schemas.openxmlformats.org/drawingml/2006/table">
            <a:tbl>
              <a:tblPr/>
              <a:tblGrid>
                <a:gridCol w="1695450"/>
                <a:gridCol w="3276600"/>
                <a:gridCol w="6000750"/>
              </a:tblGrid>
              <a:tr h="685800">
                <a:tc>
                  <a:txBody>
                    <a:bodyPr lIns="171450" tIns="114300" rIns="171450" bIns="114300">
                      <a:noAutofit/>
                    </a:bodyPr>
                    <a:lstStyle/>
                    <a:p>
                      <a:r>
                        <a:rPr sz="1725" b="1">
                          <a:solidFill>
                            <a:srgbClr val="F4F7FA"/>
                          </a:solidFill>
                          <a:latin typeface="DejaVu Sans"/>
                          <a:ea typeface="DejaVu Sans"/>
                          <a:cs typeface="DejaVu Sans"/>
                        </a:rPr>
                        <a:t>Role</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Before</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Increasingly owns</a:t>
                      </a:r>
                    </a:p>
                  </a:txBody>
                  <a:tcPr marL="91440" marR="91440" marT="45720" marB="45720" anchor="ctr">
                    <a:solidFill>
                      <a:srgbClr val="1A2734"/>
                    </a:solidFill>
                  </a:tcPr>
                </a:tc>
              </a:tr>
              <a:tr h="685800">
                <a:tc>
                  <a:txBody>
                    <a:bodyPr lIns="171450" tIns="114300" rIns="171450" bIns="114300">
                      <a:noAutofit/>
                    </a:bodyPr>
                    <a:lstStyle/>
                    <a:p>
                      <a:r>
                        <a:rPr sz="1875" b="1">
                          <a:solidFill>
                            <a:srgbClr val="F4F7FA"/>
                          </a:solidFill>
                          <a:latin typeface="DejaVu Sans"/>
                          <a:ea typeface="DejaVu Sans"/>
                          <a:cs typeface="DejaVu Sans"/>
                        </a:rPr>
                        <a:t>PM</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Story / acceptance</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Risk &amp; tolerance</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QA</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Pass / fail cases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Measurement &amp; evaluation</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Architect</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Components &amp; flows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Boundaries &amp; failure containment</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Developer</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Implementation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Behavioral / operational ownership</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5CC1F57A-A9B0-4475-9581-A390EE363AA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FC36E7D1-9274-4D01-A92B-A225EAB103D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job titles may stay. The object of responsibility changes.</a:t>
            </a:r>
          </a:p>
        </p:txBody>
      </p:sp>
    </p:spTree>
    <p:extLst>
      <p:ext uri="{BB962C8B-B14F-4D97-AF65-F5344CB8AC3E}">
        <p14:creationId xmlns:p14="http://schemas.microsoft.com/office/powerpoint/2010/main" val="53369033"/>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57D86F9-D1E3-4880-BFDE-9DA71660667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Engineering Rigor Moves —</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It Doesn’t Disappear</a:t>
            </a:r>
          </a:p>
        </p:txBody>
      </p:sp>
      <p:sp>
        <p:nvSpPr>
          <p:cNvPr id="2" name="">
            <a:extLst xmlns:a="http://schemas.openxmlformats.org/drawingml/2006/main">
              <a:ext uri="{FF2B5EF4-FFF2-40B4-BE49-F238E27FC236}">
                <a16:creationId xmlns:a16="http://schemas.microsoft.com/office/drawing/2014/main" id="{D99184FC-157D-4F50-BA19-C23C4DDD112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D2FB3B5-C462-4AFF-B7C5-EF1AB2FFC9E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8959CF0F-1EEB-4C62-8EEB-4686CDF05991}"/>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9F28F117-4E9C-4BA9-9514-472CC4BFFEEB}"/>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Scarcity moves</a:t>
            </a:r>
          </a:p>
        </p:txBody>
      </p:sp>
      <p:sp>
        <p:nvSpPr>
          <p:cNvPr id="6" name="">
            <a:extLst xmlns:a="http://schemas.openxmlformats.org/drawingml/2006/main">
              <a:ext uri="{FF2B5EF4-FFF2-40B4-BE49-F238E27FC236}">
                <a16:creationId xmlns:a16="http://schemas.microsoft.com/office/drawing/2014/main" id="{90FA0A31-09B9-4D1F-92F9-552C1523AA29}"/>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AFECFFA5-0939-4584-B7AD-E9D4D8200179}"/>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Code generation gets cheaper</a:t>
            </a:r>
          </a:p>
        </p:txBody>
      </p:sp>
      <p:sp>
        <p:nvSpPr>
          <p:cNvPr id="8" name="">
            <a:extLst xmlns:a="http://schemas.openxmlformats.org/drawingml/2006/main">
              <a:ext uri="{FF2B5EF4-FFF2-40B4-BE49-F238E27FC236}">
                <a16:creationId xmlns:a16="http://schemas.microsoft.com/office/drawing/2014/main" id="{27002E90-9C4E-43FF-956A-8EFEDA3ED77B}"/>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Comprehension becomes scarce</a:t>
            </a:r>
          </a:p>
        </p:txBody>
      </p:sp>
      <p:sp>
        <p:nvSpPr>
          <p:cNvPr id="9" name="">
            <a:extLst xmlns:a="http://schemas.openxmlformats.org/drawingml/2006/main">
              <a:ext uri="{FF2B5EF4-FFF2-40B4-BE49-F238E27FC236}">
                <a16:creationId xmlns:a16="http://schemas.microsoft.com/office/drawing/2014/main" id="{44454CA9-DDAD-47ED-9B68-AF801AF19007}"/>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Bottlenecks move</a:t>
            </a:r>
          </a:p>
        </p:txBody>
      </p:sp>
      <p:sp>
        <p:nvSpPr>
          <p:cNvPr id="10" name="">
            <a:extLst xmlns:a="http://schemas.openxmlformats.org/drawingml/2006/main">
              <a:ext uri="{FF2B5EF4-FFF2-40B4-BE49-F238E27FC236}">
                <a16:creationId xmlns:a16="http://schemas.microsoft.com/office/drawing/2014/main" id="{DF1E67AC-745C-48C1-B517-B5CA04C801A7}"/>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SDLC seeks a new equilibrium</a:t>
            </a:r>
          </a:p>
        </p:txBody>
      </p:sp>
      <p:sp>
        <p:nvSpPr>
          <p:cNvPr id="11" name="">
            <a:extLst xmlns:a="http://schemas.openxmlformats.org/drawingml/2006/main">
              <a:ext uri="{FF2B5EF4-FFF2-40B4-BE49-F238E27FC236}">
                <a16:creationId xmlns:a16="http://schemas.microsoft.com/office/drawing/2014/main" id="{338FDD35-C08C-4AD7-93C7-9A11D61302CC}"/>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12" name="">
            <a:extLst xmlns:a="http://schemas.openxmlformats.org/drawingml/2006/main">
              <a:ext uri="{FF2B5EF4-FFF2-40B4-BE49-F238E27FC236}">
                <a16:creationId xmlns:a16="http://schemas.microsoft.com/office/drawing/2014/main" id="{86E0CC7E-12DF-43A5-B8D9-9B3FF405D169}"/>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Rigor moves</a:t>
            </a:r>
          </a:p>
        </p:txBody>
      </p:sp>
      <p:sp>
        <p:nvSpPr>
          <p:cNvPr id="13" name="">
            <a:extLst xmlns:a="http://schemas.openxmlformats.org/drawingml/2006/main">
              <a:ext uri="{FF2B5EF4-FFF2-40B4-BE49-F238E27FC236}">
                <a16:creationId xmlns:a16="http://schemas.microsoft.com/office/drawing/2014/main" id="{9E6F00B1-4764-4765-B2E9-A1A265A2F27B}"/>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2D22A654-877A-4CE3-B975-03DEAA18B930}"/>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Output → Distribution</a:t>
            </a:r>
          </a:p>
        </p:txBody>
      </p:sp>
      <p:sp>
        <p:nvSpPr>
          <p:cNvPr id="15" name="">
            <a:extLst xmlns:a="http://schemas.openxmlformats.org/drawingml/2006/main">
              <a:ext uri="{FF2B5EF4-FFF2-40B4-BE49-F238E27FC236}">
                <a16:creationId xmlns:a16="http://schemas.microsoft.com/office/drawing/2014/main" id="{CE666907-A5ED-4C0A-A404-3A7367F58916}"/>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Requirement → Boundary</a:t>
            </a:r>
          </a:p>
        </p:txBody>
      </p:sp>
      <p:sp>
        <p:nvSpPr>
          <p:cNvPr id="16" name="">
            <a:extLst xmlns:a="http://schemas.openxmlformats.org/drawingml/2006/main">
              <a:ext uri="{FF2B5EF4-FFF2-40B4-BE49-F238E27FC236}">
                <a16:creationId xmlns:a16="http://schemas.microsoft.com/office/drawing/2014/main" id="{9AFD0DE6-7608-4E51-951D-89B9D8089232}"/>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Test → Measurement</a:t>
            </a:r>
          </a:p>
        </p:txBody>
      </p:sp>
      <p:sp>
        <p:nvSpPr>
          <p:cNvPr id="17" name="">
            <a:extLst xmlns:a="http://schemas.openxmlformats.org/drawingml/2006/main">
              <a:ext uri="{FF2B5EF4-FFF2-40B4-BE49-F238E27FC236}">
                <a16:creationId xmlns:a16="http://schemas.microsoft.com/office/drawing/2014/main" id="{6B8669FA-E6F1-49A9-93CA-CF2A81F8407B}"/>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Release → Risk decision</a:t>
            </a:r>
          </a:p>
        </p:txBody>
      </p:sp>
      <p:sp>
        <p:nvSpPr>
          <p:cNvPr id="18" name="">
            <a:extLst xmlns:a="http://schemas.openxmlformats.org/drawingml/2006/main">
              <a:ext uri="{FF2B5EF4-FFF2-40B4-BE49-F238E27FC236}">
                <a16:creationId xmlns:a16="http://schemas.microsoft.com/office/drawing/2014/main" id="{5A1AC03A-9BAE-47C9-9AFE-1F0021820A6B}"/>
              </a:ext>
            </a:extLst>
          </p:cNvPr>
          <p:cNvSpPr>
            <a:spLocks xmlns:a="http://schemas.openxmlformats.org/drawingml/2006/main" noGrp="1"/>
          </p:cNvSpPr>
          <p:nvPr/>
        </p:nvSpPr>
        <p:spPr>
          <a:xfrm xmlns:a="http://schemas.openxmlformats.org/drawingml/2006/main">
            <a:off x="6324600" y="5048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Production → Control loop</a:t>
            </a:r>
          </a:p>
        </p:txBody>
      </p:sp>
      <p:sp>
        <p:nvSpPr>
          <p:cNvPr id="19" name="">
            <a:extLst xmlns:a="http://schemas.openxmlformats.org/drawingml/2006/main">
              <a:ext uri="{FF2B5EF4-FFF2-40B4-BE49-F238E27FC236}">
                <a16:creationId xmlns:a16="http://schemas.microsoft.com/office/drawing/2014/main" id="{7A05A8EF-D10A-4521-9E51-C4EC3E92DBE7}"/>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4C5882E7-6F77-4F10-978C-66FCD155D6E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The team remains accountable for the whole system.</a:t>
            </a:r>
          </a:p>
        </p:txBody>
      </p:sp>
    </p:spTree>
    <p:extLst>
      <p:ext uri="{BB962C8B-B14F-4D97-AF65-F5344CB8AC3E}">
        <p14:creationId xmlns:p14="http://schemas.microsoft.com/office/powerpoint/2010/main" val="10754981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2026-09-21T16:03:07.0640000Z</dcterms:created>
  <dcterms:modified xsi:type="dcterms:W3CDTF">2026-09-21T16:03:07.0640000Z</dcterms:modified>
</coreProperties>
</file>