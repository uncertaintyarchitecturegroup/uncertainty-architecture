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8c34e7aba74430" /><Relationship Type="http://schemas.openxmlformats.org/officeDocument/2006/relationships/extended-properties" Target="/docProps/app.xml" Id="R2ed43f4198fb49c1" /><Relationship Type="http://schemas.openxmlformats.org/officeDocument/2006/relationships/officeDocument" Target="/ppt/presentation.xml" Id="Rb9446242785e4486" /></Relationships>
</file>

<file path=ppt/presentation.xml><?xml version="1.0" encoding="utf-8"?>
<p:presentation xmlns:p="http://schemas.openxmlformats.org/presentationml/2006/main">
  <p:sldMasterIdLst>
    <p:sldMasterId xmlns:r="http://schemas.openxmlformats.org/officeDocument/2006/relationships" id="2147483648" r:id="R13d3acdc081349a5"/>
  </p:sldMasterIdLst>
  <p:notesMasterIdLst>
    <p:notesMasterId xmlns:r="http://schemas.openxmlformats.org/officeDocument/2006/relationships" r:id="Rc1db91f7aa154e54"/>
  </p:notesMasterIdLst>
  <p:sldIdLst>
    <p:sldId xmlns:r="http://schemas.openxmlformats.org/officeDocument/2006/relationships" id="256" r:id="R512bc902ff3d42e8"/>
    <p:sldId xmlns:r="http://schemas.openxmlformats.org/officeDocument/2006/relationships" id="257" r:id="R69cbabfd669d4e8d"/>
    <p:sldId xmlns:r="http://schemas.openxmlformats.org/officeDocument/2006/relationships" id="258" r:id="R85730ce7dc8a481f"/>
    <p:sldId xmlns:r="http://schemas.openxmlformats.org/officeDocument/2006/relationships" id="259" r:id="R3872f71e753d4641"/>
    <p:sldId xmlns:r="http://schemas.openxmlformats.org/officeDocument/2006/relationships" id="260" r:id="R3f362c153c944439"/>
    <p:sldId xmlns:r="http://schemas.openxmlformats.org/officeDocument/2006/relationships" id="261" r:id="R8a364162bdcb4f24"/>
    <p:sldId xmlns:r="http://schemas.openxmlformats.org/officeDocument/2006/relationships" id="262" r:id="Rf9881ed047ed4d6f"/>
    <p:sldId xmlns:r="http://schemas.openxmlformats.org/officeDocument/2006/relationships" id="263" r:id="R1481d37a4433414a"/>
    <p:sldId xmlns:r="http://schemas.openxmlformats.org/officeDocument/2006/relationships" id="264" r:id="R924fbf86fa2c4114"/>
    <p:sldId xmlns:r="http://schemas.openxmlformats.org/officeDocument/2006/relationships" id="265" r:id="Rc301f59229e74694"/>
    <p:sldId xmlns:r="http://schemas.openxmlformats.org/officeDocument/2006/relationships" id="266" r:id="Rf7d3068af0ec4533"/>
    <p:sldId xmlns:r="http://schemas.openxmlformats.org/officeDocument/2006/relationships" id="267" r:id="R31dda0ff5bdd42e4"/>
    <p:sldId xmlns:r="http://schemas.openxmlformats.org/officeDocument/2006/relationships" id="268" r:id="R89caa9f6bf314158"/>
    <p:sldId xmlns:r="http://schemas.openxmlformats.org/officeDocument/2006/relationships" id="269" r:id="R281c5dc58a7c44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57f0e39d8c4802" /><Relationship Type="http://schemas.openxmlformats.org/officeDocument/2006/relationships/slideMaster" Target="/ppt/slideMasters/slideMaster1.xml" Id="R13d3acdc081349a5" /><Relationship Type="http://schemas.openxmlformats.org/officeDocument/2006/relationships/notesMaster" Target="/ppt/notesMasters/notesMaster1.xml" Id="Rc1db91f7aa154e54" /><Relationship Type="http://schemas.openxmlformats.org/officeDocument/2006/relationships/presProps" Target="/ppt/presProps.xml" Id="R55af2042cc1b4f2c" /><Relationship Type="http://schemas.openxmlformats.org/officeDocument/2006/relationships/tableStyles" Target="/ppt/tableStyles.xml" Id="Re2b5e9187caf4bdd" /><Relationship Type="http://schemas.openxmlformats.org/officeDocument/2006/relationships/slide" Target="/ppt/slides/slide1.xml" Id="R512bc902ff3d42e8" /><Relationship Type="http://schemas.openxmlformats.org/officeDocument/2006/relationships/slide" Target="/ppt/slides/slide2.xml" Id="R69cbabfd669d4e8d" /><Relationship Type="http://schemas.openxmlformats.org/officeDocument/2006/relationships/slide" Target="/ppt/slides/slide3.xml" Id="R85730ce7dc8a481f" /><Relationship Type="http://schemas.openxmlformats.org/officeDocument/2006/relationships/slide" Target="/ppt/slides/slide4.xml" Id="R3872f71e753d4641" /><Relationship Type="http://schemas.openxmlformats.org/officeDocument/2006/relationships/slide" Target="/ppt/slides/slide5.xml" Id="R3f362c153c944439" /><Relationship Type="http://schemas.openxmlformats.org/officeDocument/2006/relationships/slide" Target="/ppt/slides/slide6.xml" Id="R8a364162bdcb4f24" /><Relationship Type="http://schemas.openxmlformats.org/officeDocument/2006/relationships/slide" Target="/ppt/slides/slide7.xml" Id="Rf9881ed047ed4d6f" /><Relationship Type="http://schemas.openxmlformats.org/officeDocument/2006/relationships/slide" Target="/ppt/slides/slide8.xml" Id="R1481d37a4433414a" /><Relationship Type="http://schemas.openxmlformats.org/officeDocument/2006/relationships/slide" Target="/ppt/slides/slide9.xml" Id="R924fbf86fa2c4114" /><Relationship Type="http://schemas.openxmlformats.org/officeDocument/2006/relationships/slide" Target="/ppt/slides/slide10.xml" Id="Rc301f59229e74694" /><Relationship Type="http://schemas.openxmlformats.org/officeDocument/2006/relationships/slide" Target="/ppt/slides/slide11.xml" Id="Rf7d3068af0ec4533" /><Relationship Type="http://schemas.openxmlformats.org/officeDocument/2006/relationships/slide" Target="/ppt/slides/slide12.xml" Id="R31dda0ff5bdd42e4" /><Relationship Type="http://schemas.openxmlformats.org/officeDocument/2006/relationships/slide" Target="/ppt/slides/slide13.xml" Id="R89caa9f6bf314158" /><Relationship Type="http://schemas.openxmlformats.org/officeDocument/2006/relationships/slide" Target="/ppt/slides/slide14.xml" Id="R281c5dc58a7c44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0322c3705141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5ad5099a9f47a6" /><Relationship Type="http://schemas.openxmlformats.org/officeDocument/2006/relationships/notesMaster" Target="/ppt/notesMasters/notesMaster1.xml" Id="Rf38794ff0da94d8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8409b0ba7b4860" /><Relationship Type="http://schemas.openxmlformats.org/officeDocument/2006/relationships/notesMaster" Target="/ppt/notesMasters/notesMaster1.xml" Id="Rfda9fc3da5b945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0e4fe17bbe4703" /><Relationship Type="http://schemas.openxmlformats.org/officeDocument/2006/relationships/notesMaster" Target="/ppt/notesMasters/notesMaster1.xml" Id="R3fcd3260d95847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dc77904a2147b1" /><Relationship Type="http://schemas.openxmlformats.org/officeDocument/2006/relationships/notesMaster" Target="/ppt/notesMasters/notesMaster1.xml" Id="R00b1be0a54ad4da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d02b574bbf4f7b" /><Relationship Type="http://schemas.openxmlformats.org/officeDocument/2006/relationships/notesMaster" Target="/ppt/notesMasters/notesMaster1.xml" Id="Rab6d12789ca345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8e486e16d84f30" /><Relationship Type="http://schemas.openxmlformats.org/officeDocument/2006/relationships/notesMaster" Target="/ppt/notesMasters/notesMaster1.xml" Id="R737553b42a6f4b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c9e9ad01236148a3" /><Relationship Type="http://schemas.openxmlformats.org/officeDocument/2006/relationships/notesMaster" Target="/ppt/notesMasters/notesMaster1.xml" Id="Re77641b3edcf4d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477f378de54a34" /><Relationship Type="http://schemas.openxmlformats.org/officeDocument/2006/relationships/notesMaster" Target="/ppt/notesMasters/notesMaster1.xml" Id="R4b06b2b2467c4763"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3bd4249069418d" /><Relationship Type="http://schemas.openxmlformats.org/officeDocument/2006/relationships/notesMaster" Target="/ppt/notesMasters/notesMaster1.xml" Id="R139ad074443743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ffdc267b6f48f3" /><Relationship Type="http://schemas.openxmlformats.org/officeDocument/2006/relationships/notesMaster" Target="/ppt/notesMasters/notesMaster1.xml" Id="Rdcfed16fb35447e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d16402121d4fc8" /><Relationship Type="http://schemas.openxmlformats.org/officeDocument/2006/relationships/notesMaster" Target="/ppt/notesMasters/notesMaster1.xml" Id="Rec10d5a871c349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408739aa3c451f" /><Relationship Type="http://schemas.openxmlformats.org/officeDocument/2006/relationships/notesMaster" Target="/ppt/notesMasters/notesMaster1.xml" Id="Rc8b49028f77247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b168a03e0e44544" /><Relationship Type="http://schemas.openxmlformats.org/officeDocument/2006/relationships/notesMaster" Target="/ppt/notesMasters/notesMaster1.xml" Id="R11a9511d09f2429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5ec37439bb24f69" /><Relationship Type="http://schemas.openxmlformats.org/officeDocument/2006/relationships/notesMaster" Target="/ppt/notesMasters/notesMaster1.xml" Id="R78f8545bd52b4f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не виміряні дані: writing capacity 20 змін/тиждень, review 10, integration 8. Зростання writing до 100 не змінює незмінну потужність integration. AI може прискорювати інші етапи; ефект треба перевіряти, а не припускати.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понад 100 тисяч GitHub developers; matched event study, не RCT. Changed LOC = additions + deletions, не чисте зростання кодової бази.</a:t>
            </a:r>
          </a:p>
          <a:p xmlns:a="http://schemas.openxmlformats.org/drawingml/2006/main">
            <a:r>
              <a:t>Table 5, друкована с. 33, тижні 21–30: Autocomplete — LOC +228.2%, commits +35.9%, PRs +11.0%, releases +10.2%. Synchronous agents — LOC +741.3%, commits +109.1%, PRs +65.5%, releases +20.3%. Asynchronous agents — LOC +658.3%, commits +33.6%, PRs +71.8%; releases не оцінено окремо. Figure 1, с. 3: cumulative LOC 17.3×, files 3.9×, commits 2.8×, PRs 2.5×, repos 1.5×, releases 1.3×. Не перемножувати компоненти.</a:t>
            </a:r>
          </a:p>
          <a:p xmlns:a="http://schemas.openxmlformats.org/drawingml/2006/main">
            <a:r>
              <a:t>Figure 12, с. 41; §8.2, с. 42–43: iOS — 30–50 тисяч нових apps/month → близько 100 тисяч у квітні 2026; Android — 42 тисячі у січні 2025 → близько 60 тисяч у середині 2026; Chrome — 5 тисяч у 2023 → близько 13 тисяч у середині 2026. Total cohort usage за перші 3 місяці стабільне або знижується. Частка iOS apps із &lt;10 ratings: 79→86%; Chrome extensions із &lt;10 downloads: 18→31%. SourceForge без прискорення entry, не входить у три usage panels. Це не всі existing apps, не весь software market і не пряме вимірювання consumer welfare. Chrome decline передував agentic era.</a:t>
            </a:r>
          </a:p>
          <a:p xmlns:a="http://schemas.openxmlformats.org/drawingml/2006/main">
            <a:r>
              <a:t>DORA 2025: позитивні associations AI adoption із throughput і product performance, негативні — зі stability; не підставляти коефіцієнти 2024 року.</a:t>
            </a:r>
          </a:p>
          <a:p xmlns:a="http://schemas.openxmlformats.org/drawingml/2006/main">
            <a:r>
              <a:t>METR, травень 2026: 349 technical workers; 1.4–2× median self-reported work value залежно від питання, 3× self-reported speed; є selection bias. Старий RCT 2025 із +19% часу — лише історичний контекст.</a:t>
            </a:r>
          </a:p>
          <a:p xmlns:a="http://schemas.openxmlformats.org/drawingml/2006/main">
            <a:r>
              <a:t>GitClear 2026: refactoring share 13→3.8%, duplication приблизно +81%; observational proxies.</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+34.85/+42.87%, warnings +17.73/+19.00%; зміна IDE-first warnings статистично незначуща. Не трактувати це як борг на одну фічу.</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може допомагати й comprehension. Криві не виміряні, людська спроможність не є незмінною. Comprehension debt — рамка ризику: прийняті зміни випереджають розуміння системи. Complexity, volume, duplication, ownership, architecture comprehension — signals, не прямий вимір боргу.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Умовний сценарій, не case study. Перевірити, хто розуміє інваріанти й залежності, хто може обмежити наслідки, зупинити зміни, відкотити й відновити систему. SDD = spec-driven development. Документація та repository intelligence — гіпотези/інструменти, не доведена універсальна відповідь.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Невідоме не те, чи AI допомагає взагалі. Позитивні результати реальні. Ми ще шукаємо умови стійкої конверсії локальних gains у командну продуктивність. Old equilibrium — спрощення, не заперечення попередньої автоматизації.</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IT-асистента: лише затверджені джерела й доступний цьому користувачу контекст. Можна перефразувати, але не вигадувати кроки чи прибирати approval. Недостатні докази означають уточнення або ескалацію. Заборони реалізуються також поза моделлю. Operating Envelope доповнює повний Requirement, не підміняє його. API, права доступу та детерміновані інваріанти залишаються.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99/100 routine, 39/40 ambiguous, 39/40 missing evidence, 19/20 access/privacy = 196/200 = 98%. Одна помилка — витік чужих даних. Загальний utility gate не перекриває critical boundary. Golden Set потребує покриття сценаріїв; repeated runs не роблять нерепрезентативні дані репрезентативними. Semantic judges калібруємо. Unit, integration і security tests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 scope, заборонені дії, ризики, рубрика, Golden Set, ескалація та decision owner. Done: зафіксована конфігурація model/prompt/retrieval/tools/policy, результати за сегментами, перевірені permissions і rollback. Release: погоджені аудиторія пілота, monitoring та умови зупинки. Класичний engineering також працює з ризиком. PM координує, але не привласнює security/business authority. Delivery release не розширює project authorization.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Архітектура спрощена. Policy gate стоїть перед зовнішньою дією. Evidence саме по собі не control: потрібні reference conditions, уповноважене рішення й ефективний шлях виконання. Runtime не розширює меж вищого рівня. Retry має бюджет. Kill switch має owner і runbook. Монітор має false positives / false negatives. Інцидент після review поповнює Golden Set; автоматичного навчання на приватних даних не припускаємо.</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Функції розширюються, а попередні обов'язки не зникають. PM координує tolerance. QA калібрує вимірювання. Architect визначає дозволений judgment, permissions і containment. Developer відповідає за implementation, ownership, instrumentation та runbooks. Це не вимога нового headcount і не передача всіх рішень PM.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gives us extraordinary leverage. But leverage does not remove engineering responsibility. It moves where engineering rigor has to live. Для HOW: protect comprehension and ownership. Для WHAT: measure, bound and control judgment. Стрілки означають розширення предмета інженерії, не усунення tests або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d437f4808d43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097938103f645ae" /><Relationship Type="http://schemas.openxmlformats.org/officeDocument/2006/relationships/slideLayout" Target="/ppt/slideLayouts/slideLayout1.xml" Id="R6abffc809b6d4a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bffc809b6d4a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8489130424405e" /><Relationship Type="http://schemas.openxmlformats.org/officeDocument/2006/relationships/notesSlide" Target="/ppt/notesSlides/notesSlide1.xml" Id="Rbeec3ed4e47b49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95d85d379e4f9c" /><Relationship Type="http://schemas.openxmlformats.org/officeDocument/2006/relationships/notesSlide" Target="/ppt/notesSlides/notesSlide2.xml" Id="R4464307d715b47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0d2f070c9447f5" /><Relationship Type="http://schemas.openxmlformats.org/officeDocument/2006/relationships/notesSlide" Target="/ppt/notesSlides/notesSlide3.xml" Id="Rfaf14481186849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60bbb0e5bb461c" /><Relationship Type="http://schemas.openxmlformats.org/officeDocument/2006/relationships/notesSlide" Target="/ppt/notesSlides/notesSlide4.xml" Id="Rc69c6673cb5b435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fbbe148a5e496f" /><Relationship Type="http://schemas.openxmlformats.org/officeDocument/2006/relationships/notesSlide" Target="/ppt/notesSlides/notesSlide5.xml" Id="R878cae3e4ed242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975f2dea76f4d05" /><Relationship Type="http://schemas.openxmlformats.org/officeDocument/2006/relationships/notesSlide" Target="/ppt/notesSlides/notesSlide6.xml" Id="Rbe2afac4c3a346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4b598779c944914" /><Relationship Type="http://schemas.openxmlformats.org/officeDocument/2006/relationships/notesSlide" Target="/ppt/notesSlides/notesSlide7.xml" Id="R43a42f42c63449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8fe0b9f538e4d3a" /><Relationship Type="http://schemas.openxmlformats.org/officeDocument/2006/relationships/notesSlide" Target="/ppt/notesSlides/notesSlide8.xml" Id="R661e652adc6e44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f186cb2ba47424a" /><Relationship Type="http://schemas.openxmlformats.org/officeDocument/2006/relationships/notesSlide" Target="/ppt/notesSlides/notesSlide9.xml" Id="Rbd46969327e244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4f56ae2e524d94" /><Relationship Type="http://schemas.openxmlformats.org/officeDocument/2006/relationships/notesSlide" Target="/ppt/notesSlides/notesSlide10.xml" Id="Rd758c08d162e43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3982e76311841f7" /><Relationship Type="http://schemas.openxmlformats.org/officeDocument/2006/relationships/notesSlide" Target="/ppt/notesSlides/notesSlide11.xml" Id="R6c3acb58bc9941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58a0c6af0c64077" /><Relationship Type="http://schemas.openxmlformats.org/officeDocument/2006/relationships/notesSlide" Target="/ppt/notesSlides/notesSlide12.xml" Id="Rd64609a039354f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bbbeec7eb3444eb" /><Relationship Type="http://schemas.openxmlformats.org/officeDocument/2006/relationships/notesSlide" Target="/ppt/notesSlides/notesSlide13.xml" Id="R110f44809df14e2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4084466bf8740ee" /><Relationship Type="http://schemas.openxmlformats.org/officeDocument/2006/relationships/notesSlide" Target="/ppt/notesSlides/notesSlide14.xml" Id="Rd5a4f1b771604274"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D1B201-1ADC-437D-B6A6-FAFB860A0BF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D6F640BA-16BD-433E-9C27-7252EDD3894F}"/>
              </a:ext>
            </a:extLst>
          </p:cNvPr>
          <p:cNvSpPr>
            <a:spLocks xmlns:a="http://schemas.openxmlformats.org/drawingml/2006/main" noGrp="1"/>
          </p:cNvSpPr>
          <p:nvPr/>
        </p:nvSpPr>
        <p:spPr>
          <a:xfrm xmlns:a="http://schemas.openxmlformats.org/drawingml/2006/main">
            <a:off x="609600" y="609600"/>
            <a:ext cx="105727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050" b="1">
                <a:solidFill>
                  <a:srgbClr val="F4F7FA"/>
                </a:solidFill>
                <a:latin typeface="DejaVu Sans"/>
                <a:ea typeface="DejaVu Sans"/>
                <a:cs typeface="DejaVu Sans"/>
              </a:defRPr>
            </a:pPr>
            <a:r>
              <a:rPr sz="4050" b="1">
                <a:solidFill>
                  <a:srgbClr val="F4F7FA"/>
                </a:solidFill>
                <a:latin typeface="DejaVu Sans"/>
                <a:ea typeface="DejaVu Sans"/>
                <a:cs typeface="DejaVu Sans"/>
              </a:rPr>
              <a:t>AI Changes Both Sides</a:t>
            </a:r>
          </a:p>
          <a:p xmlns:a="http://schemas.openxmlformats.org/drawingml/2006/main">
            <a:pPr algn="l">
              <a:defRPr sz="4050" b="1">
                <a:solidFill>
                  <a:srgbClr val="F4F7FA"/>
                </a:solidFill>
                <a:latin typeface="DejaVu Sans"/>
                <a:ea typeface="DejaVu Sans"/>
                <a:cs typeface="DejaVu Sans"/>
              </a:defRPr>
            </a:pPr>
            <a:r>
              <a:rPr sz="40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E03ECDC9-3BD8-4554-BEE3-3A7B43931CC1}"/>
              </a:ext>
            </a:extLst>
          </p:cNvPr>
          <p:cNvSpPr>
            <a:spLocks xmlns:a="http://schemas.openxmlformats.org/drawingml/2006/main" noGrp="1"/>
          </p:cNvSpPr>
          <p:nvPr/>
        </p:nvSpPr>
        <p:spPr>
          <a:xfrm xmlns:a="http://schemas.openxmlformats.org/drawingml/2006/main">
            <a:off x="609600" y="22479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How we build software. And what software is.</a:t>
            </a:r>
          </a:p>
        </p:txBody>
      </p:sp>
      <p:sp>
        <p:nvSpPr>
          <p:cNvPr id="4" name="">
            <a:extLst xmlns:a="http://schemas.openxmlformats.org/drawingml/2006/main">
              <a:ext uri="{FF2B5EF4-FFF2-40B4-BE49-F238E27FC236}">
                <a16:creationId xmlns:a16="http://schemas.microsoft.com/office/drawing/2014/main" id="{4A7E5DF4-1D1C-4B62-AFDD-D0E6AB570093}"/>
              </a:ext>
            </a:extLst>
          </p:cNvPr>
          <p:cNvSpPr>
            <a:spLocks xmlns:a="http://schemas.openxmlformats.org/drawingml/2006/main" noGrp="1"/>
          </p:cNvSpPr>
          <p:nvPr/>
        </p:nvSpPr>
        <p:spPr>
          <a:xfrm xmlns:a="http://schemas.openxmlformats.org/drawingml/2006/main">
            <a:off x="609600" y="333375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28C7F7"/>
                </a:solidFill>
                <a:latin typeface="DejaVu Sans"/>
                <a:ea typeface="DejaVu Sans"/>
                <a:cs typeface="DejaVu Sans"/>
              </a:defRPr>
            </a:pPr>
            <a:r>
              <a:rPr sz="1950"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00793873-32B4-4EFF-BD8D-8C0FB96279F4}"/>
              </a:ext>
            </a:extLst>
          </p:cNvPr>
          <p:cNvSpPr>
            <a:spLocks xmlns:a="http://schemas.openxmlformats.org/drawingml/2006/main" noGrp="1"/>
          </p:cNvSpPr>
          <p:nvPr/>
        </p:nvSpPr>
        <p:spPr>
          <a:xfrm xmlns:a="http://schemas.openxmlformats.org/drawingml/2006/main">
            <a:off x="3886200" y="3429000"/>
            <a:ext cx="914400" cy="190500"/>
          </a:xfrm>
          <a:prstGeom xmlns:a="http://schemas.openxmlformats.org/drawingml/2006/main" prst="rightArrow">
            <a:avLst/>
          </a:prstGeom>
          <a:solidFill xmlns:a="http://schemas.openxmlformats.org/drawingml/2006/main">
            <a:srgbClr val="28C7F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69C8FE-ABA0-47AC-8A49-6E49E55D5B74}"/>
              </a:ext>
            </a:extLst>
          </p:cNvPr>
          <p:cNvSpPr>
            <a:spLocks xmlns:a="http://schemas.openxmlformats.org/drawingml/2006/main" noGrp="1"/>
          </p:cNvSpPr>
          <p:nvPr/>
        </p:nvSpPr>
        <p:spPr>
          <a:xfrm xmlns:a="http://schemas.openxmlformats.org/drawingml/2006/main">
            <a:off x="5181600" y="329565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AI-assisted engineering</a:t>
            </a:r>
          </a:p>
        </p:txBody>
      </p:sp>
      <p:sp>
        <p:nvSpPr>
          <p:cNvPr id="7" name="">
            <a:extLst xmlns:a="http://schemas.openxmlformats.org/drawingml/2006/main">
              <a:ext uri="{FF2B5EF4-FFF2-40B4-BE49-F238E27FC236}">
                <a16:creationId xmlns:a16="http://schemas.microsoft.com/office/drawing/2014/main" id="{9B2D9C08-F244-4D77-BD7B-F864371FCE61}"/>
              </a:ext>
            </a:extLst>
          </p:cNvPr>
          <p:cNvSpPr>
            <a:spLocks xmlns:a="http://schemas.openxmlformats.org/drawingml/2006/main" noGrp="1"/>
          </p:cNvSpPr>
          <p:nvPr/>
        </p:nvSpPr>
        <p:spPr>
          <a:xfrm xmlns:a="http://schemas.openxmlformats.org/drawingml/2006/main">
            <a:off x="609600" y="441960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5B61C"/>
                </a:solidFill>
                <a:latin typeface="DejaVu Sans"/>
                <a:ea typeface="DejaVu Sans"/>
                <a:cs typeface="DejaVu Sans"/>
              </a:defRPr>
            </a:pPr>
            <a:r>
              <a:rPr sz="1950" b="1">
                <a:solidFill>
                  <a:srgbClr val="F5B61C"/>
                </a:solidFill>
                <a:latin typeface="DejaVu Sans"/>
                <a:ea typeface="DejaVu Sans"/>
                <a:cs typeface="DejaVu Sans"/>
              </a:rPr>
              <a:t>WHAT WE BUILD</a:t>
            </a:r>
          </a:p>
        </p:txBody>
      </p:sp>
      <p:sp>
        <p:nvSpPr>
          <p:cNvPr id="8" name="">
            <a:extLst xmlns:a="http://schemas.openxmlformats.org/drawingml/2006/main">
              <a:ext uri="{FF2B5EF4-FFF2-40B4-BE49-F238E27FC236}">
                <a16:creationId xmlns:a16="http://schemas.microsoft.com/office/drawing/2014/main" id="{8AB0D5C8-4486-444E-B47D-A7790F021F28}"/>
              </a:ext>
            </a:extLst>
          </p:cNvPr>
          <p:cNvSpPr>
            <a:spLocks xmlns:a="http://schemas.openxmlformats.org/drawingml/2006/main" noGrp="1"/>
          </p:cNvSpPr>
          <p:nvPr/>
        </p:nvSpPr>
        <p:spPr>
          <a:xfrm xmlns:a="http://schemas.openxmlformats.org/drawingml/2006/main">
            <a:off x="3886200" y="4514850"/>
            <a:ext cx="914400" cy="190500"/>
          </a:xfrm>
          <a:prstGeom xmlns:a="http://schemas.openxmlformats.org/drawingml/2006/main" prst="rightArrow">
            <a:avLst/>
          </a:prstGeom>
          <a:solidFill xmlns:a="http://schemas.openxmlformats.org/drawingml/2006/main">
            <a:srgbClr val="F5B61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3B51C3-887C-4FFA-97D6-3DEDB47020EE}"/>
              </a:ext>
            </a:extLst>
          </p:cNvPr>
          <p:cNvSpPr>
            <a:spLocks xmlns:a="http://schemas.openxmlformats.org/drawingml/2006/main" noGrp="1"/>
          </p:cNvSpPr>
          <p:nvPr/>
        </p:nvSpPr>
        <p:spPr>
          <a:xfrm xmlns:a="http://schemas.openxmlformats.org/drawingml/2006/main">
            <a:off x="5181600" y="438150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Thinking Systems</a:t>
            </a:r>
          </a:p>
        </p:txBody>
      </p:sp>
      <p:sp>
        <p:nvSpPr>
          <p:cNvPr id="10" name="">
            <a:extLst xmlns:a="http://schemas.openxmlformats.org/drawingml/2006/main">
              <a:ext uri="{FF2B5EF4-FFF2-40B4-BE49-F238E27FC236}">
                <a16:creationId xmlns:a16="http://schemas.microsoft.com/office/drawing/2014/main" id="{5D3B0FC3-E4ED-4C50-9ABF-95857E0EBF94}"/>
              </a:ext>
            </a:extLst>
          </p:cNvPr>
          <p:cNvSpPr>
            <a:spLocks xmlns:a="http://schemas.openxmlformats.org/drawingml/2006/main" noGrp="1"/>
          </p:cNvSpPr>
          <p:nvPr/>
        </p:nvSpPr>
        <p:spPr>
          <a:xfrm xmlns:a="http://schemas.openxmlformats.org/drawingml/2006/main">
            <a:off x="609600" y="56673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They are related. They are not the same.</a:t>
            </a:r>
          </a:p>
        </p:txBody>
      </p:sp>
      <p:sp>
        <p:nvSpPr>
          <p:cNvPr id="11" name="">
            <a:extLst xmlns:a="http://schemas.openxmlformats.org/drawingml/2006/main">
              <a:ext uri="{FF2B5EF4-FFF2-40B4-BE49-F238E27FC236}">
                <a16:creationId xmlns:a16="http://schemas.microsoft.com/office/drawing/2014/main" id="{97E2EA93-706A-4F8B-ADAC-3FC0B604F204}"/>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1346493126"/>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F9A673-4253-455A-BDCB-EB7183FD389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CCD3867C-2E98-412F-9F2B-A130AAC1A52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82E618B-52EE-4D81-A332-5A943675901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8A4DF935-1132-49CA-BF23-99C2FFD05531}"/>
              </a:ext>
            </a:extLst>
          </p:cNvPr>
          <p:cNvSpPr>
            <a:spLocks xmlns:a="http://schemas.openxmlformats.org/drawingml/2006/main" noGrp="1"/>
          </p:cNvSpPr>
          <p:nvPr/>
        </p:nvSpPr>
        <p:spPr>
          <a:xfrm xmlns:a="http://schemas.openxmlformats.org/drawingml/2006/main">
            <a:off x="609600" y="211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28C7F7"/>
                </a:solidFill>
                <a:latin typeface="DejaVu Sans"/>
                <a:ea typeface="DejaVu Sans"/>
                <a:cs typeface="DejaVu Sans"/>
              </a:defRPr>
            </a:pPr>
            <a:r>
              <a:rPr sz="1800" b="0">
                <a:solidFill>
                  <a:srgbClr val="28C7F7"/>
                </a:solidFill>
                <a:latin typeface="DejaVu Sans"/>
                <a:ea typeface="DejaVu Sans"/>
                <a:cs typeface="DejaVu Sans"/>
              </a:rPr>
              <a:t>01</a:t>
            </a:r>
          </a:p>
        </p:txBody>
      </p:sp>
      <p:sp>
        <p:nvSpPr>
          <p:cNvPr id="5" name="">
            <a:extLst xmlns:a="http://schemas.openxmlformats.org/drawingml/2006/main">
              <a:ext uri="{FF2B5EF4-FFF2-40B4-BE49-F238E27FC236}">
                <a16:creationId xmlns:a16="http://schemas.microsoft.com/office/drawing/2014/main" id="{0E09D044-97E2-4C03-A187-F181AAE1EB96}"/>
              </a:ext>
            </a:extLst>
          </p:cNvPr>
          <p:cNvSpPr>
            <a:spLocks xmlns:a="http://schemas.openxmlformats.org/drawingml/2006/main" noGrp="1"/>
          </p:cNvSpPr>
          <p:nvPr/>
        </p:nvSpPr>
        <p:spPr>
          <a:xfrm xmlns:a="http://schemas.openxmlformats.org/drawingml/2006/main" flipH="0" flipV="0">
            <a:off x="609600" y="2667000"/>
            <a:ext cx="3333750" cy="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6" name="">
            <a:extLst xmlns:a="http://schemas.openxmlformats.org/drawingml/2006/main">
              <a:ext uri="{FF2B5EF4-FFF2-40B4-BE49-F238E27FC236}">
                <a16:creationId xmlns:a16="http://schemas.microsoft.com/office/drawing/2014/main" id="{C61D72EE-51EA-4708-90E9-AA0DDFB140FF}"/>
              </a:ext>
            </a:extLst>
          </p:cNvPr>
          <p:cNvSpPr>
            <a:spLocks xmlns:a="http://schemas.openxmlformats.org/drawingml/2006/main" noGrp="1"/>
          </p:cNvSpPr>
          <p:nvPr/>
        </p:nvSpPr>
        <p:spPr>
          <a:xfrm xmlns:a="http://schemas.openxmlformats.org/drawingml/2006/main">
            <a:off x="609600" y="29527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Writing</a:t>
            </a:r>
          </a:p>
        </p:txBody>
      </p:sp>
      <p:sp>
        <p:nvSpPr>
          <p:cNvPr id="7" name="">
            <a:extLst xmlns:a="http://schemas.openxmlformats.org/drawingml/2006/main">
              <a:ext uri="{FF2B5EF4-FFF2-40B4-BE49-F238E27FC236}">
                <a16:creationId xmlns:a16="http://schemas.microsoft.com/office/drawing/2014/main" id="{BA2AA542-15BA-406C-95AE-92CB806BC5C4}"/>
              </a:ext>
            </a:extLst>
          </p:cNvPr>
          <p:cNvSpPr>
            <a:spLocks xmlns:a="http://schemas.openxmlformats.org/drawingml/2006/main" noGrp="1"/>
          </p:cNvSpPr>
          <p:nvPr/>
        </p:nvSpPr>
        <p:spPr>
          <a:xfrm xmlns:a="http://schemas.openxmlformats.org/drawingml/2006/main">
            <a:off x="609600" y="36576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Externalized</a:t>
            </a:r>
          </a:p>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Memory</a:t>
            </a:r>
          </a:p>
        </p:txBody>
      </p:sp>
      <p:sp>
        <p:nvSpPr>
          <p:cNvPr id="8" name="">
            <a:extLst xmlns:a="http://schemas.openxmlformats.org/drawingml/2006/main">
              <a:ext uri="{FF2B5EF4-FFF2-40B4-BE49-F238E27FC236}">
                <a16:creationId xmlns:a16="http://schemas.microsoft.com/office/drawing/2014/main" id="{04512CC0-E45F-4625-905E-34FFDB78BEDD}"/>
              </a:ext>
            </a:extLst>
          </p:cNvPr>
          <p:cNvSpPr>
            <a:spLocks xmlns:a="http://schemas.openxmlformats.org/drawingml/2006/main" noGrp="1"/>
          </p:cNvSpPr>
          <p:nvPr/>
        </p:nvSpPr>
        <p:spPr>
          <a:xfrm xmlns:a="http://schemas.openxmlformats.org/drawingml/2006/main">
            <a:off x="4419600" y="211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28C7F7"/>
                </a:solidFill>
                <a:latin typeface="DejaVu Sans"/>
                <a:ea typeface="DejaVu Sans"/>
                <a:cs typeface="DejaVu Sans"/>
              </a:defRPr>
            </a:pPr>
            <a:r>
              <a:rPr sz="1800" b="0">
                <a:solidFill>
                  <a:srgbClr val="28C7F7"/>
                </a:solidFill>
                <a:latin typeface="DejaVu Sans"/>
                <a:ea typeface="DejaVu Sans"/>
                <a:cs typeface="DejaVu Sans"/>
              </a:rPr>
              <a:t>02</a:t>
            </a:r>
          </a:p>
        </p:txBody>
      </p:sp>
      <p:sp>
        <p:nvSpPr>
          <p:cNvPr id="9" name="">
            <a:extLst xmlns:a="http://schemas.openxmlformats.org/drawingml/2006/main">
              <a:ext uri="{FF2B5EF4-FFF2-40B4-BE49-F238E27FC236}">
                <a16:creationId xmlns:a16="http://schemas.microsoft.com/office/drawing/2014/main" id="{03D1C664-FC29-476C-B2B5-5D07D53BB64A}"/>
              </a:ext>
            </a:extLst>
          </p:cNvPr>
          <p:cNvSpPr>
            <a:spLocks xmlns:a="http://schemas.openxmlformats.org/drawingml/2006/main" noGrp="1"/>
          </p:cNvSpPr>
          <p:nvPr/>
        </p:nvSpPr>
        <p:spPr>
          <a:xfrm xmlns:a="http://schemas.openxmlformats.org/drawingml/2006/main" flipH="0" flipV="0">
            <a:off x="4419600" y="2667000"/>
            <a:ext cx="3333750" cy="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0" name="">
            <a:extLst xmlns:a="http://schemas.openxmlformats.org/drawingml/2006/main">
              <a:ext uri="{FF2B5EF4-FFF2-40B4-BE49-F238E27FC236}">
                <a16:creationId xmlns:a16="http://schemas.microsoft.com/office/drawing/2014/main" id="{DEB46D3F-34E4-43E1-9006-AC879BC3F91A}"/>
              </a:ext>
            </a:extLst>
          </p:cNvPr>
          <p:cNvSpPr>
            <a:spLocks xmlns:a="http://schemas.openxmlformats.org/drawingml/2006/main" noGrp="1"/>
          </p:cNvSpPr>
          <p:nvPr/>
        </p:nvSpPr>
        <p:spPr>
          <a:xfrm xmlns:a="http://schemas.openxmlformats.org/drawingml/2006/main">
            <a:off x="4419600" y="29527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Computers</a:t>
            </a:r>
          </a:p>
        </p:txBody>
      </p:sp>
      <p:sp>
        <p:nvSpPr>
          <p:cNvPr id="11" name="">
            <a:extLst xmlns:a="http://schemas.openxmlformats.org/drawingml/2006/main">
              <a:ext uri="{FF2B5EF4-FFF2-40B4-BE49-F238E27FC236}">
                <a16:creationId xmlns:a16="http://schemas.microsoft.com/office/drawing/2014/main" id="{F6A0CB60-B96D-4469-BD7B-566159D4DBF5}"/>
              </a:ext>
            </a:extLst>
          </p:cNvPr>
          <p:cNvSpPr>
            <a:spLocks xmlns:a="http://schemas.openxmlformats.org/drawingml/2006/main" noGrp="1"/>
          </p:cNvSpPr>
          <p:nvPr/>
        </p:nvSpPr>
        <p:spPr>
          <a:xfrm xmlns:a="http://schemas.openxmlformats.org/drawingml/2006/main">
            <a:off x="4419600" y="36576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Externalized</a:t>
            </a:r>
          </a:p>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Calculation</a:t>
            </a:r>
          </a:p>
        </p:txBody>
      </p:sp>
      <p:sp>
        <p:nvSpPr>
          <p:cNvPr id="12" name="">
            <a:extLst xmlns:a="http://schemas.openxmlformats.org/drawingml/2006/main">
              <a:ext uri="{FF2B5EF4-FFF2-40B4-BE49-F238E27FC236}">
                <a16:creationId xmlns:a16="http://schemas.microsoft.com/office/drawing/2014/main" id="{9EE5F2A4-FC91-4A70-A1D7-D067408EFAC0}"/>
              </a:ext>
            </a:extLst>
          </p:cNvPr>
          <p:cNvSpPr>
            <a:spLocks xmlns:a="http://schemas.openxmlformats.org/drawingml/2006/main" noGrp="1"/>
          </p:cNvSpPr>
          <p:nvPr/>
        </p:nvSpPr>
        <p:spPr>
          <a:xfrm xmlns:a="http://schemas.openxmlformats.org/drawingml/2006/main">
            <a:off x="8229600" y="211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5B61C"/>
                </a:solidFill>
                <a:latin typeface="DejaVu Sans"/>
                <a:ea typeface="DejaVu Sans"/>
                <a:cs typeface="DejaVu Sans"/>
              </a:defRPr>
            </a:pPr>
            <a:r>
              <a:rPr sz="1800" b="0">
                <a:solidFill>
                  <a:srgbClr val="F5B61C"/>
                </a:solidFill>
                <a:latin typeface="DejaVu Sans"/>
                <a:ea typeface="DejaVu Sans"/>
                <a:cs typeface="DejaVu Sans"/>
              </a:rPr>
              <a:t>03</a:t>
            </a:r>
          </a:p>
        </p:txBody>
      </p:sp>
      <p:sp>
        <p:nvSpPr>
          <p:cNvPr id="13" name="">
            <a:extLst xmlns:a="http://schemas.openxmlformats.org/drawingml/2006/main">
              <a:ext uri="{FF2B5EF4-FFF2-40B4-BE49-F238E27FC236}">
                <a16:creationId xmlns:a16="http://schemas.microsoft.com/office/drawing/2014/main" id="{C468B971-C876-42C1-8590-1F2412583BE7}"/>
              </a:ext>
            </a:extLst>
          </p:cNvPr>
          <p:cNvSpPr>
            <a:spLocks xmlns:a="http://schemas.openxmlformats.org/drawingml/2006/main" noGrp="1"/>
          </p:cNvSpPr>
          <p:nvPr/>
        </p:nvSpPr>
        <p:spPr>
          <a:xfrm xmlns:a="http://schemas.openxmlformats.org/drawingml/2006/main" flipH="0" flipV="0">
            <a:off x="8229600" y="2667000"/>
            <a:ext cx="3333750" cy="0"/>
          </a:xfrm>
          <a:prstGeom xmlns:a="http://schemas.openxmlformats.org/drawingml/2006/main" prst="line">
            <a:avLst/>
          </a:prstGeom>
          <a:noFill xmlns:a="http://schemas.openxmlformats.org/drawingml/2006/main"/>
          <a:ln xmlns:a="http://schemas.openxmlformats.org/drawingml/2006/main" w="28575">
            <a:solidFill>
              <a:srgbClr val="F5B61C"/>
            </a:solidFill>
            <a:prstDash val="solid"/>
          </a:ln>
        </p:spPr>
      </p:sp>
      <p:sp>
        <p:nvSpPr>
          <p:cNvPr id="14" name="">
            <a:extLst xmlns:a="http://schemas.openxmlformats.org/drawingml/2006/main">
              <a:ext uri="{FF2B5EF4-FFF2-40B4-BE49-F238E27FC236}">
                <a16:creationId xmlns:a16="http://schemas.microsoft.com/office/drawing/2014/main" id="{1A4598BF-BF75-43E7-9535-E739498CB6FF}"/>
              </a:ext>
            </a:extLst>
          </p:cNvPr>
          <p:cNvSpPr>
            <a:spLocks xmlns:a="http://schemas.openxmlformats.org/drawingml/2006/main" noGrp="1"/>
          </p:cNvSpPr>
          <p:nvPr/>
        </p:nvSpPr>
        <p:spPr>
          <a:xfrm xmlns:a="http://schemas.openxmlformats.org/drawingml/2006/main">
            <a:off x="8229600" y="29527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Large Models</a:t>
            </a:r>
          </a:p>
        </p:txBody>
      </p:sp>
      <p:sp>
        <p:nvSpPr>
          <p:cNvPr id="15" name="">
            <a:extLst xmlns:a="http://schemas.openxmlformats.org/drawingml/2006/main">
              <a:ext uri="{FF2B5EF4-FFF2-40B4-BE49-F238E27FC236}">
                <a16:creationId xmlns:a16="http://schemas.microsoft.com/office/drawing/2014/main" id="{9EAAB9D9-357F-4D21-909C-6C152877B3BA}"/>
              </a:ext>
            </a:extLst>
          </p:cNvPr>
          <p:cNvSpPr>
            <a:spLocks xmlns:a="http://schemas.openxmlformats.org/drawingml/2006/main" noGrp="1"/>
          </p:cNvSpPr>
          <p:nvPr/>
        </p:nvSpPr>
        <p:spPr>
          <a:xfrm xmlns:a="http://schemas.openxmlformats.org/drawingml/2006/main">
            <a:off x="8229600" y="36576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5B61C"/>
                </a:solidFill>
                <a:latin typeface="DejaVu Sans"/>
                <a:ea typeface="DejaVu Sans"/>
                <a:cs typeface="DejaVu Sans"/>
              </a:defRPr>
            </a:pPr>
            <a:r>
              <a:rPr sz="2175" b="0">
                <a:solidFill>
                  <a:srgbClr val="F5B61C"/>
                </a:solidFill>
                <a:latin typeface="DejaVu Sans"/>
                <a:ea typeface="DejaVu Sans"/>
                <a:cs typeface="DejaVu Sans"/>
              </a:rPr>
              <a:t>Externalized</a:t>
            </a:r>
          </a:p>
          <a:p xmlns:a="http://schemas.openxmlformats.org/drawingml/2006/main">
            <a:pPr algn="l">
              <a:defRPr sz="2175" b="0">
                <a:solidFill>
                  <a:srgbClr val="F5B61C"/>
                </a:solidFill>
                <a:latin typeface="DejaVu Sans"/>
                <a:ea typeface="DejaVu Sans"/>
                <a:cs typeface="DejaVu Sans"/>
              </a:defRPr>
            </a:pPr>
            <a:r>
              <a:rPr sz="2175" b="0">
                <a:solidFill>
                  <a:srgbClr val="F5B61C"/>
                </a:solidFill>
                <a:latin typeface="DejaVu Sans"/>
                <a:ea typeface="DejaVu Sans"/>
                <a:cs typeface="DejaVu Sans"/>
              </a:rPr>
              <a:t>Cognition</a:t>
            </a:r>
          </a:p>
        </p:txBody>
      </p:sp>
      <p:sp>
        <p:nvSpPr>
          <p:cNvPr id="16" name="">
            <a:extLst xmlns:a="http://schemas.openxmlformats.org/drawingml/2006/main">
              <a:ext uri="{FF2B5EF4-FFF2-40B4-BE49-F238E27FC236}">
                <a16:creationId xmlns:a16="http://schemas.microsoft.com/office/drawing/2014/main" id="{D3C9CAF7-68F7-4801-A15E-C405E0B33A48}"/>
              </a:ext>
            </a:extLst>
          </p:cNvPr>
          <p:cNvSpPr>
            <a:spLocks xmlns:a="http://schemas.openxmlformats.org/drawingml/2006/main" noGrp="1"/>
          </p:cNvSpPr>
          <p:nvPr/>
        </p:nvSpPr>
        <p:spPr>
          <a:xfrm xmlns:a="http://schemas.openxmlformats.org/drawingml/2006/main">
            <a:off x="609600" y="51244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No assumption of will, consciousness or human-like understanding is required.</a:t>
            </a:r>
          </a:p>
        </p:txBody>
      </p:sp>
      <p:sp>
        <p:nvSpPr>
          <p:cNvPr id="17" name="">
            <a:extLst xmlns:a="http://schemas.openxmlformats.org/drawingml/2006/main">
              <a:ext uri="{FF2B5EF4-FFF2-40B4-BE49-F238E27FC236}">
                <a16:creationId xmlns:a16="http://schemas.microsoft.com/office/drawing/2014/main" id="{DF88957D-939A-4A36-8C56-847414E4CF0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CD236F92-9F27-46C2-B2E4-A55C454373F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36348072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9352FEA-FC77-4EE9-AF95-7EF275DCCC5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DBBA6DAF-F916-4511-A515-B68A7456E14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BB678AC-295F-406D-9B42-64A4528BF31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C63BF1ED-8D29-4480-9324-04C6299231E0}"/>
              </a:ext>
            </a:extLst>
          </p:cNvPr>
          <p:cNvSpPr>
            <a:spLocks xmlns:a="http://schemas.openxmlformats.org/drawingml/2006/main" noGrp="1"/>
          </p:cNvSpPr>
          <p:nvPr/>
        </p:nvSpPr>
        <p:spPr>
          <a:xfrm xmlns:a="http://schemas.openxmlformats.org/drawingml/2006/main">
            <a:off x="60960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5" name="">
            <a:extLst xmlns:a="http://schemas.openxmlformats.org/drawingml/2006/main">
              <a:ext uri="{FF2B5EF4-FFF2-40B4-BE49-F238E27FC236}">
                <a16:creationId xmlns:a16="http://schemas.microsoft.com/office/drawing/2014/main" id="{75552113-9F53-4274-A83F-16CF5BDF811D}"/>
              </a:ext>
            </a:extLst>
          </p:cNvPr>
          <p:cNvSpPr>
            <a:spLocks xmlns:a="http://schemas.openxmlformats.org/drawingml/2006/main" noGrp="1"/>
          </p:cNvSpPr>
          <p:nvPr/>
        </p:nvSpPr>
        <p:spPr>
          <a:xfrm xmlns:a="http://schemas.openxmlformats.org/drawingml/2006/main">
            <a:off x="72390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64F96272-56B9-4014-8FD3-046C5C69316F}"/>
              </a:ext>
            </a:extLst>
          </p:cNvPr>
          <p:cNvSpPr>
            <a:spLocks xmlns:a="http://schemas.openxmlformats.org/drawingml/2006/main" noGrp="1"/>
          </p:cNvSpPr>
          <p:nvPr/>
        </p:nvSpPr>
        <p:spPr>
          <a:xfrm xmlns:a="http://schemas.openxmlformats.org/drawingml/2006/main">
            <a:off x="199072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7" name="">
            <a:extLst xmlns:a="http://schemas.openxmlformats.org/drawingml/2006/main">
              <a:ext uri="{FF2B5EF4-FFF2-40B4-BE49-F238E27FC236}">
                <a16:creationId xmlns:a16="http://schemas.microsoft.com/office/drawing/2014/main" id="{106D2023-6C5E-49E1-B6ED-795502FC7939}"/>
              </a:ext>
            </a:extLst>
          </p:cNvPr>
          <p:cNvSpPr>
            <a:spLocks xmlns:a="http://schemas.openxmlformats.org/drawingml/2006/main" noGrp="1"/>
          </p:cNvSpPr>
          <p:nvPr/>
        </p:nvSpPr>
        <p:spPr>
          <a:xfrm xmlns:a="http://schemas.openxmlformats.org/drawingml/2006/main">
            <a:off x="210502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Design</a:t>
            </a:r>
          </a:p>
        </p:txBody>
      </p:sp>
      <p:sp>
        <p:nvSpPr>
          <p:cNvPr id="8" name="">
            <a:extLst xmlns:a="http://schemas.openxmlformats.org/drawingml/2006/main">
              <a:ext uri="{FF2B5EF4-FFF2-40B4-BE49-F238E27FC236}">
                <a16:creationId xmlns:a16="http://schemas.microsoft.com/office/drawing/2014/main" id="{E39B738C-3513-4E64-8A48-008B87072D64}"/>
              </a:ext>
            </a:extLst>
          </p:cNvPr>
          <p:cNvSpPr>
            <a:spLocks xmlns:a="http://schemas.openxmlformats.org/drawingml/2006/main" noGrp="1"/>
          </p:cNvSpPr>
          <p:nvPr/>
        </p:nvSpPr>
        <p:spPr>
          <a:xfrm xmlns:a="http://schemas.openxmlformats.org/drawingml/2006/main">
            <a:off x="337185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430E7A16-4996-4BD1-9AF8-A5142EFF63E2}"/>
              </a:ext>
            </a:extLst>
          </p:cNvPr>
          <p:cNvSpPr>
            <a:spLocks xmlns:a="http://schemas.openxmlformats.org/drawingml/2006/main" noGrp="1"/>
          </p:cNvSpPr>
          <p:nvPr/>
        </p:nvSpPr>
        <p:spPr>
          <a:xfrm xmlns:a="http://schemas.openxmlformats.org/drawingml/2006/main">
            <a:off x="348615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Code</a:t>
            </a:r>
          </a:p>
        </p:txBody>
      </p:sp>
      <p:sp>
        <p:nvSpPr>
          <p:cNvPr id="10" name="">
            <a:extLst xmlns:a="http://schemas.openxmlformats.org/drawingml/2006/main">
              <a:ext uri="{FF2B5EF4-FFF2-40B4-BE49-F238E27FC236}">
                <a16:creationId xmlns:a16="http://schemas.microsoft.com/office/drawing/2014/main" id="{E6E9DEFC-8472-47EC-BFB0-59AD62CBF822}"/>
              </a:ext>
            </a:extLst>
          </p:cNvPr>
          <p:cNvSpPr>
            <a:spLocks xmlns:a="http://schemas.openxmlformats.org/drawingml/2006/main" noGrp="1"/>
          </p:cNvSpPr>
          <p:nvPr/>
        </p:nvSpPr>
        <p:spPr>
          <a:xfrm xmlns:a="http://schemas.openxmlformats.org/drawingml/2006/main">
            <a:off x="475297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086DD73A-658A-4A51-988F-894716513E9D}"/>
              </a:ext>
            </a:extLst>
          </p:cNvPr>
          <p:cNvSpPr>
            <a:spLocks xmlns:a="http://schemas.openxmlformats.org/drawingml/2006/main" noGrp="1"/>
          </p:cNvSpPr>
          <p:nvPr/>
        </p:nvSpPr>
        <p:spPr>
          <a:xfrm xmlns:a="http://schemas.openxmlformats.org/drawingml/2006/main">
            <a:off x="486727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Review</a:t>
            </a:r>
          </a:p>
        </p:txBody>
      </p:sp>
      <p:sp>
        <p:nvSpPr>
          <p:cNvPr id="12" name="">
            <a:extLst xmlns:a="http://schemas.openxmlformats.org/drawingml/2006/main">
              <a:ext uri="{FF2B5EF4-FFF2-40B4-BE49-F238E27FC236}">
                <a16:creationId xmlns:a16="http://schemas.microsoft.com/office/drawing/2014/main" id="{7C91CADB-0819-4913-8B30-B1B500129A39}"/>
              </a:ext>
            </a:extLst>
          </p:cNvPr>
          <p:cNvSpPr>
            <a:spLocks xmlns:a="http://schemas.openxmlformats.org/drawingml/2006/main" noGrp="1"/>
          </p:cNvSpPr>
          <p:nvPr/>
        </p:nvSpPr>
        <p:spPr>
          <a:xfrm xmlns:a="http://schemas.openxmlformats.org/drawingml/2006/main">
            <a:off x="613410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F71DF474-8742-42C6-8474-D69D42F3C45B}"/>
              </a:ext>
            </a:extLst>
          </p:cNvPr>
          <p:cNvSpPr>
            <a:spLocks xmlns:a="http://schemas.openxmlformats.org/drawingml/2006/main" noGrp="1"/>
          </p:cNvSpPr>
          <p:nvPr/>
        </p:nvSpPr>
        <p:spPr>
          <a:xfrm xmlns:a="http://schemas.openxmlformats.org/drawingml/2006/main">
            <a:off x="624840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Test</a:t>
            </a:r>
          </a:p>
        </p:txBody>
      </p:sp>
      <p:sp>
        <p:nvSpPr>
          <p:cNvPr id="14" name="">
            <a:extLst xmlns:a="http://schemas.openxmlformats.org/drawingml/2006/main">
              <a:ext uri="{FF2B5EF4-FFF2-40B4-BE49-F238E27FC236}">
                <a16:creationId xmlns:a16="http://schemas.microsoft.com/office/drawing/2014/main" id="{3C54140C-CE85-49B5-82A2-E7B83710DEFB}"/>
              </a:ext>
            </a:extLst>
          </p:cNvPr>
          <p:cNvSpPr>
            <a:spLocks xmlns:a="http://schemas.openxmlformats.org/drawingml/2006/main" noGrp="1"/>
          </p:cNvSpPr>
          <p:nvPr/>
        </p:nvSpPr>
        <p:spPr>
          <a:xfrm xmlns:a="http://schemas.openxmlformats.org/drawingml/2006/main">
            <a:off x="751522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5" name="">
            <a:extLst xmlns:a="http://schemas.openxmlformats.org/drawingml/2006/main">
              <a:ext uri="{FF2B5EF4-FFF2-40B4-BE49-F238E27FC236}">
                <a16:creationId xmlns:a16="http://schemas.microsoft.com/office/drawing/2014/main" id="{509A6C16-2DF4-49E0-8273-433032E79366}"/>
              </a:ext>
            </a:extLst>
          </p:cNvPr>
          <p:cNvSpPr>
            <a:spLocks xmlns:a="http://schemas.openxmlformats.org/drawingml/2006/main" noGrp="1"/>
          </p:cNvSpPr>
          <p:nvPr/>
        </p:nvSpPr>
        <p:spPr>
          <a:xfrm xmlns:a="http://schemas.openxmlformats.org/drawingml/2006/main">
            <a:off x="762952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Integrate</a:t>
            </a:r>
          </a:p>
        </p:txBody>
      </p:sp>
      <p:sp>
        <p:nvSpPr>
          <p:cNvPr id="16" name="">
            <a:extLst xmlns:a="http://schemas.openxmlformats.org/drawingml/2006/main">
              <a:ext uri="{FF2B5EF4-FFF2-40B4-BE49-F238E27FC236}">
                <a16:creationId xmlns:a16="http://schemas.microsoft.com/office/drawing/2014/main" id="{508561C4-A31C-4D4E-99D6-3FB093C4874E}"/>
              </a:ext>
            </a:extLst>
          </p:cNvPr>
          <p:cNvSpPr>
            <a:spLocks xmlns:a="http://schemas.openxmlformats.org/drawingml/2006/main" noGrp="1"/>
          </p:cNvSpPr>
          <p:nvPr/>
        </p:nvSpPr>
        <p:spPr>
          <a:xfrm xmlns:a="http://schemas.openxmlformats.org/drawingml/2006/main">
            <a:off x="889635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7" name="">
            <a:extLst xmlns:a="http://schemas.openxmlformats.org/drawingml/2006/main">
              <a:ext uri="{FF2B5EF4-FFF2-40B4-BE49-F238E27FC236}">
                <a16:creationId xmlns:a16="http://schemas.microsoft.com/office/drawing/2014/main" id="{DDC1D5E4-B2AE-497C-9B8D-4D54C9177316}"/>
              </a:ext>
            </a:extLst>
          </p:cNvPr>
          <p:cNvSpPr>
            <a:spLocks xmlns:a="http://schemas.openxmlformats.org/drawingml/2006/main" noGrp="1"/>
          </p:cNvSpPr>
          <p:nvPr/>
        </p:nvSpPr>
        <p:spPr>
          <a:xfrm xmlns:a="http://schemas.openxmlformats.org/drawingml/2006/main">
            <a:off x="901065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Deploy</a:t>
            </a:r>
          </a:p>
        </p:txBody>
      </p:sp>
      <p:sp>
        <p:nvSpPr>
          <p:cNvPr id="18" name="">
            <a:extLst xmlns:a="http://schemas.openxmlformats.org/drawingml/2006/main">
              <a:ext uri="{FF2B5EF4-FFF2-40B4-BE49-F238E27FC236}">
                <a16:creationId xmlns:a16="http://schemas.microsoft.com/office/drawing/2014/main" id="{5085CE94-DF86-447B-BFDE-B2D12121EAFE}"/>
              </a:ext>
            </a:extLst>
          </p:cNvPr>
          <p:cNvSpPr>
            <a:spLocks xmlns:a="http://schemas.openxmlformats.org/drawingml/2006/main" noGrp="1"/>
          </p:cNvSpPr>
          <p:nvPr/>
        </p:nvSpPr>
        <p:spPr>
          <a:xfrm xmlns:a="http://schemas.openxmlformats.org/drawingml/2006/main">
            <a:off x="1027747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9" name="">
            <a:extLst xmlns:a="http://schemas.openxmlformats.org/drawingml/2006/main">
              <a:ext uri="{FF2B5EF4-FFF2-40B4-BE49-F238E27FC236}">
                <a16:creationId xmlns:a16="http://schemas.microsoft.com/office/drawing/2014/main" id="{ACDF89C7-51D7-4BF2-8D75-31405F4574DA}"/>
              </a:ext>
            </a:extLst>
          </p:cNvPr>
          <p:cNvSpPr>
            <a:spLocks xmlns:a="http://schemas.openxmlformats.org/drawingml/2006/main" noGrp="1"/>
          </p:cNvSpPr>
          <p:nvPr/>
        </p:nvSpPr>
        <p:spPr>
          <a:xfrm xmlns:a="http://schemas.openxmlformats.org/drawingml/2006/main">
            <a:off x="1039177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Operate</a:t>
            </a:r>
          </a:p>
        </p:txBody>
      </p:sp>
      <p:cxnSp>
        <p:nvCxnSpPr>
          <p:cNvPr id="54" name=""/>
          <p:cNvCxnSpPr>
            <a:stCxn xmlns:a="http://schemas.openxmlformats.org/drawingml/2006/main" id="4" idx="3"/>
            <a:endCxn xmlns:a="http://schemas.openxmlformats.org/drawingml/2006/main" id="6" idx="1"/>
          </p:cNvCxnSpPr>
          <p:nvPr/>
        </p:nvCxnSpPr>
        <p:spPr>
          <a:xfrm xmlns:a="http://schemas.openxmlformats.org/drawingml/2006/main">
            <a:off x="184785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5" name=""/>
          <p:cNvCxnSpPr>
            <a:stCxn xmlns:a="http://schemas.openxmlformats.org/drawingml/2006/main" id="6" idx="3"/>
            <a:endCxn xmlns:a="http://schemas.openxmlformats.org/drawingml/2006/main" id="8" idx="1"/>
          </p:cNvCxnSpPr>
          <p:nvPr/>
        </p:nvCxnSpPr>
        <p:spPr>
          <a:xfrm xmlns:a="http://schemas.openxmlformats.org/drawingml/2006/main">
            <a:off x="3228975"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6" name=""/>
          <p:cNvCxnSpPr>
            <a:stCxn xmlns:a="http://schemas.openxmlformats.org/drawingml/2006/main" id="8" idx="3"/>
            <a:endCxn xmlns:a="http://schemas.openxmlformats.org/drawingml/2006/main" id="10" idx="1"/>
          </p:cNvCxnSpPr>
          <p:nvPr/>
        </p:nvCxnSpPr>
        <p:spPr>
          <a:xfrm xmlns:a="http://schemas.openxmlformats.org/drawingml/2006/main">
            <a:off x="461010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7" name=""/>
          <p:cNvCxnSpPr>
            <a:stCxn xmlns:a="http://schemas.openxmlformats.org/drawingml/2006/main" id="10" idx="3"/>
            <a:endCxn xmlns:a="http://schemas.openxmlformats.org/drawingml/2006/main" id="12" idx="1"/>
          </p:cNvCxnSpPr>
          <p:nvPr/>
        </p:nvCxnSpPr>
        <p:spPr>
          <a:xfrm xmlns:a="http://schemas.openxmlformats.org/drawingml/2006/main">
            <a:off x="5991225"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8" name=""/>
          <p:cNvCxnSpPr>
            <a:stCxn xmlns:a="http://schemas.openxmlformats.org/drawingml/2006/main" id="12" idx="3"/>
            <a:endCxn xmlns:a="http://schemas.openxmlformats.org/drawingml/2006/main" id="14" idx="1"/>
          </p:cNvCxnSpPr>
          <p:nvPr/>
        </p:nvCxnSpPr>
        <p:spPr>
          <a:xfrm xmlns:a="http://schemas.openxmlformats.org/drawingml/2006/main">
            <a:off x="737235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9" name=""/>
          <p:cNvCxnSpPr>
            <a:stCxn xmlns:a="http://schemas.openxmlformats.org/drawingml/2006/main" id="14" idx="3"/>
            <a:endCxn xmlns:a="http://schemas.openxmlformats.org/drawingml/2006/main" id="16" idx="1"/>
          </p:cNvCxnSpPr>
          <p:nvPr/>
        </p:nvCxnSpPr>
        <p:spPr>
          <a:xfrm xmlns:a="http://schemas.openxmlformats.org/drawingml/2006/main">
            <a:off x="8753475"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0" name=""/>
          <p:cNvCxnSpPr>
            <a:stCxn xmlns:a="http://schemas.openxmlformats.org/drawingml/2006/main" id="16" idx="3"/>
            <a:endCxn xmlns:a="http://schemas.openxmlformats.org/drawingml/2006/main" id="18" idx="1"/>
          </p:cNvCxnSpPr>
          <p:nvPr/>
        </p:nvCxnSpPr>
        <p:spPr>
          <a:xfrm xmlns:a="http://schemas.openxmlformats.org/drawingml/2006/main">
            <a:off x="1013460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7" name="">
            <a:extLst xmlns:a="http://schemas.openxmlformats.org/drawingml/2006/main">
              <a:ext uri="{FF2B5EF4-FFF2-40B4-BE49-F238E27FC236}">
                <a16:creationId xmlns:a16="http://schemas.microsoft.com/office/drawing/2014/main" id="{2B67B224-76CE-40F0-B490-152D7CF5F044}"/>
              </a:ext>
            </a:extLst>
          </p:cNvPr>
          <p:cNvSpPr>
            <a:spLocks xmlns:a="http://schemas.openxmlformats.org/drawingml/2006/main" noGrp="1"/>
          </p:cNvSpPr>
          <p:nvPr/>
        </p:nvSpPr>
        <p:spPr>
          <a:xfrm xmlns:a="http://schemas.openxmlformats.org/drawingml/2006/main">
            <a:off x="3371850" y="2114550"/>
            <a:ext cx="123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28C7F7"/>
                </a:solidFill>
                <a:latin typeface="DejaVu Sans"/>
                <a:ea typeface="DejaVu Sans"/>
                <a:cs typeface="DejaVu Sans"/>
              </a:defRPr>
            </a:pPr>
            <a:r>
              <a:rPr sz="3000" b="1">
                <a:solidFill>
                  <a:srgbClr val="28C7F7"/>
                </a:solidFill>
                <a:latin typeface="DejaVu Sans"/>
                <a:ea typeface="DejaVu Sans"/>
                <a:cs typeface="DejaVu Sans"/>
              </a:rPr>
              <a:t>↑↑↑</a:t>
            </a:r>
          </a:p>
        </p:txBody>
      </p:sp>
      <p:sp>
        <p:nvSpPr>
          <p:cNvPr id="28" name="">
            <a:extLst xmlns:a="http://schemas.openxmlformats.org/drawingml/2006/main">
              <a:ext uri="{FF2B5EF4-FFF2-40B4-BE49-F238E27FC236}">
                <a16:creationId xmlns:a16="http://schemas.microsoft.com/office/drawing/2014/main" id="{39CCF84E-35FD-4E1B-8E38-072AD22697C4}"/>
              </a:ext>
            </a:extLst>
          </p:cNvPr>
          <p:cNvSpPr>
            <a:spLocks xmlns:a="http://schemas.openxmlformats.org/drawingml/2006/main" noGrp="1"/>
          </p:cNvSpPr>
          <p:nvPr/>
        </p:nvSpPr>
        <p:spPr>
          <a:xfrm xmlns:a="http://schemas.openxmlformats.org/drawingml/2006/main">
            <a:off x="4752975"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D8A1DB16-A566-47C4-A20B-C2E488018F59}"/>
              </a:ext>
            </a:extLst>
          </p:cNvPr>
          <p:cNvSpPr>
            <a:spLocks xmlns:a="http://schemas.openxmlformats.org/drawingml/2006/main" noGrp="1"/>
          </p:cNvSpPr>
          <p:nvPr/>
        </p:nvSpPr>
        <p:spPr>
          <a:xfrm xmlns:a="http://schemas.openxmlformats.org/drawingml/2006/main">
            <a:off x="6134100"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09D7D2BA-E4B5-4285-ACC4-2FFB5C27468D}"/>
              </a:ext>
            </a:extLst>
          </p:cNvPr>
          <p:cNvSpPr>
            <a:spLocks xmlns:a="http://schemas.openxmlformats.org/drawingml/2006/main" noGrp="1"/>
          </p:cNvSpPr>
          <p:nvPr/>
        </p:nvSpPr>
        <p:spPr>
          <a:xfrm xmlns:a="http://schemas.openxmlformats.org/drawingml/2006/main">
            <a:off x="7515225"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D8879384-4878-4871-920C-9B7155BAA9B0}"/>
              </a:ext>
            </a:extLst>
          </p:cNvPr>
          <p:cNvSpPr>
            <a:spLocks xmlns:a="http://schemas.openxmlformats.org/drawingml/2006/main" noGrp="1"/>
          </p:cNvSpPr>
          <p:nvPr/>
        </p:nvSpPr>
        <p:spPr>
          <a:xfrm xmlns:a="http://schemas.openxmlformats.org/drawingml/2006/main">
            <a:off x="10277475"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00E4C570-E1FA-4D99-B0D3-611299887E1D}"/>
              </a:ext>
            </a:extLst>
          </p:cNvPr>
          <p:cNvSpPr>
            <a:spLocks xmlns:a="http://schemas.openxmlformats.org/drawingml/2006/main" noGrp="1"/>
          </p:cNvSpPr>
          <p:nvPr/>
        </p:nvSpPr>
        <p:spPr>
          <a:xfrm xmlns:a="http://schemas.openxmlformats.org/drawingml/2006/main">
            <a:off x="609600" y="4362450"/>
            <a:ext cx="106489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If coding is the bottleneck, the bottleneck can move.</a:t>
            </a:r>
          </a:p>
        </p:txBody>
      </p:sp>
      <p:sp>
        <p:nvSpPr>
          <p:cNvPr id="33" name="">
            <a:extLst xmlns:a="http://schemas.openxmlformats.org/drawingml/2006/main">
              <a:ext uri="{FF2B5EF4-FFF2-40B4-BE49-F238E27FC236}">
                <a16:creationId xmlns:a16="http://schemas.microsoft.com/office/drawing/2014/main" id="{169D6491-55D0-4086-89B9-6B763DAA2BF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DB624A75-37A9-4D66-8BE5-19005A30EC40}"/>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28C7F7"/>
                </a:solidFill>
                <a:latin typeface="DejaVu Sans"/>
                <a:ea typeface="DejaVu Sans"/>
                <a:cs typeface="DejaVu Sans"/>
              </a:defRPr>
            </a:pPr>
            <a:r>
              <a:rPr sz="2550" b="1">
                <a:solidFill>
                  <a:srgbClr val="28C7F7"/>
                </a:solidFill>
                <a:latin typeface="DejaVu Sans"/>
                <a:ea typeface="DejaVu Sans"/>
                <a:cs typeface="DejaVu Sans"/>
              </a:rPr>
              <a:t>Local acceleration ≠ system throughput</a:t>
            </a:r>
          </a:p>
        </p:txBody>
      </p:sp>
    </p:spTree>
    <p:extLst>
      <p:ext uri="{BB962C8B-B14F-4D97-AF65-F5344CB8AC3E}">
        <p14:creationId xmlns:p14="http://schemas.microsoft.com/office/powerpoint/2010/main" val="497608112"/>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AB1CF91A-91D1-46A6-941F-A5E3B861352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617E10F5-2E15-4D0E-A808-4DE02BE2053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D5EAE41-DD24-45A8-8F8E-62987CB44F8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45E1EC1A-204C-49C6-9712-06017AEF7518}"/>
              </a:ext>
            </a:extLst>
          </p:cNvPr>
          <p:cNvSpPr>
            <a:spLocks xmlns:a="http://schemas.openxmlformats.org/drawingml/2006/main" noGrp="1"/>
          </p:cNvSpPr>
          <p:nvPr/>
        </p:nvSpPr>
        <p:spPr>
          <a:xfrm xmlns:a="http://schemas.openxmlformats.org/drawingml/2006/main">
            <a:off x="609600" y="1809750"/>
            <a:ext cx="5276850" cy="36766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E002F664-81BF-4843-AF60-0761381AE2EC}"/>
              </a:ext>
            </a:extLst>
          </p:cNvPr>
          <p:cNvSpPr>
            <a:spLocks xmlns:a="http://schemas.openxmlformats.org/drawingml/2006/main" noGrp="1"/>
          </p:cNvSpPr>
          <p:nvPr/>
        </p:nvSpPr>
        <p:spPr>
          <a:xfrm xmlns:a="http://schemas.openxmlformats.org/drawingml/2006/main">
            <a:off x="800100" y="1981200"/>
            <a:ext cx="485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2026</a:t>
            </a:r>
          </a:p>
        </p:txBody>
      </p:sp>
      <p:sp>
        <p:nvSpPr>
          <p:cNvPr id="6" name="">
            <a:extLst xmlns:a="http://schemas.openxmlformats.org/drawingml/2006/main">
              <a:ext uri="{FF2B5EF4-FFF2-40B4-BE49-F238E27FC236}">
                <a16:creationId xmlns:a16="http://schemas.microsoft.com/office/drawing/2014/main" id="{9674DAF3-0F48-4F87-9ECB-94374AAC0304}"/>
              </a:ext>
            </a:extLst>
          </p:cNvPr>
          <p:cNvSpPr>
            <a:spLocks xmlns:a="http://schemas.openxmlformats.org/drawingml/2006/main" noGrp="1"/>
          </p:cNvSpPr>
          <p:nvPr/>
        </p:nvSpPr>
        <p:spPr>
          <a:xfrm xmlns:a="http://schemas.openxmlformats.org/drawingml/2006/main">
            <a:off x="800100" y="2438400"/>
            <a:ext cx="1504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300" b="1">
                <a:solidFill>
                  <a:srgbClr val="F4F7FA"/>
                </a:solidFill>
                <a:latin typeface="DejaVu Sans"/>
                <a:ea typeface="DejaVu Sans"/>
                <a:cs typeface="DejaVu Sans"/>
              </a:defRPr>
            </a:pPr>
            <a:r>
              <a:rPr sz="3300" b="1">
                <a:solidFill>
                  <a:srgbClr val="F4F7FA"/>
                </a:solidFill>
                <a:latin typeface="DejaVu Sans"/>
                <a:ea typeface="DejaVu Sans"/>
                <a:cs typeface="DejaVu Sans"/>
              </a:rPr>
              <a:t>17.3×</a:t>
            </a:r>
          </a:p>
        </p:txBody>
      </p:sp>
      <p:sp>
        <p:nvSpPr>
          <p:cNvPr id="7" name="">
            <a:extLst xmlns:a="http://schemas.openxmlformats.org/drawingml/2006/main">
              <a:ext uri="{FF2B5EF4-FFF2-40B4-BE49-F238E27FC236}">
                <a16:creationId xmlns:a16="http://schemas.microsoft.com/office/drawing/2014/main" id="{DCCD93BA-D3BA-468A-917B-2ADE490723D7}"/>
              </a:ext>
            </a:extLst>
          </p:cNvPr>
          <p:cNvSpPr>
            <a:spLocks xmlns:a="http://schemas.openxmlformats.org/drawingml/2006/main" noGrp="1"/>
          </p:cNvSpPr>
          <p:nvPr/>
        </p:nvSpPr>
        <p:spPr>
          <a:xfrm xmlns:a="http://schemas.openxmlformats.org/drawingml/2006/main">
            <a:off x="800100" y="30480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66E14073-89A1-4B02-B9CA-A1EF1F6A54D3}"/>
              </a:ext>
            </a:extLst>
          </p:cNvPr>
          <p:cNvSpPr>
            <a:spLocks xmlns:a="http://schemas.openxmlformats.org/drawingml/2006/main" noGrp="1"/>
          </p:cNvSpPr>
          <p:nvPr/>
        </p:nvSpPr>
        <p:spPr>
          <a:xfrm xmlns:a="http://schemas.openxmlformats.org/drawingml/2006/main" flipH="0" flipV="0">
            <a:off x="2324100" y="2543175"/>
            <a:ext cx="0" cy="7143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9" name="">
            <a:extLst xmlns:a="http://schemas.openxmlformats.org/drawingml/2006/main">
              <a:ext uri="{FF2B5EF4-FFF2-40B4-BE49-F238E27FC236}">
                <a16:creationId xmlns:a16="http://schemas.microsoft.com/office/drawing/2014/main" id="{678F5A5A-6F44-4EDF-81BC-A62C98733708}"/>
              </a:ext>
            </a:extLst>
          </p:cNvPr>
          <p:cNvSpPr>
            <a:spLocks xmlns:a="http://schemas.openxmlformats.org/drawingml/2006/main" noGrp="1"/>
          </p:cNvSpPr>
          <p:nvPr/>
        </p:nvSpPr>
        <p:spPr>
          <a:xfrm xmlns:a="http://schemas.openxmlformats.org/drawingml/2006/main">
            <a:off x="2457450" y="2438400"/>
            <a:ext cx="1504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300" b="1">
                <a:solidFill>
                  <a:srgbClr val="F4F7FA"/>
                </a:solidFill>
                <a:latin typeface="DejaVu Sans"/>
                <a:ea typeface="DejaVu Sans"/>
                <a:cs typeface="DejaVu Sans"/>
              </a:defRPr>
            </a:pPr>
            <a:r>
              <a:rPr sz="3300" b="1">
                <a:solidFill>
                  <a:srgbClr val="F4F7FA"/>
                </a:solidFill>
                <a:latin typeface="DejaVu Sans"/>
                <a:ea typeface="DejaVu Sans"/>
                <a:cs typeface="DejaVu Sans"/>
              </a:rPr>
              <a:t>2.8×</a:t>
            </a:r>
          </a:p>
        </p:txBody>
      </p:sp>
      <p:sp>
        <p:nvSpPr>
          <p:cNvPr id="10" name="">
            <a:extLst xmlns:a="http://schemas.openxmlformats.org/drawingml/2006/main">
              <a:ext uri="{FF2B5EF4-FFF2-40B4-BE49-F238E27FC236}">
                <a16:creationId xmlns:a16="http://schemas.microsoft.com/office/drawing/2014/main" id="{9E806D86-FF6E-4B7B-9429-5C5D84787B5A}"/>
              </a:ext>
            </a:extLst>
          </p:cNvPr>
          <p:cNvSpPr>
            <a:spLocks xmlns:a="http://schemas.openxmlformats.org/drawingml/2006/main" noGrp="1"/>
          </p:cNvSpPr>
          <p:nvPr/>
        </p:nvSpPr>
        <p:spPr>
          <a:xfrm xmlns:a="http://schemas.openxmlformats.org/drawingml/2006/main">
            <a:off x="2457450" y="30480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commits</a:t>
            </a:r>
          </a:p>
        </p:txBody>
      </p:sp>
      <p:sp>
        <p:nvSpPr>
          <p:cNvPr id="11" name="">
            <a:extLst xmlns:a="http://schemas.openxmlformats.org/drawingml/2006/main">
              <a:ext uri="{FF2B5EF4-FFF2-40B4-BE49-F238E27FC236}">
                <a16:creationId xmlns:a16="http://schemas.microsoft.com/office/drawing/2014/main" id="{A1525433-5F47-4005-ADE2-7FA3258DE819}"/>
              </a:ext>
            </a:extLst>
          </p:cNvPr>
          <p:cNvSpPr>
            <a:spLocks xmlns:a="http://schemas.openxmlformats.org/drawingml/2006/main" noGrp="1"/>
          </p:cNvSpPr>
          <p:nvPr/>
        </p:nvSpPr>
        <p:spPr>
          <a:xfrm xmlns:a="http://schemas.openxmlformats.org/drawingml/2006/main" flipH="0" flipV="0">
            <a:off x="3981450" y="2543175"/>
            <a:ext cx="0" cy="7143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BA184412-86AE-497B-B72C-4A794850CE57}"/>
              </a:ext>
            </a:extLst>
          </p:cNvPr>
          <p:cNvSpPr>
            <a:spLocks xmlns:a="http://schemas.openxmlformats.org/drawingml/2006/main" noGrp="1"/>
          </p:cNvSpPr>
          <p:nvPr/>
        </p:nvSpPr>
        <p:spPr>
          <a:xfrm xmlns:a="http://schemas.openxmlformats.org/drawingml/2006/main">
            <a:off x="4114800" y="2438400"/>
            <a:ext cx="1504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300" b="1">
                <a:solidFill>
                  <a:srgbClr val="F4F7FA"/>
                </a:solidFill>
                <a:latin typeface="DejaVu Sans"/>
                <a:ea typeface="DejaVu Sans"/>
                <a:cs typeface="DejaVu Sans"/>
              </a:defRPr>
            </a:pPr>
            <a:r>
              <a:rPr sz="3300" b="1">
                <a:solidFill>
                  <a:srgbClr val="F4F7FA"/>
                </a:solidFill>
                <a:latin typeface="DejaVu Sans"/>
                <a:ea typeface="DejaVu Sans"/>
                <a:cs typeface="DejaVu Sans"/>
              </a:rPr>
              <a:t>1.3×</a:t>
            </a:r>
          </a:p>
        </p:txBody>
      </p:sp>
      <p:sp>
        <p:nvSpPr>
          <p:cNvPr id="13" name="">
            <a:extLst xmlns:a="http://schemas.openxmlformats.org/drawingml/2006/main">
              <a:ext uri="{FF2B5EF4-FFF2-40B4-BE49-F238E27FC236}">
                <a16:creationId xmlns:a16="http://schemas.microsoft.com/office/drawing/2014/main" id="{74E6ECDB-ED5F-44AC-B112-EA3D965584D5}"/>
              </a:ext>
            </a:extLst>
          </p:cNvPr>
          <p:cNvSpPr>
            <a:spLocks xmlns:a="http://schemas.openxmlformats.org/drawingml/2006/main" noGrp="1"/>
          </p:cNvSpPr>
          <p:nvPr/>
        </p:nvSpPr>
        <p:spPr>
          <a:xfrm xmlns:a="http://schemas.openxmlformats.org/drawingml/2006/main">
            <a:off x="4114800" y="30480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releases</a:t>
            </a:r>
          </a:p>
        </p:txBody>
      </p:sp>
      <p:sp>
        <p:nvSpPr>
          <p:cNvPr id="14" name="">
            <a:extLst xmlns:a="http://schemas.openxmlformats.org/drawingml/2006/main">
              <a:ext uri="{FF2B5EF4-FFF2-40B4-BE49-F238E27FC236}">
                <a16:creationId xmlns:a16="http://schemas.microsoft.com/office/drawing/2014/main" id="{D0533D85-BC51-4849-8F3D-A82180EB894E}"/>
              </a:ext>
            </a:extLst>
          </p:cNvPr>
          <p:cNvSpPr>
            <a:spLocks xmlns:a="http://schemas.openxmlformats.org/drawingml/2006/main" noGrp="1"/>
          </p:cNvSpPr>
          <p:nvPr/>
        </p:nvSpPr>
        <p:spPr>
          <a:xfrm xmlns:a="http://schemas.openxmlformats.org/drawingml/2006/main">
            <a:off x="800100" y="3524250"/>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Autocomplete + sync + async agents</a:t>
            </a:r>
          </a:p>
        </p:txBody>
      </p:sp>
      <p:sp>
        <p:nvSpPr>
          <p:cNvPr id="15" name="">
            <a:extLst xmlns:a="http://schemas.openxmlformats.org/drawingml/2006/main">
              <a:ext uri="{FF2B5EF4-FFF2-40B4-BE49-F238E27FC236}">
                <a16:creationId xmlns:a16="http://schemas.microsoft.com/office/drawing/2014/main" id="{42DD3693-1A1E-4B2E-A419-38B4939357D7}"/>
              </a:ext>
            </a:extLst>
          </p:cNvPr>
          <p:cNvSpPr>
            <a:spLocks xmlns:a="http://schemas.openxmlformats.org/drawingml/2006/main" noGrp="1"/>
          </p:cNvSpPr>
          <p:nvPr/>
        </p:nvSpPr>
        <p:spPr>
          <a:xfrm xmlns:a="http://schemas.openxmlformats.org/drawingml/2006/main">
            <a:off x="800100" y="3981450"/>
            <a:ext cx="4876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Changed LOC = additions + deletions.</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Separate async release effect not estimated.</a:t>
            </a:r>
          </a:p>
        </p:txBody>
      </p:sp>
      <p:sp>
        <p:nvSpPr>
          <p:cNvPr id="16" name="">
            <a:extLst xmlns:a="http://schemas.openxmlformats.org/drawingml/2006/main">
              <a:ext uri="{FF2B5EF4-FFF2-40B4-BE49-F238E27FC236}">
                <a16:creationId xmlns:a16="http://schemas.microsoft.com/office/drawing/2014/main" id="{39EB0D17-0CF8-4405-8A2B-A1B3DAF7DE29}"/>
              </a:ext>
            </a:extLst>
          </p:cNvPr>
          <p:cNvSpPr>
            <a:spLocks xmlns:a="http://schemas.openxmlformats.org/drawingml/2006/main" noGrp="1"/>
          </p:cNvSpPr>
          <p:nvPr/>
        </p:nvSpPr>
        <p:spPr>
          <a:xfrm xmlns:a="http://schemas.openxmlformats.org/drawingml/2006/main" flipH="0" flipV="0">
            <a:off x="800100" y="4667250"/>
            <a:ext cx="4876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B0766A06-B6F2-42C4-A09B-8BB90179E807}"/>
              </a:ext>
            </a:extLst>
          </p:cNvPr>
          <p:cNvSpPr>
            <a:spLocks xmlns:a="http://schemas.openxmlformats.org/drawingml/2006/main" noGrp="1"/>
          </p:cNvSpPr>
          <p:nvPr/>
        </p:nvSpPr>
        <p:spPr>
          <a:xfrm xmlns:a="http://schemas.openxmlformats.org/drawingml/2006/main">
            <a:off x="800100" y="4762500"/>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More apps. No aggregate usage gain</a:t>
            </a:r>
          </a:p>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in these cohorts.</a:t>
            </a:r>
          </a:p>
        </p:txBody>
      </p:sp>
      <p:sp>
        <p:nvSpPr>
          <p:cNvPr id="18" name="">
            <a:extLst xmlns:a="http://schemas.openxmlformats.org/drawingml/2006/main">
              <a:ext uri="{FF2B5EF4-FFF2-40B4-BE49-F238E27FC236}">
                <a16:creationId xmlns:a16="http://schemas.microsoft.com/office/drawing/2014/main" id="{663E9065-A2DE-4059-A24B-18CC447B002C}"/>
              </a:ext>
            </a:extLst>
          </p:cNvPr>
          <p:cNvSpPr>
            <a:spLocks xmlns:a="http://schemas.openxmlformats.org/drawingml/2006/main" noGrp="1"/>
          </p:cNvSpPr>
          <p:nvPr/>
        </p:nvSpPr>
        <p:spPr>
          <a:xfrm xmlns:a="http://schemas.openxmlformats.org/drawingml/2006/main">
            <a:off x="6153150" y="1809750"/>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19" name="">
            <a:extLst xmlns:a="http://schemas.openxmlformats.org/drawingml/2006/main">
              <a:ext uri="{FF2B5EF4-FFF2-40B4-BE49-F238E27FC236}">
                <a16:creationId xmlns:a16="http://schemas.microsoft.com/office/drawing/2014/main" id="{EF8F2146-FB28-45B4-A6BE-EC9432A8E35C}"/>
              </a:ext>
            </a:extLst>
          </p:cNvPr>
          <p:cNvSpPr>
            <a:spLocks xmlns:a="http://schemas.openxmlformats.org/drawingml/2006/main" noGrp="1"/>
          </p:cNvSpPr>
          <p:nvPr/>
        </p:nvSpPr>
        <p:spPr>
          <a:xfrm xmlns:a="http://schemas.openxmlformats.org/drawingml/2006/main">
            <a:off x="6305550" y="1943100"/>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METR · MAY 2026</a:t>
            </a:r>
          </a:p>
        </p:txBody>
      </p:sp>
      <p:sp>
        <p:nvSpPr>
          <p:cNvPr id="20" name="">
            <a:extLst xmlns:a="http://schemas.openxmlformats.org/drawingml/2006/main">
              <a:ext uri="{FF2B5EF4-FFF2-40B4-BE49-F238E27FC236}">
                <a16:creationId xmlns:a16="http://schemas.microsoft.com/office/drawing/2014/main" id="{B07ADC32-2AF0-4314-B096-72B14243A68D}"/>
              </a:ext>
            </a:extLst>
          </p:cNvPr>
          <p:cNvSpPr>
            <a:spLocks xmlns:a="http://schemas.openxmlformats.org/drawingml/2006/main" noGrp="1"/>
          </p:cNvSpPr>
          <p:nvPr/>
        </p:nvSpPr>
        <p:spPr>
          <a:xfrm xmlns:a="http://schemas.openxmlformats.org/drawingml/2006/main">
            <a:off x="6305550" y="2286000"/>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1.4–2× work value</a:t>
            </a:r>
          </a:p>
        </p:txBody>
      </p:sp>
      <p:sp>
        <p:nvSpPr>
          <p:cNvPr id="21" name="">
            <a:extLst xmlns:a="http://schemas.openxmlformats.org/drawingml/2006/main">
              <a:ext uri="{FF2B5EF4-FFF2-40B4-BE49-F238E27FC236}">
                <a16:creationId xmlns:a16="http://schemas.microsoft.com/office/drawing/2014/main" id="{015CCAF8-3BDC-4E68-90AF-A314E713268B}"/>
              </a:ext>
            </a:extLst>
          </p:cNvPr>
          <p:cNvSpPr>
            <a:spLocks xmlns:a="http://schemas.openxmlformats.org/drawingml/2006/main" noGrp="1"/>
          </p:cNvSpPr>
          <p:nvPr/>
        </p:nvSpPr>
        <p:spPr>
          <a:xfrm xmlns:a="http://schemas.openxmlformats.org/drawingml/2006/main">
            <a:off x="6305550" y="2943225"/>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Self-reported survey; not causal uplift</a:t>
            </a:r>
          </a:p>
        </p:txBody>
      </p:sp>
      <p:sp>
        <p:nvSpPr>
          <p:cNvPr id="22" name="">
            <a:extLst xmlns:a="http://schemas.openxmlformats.org/drawingml/2006/main">
              <a:ext uri="{FF2B5EF4-FFF2-40B4-BE49-F238E27FC236}">
                <a16:creationId xmlns:a16="http://schemas.microsoft.com/office/drawing/2014/main" id="{2552B065-8047-464A-AFC9-9190E60E279D}"/>
              </a:ext>
            </a:extLst>
          </p:cNvPr>
          <p:cNvSpPr>
            <a:spLocks xmlns:a="http://schemas.openxmlformats.org/drawingml/2006/main" noGrp="1"/>
          </p:cNvSpPr>
          <p:nvPr/>
        </p:nvSpPr>
        <p:spPr>
          <a:xfrm xmlns:a="http://schemas.openxmlformats.org/drawingml/2006/main">
            <a:off x="8896350" y="1809750"/>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23" name="">
            <a:extLst xmlns:a="http://schemas.openxmlformats.org/drawingml/2006/main">
              <a:ext uri="{FF2B5EF4-FFF2-40B4-BE49-F238E27FC236}">
                <a16:creationId xmlns:a16="http://schemas.microsoft.com/office/drawing/2014/main" id="{574243A2-A334-48F5-96B8-D762673963A9}"/>
              </a:ext>
            </a:extLst>
          </p:cNvPr>
          <p:cNvSpPr>
            <a:spLocks xmlns:a="http://schemas.openxmlformats.org/drawingml/2006/main" noGrp="1"/>
          </p:cNvSpPr>
          <p:nvPr/>
        </p:nvSpPr>
        <p:spPr>
          <a:xfrm xmlns:a="http://schemas.openxmlformats.org/drawingml/2006/main">
            <a:off x="9048750" y="1943100"/>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DORA · 2025</a:t>
            </a:r>
          </a:p>
        </p:txBody>
      </p:sp>
      <p:sp>
        <p:nvSpPr>
          <p:cNvPr id="24" name="">
            <a:extLst xmlns:a="http://schemas.openxmlformats.org/drawingml/2006/main">
              <a:ext uri="{FF2B5EF4-FFF2-40B4-BE49-F238E27FC236}">
                <a16:creationId xmlns:a16="http://schemas.microsoft.com/office/drawing/2014/main" id="{46AF68FE-B0E1-414D-984E-0665C2A2578F}"/>
              </a:ext>
            </a:extLst>
          </p:cNvPr>
          <p:cNvSpPr>
            <a:spLocks xmlns:a="http://schemas.openxmlformats.org/drawingml/2006/main" noGrp="1"/>
          </p:cNvSpPr>
          <p:nvPr/>
        </p:nvSpPr>
        <p:spPr>
          <a:xfrm xmlns:a="http://schemas.openxmlformats.org/drawingml/2006/main">
            <a:off x="9048750" y="2286000"/>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Throughput ↑   Stability ↓</a:t>
            </a:r>
          </a:p>
        </p:txBody>
      </p:sp>
      <p:sp>
        <p:nvSpPr>
          <p:cNvPr id="25" name="">
            <a:extLst xmlns:a="http://schemas.openxmlformats.org/drawingml/2006/main">
              <a:ext uri="{FF2B5EF4-FFF2-40B4-BE49-F238E27FC236}">
                <a16:creationId xmlns:a16="http://schemas.microsoft.com/office/drawing/2014/main" id="{505061FE-538E-449E-8B2A-16158508D54C}"/>
              </a:ext>
            </a:extLst>
          </p:cNvPr>
          <p:cNvSpPr>
            <a:spLocks xmlns:a="http://schemas.openxmlformats.org/drawingml/2006/main" noGrp="1"/>
          </p:cNvSpPr>
          <p:nvPr/>
        </p:nvSpPr>
        <p:spPr>
          <a:xfrm xmlns:a="http://schemas.openxmlformats.org/drawingml/2006/main">
            <a:off x="9048750" y="2943225"/>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Product performance ↑; associations</a:t>
            </a:r>
          </a:p>
        </p:txBody>
      </p:sp>
      <p:sp>
        <p:nvSpPr>
          <p:cNvPr id="26" name="">
            <a:extLst xmlns:a="http://schemas.openxmlformats.org/drawingml/2006/main">
              <a:ext uri="{FF2B5EF4-FFF2-40B4-BE49-F238E27FC236}">
                <a16:creationId xmlns:a16="http://schemas.microsoft.com/office/drawing/2014/main" id="{1C280DA1-CFB2-4880-967B-8BC77E935A4A}"/>
              </a:ext>
            </a:extLst>
          </p:cNvPr>
          <p:cNvSpPr>
            <a:spLocks xmlns:a="http://schemas.openxmlformats.org/drawingml/2006/main" noGrp="1"/>
          </p:cNvSpPr>
          <p:nvPr/>
        </p:nvSpPr>
        <p:spPr>
          <a:xfrm xmlns:a="http://schemas.openxmlformats.org/drawingml/2006/main">
            <a:off x="6153150" y="3705225"/>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27" name="">
            <a:extLst xmlns:a="http://schemas.openxmlformats.org/drawingml/2006/main">
              <a:ext uri="{FF2B5EF4-FFF2-40B4-BE49-F238E27FC236}">
                <a16:creationId xmlns:a16="http://schemas.microsoft.com/office/drawing/2014/main" id="{B92B8CEB-04CD-4FEC-898F-6CCCFDC56E75}"/>
              </a:ext>
            </a:extLst>
          </p:cNvPr>
          <p:cNvSpPr>
            <a:spLocks xmlns:a="http://schemas.openxmlformats.org/drawingml/2006/main" noGrp="1"/>
          </p:cNvSpPr>
          <p:nvPr/>
        </p:nvSpPr>
        <p:spPr>
          <a:xfrm xmlns:a="http://schemas.openxmlformats.org/drawingml/2006/main">
            <a:off x="6305550" y="3838575"/>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GITCLEAR · JUN 2026</a:t>
            </a:r>
          </a:p>
        </p:txBody>
      </p:sp>
      <p:sp>
        <p:nvSpPr>
          <p:cNvPr id="28" name="">
            <a:extLst xmlns:a="http://schemas.openxmlformats.org/drawingml/2006/main">
              <a:ext uri="{FF2B5EF4-FFF2-40B4-BE49-F238E27FC236}">
                <a16:creationId xmlns:a16="http://schemas.microsoft.com/office/drawing/2014/main" id="{325E85DB-A43A-4CF6-B059-C05DD2B0BB3D}"/>
              </a:ext>
            </a:extLst>
          </p:cNvPr>
          <p:cNvSpPr>
            <a:spLocks xmlns:a="http://schemas.openxmlformats.org/drawingml/2006/main" noGrp="1"/>
          </p:cNvSpPr>
          <p:nvPr/>
        </p:nvSpPr>
        <p:spPr>
          <a:xfrm xmlns:a="http://schemas.openxmlformats.org/drawingml/2006/main">
            <a:off x="6305550" y="4181475"/>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13% → 3.8%</a:t>
            </a:r>
          </a:p>
        </p:txBody>
      </p:sp>
      <p:sp>
        <p:nvSpPr>
          <p:cNvPr id="29" name="">
            <a:extLst xmlns:a="http://schemas.openxmlformats.org/drawingml/2006/main">
              <a:ext uri="{FF2B5EF4-FFF2-40B4-BE49-F238E27FC236}">
                <a16:creationId xmlns:a16="http://schemas.microsoft.com/office/drawing/2014/main" id="{C915679E-BE62-4F48-B834-4DE87704C8E7}"/>
              </a:ext>
            </a:extLst>
          </p:cNvPr>
          <p:cNvSpPr>
            <a:spLocks xmlns:a="http://schemas.openxmlformats.org/drawingml/2006/main" noGrp="1"/>
          </p:cNvSpPr>
          <p:nvPr/>
        </p:nvSpPr>
        <p:spPr>
          <a:xfrm xmlns:a="http://schemas.openxmlformats.org/drawingml/2006/main">
            <a:off x="6305550" y="4838700"/>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Refactoring share; 2023 → YTD 2026</a:t>
            </a:r>
          </a:p>
        </p:txBody>
      </p:sp>
      <p:sp>
        <p:nvSpPr>
          <p:cNvPr id="30" name="">
            <a:extLst xmlns:a="http://schemas.openxmlformats.org/drawingml/2006/main">
              <a:ext uri="{FF2B5EF4-FFF2-40B4-BE49-F238E27FC236}">
                <a16:creationId xmlns:a16="http://schemas.microsoft.com/office/drawing/2014/main" id="{2199B04F-898D-45E1-9242-5474C564EA7D}"/>
              </a:ext>
            </a:extLst>
          </p:cNvPr>
          <p:cNvSpPr>
            <a:spLocks xmlns:a="http://schemas.openxmlformats.org/drawingml/2006/main" noGrp="1"/>
          </p:cNvSpPr>
          <p:nvPr/>
        </p:nvSpPr>
        <p:spPr>
          <a:xfrm xmlns:a="http://schemas.openxmlformats.org/drawingml/2006/main">
            <a:off x="8896350" y="3705225"/>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31" name="">
            <a:extLst xmlns:a="http://schemas.openxmlformats.org/drawingml/2006/main">
              <a:ext uri="{FF2B5EF4-FFF2-40B4-BE49-F238E27FC236}">
                <a16:creationId xmlns:a16="http://schemas.microsoft.com/office/drawing/2014/main" id="{27EA5C69-AC03-4369-8235-1D7C8076AD8D}"/>
              </a:ext>
            </a:extLst>
          </p:cNvPr>
          <p:cNvSpPr>
            <a:spLocks xmlns:a="http://schemas.openxmlformats.org/drawingml/2006/main" noGrp="1"/>
          </p:cNvSpPr>
          <p:nvPr/>
        </p:nvSpPr>
        <p:spPr>
          <a:xfrm xmlns:a="http://schemas.openxmlformats.org/drawingml/2006/main">
            <a:off x="9048750" y="3838575"/>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XU + AGARWAL · 2026</a:t>
            </a:r>
          </a:p>
        </p:txBody>
      </p:sp>
      <p:sp>
        <p:nvSpPr>
          <p:cNvPr id="32" name="">
            <a:extLst xmlns:a="http://schemas.openxmlformats.org/drawingml/2006/main">
              <a:ext uri="{FF2B5EF4-FFF2-40B4-BE49-F238E27FC236}">
                <a16:creationId xmlns:a16="http://schemas.microsoft.com/office/drawing/2014/main" id="{5C77F472-4195-45F7-B569-109CDD96A281}"/>
              </a:ext>
            </a:extLst>
          </p:cNvPr>
          <p:cNvSpPr>
            <a:spLocks xmlns:a="http://schemas.openxmlformats.org/drawingml/2006/main" noGrp="1"/>
          </p:cNvSpPr>
          <p:nvPr/>
        </p:nvSpPr>
        <p:spPr>
          <a:xfrm xmlns:a="http://schemas.openxmlformats.org/drawingml/2006/main">
            <a:off x="9048750" y="4181475"/>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Complexity +35% / +43%</a:t>
            </a:r>
          </a:p>
        </p:txBody>
      </p:sp>
      <p:sp>
        <p:nvSpPr>
          <p:cNvPr id="33" name="">
            <a:extLst xmlns:a="http://schemas.openxmlformats.org/drawingml/2006/main">
              <a:ext uri="{FF2B5EF4-FFF2-40B4-BE49-F238E27FC236}">
                <a16:creationId xmlns:a16="http://schemas.microsoft.com/office/drawing/2014/main" id="{0CE1DDC5-C5BB-45DB-9475-4E21F72A4AB1}"/>
              </a:ext>
            </a:extLst>
          </p:cNvPr>
          <p:cNvSpPr>
            <a:spLocks xmlns:a="http://schemas.openxmlformats.org/drawingml/2006/main" noGrp="1"/>
          </p:cNvSpPr>
          <p:nvPr/>
        </p:nvSpPr>
        <p:spPr>
          <a:xfrm xmlns:a="http://schemas.openxmlformats.org/drawingml/2006/main">
            <a:off x="9048750" y="4838700"/>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Agarwal: complexity proxy.</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Xu: contributor workload.</a:t>
            </a:r>
          </a:p>
        </p:txBody>
      </p:sp>
      <p:sp>
        <p:nvSpPr>
          <p:cNvPr id="34" name="">
            <a:extLst xmlns:a="http://schemas.openxmlformats.org/drawingml/2006/main">
              <a:ext uri="{FF2B5EF4-FFF2-40B4-BE49-F238E27FC236}">
                <a16:creationId xmlns:a16="http://schemas.microsoft.com/office/drawing/2014/main" id="{D6C55E66-0584-4D5A-AA43-AD4CA0980B97}"/>
              </a:ext>
            </a:extLst>
          </p:cNvPr>
          <p:cNvSpPr>
            <a:spLocks xmlns:a="http://schemas.openxmlformats.org/drawingml/2006/main" noGrp="1"/>
          </p:cNvSpPr>
          <p:nvPr/>
        </p:nvSpPr>
        <p:spPr>
          <a:xfrm xmlns:a="http://schemas.openxmlformats.org/drawingml/2006/main">
            <a:off x="609600" y="5562600"/>
            <a:ext cx="2895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35" name="">
            <a:extLst xmlns:a="http://schemas.openxmlformats.org/drawingml/2006/main">
              <a:ext uri="{FF2B5EF4-FFF2-40B4-BE49-F238E27FC236}">
                <a16:creationId xmlns:a16="http://schemas.microsoft.com/office/drawing/2014/main" id="{4DAE7B18-1A85-424F-8A0D-9BE47B400EF5}"/>
              </a:ext>
            </a:extLst>
          </p:cNvPr>
          <p:cNvSpPr>
            <a:spLocks xmlns:a="http://schemas.openxmlformats.org/drawingml/2006/main" noGrp="1"/>
          </p:cNvSpPr>
          <p:nvPr/>
        </p:nvSpPr>
        <p:spPr>
          <a:xfrm xmlns:a="http://schemas.openxmlformats.org/drawingml/2006/main">
            <a:off x="3543300" y="5543550"/>
            <a:ext cx="2343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5B61C"/>
                </a:solidFill>
                <a:latin typeface="DejaVu Sans"/>
                <a:ea typeface="DejaVu Sans"/>
                <a:cs typeface="DejaVu Sans"/>
              </a:defRPr>
            </a:pPr>
            <a:r>
              <a:rPr sz="1800" b="1">
                <a:solidFill>
                  <a:srgbClr val="F5B61C"/>
                </a:solidFill>
                <a:latin typeface="DejaVu Sans"/>
                <a:ea typeface="DejaVu Sans"/>
                <a:cs typeface="DejaVu Sans"/>
              </a:rPr>
              <a:t>79% → 86%</a:t>
            </a:r>
          </a:p>
        </p:txBody>
      </p:sp>
      <p:sp>
        <p:nvSpPr>
          <p:cNvPr id="36" name="">
            <a:extLst xmlns:a="http://schemas.openxmlformats.org/drawingml/2006/main">
              <a:ext uri="{FF2B5EF4-FFF2-40B4-BE49-F238E27FC236}">
                <a16:creationId xmlns:a16="http://schemas.microsoft.com/office/drawing/2014/main" id="{8A9CCC68-74FA-48F5-AA47-10EE65FF3069}"/>
              </a:ext>
            </a:extLst>
          </p:cNvPr>
          <p:cNvSpPr>
            <a:spLocks xmlns:a="http://schemas.openxmlformats.org/drawingml/2006/main" noGrp="1"/>
          </p:cNvSpPr>
          <p:nvPr/>
        </p:nvSpPr>
        <p:spPr>
          <a:xfrm xmlns:a="http://schemas.openxmlformats.org/drawingml/2006/main">
            <a:off x="6153150" y="5562600"/>
            <a:ext cx="2895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37" name="">
            <a:extLst xmlns:a="http://schemas.openxmlformats.org/drawingml/2006/main">
              <a:ext uri="{FF2B5EF4-FFF2-40B4-BE49-F238E27FC236}">
                <a16:creationId xmlns:a16="http://schemas.microsoft.com/office/drawing/2014/main" id="{176BC27C-BB86-472E-8EE5-6C17245D70D5}"/>
              </a:ext>
            </a:extLst>
          </p:cNvPr>
          <p:cNvSpPr>
            <a:spLocks xmlns:a="http://schemas.openxmlformats.org/drawingml/2006/main" noGrp="1"/>
          </p:cNvSpPr>
          <p:nvPr/>
        </p:nvSpPr>
        <p:spPr>
          <a:xfrm xmlns:a="http://schemas.openxmlformats.org/drawingml/2006/main">
            <a:off x="9086850" y="5543550"/>
            <a:ext cx="2343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5B61C"/>
                </a:solidFill>
                <a:latin typeface="DejaVu Sans"/>
                <a:ea typeface="DejaVu Sans"/>
                <a:cs typeface="DejaVu Sans"/>
              </a:defRPr>
            </a:pPr>
            <a:r>
              <a:rPr sz="1800" b="1">
                <a:solidFill>
                  <a:srgbClr val="F5B61C"/>
                </a:solidFill>
                <a:latin typeface="DejaVu Sans"/>
                <a:ea typeface="DejaVu Sans"/>
                <a:cs typeface="DejaVu Sans"/>
              </a:rPr>
              <a:t>18% → 31%</a:t>
            </a:r>
          </a:p>
        </p:txBody>
      </p:sp>
      <p:sp>
        <p:nvSpPr>
          <p:cNvPr id="38" name="">
            <a:extLst xmlns:a="http://schemas.openxmlformats.org/drawingml/2006/main">
              <a:ext uri="{FF2B5EF4-FFF2-40B4-BE49-F238E27FC236}">
                <a16:creationId xmlns:a16="http://schemas.microsoft.com/office/drawing/2014/main" id="{37353EFA-4131-4173-A146-FF33C474AFF2}"/>
              </a:ext>
            </a:extLst>
          </p:cNvPr>
          <p:cNvSpPr>
            <a:spLocks xmlns:a="http://schemas.openxmlformats.org/drawingml/2006/main" noGrp="1"/>
          </p:cNvSpPr>
          <p:nvPr/>
        </p:nvSpPr>
        <p:spPr>
          <a:xfrm xmlns:a="http://schemas.openxmlformats.org/drawingml/2006/main">
            <a:off x="609600" y="59531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New cohorts, first 3 months. Usage proxies, not welfare.</a:t>
            </a:r>
          </a:p>
        </p:txBody>
      </p:sp>
      <p:sp>
        <p:nvSpPr>
          <p:cNvPr id="39" name="">
            <a:extLst xmlns:a="http://schemas.openxmlformats.org/drawingml/2006/main">
              <a:ext uri="{FF2B5EF4-FFF2-40B4-BE49-F238E27FC236}">
                <a16:creationId xmlns:a16="http://schemas.microsoft.com/office/drawing/2014/main" id="{03F5A46B-C323-4DF9-AF91-3D420CD81BE6}"/>
              </a:ext>
            </a:extLst>
          </p:cNvPr>
          <p:cNvSpPr>
            <a:spLocks xmlns:a="http://schemas.openxmlformats.org/drawingml/2006/main" noGrp="1"/>
          </p:cNvSpPr>
          <p:nvPr/>
        </p:nvSpPr>
        <p:spPr>
          <a:xfrm xmlns:a="http://schemas.openxmlformats.org/drawingml/2006/main">
            <a:off x="609600" y="6334125"/>
            <a:ext cx="10429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569034835"/>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EF06D9C-568B-44E7-96C3-F133C8C2080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8F1279A4-3E3F-494F-B292-89E46695C0B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862D4BA-BD8E-4C19-8158-F5AB1196D3C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A789EE4F-2588-4750-A1F6-F6C1DCCB6BEB}"/>
              </a:ext>
            </a:extLst>
          </p:cNvPr>
          <p:cNvSpPr>
            <a:spLocks xmlns:a="http://schemas.openxmlformats.org/drawingml/2006/main" noGrp="1"/>
          </p:cNvSpPr>
          <p:nvPr/>
        </p:nvSpPr>
        <p:spPr>
          <a:xfrm xmlns:a="http://schemas.openxmlformats.org/drawingml/2006/main" flipH="0" flipV="0">
            <a:off x="838200" y="4629150"/>
            <a:ext cx="67056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7A36594C-C9B9-422E-A9B6-C74763AD40AA}"/>
              </a:ext>
            </a:extLst>
          </p:cNvPr>
          <p:cNvSpPr>
            <a:spLocks xmlns:a="http://schemas.openxmlformats.org/drawingml/2006/main" noGrp="1"/>
          </p:cNvSpPr>
          <p:nvPr/>
        </p:nvSpPr>
        <p:spPr>
          <a:xfrm xmlns:a="http://schemas.openxmlformats.org/drawingml/2006/main" flipH="0" flipV="1">
            <a:off x="838200" y="2114550"/>
            <a:ext cx="0" cy="25146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7106FF02-07B2-48A0-8298-173667F63233}"/>
              </a:ext>
            </a:extLst>
          </p:cNvPr>
          <p:cNvSpPr>
            <a:spLocks xmlns:a="http://schemas.openxmlformats.org/drawingml/2006/main" noGrp="1"/>
          </p:cNvSpPr>
          <p:nvPr/>
        </p:nvSpPr>
        <p:spPr>
          <a:xfrm xmlns:a="http://schemas.openxmlformats.org/drawingml/2006/main" flipH="0" flipV="1">
            <a:off x="952500" y="4200525"/>
            <a:ext cx="1333500" cy="26670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7F9174E4-BF3F-47B7-B741-2C447E7966F1}"/>
              </a:ext>
            </a:extLst>
          </p:cNvPr>
          <p:cNvSpPr>
            <a:spLocks xmlns:a="http://schemas.openxmlformats.org/drawingml/2006/main" noGrp="1"/>
          </p:cNvSpPr>
          <p:nvPr/>
        </p:nvSpPr>
        <p:spPr>
          <a:xfrm xmlns:a="http://schemas.openxmlformats.org/drawingml/2006/main" flipH="0" flipV="1">
            <a:off x="2286000" y="3695700"/>
            <a:ext cx="1428750" cy="50482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8" name="">
            <a:extLst xmlns:a="http://schemas.openxmlformats.org/drawingml/2006/main">
              <a:ext uri="{FF2B5EF4-FFF2-40B4-BE49-F238E27FC236}">
                <a16:creationId xmlns:a16="http://schemas.microsoft.com/office/drawing/2014/main" id="{1E84A55B-5AB4-4C99-A1FF-21BD1CBBC590}"/>
              </a:ext>
            </a:extLst>
          </p:cNvPr>
          <p:cNvSpPr>
            <a:spLocks xmlns:a="http://schemas.openxmlformats.org/drawingml/2006/main" noGrp="1"/>
          </p:cNvSpPr>
          <p:nvPr/>
        </p:nvSpPr>
        <p:spPr>
          <a:xfrm xmlns:a="http://schemas.openxmlformats.org/drawingml/2006/main" flipH="0" flipV="1">
            <a:off x="3714750" y="2876550"/>
            <a:ext cx="1476375" cy="81915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9" name="">
            <a:extLst xmlns:a="http://schemas.openxmlformats.org/drawingml/2006/main">
              <a:ext uri="{FF2B5EF4-FFF2-40B4-BE49-F238E27FC236}">
                <a16:creationId xmlns:a16="http://schemas.microsoft.com/office/drawing/2014/main" id="{2478BE43-781C-4449-9029-D1CC31640322}"/>
              </a:ext>
            </a:extLst>
          </p:cNvPr>
          <p:cNvSpPr>
            <a:spLocks xmlns:a="http://schemas.openxmlformats.org/drawingml/2006/main" noGrp="1"/>
          </p:cNvSpPr>
          <p:nvPr/>
        </p:nvSpPr>
        <p:spPr>
          <a:xfrm xmlns:a="http://schemas.openxmlformats.org/drawingml/2006/main" flipH="0" flipV="1">
            <a:off x="5191125" y="2124075"/>
            <a:ext cx="1905000" cy="75247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0" name="">
            <a:extLst xmlns:a="http://schemas.openxmlformats.org/drawingml/2006/main">
              <a:ext uri="{FF2B5EF4-FFF2-40B4-BE49-F238E27FC236}">
                <a16:creationId xmlns:a16="http://schemas.microsoft.com/office/drawing/2014/main" id="{2D91D91D-107C-407D-8CD5-047BF2FD4747}"/>
              </a:ext>
            </a:extLst>
          </p:cNvPr>
          <p:cNvSpPr>
            <a:spLocks xmlns:a="http://schemas.openxmlformats.org/drawingml/2006/main" noGrp="1"/>
          </p:cNvSpPr>
          <p:nvPr/>
        </p:nvSpPr>
        <p:spPr>
          <a:xfrm xmlns:a="http://schemas.openxmlformats.org/drawingml/2006/main" flipH="0" flipV="1">
            <a:off x="952500" y="4352925"/>
            <a:ext cx="1333500" cy="11430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1" name="">
            <a:extLst xmlns:a="http://schemas.openxmlformats.org/drawingml/2006/main">
              <a:ext uri="{FF2B5EF4-FFF2-40B4-BE49-F238E27FC236}">
                <a16:creationId xmlns:a16="http://schemas.microsoft.com/office/drawing/2014/main" id="{1FA5D183-EC05-4C8D-B164-5D4848818BE5}"/>
              </a:ext>
            </a:extLst>
          </p:cNvPr>
          <p:cNvSpPr>
            <a:spLocks xmlns:a="http://schemas.openxmlformats.org/drawingml/2006/main" noGrp="1"/>
          </p:cNvSpPr>
          <p:nvPr/>
        </p:nvSpPr>
        <p:spPr>
          <a:xfrm xmlns:a="http://schemas.openxmlformats.org/drawingml/2006/main" flipH="0" flipV="1">
            <a:off x="2286000" y="4181475"/>
            <a:ext cx="1428750" cy="17145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2" name="">
            <a:extLst xmlns:a="http://schemas.openxmlformats.org/drawingml/2006/main">
              <a:ext uri="{FF2B5EF4-FFF2-40B4-BE49-F238E27FC236}">
                <a16:creationId xmlns:a16="http://schemas.microsoft.com/office/drawing/2014/main" id="{ADD827AB-7881-4A95-BD77-B6EA284A178F}"/>
              </a:ext>
            </a:extLst>
          </p:cNvPr>
          <p:cNvSpPr>
            <a:spLocks xmlns:a="http://schemas.openxmlformats.org/drawingml/2006/main" noGrp="1"/>
          </p:cNvSpPr>
          <p:nvPr/>
        </p:nvSpPr>
        <p:spPr>
          <a:xfrm xmlns:a="http://schemas.openxmlformats.org/drawingml/2006/main" flipH="0" flipV="1">
            <a:off x="3714750" y="3943350"/>
            <a:ext cx="1476375" cy="2381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3" name="">
            <a:extLst xmlns:a="http://schemas.openxmlformats.org/drawingml/2006/main">
              <a:ext uri="{FF2B5EF4-FFF2-40B4-BE49-F238E27FC236}">
                <a16:creationId xmlns:a16="http://schemas.microsoft.com/office/drawing/2014/main" id="{BD23DE0C-56BC-43DD-BCF6-02CCEE11F2CE}"/>
              </a:ext>
            </a:extLst>
          </p:cNvPr>
          <p:cNvSpPr>
            <a:spLocks xmlns:a="http://schemas.openxmlformats.org/drawingml/2006/main" noGrp="1"/>
          </p:cNvSpPr>
          <p:nvPr/>
        </p:nvSpPr>
        <p:spPr>
          <a:xfrm xmlns:a="http://schemas.openxmlformats.org/drawingml/2006/main" flipH="0" flipV="1">
            <a:off x="5191125" y="3667125"/>
            <a:ext cx="1905000" cy="2762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4" name="">
            <a:extLst xmlns:a="http://schemas.openxmlformats.org/drawingml/2006/main">
              <a:ext uri="{FF2B5EF4-FFF2-40B4-BE49-F238E27FC236}">
                <a16:creationId xmlns:a16="http://schemas.microsoft.com/office/drawing/2014/main" id="{261B5B29-D17F-446A-8FFF-7A2A83B81371}"/>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DejaVu Sans"/>
                <a:ea typeface="DejaVu Sans"/>
                <a:cs typeface="DejaVu Sans"/>
              </a:defRPr>
            </a:pPr>
            <a:r>
              <a:rPr sz="1875" b="1">
                <a:solidFill>
                  <a:srgbClr val="28C7F7"/>
                </a:solidFill>
                <a:latin typeface="DejaVu Sans"/>
                <a:ea typeface="DejaVu Sans"/>
                <a:cs typeface="DejaVu Sans"/>
              </a:rPr>
              <a:t>Machine generation capacity</a:t>
            </a:r>
          </a:p>
        </p:txBody>
      </p:sp>
      <p:sp>
        <p:nvSpPr>
          <p:cNvPr id="15" name="">
            <a:extLst xmlns:a="http://schemas.openxmlformats.org/drawingml/2006/main">
              <a:ext uri="{FF2B5EF4-FFF2-40B4-BE49-F238E27FC236}">
                <a16:creationId xmlns:a16="http://schemas.microsoft.com/office/drawing/2014/main" id="{A25C5FE4-B000-4308-902F-7C33E9C38379}"/>
              </a:ext>
            </a:extLst>
          </p:cNvPr>
          <p:cNvSpPr>
            <a:spLocks xmlns:a="http://schemas.openxmlformats.org/drawingml/2006/main" noGrp="1"/>
          </p:cNvSpPr>
          <p:nvPr/>
        </p:nvSpPr>
        <p:spPr>
          <a:xfrm xmlns:a="http://schemas.openxmlformats.org/drawingml/2006/main">
            <a:off x="1028700" y="47815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DejaVu Sans"/>
                <a:ea typeface="DejaVu Sans"/>
                <a:cs typeface="DejaVu Sans"/>
              </a:defRPr>
            </a:pPr>
            <a:r>
              <a:rPr sz="1725" b="0">
                <a:solidFill>
                  <a:srgbClr val="F5B61C"/>
                </a:solidFill>
                <a:latin typeface="DejaVu Sans"/>
                <a:ea typeface="DejaVu Sans"/>
                <a:cs typeface="DejaVu Sans"/>
              </a:rPr>
              <a:t>Human comprehension capacity</a:t>
            </a:r>
          </a:p>
        </p:txBody>
      </p:sp>
      <p:sp>
        <p:nvSpPr>
          <p:cNvPr id="16" name="">
            <a:extLst xmlns:a="http://schemas.openxmlformats.org/drawingml/2006/main">
              <a:ext uri="{FF2B5EF4-FFF2-40B4-BE49-F238E27FC236}">
                <a16:creationId xmlns:a16="http://schemas.microsoft.com/office/drawing/2014/main" id="{D4EF5233-977F-4A32-9BB1-223774B12ED7}"/>
              </a:ext>
            </a:extLst>
          </p:cNvPr>
          <p:cNvSpPr>
            <a:spLocks xmlns:a="http://schemas.openxmlformats.org/drawingml/2006/main" noGrp="1"/>
          </p:cNvSpPr>
          <p:nvPr/>
        </p:nvSpPr>
        <p:spPr>
          <a:xfrm xmlns:a="http://schemas.openxmlformats.org/drawingml/2006/main">
            <a:off x="5143500" y="2952750"/>
            <a:ext cx="2286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Potential</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comprehension gap</a:t>
            </a:r>
          </a:p>
        </p:txBody>
      </p:sp>
      <p:sp>
        <p:nvSpPr>
          <p:cNvPr id="17" name="">
            <a:extLst xmlns:a="http://schemas.openxmlformats.org/drawingml/2006/main">
              <a:ext uri="{FF2B5EF4-FFF2-40B4-BE49-F238E27FC236}">
                <a16:creationId xmlns:a16="http://schemas.microsoft.com/office/drawing/2014/main" id="{EE1157E7-3563-45CD-AC05-48DF24C8DC88}"/>
              </a:ext>
            </a:extLst>
          </p:cNvPr>
          <p:cNvSpPr>
            <a:spLocks xmlns:a="http://schemas.openxmlformats.org/drawingml/2006/main" noGrp="1"/>
          </p:cNvSpPr>
          <p:nvPr/>
        </p:nvSpPr>
        <p:spPr>
          <a:xfrm xmlns:a="http://schemas.openxmlformats.org/drawingml/2006/main">
            <a:off x="8096250" y="218122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Can we generate it?</a:t>
            </a:r>
          </a:p>
        </p:txBody>
      </p:sp>
      <p:sp>
        <p:nvSpPr>
          <p:cNvPr id="18" name="">
            <a:extLst xmlns:a="http://schemas.openxmlformats.org/drawingml/2006/main">
              <a:ext uri="{FF2B5EF4-FFF2-40B4-BE49-F238E27FC236}">
                <a16:creationId xmlns:a16="http://schemas.microsoft.com/office/drawing/2014/main" id="{DC3EE533-8E53-48D8-8507-CC8180D3DC0B}"/>
              </a:ext>
            </a:extLst>
          </p:cNvPr>
          <p:cNvSpPr>
            <a:spLocks xmlns:a="http://schemas.openxmlformats.org/drawingml/2006/main" noGrp="1"/>
          </p:cNvSpPr>
          <p:nvPr/>
        </p:nvSpPr>
        <p:spPr>
          <a:xfrm xmlns:a="http://schemas.openxmlformats.org/drawingml/2006/main">
            <a:off x="8096250" y="3276600"/>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Can we review it?</a:t>
            </a:r>
          </a:p>
        </p:txBody>
      </p:sp>
      <p:sp>
        <p:nvSpPr>
          <p:cNvPr id="19" name="">
            <a:extLst xmlns:a="http://schemas.openxmlformats.org/drawingml/2006/main">
              <a:ext uri="{FF2B5EF4-FFF2-40B4-BE49-F238E27FC236}">
                <a16:creationId xmlns:a16="http://schemas.microsoft.com/office/drawing/2014/main" id="{3D7AEA8B-85D7-4F58-9DCF-86A7D93C85BB}"/>
              </a:ext>
            </a:extLst>
          </p:cNvPr>
          <p:cNvSpPr>
            <a:spLocks xmlns:a="http://schemas.openxmlformats.org/drawingml/2006/main" noGrp="1"/>
          </p:cNvSpPr>
          <p:nvPr/>
        </p:nvSpPr>
        <p:spPr>
          <a:xfrm xmlns:a="http://schemas.openxmlformats.org/drawingml/2006/main">
            <a:off x="8096250" y="43719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Can we own it for 5 years?</a:t>
            </a:r>
          </a:p>
        </p:txBody>
      </p:sp>
      <p:sp>
        <p:nvSpPr>
          <p:cNvPr id="20" name="">
            <a:extLst xmlns:a="http://schemas.openxmlformats.org/drawingml/2006/main">
              <a:ext uri="{FF2B5EF4-FFF2-40B4-BE49-F238E27FC236}">
                <a16:creationId xmlns:a16="http://schemas.microsoft.com/office/drawing/2014/main" id="{BBE7F6BF-2BBC-4D7B-9F47-15F9BBC3969A}"/>
              </a:ext>
            </a:extLst>
          </p:cNvPr>
          <p:cNvSpPr>
            <a:spLocks xmlns:a="http://schemas.openxmlformats.org/drawingml/2006/main" noGrp="1"/>
          </p:cNvSpPr>
          <p:nvPr/>
        </p:nvSpPr>
        <p:spPr>
          <a:xfrm xmlns:a="http://schemas.openxmlformats.org/drawingml/2006/main">
            <a:off x="838200" y="52578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Conceptual illustration; not measured trend data.</a:t>
            </a:r>
          </a:p>
        </p:txBody>
      </p:sp>
      <p:sp>
        <p:nvSpPr>
          <p:cNvPr id="21" name="">
            <a:extLst xmlns:a="http://schemas.openxmlformats.org/drawingml/2006/main">
              <a:ext uri="{FF2B5EF4-FFF2-40B4-BE49-F238E27FC236}">
                <a16:creationId xmlns:a16="http://schemas.microsoft.com/office/drawing/2014/main" id="{81DE26F8-DFF6-4A1A-8315-875ABB437ED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AE8C47EC-AD33-4A12-9BF9-0E64E0F7F3F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722455598"/>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F104A93-625C-4C31-9C89-230BF02598C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12E59810-C4EF-487D-8039-0DC88D3C8E2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A453008-D39A-401A-B2B7-7B3F2779542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42D2B376-6B2D-4BD2-8039-24D8972839C6}"/>
              </a:ext>
            </a:extLst>
          </p:cNvPr>
          <p:cNvSpPr>
            <a:spLocks xmlns:a="http://schemas.openxmlformats.org/drawingml/2006/main" noGrp="1"/>
          </p:cNvSpPr>
          <p:nvPr/>
        </p:nvSpPr>
        <p:spPr>
          <a:xfrm xmlns:a="http://schemas.openxmlformats.org/drawingml/2006/main">
            <a:off x="609600" y="211455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Production is down.</a:t>
            </a:r>
          </a:p>
        </p:txBody>
      </p:sp>
      <p:sp>
        <p:nvSpPr>
          <p:cNvPr id="5" name="">
            <a:extLst xmlns:a="http://schemas.openxmlformats.org/drawingml/2006/main">
              <a:ext uri="{FF2B5EF4-FFF2-40B4-BE49-F238E27FC236}">
                <a16:creationId xmlns:a16="http://schemas.microsoft.com/office/drawing/2014/main" id="{AFB9A089-F27A-47ED-9397-AB7E1641266C}"/>
              </a:ext>
            </a:extLst>
          </p:cNvPr>
          <p:cNvSpPr>
            <a:spLocks xmlns:a="http://schemas.openxmlformats.org/drawingml/2006/main" noGrp="1"/>
          </p:cNvSpPr>
          <p:nvPr/>
        </p:nvSpPr>
        <p:spPr>
          <a:xfrm xmlns:a="http://schemas.openxmlformats.org/drawingml/2006/main">
            <a:off x="609600" y="285750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Three agent fixes fail.</a:t>
            </a:r>
          </a:p>
        </p:txBody>
      </p:sp>
      <p:sp>
        <p:nvSpPr>
          <p:cNvPr id="6" name="">
            <a:extLst xmlns:a="http://schemas.openxmlformats.org/drawingml/2006/main">
              <a:ext uri="{FF2B5EF4-FFF2-40B4-BE49-F238E27FC236}">
                <a16:creationId xmlns:a16="http://schemas.microsoft.com/office/drawing/2014/main" id="{5C2AB771-F4FE-4846-A0A9-B1F160BBAED7}"/>
              </a:ext>
            </a:extLst>
          </p:cNvPr>
          <p:cNvSpPr>
            <a:spLocks xmlns:a="http://schemas.openxmlformats.org/drawingml/2006/main" noGrp="1"/>
          </p:cNvSpPr>
          <p:nvPr/>
        </p:nvSpPr>
        <p:spPr>
          <a:xfrm xmlns:a="http://schemas.openxmlformats.org/drawingml/2006/main">
            <a:off x="609600" y="360045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600" b="1">
                <a:solidFill>
                  <a:srgbClr val="F5B61C"/>
                </a:solidFill>
                <a:latin typeface="DejaVu Sans"/>
                <a:ea typeface="DejaVu Sans"/>
                <a:cs typeface="DejaVu Sans"/>
              </a:defRPr>
            </a:pPr>
            <a:r>
              <a:rPr sz="3600" b="1">
                <a:solidFill>
                  <a:srgbClr val="F5B61C"/>
                </a:solidFill>
                <a:latin typeface="DejaVu Sans"/>
                <a:ea typeface="DejaVu Sans"/>
                <a:cs typeface="DejaVu Sans"/>
              </a:rPr>
              <a:t>Now what?</a:t>
            </a:r>
          </a:p>
        </p:txBody>
      </p:sp>
      <p:sp>
        <p:nvSpPr>
          <p:cNvPr id="7" name="">
            <a:extLst xmlns:a="http://schemas.openxmlformats.org/drawingml/2006/main">
              <a:ext uri="{FF2B5EF4-FFF2-40B4-BE49-F238E27FC236}">
                <a16:creationId xmlns:a16="http://schemas.microsoft.com/office/drawing/2014/main" id="{239F99C1-5A99-4D0F-89F9-D421B017ED86}"/>
              </a:ext>
            </a:extLst>
          </p:cNvPr>
          <p:cNvSpPr>
            <a:spLocks xmlns:a="http://schemas.openxmlformats.org/drawingml/2006/main" noGrp="1"/>
          </p:cNvSpPr>
          <p:nvPr/>
        </p:nvSpPr>
        <p:spPr>
          <a:xfrm xmlns:a="http://schemas.openxmlformats.org/drawingml/2006/main">
            <a:off x="8667750" y="2057400"/>
            <a:ext cx="266700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8" name="">
            <a:extLst xmlns:a="http://schemas.openxmlformats.org/drawingml/2006/main">
              <a:ext uri="{FF2B5EF4-FFF2-40B4-BE49-F238E27FC236}">
                <a16:creationId xmlns:a16="http://schemas.microsoft.com/office/drawing/2014/main" id="{53B64194-C980-402D-9976-C92204118BCC}"/>
              </a:ext>
            </a:extLst>
          </p:cNvPr>
          <p:cNvSpPr>
            <a:spLocks xmlns:a="http://schemas.openxmlformats.org/drawingml/2006/main" noGrp="1"/>
          </p:cNvSpPr>
          <p:nvPr/>
        </p:nvSpPr>
        <p:spPr>
          <a:xfrm xmlns:a="http://schemas.openxmlformats.org/drawingml/2006/main">
            <a:off x="8782050" y="2133600"/>
            <a:ext cx="2438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AI AGENT</a:t>
            </a:r>
          </a:p>
        </p:txBody>
      </p:sp>
      <p:sp>
        <p:nvSpPr>
          <p:cNvPr id="9" name="">
            <a:extLst xmlns:a="http://schemas.openxmlformats.org/drawingml/2006/main">
              <a:ext uri="{FF2B5EF4-FFF2-40B4-BE49-F238E27FC236}">
                <a16:creationId xmlns:a16="http://schemas.microsoft.com/office/drawing/2014/main" id="{EDD0B152-76FA-4006-8C50-C88BE7CB6882}"/>
              </a:ext>
            </a:extLst>
          </p:cNvPr>
          <p:cNvSpPr>
            <a:spLocks xmlns:a="http://schemas.openxmlformats.org/drawingml/2006/main" noGrp="1"/>
          </p:cNvSpPr>
          <p:nvPr/>
        </p:nvSpPr>
        <p:spPr>
          <a:xfrm xmlns:a="http://schemas.openxmlformats.org/drawingml/2006/main">
            <a:off x="8667750" y="3676650"/>
            <a:ext cx="26670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0" name="">
            <a:extLst xmlns:a="http://schemas.openxmlformats.org/drawingml/2006/main">
              <a:ext uri="{FF2B5EF4-FFF2-40B4-BE49-F238E27FC236}">
                <a16:creationId xmlns:a16="http://schemas.microsoft.com/office/drawing/2014/main" id="{B2ECA8BC-BA9E-4545-8CBE-3678055DB3AD}"/>
              </a:ext>
            </a:extLst>
          </p:cNvPr>
          <p:cNvSpPr>
            <a:spLocks xmlns:a="http://schemas.openxmlformats.org/drawingml/2006/main" noGrp="1"/>
          </p:cNvSpPr>
          <p:nvPr/>
        </p:nvSpPr>
        <p:spPr>
          <a:xfrm xmlns:a="http://schemas.openxmlformats.org/drawingml/2006/main">
            <a:off x="8782050" y="3752850"/>
            <a:ext cx="2438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TEAM</a:t>
            </a:r>
          </a:p>
        </p:txBody>
      </p:sp>
      <p:cxnSp>
        <p:nvCxnSpPr>
          <p:cNvPr id="30" name=""/>
          <p:cNvCxnSpPr>
            <a:stCxn xmlns:a="http://schemas.openxmlformats.org/drawingml/2006/main" id="7" idx="2"/>
            <a:endCxn xmlns:a="http://schemas.openxmlformats.org/drawingml/2006/main" id="9" idx="0"/>
          </p:cNvCxnSpPr>
          <p:nvPr/>
        </p:nvCxnSpPr>
        <p:spPr>
          <a:xfrm xmlns:a="http://schemas.openxmlformats.org/drawingml/2006/main">
            <a:off x="10001250" y="2762250"/>
            <a:ext cx="0" cy="9144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93EFE890-08CF-4A44-A1E1-FE03A00F1241}"/>
              </a:ext>
            </a:extLst>
          </p:cNvPr>
          <p:cNvSpPr>
            <a:spLocks xmlns:a="http://schemas.openxmlformats.org/drawingml/2006/main" noGrp="1"/>
          </p:cNvSpPr>
          <p:nvPr/>
        </p:nvSpPr>
        <p:spPr>
          <a:xfrm xmlns:a="http://schemas.openxmlformats.org/drawingml/2006/main">
            <a:off x="7410450" y="2933700"/>
            <a:ext cx="209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Recovery</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fails</a:t>
            </a:r>
          </a:p>
        </p:txBody>
      </p:sp>
      <p:sp>
        <p:nvSpPr>
          <p:cNvPr id="13" name="">
            <a:extLst xmlns:a="http://schemas.openxmlformats.org/drawingml/2006/main">
              <a:ext uri="{FF2B5EF4-FFF2-40B4-BE49-F238E27FC236}">
                <a16:creationId xmlns:a16="http://schemas.microsoft.com/office/drawing/2014/main" id="{D74E9226-7F37-4E8C-9B9F-0E10D178CE7D}"/>
              </a:ext>
            </a:extLst>
          </p:cNvPr>
          <p:cNvSpPr>
            <a:spLocks xmlns:a="http://schemas.openxmlformats.org/drawingml/2006/main" noGrp="1"/>
          </p:cNvSpPr>
          <p:nvPr/>
        </p:nvSpPr>
        <p:spPr>
          <a:xfrm xmlns:a="http://schemas.openxmlformats.org/drawingml/2006/main">
            <a:off x="609600" y="4371975"/>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incident</a:t>
            </a:r>
          </a:p>
        </p:txBody>
      </p:sp>
      <p:sp>
        <p:nvSpPr>
          <p:cNvPr id="14" name="">
            <a:extLst xmlns:a="http://schemas.openxmlformats.org/drawingml/2006/main">
              <a:ext uri="{FF2B5EF4-FFF2-40B4-BE49-F238E27FC236}">
                <a16:creationId xmlns:a16="http://schemas.microsoft.com/office/drawing/2014/main" id="{5DCD1BDD-5777-4199-86DD-EA0ED6C95640}"/>
              </a:ext>
            </a:extLst>
          </p:cNvPr>
          <p:cNvSpPr>
            <a:spLocks xmlns:a="http://schemas.openxmlformats.org/drawingml/2006/main" noGrp="1"/>
          </p:cNvSpPr>
          <p:nvPr/>
        </p:nvSpPr>
        <p:spPr>
          <a:xfrm xmlns:a="http://schemas.openxmlformats.org/drawingml/2006/main">
            <a:off x="609600" y="4876800"/>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Watch</a:t>
            </a:r>
          </a:p>
        </p:txBody>
      </p:sp>
      <p:sp>
        <p:nvSpPr>
          <p:cNvPr id="15" name="">
            <a:extLst xmlns:a="http://schemas.openxmlformats.org/drawingml/2006/main">
              <a:ext uri="{FF2B5EF4-FFF2-40B4-BE49-F238E27FC236}">
                <a16:creationId xmlns:a16="http://schemas.microsoft.com/office/drawing/2014/main" id="{93767B1D-B609-49EC-8F6E-E1ED318647C1}"/>
              </a:ext>
            </a:extLst>
          </p:cNvPr>
          <p:cNvSpPr>
            <a:spLocks xmlns:a="http://schemas.openxmlformats.org/drawingml/2006/main" noGrp="1"/>
          </p:cNvSpPr>
          <p:nvPr/>
        </p:nvSpPr>
        <p:spPr>
          <a:xfrm xmlns:a="http://schemas.openxmlformats.org/drawingml/2006/main">
            <a:off x="1866900" y="4772025"/>
            <a:ext cx="9658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Complexity / volume / duplication / reuse / ownership / comprehension</a:t>
            </a:r>
          </a:p>
        </p:txBody>
      </p:sp>
      <p:sp>
        <p:nvSpPr>
          <p:cNvPr id="16" name="">
            <a:extLst xmlns:a="http://schemas.openxmlformats.org/drawingml/2006/main">
              <a:ext uri="{FF2B5EF4-FFF2-40B4-BE49-F238E27FC236}">
                <a16:creationId xmlns:a16="http://schemas.microsoft.com/office/drawing/2014/main" id="{A8151A32-1CD3-4ED3-9EAF-51B6BC75821F}"/>
              </a:ext>
            </a:extLst>
          </p:cNvPr>
          <p:cNvSpPr>
            <a:spLocks xmlns:a="http://schemas.openxmlformats.org/drawingml/2006/main" noGrp="1"/>
          </p:cNvSpPr>
          <p:nvPr/>
        </p:nvSpPr>
        <p:spPr>
          <a:xfrm xmlns:a="http://schemas.openxmlformats.org/drawingml/2006/main">
            <a:off x="609600" y="5353050"/>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Explore</a:t>
            </a:r>
          </a:p>
        </p:txBody>
      </p:sp>
      <p:sp>
        <p:nvSpPr>
          <p:cNvPr id="17" name="">
            <a:extLst xmlns:a="http://schemas.openxmlformats.org/drawingml/2006/main">
              <a:ext uri="{FF2B5EF4-FFF2-40B4-BE49-F238E27FC236}">
                <a16:creationId xmlns:a16="http://schemas.microsoft.com/office/drawing/2014/main" id="{78C8459F-2E1B-42AD-85F1-EAB56C4BB2E1}"/>
              </a:ext>
            </a:extLst>
          </p:cNvPr>
          <p:cNvSpPr>
            <a:spLocks xmlns:a="http://schemas.openxmlformats.org/drawingml/2006/main" noGrp="1"/>
          </p:cNvSpPr>
          <p:nvPr/>
        </p:nvSpPr>
        <p:spPr>
          <a:xfrm xmlns:a="http://schemas.openxmlformats.org/drawingml/2006/main">
            <a:off x="1866900" y="5248275"/>
            <a:ext cx="9658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SDD / living architecture docs / code + docs / repository intelligence</a:t>
            </a:r>
          </a:p>
        </p:txBody>
      </p:sp>
      <p:sp>
        <p:nvSpPr>
          <p:cNvPr id="18" name="">
            <a:extLst xmlns:a="http://schemas.openxmlformats.org/drawingml/2006/main">
              <a:ext uri="{FF2B5EF4-FFF2-40B4-BE49-F238E27FC236}">
                <a16:creationId xmlns:a16="http://schemas.microsoft.com/office/drawing/2014/main" id="{CD9618CA-60B9-4531-93D0-F33B5C9F195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87B74B1F-7C59-4125-A3CC-34596996456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663390554"/>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F257AAC-4C4F-4078-80D1-84A976E463B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Are Searching for a New</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SDLC Equilibrium</a:t>
            </a:r>
          </a:p>
        </p:txBody>
      </p:sp>
      <p:sp>
        <p:nvSpPr>
          <p:cNvPr id="2" name="">
            <a:extLst xmlns:a="http://schemas.openxmlformats.org/drawingml/2006/main">
              <a:ext uri="{FF2B5EF4-FFF2-40B4-BE49-F238E27FC236}">
                <a16:creationId xmlns:a16="http://schemas.microsoft.com/office/drawing/2014/main" id="{5A64F980-4DBF-422C-A32D-5B9860DFC33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A373210-7498-46D4-BA3E-43870463835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CB9C7B64-D61F-4803-95F3-74C4956D44F9}"/>
              </a:ext>
            </a:extLst>
          </p:cNvPr>
          <p:cNvSpPr>
            <a:spLocks xmlns:a="http://schemas.openxmlformats.org/drawingml/2006/main" noGrp="1"/>
          </p:cNvSpPr>
          <p:nvPr/>
        </p:nvSpPr>
        <p:spPr>
          <a:xfrm xmlns:a="http://schemas.openxmlformats.org/drawingml/2006/main">
            <a:off x="60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2A6BA014-36C5-4A82-A22E-00A8B39E4478}"/>
              </a:ext>
            </a:extLst>
          </p:cNvPr>
          <p:cNvSpPr>
            <a:spLocks xmlns:a="http://schemas.openxmlformats.org/drawingml/2006/main" noGrp="1"/>
          </p:cNvSpPr>
          <p:nvPr/>
        </p:nvSpPr>
        <p:spPr>
          <a:xfrm xmlns:a="http://schemas.openxmlformats.org/drawingml/2006/main" flipH="0" flipV="0">
            <a:off x="609600" y="2705100"/>
            <a:ext cx="33528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253F69FE-6511-4BEB-B53F-C030D345FE1B}"/>
              </a:ext>
            </a:extLst>
          </p:cNvPr>
          <p:cNvSpPr>
            <a:spLocks xmlns:a="http://schemas.openxmlformats.org/drawingml/2006/main" noGrp="1"/>
          </p:cNvSpPr>
          <p:nvPr/>
        </p:nvSpPr>
        <p:spPr>
          <a:xfrm xmlns:a="http://schemas.openxmlformats.org/drawingml/2006/main">
            <a:off x="609600" y="30765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writes</a:t>
            </a:r>
          </a:p>
        </p:txBody>
      </p:sp>
      <p:sp>
        <p:nvSpPr>
          <p:cNvPr id="7" name="">
            <a:extLst xmlns:a="http://schemas.openxmlformats.org/drawingml/2006/main">
              <a:ext uri="{FF2B5EF4-FFF2-40B4-BE49-F238E27FC236}">
                <a16:creationId xmlns:a16="http://schemas.microsoft.com/office/drawing/2014/main" id="{DA010A8C-9581-4F08-B678-793E1557FA6C}"/>
              </a:ext>
            </a:extLst>
          </p:cNvPr>
          <p:cNvSpPr>
            <a:spLocks xmlns:a="http://schemas.openxmlformats.org/drawingml/2006/main" noGrp="1"/>
          </p:cNvSpPr>
          <p:nvPr/>
        </p:nvSpPr>
        <p:spPr>
          <a:xfrm xmlns:a="http://schemas.openxmlformats.org/drawingml/2006/main">
            <a:off x="609600" y="35718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reviews</a:t>
            </a:r>
          </a:p>
        </p:txBody>
      </p:sp>
      <p:sp>
        <p:nvSpPr>
          <p:cNvPr id="8" name="">
            <a:extLst xmlns:a="http://schemas.openxmlformats.org/drawingml/2006/main">
              <a:ext uri="{FF2B5EF4-FFF2-40B4-BE49-F238E27FC236}">
                <a16:creationId xmlns:a16="http://schemas.microsoft.com/office/drawing/2014/main" id="{8CFEE917-DAEC-4624-AB4C-E8AB5D90B4E5}"/>
              </a:ext>
            </a:extLst>
          </p:cNvPr>
          <p:cNvSpPr>
            <a:spLocks xmlns:a="http://schemas.openxmlformats.org/drawingml/2006/main" noGrp="1"/>
          </p:cNvSpPr>
          <p:nvPr/>
        </p:nvSpPr>
        <p:spPr>
          <a:xfrm xmlns:a="http://schemas.openxmlformats.org/drawingml/2006/main">
            <a:off x="609600" y="40671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tests</a:t>
            </a:r>
          </a:p>
        </p:txBody>
      </p:sp>
      <p:sp>
        <p:nvSpPr>
          <p:cNvPr id="9" name="">
            <a:extLst xmlns:a="http://schemas.openxmlformats.org/drawingml/2006/main">
              <a:ext uri="{FF2B5EF4-FFF2-40B4-BE49-F238E27FC236}">
                <a16:creationId xmlns:a16="http://schemas.microsoft.com/office/drawing/2014/main" id="{86F6E18E-8AA2-484F-8ABF-337EB8DB31EB}"/>
              </a:ext>
            </a:extLst>
          </p:cNvPr>
          <p:cNvSpPr>
            <a:spLocks xmlns:a="http://schemas.openxmlformats.org/drawingml/2006/main" noGrp="1"/>
          </p:cNvSpPr>
          <p:nvPr/>
        </p:nvSpPr>
        <p:spPr>
          <a:xfrm xmlns:a="http://schemas.openxmlformats.org/drawingml/2006/main">
            <a:off x="609600" y="45624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operates</a:t>
            </a:r>
          </a:p>
        </p:txBody>
      </p:sp>
      <p:sp>
        <p:nvSpPr>
          <p:cNvPr id="10" name="">
            <a:extLst xmlns:a="http://schemas.openxmlformats.org/drawingml/2006/main">
              <a:ext uri="{FF2B5EF4-FFF2-40B4-BE49-F238E27FC236}">
                <a16:creationId xmlns:a16="http://schemas.microsoft.com/office/drawing/2014/main" id="{4D663C15-359E-479D-BFAC-9B3544F384DE}"/>
              </a:ext>
            </a:extLst>
          </p:cNvPr>
          <p:cNvSpPr>
            <a:spLocks xmlns:a="http://schemas.openxmlformats.org/drawingml/2006/main" noGrp="1"/>
          </p:cNvSpPr>
          <p:nvPr/>
        </p:nvSpPr>
        <p:spPr>
          <a:xfrm xmlns:a="http://schemas.openxmlformats.org/drawingml/2006/main">
            <a:off x="441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TODAY</a:t>
            </a:r>
          </a:p>
        </p:txBody>
      </p:sp>
      <p:sp>
        <p:nvSpPr>
          <p:cNvPr id="11" name="">
            <a:extLst xmlns:a="http://schemas.openxmlformats.org/drawingml/2006/main">
              <a:ext uri="{FF2B5EF4-FFF2-40B4-BE49-F238E27FC236}">
                <a16:creationId xmlns:a16="http://schemas.microsoft.com/office/drawing/2014/main" id="{D9FA42C2-6493-4D6D-958E-59CB76EDC318}"/>
              </a:ext>
            </a:extLst>
          </p:cNvPr>
          <p:cNvSpPr>
            <a:spLocks xmlns:a="http://schemas.openxmlformats.org/drawingml/2006/main" noGrp="1"/>
          </p:cNvSpPr>
          <p:nvPr/>
        </p:nvSpPr>
        <p:spPr>
          <a:xfrm xmlns:a="http://schemas.openxmlformats.org/drawingml/2006/main" flipH="0" flipV="0">
            <a:off x="4419600" y="2705100"/>
            <a:ext cx="335280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12" name="">
            <a:extLst xmlns:a="http://schemas.openxmlformats.org/drawingml/2006/main">
              <a:ext uri="{FF2B5EF4-FFF2-40B4-BE49-F238E27FC236}">
                <a16:creationId xmlns:a16="http://schemas.microsoft.com/office/drawing/2014/main" id="{EA04E271-DB3E-4087-A8F0-C2385D2F9EDC}"/>
              </a:ext>
            </a:extLst>
          </p:cNvPr>
          <p:cNvSpPr>
            <a:spLocks xmlns:a="http://schemas.openxmlformats.org/drawingml/2006/main" noGrp="1"/>
          </p:cNvSpPr>
          <p:nvPr/>
        </p:nvSpPr>
        <p:spPr>
          <a:xfrm xmlns:a="http://schemas.openxmlformats.org/drawingml/2006/main">
            <a:off x="4419600" y="30765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AI generation ↑↑</a:t>
            </a:r>
          </a:p>
        </p:txBody>
      </p:sp>
      <p:sp>
        <p:nvSpPr>
          <p:cNvPr id="13" name="">
            <a:extLst xmlns:a="http://schemas.openxmlformats.org/drawingml/2006/main">
              <a:ext uri="{FF2B5EF4-FFF2-40B4-BE49-F238E27FC236}">
                <a16:creationId xmlns:a16="http://schemas.microsoft.com/office/drawing/2014/main" id="{8108E90E-C1B1-47A2-839E-40CC75F35D01}"/>
              </a:ext>
            </a:extLst>
          </p:cNvPr>
          <p:cNvSpPr>
            <a:spLocks xmlns:a="http://schemas.openxmlformats.org/drawingml/2006/main" noGrp="1"/>
          </p:cNvSpPr>
          <p:nvPr/>
        </p:nvSpPr>
        <p:spPr>
          <a:xfrm xmlns:a="http://schemas.openxmlformats.org/drawingml/2006/main">
            <a:off x="4419600" y="35718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Review adapting</a:t>
            </a:r>
          </a:p>
        </p:txBody>
      </p:sp>
      <p:sp>
        <p:nvSpPr>
          <p:cNvPr id="14" name="">
            <a:extLst xmlns:a="http://schemas.openxmlformats.org/drawingml/2006/main">
              <a:ext uri="{FF2B5EF4-FFF2-40B4-BE49-F238E27FC236}">
                <a16:creationId xmlns:a16="http://schemas.microsoft.com/office/drawing/2014/main" id="{696C8A1E-E42E-4A3C-9F04-887A7DC9C87F}"/>
              </a:ext>
            </a:extLst>
          </p:cNvPr>
          <p:cNvSpPr>
            <a:spLocks xmlns:a="http://schemas.openxmlformats.org/drawingml/2006/main" noGrp="1"/>
          </p:cNvSpPr>
          <p:nvPr/>
        </p:nvSpPr>
        <p:spPr>
          <a:xfrm xmlns:a="http://schemas.openxmlformats.org/drawingml/2006/main">
            <a:off x="4419600" y="40671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Testing adapting</a:t>
            </a:r>
          </a:p>
        </p:txBody>
      </p:sp>
      <p:sp>
        <p:nvSpPr>
          <p:cNvPr id="15" name="">
            <a:extLst xmlns:a="http://schemas.openxmlformats.org/drawingml/2006/main">
              <a:ext uri="{FF2B5EF4-FFF2-40B4-BE49-F238E27FC236}">
                <a16:creationId xmlns:a16="http://schemas.microsoft.com/office/drawing/2014/main" id="{6A21E45C-62CA-4F41-94C4-F4F9E7E620A4}"/>
              </a:ext>
            </a:extLst>
          </p:cNvPr>
          <p:cNvSpPr>
            <a:spLocks xmlns:a="http://schemas.openxmlformats.org/drawingml/2006/main" noGrp="1"/>
          </p:cNvSpPr>
          <p:nvPr/>
        </p:nvSpPr>
        <p:spPr>
          <a:xfrm xmlns:a="http://schemas.openxmlformats.org/drawingml/2006/main">
            <a:off x="4419600" y="45624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Ownership adapting</a:t>
            </a:r>
          </a:p>
        </p:txBody>
      </p:sp>
      <p:sp>
        <p:nvSpPr>
          <p:cNvPr id="16" name="">
            <a:extLst xmlns:a="http://schemas.openxmlformats.org/drawingml/2006/main">
              <a:ext uri="{FF2B5EF4-FFF2-40B4-BE49-F238E27FC236}">
                <a16:creationId xmlns:a16="http://schemas.microsoft.com/office/drawing/2014/main" id="{34ECA3EA-56AA-44ED-8285-D0930684FD9B}"/>
              </a:ext>
            </a:extLst>
          </p:cNvPr>
          <p:cNvSpPr>
            <a:spLocks xmlns:a="http://schemas.openxmlformats.org/drawingml/2006/main" noGrp="1"/>
          </p:cNvSpPr>
          <p:nvPr/>
        </p:nvSpPr>
        <p:spPr>
          <a:xfrm xmlns:a="http://schemas.openxmlformats.org/drawingml/2006/main">
            <a:off x="822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NEW EQUILIBRIUM</a:t>
            </a:r>
          </a:p>
        </p:txBody>
      </p:sp>
      <p:sp>
        <p:nvSpPr>
          <p:cNvPr id="17" name="">
            <a:extLst xmlns:a="http://schemas.openxmlformats.org/drawingml/2006/main">
              <a:ext uri="{FF2B5EF4-FFF2-40B4-BE49-F238E27FC236}">
                <a16:creationId xmlns:a16="http://schemas.microsoft.com/office/drawing/2014/main" id="{46E999B9-2ADF-4D57-9DEB-72A719D13D8C}"/>
              </a:ext>
            </a:extLst>
          </p:cNvPr>
          <p:cNvSpPr>
            <a:spLocks xmlns:a="http://schemas.openxmlformats.org/drawingml/2006/main" noGrp="1"/>
          </p:cNvSpPr>
          <p:nvPr/>
        </p:nvSpPr>
        <p:spPr>
          <a:xfrm xmlns:a="http://schemas.openxmlformats.org/drawingml/2006/main" flipH="0" flipV="0">
            <a:off x="8229600" y="2705100"/>
            <a:ext cx="33528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8" name="">
            <a:extLst xmlns:a="http://schemas.openxmlformats.org/drawingml/2006/main">
              <a:ext uri="{FF2B5EF4-FFF2-40B4-BE49-F238E27FC236}">
                <a16:creationId xmlns:a16="http://schemas.microsoft.com/office/drawing/2014/main" id="{D92DDFD3-7F9C-4D68-97BA-45156CFFABD8}"/>
              </a:ext>
            </a:extLst>
          </p:cNvPr>
          <p:cNvSpPr>
            <a:spLocks xmlns:a="http://schemas.openxmlformats.org/drawingml/2006/main" noGrp="1"/>
          </p:cNvSpPr>
          <p:nvPr/>
        </p:nvSpPr>
        <p:spPr>
          <a:xfrm xmlns:a="http://schemas.openxmlformats.org/drawingml/2006/main">
            <a:off x="8229600" y="3152775"/>
            <a:ext cx="33528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8850" b="1">
                <a:solidFill>
                  <a:srgbClr val="F5B61C"/>
                </a:solidFill>
                <a:latin typeface="DejaVu Sans"/>
                <a:ea typeface="DejaVu Sans"/>
                <a:cs typeface="DejaVu Sans"/>
              </a:defRPr>
            </a:pPr>
            <a:r>
              <a:rPr sz="8850" b="1">
                <a:solidFill>
                  <a:srgbClr val="F5B61C"/>
                </a:solidFill>
                <a:latin typeface="DejaVu Sans"/>
                <a:ea typeface="DejaVu Sans"/>
                <a:cs typeface="DejaVu Sans"/>
              </a:rPr>
              <a:t>?</a:t>
            </a:r>
          </a:p>
        </p:txBody>
      </p:sp>
      <p:sp>
        <p:nvSpPr>
          <p:cNvPr id="19" name="">
            <a:extLst xmlns:a="http://schemas.openxmlformats.org/drawingml/2006/main">
              <a:ext uri="{FF2B5EF4-FFF2-40B4-BE49-F238E27FC236}">
                <a16:creationId xmlns:a16="http://schemas.microsoft.com/office/drawing/2014/main" id="{3EE36A48-42FB-460D-891C-7711CE96D21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A3AA268-144D-420E-87D5-298B5539E092}"/>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But this is only half of the transition.</a:t>
            </a:r>
          </a:p>
        </p:txBody>
      </p:sp>
      <p:sp>
        <p:nvSpPr>
          <p:cNvPr id="21" name="">
            <a:extLst xmlns:a="http://schemas.openxmlformats.org/drawingml/2006/main">
              <a:ext uri="{FF2B5EF4-FFF2-40B4-BE49-F238E27FC236}">
                <a16:creationId xmlns:a16="http://schemas.microsoft.com/office/drawing/2014/main" id="{374802F4-4B7A-4B7B-9C51-D89DA3C053F9}"/>
              </a:ext>
            </a:extLst>
          </p:cNvPr>
          <p:cNvSpPr>
            <a:spLocks xmlns:a="http://schemas.openxmlformats.org/drawingml/2006/main" noGrp="1"/>
          </p:cNvSpPr>
          <p:nvPr/>
        </p:nvSpPr>
        <p:spPr>
          <a:xfrm xmlns:a="http://schemas.openxmlformats.org/drawingml/2006/main">
            <a:off x="609600" y="62960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28C7F7"/>
                </a:solidFill>
                <a:latin typeface="DejaVu Sans"/>
                <a:ea typeface="DejaVu Sans"/>
                <a:cs typeface="DejaVu Sans"/>
              </a:defRPr>
            </a:pPr>
            <a:r>
              <a:rPr sz="2025" b="0">
                <a:solidFill>
                  <a:srgbClr val="28C7F7"/>
                </a:solidFill>
                <a:latin typeface="DejaVu Sans"/>
                <a:ea typeface="DejaVu Sans"/>
                <a:cs typeface="DejaVu Sans"/>
              </a:rPr>
              <a:t>AI is entering the software itself.</a:t>
            </a:r>
          </a:p>
        </p:txBody>
      </p:sp>
    </p:spTree>
    <p:extLst>
      <p:ext uri="{BB962C8B-B14F-4D97-AF65-F5344CB8AC3E}">
        <p14:creationId xmlns:p14="http://schemas.microsoft.com/office/powerpoint/2010/main" val="1005439598"/>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168239A-FBB7-44D2-88C3-6724874B583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E4FBABC3-22DF-4946-B279-7323490AF57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E831531-51D7-45C7-A691-E21A3063738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85F7C6CE-579D-4D08-B449-DED66F2490B6}"/>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2DBA1ED8-AD9D-4167-BEF0-14226731F9DB}"/>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DejaVu Sans"/>
                <a:ea typeface="DejaVu Sans"/>
                <a:cs typeface="DejaVu Sans"/>
              </a:defRPr>
            </a:pPr>
            <a:r>
              <a:rPr sz="2400"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A525777B-1C1A-4E2E-A4EF-7869FF79E0DE}"/>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AB12A076-E81A-412B-91C6-6ED8EA920F72}"/>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DejaVu Sans"/>
                <a:ea typeface="DejaVu Sans"/>
                <a:cs typeface="DejaVu Sans"/>
              </a:defRPr>
            </a:pPr>
            <a:r>
              <a:rPr sz="442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E696B824-3DC4-42B5-8466-6F4EFA66D5BB}"/>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A5A347DB-85F5-44BD-87C5-9190E3DFC5B5}"/>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DejaVu Sans"/>
                <a:ea typeface="DejaVu Sans"/>
                <a:cs typeface="DejaVu Sans"/>
              </a:defRPr>
            </a:pPr>
            <a:r>
              <a:rPr sz="442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D449B3E5-9BDD-46D5-A125-17A7C87E2EC4}"/>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F1767C01-E6D7-4D88-99F0-30BFADB489B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EA482165-6E4C-4CD4-A727-EC288256F827}"/>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324925214"/>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A1738E0-E14B-4FB8-B75A-05D1B68D7B9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5A1FADC6-AA83-43BC-8B8D-8BCF35CC5DB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93907EF-DB4D-4AAF-8449-E10AB8EC35E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75F68F7C-EAF8-4324-BF83-6A4C6B09E4BD}"/>
              </a:ext>
            </a:extLst>
          </p:cNvPr>
          <p:cNvSpPr>
            <a:spLocks xmlns:a="http://schemas.openxmlformats.org/drawingml/2006/main" noGrp="1"/>
          </p:cNvSpPr>
          <p:nvPr/>
        </p:nvSpPr>
        <p:spPr>
          <a:xfrm xmlns:a="http://schemas.openxmlformats.org/drawingml/2006/main">
            <a:off x="609600" y="1990725"/>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a:t>
            </a:r>
          </a:p>
        </p:txBody>
      </p:sp>
      <p:sp>
        <p:nvSpPr>
          <p:cNvPr id="5" name="">
            <a:extLst xmlns:a="http://schemas.openxmlformats.org/drawingml/2006/main">
              <a:ext uri="{FF2B5EF4-FFF2-40B4-BE49-F238E27FC236}">
                <a16:creationId xmlns:a16="http://schemas.microsoft.com/office/drawing/2014/main" id="{C05A9DD0-FB49-471A-9327-6441A18ADF96}"/>
              </a:ext>
            </a:extLst>
          </p:cNvPr>
          <p:cNvSpPr>
            <a:spLocks xmlns:a="http://schemas.openxmlformats.org/drawingml/2006/main" noGrp="1"/>
          </p:cNvSpPr>
          <p:nvPr/>
        </p:nvSpPr>
        <p:spPr>
          <a:xfrm xmlns:a="http://schemas.openxmlformats.org/drawingml/2006/main">
            <a:off x="609600" y="27241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Button A</a:t>
            </a:r>
          </a:p>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 Window B</a:t>
            </a:r>
          </a:p>
        </p:txBody>
      </p:sp>
      <p:sp>
        <p:nvSpPr>
          <p:cNvPr id="6" name="">
            <a:extLst xmlns:a="http://schemas.openxmlformats.org/drawingml/2006/main">
              <a:ext uri="{FF2B5EF4-FFF2-40B4-BE49-F238E27FC236}">
                <a16:creationId xmlns:a16="http://schemas.microsoft.com/office/drawing/2014/main" id="{C9C9B4A6-EBF2-4A30-A2AB-E0C19725C5D2}"/>
              </a:ext>
            </a:extLst>
          </p:cNvPr>
          <p:cNvSpPr>
            <a:spLocks xmlns:a="http://schemas.openxmlformats.org/drawingml/2006/main" noGrp="1"/>
          </p:cNvSpPr>
          <p:nvPr/>
        </p:nvSpPr>
        <p:spPr>
          <a:xfrm xmlns:a="http://schemas.openxmlformats.org/drawingml/2006/main">
            <a:off x="4152900" y="1990725"/>
            <a:ext cx="685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NEW</a:t>
            </a:r>
          </a:p>
        </p:txBody>
      </p:sp>
      <p:sp>
        <p:nvSpPr>
          <p:cNvPr id="7" name="">
            <a:extLst xmlns:a="http://schemas.openxmlformats.org/drawingml/2006/main">
              <a:ext uri="{FF2B5EF4-FFF2-40B4-BE49-F238E27FC236}">
                <a16:creationId xmlns:a16="http://schemas.microsoft.com/office/drawing/2014/main" id="{BD1F67E3-658E-4DC8-8D99-AAE009E8E735}"/>
              </a:ext>
            </a:extLst>
          </p:cNvPr>
          <p:cNvSpPr>
            <a:spLocks xmlns:a="http://schemas.openxmlformats.org/drawingml/2006/main" noGrp="1"/>
          </p:cNvSpPr>
          <p:nvPr/>
        </p:nvSpPr>
        <p:spPr>
          <a:xfrm xmlns:a="http://schemas.openxmlformats.org/drawingml/2006/main">
            <a:off x="4152900" y="2524125"/>
            <a:ext cx="5238750" cy="2828925"/>
          </a:xfrm>
          <a:prstGeom xmlns:a="http://schemas.openxmlformats.org/drawingml/2006/main" prst="rect">
            <a:avLst/>
          </a:prstGeom>
          <a:solidFill xmlns:a="http://schemas.openxmlformats.org/drawingml/2006/main">
            <a:srgbClr val="0B0F14"/>
          </a:solidFill>
          <a:ln xmlns:a="http://schemas.openxmlformats.org/drawingml/2006/main" w="19050">
            <a:solidFill>
              <a:srgbClr val="F5B61C"/>
            </a:solidFill>
            <a:prstDash val="solid"/>
          </a:ln>
        </p:spPr>
      </p:sp>
      <p:sp>
        <p:nvSpPr>
          <p:cNvPr id="8" name="">
            <a:extLst xmlns:a="http://schemas.openxmlformats.org/drawingml/2006/main">
              <a:ext uri="{FF2B5EF4-FFF2-40B4-BE49-F238E27FC236}">
                <a16:creationId xmlns:a16="http://schemas.microsoft.com/office/drawing/2014/main" id="{979C9A65-526B-4CAF-BFE2-7A233980986D}"/>
              </a:ext>
            </a:extLst>
          </p:cNvPr>
          <p:cNvSpPr>
            <a:spLocks xmlns:a="http://schemas.openxmlformats.org/drawingml/2006/main" noGrp="1"/>
          </p:cNvSpPr>
          <p:nvPr/>
        </p:nvSpPr>
        <p:spPr>
          <a:xfrm xmlns:a="http://schemas.openxmlformats.org/drawingml/2006/main">
            <a:off x="4362450" y="27051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5B61C"/>
                </a:solidFill>
                <a:latin typeface="DejaVu Sans"/>
                <a:ea typeface="DejaVu Sans"/>
                <a:cs typeface="DejaVu Sans"/>
              </a:defRPr>
            </a:pPr>
            <a:r>
              <a:rPr sz="1875" b="0">
                <a:solidFill>
                  <a:srgbClr val="F5B61C"/>
                </a:solidFill>
                <a:latin typeface="DejaVu Sans"/>
                <a:ea typeface="DejaVu Sans"/>
                <a:cs typeface="DejaVu Sans"/>
              </a:rPr>
              <a:t>Clarify / escalate</a:t>
            </a:r>
          </a:p>
        </p:txBody>
      </p:sp>
      <p:sp>
        <p:nvSpPr>
          <p:cNvPr id="9" name="">
            <a:extLst xmlns:a="http://schemas.openxmlformats.org/drawingml/2006/main">
              <a:ext uri="{FF2B5EF4-FFF2-40B4-BE49-F238E27FC236}">
                <a16:creationId xmlns:a16="http://schemas.microsoft.com/office/drawing/2014/main" id="{63E3C72D-1B56-49F1-BDF7-322DC9259A4F}"/>
              </a:ext>
            </a:extLst>
          </p:cNvPr>
          <p:cNvSpPr>
            <a:spLocks xmlns:a="http://schemas.openxmlformats.org/drawingml/2006/main" noGrp="1"/>
          </p:cNvSpPr>
          <p:nvPr/>
        </p:nvSpPr>
        <p:spPr>
          <a:xfrm xmlns:a="http://schemas.openxmlformats.org/drawingml/2006/main">
            <a:off x="4362450" y="3267075"/>
            <a:ext cx="4819650" cy="1866900"/>
          </a:xfrm>
          <a:prstGeom xmlns:a="http://schemas.openxmlformats.org/drawingml/2006/main" prst="rect">
            <a:avLst/>
          </a:prstGeom>
          <a:solidFill xmlns:a="http://schemas.openxmlformats.org/drawingml/2006/main">
            <a:srgbClr val="141C26"/>
          </a:solidFill>
          <a:ln xmlns:a="http://schemas.openxmlformats.org/drawingml/2006/main" w="19050">
            <a:solidFill>
              <a:srgbClr val="28C7F7"/>
            </a:solidFill>
            <a:prstDash val="solid"/>
          </a:ln>
        </p:spPr>
      </p:sp>
      <p:sp>
        <p:nvSpPr>
          <p:cNvPr id="10" name="">
            <a:extLst xmlns:a="http://schemas.openxmlformats.org/drawingml/2006/main">
              <a:ext uri="{FF2B5EF4-FFF2-40B4-BE49-F238E27FC236}">
                <a16:creationId xmlns:a16="http://schemas.microsoft.com/office/drawing/2014/main" id="{E207C711-BDD2-475F-882C-0C96DD79D45A}"/>
              </a:ext>
            </a:extLst>
          </p:cNvPr>
          <p:cNvSpPr>
            <a:spLocks xmlns:a="http://schemas.openxmlformats.org/drawingml/2006/main" noGrp="1"/>
          </p:cNvSpPr>
          <p:nvPr/>
        </p:nvSpPr>
        <p:spPr>
          <a:xfrm xmlns:a="http://schemas.openxmlformats.org/drawingml/2006/main">
            <a:off x="4552950" y="3390900"/>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APPROVED OPERATING ENVELOPE</a:t>
            </a:r>
          </a:p>
        </p:txBody>
      </p:sp>
      <p:sp>
        <p:nvSpPr>
          <p:cNvPr id="11" name="">
            <a:extLst xmlns:a="http://schemas.openxmlformats.org/drawingml/2006/main">
              <a:ext uri="{FF2B5EF4-FFF2-40B4-BE49-F238E27FC236}">
                <a16:creationId xmlns:a16="http://schemas.microsoft.com/office/drawing/2014/main" id="{91CDD937-C026-40B5-9BF4-5B151074058E}"/>
              </a:ext>
            </a:extLst>
          </p:cNvPr>
          <p:cNvSpPr>
            <a:spLocks xmlns:a="http://schemas.openxmlformats.org/drawingml/2006/main" noGrp="1"/>
          </p:cNvSpPr>
          <p:nvPr/>
        </p:nvSpPr>
        <p:spPr>
          <a:xfrm xmlns:a="http://schemas.openxmlformats.org/drawingml/2006/main">
            <a:off x="4552950" y="38100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Topics &amp; sources</a:t>
            </a:r>
          </a:p>
        </p:txBody>
      </p:sp>
      <p:sp>
        <p:nvSpPr>
          <p:cNvPr id="12" name="">
            <a:extLst xmlns:a="http://schemas.openxmlformats.org/drawingml/2006/main">
              <a:ext uri="{FF2B5EF4-FFF2-40B4-BE49-F238E27FC236}">
                <a16:creationId xmlns:a16="http://schemas.microsoft.com/office/drawing/2014/main" id="{4D78CA56-DE20-405C-A0A9-1B7782146B00}"/>
              </a:ext>
            </a:extLst>
          </p:cNvPr>
          <p:cNvSpPr>
            <a:spLocks xmlns:a="http://schemas.openxmlformats.org/drawingml/2006/main" noGrp="1"/>
          </p:cNvSpPr>
          <p:nvPr/>
        </p:nvSpPr>
        <p:spPr>
          <a:xfrm xmlns:a="http://schemas.openxmlformats.org/drawingml/2006/main">
            <a:off x="4552950" y="40957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Constraints</a:t>
            </a:r>
          </a:p>
        </p:txBody>
      </p:sp>
      <p:sp>
        <p:nvSpPr>
          <p:cNvPr id="13" name="">
            <a:extLst xmlns:a="http://schemas.openxmlformats.org/drawingml/2006/main">
              <a:ext uri="{FF2B5EF4-FFF2-40B4-BE49-F238E27FC236}">
                <a16:creationId xmlns:a16="http://schemas.microsoft.com/office/drawing/2014/main" id="{96F9E7CB-FC32-4D6D-B32C-A31ACEBCB944}"/>
              </a:ext>
            </a:extLst>
          </p:cNvPr>
          <p:cNvSpPr>
            <a:spLocks xmlns:a="http://schemas.openxmlformats.org/drawingml/2006/main" noGrp="1"/>
          </p:cNvSpPr>
          <p:nvPr/>
        </p:nvSpPr>
        <p:spPr>
          <a:xfrm xmlns:a="http://schemas.openxmlformats.org/drawingml/2006/main">
            <a:off x="4552950" y="43815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Acceptable semantic movement</a:t>
            </a:r>
          </a:p>
        </p:txBody>
      </p:sp>
      <p:sp>
        <p:nvSpPr>
          <p:cNvPr id="14" name="">
            <a:extLst xmlns:a="http://schemas.openxmlformats.org/drawingml/2006/main">
              <a:ext uri="{FF2B5EF4-FFF2-40B4-BE49-F238E27FC236}">
                <a16:creationId xmlns:a16="http://schemas.microsoft.com/office/drawing/2014/main" id="{C600F18C-5413-4D0A-AB2A-4913AD82E4D5}"/>
              </a:ext>
            </a:extLst>
          </p:cNvPr>
          <p:cNvSpPr>
            <a:spLocks xmlns:a="http://schemas.openxmlformats.org/drawingml/2006/main" noGrp="1"/>
          </p:cNvSpPr>
          <p:nvPr/>
        </p:nvSpPr>
        <p:spPr>
          <a:xfrm xmlns:a="http://schemas.openxmlformats.org/drawingml/2006/main">
            <a:off x="4552950" y="46672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Business risk</a:t>
            </a:r>
          </a:p>
        </p:txBody>
      </p:sp>
      <p:sp>
        <p:nvSpPr>
          <p:cNvPr id="15" name="">
            <a:extLst xmlns:a="http://schemas.openxmlformats.org/drawingml/2006/main">
              <a:ext uri="{FF2B5EF4-FFF2-40B4-BE49-F238E27FC236}">
                <a16:creationId xmlns:a16="http://schemas.microsoft.com/office/drawing/2014/main" id="{0F8AADCF-C678-4CAB-8E19-DE68E29DA600}"/>
              </a:ext>
            </a:extLst>
          </p:cNvPr>
          <p:cNvSpPr>
            <a:spLocks xmlns:a="http://schemas.openxmlformats.org/drawingml/2006/main" noGrp="1"/>
          </p:cNvSpPr>
          <p:nvPr/>
        </p:nvSpPr>
        <p:spPr>
          <a:xfrm xmlns:a="http://schemas.openxmlformats.org/drawingml/2006/main">
            <a:off x="9620250" y="3362325"/>
            <a:ext cx="1962150" cy="1123950"/>
          </a:xfrm>
          <a:prstGeom xmlns:a="http://schemas.openxmlformats.org/drawingml/2006/main" prst="rect">
            <a:avLst/>
          </a:prstGeom>
          <a:solidFill xmlns:a="http://schemas.openxmlformats.org/drawingml/2006/main">
            <a:srgbClr val="0B0F14"/>
          </a:solidFill>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30F0B595-669A-499D-9296-4B651AA92F8D}"/>
              </a:ext>
            </a:extLst>
          </p:cNvPr>
          <p:cNvSpPr>
            <a:spLocks xmlns:a="http://schemas.openxmlformats.org/drawingml/2006/main" noGrp="1"/>
          </p:cNvSpPr>
          <p:nvPr/>
        </p:nvSpPr>
        <p:spPr>
          <a:xfrm xmlns:a="http://schemas.openxmlformats.org/drawingml/2006/main">
            <a:off x="9772650" y="3648075"/>
            <a:ext cx="1657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6B75"/>
                </a:solidFill>
                <a:latin typeface="DejaVu Sans"/>
                <a:ea typeface="DejaVu Sans"/>
                <a:cs typeface="DejaVu Sans"/>
              </a:defRPr>
            </a:pPr>
            <a:r>
              <a:rPr sz="1575" b="1">
                <a:solidFill>
                  <a:srgbClr val="FF6B75"/>
                </a:solidFill>
                <a:latin typeface="DejaVu Sans"/>
                <a:ea typeface="DejaVu Sans"/>
                <a:cs typeface="DejaVu Sans"/>
              </a:rPr>
              <a:t>FORBIDDEN</a:t>
            </a:r>
          </a:p>
        </p:txBody>
      </p:sp>
      <p:sp>
        <p:nvSpPr>
          <p:cNvPr id="17" name="">
            <a:extLst xmlns:a="http://schemas.openxmlformats.org/drawingml/2006/main">
              <a:ext uri="{FF2B5EF4-FFF2-40B4-BE49-F238E27FC236}">
                <a16:creationId xmlns:a16="http://schemas.microsoft.com/office/drawing/2014/main" id="{EAACB131-1DF2-477A-8A83-D1AF63CCCDA4}"/>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6FA92429-3CCE-4BED-86D5-FE583D21768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Requirements define where acceptable behavior may exist.</a:t>
            </a:r>
          </a:p>
        </p:txBody>
      </p:sp>
    </p:spTree>
    <p:extLst>
      <p:ext uri="{BB962C8B-B14F-4D97-AF65-F5344CB8AC3E}">
        <p14:creationId xmlns:p14="http://schemas.microsoft.com/office/powerpoint/2010/main" val="1626156943"/>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598A0A5-B11C-44A6-A40C-4D34B72D685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04448320-D88D-4E43-A99B-7A57B689C21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A1441BF-1ACA-4F7A-B5CB-9CDBAE37E91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1F67CF40-EB60-4993-9253-FFCFEE6BD996}"/>
              </a:ext>
            </a:extLst>
          </p:cNvPr>
          <p:cNvSpPr>
            <a:spLocks xmlns:a="http://schemas.openxmlformats.org/drawingml/2006/main" noGrp="1"/>
          </p:cNvSpPr>
          <p:nvPr/>
        </p:nvSpPr>
        <p:spPr>
          <a:xfrm xmlns:a="http://schemas.openxmlformats.org/drawingml/2006/main">
            <a:off x="609600" y="19335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Input → Expected Output → PASS</a:t>
            </a:r>
          </a:p>
        </p:txBody>
      </p:sp>
      <p:sp>
        <p:nvSpPr>
          <p:cNvPr id="5" name="">
            <a:extLst xmlns:a="http://schemas.openxmlformats.org/drawingml/2006/main">
              <a:ext uri="{FF2B5EF4-FFF2-40B4-BE49-F238E27FC236}">
                <a16:creationId xmlns:a16="http://schemas.microsoft.com/office/drawing/2014/main" id="{31AED75B-AB6C-446E-94AC-C8CE3A3E8991}"/>
              </a:ext>
            </a:extLst>
          </p:cNvPr>
          <p:cNvSpPr>
            <a:spLocks xmlns:a="http://schemas.openxmlformats.org/drawingml/2006/main" noGrp="1"/>
          </p:cNvSpPr>
          <p:nvPr/>
        </p:nvSpPr>
        <p:spPr>
          <a:xfrm xmlns:a="http://schemas.openxmlformats.org/drawingml/2006/main">
            <a:off x="6096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12BE143F-C936-4C82-95DA-C63211B80EBA}"/>
              </a:ext>
            </a:extLst>
          </p:cNvPr>
          <p:cNvSpPr>
            <a:spLocks xmlns:a="http://schemas.openxmlformats.org/drawingml/2006/main" noGrp="1"/>
          </p:cNvSpPr>
          <p:nvPr/>
        </p:nvSpPr>
        <p:spPr>
          <a:xfrm xmlns:a="http://schemas.openxmlformats.org/drawingml/2006/main">
            <a:off x="7239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Golden Set</a:t>
            </a:r>
          </a:p>
        </p:txBody>
      </p:sp>
      <p:sp>
        <p:nvSpPr>
          <p:cNvPr id="7" name="">
            <a:extLst xmlns:a="http://schemas.openxmlformats.org/drawingml/2006/main">
              <a:ext uri="{FF2B5EF4-FFF2-40B4-BE49-F238E27FC236}">
                <a16:creationId xmlns:a16="http://schemas.microsoft.com/office/drawing/2014/main" id="{C8AD6278-16BC-4341-BC26-75BA0FDF29C4}"/>
              </a:ext>
            </a:extLst>
          </p:cNvPr>
          <p:cNvSpPr>
            <a:spLocks xmlns:a="http://schemas.openxmlformats.org/drawingml/2006/main" noGrp="1"/>
          </p:cNvSpPr>
          <p:nvPr/>
        </p:nvSpPr>
        <p:spPr>
          <a:xfrm xmlns:a="http://schemas.openxmlformats.org/drawingml/2006/main">
            <a:off x="28575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E6EA7050-0B36-46F9-9F0C-38CE02EE3026}"/>
              </a:ext>
            </a:extLst>
          </p:cNvPr>
          <p:cNvSpPr>
            <a:spLocks xmlns:a="http://schemas.openxmlformats.org/drawingml/2006/main" noGrp="1"/>
          </p:cNvSpPr>
          <p:nvPr/>
        </p:nvSpPr>
        <p:spPr>
          <a:xfrm xmlns:a="http://schemas.openxmlformats.org/drawingml/2006/main">
            <a:off x="29718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Repeated runs</a:t>
            </a:r>
          </a:p>
        </p:txBody>
      </p:sp>
      <p:sp>
        <p:nvSpPr>
          <p:cNvPr id="9" name="">
            <a:extLst xmlns:a="http://schemas.openxmlformats.org/drawingml/2006/main">
              <a:ext uri="{FF2B5EF4-FFF2-40B4-BE49-F238E27FC236}">
                <a16:creationId xmlns:a16="http://schemas.microsoft.com/office/drawing/2014/main" id="{FDA341BD-224C-44EF-BDF3-50F1573B358F}"/>
              </a:ext>
            </a:extLst>
          </p:cNvPr>
          <p:cNvSpPr>
            <a:spLocks xmlns:a="http://schemas.openxmlformats.org/drawingml/2006/main" noGrp="1"/>
          </p:cNvSpPr>
          <p:nvPr/>
        </p:nvSpPr>
        <p:spPr>
          <a:xfrm xmlns:a="http://schemas.openxmlformats.org/drawingml/2006/main">
            <a:off x="51054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B21C555D-ABDE-44E5-ACB6-CD5DCC3EA286}"/>
              </a:ext>
            </a:extLst>
          </p:cNvPr>
          <p:cNvSpPr>
            <a:spLocks xmlns:a="http://schemas.openxmlformats.org/drawingml/2006/main" noGrp="1"/>
          </p:cNvSpPr>
          <p:nvPr/>
        </p:nvSpPr>
        <p:spPr>
          <a:xfrm xmlns:a="http://schemas.openxmlformats.org/drawingml/2006/main">
            <a:off x="52197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Distribution</a:t>
            </a:r>
          </a:p>
        </p:txBody>
      </p:sp>
      <p:sp>
        <p:nvSpPr>
          <p:cNvPr id="11" name="">
            <a:extLst xmlns:a="http://schemas.openxmlformats.org/drawingml/2006/main">
              <a:ext uri="{FF2B5EF4-FFF2-40B4-BE49-F238E27FC236}">
                <a16:creationId xmlns:a16="http://schemas.microsoft.com/office/drawing/2014/main" id="{BB74F944-AEA2-484E-B82C-76C208FC368C}"/>
              </a:ext>
            </a:extLst>
          </p:cNvPr>
          <p:cNvSpPr>
            <a:spLocks xmlns:a="http://schemas.openxmlformats.org/drawingml/2006/main" noGrp="1"/>
          </p:cNvSpPr>
          <p:nvPr/>
        </p:nvSpPr>
        <p:spPr>
          <a:xfrm xmlns:a="http://schemas.openxmlformats.org/drawingml/2006/main">
            <a:off x="73533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7553B584-86E0-44CE-88D0-59F670A4F7DB}"/>
              </a:ext>
            </a:extLst>
          </p:cNvPr>
          <p:cNvSpPr>
            <a:spLocks xmlns:a="http://schemas.openxmlformats.org/drawingml/2006/main" noGrp="1"/>
          </p:cNvSpPr>
          <p:nvPr/>
        </p:nvSpPr>
        <p:spPr>
          <a:xfrm xmlns:a="http://schemas.openxmlformats.org/drawingml/2006/main">
            <a:off x="74676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Metric gates</a:t>
            </a:r>
          </a:p>
        </p:txBody>
      </p:sp>
      <p:sp>
        <p:nvSpPr>
          <p:cNvPr id="13" name="">
            <a:extLst xmlns:a="http://schemas.openxmlformats.org/drawingml/2006/main">
              <a:ext uri="{FF2B5EF4-FFF2-40B4-BE49-F238E27FC236}">
                <a16:creationId xmlns:a16="http://schemas.microsoft.com/office/drawing/2014/main" id="{73BEBDE0-98E5-44E9-B16F-16BFC4514D51}"/>
              </a:ext>
            </a:extLst>
          </p:cNvPr>
          <p:cNvSpPr>
            <a:spLocks xmlns:a="http://schemas.openxmlformats.org/drawingml/2006/main" noGrp="1"/>
          </p:cNvSpPr>
          <p:nvPr/>
        </p:nvSpPr>
        <p:spPr>
          <a:xfrm xmlns:a="http://schemas.openxmlformats.org/drawingml/2006/main">
            <a:off x="96012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4" name="">
            <a:extLst xmlns:a="http://schemas.openxmlformats.org/drawingml/2006/main">
              <a:ext uri="{FF2B5EF4-FFF2-40B4-BE49-F238E27FC236}">
                <a16:creationId xmlns:a16="http://schemas.microsoft.com/office/drawing/2014/main" id="{1B21F93E-19ED-4845-99A5-F608D865A0A7}"/>
              </a:ext>
            </a:extLst>
          </p:cNvPr>
          <p:cNvSpPr>
            <a:spLocks xmlns:a="http://schemas.openxmlformats.org/drawingml/2006/main" noGrp="1"/>
          </p:cNvSpPr>
          <p:nvPr/>
        </p:nvSpPr>
        <p:spPr>
          <a:xfrm xmlns:a="http://schemas.openxmlformats.org/drawingml/2006/main">
            <a:off x="97155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Release</a:t>
            </a:r>
          </a:p>
        </p:txBody>
      </p:sp>
      <p:cxnSp>
        <p:nvCxnSpPr>
          <p:cNvPr id="39" name=""/>
          <p:cNvCxnSpPr>
            <a:stCxn xmlns:a="http://schemas.openxmlformats.org/drawingml/2006/main" id="5" idx="3"/>
            <a:endCxn xmlns:a="http://schemas.openxmlformats.org/drawingml/2006/main" id="7" idx="1"/>
          </p:cNvCxnSpPr>
          <p:nvPr/>
        </p:nvCxnSpPr>
        <p:spPr>
          <a:xfrm xmlns:a="http://schemas.openxmlformats.org/drawingml/2006/main">
            <a:off x="25908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0" name=""/>
          <p:cNvCxnSpPr>
            <a:stCxn xmlns:a="http://schemas.openxmlformats.org/drawingml/2006/main" id="7" idx="3"/>
            <a:endCxn xmlns:a="http://schemas.openxmlformats.org/drawingml/2006/main" id="9" idx="1"/>
          </p:cNvCxnSpPr>
          <p:nvPr/>
        </p:nvCxnSpPr>
        <p:spPr>
          <a:xfrm xmlns:a="http://schemas.openxmlformats.org/drawingml/2006/main">
            <a:off x="48387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1" name=""/>
          <p:cNvCxnSpPr>
            <a:stCxn xmlns:a="http://schemas.openxmlformats.org/drawingml/2006/main" id="9" idx="3"/>
            <a:endCxn xmlns:a="http://schemas.openxmlformats.org/drawingml/2006/main" id="11" idx="1"/>
          </p:cNvCxnSpPr>
          <p:nvPr/>
        </p:nvCxnSpPr>
        <p:spPr>
          <a:xfrm xmlns:a="http://schemas.openxmlformats.org/drawingml/2006/main">
            <a:off x="70866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11" idx="3"/>
            <a:endCxn xmlns:a="http://schemas.openxmlformats.org/drawingml/2006/main" id="13" idx="1"/>
          </p:cNvCxnSpPr>
          <p:nvPr/>
        </p:nvCxnSpPr>
        <p:spPr>
          <a:xfrm xmlns:a="http://schemas.openxmlformats.org/drawingml/2006/main">
            <a:off x="93345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9" name="">
            <a:extLst xmlns:a="http://schemas.openxmlformats.org/drawingml/2006/main">
              <a:ext uri="{FF2B5EF4-FFF2-40B4-BE49-F238E27FC236}">
                <a16:creationId xmlns:a16="http://schemas.microsoft.com/office/drawing/2014/main" id="{1B06C00E-5432-4F36-8D07-918363ACA54B}"/>
              </a:ext>
            </a:extLst>
          </p:cNvPr>
          <p:cNvSpPr>
            <a:spLocks xmlns:a="http://schemas.openxmlformats.org/drawingml/2006/main" noGrp="1"/>
          </p:cNvSpPr>
          <p:nvPr/>
        </p:nvSpPr>
        <p:spPr>
          <a:xfrm xmlns:a="http://schemas.openxmlformats.org/drawingml/2006/main">
            <a:off x="609600" y="4029075"/>
            <a:ext cx="4324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825" b="1">
                <a:solidFill>
                  <a:srgbClr val="28C7F7"/>
                </a:solidFill>
                <a:latin typeface="DejaVu Sans"/>
                <a:ea typeface="DejaVu Sans"/>
                <a:cs typeface="DejaVu Sans"/>
              </a:defRPr>
            </a:pPr>
            <a:r>
              <a:rPr sz="3825" b="1">
                <a:solidFill>
                  <a:srgbClr val="28C7F7"/>
                </a:solidFill>
                <a:latin typeface="DejaVu Sans"/>
                <a:ea typeface="DejaVu Sans"/>
                <a:cs typeface="DejaVu Sans"/>
              </a:rPr>
              <a:t>98% overall</a:t>
            </a:r>
          </a:p>
        </p:txBody>
      </p:sp>
      <p:sp>
        <p:nvSpPr>
          <p:cNvPr id="20" name="">
            <a:extLst xmlns:a="http://schemas.openxmlformats.org/drawingml/2006/main">
              <a:ext uri="{FF2B5EF4-FFF2-40B4-BE49-F238E27FC236}">
                <a16:creationId xmlns:a16="http://schemas.microsoft.com/office/drawing/2014/main" id="{C7817D22-4286-46FA-B5C2-25FD595D5C9B}"/>
              </a:ext>
            </a:extLst>
          </p:cNvPr>
          <p:cNvSpPr>
            <a:spLocks xmlns:a="http://schemas.openxmlformats.org/drawingml/2006/main" noGrp="1"/>
          </p:cNvSpPr>
          <p:nvPr/>
        </p:nvSpPr>
        <p:spPr>
          <a:xfrm xmlns:a="http://schemas.openxmlformats.org/drawingml/2006/main">
            <a:off x="5353050" y="3981450"/>
            <a:ext cx="609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1 critical boundary violation</a:t>
            </a:r>
          </a:p>
        </p:txBody>
      </p:sp>
      <p:sp>
        <p:nvSpPr>
          <p:cNvPr id="21" name="">
            <a:extLst xmlns:a="http://schemas.openxmlformats.org/drawingml/2006/main">
              <a:ext uri="{FF2B5EF4-FFF2-40B4-BE49-F238E27FC236}">
                <a16:creationId xmlns:a16="http://schemas.microsoft.com/office/drawing/2014/main" id="{26E93C63-04B1-49A5-8D32-D9AF1B37A22B}"/>
              </a:ext>
            </a:extLst>
          </p:cNvPr>
          <p:cNvSpPr>
            <a:spLocks xmlns:a="http://schemas.openxmlformats.org/drawingml/2006/main" noGrp="1"/>
          </p:cNvSpPr>
          <p:nvPr/>
        </p:nvSpPr>
        <p:spPr>
          <a:xfrm xmlns:a="http://schemas.openxmlformats.org/drawingml/2006/main">
            <a:off x="5353050" y="457200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6B75"/>
                </a:solidFill>
                <a:latin typeface="DejaVu Sans"/>
                <a:ea typeface="DejaVu Sans"/>
                <a:cs typeface="DejaVu Sans"/>
              </a:defRPr>
            </a:pPr>
            <a:r>
              <a:rPr sz="2400" b="1">
                <a:solidFill>
                  <a:srgbClr val="FF6B75"/>
                </a:solidFill>
                <a:latin typeface="DejaVu Sans"/>
                <a:ea typeface="DejaVu Sans"/>
                <a:cs typeface="DejaVu Sans"/>
              </a:rPr>
              <a:t>BLOCK RELEASE</a:t>
            </a:r>
          </a:p>
        </p:txBody>
      </p:sp>
      <p:sp>
        <p:nvSpPr>
          <p:cNvPr id="22" name="">
            <a:extLst xmlns:a="http://schemas.openxmlformats.org/drawingml/2006/main">
              <a:ext uri="{FF2B5EF4-FFF2-40B4-BE49-F238E27FC236}">
                <a16:creationId xmlns:a16="http://schemas.microsoft.com/office/drawing/2014/main" id="{80C47845-8058-4702-8C08-D913D80180B6}"/>
              </a:ext>
            </a:extLst>
          </p:cNvPr>
          <p:cNvSpPr>
            <a:spLocks xmlns:a="http://schemas.openxmlformats.org/drawingml/2006/main" noGrp="1"/>
          </p:cNvSpPr>
          <p:nvPr/>
        </p:nvSpPr>
        <p:spPr>
          <a:xfrm xmlns:a="http://schemas.openxmlformats.org/drawingml/2006/main">
            <a:off x="609600" y="5219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Illustrative: 196/200 acceptable evaluations; not a sample-size recommendation.</a:t>
            </a:r>
          </a:p>
        </p:txBody>
      </p:sp>
      <p:sp>
        <p:nvSpPr>
          <p:cNvPr id="23" name="">
            <a:extLst xmlns:a="http://schemas.openxmlformats.org/drawingml/2006/main">
              <a:ext uri="{FF2B5EF4-FFF2-40B4-BE49-F238E27FC236}">
                <a16:creationId xmlns:a16="http://schemas.microsoft.com/office/drawing/2014/main" id="{A1899528-C814-4F7C-8993-6B5947F140E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AEC3899C-565F-4806-B5D4-0CEF51D24D7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Release evidence must match the risk being controlled.</a:t>
            </a:r>
          </a:p>
        </p:txBody>
      </p:sp>
    </p:spTree>
    <p:extLst>
      <p:ext uri="{BB962C8B-B14F-4D97-AF65-F5344CB8AC3E}">
        <p14:creationId xmlns:p14="http://schemas.microsoft.com/office/powerpoint/2010/main" val="680930229"/>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3A2F0A-65AC-4690-AC30-E262BD38A1B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7B4B6390-CFA8-4763-B8C0-331E72644D6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BEC3859-004C-4164-A145-BD7435D466E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11</a:t>
            </a:r>
          </a:p>
        </p:txBody>
      </p:sp>
      <p:graphicFrame>
        <p:nvGraphicFramePr>
          <p:cNvPr id="11" name=""/>
          <p:cNvGraphicFramePr/>
          <p:nvPr/>
        </p:nvGraphicFramePr>
        <p:xfrm>
          <a:off xmlns:a="http://schemas.openxmlformats.org/drawingml/2006/main" x="609600" y="1981200"/>
          <a:ext xmlns:a="http://schemas.openxmlformats.org/drawingml/2006/main" cx="10972800" cy="3105150"/>
        </p:xfrm>
        <a:graphic xmlns:a="http://schemas.openxmlformats.org/drawingml/2006/main">
          <a:graphicData uri="http://schemas.openxmlformats.org/drawingml/2006/table">
            <a:tbl>
              <a:tblPr/>
              <a:tblGrid>
                <a:gridCol w="1581150"/>
                <a:gridCol w="3333750"/>
                <a:gridCol w="6057900"/>
              </a:tblGrid>
              <a:tr h="776288">
                <a:tc>
                  <a:txBody>
                    <a:bodyPr lIns="171450" tIns="114300" rIns="171450" bIns="114300">
                      <a:noAutofit/>
                    </a:bodyPr>
                    <a:lstStyle/>
                    <a:p>
                      <a:r>
                        <a:rPr sz="1725" b="1">
                          <a:solidFill>
                            <a:srgbClr val="F4F7FA"/>
                          </a:solidFill>
                          <a:latin typeface="DejaVu Sans"/>
                          <a:ea typeface="DejaVu Sans"/>
                          <a:cs typeface="DejaVu Sans"/>
                        </a:rPr>
                        <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Traditional shorthand</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Thinking System</a:t>
                      </a:r>
                    </a:p>
                  </a:txBody>
                  <a:tcPr marL="91440" marR="91440" marT="45720" marB="45720" anchor="ctr">
                    <a:solidFill>
                      <a:srgbClr val="1A2734"/>
                    </a:solidFill>
                  </a:tcPr>
                </a:tc>
              </a:tr>
              <a:tr h="776288">
                <a:tc>
                  <a:txBody>
                    <a:bodyPr lIns="171450" tIns="114300" rIns="171450" bIns="114300">
                      <a:noAutofit/>
                    </a:bodyPr>
                    <a:lstStyle/>
                    <a:p>
                      <a:r>
                        <a:rPr sz="1875" b="1">
                          <a:solidFill>
                            <a:srgbClr val="F4F7FA"/>
                          </a:solidFill>
                          <a:latin typeface="DejaVu Sans"/>
                          <a:ea typeface="DejaVu Sans"/>
                          <a:cs typeface="DejaVu Sans"/>
                        </a:rPr>
                        <a:t>READY</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Specification known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Tolerance / risk envelope known</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DONE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Tests pass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Evaluation evidence within boundaries</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RELEASE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Yes / no</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Measured risk accepted</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5AE62637-B381-42B9-B062-211638C25795}"/>
              </a:ext>
            </a:extLst>
          </p:cNvPr>
          <p:cNvSpPr>
            <a:spLocks xmlns:a="http://schemas.openxmlformats.org/drawingml/2006/main" noGrp="1"/>
          </p:cNvSpPr>
          <p:nvPr/>
        </p:nvSpPr>
        <p:spPr>
          <a:xfrm xmlns:a="http://schemas.openxmlformats.org/drawingml/2006/main">
            <a:off x="609600" y="52578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Evidence, decision owner and fallback belong in the contract.</a:t>
            </a:r>
          </a:p>
        </p:txBody>
      </p:sp>
      <p:sp>
        <p:nvSpPr>
          <p:cNvPr id="6" name="">
            <a:extLst xmlns:a="http://schemas.openxmlformats.org/drawingml/2006/main">
              <a:ext uri="{FF2B5EF4-FFF2-40B4-BE49-F238E27FC236}">
                <a16:creationId xmlns:a16="http://schemas.microsoft.com/office/drawing/2014/main" id="{D22A76CB-3D9B-47FF-9071-477273A8666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7" name="">
            <a:extLst xmlns:a="http://schemas.openxmlformats.org/drawingml/2006/main">
              <a:ext uri="{FF2B5EF4-FFF2-40B4-BE49-F238E27FC236}">
                <a16:creationId xmlns:a16="http://schemas.microsoft.com/office/drawing/2014/main" id="{3C0B7077-2A65-47CD-97E7-5DF8A78DFEA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Quality is released as a measured distribution.</a:t>
            </a:r>
          </a:p>
        </p:txBody>
      </p:sp>
    </p:spTree>
    <p:extLst>
      <p:ext uri="{BB962C8B-B14F-4D97-AF65-F5344CB8AC3E}">
        <p14:creationId xmlns:p14="http://schemas.microsoft.com/office/powerpoint/2010/main" val="1912073586"/>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366DA4D-0A65-4601-BCC0-1C08792D7AF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9F6DCCF3-9CAC-41E1-9E8A-E6D8041B2ED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96206CC-8029-4C9B-A39A-52D9777F802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C068A27C-6AC5-4472-907D-F973F6D52B0D}"/>
              </a:ext>
            </a:extLst>
          </p:cNvPr>
          <p:cNvSpPr>
            <a:spLocks xmlns:a="http://schemas.openxmlformats.org/drawingml/2006/main" noGrp="1"/>
          </p:cNvSpPr>
          <p:nvPr/>
        </p:nvSpPr>
        <p:spPr>
          <a:xfrm xmlns:a="http://schemas.openxmlformats.org/drawingml/2006/main">
            <a:off x="6096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178042C9-FC1E-499D-8BDC-EA1BE62640D4}"/>
              </a:ext>
            </a:extLst>
          </p:cNvPr>
          <p:cNvSpPr>
            <a:spLocks xmlns:a="http://schemas.openxmlformats.org/drawingml/2006/main" noGrp="1"/>
          </p:cNvSpPr>
          <p:nvPr/>
        </p:nvSpPr>
        <p:spPr>
          <a:xfrm xmlns:a="http://schemas.openxmlformats.org/drawingml/2006/main">
            <a:off x="7239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89494FED-BA86-4F99-9FB7-895F7B6B952B}"/>
              </a:ext>
            </a:extLst>
          </p:cNvPr>
          <p:cNvSpPr>
            <a:spLocks xmlns:a="http://schemas.openxmlformats.org/drawingml/2006/main" noGrp="1"/>
          </p:cNvSpPr>
          <p:nvPr/>
        </p:nvSpPr>
        <p:spPr>
          <a:xfrm xmlns:a="http://schemas.openxmlformats.org/drawingml/2006/main">
            <a:off x="28575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6890FBDD-D559-4302-8B05-6D31B45C3B1F}"/>
              </a:ext>
            </a:extLst>
          </p:cNvPr>
          <p:cNvSpPr>
            <a:spLocks xmlns:a="http://schemas.openxmlformats.org/drawingml/2006/main" noGrp="1"/>
          </p:cNvSpPr>
          <p:nvPr/>
        </p:nvSpPr>
        <p:spPr>
          <a:xfrm xmlns:a="http://schemas.openxmlformats.org/drawingml/2006/main">
            <a:off x="29718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Model</a:t>
            </a:r>
          </a:p>
        </p:txBody>
      </p:sp>
      <p:sp>
        <p:nvSpPr>
          <p:cNvPr id="8" name="">
            <a:extLst xmlns:a="http://schemas.openxmlformats.org/drawingml/2006/main">
              <a:ext uri="{FF2B5EF4-FFF2-40B4-BE49-F238E27FC236}">
                <a16:creationId xmlns:a16="http://schemas.microsoft.com/office/drawing/2014/main" id="{B7984546-C221-49C1-A906-8203C2428D77}"/>
              </a:ext>
            </a:extLst>
          </p:cNvPr>
          <p:cNvSpPr>
            <a:spLocks xmlns:a="http://schemas.openxmlformats.org/drawingml/2006/main" noGrp="1"/>
          </p:cNvSpPr>
          <p:nvPr/>
        </p:nvSpPr>
        <p:spPr>
          <a:xfrm xmlns:a="http://schemas.openxmlformats.org/drawingml/2006/main">
            <a:off x="51054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A49F9DFA-95C6-4B17-96BD-08E3C46497A9}"/>
              </a:ext>
            </a:extLst>
          </p:cNvPr>
          <p:cNvSpPr>
            <a:spLocks xmlns:a="http://schemas.openxmlformats.org/drawingml/2006/main" noGrp="1"/>
          </p:cNvSpPr>
          <p:nvPr/>
        </p:nvSpPr>
        <p:spPr>
          <a:xfrm xmlns:a="http://schemas.openxmlformats.org/drawingml/2006/main">
            <a:off x="52197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Proposed action</a:t>
            </a:r>
          </a:p>
        </p:txBody>
      </p:sp>
      <p:sp>
        <p:nvSpPr>
          <p:cNvPr id="10" name="">
            <a:extLst xmlns:a="http://schemas.openxmlformats.org/drawingml/2006/main">
              <a:ext uri="{FF2B5EF4-FFF2-40B4-BE49-F238E27FC236}">
                <a16:creationId xmlns:a16="http://schemas.microsoft.com/office/drawing/2014/main" id="{978D3C10-06DA-4288-A058-A0F692EDDE0C}"/>
              </a:ext>
            </a:extLst>
          </p:cNvPr>
          <p:cNvSpPr>
            <a:spLocks xmlns:a="http://schemas.openxmlformats.org/drawingml/2006/main" noGrp="1"/>
          </p:cNvSpPr>
          <p:nvPr/>
        </p:nvSpPr>
        <p:spPr>
          <a:xfrm xmlns:a="http://schemas.openxmlformats.org/drawingml/2006/main">
            <a:off x="73533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4CAAC1D8-3E1C-4398-AE80-C81C0748D334}"/>
              </a:ext>
            </a:extLst>
          </p:cNvPr>
          <p:cNvSpPr>
            <a:spLocks xmlns:a="http://schemas.openxmlformats.org/drawingml/2006/main" noGrp="1"/>
          </p:cNvSpPr>
          <p:nvPr/>
        </p:nvSpPr>
        <p:spPr>
          <a:xfrm xmlns:a="http://schemas.openxmlformats.org/drawingml/2006/main">
            <a:off x="74676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Policy gate</a:t>
            </a:r>
          </a:p>
        </p:txBody>
      </p:sp>
      <p:sp>
        <p:nvSpPr>
          <p:cNvPr id="12" name="">
            <a:extLst xmlns:a="http://schemas.openxmlformats.org/drawingml/2006/main">
              <a:ext uri="{FF2B5EF4-FFF2-40B4-BE49-F238E27FC236}">
                <a16:creationId xmlns:a16="http://schemas.microsoft.com/office/drawing/2014/main" id="{7D6AFE3E-2494-4619-ACDB-5357DCBD6A8D}"/>
              </a:ext>
            </a:extLst>
          </p:cNvPr>
          <p:cNvSpPr>
            <a:spLocks xmlns:a="http://schemas.openxmlformats.org/drawingml/2006/main" noGrp="1"/>
          </p:cNvSpPr>
          <p:nvPr/>
        </p:nvSpPr>
        <p:spPr>
          <a:xfrm xmlns:a="http://schemas.openxmlformats.org/drawingml/2006/main">
            <a:off x="96012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2F9B878D-FB87-4B83-8F4F-F57B7C5D1092}"/>
              </a:ext>
            </a:extLst>
          </p:cNvPr>
          <p:cNvSpPr>
            <a:spLocks xmlns:a="http://schemas.openxmlformats.org/drawingml/2006/main" noGrp="1"/>
          </p:cNvSpPr>
          <p:nvPr/>
        </p:nvSpPr>
        <p:spPr>
          <a:xfrm xmlns:a="http://schemas.openxmlformats.org/drawingml/2006/main">
            <a:off x="97155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User / tool</a:t>
            </a:r>
          </a:p>
        </p:txBody>
      </p:sp>
      <p:cxnSp>
        <p:nvCxnSpPr>
          <p:cNvPr id="45" name=""/>
          <p:cNvCxnSpPr>
            <a:stCxn xmlns:a="http://schemas.openxmlformats.org/drawingml/2006/main" id="4" idx="3"/>
            <a:endCxn xmlns:a="http://schemas.openxmlformats.org/drawingml/2006/main" id="6" idx="1"/>
          </p:cNvCxnSpPr>
          <p:nvPr/>
        </p:nvCxnSpPr>
        <p:spPr>
          <a:xfrm xmlns:a="http://schemas.openxmlformats.org/drawingml/2006/main">
            <a:off x="25908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6" name=""/>
          <p:cNvCxnSpPr>
            <a:stCxn xmlns:a="http://schemas.openxmlformats.org/drawingml/2006/main" id="6" idx="3"/>
            <a:endCxn xmlns:a="http://schemas.openxmlformats.org/drawingml/2006/main" id="8" idx="1"/>
          </p:cNvCxnSpPr>
          <p:nvPr/>
        </p:nvCxnSpPr>
        <p:spPr>
          <a:xfrm xmlns:a="http://schemas.openxmlformats.org/drawingml/2006/main">
            <a:off x="48387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8" idx="3"/>
            <a:endCxn xmlns:a="http://schemas.openxmlformats.org/drawingml/2006/main" id="10" idx="1"/>
          </p:cNvCxnSpPr>
          <p:nvPr/>
        </p:nvCxnSpPr>
        <p:spPr>
          <a:xfrm xmlns:a="http://schemas.openxmlformats.org/drawingml/2006/main">
            <a:off x="70866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10" idx="3"/>
            <a:endCxn xmlns:a="http://schemas.openxmlformats.org/drawingml/2006/main" id="12" idx="1"/>
          </p:cNvCxnSpPr>
          <p:nvPr/>
        </p:nvCxnSpPr>
        <p:spPr>
          <a:xfrm xmlns:a="http://schemas.openxmlformats.org/drawingml/2006/main">
            <a:off x="93345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7A9E7BFE-776A-4D96-858F-B8A4AF8675DB}"/>
              </a:ext>
            </a:extLst>
          </p:cNvPr>
          <p:cNvSpPr>
            <a:spLocks xmlns:a="http://schemas.openxmlformats.org/drawingml/2006/main" noGrp="1"/>
          </p:cNvSpPr>
          <p:nvPr/>
        </p:nvSpPr>
        <p:spPr>
          <a:xfrm xmlns:a="http://schemas.openxmlformats.org/drawingml/2006/main">
            <a:off x="9601200" y="390525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9" name="">
            <a:extLst xmlns:a="http://schemas.openxmlformats.org/drawingml/2006/main">
              <a:ext uri="{FF2B5EF4-FFF2-40B4-BE49-F238E27FC236}">
                <a16:creationId xmlns:a16="http://schemas.microsoft.com/office/drawing/2014/main" id="{66023EFD-DDBE-40A5-89F2-63161BE287AA}"/>
              </a:ext>
            </a:extLst>
          </p:cNvPr>
          <p:cNvSpPr>
            <a:spLocks xmlns:a="http://schemas.openxmlformats.org/drawingml/2006/main" noGrp="1"/>
          </p:cNvSpPr>
          <p:nvPr/>
        </p:nvSpPr>
        <p:spPr>
          <a:xfrm xmlns:a="http://schemas.openxmlformats.org/drawingml/2006/main">
            <a:off x="9715500" y="398145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Observe</a:t>
            </a:r>
          </a:p>
        </p:txBody>
      </p:sp>
      <p:sp>
        <p:nvSpPr>
          <p:cNvPr id="20" name="">
            <a:extLst xmlns:a="http://schemas.openxmlformats.org/drawingml/2006/main">
              <a:ext uri="{FF2B5EF4-FFF2-40B4-BE49-F238E27FC236}">
                <a16:creationId xmlns:a16="http://schemas.microsoft.com/office/drawing/2014/main" id="{7F31F24C-2B55-4387-B9E9-47034078E56A}"/>
              </a:ext>
            </a:extLst>
          </p:cNvPr>
          <p:cNvSpPr>
            <a:spLocks xmlns:a="http://schemas.openxmlformats.org/drawingml/2006/main" noGrp="1"/>
          </p:cNvSpPr>
          <p:nvPr/>
        </p:nvSpPr>
        <p:spPr>
          <a:xfrm xmlns:a="http://schemas.openxmlformats.org/drawingml/2006/main">
            <a:off x="6667500" y="3905250"/>
            <a:ext cx="22479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1" name="">
            <a:extLst xmlns:a="http://schemas.openxmlformats.org/drawingml/2006/main">
              <a:ext uri="{FF2B5EF4-FFF2-40B4-BE49-F238E27FC236}">
                <a16:creationId xmlns:a16="http://schemas.microsoft.com/office/drawing/2014/main" id="{C03FAE3D-CD1B-46C0-933F-59769CE04852}"/>
              </a:ext>
            </a:extLst>
          </p:cNvPr>
          <p:cNvSpPr>
            <a:spLocks xmlns:a="http://schemas.openxmlformats.org/drawingml/2006/main" noGrp="1"/>
          </p:cNvSpPr>
          <p:nvPr/>
        </p:nvSpPr>
        <p:spPr>
          <a:xfrm xmlns:a="http://schemas.openxmlformats.org/drawingml/2006/main">
            <a:off x="6781800" y="3981450"/>
            <a:ext cx="2019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Evaluate / decide</a:t>
            </a:r>
          </a:p>
        </p:txBody>
      </p:sp>
      <p:sp>
        <p:nvSpPr>
          <p:cNvPr id="22" name="">
            <a:extLst xmlns:a="http://schemas.openxmlformats.org/drawingml/2006/main">
              <a:ext uri="{FF2B5EF4-FFF2-40B4-BE49-F238E27FC236}">
                <a16:creationId xmlns:a16="http://schemas.microsoft.com/office/drawing/2014/main" id="{8C089089-B523-4F47-957E-A6ADCE5EBD97}"/>
              </a:ext>
            </a:extLst>
          </p:cNvPr>
          <p:cNvSpPr>
            <a:spLocks xmlns:a="http://schemas.openxmlformats.org/drawingml/2006/main" noGrp="1"/>
          </p:cNvSpPr>
          <p:nvPr/>
        </p:nvSpPr>
        <p:spPr>
          <a:xfrm xmlns:a="http://schemas.openxmlformats.org/drawingml/2006/main">
            <a:off x="2857500" y="3905250"/>
            <a:ext cx="26670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3" name="">
            <a:extLst xmlns:a="http://schemas.openxmlformats.org/drawingml/2006/main">
              <a:ext uri="{FF2B5EF4-FFF2-40B4-BE49-F238E27FC236}">
                <a16:creationId xmlns:a16="http://schemas.microsoft.com/office/drawing/2014/main" id="{02619AA8-9E04-494F-9C2C-4375A2894CFA}"/>
              </a:ext>
            </a:extLst>
          </p:cNvPr>
          <p:cNvSpPr>
            <a:spLocks xmlns:a="http://schemas.openxmlformats.org/drawingml/2006/main" noGrp="1"/>
          </p:cNvSpPr>
          <p:nvPr/>
        </p:nvSpPr>
        <p:spPr>
          <a:xfrm xmlns:a="http://schemas.openxmlformats.org/drawingml/2006/main">
            <a:off x="2971800" y="3981450"/>
            <a:ext cx="2438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Act within authority</a:t>
            </a:r>
          </a:p>
        </p:txBody>
      </p:sp>
      <p:cxnSp>
        <p:nvCxnSpPr>
          <p:cNvPr id="55" name=""/>
          <p:cNvCxnSpPr>
            <a:stCxn xmlns:a="http://schemas.openxmlformats.org/drawingml/2006/main" id="12" idx="2"/>
            <a:endCxn xmlns:a="http://schemas.openxmlformats.org/drawingml/2006/main" id="18" idx="0"/>
          </p:cNvCxnSpPr>
          <p:nvPr/>
        </p:nvCxnSpPr>
        <p:spPr>
          <a:xfrm xmlns:a="http://schemas.openxmlformats.org/drawingml/2006/main">
            <a:off x="10591800" y="2857500"/>
            <a:ext cx="0" cy="10477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6" name=""/>
          <p:cNvCxnSpPr>
            <a:stCxn xmlns:a="http://schemas.openxmlformats.org/drawingml/2006/main" id="18" idx="1"/>
            <a:endCxn xmlns:a="http://schemas.openxmlformats.org/drawingml/2006/main" id="20" idx="3"/>
          </p:cNvCxnSpPr>
          <p:nvPr/>
        </p:nvCxnSpPr>
        <p:spPr>
          <a:xfrm xmlns:a="http://schemas.openxmlformats.org/drawingml/2006/main" flipH="1">
            <a:off x="8915400" y="4286250"/>
            <a:ext cx="6858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7" name=""/>
          <p:cNvCxnSpPr>
            <a:stCxn xmlns:a="http://schemas.openxmlformats.org/drawingml/2006/main" id="20" idx="1"/>
            <a:endCxn xmlns:a="http://schemas.openxmlformats.org/drawingml/2006/main" id="22" idx="3"/>
          </p:cNvCxnSpPr>
          <p:nvPr/>
        </p:nvCxnSpPr>
        <p:spPr>
          <a:xfrm xmlns:a="http://schemas.openxmlformats.org/drawingml/2006/main" flipH="1">
            <a:off x="5524500" y="4286250"/>
            <a:ext cx="1143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8" name=""/>
          <p:cNvCxnSpPr>
            <a:stCxn xmlns:a="http://schemas.openxmlformats.org/drawingml/2006/main" id="22" idx="0"/>
            <a:endCxn xmlns:a="http://schemas.openxmlformats.org/drawingml/2006/main" id="6" idx="2"/>
          </p:cNvCxnSpPr>
          <p:nvPr/>
        </p:nvCxnSpPr>
        <p:spPr>
          <a:xfrm xmlns:a="http://schemas.openxmlformats.org/drawingml/2006/main" flipH="1" flipV="1">
            <a:off x="3848100" y="2857500"/>
            <a:ext cx="342900" cy="1047750"/>
          </a:xfrm>
          <a:prstGeom xmlns:a="http://schemas.openxmlformats.org/drawingml/2006/main" prst="bentConnector4">
            <a:avLst>
              <a:gd name="adj1" fmla="val 0"/>
              <a:gd name="adj2" fmla="val 50000"/>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07F0A63F-BB1D-42E0-8A1A-BA7DFC827DBD}"/>
              </a:ext>
            </a:extLst>
          </p:cNvPr>
          <p:cNvSpPr>
            <a:spLocks xmlns:a="http://schemas.openxmlformats.org/drawingml/2006/main" noGrp="1"/>
          </p:cNvSpPr>
          <p:nvPr/>
        </p:nvSpPr>
        <p:spPr>
          <a:xfrm xmlns:a="http://schemas.openxmlformats.org/drawingml/2006/main">
            <a:off x="609600" y="4953000"/>
            <a:ext cx="10896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F4F7FA"/>
                </a:solidFill>
                <a:latin typeface="DejaVu Sans"/>
                <a:ea typeface="DejaVu Sans"/>
                <a:cs typeface="DejaVu Sans"/>
              </a:defRPr>
            </a:pPr>
            <a:r>
              <a:rPr sz="1950" b="0">
                <a:solidFill>
                  <a:srgbClr val="F4F7FA"/>
                </a:solidFill>
                <a:latin typeface="DejaVu Sans"/>
                <a:ea typeface="DejaVu Sans"/>
                <a:cs typeface="DejaVu Sans"/>
              </a:rPr>
              <a:t>Correct / retry / escalate / fallback / stop</a:t>
            </a:r>
          </a:p>
        </p:txBody>
      </p:sp>
      <p:sp>
        <p:nvSpPr>
          <p:cNvPr id="29" name="">
            <a:extLst xmlns:a="http://schemas.openxmlformats.org/drawingml/2006/main">
              <a:ext uri="{FF2B5EF4-FFF2-40B4-BE49-F238E27FC236}">
                <a16:creationId xmlns:a16="http://schemas.microsoft.com/office/drawing/2014/main" id="{93B2AEFF-6AFD-4326-BEEC-A39B71B23650}"/>
              </a:ext>
            </a:extLst>
          </p:cNvPr>
          <p:cNvSpPr>
            <a:spLocks xmlns:a="http://schemas.openxmlformats.org/drawingml/2006/main" noGrp="1"/>
          </p:cNvSpPr>
          <p:nvPr/>
        </p:nvSpPr>
        <p:spPr>
          <a:xfrm xmlns:a="http://schemas.openxmlformats.org/drawingml/2006/main">
            <a:off x="609600" y="54006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Gate consequential actions before execution. Review incidents into Golden Sets.</a:t>
            </a:r>
          </a:p>
        </p:txBody>
      </p:sp>
      <p:sp>
        <p:nvSpPr>
          <p:cNvPr id="30" name="">
            <a:extLst xmlns:a="http://schemas.openxmlformats.org/drawingml/2006/main">
              <a:ext uri="{FF2B5EF4-FFF2-40B4-BE49-F238E27FC236}">
                <a16:creationId xmlns:a16="http://schemas.microsoft.com/office/drawing/2014/main" id="{4198630A-6132-4F99-814A-A496065279F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1" name="">
            <a:extLst xmlns:a="http://schemas.openxmlformats.org/drawingml/2006/main">
              <a:ext uri="{FF2B5EF4-FFF2-40B4-BE49-F238E27FC236}">
                <a16:creationId xmlns:a16="http://schemas.microsoft.com/office/drawing/2014/main" id="{0F1B4427-07A0-4798-883D-2BC885E8A77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Production needs evidence connected to corrective action.</a:t>
            </a:r>
          </a:p>
        </p:txBody>
      </p:sp>
    </p:spTree>
    <p:extLst>
      <p:ext uri="{BB962C8B-B14F-4D97-AF65-F5344CB8AC3E}">
        <p14:creationId xmlns:p14="http://schemas.microsoft.com/office/powerpoint/2010/main" val="1282361897"/>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F9D716-EC61-444E-85C9-D0A0783BBFB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B5B029CF-CBC1-4C17-993C-68EDEC72B0E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A415200-AF5A-4E63-BBA6-C033D4CFEB4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13</a:t>
            </a:r>
          </a:p>
        </p:txBody>
      </p:sp>
      <p:graphicFrame>
        <p:nvGraphicFramePr>
          <p:cNvPr id="10" name=""/>
          <p:cNvGraphicFramePr/>
          <p:nvPr/>
        </p:nvGraphicFramePr>
        <p:xfrm>
          <a:off xmlns:a="http://schemas.openxmlformats.org/drawingml/2006/main" x="609600" y="2009775"/>
          <a:ext xmlns:a="http://schemas.openxmlformats.org/drawingml/2006/main" cx="10972800" cy="3429000"/>
        </p:xfrm>
        <a:graphic xmlns:a="http://schemas.openxmlformats.org/drawingml/2006/main">
          <a:graphicData uri="http://schemas.openxmlformats.org/drawingml/2006/table">
            <a:tbl>
              <a:tblPr/>
              <a:tblGrid>
                <a:gridCol w="1695450"/>
                <a:gridCol w="3276600"/>
                <a:gridCol w="6000750"/>
              </a:tblGrid>
              <a:tr h="685800">
                <a:tc>
                  <a:txBody>
                    <a:bodyPr lIns="171450" tIns="114300" rIns="171450" bIns="114300">
                      <a:noAutofit/>
                    </a:bodyPr>
                    <a:lstStyle/>
                    <a:p>
                      <a:r>
                        <a:rPr sz="1725" b="1">
                          <a:solidFill>
                            <a:srgbClr val="F4F7FA"/>
                          </a:solidFill>
                          <a:latin typeface="DejaVu Sans"/>
                          <a:ea typeface="DejaVu Sans"/>
                          <a:cs typeface="DejaVu Sans"/>
                        </a:rPr>
                        <a:t>Role</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Before</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Increasingly owns</a:t>
                      </a:r>
                    </a:p>
                  </a:txBody>
                  <a:tcPr marL="91440" marR="91440" marT="45720" marB="45720" anchor="ctr">
                    <a:solidFill>
                      <a:srgbClr val="1A2734"/>
                    </a:solidFill>
                  </a:tcPr>
                </a:tc>
              </a:tr>
              <a:tr h="685800">
                <a:tc>
                  <a:txBody>
                    <a:bodyPr lIns="171450" tIns="114300" rIns="171450" bIns="114300">
                      <a:noAutofit/>
                    </a:bodyPr>
                    <a:lstStyle/>
                    <a:p>
                      <a:r>
                        <a:rPr sz="1875" b="1">
                          <a:solidFill>
                            <a:srgbClr val="F4F7FA"/>
                          </a:solidFill>
                          <a:latin typeface="DejaVu Sans"/>
                          <a:ea typeface="DejaVu Sans"/>
                          <a:cs typeface="DejaVu Sans"/>
                        </a:rPr>
                        <a:t>PM</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Story / acceptance</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Risk &amp; tolerance</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QA</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Pass / fail cases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Measurement &amp; evaluation</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Architect</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Components &amp; flows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Boundaries &amp; failure containment</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Developer</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Implementation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Behavioral / operational ownership</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CC56726E-37ED-400C-B3CD-20EAFAB24B9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303E08BE-F5A9-4CAD-8901-28CDCEABAD3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job titles may stay. The object of responsibility changes.</a:t>
            </a:r>
          </a:p>
        </p:txBody>
      </p:sp>
    </p:spTree>
    <p:extLst>
      <p:ext uri="{BB962C8B-B14F-4D97-AF65-F5344CB8AC3E}">
        <p14:creationId xmlns:p14="http://schemas.microsoft.com/office/powerpoint/2010/main" val="78445682"/>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92E401D-B2DD-4844-9403-F1C6B13509C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Engineering Rigor Moves —</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It Doesn’t Disappear</a:t>
            </a:r>
          </a:p>
        </p:txBody>
      </p:sp>
      <p:sp>
        <p:nvSpPr>
          <p:cNvPr id="2" name="">
            <a:extLst xmlns:a="http://schemas.openxmlformats.org/drawingml/2006/main">
              <a:ext uri="{FF2B5EF4-FFF2-40B4-BE49-F238E27FC236}">
                <a16:creationId xmlns:a16="http://schemas.microsoft.com/office/drawing/2014/main" id="{1803A223-D3E3-41EA-B700-12EA1AC229A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D784B5C-9A9E-47DF-AB15-D351F0488C6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E456A417-6E25-48ED-801C-D844EE03A255}"/>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21BEB784-F110-48D9-BF2D-8C8C657FAC28}"/>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Scarcity moves</a:t>
            </a:r>
          </a:p>
        </p:txBody>
      </p:sp>
      <p:sp>
        <p:nvSpPr>
          <p:cNvPr id="6" name="">
            <a:extLst xmlns:a="http://schemas.openxmlformats.org/drawingml/2006/main">
              <a:ext uri="{FF2B5EF4-FFF2-40B4-BE49-F238E27FC236}">
                <a16:creationId xmlns:a16="http://schemas.microsoft.com/office/drawing/2014/main" id="{BD73DFC1-E59E-4A5A-B471-129AE5AE7C43}"/>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E9EDD04B-1E6C-493C-B1A1-CCE39D9DB229}"/>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Code generation gets cheaper</a:t>
            </a:r>
          </a:p>
        </p:txBody>
      </p:sp>
      <p:sp>
        <p:nvSpPr>
          <p:cNvPr id="8" name="">
            <a:extLst xmlns:a="http://schemas.openxmlformats.org/drawingml/2006/main">
              <a:ext uri="{FF2B5EF4-FFF2-40B4-BE49-F238E27FC236}">
                <a16:creationId xmlns:a16="http://schemas.microsoft.com/office/drawing/2014/main" id="{13FF19B5-904F-45AD-A932-E9CA0E8EFC05}"/>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Comprehension becomes scarce</a:t>
            </a:r>
          </a:p>
        </p:txBody>
      </p:sp>
      <p:sp>
        <p:nvSpPr>
          <p:cNvPr id="9" name="">
            <a:extLst xmlns:a="http://schemas.openxmlformats.org/drawingml/2006/main">
              <a:ext uri="{FF2B5EF4-FFF2-40B4-BE49-F238E27FC236}">
                <a16:creationId xmlns:a16="http://schemas.microsoft.com/office/drawing/2014/main" id="{6455B920-7511-4725-9523-0E5DAA2F03BA}"/>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Bottlenecks move</a:t>
            </a:r>
          </a:p>
        </p:txBody>
      </p:sp>
      <p:sp>
        <p:nvSpPr>
          <p:cNvPr id="10" name="">
            <a:extLst xmlns:a="http://schemas.openxmlformats.org/drawingml/2006/main">
              <a:ext uri="{FF2B5EF4-FFF2-40B4-BE49-F238E27FC236}">
                <a16:creationId xmlns:a16="http://schemas.microsoft.com/office/drawing/2014/main" id="{2127118A-8461-4FA8-8B0A-B86F67DBE300}"/>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SDLC seeks a new equilibrium</a:t>
            </a:r>
          </a:p>
        </p:txBody>
      </p:sp>
      <p:sp>
        <p:nvSpPr>
          <p:cNvPr id="11" name="">
            <a:extLst xmlns:a="http://schemas.openxmlformats.org/drawingml/2006/main">
              <a:ext uri="{FF2B5EF4-FFF2-40B4-BE49-F238E27FC236}">
                <a16:creationId xmlns:a16="http://schemas.microsoft.com/office/drawing/2014/main" id="{B71E8DD4-6169-4AEC-9BE2-F83F869FD5F3}"/>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12" name="">
            <a:extLst xmlns:a="http://schemas.openxmlformats.org/drawingml/2006/main">
              <a:ext uri="{FF2B5EF4-FFF2-40B4-BE49-F238E27FC236}">
                <a16:creationId xmlns:a16="http://schemas.microsoft.com/office/drawing/2014/main" id="{64846A1F-CB8E-43FD-B430-1162FEA4178E}"/>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Rigor moves</a:t>
            </a:r>
          </a:p>
        </p:txBody>
      </p:sp>
      <p:sp>
        <p:nvSpPr>
          <p:cNvPr id="13" name="">
            <a:extLst xmlns:a="http://schemas.openxmlformats.org/drawingml/2006/main">
              <a:ext uri="{FF2B5EF4-FFF2-40B4-BE49-F238E27FC236}">
                <a16:creationId xmlns:a16="http://schemas.microsoft.com/office/drawing/2014/main" id="{A3284BDA-8F6B-4B3E-9F3C-C41D26C0921D}"/>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0E34433D-7271-4985-9DCF-C7EBBCBCEF58}"/>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Output → Distribution</a:t>
            </a:r>
          </a:p>
        </p:txBody>
      </p:sp>
      <p:sp>
        <p:nvSpPr>
          <p:cNvPr id="15" name="">
            <a:extLst xmlns:a="http://schemas.openxmlformats.org/drawingml/2006/main">
              <a:ext uri="{FF2B5EF4-FFF2-40B4-BE49-F238E27FC236}">
                <a16:creationId xmlns:a16="http://schemas.microsoft.com/office/drawing/2014/main" id="{7C3085DB-1BF7-44F2-A446-08260235615D}"/>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Requirement → Boundary</a:t>
            </a:r>
          </a:p>
        </p:txBody>
      </p:sp>
      <p:sp>
        <p:nvSpPr>
          <p:cNvPr id="16" name="">
            <a:extLst xmlns:a="http://schemas.openxmlformats.org/drawingml/2006/main">
              <a:ext uri="{FF2B5EF4-FFF2-40B4-BE49-F238E27FC236}">
                <a16:creationId xmlns:a16="http://schemas.microsoft.com/office/drawing/2014/main" id="{BCF6E13A-3FF5-41FE-B2D4-163DC1F284CE}"/>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Test → Measurement</a:t>
            </a:r>
          </a:p>
        </p:txBody>
      </p:sp>
      <p:sp>
        <p:nvSpPr>
          <p:cNvPr id="17" name="">
            <a:extLst xmlns:a="http://schemas.openxmlformats.org/drawingml/2006/main">
              <a:ext uri="{FF2B5EF4-FFF2-40B4-BE49-F238E27FC236}">
                <a16:creationId xmlns:a16="http://schemas.microsoft.com/office/drawing/2014/main" id="{AE3F7E92-0379-40B4-B5C9-2FCF447C355E}"/>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Release → Risk decision</a:t>
            </a:r>
          </a:p>
        </p:txBody>
      </p:sp>
      <p:sp>
        <p:nvSpPr>
          <p:cNvPr id="18" name="">
            <a:extLst xmlns:a="http://schemas.openxmlformats.org/drawingml/2006/main">
              <a:ext uri="{FF2B5EF4-FFF2-40B4-BE49-F238E27FC236}">
                <a16:creationId xmlns:a16="http://schemas.microsoft.com/office/drawing/2014/main" id="{D78BA5E0-172B-47A2-90CD-F87181D1E682}"/>
              </a:ext>
            </a:extLst>
          </p:cNvPr>
          <p:cNvSpPr>
            <a:spLocks xmlns:a="http://schemas.openxmlformats.org/drawingml/2006/main" noGrp="1"/>
          </p:cNvSpPr>
          <p:nvPr/>
        </p:nvSpPr>
        <p:spPr>
          <a:xfrm xmlns:a="http://schemas.openxmlformats.org/drawingml/2006/main">
            <a:off x="6324600" y="5048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Production → Control loop</a:t>
            </a:r>
          </a:p>
        </p:txBody>
      </p:sp>
      <p:sp>
        <p:nvSpPr>
          <p:cNvPr id="19" name="">
            <a:extLst xmlns:a="http://schemas.openxmlformats.org/drawingml/2006/main">
              <a:ext uri="{FF2B5EF4-FFF2-40B4-BE49-F238E27FC236}">
                <a16:creationId xmlns:a16="http://schemas.microsoft.com/office/drawing/2014/main" id="{4D669CB0-7884-4245-B972-CABEB818E00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F3111E13-2D35-4551-A56E-F26E9C53EA9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The team remains accountable for the whole system.</a:t>
            </a:r>
          </a:p>
        </p:txBody>
      </p:sp>
    </p:spTree>
    <p:extLst>
      <p:ext uri="{BB962C8B-B14F-4D97-AF65-F5344CB8AC3E}">
        <p14:creationId xmlns:p14="http://schemas.microsoft.com/office/powerpoint/2010/main" val="15208627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2026-09-21T10:38:38.8250000Z</dcterms:created>
  <dcterms:modified xsi:type="dcterms:W3CDTF">2026-09-21T10:38:38.8250000Z</dcterms:modified>
</coreProperties>
</file>