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11d6f3684304477" /><Relationship Type="http://schemas.openxmlformats.org/officeDocument/2006/relationships/extended-properties" Target="/docProps/app.xml" Id="R3f47882a35124797" /><Relationship Type="http://schemas.openxmlformats.org/officeDocument/2006/relationships/officeDocument" Target="/ppt/presentation.xml" Id="R680a5cc1b3ea4f8c" /></Relationships>
</file>

<file path=ppt/presentation.xml><?xml version="1.0" encoding="utf-8"?>
<p:presentation xmlns:p="http://schemas.openxmlformats.org/presentationml/2006/main">
  <p:sldMasterIdLst>
    <p:sldMasterId xmlns:r="http://schemas.openxmlformats.org/officeDocument/2006/relationships" id="2147483648" r:id="R57252dacefb14f23"/>
  </p:sldMasterIdLst>
  <p:notesMasterIdLst>
    <p:notesMasterId xmlns:r="http://schemas.openxmlformats.org/officeDocument/2006/relationships" r:id="Re96ea0957e124a72"/>
  </p:notesMasterIdLst>
  <p:sldIdLst>
    <p:sldId xmlns:r="http://schemas.openxmlformats.org/officeDocument/2006/relationships" id="256" r:id="Rd2d854c536084de0"/>
    <p:sldId xmlns:r="http://schemas.openxmlformats.org/officeDocument/2006/relationships" id="257" r:id="R716269322d2b4ec2"/>
    <p:sldId xmlns:r="http://schemas.openxmlformats.org/officeDocument/2006/relationships" id="258" r:id="R886cf9a5962a447c"/>
    <p:sldId xmlns:r="http://schemas.openxmlformats.org/officeDocument/2006/relationships" id="259" r:id="Recfb6bfa72e342da"/>
    <p:sldId xmlns:r="http://schemas.openxmlformats.org/officeDocument/2006/relationships" id="260" r:id="R2b3c188c27984ac4"/>
    <p:sldId xmlns:r="http://schemas.openxmlformats.org/officeDocument/2006/relationships" id="261" r:id="R92a316a178b5438c"/>
    <p:sldId xmlns:r="http://schemas.openxmlformats.org/officeDocument/2006/relationships" id="262" r:id="R0423d38c7cdd40ed"/>
    <p:sldId xmlns:r="http://schemas.openxmlformats.org/officeDocument/2006/relationships" id="263" r:id="R7c0a98fbd3c94d11"/>
    <p:sldId xmlns:r="http://schemas.openxmlformats.org/officeDocument/2006/relationships" id="264" r:id="R06d73f5a09c04725"/>
    <p:sldId xmlns:r="http://schemas.openxmlformats.org/officeDocument/2006/relationships" id="265" r:id="R45cd87882f154374"/>
    <p:sldId xmlns:r="http://schemas.openxmlformats.org/officeDocument/2006/relationships" id="266" r:id="R3958a96e5d1a4998"/>
    <p:sldId xmlns:r="http://schemas.openxmlformats.org/officeDocument/2006/relationships" id="267" r:id="R33a4bf339eb04b71"/>
    <p:sldId xmlns:r="http://schemas.openxmlformats.org/officeDocument/2006/relationships" id="268" r:id="R4a003545e7d54a62"/>
    <p:sldId xmlns:r="http://schemas.openxmlformats.org/officeDocument/2006/relationships" id="269" r:id="R4e56155c351f4727"/>
    <p:sldId xmlns:r="http://schemas.openxmlformats.org/officeDocument/2006/relationships" id="270" r:id="Rdf96d7af4e1545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36294223464efa" /><Relationship Type="http://schemas.openxmlformats.org/officeDocument/2006/relationships/slideMaster" Target="/ppt/slideMasters/slideMaster1.xml" Id="R57252dacefb14f23" /><Relationship Type="http://schemas.openxmlformats.org/officeDocument/2006/relationships/notesMaster" Target="/ppt/notesMasters/notesMaster1.xml" Id="Re96ea0957e124a72" /><Relationship Type="http://schemas.openxmlformats.org/officeDocument/2006/relationships/presProps" Target="/ppt/presProps.xml" Id="R55b84cba25e24553" /><Relationship Type="http://schemas.openxmlformats.org/officeDocument/2006/relationships/tableStyles" Target="/ppt/tableStyles.xml" Id="Rde6e524cea7744e8" /><Relationship Type="http://schemas.openxmlformats.org/officeDocument/2006/relationships/slide" Target="/ppt/slides/slide1.xml" Id="Rd2d854c536084de0" /><Relationship Type="http://schemas.openxmlformats.org/officeDocument/2006/relationships/slide" Target="/ppt/slides/slide2.xml" Id="R716269322d2b4ec2" /><Relationship Type="http://schemas.openxmlformats.org/officeDocument/2006/relationships/slide" Target="/ppt/slides/slide3.xml" Id="R886cf9a5962a447c" /><Relationship Type="http://schemas.openxmlformats.org/officeDocument/2006/relationships/slide" Target="/ppt/slides/slide4.xml" Id="Recfb6bfa72e342da" /><Relationship Type="http://schemas.openxmlformats.org/officeDocument/2006/relationships/slide" Target="/ppt/slides/slide5.xml" Id="R2b3c188c27984ac4" /><Relationship Type="http://schemas.openxmlformats.org/officeDocument/2006/relationships/slide" Target="/ppt/slides/slide6.xml" Id="R92a316a178b5438c" /><Relationship Type="http://schemas.openxmlformats.org/officeDocument/2006/relationships/slide" Target="/ppt/slides/slide7.xml" Id="R0423d38c7cdd40ed" /><Relationship Type="http://schemas.openxmlformats.org/officeDocument/2006/relationships/slide" Target="/ppt/slides/slide8.xml" Id="R7c0a98fbd3c94d11" /><Relationship Type="http://schemas.openxmlformats.org/officeDocument/2006/relationships/slide" Target="/ppt/slides/slide9.xml" Id="R06d73f5a09c04725" /><Relationship Type="http://schemas.openxmlformats.org/officeDocument/2006/relationships/slide" Target="/ppt/slides/slide10.xml" Id="R45cd87882f154374" /><Relationship Type="http://schemas.openxmlformats.org/officeDocument/2006/relationships/slide" Target="/ppt/slides/slide11.xml" Id="R3958a96e5d1a4998" /><Relationship Type="http://schemas.openxmlformats.org/officeDocument/2006/relationships/slide" Target="/ppt/slides/slide12.xml" Id="R33a4bf339eb04b71" /><Relationship Type="http://schemas.openxmlformats.org/officeDocument/2006/relationships/slide" Target="/ppt/slides/slide13.xml" Id="R4a003545e7d54a62" /><Relationship Type="http://schemas.openxmlformats.org/officeDocument/2006/relationships/slide" Target="/ppt/slides/slide14.xml" Id="R4e56155c351f4727" /><Relationship Type="http://schemas.openxmlformats.org/officeDocument/2006/relationships/slide" Target="/ppt/slides/slide15.xml" Id="Rdf96d7af4e1545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5e1052fb7945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ea4ee4feff4819" /><Relationship Type="http://schemas.openxmlformats.org/officeDocument/2006/relationships/notesMaster" Target="/ppt/notesMasters/notesMaster1.xml" Id="R54582d5c44214d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ef4f67c9cd40c0" /><Relationship Type="http://schemas.openxmlformats.org/officeDocument/2006/relationships/notesMaster" Target="/ppt/notesMasters/notesMaster1.xml" Id="Rc77b3ea5f47e49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2ae61c6c124fbf" /><Relationship Type="http://schemas.openxmlformats.org/officeDocument/2006/relationships/notesMaster" Target="/ppt/notesMasters/notesMaster1.xml" Id="Re7063a13d92f42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43a4520afd4aa8" /><Relationship Type="http://schemas.openxmlformats.org/officeDocument/2006/relationships/notesMaster" Target="/ppt/notesMasters/notesMaster1.xml" Id="R2713b050dad647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8f65d75ca841a6" /><Relationship Type="http://schemas.openxmlformats.org/officeDocument/2006/relationships/notesMaster" Target="/ppt/notesMasters/notesMaster1.xml" Id="R4b279ed980ba49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e470057b044177" /><Relationship Type="http://schemas.openxmlformats.org/officeDocument/2006/relationships/notesMaster" Target="/ppt/notesMasters/notesMaster1.xml" Id="R9df9cdfc85b74c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359e90ac844365" /><Relationship Type="http://schemas.openxmlformats.org/officeDocument/2006/relationships/notesMaster" Target="/ppt/notesMasters/notesMaster1.xml" Id="R39934902f9dc46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d3637ed7e644ae" /><Relationship Type="http://schemas.openxmlformats.org/officeDocument/2006/relationships/notesMaster" Target="/ppt/notesMasters/notesMaster1.xml" Id="Rf490573912d741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0734781a864a4a" /><Relationship Type="http://schemas.openxmlformats.org/officeDocument/2006/relationships/notesMaster" Target="/ppt/notesMasters/notesMaster1.xml" Id="R27681e214e9f40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5c7d888a304a06" /><Relationship Type="http://schemas.openxmlformats.org/officeDocument/2006/relationships/notesMaster" Target="/ppt/notesMasters/notesMaster1.xml" Id="R9470b3fb9d804e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237ec771884b4c" /><Relationship Type="http://schemas.openxmlformats.org/officeDocument/2006/relationships/notesMaster" Target="/ppt/notesMasters/notesMaster1.xml" Id="Rc7125993ffa144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351860c71240ba" /><Relationship Type="http://schemas.openxmlformats.org/officeDocument/2006/relationships/notesMaster" Target="/ppt/notesMasters/notesMaster1.xml" Id="R6705cac0d9a540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635c9947ad478b" /><Relationship Type="http://schemas.openxmlformats.org/officeDocument/2006/relationships/notesMaster" Target="/ppt/notesMasters/notesMaster1.xml" Id="R78d9f1ad286248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48f9acdb114c21" /><Relationship Type="http://schemas.openxmlformats.org/officeDocument/2006/relationships/notesMaster" Target="/ppt/notesMasters/notesMaster1.xml" Id="R10a33ea8112942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cde42d107484ea8" /><Relationship Type="http://schemas.openxmlformats.org/officeDocument/2006/relationships/notesMaster" Target="/ppt/notesMasters/notesMaster1.xml" Id="Rc5c07d0d10a64c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Відділити AI для розробки від Model Judgment усередині продукту. Перше змінює виробництво software, друге — поведінку системи. Не починати з реклами UA чи anti-AI тези.</a:t>
            </a:r>
          </a:p>
          <a:p xmlns:a="http://schemas.openxmlformats.org/drawingml/2006/main">
            <a:r>
              <a:t>Ілюстрація показує конкретні ролі: зліва розробник працює з AI coding assistant, справа користувач просить продукт скласти план подорожі. AI-generated illustration, OpenAI imagegen, 21 September 2026. Вона не задає архітектуру системи. Prompt: artwork/PROVENANCE.md.</a:t>
            </a:r>
          </a:p>
          <a:p xmlns:a="http://schemas.openxmlformats.org/drawingml/2006/main">
            <a:r>
              <a:t/>
            </a:r>
          </a:p>
          <a:p xmlns:a="http://schemas.openxmlformats.org/drawingml/2006/main">
            <a:r>
              <a:t>Поточне уточнення 23 вересня 2026:</a:t>
            </a:r>
          </a:p>
          <a:p xmlns:a="http://schemas.openxmlformats.org/drawingml/2006/main">
            <a:r>
              <a:t>Коротке представлення: Vitalii Oborskyi, Head of Delivery &amp; PMO, автор Uncertainty Architecture. Контакти: oborskyivitalii@gmail.com та https://www.linkedin.com/in/vitaliioborskyi/. Основний вступ і дві лінії HOW / WHAT збережено.</a:t>
            </a:r>
          </a:p>
          <a:p xmlns:a="http://schemas.openxmlformats.org/drawingml/2006/main">
            <a:r>
              <a:t/>
            </a:r>
          </a:p>
          <a:p xmlns:a="http://schemas.openxmlformats.org/drawingml/2006/main">
            <a:r>
              <a:t>Уточнення v23 — назва та вступна теза, 23.09.2026:</a:t>
            </a:r>
          </a:p>
          <a:p xmlns:a="http://schemas.openxmlformats.org/drawingml/2006/main">
            <a:r>
              <a:t>Назва AI Changes the Delivery System and the Product Itself робить явними два зсуви доповіді. HOW — змінюється не лише швидкість написання коду, а співвідношення робіт, bottlenecks, людського розуміння та відповідальності у delivery. WHAT — змінюється сам інженерний об’єкт, коли частина суттєвої runtime-поведінки залежить від Model Judgment. Це не твердження, що будь-який продукт із AI має однаковий ризик або що AI-assisted coding обов’язково створює Thinking System.</a:t>
            </a:r>
          </a:p>
          <a:p xmlns:a="http://schemas.openxmlformats.org/drawingml/2006/main">
            <a:r>
              <a:t>Стартова теза: нові можливості змінюють обмеження системи; інженерна відповідальність має охопити ці зміни. Відповідальність залишається в людей, але предмет їхньої роботи, потрібні докази й точки контролю розширюються. Це синтез доповіді, а не окремий емпіричний результат або універсальна оцінка ефекту AI.</a:t>
            </a:r>
          </a:p>
          <a:p xmlns:a="http://schemas.openxmlformats.org/drawingml/2006/main">
            <a:r>
              <a:t>Вступ: «Сьогодні не про те, наскільки швидше можна написати код. ШІ змінює систему, якою ми доставляємо software, і сам продукт, який ми проєктуємо. Спочатку — як керувати новим балансом delivery. Потім — як проєктувати й експлуатувати продукт із Model Judgment. В обох випадках відповідальність за цілу систему залишається за командою».</a:t>
            </a:r>
          </a:p>
          <a:p xmlns:a="http://schemas.openxmlformats.org/drawingml/2006/main">
            <a:r>
              <a:t>Дві початкові сцени та підписи HOW / WHAT залишені як прості приклади. Нова назва описує їхні ширші наслідки. Контакти, зображення та їхнє походження незмінні.</a:t>
            </a:r>
          </a:p>
          <a:p xmlns:a="http://schemas.openxmlformats.org/drawingml/2006/main">
            <a:r>
              <a:t>Перехід: «Яка нова можливість запустила ці дві інженерні зміни?»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Актуальний сценарій слайда 2 — v25, 23.09.2026.</a:t>
            </a:r>
          </a:p>
          <a:p xmlns:a="http://schemas.openxmlformats.org/drawingml/2006/main">
            <a:r>
              <a:t>Чинна назва: A New Capability Changes the Delegation Boundary. Видимий слайд не змінено порівняно з v24.</a:t>
            </a:r>
          </a:p>
          <a:p xmlns:a="http://schemas.openxmlformats.org/drawingml/2006/main">
            <a:r>
              <a:t>Головна думка: нова можливість розширює клас роботи, який можна делегувати технології. Writing / Externalized Memory, Computers / Externalized Calculation та Large Models / Externalized Cognition — функціональна аналогія. Для великих моделей тут ідеться про частину інтерпретації контексту та judgment, а не про свідомість або людське розуміння.</a:t>
            </a:r>
          </a:p>
          <a:p xmlns:a="http://schemas.openxmlformats.org/drawingml/2006/main">
            <a:r>
              <a:t>Межа делегування в цьому заголовку — межа роботи, яку технологія дозволяє передати моделі. Вона не є автоматичним дозволом діяти: спроможність запропонувати дію не надає права її виконувати. Дозволені повноваження, погоджені межі та відповідальність визначаються для конкретної системи; відповідальність не переноситься на модель.</a:t>
            </a:r>
          </a:p>
          <a:p xmlns:a="http://schemas.openxmlformats.org/drawingml/2006/main">
            <a:r>
              <a:t>HOW: rebalance the delivery system — перевіряємо нове співвідношення generation, review, integration, людського розуміння та recovery. WHAT: engineer behavior, evidence and control — проєктуємо допустиму поведінку продукту, потрібні докази та дієздатний контроль наслідків. Це дві лінії наступних слайдів, а не твердження про однаковий ефект ШІ для всіх команд і продуктів.</a:t>
            </a:r>
          </a:p>
          <a:p xmlns:a="http://schemas.openxmlformats.org/drawingml/2006/main">
            <a:r>
              <a:t>Коротке усне пояснення: «Письмо дозволило винести частину пам’яті в записи; комп’ютери — делегувати обчислення. Великі моделі дозволяють делегувати частину інтерпретації та judgment. Але “може запропонувати” не означає “має право виконати”. Ця можливість змінює і роботу команди, і поведінку продукту».</a:t>
            </a:r>
          </a:p>
          <a:p xmlns:a="http://schemas.openxmlformats.org/drawingml/2006/main">
            <a:r>
              <a:t>Перехід до слайда 3: «Почнімо з HOW: що відбувається із системою delivery, коли один із її етапів раптом прискорився?»</a:t>
            </a:r>
          </a:p>
          <a:p xmlns:a="http://schemas.openxmlformats.org/drawingml/2006/main">
            <a:r>
              <a:t/>
            </a:r>
          </a:p>
          <a:p xmlns:a="http://schemas.openxmlformats.org/drawingml/2006/main">
            <a:r>
              <a:t>ІСТОРИЧНІ РЕДАКТОРСЬКІ НОТАТКИ — НЕ АКТУАЛЬНИЙ СЦЕНАРІЙ.</a:t>
            </a:r>
          </a:p>
          <a:p xmlns:a="http://schemas.openxmlformats.org/drawingml/2006/main">
            <a:r>
              <a:t>Нижче збережено попередні формулювання. This Is a Real Phase Transition та A New Capability. Two Engineering Shifts. — історичні назви. Чинна назва й пояснення наведені вище.</a:t>
            </a:r>
          </a:p>
          <a:p xmlns:a="http://schemas.openxmlformats.org/drawingml/2006/main">
            <a:r>
              <a:t/>
            </a:r>
          </a:p>
          <a:p xmlns:a="http://schemas.openxmlformats.org/drawingml/2006/main">
            <a:r>
              <a:t>Phase transition — функціональна рамка, не фізичний закон. Cognition-like operations: інтерпретація запиту, зіставлення контексту, пропозиція коду чи плану. Engineering consequence: ми задаємо контекст, інструменти, межі та перевірку поведінки.</a:t>
            </a:r>
          </a:p>
          <a:p xmlns:a="http://schemas.openxmlformats.org/drawingml/2006/main">
            <a:r>
              <a:t/>
            </a:r>
          </a:p>
          <a:p xmlns:a="http://schemas.openxmlformats.org/drawingml/2006/main">
            <a:r>
              <a:t>Історична редакція v23 — попередня назва та інженерні наслідки, 23.09.2026:</a:t>
            </a:r>
          </a:p>
          <a:p xmlns:a="http://schemas.openxmlformats.org/drawingml/2006/main">
            <a:r>
              <a:t>У v23 назва A New Capability. Two Engineering Shifts. замінила This Is a Real Phase Transition. Попередня фраза лишається вище як історична нотатка про функціональну аналогію, а не теза про фізичний закон. Схема Writing / Computers / Large Models, її терміни та caveat про відсутність припущень щодо свідомості збережені.</a:t>
            </a:r>
          </a:p>
          <a:p xmlns:a="http://schemas.openxmlformats.org/drawingml/2006/main">
            <a:r>
              <a:t>Нова можливість тут — делегувати моделі частину інтерпретації контексту та judgment без явного виписування кожного можливого результату. Вона працює у двох різних місцях: як інструмент розробки і як компонент runtime-продукту. Це не твердження, що попередні системи не мали невизначеності, автоматизації чи контрольних механізмів.</a:t>
            </a:r>
          </a:p>
          <a:p xmlns:a="http://schemas.openxmlformats.org/drawingml/2006/main">
            <a:r>
              <a:t>HOW: rebalance the delivery system — перевірити, які обмеження й навантаження змінилися, чи зростає end-to-end результат та чи зберігаються розуміння, ownership і recovery. Не припускаємо однакового ефекту в усіх командах.</a:t>
            </a:r>
          </a:p>
          <a:p xmlns:a="http://schemas.openxmlformats.org/drawingml/2006/main">
            <a:r>
              <a:t>WHAT: engineer behavior, evidence and control — для суттєвого Model Judgment проєктувати допустиму поведінку, відповідну доказову базу та реальну здатність керувати наслідками. Попередня теза про проєктування середовища runtime-поведінки зберігається в цьому поясненні. Вимоги, перевірки та відповідальності доповнюються, а не скасовуються; контроль має бути пропорційним наслідкам, повноваженням і оборотності.</a:t>
            </a:r>
          </a:p>
          <a:p xmlns:a="http://schemas.openxmlformats.org/drawingml/2006/main">
            <a:r>
              <a:t>Обсяг делегування змінюється, але не виникає права перекласти відповідальність на модель. Подальші слайди розгортають ці дві лінії; це рамка аргументу, не готовий доказ безпеки або універсальний рецепт процесу.</a:t>
            </a:r>
          </a:p>
          <a:p xmlns:a="http://schemas.openxmlformats.org/drawingml/2006/main">
            <a:r>
              <a:t>Перехід до 3: «Почнімо з HOW: що відбувається із системою delivery, коли один із її етапів раптом прискорився?»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Theory of Constraints (Goldratt): оптимізуємо потік через реальне обмеження системи. Якщо coding не bottleneck, його прискорення саме по собі не збільшує пропускну здатність delivery. Якщо був bottleneck, після зміни обмеження може переміститися. AI може змінювати Intent і Design так само, як Review, Test, Integration, Deploy та Operate; знак і величину ефекту треба вимірювати.</a:t>
            </a:r>
          </a:p>
          <a:p xmlns:a="http://schemas.openxmlformats.org/drawingml/2006/main">
            <a:r>
              <a:t>Навчальний приклад, не дослідження. ДО AI: code виробляє 8 змін/тиждень, review може опрацювати 8, integration може інтегрувати 8. Потік збалансований. ПІСЛЯ AI: генерація коду зростає до 100 зіставних змін/тиждень, але review та integration лишаються на 8. Інші етапи не прискорилися автоматично. За незмінної потужності та push без WIP limits/відкидання роботи загальний backlog зростає на 100 − 8 = 92 зміни за тиждень. Integration позначено як умовний bottleneck, не універсальний bottleneck команд.</a:t>
            </a:r>
          </a:p>
          <a:p xmlns:a="http://schemas.openxmlformats.org/drawingml/2006/main">
            <a:r>
              <a:t>Це не твердження, що будь-яка оптимізація не-bottleneck автоматично погіршує систему: економія витрат або вільна потужність теж можуть бути корисні. Черга виникає, коли реально збільшується надходження понад вихід. Rework, більші batches, затриманий feedback і тиск на review можуть погіршити якість; це механізм ризику, а не математично неминучий ефект. Джерела й межі: evidence/toc-wip.md.</a:t>
            </a:r>
          </a:p>
          <a:p xmlns:a="http://schemas.openxmlformats.org/drawingml/2006/main">
            <a:r>
              <a:t>На слайді немає фонового зображення чи стрілок: етапи з’єднані короткими нейтральними лініями.</a:t>
            </a:r>
          </a:p>
          <a:p xmlns:a="http://schemas.openxmlformats.org/drawingml/2006/main">
            <a:r>
              <a:t/>
            </a:r>
          </a:p>
          <a:p xmlns:a="http://schemas.openxmlformats.org/drawingml/2006/main">
            <a:r>
              <a:t>Sources:</a:t>
            </a:r>
          </a:p>
          <a:p xmlns:a="http://schemas.openxmlformats.org/drawingml/2006/main">
            <a:r>
              <a:t>https://dora.dev/capabilities/wip-limits/</a:t>
            </a:r>
          </a:p>
          <a:p xmlns:a="http://schemas.openxmlformats.org/drawingml/2006/main">
            <a:r>
              <a:t>https://dora.dev/capabilities/working-in-small-batches/</a:t>
            </a:r>
          </a:p>
          <a:p xmlns:a="http://schemas.openxmlformats.org/drawingml/2006/main">
            <a:r>
              <a:t>https://www.nber.org/papers/w35275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Актуальне уточнення v33 — evidence slide cleanup.</a:t>
            </a:r>
          </a:p>
          <a:p xmlns:a="http://schemas.openxmlformats.org/drawingml/2006/main">
            <a:r>
              <a:t>Xu прибрано з видимого слайда 4. Дані Xu охоплюють 2020–2022 і корисні лише як ранній Copilot-era background; поруч із NBER/DORA/GitClear/Agarwal 2025–2026 вони послаблювали актуальність основної evidence story.</a:t>
            </a:r>
          </a:p>
          <a:p xmlns:a="http://schemas.openxmlformats.org/drawingml/2006/main">
            <a:r>
              <a:t>GitClear: H1 2026 розшифровано як first half 2026 для неспеціалізованої PM-аудиторії. Moved-code лишається proxy for refactoring/reuse; copy/paste — proxy for duplication/cloning.</a:t>
            </a:r>
          </a:p>
          <a:p xmlns:a="http://schemas.openxmlformats.org/drawingml/2006/main">
            <a:r>
              <a:t/>
            </a:r>
          </a:p>
          <a:p xmlns:a="http://schemas.openxmlformats.org/drawingml/2006/main">
            <a:r>
              <a:t>Актуальне уточнення v32 — DORA / GitClear / Agarwal / Xu.</a:t>
            </a:r>
          </a:p>
          <a:p xmlns:a="http://schemas.openxmlformats.org/drawingml/2006/main">
            <a:r>
              <a:t>DORA 2025: &gt;80% respondents reported increased personal productivity from AI; 59% reported a positive impact on their code quality. Це self-reported perceived gains. Окремо regression model показує, що higher AI adoption is associated with both higher software-delivery throughput and higher software-delivery instability. Instability тут НЕ означає нестабільність AI-відповідей і не є загальною reliability metric. DORA визначає software-delivery instability через change fail rate (production changes/releases that degrade service and require remediation) та deployment rework rate (unplanned deployments to fix user-facing bugs). ≈+0.10 SD per +1 SD AI adoption — standardized association, not +10% failures and not proof that AI causally created those failures.</a:t>
            </a:r>
          </a:p>
          <a:p xmlns:a="http://schemas.openxmlformats.org/drawingml/2006/main">
            <a:r>
              <a:t>GitClear: moved-code share використовується як proxy for refactoring/reuse activity — переміщення вже наявного коду замість написання нового дубля. Copy/paste share — proxy for cloning/duplication behavior. Це proxies структурних практик, не прямі вимірювання maintainability або causal AI effects. Cross-edition comparability caveat лишається чинним.</a:t>
            </a:r>
          </a:p>
          <a:p xmlns:a="http://schemas.openxmlformats.org/drawingml/2006/main">
            <a:r>
              <a:t>Agarwal: дві cohort estimates тепер розшифровані без AF/IF: Agent-first +34.85%; repositories with prior AI-IDE usage +42.87%. Outcome = repository-level cognitive complexity after agent adoption vs matched controls; 19,236 repository-months.</a:t>
            </a:r>
          </a:p>
          <a:p xmlns:a="http://schemas.openxmlformats.org/drawingml/2006/main">
            <a:r>
              <a:t>Xu винесено в окремий рядок, бо це інше дослідження: 2020–22 data; 1,699 contributors in the individual-level analysis and 2,755 repos overall. Його функція на слайді — сигнал workload shifts across contributors, не evidence про cognitive complexity.</a:t>
            </a:r>
          </a:p>
          <a:p xmlns:a="http://schemas.openxmlformats.org/drawingml/2006/main">
            <a:r>
              <a:t/>
            </a:r>
          </a:p>
          <a:p xmlns:a="http://schemas.openxmlformats.org/drawingml/2006/main">
            <a:r>
              <a:t>Актуальне уточнення v30 — виправлений evidence slide після критичного рев’ю.</a:t>
            </a:r>
          </a:p>
          <a:p xmlns:a="http://schemas.openxmlformats.org/drawingml/2006/main">
            <a:r>
              <a:t>GitClear: повернуто явні data periods 2021→YTD 2026 та 2021→H1 2026. Scale labels refer to report datasets: 2025 report = 211M changed lines covering 2020–24; 2026 report = 623M analyzed changes covering 2023–26. Це не одна harmonized panel.</a:t>
            </a:r>
          </a:p>
          <a:p xmlns:a="http://schemas.openxmlformats.org/drawingml/2006/main">
            <a:r>
              <a:t>METR: 349 technical workers, не 349 software engineers; 1.4–2× — self-reported work value.</a:t>
            </a:r>
          </a:p>
          <a:p xmlns:a="http://schemas.openxmlformats.org/drawingml/2006/main">
            <a:r>
              <a:t>Agarwal: +34.85% AF та +42.87% IF показані окремо, бо це дві cohort estimates, а не interval. AF = Agent-First; IF = repositories with prior AI-IDE usage before agent adoption. Outcome = repository-level cognitive complexity after coding-agent adoption vs matched controls. Scale = 1,197 repositories and 19,236 repository-month observations.</a:t>
            </a:r>
          </a:p>
          <a:p xmlns:a="http://schemas.openxmlformats.org/drawingml/2006/main">
            <a:r>
              <a:t>Xu: повернуто сам результат workload shifts; 1,699 contributors — individual-level analysis, 2,755 repositories — overall project-level dataset, data 2020–22.</a:t>
            </a:r>
          </a:p>
          <a:p xmlns:a="http://schemas.openxmlformats.org/drawingml/2006/main">
            <a:r>
              <a:t>Sample sizes communicate evidence scale only; they do not remove observational, selection, self-report, or cross-edition limitations.</a:t>
            </a:r>
          </a:p>
          <a:p xmlns:a="http://schemas.openxmlformats.org/drawingml/2006/main">
            <a:r>
              <a:t/>
            </a:r>
          </a:p>
          <a:p xmlns:a="http://schemas.openxmlformats.org/drawingml/2006/main">
            <a:r>
              <a:t>Актуальне уточнення v29 — масштаб вибірок усіх evidence sources на слайді 4.</a:t>
            </a:r>
          </a:p>
          <a:p xmlns:a="http://schemas.openxmlformats.org/drawingml/2006/main">
            <a:r>
              <a:t>NBER (September 2026 revision): official NBER abstract reports data on more than 500,000 GitHub developers combined with AI-usage telemetry; the paper also checks aggregate outcomes across four major software marketplaces. The exact regression sample can vary by generation/outcome, so the slide states &gt;500K developers + 4 marketplaces rather than a false single exact n.</a:t>
            </a:r>
          </a:p>
          <a:p xmlns:a="http://schemas.openxmlformats.org/drawingml/2006/main">
            <a:r>
              <a:t>DORA 2025: the report states 4,867 total survey respondents globally, plus over 100 hours of qualitative data. The visible label says Survey: 4,867 respondents; it does not claim every regression uses all 4,867 complete cases.</a:t>
            </a:r>
          </a:p>
          <a:p xmlns:a="http://schemas.openxmlformats.org/drawingml/2006/main">
            <a:r>
              <a:t>GitClear: the 2025 report analyzes 211 million meaningful changed lines from 2020-2024; the 2026 Maintainability Gap reports 623 million analyzed changes for 2023-2026. Because the slide intentionally combines cross-edition snapshots, both dataset scales are shown and comparability remains explicitly limited.</a:t>
            </a:r>
          </a:p>
          <a:p xmlns:a="http://schemas.openxmlformats.org/drawingml/2006/main">
            <a:r>
              <a:t>METR May 2026: clean survey sample n=349 technical workers after filtering 10 of 359 raw respondents for data-quality issues.</a:t>
            </a:r>
          </a:p>
          <a:p xmlns:a="http://schemas.openxmlformats.org/drawingml/2006/main">
            <a:r>
              <a:t>Agarwal et al.: Figure 2 comprises 401+606 Agent-First treated/control repositories and 117+73 IDE-First treated/control repositories: 1,197 repositories total and 19,236 repository-month observations.</a:t>
            </a:r>
          </a:p>
          <a:p xmlns:a="http://schemas.openxmlformats.org/drawingml/2006/main">
            <a:r>
              <a:t>Xu et al.: project-level dataset contains 2,755 Microsoft-owned OSS repositories; the individual-level dataset used for the contributor workload analysis contains 1,699 contributors (from 37,334 contributors who made at least one contribution before filtering). The workload-shift numbers on the slide correspond to the contributor-level analysis, so n=1,699 is the key visible sample size.</a:t>
            </a:r>
          </a:p>
          <a:p xmlns:a="http://schemas.openxmlformats.org/drawingml/2006/main">
            <a:r>
              <a:t>These sample-size labels communicate evidence scale only. Large n does not repair observational design, selection, comparability, self-report, or external-validity limitations.</a:t>
            </a:r>
          </a:p>
          <a:p xmlns:a="http://schemas.openxmlformats.org/drawingml/2006/main">
            <a:r>
              <a:t/>
            </a:r>
          </a:p>
          <a:p xmlns:a="http://schemas.openxmlformats.org/drawingml/2006/main">
            <a:r>
              <a:t>Актуальне уточнення v28 — розмір вибірки Agarwal et al.</a:t>
            </a:r>
          </a:p>
          <a:p xmlns:a="http://schemas.openxmlformats.org/drawingml/2006/main">
            <a:r>
              <a:t>Paper reports 401 Agent-First treated repositories matched to 606 controls and 117 IDE-First treated repositories matched to 73 controls: together 518 treated repositories + 679 matched controls. Figure 2 reports 15,664 AF and 3,572 IF repository-month observations, together 19,236 repo-months. Outcomes are aggregated at repository-month level. The paper does NOT report this effect as a fixed total number of analyzed lines of code or as a sample of individual developers; it explicitly states that developer-level interactions / usage intensity cannot be directly measured. Therefore the slide reports repositories and repo-month observations, not invented LOC/person counts.</a:t>
            </a:r>
          </a:p>
          <a:p xmlns:a="http://schemas.openxmlformats.org/drawingml/2006/main">
            <a:r>
              <a:t/>
            </a:r>
          </a:p>
          <a:p xmlns:a="http://schemas.openxmlformats.org/drawingml/2006/main">
            <a:r>
              <a:t>Актуальне уточнення v27 — неоднозначні порівняння на evidence slide.</a:t>
            </a:r>
          </a:p>
          <a:p xmlns:a="http://schemas.openxmlformats.org/drawingml/2006/main">
            <a:r>
              <a:t>DORA: формулювання Associated with higher throughput / associated with lower stability навмисно не є causal claim; це зв'язок у survey model.</a:t>
            </a:r>
          </a:p>
          <a:p xmlns:a="http://schemas.openxmlformats.org/drawingml/2006/main">
            <a:r>
              <a:t>METR: 1.4–2× — self-reported work value, не виміряний causal productivity multiplier.</a:t>
            </a:r>
          </a:p>
          <a:p xmlns:a="http://schemas.openxmlformats.org/drawingml/2006/main">
            <a:r>
              <a:t>Agarwal et al.: ≈+35–43% cognitive complexity означає оцінений post-adoption effect після coding-agent adoption проти matched counterfactual repositories у staggered difference-in-differences. Це НЕ «AI-код на 35–43% складніший за людський код» і не пряме попарне порівняння однакових задач. Agent-first estimate = +34.85%; repositories with prior AI-IDE usage = +42.87%. На екрані округлено для ясності; точні числа лишаються в source notes.</a:t>
            </a:r>
          </a:p>
          <a:p xmlns:a="http://schemas.openxmlformats.org/drawingml/2006/main">
            <a:r>
              <a:t/>
            </a:r>
          </a:p>
          <a:p xmlns:a="http://schemas.openxmlformats.org/drawingml/2006/main">
            <a:r>
              <a:t>Актуальний сценарій слайда 4 — v26, 23.09.2026.</a:t>
            </a:r>
          </a:p>
          <a:p xmlns:a="http://schemas.openxmlformats.org/drawingml/2006/main">
            <a:r>
              <a:t>Головна думка: різні дослідження вимірюють різні outcomes. Це не одна сукупна оцінка продуктивності та не доведення універсальної шкоди ШІ. Пройти три контрасти: code activity і delivery — не те саме; throughput і stability можуть змінюватися по-різному; structural proxies потребують контексту.</a:t>
            </a:r>
          </a:p>
          <a:p xmlns:a="http://schemas.openxmlformats.org/drawingml/2006/main">
            <a:r>
              <a:t>NBER: changed LOC — додавання плюс видалення, а не чисте зростання кодової бази. Множник LOC сам по собі не визначає навантаження на review, складність збереженої системи чи бізнес-цінність. Показники LOC / commits / releases не утворюють коефіцієнт перетворення коду на користь. Застереження щодо неоціненого окремо async release effect залишається.</a:t>
            </a:r>
          </a:p>
          <a:p xmlns:a="http://schemas.openxmlformats.org/drawingml/2006/main">
            <a:r>
              <a:t>GitClear: зіставність і причинність — різні питання. Різні випуски, вибірки й перерахунки обмежують зіставність наведених зрізів. Відсоткова арифметика між двома опублікованими числами не встановлює точну зміну в одній незмінній популяції і не дає оцінки причинного ефекту ШІ. Використовуємо ці snapshots як контекст для перевірки підтримуваності; не озвучуємо їх як точне вимірювання того, наскільки ШІ погіршив рефакторинг. Фактичний churn, прогноз і окремий індекс мають власні позначені періоди й бази.</a:t>
            </a:r>
          </a:p>
          <a:p xmlns:a="http://schemas.openxmlformats.org/drawingml/2006/main">
            <a:r>
              <a:t>Позитивні результати не заперечують системної тези: якщо команда отримала end-to-end виграш, його слід перевірити разом зі stability, review, understanding та recovery. Тут не доводиться, що всі команди втратили продуктивність.</a:t>
            </a:r>
          </a:p>
          <a:p xmlns:a="http://schemas.openxmlformats.org/drawingml/2006/main">
            <a:r>
              <a:t>Перехід до 5: «Ці результати не виміряли comprehension gap. Вони мотивують перевірити, чи встигають review, розуміння й підтримка за обсягом змін у нашій команді».</a:t>
            </a:r>
          </a:p>
          <a:p xmlns:a="http://schemas.openxmlformats.org/drawingml/2006/main">
            <a:r>
              <a:t>ПОПЕРЕДНІ ДЖЕРЕЛЬНІ Й РЕДАКТОРСЬКІ НОТАТКИ.</a:t>
            </a:r>
          </a:p>
          <a:p xmlns:a="http://schemas.openxmlformats.org/drawingml/2006/main">
            <a:r>
              <a:t>Нижче збережено попередній матеріал без змін. Для поточної подачі пріоритет має сценарій v26 вище; попередні назви, композиції та формулювання не є новою екранною редакцією.</a:t>
            </a:r>
          </a:p>
          <a:p xmlns:a="http://schemas.openxmlformats.org/drawingml/2006/main">
            <a:r>
              <a:t>NBER WP 35275: May 2026, revised September 2026; current official PDF downloaded 2026-09-21. Понад 500 тисяч GitHub developers; matched event study, не RCT. Попередні 17.3× / 2.8×, 79→86% та 18→31% належали старій редакції й замінені. Changed LOC = additions + deletions, не чисте зростання кодової бази.</a:t>
            </a:r>
          </a:p>
          <a:p xmlns:a="http://schemas.openxmlformats.org/drawingml/2006/main">
            <a:r>
              <a:t>Table 6, друкована с.33 / PDF p.35, тижні 21–30: Autocomplete — LOC +234.3%, files +50.0%, commits +30.2%, PRs +18.3%, repos +11.9%, releases +9.0%. Sync — LOC +957.5%, files +265.0%, commits +153.2%, PRs +86.0%, repos +47.3%, releases +19.8%. Async — LOC +1254.9%, files +83.3%, commits +60.7%, PRs +68.5%, repos +19.2%; releases не оцінено окремо. Figure 1, друкована с.2 / PDF p.4: авторські округлені cumulative levels — LOC 25.5×, files 5.0×, commits 3.4×, PRs 2.7×, repos 1.8×, releases 1.3×. Арифметика за округленою Table 6: 1+(234.3+957.5+1254.9)/100=25.467; commits 1+(30.2+153.2+60.7)/100=3.441; releases 1+(9.0+19.8)/100=1.288. Не перемножувати компоненти і не видавати ці суми за точні raw-data estimates. Прочерк async releases не означає нульового ефекту.</a:t>
            </a:r>
          </a:p>
          <a:p xmlns:a="http://schemas.openxmlformats.org/drawingml/2006/main">
            <a:r>
              <a:t>Figure 11, друкована с.44 / PDF p.46; §7.2, с.43–46: iOS нові apps/month приблизно 33–45 тисяч у 2023–early 2025 → 108 тисяч у квітні 2026; Android 42 тисячі у січні 2025 → 99 тисяч у mid-2026; Chrome приблизно семикратне зростання від 2023, що почалося до agentic era. SourceForge показує невелике зростання new projects і винесений у Figure OA-17, без надійної usage-панелі. Usage за перші 3 місяці: iOS cohort ratings приблизно стабільні; Android downloads помірно зростають, але значно повільніше за entry; Chrome downloads падають. Тому коректно «usage does not keep pace», а не «usage ніде не зростає».</a:t>
            </a:r>
          </a:p>
          <a:p xmlns:a="http://schemas.openxmlformats.org/drawingml/2006/main">
            <a:r>
              <a:t>§7.2.3, друкована с.46 / PDF p.48: January 2025 → April 2026, частка iOS із &lt;10 ratings приблизно 78% → 87%; Chrome із &lt;10 downloads 19% → 33%; Android із ≤100 downloads приблизно 22% → 26%. Авторські цілі відсотки; не точні частки з raw data. Це порівняння нових когорт за перші 3 місяці, не всіх existing apps, не весь software market і не пряме вимірювання consumer welfare. Зміни часток приблизно +9/+14/+4 відсоткових пункти відповідно.</a:t>
            </a:r>
          </a:p>
          <a:p xmlns:a="http://schemas.openxmlformats.org/drawingml/2006/main">
            <a:r>
              <a:t>DORA 2025 v.2025.2: повний звіт отримано через публічне дзеркало; source URL, license і SHA-256 записано в evidence/sources.json. Figure 28, p.38: software delivery instability має standardized estimate приблизно +0.10 SD, 89% credible interval приблизно +0.07…+0.13, на +1 SD AI adoption. Це округлене зчитування графіка, не точна опублікована числова таблиця. Векторні координати та арифметика — evidence/dora-2025-figure28.json. Footnote 23, p.48 визначає стандартизацію. Appendix p.139: instability об’єднує change failure rate та deployment rework rate, тобто частку незапланованих deployments для виправлення user-facing bugs. Це оцінки респондентів у cross-sectional survey, не телеметрія CI/CD і не доведений причинний ефект. Не перекладати +0.10 SD як +10% failures. &gt;80% і 59% — частки респондентів, які повідомляють про покращення productivity та code quality. Перевірений коефіцієнт 2024 +7.2% тут не підставляємо. Деталі: evidence/dora-2025.md.</a:t>
            </a:r>
          </a:p>
          <a:p xmlns:a="http://schemas.openxmlformats.org/drawingml/2006/main">
            <a:r>
              <a:t>METR, 11 травня 2026: 349 technical workers; 1.4–2× medians across 3 self-reported work-value questions; це не credible/confidence interval, 3× self-reported speed; є selection bias. Старий RCT 2025 із +19% часу — лише історичний контекст.</a:t>
            </a:r>
          </a:p>
          <a:p xmlns:a="http://schemas.openxmlformats.org/drawingml/2006/main">
            <a:r>
              <a:t>GitClear 2026: частка moved code у changed lines 13% (2023) → 3.8% (YTD 2026), не кількість refactoring tasks і не весь reuse. Частота duplicated blocks приблизно +81% за цей період. Copy/paste share 9.4% (2022) → 15.7% (H1 2026), інший baseline. Публічне резюме GitClear 2026 прямо повідомляє +15% two-week code churn: частка нещодавно написаних рядків, переписаних/видалених упродовж двох тижнів. Це відносна зміна, не +15 відсоткових пунктів і не частка дефектів. Резюме не дає окремої пари базових значень churn. Function connectivity: 343 → 223 calls/1000 changed lines, 2023 → YTD 2026, приблизно −35%. Це щільність викликів, не весь reuse. Legacy update share: 1.7% → 0.46%; вступ каже 2022, детальний абзац 2023, тому baseline суперечливий і показник лишається в нотатках. Не змішувати churn, duplication та refactoring. Текст і графік 2026 суперечать щодо абсолютної одиниці duplication, тому залишаємо тільки відносні +81%. Це observational proxies, не причинний ефект AI. Деталі: evidence/gitclear.md.</a:t>
            </a:r>
          </a:p>
          <a:p xmlns:a="http://schemas.openxmlformats.org/drawingml/2006/main">
            <a:r>
              <a:t>Xu, v3 від січня 2026, дані 2020–22: top activity quartile — commits −19%, reviews +6.5%; bottom quartile — commits +43.5%, PRs +17.7%; rework +2.4%. Це не кадрові грейди й не агенти 2026 року.</a:t>
            </a:r>
          </a:p>
          <a:p xmlns:a="http://schemas.openxmlformats.org/drawingml/2006/main">
            <a:r>
              <a:t>Agarwal, v2, Table 2: complexity Agent-first +34.85% / IDE-first +42.87%, warnings +17.73/+19.00%; зміна IDE-first warnings статистично незначуща. Не трактувати це як борг на одну фічу.</a:t>
            </a:r>
          </a:p>
          <a:p xmlns:a="http://schemas.openxmlformats.org/drawingml/2006/main">
            <a:r>
              <a:t>DORA: позитивний зв’язок AI adoption з throughput одночасно з негативним зі stability. Small batches, p.58: сильніший позитивний зв’язок AI із product performance та менше friction, хоча індивідуальні gains можуть бути меншими. ToC / review-testing-integration queues, p.81. Це мотивує системну оптимізацію на слайді 7, не доводить універсальну причинність.</a:t>
            </a:r>
          </a:p>
          <a:p xmlns:a="http://schemas.openxmlformats.org/drawingml/2006/main">
            <a:r>
              <a:t>Повторна числова перевірка 2026-09-21: DORA Fig.28 vector coordinates та сторінку звірено повторно; коефіцієнт і межі лише приблизні. &gt;80% збережено як авторський поріг: сума округлених bars 41+31+13=85 не встановлює точного агрегату. GitClear calls 343→223 дають приблизно −35%; +81% — авторське округлення, +15% churn — число з резюме без окремої baseline-пари. Точний місяць публікації GitClear не підтверджено на перевіреній сторінці, тому на екрані лише 2026. Див. EVIDENCE.md та відповідні локальні нотатки.</a:t>
            </a:r>
          </a:p>
          <a:p xmlns:a="http://schemas.openxmlformats.org/drawingml/2006/main">
            <a:r>
              <a:t>Пояснення GitClear: Moved-code share — частка змінених рядків, класифікованих як переміщений наявний код. 3.8−13=−9.2 відсоткового пункту; (3.8/13−1)×100=−70.769…%, на екрані −70.8%. Це proxy активності рефакторингу: менша частка переміщень може означати менше реорганізації та повторного використання коду, але не кожне переміщення корисне і не весь рефакторинг є переміщенням. Calls / 1k changed lines — кількість викликів інших методів або функцій у новому коді на 1000 змінених рядків, не API throughput. 223−343=−120; (223/343−1)×100=−34.9854…%, приблизно −35%. GitClear трактує вищу щільність як більшу зв’язність нового й наявного коду. Менша може означати слабше reuse, але менша зв’язність іноді бажана; перевіряти дизайн і дублювання. Падіння цих двох proxy — привід перевірити підтримуваність, не автоматичний висновок про погану якість чи причинність AI. *Період 2023→YTD 2026 стосується moved/calls/duplication; для reported churn +15% окремої базової пари немає.</a:t>
            </a:r>
          </a:p>
          <a:p xmlns:a="http://schemas.openxmlformats.org/drawingml/2006/main">
            <a:r>
              <a:t/>
            </a:r>
          </a:p>
          <a:p xmlns:a="http://schemas.openxmlformats.org/drawingml/2006/main">
            <a:r>
              <a:t>Поточне пояснення: наскрізний приклад і рішення.</a:t>
            </a:r>
          </a:p>
          <a:p xmlns:a="http://schemas.openxmlformats.org/drawingml/2006/main">
            <a:r>
              <a:t>Екранна ієрархія: три контрасти. NBER — масштаб зміни коду, commits та releases не збігається; DORA — throughput і stability є різними outcomes; GitClear — зміни структурних proxy потребують контексту. Не зачитувати всі метрики. NBER числа 25.5× / 3.4× / 1.3× накопичені за трьома поколіннями інструментів, LOC означає additions + deletions, асинхронний effect для releases не оцінено. Marketplace: iOS &lt;10 ratings ≈78% → 87%, Chrome &lt;10 downloads 19% → 33%, Jan 2025 → Apr 2026 за перші три місяці. Це відмінні міри adoption, а не прямий доказ відсутності user value.</a:t>
            </a:r>
          </a:p>
          <a:p xmlns:a="http://schemas.openxmlformats.org/drawingml/2006/main">
            <a:r>
              <a:t/>
            </a:r>
          </a:p>
          <a:p xmlns:a="http://schemas.openxmlformats.org/drawingml/2006/main">
            <a:r>
              <a:t>Додаткові числа для обговорення: DORA &gt;80% respondents повідомляли про productivity improvement, 59% — quality improvement; це self-reported perceptions, окремі від моделі delivery instability. Приблизна оцінка моделі: +0.10 SD instability на +1 SD AI adoption, 89% credible interval ≈+0.07…+0.13 SD. GitClear moved-code share 13% → 3.8% = −9.2 pp / −70.8%, calls per 1k changed lines 343 → 223 = −120 / ≈−35%; duplicates ≈+81% та two-week churn +15% мають окремо описані baseline/limitations. Нижче залишаються попередні джерельні пояснення. METR May 2026: medians 1.4–2× self-reported work value across three questions, не causal effect. Agarwal Jan 2026: complexity +34.85% Agent-first / +42.87% IDE-first; Xu описує workload shifts. Ці допоміжні свідчення доповнюють три основні контрасти, але не утворюють єдину сукупну оцінку.</a:t>
            </a:r>
          </a:p>
          <a:p xmlns:a="http://schemas.openxmlformats.org/drawingml/2006/main">
            <a:r>
              <a:t/>
            </a:r>
          </a:p>
          <a:p xmlns:a="http://schemas.openxmlformats.org/drawingml/2006/main">
            <a:r>
              <a:t>Поточне пояснення: два зсуви та статистичні умови delivery.</a:t>
            </a:r>
          </a:p>
          <a:p xmlns:a="http://schemas.openxmlformats.org/drawingml/2006/main">
            <a:r>
              <a:t>Уточнення churn за першоджерелами, 23 вересня 2026. Public GitClear Coding on Copilot, January 2024, описує дані 2020–2023 та прогноз приблизного подвоєння two-week churn у 2024 проти baseline 2021. Це близько +100% projected relative change, не вже виміряний результат 2024. Public 2026 Maintainability Gap прямо містить +15% two-week churn. У тексті не наведено окремої пари churn endpoints, тому тут це reported number із явно неповною baseline-пояснювальною базою, не independently recomputed effect. Не зіставляти +15% і старе ~2× як єдиний часовий ряд або свідчення зниження churn. Різні vintage / periods / samples потребують однакових визначень і baseline. Two-week churn означає частку нещодавно написаних рядків, які невдовзі переглянуто чи видалено; не duplication, не defect rate і не percentage-point increase. Екранна зірочка прямо попереджає про відсутній standalone baseline. Попередня двоколонкова композиція повертає на екран METR, Agarwal та арифметичне пояснення GitClear. Джерела: https://www.gitclear.com/coding_on_copilot_data_shows_ais_downward_pressure_on_code_quality ; https://www.gitclear.com/the_ai_code_quality_maintainability_gap .</a:t>
            </a:r>
          </a:p>
          <a:p xmlns:a="http://schemas.openxmlformats.org/drawingml/2006/main">
            <a:r>
              <a:t/>
            </a:r>
          </a:p>
          <a:p xmlns:a="http://schemas.openxmlformats.org/drawingml/2006/main">
            <a:r>
              <a:t>Поточне пояснення GitClear: 2021 і 2026, фактичні значення та прогнози (23.09.2026).</a:t>
            </a:r>
          </a:p>
          <a:p xmlns:a="http://schemas.openxmlformats.org/drawingml/2006/main">
            <a:r>
              <a:t>Це уточнення замінює попередню заяву, що baseline року для +15% невідомий. Авторський index chart має 2023 = 100; churn 2026 близько 115. Отже +15% стосується 2023→2026, але абсолютна churn rate 2026 не опублікована у перевіреному public summary. Не можна домножити 2021/2024 дані іншого випуску на 1.15 й отримати точний 2026.</a:t>
            </a:r>
          </a:p>
          <a:p xmlns:a="http://schemas.openxmlformats.org/drawingml/2006/main">
            <a:r>
              <a:t>Повний офіційний GitClear 2025 PDF v2025.2.5 тепер перевірено: Appendix A1, PDF page 23 (24-та сторінка), містить точні частки. Основна таблиця page 6 дає дещо інші округлені значення, тому для 2021 і churn послідовно використано A1. 2020–2024 — спостереження, 2025 — прогноз, а не нові спостереження. Moved share 2021 24.65%; copy/paste 8.66%; churn 3.27%. Churn 2024 5.67%, forecast 2025 6.87%.</a:t>
            </a:r>
          </a:p>
          <a:p xmlns:a="http://schemas.openxmlformats.org/drawingml/2006/main">
            <a:r>
              <a:t>На екрані snapshots: moved 24.65% (2021, report 2025) → 3.8% (YTD 2026, summary 2026): −20.85 в.п., арифметично −84.58%, округлено −85%. Copy/paste 8.66% → 15.7% (H1 2026): +7.04 в.п., +81.29%, округлено +81%. YTD і H1 у рядках означають період кінцевого значення 2026. Різні випуски мають різні вибірки/перерахунки; це контекстні зрізи, не одна узгоджена panel і не оцінка причинного ефекту AI. Наприклад, moved 2023 = 15.88% у A1 звіту 2025, але 13% у summary 2026.</a:t>
            </a:r>
          </a:p>
          <a:p xmlns:a="http://schemas.openxmlformats.org/drawingml/2006/main">
            <a:r>
              <a:t>Churn: (5.67/3.27−1)×100 = +73.39% фактично за 2021→2024 (+2.40 в.п.). Прогноз (6.87/3.27−1)×100 = +110.09% на 2025, не спостережений результат і не число для 2026. Саме прогноз пояснює, звідки у старих матеріалах понад 100%; старий звіт 2024 також прогнозував приблизне подвоєння 2024 проти 2021. Two-week churn — написані й запушені рядки, суттєво переглянуті або reverted протягом двох тижнів. Це не defect rate. A1 all-line churn не підмінюється часткою churn лише серед new lines з іншого додатка.</a:t>
            </a:r>
          </a:p>
          <a:p xmlns:a="http://schemas.openxmlformats.org/drawingml/2006/main">
            <a:r>
              <a:t>Збережені додаткові сигнали 2023→2026: function calls 343→223 на 1000 змінених рядків, −120 (≈−35%); duplicated blocks ≈+81%. Для duplication у public summary є конфлікт абсолютних одиниць, тому використано лише відносну зміну. Старий показник частки commits із duplicate blocks (0.48% 2021→6.66% 2024) має інший знаменник і не з'єднується з нормованим на рядки показником 2026. Значень 2021 для function-call density і legacy-update share у перевірених таблицях немає.</a:t>
            </a:r>
          </a:p>
          <a:p xmlns:a="http://schemas.openxmlformats.org/drawingml/2006/main">
            <a:r>
              <a:t>Moved lines — proxy рефакторингу, copy/paste і duplicate blocks — різні міри дублювання, calls — proxy зв'язності, не весь reuse. Вони допомагають поставити питання про підтримуваність, але окремо не визначають якість. 2021 коректніше називати періодом до масового використання: Copilot technical preview стартував 29.06.2021. Повний звіт 2026 і сирі дані не перевірено; повний 2025 PDF перевірено. Джерела: https://gitclear-public.s3.us-west-2.amazonaws.com/GitClear-AI-Copilot-Code-Quality-2025.pdf ; https://www.gitclear.com/the_ai_code_quality_maintainability_gap ; https://www.gitclear.com/blog/annual_ai_code_quality_research_2026_diff_digest_git_ai_diff_viewer .</a:t>
            </a:r>
          </a:p>
          <a:p xmlns:a="http://schemas.openxmlformats.org/drawingml/2006/main">
            <a:r>
              <a:t/>
            </a:r>
          </a:p>
          <a:p xmlns:a="http://schemas.openxmlformats.org/drawingml/2006/main">
            <a:r>
              <a:t>Sources:</a:t>
            </a:r>
          </a:p>
          <a:p xmlns:a="http://schemas.openxmlformats.org/drawingml/2006/main">
            <a:r>
              <a:t>https://www.nber.org/papers/w35275</a:t>
            </a:r>
          </a:p>
          <a:p xmlns:a="http://schemas.openxmlformats.org/drawingml/2006/main">
            <a:r>
              <a:t>https://cloud.google.com/blog/products/ai-machine-learning/announcing-the-2025-dora-report</a:t>
            </a:r>
          </a:p>
          <a:p xmlns:a="http://schemas.openxmlformats.org/drawingml/2006/main">
            <a:r>
              <a:t>https://metr.org/blog/2026-05-11-ai-usage-survey/</a:t>
            </a:r>
          </a:p>
          <a:p xmlns:a="http://schemas.openxmlformats.org/drawingml/2006/main">
            <a:r>
              <a:t>https://www.gitclear.com/the_ai_code_quality_maintainability_gap</a:t>
            </a:r>
          </a:p>
          <a:p xmlns:a="http://schemas.openxmlformats.org/drawingml/2006/main">
            <a:r>
              <a:t>https://arxiv.org/html/2510.10165v3</a:t>
            </a:r>
          </a:p>
          <a:p xmlns:a="http://schemas.openxmlformats.org/drawingml/2006/main">
            <a:r>
              <a:t>https://arxiv.org/html/2601.13597v2</a:t>
            </a:r>
          </a:p>
          <a:p xmlns:a="http://schemas.openxmlformats.org/drawingml/2006/main">
            <a:r>
              <a:t>https://dora.dev/research/2025/2025-DORA-Report-Infographic.pdf</a:t>
            </a:r>
          </a:p>
          <a:p xmlns:a="http://schemas.openxmlformats.org/drawingml/2006/main">
            <a:r>
              <a:t>https://www.gitclear.com/ai_assistant_code_quality_2025_research</a:t>
            </a:r>
          </a:p>
          <a:p xmlns:a="http://schemas.openxmlformats.org/drawingml/2006/main">
            <a:r>
              <a:t>https://www.shaunabram.com/wp-content/uploads/2025/10/2025_state_of_ai_assisted_software_development.pdf</a:t>
            </a:r>
          </a:p>
          <a:p xmlns:a="http://schemas.openxmlformats.org/drawingml/2006/main">
            <a:r>
              <a:t>https://dora.dev/research/2025/questions/</a:t>
            </a:r>
          </a:p>
          <a:p xmlns:a="http://schemas.openxmlformats.org/drawingml/2006/main">
            <a:r>
              <a:t>https://www.gitclear.com/industry_stats/ai_code_quality_signal_graphs</a:t>
            </a:r>
          </a:p>
          <a:p xmlns:a="http://schemas.openxmlformats.org/drawingml/2006/main">
            <a:r>
              <a:t>https://www.gitclear.com/coding_on_copilot_data_shows_ais_downward_pressure_on_code_quality</a:t>
            </a:r>
          </a:p>
          <a:p xmlns:a="http://schemas.openxmlformats.org/drawingml/2006/main">
            <a:r>
              <a:t>https://gitclear-public.s3.us-west-2.amazonaws.com/GitClear-AI-Copilot-Code-Quality-2025.pdf</a:t>
            </a:r>
          </a:p>
          <a:p xmlns:a="http://schemas.openxmlformats.org/drawingml/2006/main">
            <a:r>
              <a:t>https://www.gitclear.com/blog/annual_ai_code_quality_research_2026_diff_digest_git_ai_diff_viewer</a:t>
            </a:r>
          </a:p>
          <a:p xmlns:a="http://schemas.openxmlformats.org/drawingml/2006/main">
            <a:r>
              <a:t/>
            </a:r>
          </a:p>
          <a:p xmlns:a="http://schemas.openxmlformats.org/drawingml/2006/main">
            <a:r>
              <a:t>Уточнення v20 — поточна екранна редакція, 23.09.2026:</a:t>
            </a:r>
          </a:p>
          <a:p xmlns:a="http://schemas.openxmlformats.org/drawingml/2006/main">
            <a:r>
              <a:t>Перед числами пояснити: різні дослідження вимірюють різні outcomes, їх не можна скласти в один універсальний ефект продуктивності. Пройти три сигнали: активність не дорівнює результату; throughput і stability — різні outcomes; структурні proxies потребують контексту. Двоколонкова композиція, усі числа, періоди й методологічні застереження збережені. Нижній висновок скорочено лише для усунення переносу за межі слайда.</a:t>
            </a:r>
          </a:p>
          <a:p xmlns:a="http://schemas.openxmlformats.org/drawingml/2006/main">
            <a:r>
              <a:t/>
            </a:r>
          </a:p>
          <a:p xmlns:a="http://schemas.openxmlformats.org/drawingml/2006/main">
            <a:r>
              <a:t>Уточнення після змістовного review, 1 жовтня 2026.</a:t>
            </a:r>
          </a:p>
          <a:p xmlns:a="http://schemas.openxmlformats.org/drawingml/2006/main">
            <a:r>
              <a:t>На екрані GitClear показано два зрізи різних видань у окремих стовпцях. 2021: Appendix A1 звіту 2025, 211M lines (2020–2024); 2026: public summary, 623M changes (2023–2026). Moved-code share — proxy refactoring / reuse, copy/paste — duplication proxy; це не defect rates. 24.65% та 3.8% YTD, 8.66% та 15.7% H1 залишаються точними опублікованими endpoints. Арифметичні −84.58% (≈−85%) і +81.29% (≈+81%) не є оцінкою зміни в зіставній вибірці: навіть 2023 moved-code share різниться між виданнями (15.88% проти 13%). Не подавати їх як узгоджений часовий ряд або causal AI effect.</a:t>
            </a:r>
          </a:p>
          <a:p xmlns:a="http://schemas.openxmlformats.org/drawingml/2006/main">
            <a:r>
              <a:t>Збережені другорядні screen details v33 нижче пояснюють конкретні метрики, одиниці, observed / forecast / indexed status; основна екранна теза — різні дослідження вимірюють різні outcomes. Для DORA instability включає failed production changes та unplanned fix deployments; +0.10 SD не є відсотком збоїв.</a:t>
            </a:r>
          </a:p>
          <a:p xmlns:a="http://schemas.openxmlformats.org/drawingml/2006/main">
            <a:r>
              <a:t>gitclearChurnTitle: "Two-week churn · lines revised / reverted within 14 days"</a:t>
            </a:r>
          </a:p>
          <a:p xmlns:a="http://schemas.openxmlformats.org/drawingml/2006/main">
            <a:r>
              <a:t>gitclearChurn: ["2021 → 2024 actual: 3.27% → 5.67% (+73%)", "2025 forecast: 6.87% (+110% vs 2021); not observed", "2026: +15% vs 2023 index; absolute rate unavailable"]</a:t>
            </a:r>
          </a:p>
          <a:p xmlns:a="http://schemas.openxmlformats.org/drawingml/2006/main">
            <a:r>
              <a:t>gitclearSecondary: "2023→26: calls 343 → 223 / 1k changed lines; duplicates ≈+81%"</a:t>
            </a:r>
          </a:p>
          <a:p xmlns:a="http://schemas.openxmlformats.org/drawingml/2006/main">
            <a:r>
              <a:t>gitclearSource: "GITCLEAR · CROSS-EDITION · 211M lines (2020–24) / 623M changes (2023–26)*"</a:t>
            </a:r>
          </a:p>
          <a:p xmlns:a="http://schemas.openxmlformats.org/drawingml/2006/main">
            <a:r>
              <a:t>doraInstability: "≈ +0.10 SD"</a:t>
            </a:r>
          </a:p>
          <a:p xmlns:a="http://schemas.openxmlformats.org/drawingml/2006/main">
            <a:r>
              <a:t>doraDefinition: "Instability = failed production changes + unplanned fix deployments"</a:t>
            </a:r>
          </a:p>
          <a:p xmlns:a="http://schemas.openxmlformats.org/drawingml/2006/main">
            <a:r>
              <a:t>doraMeasures: "Survey model; association, not causal. SD = standard deviation, not a failure percentage."</a:t>
            </a:r>
          </a:p>
          <a:p xmlns:a="http://schemas.openxmlformats.org/drawingml/2006/main">
            <a:r>
              <a:t>takeaway: "Three signals: activity ≠ outcomes · stability is separate · maintainability needs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Актуальне уточнення v27.</a:t>
            </a:r>
          </a:p>
          <a:p xmlns:a="http://schemas.openxmlformats.org/drawingml/2006/main">
            <a:r>
              <a:t>Екранне Generation can scale faster than comprehension зберігає статус сценарію як гіпотези. Ми не стверджуємо універсального закону, що generation завжди масштабується швидше за comprehension; це ризик, який команда перевіряє через review capacity, ownership і recovery.</a:t>
            </a:r>
          </a:p>
          <a:p xmlns:a="http://schemas.openxmlformats.org/drawingml/2006/main">
            <a:r>
              <a:t/>
            </a:r>
          </a:p>
          <a:p xmlns:a="http://schemas.openxmlformats.org/drawingml/2006/main">
            <a:r>
              <a:t>Концептуальний сценарій: генерація зростає значно швидше за майже незмінну спроможність цієї команди розуміти й перевіряти код. Горизонтальна людська лінія — припущення сценарію, не біологічна межа: AI, навчання й кращі інструменти можуть допомагати comprehension. YES стосується прискорення генерації; NOT AT THIS RATE — нездатності review в цьому сценарії встигати за заданим потоком. Знак питання про 5 років — ризик довгострокового розуміння, не емпіричний прогноз втрати знань. Comprehension debt тут рамка ризику, не готова метрика. Ні NBER, ні GitClear не вимірювали ці криві.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кодогенератор сам є технічною системою: обмеження контексту, доступних інструментів, модельних можливостей і надійності роблять його потенційною точкою відмови у delivery та recovery. Особливо в складному проекті ця залежність належить risk analysis і плану реагування. Умовний інцидент: сервіс недоступний; AI не знаходить придатного fix у межах дозволеного бюджету спроб. Команда спершу обмежує наслідки, використовує безпечний rollback/fallback де можливо, зупиняє безрезультатний цикл. Далі люди відновлюють розуміння задуму, інваріантів і залежностей, локалізують причину та пропонують fix. Перевірка repair і відновлення відбуваються під incident owner. Containment може йти паралельно з діагностикою; схема показує відповідальність, а не обов’язкове очікування відмови AI перед реагуванням. Генератор може продовжувати допомагати, але команда мусить мати перевірену спроможність діяти без його успіху. Не кожна людина пам’ятає всі рядки: потрібна достатня колективна спроможність. Watch / Explore перенесено на слайд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Актуальний сценарій слайда 7 — v31.</a:t>
            </a:r>
          </a:p>
          <a:p xmlns:a="http://schemas.openxmlformats.org/drawingml/2006/main">
            <a:r>
              <a:t>Слайд тепер розділяє дві задачі: WATCH / MEASURE — які сигнали показують, що generation почала перевищувати здатність команди перевіряти, розуміти й підтримувати систему; EXPLORE / TEST — які контрзаходи можна пробувати. Це не готовий рецепт нового SDLC.</a:t>
            </a:r>
          </a:p>
          <a:p xmlns:a="http://schemas.openxmlformats.org/drawingml/2006/main">
            <a:r>
              <a:t>FLOW &amp; REVIEW: review age, PR/batch size, queue depth/WIP і lead time показують downstream pressure. Не оптимізувати одну метрику ізольовано: менші PR не допомагають, якщо черга та lead time ростуть.</a:t>
            </a:r>
          </a:p>
          <a:p xmlns:a="http://schemas.openxmlformats.org/drawingml/2006/main">
            <a:r>
              <a:t>CODEBASE &amp; MAINTAINABILITY: churn, duplication, cognitive complexity, dependency growth та codebase growth відносно delivered value — контекстні сигнали, а не автоматичні дефекти. Важливі trend/baseline і пояснення зміни.</a:t>
            </a:r>
          </a:p>
          <a:p xmlns:a="http://schemas.openxmlformats.org/drawingml/2006/main">
            <a:r>
              <a:t>DELIVERY &amp; PRODUCTION: дивимося разом на throughput і stability — release/deploy rate, rollback/hotfix/change-failure signals, post-release incidents і MTTR. Більше релізів саме по собі не означає кращий delivery.</a:t>
            </a:r>
          </a:p>
          <a:p xmlns:a="http://schemas.openxmlformats.org/drawingml/2006/main">
            <a:r>
              <a:t>TEAM / OWNERSHIP / RECOVERY: review load, on-call/interruption load, after-hours pressure, короткі pulse surveys, knowledge concentration, unowned code та час unaided diagnosis/restore. Burnout не виводиться з одного telemetry metric; це окремий human signal, який треба збирати етично й у контексті.</a:t>
            </a:r>
          </a:p>
          <a:p xmlns:a="http://schemas.openxmlformats.org/drawingml/2006/main">
            <a:r>
              <a:t>FLOW CONTROL: small batches, WIP/intake limits і throttling generation до реальної review capacity — гіпотези для перевірки, не універсальне правило.</a:t>
            </a:r>
          </a:p>
          <a:p xmlns:a="http://schemas.openxmlformats.org/drawingml/2006/main">
            <a:r>
              <a:t>SPEC-FIRST / DISPOSABLE CODE: SDD означає зробити specification, tests/contracts та acceptance evidence сильнішими anchors. Disposable-code підхід тут означає, що implementation можна дешевше перегенерувати з довіреної специфікації, ніж нескінченно підтримувати випадково згенерований artifact. Це не дозвіл ігнорувати review, security або production ownership.</a:t>
            </a:r>
          </a:p>
          <a:p xmlns:a="http://schemas.openxmlformats.org/drawingml/2006/main">
            <a:r>
              <a:t>KNOWLEDGE FOR HUMANS + AGENTS: living architecture, repo→docs, owner/dependency maps, repository knowledge bases, RAG чи ontologies можуть скоротити navigation/context gap, але самі створюють maintenance cost і можуть застарівати або вводити агента в оману.</a:t>
            </a:r>
          </a:p>
          <a:p xmlns:a="http://schemas.openxmlformats.org/drawingml/2006/main">
            <a:r>
              <a:t>AI-ASSISTED REVIEW: agentic або second-model review, static analysis та eval gates можуть збільшити review capacity, але не є незалежною істиною — моделі можуть мати спільні failure modes. Людина та recovery capability залишаються частиною системи.</a:t>
            </a:r>
          </a:p>
          <a:p xmlns:a="http://schemas.openxmlformats.org/drawingml/2006/main">
            <a:r>
              <a:t>Головне: це candidate countermeasures, not proven fixes. Для кожної практики потрібні baseline, bounded trial, owner, decision date і stop condition. Перевіряємо, чи реально зменшився generation↔comprehension gap без погіршення delivery, quality, cost або team health.</a:t>
            </a:r>
          </a:p>
          <a:p xmlns:a="http://schemas.openxmlformats.org/drawingml/2006/main">
            <a:r>
              <a:t>Перехід до слайда 8: «І навіть якщо ми знайдемо новий equilibrium для HOW, друга зміна нікуди не зникає: AI дедалі частіше входить у runtime самого продукту».</a:t>
            </a:r>
          </a:p>
          <a:p xmlns:a="http://schemas.openxmlformats.org/drawingml/2006/main">
            <a:r>
              <a:t/>
            </a:r>
          </a:p>
          <a:p xmlns:a="http://schemas.openxmlformats.org/drawingml/2006/main">
            <a:r>
              <a:t>Watch і Explore перенесено зі слайда 6 та конкретизовано. Watch: review age, batch size, WIP; churn/duplication/reuse/complexity; зміни без owner та застаріла документація; практична здатність людей діагностувати й відновити систему. Це індикатори, не готовий індекс comprehension. Explore: small batches/WIP limits, spec-driven development та living architecture з code+docs review, repository intelligence для залежностей/owners, recovery drills без успішного AI. Для кожної практики перевіряти end-to-end lead time, rework, stability і recovery, а не generated LOC. DORA 2025 p.58 мотивує small batches, p.81 розглядає ToC і downstream queues. Документація й RI не мають тут доведеної універсальної ефективності. Потрібні baseline, актуальність і практична перевірка. Old equilibrium спрощений; попередня автоматизація не заперечується. Pivot: AI змінює не лише спосіб розробки, а й сам продукт.</a:t>
            </a:r>
          </a:p>
          <a:p xmlns:a="http://schemas.openxmlformats.org/drawingml/2006/main">
            <a:r>
              <a:t/>
            </a:r>
          </a:p>
          <a:p xmlns:a="http://schemas.openxmlformats.org/drawingml/2006/main">
            <a:r>
              <a:t>Sources:</a:t>
            </a:r>
          </a:p>
          <a:p xmlns:a="http://schemas.openxmlformats.org/drawingml/2006/main">
            <a:r>
              <a:t>https://dora.dev/capabilities/wip-limits/</a:t>
            </a:r>
          </a:p>
          <a:p xmlns:a="http://schemas.openxmlformats.org/drawingml/2006/main">
            <a:r>
              <a:t>https://www.shaunabram.com/wp-content/uploads/2025/10/2025_state_of_ai_assisted_software_development.pdf</a:t>
            </a:r>
          </a:p>
          <a:p xmlns:a="http://schemas.openxmlformats.org/drawingml/2006/main">
            <a:r>
              <a:t/>
            </a:r>
          </a:p>
          <a:p xmlns:a="http://schemas.openxmlformats.org/drawingml/2006/main">
            <a:r>
              <a:t>Уточнення v22 — поточна редакція, 23.09.2026:</a:t>
            </a:r>
          </a:p>
          <a:p xmlns:a="http://schemas.openxmlformats.org/drawingml/2006/main">
            <a:r>
              <a:t>Екранне формулювання тепер Generation can outpace review. Це можливий дисбаланс після прискорення генерації, а не твердження про всі команди сьогодні. Воно узгоджене з illustrative overload hypothesis на 5. Watch / Explore означає перевірити фактичний flow, review capacity, rework і recovery у своїй команді; конкретні практики не є універсальною гарантією нового equilibrium.</a:t>
            </a:r>
          </a:p>
          <a:p xmlns:a="http://schemas.openxmlformats.org/drawingml/2006/main">
            <a:r>
              <a:t/>
            </a:r>
          </a:p>
          <a:p xmlns:a="http://schemas.openxmlformats.org/drawingml/2006/main">
            <a:r>
              <a:t>Розгорнуті переліки для виступу, 1 жовтня 2026.</a:t>
            </a:r>
          </a:p>
          <a:p xmlns:a="http://schemas.openxmlformats.org/drawingml/2006/main">
            <a:r>
              <a:t>Екранні підписи скорочено для читабельності. Повний перелік v33 збережено нижче; ці candidate countermeasures потребують перевірки у власній команді, а не оголошуються доведеними fixes.</a:t>
            </a:r>
          </a:p>
          <a:p xmlns:a="http://schemas.openxmlformats.org/drawingml/2006/main">
            <a:r>
              <a:t>watchRows: [["FLOW &amp; REVIEW", "Review age · PR/batch size · queue/WIP · lead time"], ["CODEBASE &amp; MAINTAINABILITY", "Churn · duplication · complexity · codebase growth vs delivered value · dependency growth"], ["DELIVERY &amp; PRODUCTION", "Release throughput/stability · rollback/hotfix · post-release incidents · MTTR"], ["TEAM, OWNERSHIP &amp; RECOVERY", "Review/on-call load · fatigue/burnout pulse · unowned code · unaided diagnosis/restore"]]</a:t>
            </a:r>
          </a:p>
          <a:p xmlns:a="http://schemas.openxmlformats.org/drawingml/2006/main">
            <a:r>
              <a:t>exploreRows: [["FLOW CONTROL", "Small batches · WIP/intake limits · throttle generation to review capacity"], ["SPEC-FIRST / DISPOSABLE CODE", "Spec-driven dev · tests/contracts as anchors · regenerate from trusted specs when cheaper"], ["KNOWLEDGE FOR HUMANS + AGENTS", "Living architecture · repo→docs · owner/dependency maps · knowledge bases / RAG / ontologies"], ["AI-ASSISTED REVIEW &amp; RECOVERY", "Agentic code review · second-model checks · static/eval gates · code+docs review · recovery drills"]]</a:t>
            </a:r>
          </a:p>
          <a:p xmlns:a="http://schemas.openxmlformats.org/drawingml/2006/main">
            <a:r>
              <a:t>caption: "Test whether they narrow the generation ↔ comprehension gap without worsening delivery, quality, cost or team health. Next: AI inside the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Thinking Systems — інженерна категорія, не твердження про свідомість. Формули — спрощений контраст. Точніше P(y | x, c, m): контекст, модель і конфігурація також мають значення. Стабільне повторення не гарантує істинності. Наскрізний умовний кейс: IT-асистент використовує дозволені джерела, але не має права на неавторизовані зміни доступу.</a:t>
            </a:r>
          </a:p>
          <a:p xmlns:a="http://schemas.openxmlformats.org/drawingml/2006/main">
            <a:r>
              <a:t/>
            </a:r>
          </a:p>
          <a:p xmlns:a="http://schemas.openxmlformats.org/drawingml/2006/main">
            <a:r>
              <a:t>Візуальне уточнення за наданими скриншотами, 22 вересня 2026. Графічне пояснення за слайдом 3 старої презентації: зліва одиничний результат за фіксованих input, state і version у детермінованому випадку, справа схематичний розподіл можливих результатів. Висота стовпчиків передає відносну частоту лише концептуально. Це не виміряна вибірка, не оцінка ймовірності, не твердження про нормальний розподіл чи математично важкі хвости. Горизонтальна вісь — умовна проєкція варіантів результату. Реальна семантика багатовимірна й може бути категоріальною. Центральна область показує корисну варіативність у прикладі, краї — рідші варіанти, які також потрібно оцінити. Рідкість сама по собі не робить результат дефектом. Інженерне завдання — сформулювати й реалізувати межі корисної поведінки. Детерміновані обов’язки, права та інваріанти в продукті залишаються. Обидві формули є навчальним контрастом, а не класифікацією всього software за одним параметром.</a:t>
            </a:r>
          </a:p>
          <a:p xmlns:a="http://schemas.openxmlformats.org/drawingml/2006/main">
            <a:r>
              <a:t/>
            </a:r>
          </a:p>
          <a:p xmlns:a="http://schemas.openxmlformats.org/drawingml/2006/main">
            <a:r>
              <a:t>Критичний перегляд зв’язності та ролей, v14, 23 вересня 2026:</a:t>
            </a:r>
          </a:p>
          <a:p xmlns:a="http://schemas.openxmlformats.org/drawingml/2006/main">
            <a:r>
              <a:t>Це перехід від HOW до WHAT: у першій частині AI допомагав створювати код; тепер продукт делегує моделі частину runtime judgment. Обидві зміни можуть бути присутні разом, але потребують різних evidence. Новий об’єкт афектить Product Manager / Product Owner і BA через цінність та контракт поведінки; розробників, QA й архітектора через реалізацію та перевірку; Project Manager через залежності та план робіт; service owner / operations через дієздатність контролю після запуску. Ролі тут позначають відповідальності, а не обов’язкові нові посади: у невеликій команді їх можуть поєднувати. Наступні слайди — один спільний ланцюг define → evaluate → control → operate, а не передавання ізольованої роботи між відділами. Спочатку погодимо, яка поведінка корисна й дозволена.</a:t>
            </a:r>
          </a:p>
          <a:p xmlns:a="http://schemas.openxmlformats.org/drawingml/2006/main">
            <a:r>
              <a:t/>
            </a:r>
          </a:p>
          <a:p xmlns:a="http://schemas.openxmlformats.org/drawingml/2006/main">
            <a:r>
              <a:t>Поточне пояснення: наскрізний приклад і рішення.</a:t>
            </a:r>
          </a:p>
          <a:p xmlns:a="http://schemas.openxmlformats.org/drawingml/2006/main">
            <a:r>
              <a:t>Наскрізний приклад другої частини — внутрішній IT-асистент, який допомагає працівнику відновити доступ за затвердженою інструкцією. Він може пояснити recovery steps, попросити уточнення або запропонувати дозволену дію; proposal залишається внутрішнім недовіреним результатом до перевірок та delivery/execution. Це ілюстративний design case, а не опис уже впровадженого продукту. Бажаний outcome — відновлений доступ, менше повторних звернень і прийнятні повні витрати. Текст відповіді може варіюватися, але authority, permissions і заборонені outcomes не розширюються. На 9 погоджуємо контракт, на 10 перевіряємо результати, на 11 вирішуємо readiness/completion/release, на 12 показуємо здійсненний control path. Це послідовність пояснення; design, evaluation й operational feasibility опрацьовують разом.</a:t>
            </a:r>
          </a:p>
          <a:p xmlns:a="http://schemas.openxmlformats.org/drawingml/2006/main">
            <a:r>
              <a:t/>
            </a:r>
          </a:p>
          <a:p xmlns:a="http://schemas.openxmlformats.org/drawingml/2006/main">
            <a:r>
              <a:t>Sources:</a:t>
            </a:r>
          </a:p>
          <a:p xmlns:a="http://schemas.openxmlformats.org/drawingml/2006/main">
            <a:r>
              <a:t>https://github.com/UncertaintyArchitectureGroup/uncertainty-architecture/blob/main/00-doctrine/uncertainty-in-the-controlled-object.md</a:t>
            </a:r>
          </a:p>
          <a:p xmlns:a="http://schemas.openxmlformats.org/drawingml/2006/main">
            <a:r>
              <a:t>https://github.com/UncertaintyArchitectureGroup/uncertainty-architecture/blob/main/content/raw/Designing%20Non-Deterministic%20Systems%3A%20Maintaining%20Engineering%20Rigor%20in%20the%20AI%20Era.pdf#page=3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Наскрізний приклад: внутрішній IT-асистент. Зліва — точний перехід Button A → Window B, permissions та інваріанти, які залишаються вимогами. Справа — додаткові вимоги до варіативної поведінки. Дозволено пояснити затверджену статтю підтримки різними словами, зберігаючи зміст і необхідні кроки. За відсутності контексту потрібно уточнити або ескалувати. Не можна вигадувати операційні кроки, розкривати чужі дані або виконувати дію в обхід approval. Одна картинка з областю сама не задає точного вимірюваного контракту.</a:t>
            </a:r>
          </a:p>
          <a:p xmlns:a="http://schemas.openxmlformats.org/drawingml/2006/main">
            <a:r>
              <a:t>Мовний розрив: природна мова неоднозначна; prompt не є точним описом усіх можливих відповідей. Теза «стандартів немає» надто категорична: ISO/IEC 25059:2023 надає quality model і узгоджену термінологію, NIST AI RMF — контекстне управління ризиком, GenAI Profile — спільне з domain experts документування допустимого використання. Вони не підставляють готові семантичні межі й прийнятність наслідків для нашого продукту. Не стверджуємо доведеної відсутності будь-якої формальної мови.</a:t>
            </a:r>
          </a:p>
          <a:p xmlns:a="http://schemas.openxmlformats.org/drawingml/2006/main">
            <a:r>
              <a:t>Практична пропозиція доповіді: Product Manager та BA разом із бізнесом збирають сценарії, приклади, контрприклади, клас наслідків і потрібну реакцію; фіксують rubric, джерело правила й того, хто його погоджує. CheckList (Ribeiro et al., ACL 2020) пропонує capability × test-type підхід до поведінкових перевірок NLP. Це допомога у формулюванні перевірок, не універсальний стандарт semantic acceptance. Project Manager планує доступ до stakeholders, рішення та залежності; не вигадує толерантність за бізнес.</a:t>
            </a:r>
          </a:p>
          <a:p xmlns:a="http://schemas.openxmlformats.org/drawingml/2006/main">
            <a:r>
              <a:t>Вимога ширша за Operating Envelope; точні інтерфейси, заборони й інваріанти зберігаються. BA/Product не зобов’язані самі вивести статистичний поріг: це спільна робота з бізнесом, QA, розробниками й власником ризику. Ролі описують відповідальність, не новий headcount.</a:t>
            </a:r>
          </a:p>
          <a:p xmlns:a="http://schemas.openxmlformats.org/drawingml/2006/main">
            <a:r>
              <a:t>Деталізація бізнес-контракту. Два формулювання відповіді можуть бути однаково правильними: асистент має право скоротити пояснення або змінити тон, але повинен зберегти затверджені кроки, умови та застереження. Заміна тексту сама по собі не є дефектом. Порушення змісту, неправомірна дія або непрацездатний обов’язковий fallback — вже інше питання. Тому команда описує не всі речення наперед, а дозволені джерела й теми, потрібні semantic properties, неприйнятні наслідки та реакцію на невизначеність.</a:t>
            </a:r>
          </a:p>
          <a:p xmlns:a="http://schemas.openxmlformats.org/drawingml/2006/main">
            <a:r>
              <a:t>Product Manager і BA додають до прикладів контракт на експлуатацію: який ручний rework бізнес здатен обробити; скільки коштує корисно завершений запит з урахуванням перевірок, повторів і людей; яку затримку користувач витримає; за яких умов потрібні уточнення, людина або відмова. Якщо ці межі невідомі, це питання для дослідження зі stakeholders, а не число, яке QA має вгадати. Для IT-асистента питання бізнесу звучить так: «Коли краще не дати інструкцію, а передати звернення фахівцю, і чи зможемо ми обслужити цей потік?».</a:t>
            </a:r>
          </a:p>
          <a:p xmlns:a="http://schemas.openxmlformats.org/drawingml/2006/main">
            <a:r>
              <a:t>Спільна мова формується через позначені приклади й контрприклади, rubric, класи наслідків, approved sources та decision owner. Prompt впливає на відповіді, але не задає повного acceptance specification. Графічна область і один semantic-distance score також не замінюють цей контракт. Межі якості, вартості й latency не стають жорсткими гарантіями без окремого реалізованого enforcement path.</a:t>
            </a:r>
          </a:p>
          <a:p xmlns:a="http://schemas.openxmlformats.org/drawingml/2006/main">
            <a:r>
              <a:t/>
            </a:r>
          </a:p>
          <a:p xmlns:a="http://schemas.openxmlformats.org/drawingml/2006/main">
            <a:r>
              <a:t>На правій половині тепер зображено саме область можливих прийнятних результатів. Це концептуальна межа, а не графік з універсальною числовою віссю semantic distance. Коротке й докладне пояснення можуть бути однаково прийнятними, якщо обидва спираються на затверджену статтю та зберігають обов’язкові кроки. Вимога задає властивості області: дозволені теми й джерела, потрібний зміст, заборонені дії та дані, ресурсні межі, реакцію на нестачу контексту. CLARIFY — визначена контрактом дія, коли доказів для змістовної відповіді недостатньо; це не дозвіл порушити межу. PROHIBIT поза дозволеною областю показує неприйнятні наслідки. Саме формулювання межі її не реалізує: для критичних заборон потрібні конкретні контролі. Ліворуч лишаються точні стани, права й переходи. Нові обов’язки доповнюють ці сценарії. Product Manager та BA мають отримати від бізнесу приклади допустимих варіантів і контрприклади, а Project Manager забезпечує рішення та доступність потрібних учасників.</a:t>
            </a:r>
          </a:p>
          <a:p xmlns:a="http://schemas.openxmlformats.org/drawingml/2006/main">
            <a:r>
              <a:t/>
            </a:r>
          </a:p>
          <a:p xmlns:a="http://schemas.openxmlformats.org/drawingml/2006/main">
            <a:r>
              <a:t>Візуальне уточнення за наданими скриншотами, 22 вересня 2026. Візуальна модель тепер безпосередньо відтворює логіку слайда 5 старої презентації: зліва вузький маршрут A–B, справа площина можливостей із перспективною сіткою, зовнішнім бурштиновим контуром погоджених допусків та внутрішньою блакитною областю цільової поведінки. Обидва прийнятні варіанти — коротке та докладне пояснення — належать спільній області. Зовні показано заборонений результат. Внутрішній контур — робочий орієнтир, зовнішній — контракт прийнятності. Простір між ними не є автоматичним дозволом: кожен результат повинен виконувати всі умови контракту. Це концептуальна багатовимірна область, а не виміряна координатна система чи універсальна embedding-distance метрика. Площина стисло показує сукупність умов щодо тем, джерел, обов’язкового змісту, даних, дій, authority, вартості, latency та failure handling. Вимога включає й точний сценарій, і цю область. CLARIFY визначає належну реакцію на нестачу контексту, а не ослаблення заборони. Попередні ALLOW / CLARIFY / PROHIBIT і приклади залишаються в нотатках та уточнюють геометрію.</a:t>
            </a:r>
          </a:p>
          <a:p xmlns:a="http://schemas.openxmlformats.org/drawingml/2006/main">
            <a:r>
              <a:t/>
            </a:r>
          </a:p>
          <a:p xmlns:a="http://schemas.openxmlformats.org/drawingml/2006/main">
            <a:r>
              <a:t>Інтеграція старого слайда 16 (PDF page 17, PM: From Story Owner to Distribution Economist). Тут PM у старому заголовку означає Product Manager; Project Manager у нашій доповіді — окрема відповідальність за delivery та операційну модель. Product / BA організовують з бізнесом рішення: які варіації результату прийнятні; скільки та яких помилок можна допустити; за якої тяжкості, частоти або наслідку відповідь стає неприйнятною відповідальністю; коли потрібні зупинка, людина чи fallback. Не можна звести це до одного середнього відсотка або грошей: обов’язкові заборони залишаються заборонами. До контракту входять unsupported claims, визначена для продукту semantic rubric, правила ескалації, бюджет токенів та human review, latency і поведінка fallback. Ланцюжок Product value → Risk tolerance → Cost envelope → Release decision пояснює бізнес-сенс меж на діаграмі. QA та розробники разом із Product/BA переводять ці рішення у вимірювання та evidence; Project Manager забезпечує доступність stakeholder decisions, власників і залежностей. Prompt лише впливає на поведінку; контракт визначають погоджені вимоги, приклади та критерії. Попередні пояснення області, ALLOW / CLARIFY / PROHIBIT, мовного розриву та наявних стандартів зберігаються.</a:t>
            </a:r>
          </a:p>
          <a:p xmlns:a="http://schemas.openxmlformats.org/drawingml/2006/main">
            <a:r>
              <a:t/>
            </a:r>
          </a:p>
          <a:p xmlns:a="http://schemas.openxmlformats.org/drawingml/2006/main">
            <a:r>
              <a:t>Критичний перегляд зв’язності та ролей, v14, 23 вересня 2026:</a:t>
            </a:r>
          </a:p>
          <a:p xmlns:a="http://schemas.openxmlformats.org/drawingml/2006/main">
            <a:r>
              <a:t>Product Owner явно входить до цього слайда: відповідає за цінність, Product Goal і впорядкування backlog, робить потрібні вимоги, evidence та control work видимими й пріоритетними. Product Manager, якщо ця роль є окремо, додає продуктову стратегію, discovery та економіку; конкретний розподіл із PO залежить від організації. BA допомагає зробити domain rules, приклади, контрприклади та acceptance rules однозначними. Project Manager організовує своєчасні stakeholder decisions, доступність експертів, оцінювання залежностей, бюджету й capacity; не вигадує прийнятний ризик за бізнес. Dev, QA та архітектор уже тут перевіряють, чи можна критерії виміряти й межі забезпечити. Уповноважений business / risk owner погоджує допустимі наслідки в межах своїх прав; правові, privacy та security заборони не стають предметом довільного обміну на value. За потреби залучаємо відповідних фахівців. Назва Product Owner сама собою не надає права приймати будь-який risk або authorize release.</a:t>
            </a:r>
          </a:p>
          <a:p xmlns:a="http://schemas.openxmlformats.org/drawingml/2006/main">
            <a:r>
              <a:t>Крім відсутності шкоди, задаємо ціль корисності. Для наскрізного support-assistant прикладу: чи вирішено звернення правильно, чи не перенесли ми роботу на користувача або оператора, яка повна вартість корисно завершеного звернення? Це питання для вибору продуктового показника, не нові емпіричні числа. Вимоги до exact states / permissions не зникають; поведінковий контракт їх доповнює. Передаємо на слайд 10 не список побажань, а погоджені приклади, заборони, критерії та власників рішень.</a:t>
            </a:r>
          </a:p>
          <a:p xmlns:a="http://schemas.openxmlformats.org/drawingml/2006/main">
            <a:r>
              <a:t/>
            </a:r>
          </a:p>
          <a:p xmlns:a="http://schemas.openxmlformats.org/drawingml/2006/main">
            <a:r>
              <a:t>Поточне пояснення: наскрізний приклад і рішення.</a:t>
            </a:r>
          </a:p>
          <a:p xmlns:a="http://schemas.openxmlformats.org/drawingml/2006/main">
            <a:r>
              <a:t>Для IT-асистента Product / PO визначає цінність відновленого доступу та пріоритети, BA разом із QA / domain expert перетворює межі на приклади acceptance, Project Manager забезпечує своєчасність залежних рішень. Risk/business authority погоджує допустимі наслідки. Вихід — один придатний до перевірки контракт: approved knowledge і права поточного користувача, потрібне уточнення замість припущення, заборона іншої особи private data або обходу approval, support fallback. Вимірюємо успішне вирішення й repeat contacts разом із latency, token/review cost. Жодного універсального числового threshold цей приклад не задає. Попередні посилання ISO/IEC 25059, NIST AI RMF і CheckList лишаються вихідними матеріалами, а конкретну семантику продукту команда погоджує сама.</a:t>
            </a:r>
          </a:p>
          <a:p xmlns:a="http://schemas.openxmlformats.org/drawingml/2006/main">
            <a:r>
              <a:t/>
            </a:r>
          </a:p>
          <a:p xmlns:a="http://schemas.openxmlformats.org/drawingml/2006/main">
            <a:r>
              <a:t>Поточне пояснення слайда 9: визначений шлях і простір варіантів, v18, 23.09.2026.</a:t>
            </a:r>
          </a:p>
          <a:p xmlns:a="http://schemas.openxmlformats.org/drawingml/2006/main">
            <a:r>
              <a:t>Головна теза цього слайда — зміна роботи з вимогами. Порівнюємо конкретний детермінований сценарій із model-mediated поведінкою. Зліва: за того самого визначеного стану натискання A має відкрити B. Команда задає стани, переходи, гілки, правила й очікувані результати. Червоні відхилення біля шляху позначають можливі порушення цього контракту. Це навчальне спрощення, а не твердження, що все класичне ПЗ лінійне, просте або позбавлене комбінаторних дефектів.</a:t>
            </a:r>
          </a:p>
          <a:p xmlns:a="http://schemas.openxmlformats.org/drawingml/2006/main">
            <a:r>
              <a:t>Справа: одного правильного рядка чи однієї траєкторії вже недостатньо. Для дозволених намірів, вхідних даних, контексту, джерел і прав доступу визначаємо простір прийнятних відповідей та дій. Результатами можуть бути відповідь, уточнення або ескалація; заборонені наслідки, наприклад unauthorized disclosure, не стають прийнятними через рідкість. Потрібно описувати не лише output, а й умови, за яких система взагалі має право діяти: supported tasks, unsupported requests, data provenance, permissions, required meaning, допустима варіативність, заборони, failure handling. Intended value, latency/cost, deterministic obligations і контроль залишаються частинами повної вимоги, навіть коли на схемі виділено саме semantic space.</a:t>
            </a:r>
          </a:p>
          <a:p xmlns:a="http://schemas.openxmlformats.org/drawingml/2006/main">
            <a:r>
              <a:t>Пунктирна межа — спосіб показати труднощі повного й однозначного семантичного опису та перевірки, не дозвіл на нечіткі обов’язкові заборони. Схема не є universal semantic coordinate system, confidence region, емпіричною геометрією або probability density. Немає підстав обчислювати ймовірність дефекту з площі чи кількості намальованих точок. Structural schemas, permissions і відомі invariants можуть мати точні машинні перевірки. Але релевантність, коректність пояснення, допустима порада й відповідність бізнес-контексту часто потребують product-specific критеріїв, прикладів, контрприкладів і каліброваного judgment. Природномовний опис boundary не означає, що implemented system її гарантовано дотримується.</a:t>
            </a:r>
          </a:p>
          <a:p xmlns:a="http://schemas.openxmlformats.org/drawingml/2006/main">
            <a:r>
              <a:t>Чому робота складніша: комбінації inputs, контекстів, станів інструментів, відповідей і дій розширюють простір поведінки та кількість потенційно пропущених вимог. Обмежений набір happy paths не характеризує весь простір. Непередбачені комбінації можуть дійти до production, якщо вимоги, покриття або контролі їх не врахували. Це аргумент про specification/coverage risk, а не доведене універсальне зростання production defect rate. Частота залежить від реального usage distribution, probability mass неприйнятних результатів, обмеженості задачі, реалізації та ефективності контролю; impact — окремий вимір. Також детерміновані системи вже можуть мати величезний простір станів та комбінацій.</a:t>
            </a:r>
          </a:p>
          <a:p xmlns:a="http://schemas.openxmlformats.org/drawingml/2006/main">
            <a:r>
              <a:t>Стандарти існують. Повторно перевірено офіційні public abstracts: ISO/IEC 25059:2023 дає quality model і спільну термінологію для specification, measurement та evaluation; ISO/IEC TS 25058:2024 дає guidance для оцінювання AI systems із застосуванням quality model. Це не готова вичерпна semantic specification конкретного продукту. Не стверджуємо, що ніхто не знає, як описувати AI-вимоги, або що стандартів немає. Невирішена практична робота — перетворити загальні характеристики на погоджені критерії й перевірювані межі саме нашої системи. Пропонований робочий ланцюжок: quality characteristic → product-specific criterion → examples/counterexamples → calibrated rubric and evaluator → evidence in relevant contexts. Це приклад адаптації доповіді, не цитата чи обов’язковий prescribed workflow ISO. Повні платні ISO тексти не перевірено; NIST AI RMF Core прочитано як відкрите джерело context/risk/evaluation підходу. Станом на перевірку 25059:2023 published, наступна FDIS edition under development; не називаємо draft чинною виданою заміною.</a:t>
            </a:r>
          </a:p>
          <a:p xmlns:a="http://schemas.openxmlformats.org/drawingml/2006/main">
            <a:r>
              <a:t>Product / PO формулює корисний outcome та priorities, BA допомагає зробити умови й semantic criteria операційними, QA / Dev разом із domain experts перевіряють їхню вимірюваність і можливість реалізації. Уповноважений business/risk owner погоджує межі у своєму scope. Project Manager забезпечує доступ до цих людей, час на уточнення й дослідження, залежності та своєчасність рішень; роль не стає одноосібним risk owner. Попередній IT-assistant contract залишається прикладом у нотатках, а на слайді 9 основним знову є загальне порівняння. Перехід до 10: коли прийнятна поведінка задається простором, потрібно погодити, що є порушенням, як його виміряти та які evidence достатні.</a:t>
            </a:r>
          </a:p>
          <a:p xmlns:a="http://schemas.openxmlformats.org/drawingml/2006/main">
            <a:r>
              <a:t>Джерела: надана стара презентація, PDF page 5 Designing the Space of Possibilities; https://www.iso.org/standard/80655.html ; https://www.iso.org/standard/82570.html ; https://airc.nist.gov/airmf-resources/airmf/5-sec-core/ ; UA Requirements, Correctness and Bugs. Стару метафору single path / zero drift адаптовано без універсальних тверджень про все класичне ПЗ.</a:t>
            </a:r>
          </a:p>
          <a:p xmlns:a="http://schemas.openxmlformats.org/drawingml/2006/main">
            <a:r>
              <a:t/>
            </a:r>
          </a:p>
          <a:p xmlns:a="http://schemas.openxmlformats.org/drawingml/2006/main">
            <a:r>
              <a:t>Sources:</a:t>
            </a:r>
          </a:p>
          <a:p xmlns:a="http://schemas.openxmlformats.org/drawingml/2006/main">
            <a:r>
              <a:t>https://www.iso.org/standard/80655.html</a:t>
            </a:r>
          </a:p>
          <a:p xmlns:a="http://schemas.openxmlformats.org/drawingml/2006/main">
            <a:r>
              <a:t>https://nvlpubs.nist.gov/nistpubs/ai/NIST.AI.100-1.pdf</a:t>
            </a:r>
          </a:p>
          <a:p xmlns:a="http://schemas.openxmlformats.org/drawingml/2006/main">
            <a:r>
              <a:t>https://nvlpubs.nist.gov/nistpubs/ai/NIST.AI.600-1.pdf</a:t>
            </a:r>
          </a:p>
          <a:p xmlns:a="http://schemas.openxmlformats.org/drawingml/2006/main">
            <a:r>
              <a:t>https://aclanthology.org/2020.acl-main.442/</a:t>
            </a:r>
          </a:p>
          <a:p xmlns:a="http://schemas.openxmlformats.org/drawingml/2006/main">
            <a:r>
              <a:t>https://github.com/UncertaintyArchitectureGroup/uncertainty-architecture/blob/main/00-doctrine/requirements-correctness-and-bugs.md</a:t>
            </a:r>
          </a:p>
          <a:p xmlns:a="http://schemas.openxmlformats.org/drawingml/2006/main">
            <a:r>
              <a:t>https://github.com/UncertaintyArchitectureGroup/uncertainty-architecture/blob/main/content/raw/Designing%20Non-Deterministic%20Systems%3A%20Maintaining%20Engineering%20Rigor%20in%20the%20AI%20Era.pdf#page=5</a:t>
            </a:r>
          </a:p>
          <a:p xmlns:a="http://schemas.openxmlformats.org/drawingml/2006/main">
            <a:r>
              <a:t>https://github.com/UncertaintyArchitectureGroup/uncertainty-architecture/blob/main/content/raw/Designing%20Non-Deterministic%20Systems%3A%20Maintaining%20Engineering%20Rigor%20in%20the%20AI%20Era.pdf#page=7</a:t>
            </a:r>
          </a:p>
          <a:p xmlns:a="http://schemas.openxmlformats.org/drawingml/2006/main">
            <a:r>
              <a:t>https://github.com/UncertaintyArchitectureGroup/uncertainty-architecture/blob/main/content/raw/Designing%20Non-Deterministic%20Systems%3A%20Maintaining%20Engineering%20Rigor%20in%20the%20AI%20Era.pdf#page=17</a:t>
            </a:r>
          </a:p>
          <a:p xmlns:a="http://schemas.openxmlformats.org/drawingml/2006/main">
            <a:r>
              <a:t>https://github.com/UncertaintyArchitectureGroup/uncertainty-architecture/blob/main/content/raw/Designing%20Non-Deterministic%20Systems%3A%20Maintaining%20Engineering%20Rigor%20in%20the%20AI%20Era.pdf#page=5</a:t>
            </a:r>
          </a:p>
          <a:p xmlns:a="http://schemas.openxmlformats.org/drawingml/2006/main">
            <a:r>
              <a:t>https://scrumguides.org/scrum-guide.html</a:t>
            </a:r>
          </a:p>
          <a:p xmlns:a="http://schemas.openxmlformats.org/drawingml/2006/main">
            <a:r>
              <a:t>https://www.iso.org/standard/82570.html</a:t>
            </a:r>
          </a:p>
          <a:p xmlns:a="http://schemas.openxmlformats.org/drawingml/2006/main">
            <a:r>
              <a:t>https://airc.nist.gov/airmf-resources/airmf/5-sec-core/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Статистичне оцінювання доповнює unit, integration, security та deterministic tests. Потрібно окремо оцінити: а) частоту виходу за погоджені межі; б) силу/тяжкість наслідку. «Сила відхилення» не має універсальної числової шкали: для latency це мілісекунди понад межу, для грошей — збиток, для semantic output — погоджена rubric і класи наслідків. Середній score або embedding distance сам по собі не встановлює business harm. Хвости й критичні групи оцінюємо окремо, а не приховуємо добрим агрегатом.</a:t>
            </a:r>
          </a:p>
          <a:p xmlns:a="http://schemas.openxmlformats.org/drawingml/2006/main">
            <a:r>
              <a:t>Навчальний приклад, не реальні дані і не рекомендований sample size: 200 незалежних репрезентативно відібраних evaluation units із одного стабільного цільового розподілу; 196 прийнятних, 4 неприйнятні. Серед чотирьох: 3 неправильні інструкції та 1 витік даних. 4/200=2%; 196/200=98%. Двосторонній 95% Wilson score interval для частки неприйнятних: [0.780443%, 5.028709%], на слайді ≈0.8%–5.0%. Метод і формула — NIST Engineering Statistics Handbook §7.2.4.1. Інтервал відображає sampling uncertainty за припущень; не дає 95% ймовірності, що конкретний майбутній результат безпечний, і не гарантує поведінки після зміни контексту. Не можна рахувати повтори того самого кейсу як незалежні representative cases. Розмір вибірки, dependence, subgroup coverage, множинні порівняння, невизначеність оцінювача й baseline планують під рішення.</a:t>
            </a:r>
          </a:p>
          <a:p xmlns:a="http://schemas.openxmlformats.org/drawingml/2006/main">
            <a:r>
              <a:t>У прикладі витік порушує обов’язкову вимогу, тому release блокується незалежно від 98% aggregate acceptance. Відсутність витоків у тесті також не доводила б неможливості витоку: потрібні permissions, isolation, gate та перевірка припущень їх роботи.</a:t>
            </a:r>
          </a:p>
          <a:p xmlns:a="http://schemas.openxmlformats.org/drawingml/2006/main">
            <a:r>
              <a:t>Звідки взяти tolerance? QA не винаходить його. Product Manager та BA обговорюють із бізнесом зрозумілі сценарії: скільки ручного виправлення витримає support; кому і яку шкоду завдасть помилка; що треба технічно унеможливити; коли прийнятні уточнення або ручний шлях. Технічна команда перетворює це на measurement plan, оцінку частот, severity, confidence та тригери. Уповноважений власник ризику/релізу погоджує допустимість у конкретному scope. Project Manager організовує ці рішення до обіцянки релізу.</a:t>
            </a:r>
          </a:p>
          <a:p xmlns:a="http://schemas.openxmlformats.org/drawingml/2006/main">
            <a:r>
              <a:t>Model drift пояснюємо бізнесу як зміну спостережуваних результатів/навантаження/наслідків за нової версії чи контексту, а не вимагаємо від stakeholders знання статистичних термінів. QA підтримує golden/reference sets, coverage, calibration із domain experts і перевірки підгруп. Developers роблять versioning, instrumentation, відтворювані evaluation runs і regression comparison. Пороги та rubric версіонуються; evidence для release перевіряється окремо від набору, на якому їх підбирали.</a:t>
            </a:r>
          </a:p>
          <a:p xmlns:a="http://schemas.openxmlformats.org/drawingml/2006/main">
            <a:r>
              <a:t>Що саме змінюється в QA. Golden Set — версіонований набір звичайних, крайових, adversarial і business-critical сценаріїв з очікуваними властивостями змісту та прикладами неприйнятного результату. Це інструмент вимірювання: він сам може бути неповним, застарілим або невдало розміченим. QA разом із domain experts калібрує rubric та evaluator: де він пропускає небезпечну відповідь, де помилково блокує корисну, як розходяться людські оцінки. Розробник забезпечує runner, конфігурацію, provenance та порівняння baseline із candidate.</a:t>
            </a:r>
          </a:p>
          <a:p xmlns:a="http://schemas.openxmlformats.org/drawingml/2006/main">
            <a:r>
              <a:t>Eval Gate пов’язує отримані evidence з погодженим рішенням: block, обмежена експозиція або release у визначених межах. Сам score ще не приймає business risk. Повторні запуски показують варіативність усередині сценарію, а різні сценарії — coverage. Цілеспрямовано зібраний Golden Set не є автоматично репрезентативною вибіркою production traffic; його pass rate не можна без обґрунтування підставити як реальну частоту помилок. Навчальні 4/200 та Wilson interval вище мають власні явно названі припущення.</a:t>
            </a:r>
          </a:p>
          <a:p xmlns:a="http://schemas.openxmlformats.org/drawingml/2006/main">
            <a:r>
              <a:t>Зміна моделі, prompt, retrieval або складу запитів може змінити розподіл результатів навіть без зміни application code. Після інциденту додаємо відтворюваний regression case, перевіряємо чутливість evaluator і причину пропуску. Фінальну release evidence оцінюємо на незалежних від налаштування даних. Бізнесу показуємо не слово «drift», а зміну кількості виправлень, ескалацій, неприйнятних наслідків, затримки й вартості.</a:t>
            </a:r>
          </a:p>
          <a:p xmlns:a="http://schemas.openxmlformats.org/drawingml/2006/main">
            <a:r>
              <a:t/>
            </a:r>
          </a:p>
          <a:p xmlns:a="http://schemas.openxmlformats.org/drawingml/2006/main">
            <a:r>
              <a:t>Графік показує емпіричний розподіл категорій тієї самої навчальної вибірки: 196 прийнятних результатів, 3 неправильні інструкції й 1 витік приватних даних. Разом 200, частки відповідно 98%, 1,5% та 0,5%. Це не 200 різних унікальних рядків тексту: результати групуються за погодженими семантичними властивостями та наслідками. Категорії в цьому прикладі взаємовиключні та вичерпні. Вісь починається з нуля, довжина стовпчиків пропорційна кількості. Малі стовпчики не означають малої тяжкості, тому точні значення та критичний наслідок підписано. Неприйнятні результати об’єднуються для оцінки частоти: (3+1)/200 = 2%. Попередній 95% Wilson interval приблизно 0,8%–5,0% стосується цієї бінарної події, а не кожної категорії окремо та не ймовірності майбутнього інциденту без припущень про вибірку. Ми не накладаємо нормальну криву на категоріальні дані та не вигадуємо baseline для порівняння. Для нового порівняння потрібні зафіксовані версії й порівнювані сценарії. Саме цей перехід до частот, розподілів та невизначеності запозичено зі слайдів 7 і 19 старої презентації. Бізнес має визначити допустимість частоти та сили наслідку, QA — які докази й невизначеність є для рішення.</a:t>
            </a:r>
          </a:p>
          <a:p xmlns:a="http://schemas.openxmlformats.org/drawingml/2006/main">
            <a:r>
              <a:t/>
            </a:r>
          </a:p>
          <a:p xmlns:a="http://schemas.openxmlformats.org/drawingml/2006/main">
            <a:r>
              <a:t>Візуальне уточнення за наданими скриншотами, 22 вересня 2026. Визначення дефекту й схематична область допусків адаптовані зі слайда 4 старої презентації з уточненням чинної UA doctrine Requirements, Correctness, and Bugs. Bug — порушення погодженої вимоги на рівні системи, яке спричинила або допустила реалізована система. Для model-mediated поведінки це, зокрема, вихід за погоджені умови чи допуски або заборонений наслідок. На схемі зелена область — дозволена варіативність, червоні стовпчики — наслідки за межами контракту, якщо система їх допустила. Графік концептуальний: висоти не є даними, нормальність не припускається, одиниць універсальної semantic distance немає. Схема і вибірка 196/3/1 — різні пояснювальні об’єкти; концептуальні стовпчики не відновлені з цих трьох категорій. Рідкісний результат не обов’язково Bug. Якщо запропоновану моделлю заборонену дію контролі належно зупинили до наслідку, це може бути коректним containment за контрактом. Якщо частота помилок допускається в певному контексті, потрібні також погоджені межі тяжкості, наслідків і правила обробки, а не тільки середній відсоток. Розподіл може змінюватися без змін коду, однак окремий tail event не доводить drift: для цього потрібні порівнювані вибірки, baseline, контекст і версії. Класичні детерміновані дефекти також залишаються. На екрані нижче збережено незалежний навчальний приклад: 196 прийнятних, 3 неправильні інструкції та 1 витік приватних даних, 4/200 = 2%, Wilson 95% приблизно 0,8%–5,0%. Частота і тяжкість — різні виміри рішення. У цьому прикладі витік порушує обов’язкову заборону й блокує release. Бізнес через Product/BA визначає прийнятність наслідків, QA/developers вимірюють і перевіряють evidence, уповноважений risk/release owner ухвалює рішення. Golden Set, Eval Gate, калібрування та incident regression залишаються робочими інструментами.</a:t>
            </a:r>
          </a:p>
          <a:p xmlns:a="http://schemas.openxmlformats.org/drawingml/2006/main">
            <a:r>
              <a:t/>
            </a:r>
          </a:p>
          <a:p xmlns:a="http://schemas.openxmlformats.org/drawingml/2006/main">
            <a:r>
              <a:t>Критичний перегляд зв’язності та ролей, v14, 23 вересня 2026:</a:t>
            </a:r>
          </a:p>
          <a:p xmlns:a="http://schemas.openxmlformats.org/drawingml/2006/main">
            <a:r>
              <a:t>Цей слайд афектить не лише QA: Product / PO + BA уточнюють, що є корисним і прийнятним, domain experts допомагають калібрувати оцінювання, Dev робить відтворюване вимірювання версій, а Project Manager забезпечує час, дані, експертів та готовність evidence до рішення. Уповноважений risk / release owner ухвалює рішення в погодженому scope; статистична оцінка не надає права обійти заборону. Service owner приносить production outcomes та incidents.</a:t>
            </a:r>
          </a:p>
          <a:p xmlns:a="http://schemas.openxmlformats.org/drawingml/2006/main">
            <a:r>
              <a:t>Окремо проговорити видиму різницю: curated Golden Set перевіряє важливі сценарії й класи відмов; оцінка частоти в цільовому usage потребує обґрунтованої репрезентативної вибірки. Для Wilson interval потрібні зазначені припущення незалежної бінарної вибірки; 95% — властивість методу інтервалу, не гарантія безпечності production. Навчальні 196/3/1 та 4/200 не змінені. Навіть добрий середній score не перекриває критичну заборону. Варіативність прийнятна лише всередині всього контракту; належно перехоплена заборонена пропозиція моделі може свідчити про правильний containment. Наступний крок — зробити ці evidence частиною readiness, completion і окремого release decision.</a:t>
            </a:r>
          </a:p>
          <a:p xmlns:a="http://schemas.openxmlformats.org/drawingml/2006/main">
            <a:r>
              <a:t/>
            </a:r>
          </a:p>
          <a:p xmlns:a="http://schemas.openxmlformats.org/drawingml/2006/main">
            <a:r>
              <a:t>Поточне пояснення: наскрізний приклад і рішення.</a:t>
            </a:r>
          </a:p>
          <a:p xmlns:a="http://schemas.openxmlformats.org/drawingml/2006/main">
            <a:r>
              <a:t>Ті самі 200 ілюстративних незалежних відповідей тепер явно стосуються IT-асистента: 196 допустимих, три з неправильними recovery instructions і одна з disclosure чужих приватних даних. Об’єднані 4/200 = 2% і 95% Wilson interval ≈0.8–5.0% оцінюють частоту any contract violation за умовами вибірки; вони не оцінюють окремо частоту critical harm і не перетворюють її на прийнятну. Інтервал потрібен для рішення про звичайну надійність та очікуване навантаження rework; він не компенсує заборонену подію. Для цього погодженого contract одна disclosure блокує candidate. Golden Set — curated набір важливих сценаріїв, а representative sample потрібна для rate estimation. Eval Gates — погоджені criteria порівняння evidence версії з умовами використання, не обіцянка математичного доведення безпеки. Нуль знайдених critical events також не доводить їх неможливість. Наступний слайд показує, як evidence впливає на завершеність і дозвіл використання.</a:t>
            </a:r>
          </a:p>
          <a:p xmlns:a="http://schemas.openxmlformats.org/drawingml/2006/main">
            <a:r>
              <a:t/>
            </a:r>
          </a:p>
          <a:p xmlns:a="http://schemas.openxmlformats.org/drawingml/2006/main">
            <a:r>
              <a:t>Поточне пояснення: два зсуви та статистичні умови delivery.</a:t>
            </a:r>
          </a:p>
          <a:p xmlns:a="http://schemas.openxmlformats.org/drawingml/2006/main">
            <a:r>
              <a:t>Підписи outcome chart читаються як count (share): 196 (98%), 3 (1.5%), 1 (0.5%). Це ті самі 200 ілюстративних відповідей. Число 19698% не є метрикою. Відсотки стосуються часток відповідної категорії, а 4/200 і Wilson interval — сукупної події порушення контракту. Однорядковий запис чітко відділяє число випадків від частки.</a:t>
            </a:r>
          </a:p>
          <a:p xmlns:a="http://schemas.openxmlformats.org/drawingml/2006/main">
            <a:r>
              <a:t/>
            </a:r>
          </a:p>
          <a:p xmlns:a="http://schemas.openxmlformats.org/drawingml/2006/main">
            <a:r>
              <a:t>Sources:</a:t>
            </a:r>
          </a:p>
          <a:p xmlns:a="http://schemas.openxmlformats.org/drawingml/2006/main">
            <a:r>
              <a:t>https://nvlpubs.nist.gov/nistpubs/ai/NIST.AI.100-1.pdf</a:t>
            </a:r>
          </a:p>
          <a:p xmlns:a="http://schemas.openxmlformats.org/drawingml/2006/main">
            <a:r>
              <a:t>https://nvlpubs.nist.gov/nistpubs/ai/NIST.AI.600-1.pdf</a:t>
            </a:r>
          </a:p>
          <a:p xmlns:a="http://schemas.openxmlformats.org/drawingml/2006/main">
            <a:r>
              <a:t>https://www.itl.nist.gov/div898/handbook/prc/section2/prc241.htm</a:t>
            </a:r>
          </a:p>
          <a:p xmlns:a="http://schemas.openxmlformats.org/drawingml/2006/main">
            <a:r>
              <a:t>https://aclanthology.org/2020.acl-main.442/</a:t>
            </a:r>
          </a:p>
          <a:p xmlns:a="http://schemas.openxmlformats.org/drawingml/2006/main">
            <a:r>
              <a:t>https://github.com/UncertaintyArchitectureGroup/uncertainty-architecture/blob/main/01-patterns/thinking-system-review.md</a:t>
            </a:r>
          </a:p>
          <a:p xmlns:a="http://schemas.openxmlformats.org/drawingml/2006/main">
            <a:r>
              <a:t>https://github.com/UncertaintyArchitectureGroup/uncertainty-architecture/blob/main/content/raw/Designing%20Non-Deterministic%20Systems%3A%20Maintaining%20Engineering%20Rigor%20in%20the%20AI%20Era.pdf#page=14</a:t>
            </a:r>
          </a:p>
          <a:p xmlns:a="http://schemas.openxmlformats.org/drawingml/2006/main">
            <a:r>
              <a:t>https://github.com/UncertaintyArchitectureGroup/uncertainty-architecture/blob/main/content/raw/Designing%20Non-Deterministic%20Systems%3A%20Maintaining%20Engineering%20Rigor%20in%20the%20AI%20Era.pdf#page=19</a:t>
            </a:r>
          </a:p>
          <a:p xmlns:a="http://schemas.openxmlformats.org/drawingml/2006/main">
            <a:r>
              <a:t>https://github.com/UncertaintyArchitectureGroup/uncertainty-architecture/blob/main/content/raw/Designing%20Non-Deterministic%20Systems%3A%20Maintaining%20Engineering%20Rigor%20in%20the%20AI%20Era.pdf#page=4</a:t>
            </a:r>
          </a:p>
          <a:p xmlns:a="http://schemas.openxmlformats.org/drawingml/2006/main">
            <a:r>
              <a:t>https://github.com/UncertaintyArchitectureGroup/uncertainty-architecture/blob/main/00-doctrine/requirements-correctness-and-bugs.md</a:t>
            </a:r>
          </a:p>
          <a:p xmlns:a="http://schemas.openxmlformats.org/drawingml/2006/main">
            <a:r>
              <a:t/>
            </a:r>
          </a:p>
          <a:p xmlns:a="http://schemas.openxmlformats.org/drawingml/2006/main">
            <a:r>
              <a:t>Уточнення v22 — поточна редакція, 23.09.2026:</a:t>
            </a:r>
          </a:p>
          <a:p xmlns:a="http://schemas.openxmlformats.org/drawingml/2006/main">
            <a:r>
              <a:t>Усне уточнення до 196 acceptable outcomes: прийнятність визначається всім погодженим контрактом, включно з корисністю, а не лише відсутністю забороненої дії. Належне уточнення або ескалація може бути правильним результатом для конкретного сценарію; постійно відмовляти чи перекладати всі запити на підтримку не означає автоматично виконати ціль продукту. Перевіряємо правильне вирішення звернення та навантаження на користувача/підтримку поряд із безпечністю, cost і latency. Цифри 196/3/1, 4/200 та Wilson interval не змінюються.</a:t>
            </a:r>
          </a:p>
          <a:p xmlns:a="http://schemas.openxmlformats.org/drawingml/2006/main">
            <a:r>
              <a:t>Верхня схема і нижня вибірка — різні навчальні об’єкти. Рідкісний результат не обов’язково неправильний, а частий — не обов’язково правильний; колір на схемі показує відповідність контракту, не частоту. Середній показник або нуль знайдених критичних відмов не є дозволом на заборонений наслідок і не доводить його неможливості.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Конкретизуємо абстрактні risk contracts через deliverables розробників для того самого IT-асистента. READY: визначено аудиторію, дозволені джерела, заборонені дії, приклади/rubric, evaluation plan, критичні залежності й власника ручного шляху. Якщо tolerance або feasibility ще невідомі, команда може бути Ready до обмеженого експерименту з питанням, бюджетом, stop condition та owner; це не дозвіл на production.</a:t>
            </a:r>
          </a:p>
          <a:p xmlns:a="http://schemas.openxmlformats.org/drawingml/2006/main">
            <a:r>
              <a:t>DONE: developer поставляє відтворювану конфігурацію model version, prompt, retrieval/data snapshot, tool schema, policy та permissions; результати deterministic, behavioral і control-path tests; посилання на evaluation evidence, coverage й обмеження. Перевірені deny-path, unavailable-control behavior, telemetry та фактичний rollback/manual fallback. QA звіряє evaluation method і results, а не одноосібно приймає business risk. Для слайда скорочено до model/prompt/data; повний список тут.</a:t>
            </a:r>
          </a:p>
          <a:p xmlns:a="http://schemas.openxmlformats.org/drawingml/2006/main">
            <a:r>
              <a:t>RELEASE: ідентифіковано саме цю версію, population, tool authority, exposure, monitoring, stop triggers, оперативного owner та fallback capacity. Уповноважена особа приймає залишковий ризик у межах повноважень або звужує scope, відкладає чи відхиляє реліз. Прийняття ризику не скасовує обов’язкову заборону й не розширює успадковану project authority. Попередній toy-example із privacy breach не пройде цей gate.</a:t>
            </a:r>
          </a:p>
          <a:p xmlns:a="http://schemas.openxmlformats.org/drawingml/2006/main">
            <a:r>
              <a:t>Розробник тепер здає не лише endpoint, а відтворювану поведінку, evidence і працездатний recovery path. Project Manager відстежує незакриті залежності/рішення та не прирівнює Done до Ship. Ролі можуть поєднуватись однією людиною; достатньо існуючого review artifact, новий комітет не потрібний.</a:t>
            </a:r>
          </a:p>
          <a:p xmlns:a="http://schemas.openxmlformats.org/drawingml/2006/main">
            <a:r>
              <a:t>Практичний engineering object — версія поведінки, а не лише commit застосунку. Один і той самий endpoint із новим prompt, knowledge snapshot, моделлю, evaluator або правами інструментів може мати інший профіль якості й ризику. Тому evidence та rollback прив’язуються до узгодженого набору версій. Окремий Prompt Registry не обов’язковий: для малої команди достатньо наявного version control та deployment/configuration механізму, якщо вони дозволяють встановити, що саме працювало, хто погодив зміну і як повернутись.</a:t>
            </a:r>
          </a:p>
          <a:p xmlns:a="http://schemas.openxmlformats.org/drawingml/2006/main">
            <a:r>
              <a:t>READY включає quality, cost і latency budgets та місткість ручного шляху. Для експерименту потрібні обмеження експозиції й ресурсів до початку роботи. DONE включає deterministic tests, coverage поведінкових сценаріїв, невизначеність оцінки й порівняння з baseline. Валідний JSON перевіряє форму: структурно правильний об’єкт може містити вигадану інструкцію. Тому schema pass доповнюється semantic evidence, permissions і перевіреним recovery path.</a:t>
            </a:r>
          </a:p>
          <a:p xmlns:a="http://schemas.openxmlformats.org/drawingml/2006/main">
            <a:r>
              <a:t>RELEASE має явні варіанти block, canary або scoped release. Canary також потребує попереднього дозволу, обмеженої аудиторії, моніторингу та можливості зупинити експозицію. Усі попередні критерії й власники залишаються. Rollback повертає конфігурацію, але не скасовує вже виконану зовнішню дію: для таких наслідків потрібні containment, ручне виправлення або компенсація.</a:t>
            </a:r>
          </a:p>
          <a:p xmlns:a="http://schemas.openxmlformats.org/drawingml/2006/main">
            <a:r>
              <a:t/>
            </a:r>
          </a:p>
          <a:p xmlns:a="http://schemas.openxmlformats.org/drawingml/2006/main">
            <a:r>
              <a:t>Таблиця тепер прямо порівнює звичний фокус DoR/DoD з додатковими зобов’язаннями для model-mediated behavior. Ліва колонка — спрощений навчальний фокус, а не твердження, що класичний software не має ризик-аналізу, навантажувальних тестів, моніторингу або incident management. Усі наявні вимоги організації залишаються. У DoR потрібен повний і правдоподібний дизайн керування для суттєвих сценаріїв: вимога й межа, спосіб її реалізації, спостереження, уповноважене рішення, виконавчий механізм та перевірка ефекту. Сюди входить human-in-the-loop: хто втручається, з якою інформацією, правами, часом і доступною потужністю, хто підміняє та що відбувається при недоступності. DoR до реалізації не вимагає вже збудованої системи, але має показати весь задум і залежності. Якщо feasibility ще невідома, Ready може означати лише готовність до окремо обмеженого дослідження. До експерименту з реальним exposure потрібні вже працездатні відповідні контролі. DoD підтверджує реалізацію й перевірку цього контуру, включно з людиною та fallback; версії, baseline, оцінка невизначеності, resource budgets і recovery evidence зберігаються. Release визначає population, tool permissions, residual risk, відповідальну особу, постійний моніторинг і triggers для stop/rollback. Block, canary або scoped release — різні дозволені результати рішення. Робота не закінчується релізом: production incidents породжують regression cases, зміни критеріїв Eval Gate та правил моніторингу. Такі зміни також версіонуються, перевіряються й погоджуються в межах повноважень; не можна тихо послабити бізнес-межу, щоб метрика стала зеленою.</a:t>
            </a:r>
          </a:p>
          <a:p xmlns:a="http://schemas.openxmlformats.org/drawingml/2006/main">
            <a:r>
              <a:t/>
            </a:r>
          </a:p>
          <a:p xmlns:a="http://schemas.openxmlformats.org/drawingml/2006/main">
            <a:r>
              <a:t>Інтеграція старого слайда 5 (PDF page 6, From Static Requirements to Statistical Gates). Чотири порівнювані рядки тепер видно безпосередньо: Ready, Budget, Done та Release / Operate. Окремий Budget повертає cost envelope зі старої презентації: токени, повторні виклики, evaluations, людська перевірка, latency та місткість fallback мають впливати на readiness і життєздатність. Статистичний контракт не означає, що великий n доводить безпеку: потрібні придатна вибірка, coverage, калібрований evaluator, припущення й оцінка невизначеності щодо погодженого порога. Приймають evidence у контексті бізнес-допусків, а не абстрактний confidence interval сам по собі. Старий фокус показаний як навчальне спрощення: класична інженерія також має nonfunctional requirements, ризик, вартість, навантажувальні тести та operations. Повний control/HITL design лишається в DoR, працездатність і rehearsal — в DoD. Release залишається окремим scoped decision із постійним monitoring та incident → regression / Eval Gates / monitoring rules loop. Зміна правил не може непомітно послабити затверджену межу.</a:t>
            </a:r>
          </a:p>
          <a:p xmlns:a="http://schemas.openxmlformats.org/drawingml/2006/main">
            <a:r>
              <a:t/>
            </a:r>
          </a:p>
          <a:p xmlns:a="http://schemas.openxmlformats.org/drawingml/2006/main">
            <a:r>
              <a:t>Поточне уточнення 23 вересня 2026:</a:t>
            </a:r>
          </a:p>
          <a:p xmlns:a="http://schemas.openxmlformats.org/drawingml/2006/main">
            <a:r>
              <a:t>Уточнена композиція повертає два основні контракти, як у старому слайді про DoR / DoD. Бюджет не є окремим gate: погоджені token/evaluation/human-review costs, latency та capacity входять до DoR, а перевірка фактичних показників — до DoD. DoR: маємо вимоги, business tolerances, forbidden outcomes, evaluation plan і повний design control loop включно з human authority, fallback та recovery. Ready для bounded experiment не означає production authorization. DoD: зберігаються code review, deterministic tests та інваріанти; додаються versioned model/prompt/context/data evidence, калібровані Eval Gates, coverage, sample uncertainty і перевірені controls. Велика вибірка чи один confidence interval не є доказом універсальної safety. Release відділений від DoD: уповноважений owner приймає residual risk і scope. Після релізу потрібні постійний monitoring, відповідальні responders та зворотний зв’язок від production incidents у regression, Eval Gates і monitoring rules. Product/BA узгоджують межі з бізнесом, архітектор проєктує контроль, Dev/QA реалізують та перевіряють, PM відстежує залежності й readiness. Лівий стовпчик є стислим порівнянням фокусу, а не твердженням, що традиційна розробка не мала risk/cost/operations.</a:t>
            </a:r>
          </a:p>
          <a:p xmlns:a="http://schemas.openxmlformats.org/drawingml/2006/main">
            <a:r>
              <a:t/>
            </a:r>
          </a:p>
          <a:p xmlns:a="http://schemas.openxmlformats.org/drawingml/2006/main">
            <a:r>
              <a:t>Критичний перегляд зв’язності та ролей, v14, 23 вересня 2026:</a:t>
            </a:r>
          </a:p>
          <a:p xmlns:a="http://schemas.openxmlformats.org/drawingml/2006/main">
            <a:r>
              <a:t>DoR / DoD — спільний робочий контракт, тому цей слайд стосується Product Owner, BA, розробників, QA, Project Manager та operations. PO забезпечує ясність мети, цінність і пріоритети backlog; BA — зрозумілі критерії; Dev / QA — здійсненність, реалізацію та evidence; архітектор і service owner — реальні control / HITL paths та capacity; Project Manager — доступність цих результатів і рішень у delivery plan. Це не передача якості одному PO чи QA. У Scrum Definition of Done є commitment для Increment, Developers мають її виконувати, а за відсутності достатнього organizational standard її створює Scrum Team. Definition of Ready — можлива командна практика, не обов’язковий Scrum artifact чи формальний approval gate. Scrum Master, якщо команда працює в Scrum, допомагає емпіризму та ефективності процесу, не підмінює жодного decision owner.</a:t>
            </a:r>
          </a:p>
          <a:p xmlns:a="http://schemas.openxmlformats.org/drawingml/2006/main">
            <a:r>
              <a:t>Release owner авторизує scope, exposure та residual risk у межах своїх прав. Service owner / operations забезпечує named responders, часові межі втручання, peak capacity, backup, monitoring та перевірений rollback / fallback; Project Manager координує залежності готовності. Завершене за DoD не означає автоматичного дозволу на будь-який production scope. Інциденти повертаються не лише в тести, а й до Product / PO для зміни пріоритетів і до архітектора для перевірки control assumptions.</a:t>
            </a:r>
          </a:p>
          <a:p xmlns:a="http://schemas.openxmlformats.org/drawingml/2006/main">
            <a:r>
              <a:t>Перехід до 12: порядок розповіді не є waterfall. Ми спершу назвали, що треба довести, а тепер розкриваємо архітектуру, яка робить ці докази й обіцянки credible. Контроль і operational ownership проектуються до релізу, а не додаються після DoD.</a:t>
            </a:r>
          </a:p>
          <a:p xmlns:a="http://schemas.openxmlformats.org/drawingml/2006/main">
            <a:r>
              <a:t/>
            </a:r>
          </a:p>
          <a:p xmlns:a="http://schemas.openxmlformats.org/drawingml/2006/main">
            <a:r>
              <a:t>Поточне пояснення: наскрізний приклад і рішення.</a:t>
            </a:r>
          </a:p>
          <a:p xmlns:a="http://schemas.openxmlformats.org/drawingml/2006/main">
            <a:r>
              <a:t>На цьому етапі прикладу IT-асистент ще не готовий до релізу: evidence з 10 містить заборонену disclosure. Стовпець IT ASSISTANT: ADDED REQUIREMENTS описує потрібні умови, а не стверджує, що candidate їх виконав. Команда виправляє джерело порушення, перевіряє permissions і containment, додає regression case, повторює релевантне оцінювання. Release owner не може довільно перекрити inherited prohibition низьким середнім error rate. Зміна меж або scope потребує відповідної authority і re-evaluation. Після виконання критеріїв окремо авторизують scope / residual risk і підтверджують operational capacity. Permission checks та rehearsal support fallback на 12 є частиною попереднього дизайну і реалізації, а не кроком після релізу.</a:t>
            </a:r>
          </a:p>
          <a:p xmlns:a="http://schemas.openxmlformats.org/drawingml/2006/main">
            <a:r>
              <a:t/>
            </a:r>
          </a:p>
          <a:p xmlns:a="http://schemas.openxmlformats.org/drawingml/2006/main">
            <a:r>
              <a:t>Поточне пояснення: два зсуви та статистичні умови delivery.</a:t>
            </a:r>
          </a:p>
          <a:p xmlns:a="http://schemas.openxmlformats.org/drawingml/2006/main">
            <a:r>
              <a:t>Порівняння відновлює зміст слайда From Static Requirements to Statistical Gates зі старої Designing Non-Deterministic Systems (сторінка 6 PDF, змістовний слайд 5). Порівнюємо не один IT-case, а загальні умови роботи: готовність, завершеність та авторизацію використання. У традиційному software також є ризик, вартість, performance і нефункціональні вимоги; це не caricature «один unit test — і в production». Thinking Systems потребують явних behavioral tolerances і заборонених outcomes, контрольованого cost envelope, evaluation coverage, uncertainty та operating capacity.</a:t>
            </a:r>
          </a:p>
          <a:p xmlns:a="http://schemas.openxmlformats.org/drawingml/2006/main">
            <a:r>
              <a:t/>
            </a:r>
          </a:p>
          <a:p xmlns:a="http://schemas.openxmlformats.org/drawingml/2006/main">
            <a:r>
              <a:t>DoR: до розробки погоджуємо risk profile, допустиму варіативність, заборонені області, Golden Set / representative sampling, критерії Eval Gates і здійсненний повний control / human-response design. Token/evaluation/review costs, latency й спроможність responders входять у readiness budget, а не утворюють окремий рівнозначний DoR/DoD об’єкт. DoD: versioned evidence демонструє досягнення критеріїв на релевантних сценаріях і вибірках, межі невизначеності задокументовано, controls/fallback/HITL реалізовано й перевірено, limits підтверджено вимірюваннями. Велика вибірка не доводить universal safety: замість історичного «large-sample runs prove» говоримо про evidence та uncertainty під конкретними assumptions.</a:t>
            </a:r>
          </a:p>
          <a:p xmlns:a="http://schemas.openxmlformats.org/drawingml/2006/main">
            <a:r>
              <a:t/>
            </a:r>
          </a:p>
          <a:p xmlns:a="http://schemas.openxmlformats.org/drawingml/2006/main">
            <a:r>
              <a:t>Release: уповноважений owner приймає evidence, релевантні error bounds і residual risk для визначеного scope. Confidence interval є input до рішення, а не самостійний дозвіл на harm; prohibited disclosure у прикладі з 10 залишається blocker. Потрібен повний і дієздатний control loop, включно з human authority там, де вона потрібна за approved architecture, моніторингом, response capacity, containment/fallback і rollback лише для оборотних ефектів. Production incidents живлять regression cases, Eval Gates і monitoring rules. Sprint Review не є формальним release gate, DoR — можлива командна практика, DoD — shared quality commitment. Product / PO, BA, Dev, QA, Architect, service / risk / release owners і PM мають різні внески в спільний контракт.</a:t>
            </a:r>
          </a:p>
          <a:p xmlns:a="http://schemas.openxmlformats.org/drawingml/2006/main">
            <a:r>
              <a:t/>
            </a:r>
          </a:p>
          <a:p xmlns:a="http://schemas.openxmlformats.org/drawingml/2006/main">
            <a:r>
              <a:t>Sources:</a:t>
            </a:r>
          </a:p>
          <a:p xmlns:a="http://schemas.openxmlformats.org/drawingml/2006/main">
            <a:r>
              <a:t>https://github.com/UncertaintyArchitectureGroup/uncertainty-architecture/blob/main/01-patterns/thinking-system-review.md</a:t>
            </a:r>
          </a:p>
          <a:p xmlns:a="http://schemas.openxmlformats.org/drawingml/2006/main">
            <a:r>
              <a:t>https://github.com/UncertaintyArchitectureGroup/uncertainty-architecture/blob/main/00-doctrine/nested-control-lifecycle.md</a:t>
            </a:r>
          </a:p>
          <a:p xmlns:a="http://schemas.openxmlformats.org/drawingml/2006/main">
            <a:r>
              <a:t>https://github.com/UncertaintyArchitectureGroup/uncertainty-architecture/blob/main/content/raw/Designing%20Non-Deterministic%20Systems%3A%20Maintaining%20Engineering%20Rigor%20in%20the%20AI%20Era.pdf#page=6</a:t>
            </a:r>
          </a:p>
          <a:p xmlns:a="http://schemas.openxmlformats.org/drawingml/2006/main">
            <a:r>
              <a:t>https://github.com/UncertaintyArchitectureGroup/uncertainty-architecture/blob/main/content/raw/Designing%20Non-Deterministic%20Systems%3A%20Maintaining%20Engineering%20Rigor%20in%20the%20AI%20Era.pdf#page=9</a:t>
            </a:r>
          </a:p>
          <a:p xmlns:a="http://schemas.openxmlformats.org/drawingml/2006/main">
            <a:r>
              <a:t>https://github.com/UncertaintyArchitectureGroup/uncertainty-architecture/blob/main/content/raw/Designing%20Non-Deterministic%20Systems%3A%20Maintaining%20Engineering%20Rigor%20in%20the%20AI%20Era.pdf#page=13</a:t>
            </a:r>
          </a:p>
          <a:p xmlns:a="http://schemas.openxmlformats.org/drawingml/2006/main">
            <a:r>
              <a:t>https://scrumguides.org/scrum-guide.html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Актуальний сценарій слайда 12 — v26, 23.09.2026.</a:t>
            </a:r>
          </a:p>
          <a:p xmlns:a="http://schemas.openxmlformats.org/drawingml/2006/main">
            <a:r>
              <a:t>Головна думка: схема називає потрібні функції контролю, але сама наявність блоків не доводить їхню ефективність. Перевіряємо не лише продукт, а й здатність контролю виявити проблему та реально вплинути на неї. Нових блоків або універсальної архітектури ця ітерація не додає.</a:t>
            </a:r>
          </a:p>
          <a:p xmlns:a="http://schemas.openxmlformats.org/drawingml/2006/main">
            <a:r>
              <a:t>Semantic check against criteria лишається fallible і не підмінює permissions / required approval. Його придатність перевіряємо на релевантних прикладах, з domain experts: які небезпечні результати пропускає, які корисні блокує, чи узгоджена rubric. Дані для підсумкового оцінювання відділяємо від налаштування. Запуск evaluator сам по собі не є доказом правильності результату.</a:t>
            </a:r>
          </a:p>
          <a:p xmlns:a="http://schemas.openxmlformats.org/drawingml/2006/main">
            <a:r>
              <a:t>Observe all paths означає охоплення дозволених відповідей і дій, відмов, fallback та людської ескалації спостереженням. Telemetry підтверджує лише те, що вона фактично вимірює. Лог «відповідь видано» не доводить, що працівник правильно відновив доступ; для task success та наслідків потрібні відповідні evidence. Відсутність сигналу про помилку не оголошуємо підтвердженим успіхом.</a:t>
            </a:r>
          </a:p>
          <a:p xmlns:a="http://schemas.openxmlformats.org/drawingml/2006/main">
            <a:r>
              <a:t>Controller порівнює evidence з погодженими limits і авторизує корекцію у своїх повноваженнях. Після цього перевіряємо, чи actuator справді виконав дію, чи вона змінила результат і чи вклалася реакція в допустимий час. Human authority потребує контексту, компетенції, прав, часу й capacity. Fallback також має спостережуваний outcome; пунктирна лінія не повертає відхилену дію на виконання.</a:t>
            </a:r>
          </a:p>
          <a:p xmlns:a="http://schemas.openxmlformats.org/drawingml/2006/main">
            <a:r>
              <a:t>Застереження щодо незворотного disclosure та окреме вето збережені. Три джерела складності не є формулою вето. Якщо дієвого контрольного шляху для погоджених наслідків немає, потрібні звуження, redesign або відмова від цього AI path через уповноваженого owner. PM забезпечує власників, час, evidence і readiness залежностей, а не одноосібно засвідчує безпеку.</a:t>
            </a:r>
          </a:p>
          <a:p xmlns:a="http://schemas.openxmlformats.org/drawingml/2006/main">
            <a:r>
              <a:t>ПОПЕРЕДНІ ДЖЕРЕЛЬНІ Й РЕДАКТОРСЬКІ НОТАТКИ.</a:t>
            </a:r>
          </a:p>
          <a:p xmlns:a="http://schemas.openxmlformats.org/drawingml/2006/main">
            <a:r>
              <a:t>Нижче збережено попередній матеріал без змін. Для поточної подачі пріоритет має сценарій v26 вище; попередні назви, композиції та формулювання не є новою екранною редакцією.</a:t>
            </a:r>
          </a:p>
          <a:p xmlns:a="http://schemas.openxmlformats.org/drawingml/2006/main">
            <a:r>
              <a:t>Наскрізний IT-асистент: approved context → model proposal → deterministic permission/approval gate → support tool. Модель пропонує дію; тільки gate дозволяє виконання в межах allowlist, user permissions і required approval. Приклад передбачає відсутність обхідного шляху; за недоступного gate дію відхиляють і пропонують ручний шлях. Схема показує конкретний tool-action path, не універсальну топологію всіх Thinking Systems і не гарантію семантичної коректності довільного тексту. User-facing answer path потребує власних scoped controls.</a:t>
            </a:r>
          </a:p>
          <a:p xmlns:a="http://schemas.openxmlformats.org/drawingml/2006/main">
            <a:r>
              <a:t>Нижній цикл: Observe збирає outcomes, incidents, затримку, fallback load, стан gate, bypass attempts, execution/effects корекцій. Compare/authorize зіставляє їх із явно показаними Approved operating limits; відповідальний Controller або людина вирішує, що дозволено змінити. Apply correction виконує rollback/disable/manual fallback у межах delegated authority. Зворотний зв’язок показує зміну operation; технічно correction може діяти на routing, tool access, model/configuration або реалізацію gate. Наступне спостереження підтверджує, чи action справді виконано й мало потрібний ефект.</a:t>
            </a:r>
          </a:p>
          <a:p xmlns:a="http://schemas.openxmlformats.org/drawingml/2006/main">
            <a:r>
              <a:t>Architect визначає enforced boundary, permissions, isolation, telemetry, decision rights, ефективні actuators, час реакції та fallback capacity. Prompt або probabilistic semantic detector сам собою не є Hard Constraint. Прямий deterministic gate може давати scoped hard claim тільки з перевіреним complete path та явними припущеннями. Developers реалізують і тестують paths; QA перевіряє bypass, degradation, false blocks і recovery; operational owner має повноваження та runbook.</a:t>
            </a:r>
          </a:p>
          <a:p xmlns:a="http://schemas.openxmlformats.org/drawingml/2006/main">
            <a:r>
              <a:t>Project Manager планує operational ownership, rehearsal і залежності, а не закриває проект після deploy. Зміна в межах delivery authority допускає локальну корекцію; розширення tool authority, population чи invalidated business/control assumptions повертається до project reauthorization. Автоматичне відхилення/rollback не повинно непомітно розширювати повноваження.</a:t>
            </a:r>
          </a:p>
          <a:p xmlns:a="http://schemas.openxmlformats.org/drawingml/2006/main">
            <a:r>
              <a:t>Архітектор проектує, де саме дозволена невизначеність і де рішення має бути enforced до наслідку. Для IT-асистента можна дозволити різні пояснення approved knowledge, але окремо перевіряти tool authority, доступ до даних та обов’язкове approval. Синтаксичний validator не доводить правильність змісту, а semantic evaluator також помиляється. Закритий feedback loop не є автоматично доказом безпеки: оцінка може бути неправильною, реакція запізнілою, а actuator — недієвим.</a:t>
            </a:r>
          </a:p>
          <a:p xmlns:a="http://schemas.openxmlformats.org/drawingml/2006/main">
            <a:r>
              <a:t>До архітектурної відповідальності входять vendor/model changes, isolation boundaries, telemetry та конфігураційний rollback. Provider abstraction відокремлює контракт застосунку від конкретного API, але заміна provider не зберігає поведінку автоматично: потрібні нові evidence та рішення у відповідному scope. Human-in-the-loop означає людину з контекстом, повноваженнями, компетентністю, часом і пропускною здатністю, а не кнопку approve.</a:t>
            </a:r>
          </a:p>
          <a:p xmlns:a="http://schemas.openxmlformats.org/drawingml/2006/main">
            <a:r>
              <a:t>Для кожного material signal визначаємо допустимий час реакції й спостережуваний ефект корекції. Якщо шкода може настати раніше, ніж надійде feedback, потрібний придатний попередній gate, менша authority або відмова від такого шляху. Fallback — конкретний режим: approved static guidance, ручний support або зрозуміла відмова, з перевіреною місткістю. Він має зменшувати наслідки, а не повторювати ту саму неперевірену генерацію під іншою назвою.</a:t>
            </a:r>
          </a:p>
          <a:p xmlns:a="http://schemas.openxmlformats.org/drawingml/2006/main">
            <a:r>
              <a:t>Архітектурне veto — обґрунтований висновок, що в даному scope немає достатнього контролю, evidence, економіки чи operational capacity. Архітектор документує цей висновок і вимагає звуження, redesign або зупинки відповідно до призначених decision rights. Це не довільне одноосібне право розширювати бізнес-політику. Уповноважений project owner приймає рішення про життєздатність і можливе подальше bounded research.</a:t>
            </a:r>
          </a:p>
          <a:p xmlns:a="http://schemas.openxmlformats.org/drawingml/2006/main">
            <a:r>
              <a:t/>
            </a:r>
          </a:p>
          <a:p xmlns:a="http://schemas.openxmlformats.org/drawingml/2006/main">
            <a:r>
              <a:t>Human-in-the-loop є архітектурною залежністю сам по собі, а не фразою «людина перевірить». Потрібні призначені люди, компетентність, контекст для рішення, доступність, реальне право зупинити або змінити роботу, робочий інструмент, response time, звичайна й пікова пропускна здатність, підміна та режим при перевантаженні. Людина не обов’язково схвалює кожний запит: політика визначає точки та умови участі. На схемі люди беруть участь у Controller / authority, а також можуть виконувати дію. Повний контур пов’язує approved limits з Observe, Decide/authorize, Apply correction та наступним спостереженням за ефектом. Permission gate перед tool execution зберігає власну fail-closed поведінку. Окремо від цього повнота зворотного зв’язку не доводить коректність semantic evaluator або стабільність системи. Якщо навантаження, latency чи human-review demand неможливо надійно оцінити до запуску, архітектор має визначити гіпотезу та спершу перевірити доступні sandbox/shadow варіанти. Обмежений canary у production припустимий лише за окремим дозволом, в допустимій області ризику, з реально працюючими sensors, authority, stop/fallback, обмеженням population, duration, tools, spend та швидкості exposure. Canary не замінює архітектуру й не виправдовує порушення hard prohibition. Якщо немає дієвого керування або допустимого способу виміряти ризик, AI path слід заблокувати, звузити чи відкласти. Невизначеність також надходить з економіки та зовнішнього провайдера: ціна токенів, потреба в повторних викликах та evaluations, вартість human review, latency, доступність, непрозорі зміни model weights/routing/configuration можуть змінити поведінку та unit economics без локального коміту. Це можливі джерела змін, а не твердження, що кожний провайдер змінює все без попередження. Provider abstraction ізолює інтеграцію, але не доводить поведінкову еквівалентність моделі-замінника. Для змін потрібні спостереження, повторна оцінка та можливість rollback/disable/manual fallback в межах повноважень. Архітектор формує інженерний висновок про життєздатність, Product та уповноважені бізнес-особи погоджують допустимий ризик, а PM забезпечує operational model і залежності.</a:t>
            </a:r>
          </a:p>
          <a:p xmlns:a="http://schemas.openxmlformats.org/drawingml/2006/main">
            <a:r>
              <a:t/>
            </a:r>
          </a:p>
          <a:p xmlns:a="http://schemas.openxmlformats.org/drawingml/2006/main">
            <a:r>
              <a:t>Інтеграція старих слайдів 14 та 15 (PDF pages 15–16): Designing Stochastic Resilience і System Boundary States. Верхня схема робить containment видимим: model proposal → semantic monitor → controller / enforcement → дозволений delivery або execution. Approved limits є reference; semantic monitor є fallible Sensor; Decide + enforce об’єднує на навчальній схемі рішення Controller та реалізацію gate, а не ототожнює їх у доктрині. Детермінований permission/approval check перед tool execution зберігається. При порушенні або недоступному критичному контролі stop/isolate переводить запит у наперед визначений fallback: актуальна затверджена cached answer, safe template, human review або зрозуміла відмова. Cache не є автоматично безпечним: його доступність, актуальність, контекст і права також перевіряються. Якщо навіть fallback непридатний, потрібна відмова чи зупинка, а не мовчазне виконання. Semantic monitor не гарантує виявлення всіх небезпечних змістів.</a:t>
            </a:r>
          </a:p>
          <a:p xmlns:a="http://schemas.openxmlformats.org/drawingml/2006/main">
            <a:r>
              <a:t>Observe збирає delivery outcomes, fallback outcomes, наслідки застосованої корекції, incidents і здоров’я самого контуру; зворотний зв’язок запускає уповноважений review, корекцію rules/configuration/versions та наступну перевірку ефекту. Інциденти оновлюють Golden Set / regression, prompts за потреби, критерії Eval Gates, monitoring thresholds і escalation policy у межах повноважень. Це розвиток існуючих контролів, не обов’язково новий окремий сервіс. Human authority є частиною Controller/approval та може виконувати Actuator; нижній рядок залишає власника, контекст, час, місткість і підміну як реальні архітектурні залежності.</a:t>
            </a:r>
          </a:p>
          <a:p xmlns:a="http://schemas.openxmlformats.org/drawingml/2006/main">
            <a:r>
              <a:t>Праворуч видно три джерела невизначеності зі старого слайда: latency overhead від перевірок та ескалації; економіка token / retry / evaluation / human-review cost; непрозорі provider-side зміни моделі чи routing, що можуть змінювати поведінку без local code commit. Їхній спільний ефект може зробити систему непридатною у заданому scope. Архітектор формує обґрунтований veto-висновок і передає рішення про звуження/redesign/зупинку уповноваженому власнику. Критична обов’язкова заборона не обмінюється на економічну вигоду. Невідоме навантаження можна досліджувати в обмеженому дозволеному canary тільки з уже працездатним control path, stop/fallback, власниками, ресурсними та exposure limits. Canary не легалізує відсутність керування. Попередні схеми IT-assistant action path, повний контроль та всі застереження збережені в попередніх нотатках.</a:t>
            </a:r>
          </a:p>
          <a:p xmlns:a="http://schemas.openxmlformats.org/drawingml/2006/main">
            <a:r>
              <a:t/>
            </a:r>
          </a:p>
          <a:p xmlns:a="http://schemas.openxmlformats.org/drawingml/2006/main">
            <a:r>
              <a:t>Поточне уточнення 23 вересня 2026:</a:t>
            </a:r>
          </a:p>
          <a:p xmlns:a="http://schemas.openxmlformats.org/drawingml/2006/main">
            <a:r>
              <a:t>Поправка до попередньої композиції: три pressures НЕ є причиною або формулою архітектурного вето. Вето спирається на неможливість побудувати й обґрунтувати достатньо надійний, дієвий та операційно здійсненний повний контур для погоджених меж і наслідків. Це може бути missing/late evidence, authority без effective actuator, correction поза consequence window, відсутній credible enforcement або номінальний HITL. Три джерела складності показано окремо: latency/людська capacity, змінна ціна токенів та контролю, непрозорі vendor changes. Вони ускладнюють роботу архітектора й можуть змінити assumptions, але не підмінюють оцінку контрольованості. Центральна схема адаптує старий Architect slide: весь інженерний периметр містить model-mediated process, approved boundaries і realizations, Sensor, Controller, Actuator та substantive Human Authority. Людина не зовнішній чекбокс: потрібні competence, context, права, response time, peak capacity та backup. Показані логічні функції, не обов’язкові окремі сервіси. Семантичний evaluator лишається fallible, а права на tool action реалізуються детермінованими permission/approval gates. Спостерігаємо як бізнес-результат, так і control health та ефект корекції. Для невідомого load спершу sandbox/shadow, а production canary — лише окремо дозволений bounded trial з працездатними controls, scope/exposure limits і stop/fallback. Якщо потрібного control path немає, canary не легалізує production. Архітектурний висновок та project authorization мають належного owner.</a:t>
            </a:r>
          </a:p>
          <a:p xmlns:a="http://schemas.openxmlformats.org/drawingml/2006/main">
            <a:r>
              <a:t/>
            </a:r>
          </a:p>
          <a:p xmlns:a="http://schemas.openxmlformats.org/drawingml/2006/main">
            <a:r>
              <a:t>Критичний перегляд зв’язності та ролей, v14, 23 вересня 2026:</a:t>
            </a:r>
          </a:p>
          <a:p xmlns:a="http://schemas.openxmlformats.org/drawingml/2006/main">
            <a:r>
              <a:t>Архітектор не є одноосібним власником усієї системи. Architect + Dev проектують та реалізують повний control path; QA перевіряє failure modes, недоступність evaluator / людини та результат втручання; business / risk owner задає дозволені межі й delegation; service owner / operations забезпечує responders, monitoring, capacity, backup та recovery у роботі. Project Manager узгоджує залежності, бюджет і строки цих результатів. Product / PO вирішує, чи залишився достатній value у звуженому scope; security / privacy specialists потрібні там, де відповідні наслідки суттєві. Архітектурний veto — виявлення неприйнятної технічної або операційної здійсненності; організаційні повноваження на stop/release мають бути названі, а не припущені за назвою посади.</a:t>
            </a:r>
          </a:p>
          <a:p xmlns:a="http://schemas.openxmlformats.org/drawingml/2006/main">
            <a:r>
              <a:t>Human Authority потребує evidence і контексту для рішення, компетенції та реального права впливати. Черга ескалацій, час реакції, duty coverage та резервний шлях — параметри системи. Номінальне human approval без часу й можливості зрозуміти ситуацію не є credible control. Для support assistant недоступний фахівець веде до погодженого hold / fallback / refusal, а не автоматичного розширення дій моделі. Усі signals та корекції мають перевіряти фактичний ефект. Перехід до 13: якщо люди, їхні знання й capacity є залежностями системи, їхня організація стає частиною роботи Project Manager.</a:t>
            </a:r>
          </a:p>
          <a:p xmlns:a="http://schemas.openxmlformats.org/drawingml/2006/main">
            <a:r>
              <a:t/>
            </a:r>
          </a:p>
          <a:p xmlns:a="http://schemas.openxmlformats.org/drawingml/2006/main">
            <a:r>
              <a:t>Поточне пояснення: наскрізний приклад і рішення.</a:t>
            </a:r>
          </a:p>
          <a:p xmlns:a="http://schemas.openxmlformats.org/drawingml/2006/main">
            <a:r>
              <a:t>У схемі proposal відокремлено від delivery/execution. Перевірка прав, scope дозволеного tool call і потрібного approval працює перед дією; рішення моделі саме по собі не може надати їй нові повноваження. У разі відмови або недоступності gate цей шлях відхиляє дію й використовує safe fallback. Контекст і retrieval також мають поважати access controls: не слід спочатку передавати моделі чужі дані, а потім покладатися лише на output judge. Доступні deterministic checks гарантують лише перевірювані властивості власної реалізації та trusted boundary, не всі семантичні наслідки природної мови. Semantic evaluation і human review можуть помилятися, тому дизайн обмежує authority/exposure і перевіряє реальну ефективність.</a:t>
            </a:r>
          </a:p>
          <a:p xmlns:a="http://schemas.openxmlformats.org/drawingml/2006/main">
            <a:r>
              <a:t/>
            </a:r>
          </a:p>
          <a:p xmlns:a="http://schemas.openxmlformats.org/drawingml/2006/main">
            <a:r>
              <a:t>Після виконання sensor спостерігає outcome і control health, controller вирішує в межах delegated authority, actuator може зупинити або звузити подальшу роботу чи вимкнути tool. Human Authority має evidence/context, компетенцію, decision rights, доступний час, peak capacity і backup. Людина залучається там, де цього вимагає approved design, а не до кожної відповіді. Схематичний зв’язок з gate означає required approval, не обхід checks. Уже розкриті дані feedback або rollback не повертає; rollback придатний лише до оборотних змін.</a:t>
            </a:r>
          </a:p>
          <a:p xmlns:a="http://schemas.openxmlformats.org/drawingml/2006/main">
            <a:r>
              <a:t/>
            </a:r>
          </a:p>
          <a:p xmlns:a="http://schemas.openxmlformats.org/drawingml/2006/main">
            <a:r>
              <a:t>Пропорційність: draft для компетентної людини перед використанням має іншу authority та reversibility, ніж автономна зміна доступу. Навіть draft може розкривати дані, тому access boundary лишається. Для автономної дії потрібні перевірки дозволів і required approval перед effect, дієздатний containment та response. Лише назва HITL не робить шлях керованим. Latency, людська спроможність, full token/evaluation/review costs і opaque vendor changes перевіряють в економіці та operability. Якщо обов’язковий контроль не можна реалізувати або забезпечити response capacity — звузити scope, змінити архітектуру чи відмовитися від цього AI path. Bounded trial допустимий тільки з working controls, exposure limits і stop criteria.</a:t>
            </a:r>
          </a:p>
          <a:p xmlns:a="http://schemas.openxmlformats.org/drawingml/2006/main">
            <a:r>
              <a:t/>
            </a:r>
          </a:p>
          <a:p xmlns:a="http://schemas.openxmlformats.org/drawingml/2006/main">
            <a:r>
              <a:t>Sources:</a:t>
            </a:r>
          </a:p>
          <a:p xmlns:a="http://schemas.openxmlformats.org/drawingml/2006/main">
            <a:r>
              <a:t>https://github.com/UncertaintyArchitectureGroup/uncertainty-architecture/blob/main/00-doctrine/control-loop-anatomy.md</a:t>
            </a:r>
          </a:p>
          <a:p xmlns:a="http://schemas.openxmlformats.org/drawingml/2006/main">
            <a:r>
              <a:t>https://github.com/UncertaintyArchitectureGroup/uncertainty-architecture/blob/main/00-doctrine/nested-control-lifecycle.md</a:t>
            </a:r>
          </a:p>
          <a:p xmlns:a="http://schemas.openxmlformats.org/drawingml/2006/main">
            <a:r>
              <a:t>https://github.com/UncertaintyArchitectureGroup/uncertainty-architecture/blob/main/01-patterns/thinking-system-review.md</a:t>
            </a:r>
          </a:p>
          <a:p xmlns:a="http://schemas.openxmlformats.org/drawingml/2006/main">
            <a:r>
              <a:t>https://github.com/UncertaintyArchitectureGroup/uncertainty-architecture/blob/main/content/raw/Designing%20Non-Deterministic%20Systems%3A%20Maintaining%20Engineering%20Rigor%20in%20the%20AI%20Era.pdf#page=10</a:t>
            </a:r>
          </a:p>
          <a:p xmlns:a="http://schemas.openxmlformats.org/drawingml/2006/main">
            <a:r>
              <a:t>https://github.com/UncertaintyArchitectureGroup/uncertainty-architecture/blob/main/content/raw/Designing%20Non-Deterministic%20Systems%3A%20Maintaining%20Engineering%20Rigor%20in%20the%20AI%20Era.pdf#page=11</a:t>
            </a:r>
          </a:p>
          <a:p xmlns:a="http://schemas.openxmlformats.org/drawingml/2006/main">
            <a:r>
              <a:t>https://github.com/UncertaintyArchitectureGroup/uncertainty-architecture/blob/main/content/raw/Designing%20Non-Deterministic%20Systems%3A%20Maintaining%20Engineering%20Rigor%20in%20the%20AI%20Era.pdf#page=15</a:t>
            </a:r>
          </a:p>
          <a:p xmlns:a="http://schemas.openxmlformats.org/drawingml/2006/main">
            <a:r>
              <a:t>https://github.com/UncertaintyArchitectureGroup/uncertainty-architecture/blob/main/content/raw/Designing%20Non-Deterministic%20Systems%3A%20Maintaining%20Engineering%20Rigor%20in%20the%20AI%20Era.pdf#page=16</a:t>
            </a:r>
          </a:p>
          <a:p xmlns:a="http://schemas.openxmlformats.org/drawingml/2006/main">
            <a:r>
              <a:t>https://github.com/UncertaintyArchitectureGroup/uncertainty-architecture/blob/main/content/raw/Designing%20Non-Deterministic%20Systems%3A%20Maintaining%20Engineering%20Rigor%20in%20the%20AI%20Era.pdf#page=18</a:t>
            </a:r>
          </a:p>
          <a:p xmlns:a="http://schemas.openxmlformats.org/drawingml/2006/main">
            <a:r>
              <a:t/>
            </a:r>
          </a:p>
          <a:p xmlns:a="http://schemas.openxmlformats.org/drawingml/2006/main">
            <a:r>
              <a:t>Уточнення v20 — поточна екранна редакція, 23.09.2026:</a:t>
            </a:r>
          </a:p>
          <a:p xmlns:a="http://schemas.openxmlformats.org/drawingml/2006/main">
            <a:r>
              <a:t>Центральний control loop, pre-action permission/approval, human authority та застереження щодо незворотного disclosure збережені. Нижня частина тепер містить три окремі джерела складності: latency та реальна human capacity; повна вартість tokens/evaluations/retries/human review; зміни model/routing/provider assumptions. Це не формула вето і не причинна стрілка до нього. Окремо нижче: якщо надійний та операційно дієвий control path неможливо побудувати й підтримувати для заданих наслідків, звузити, перепроєктувати або відхилити цей AI path через належного decision owner. Пропорційність і приклади draft-for-human-review та autonomous access change залишаються в попередніх notes; вони не скасовуються новою композицією. Semantic checks не ототожнюються з permission gate.</a:t>
            </a:r>
          </a:p>
          <a:p xmlns:a="http://schemas.openxmlformats.org/drawingml/2006/main">
            <a:r>
              <a:t/>
            </a:r>
          </a:p>
          <a:p xmlns:a="http://schemas.openxmlformats.org/drawingml/2006/main">
            <a:r>
              <a:t>Уточнення v22 — поточна редакція, 23.09.2026:</a:t>
            </a:r>
          </a:p>
          <a:p xmlns:a="http://schemas.openxmlformats.org/drawingml/2006/main">
            <a:r>
              <a:t>Це уточнення чинної схеми, а не нова універсальна архітектура. До pre-action шляху додано окремий Semantic check against criteria (fallible), щоб не ототожнювати змістову допустимість з permissions/required approval. Для цього IT-assistant case потрібні і прийнятний зміст за погодженими критеріями, і право видати/виконати результат. Відхилений результат або недоступний обов’язковий check спрямовується в погоджений deny/fallback; різні перевірки мають різні обов’язки. Семантична перевірка може помилитися, тому сама по собі не гарантує правильності довільної інструкції. Для необхідних заборон потрібні придатні enforcement paths, обмеження authority/exposure та перевірені припущення. Access controls для context/retrieval працюють також до передавання даних моделі, а не лише перед disclosure.</a:t>
            </a:r>
          </a:p>
          <a:p xmlns:a="http://schemas.openxmlformats.org/drawingml/2006/main">
            <a:r>
              <a:t>Спостереження охоплює всі шляхи: дозволені відповіді/дії, відмови, fallback і передавання людині. Пунктирна блакитна лінія від fallback до Observe показує телеметрію його outcomes, workload, черг, response time та фактичної human capacity; це не дозвіл відновити відхилену дію. Controller порівнює evidence з погодженими limits і авторизує correction лише у межах делегованих прав. Після втручання перевіряється ефект. Людська authority, три джерела складності, окремий критерій veto та застереження про незворотні наслідки зберігаються. Замкнутий контур не є самостійним доказом безпеки.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Стара презентація Designing Non-Deterministic Systems, slide 20 Welcome to the Laboratory, дає педагогічну метафору Hypothesize → Measure → Adapt. Тут не стверджуємо, що Scrum або попередня інженерія не були емпіричними. Процес додає явно керований цикл поведінкових гіпотез, measurement та адаптації поряд зі звичайним delivery. Titles/order цієї 14-slide доповіді збережено.</a:t>
            </a:r>
          </a:p>
          <a:p xmlns:a="http://schemas.openxmlformats.org/drawingml/2006/main">
            <a:r>
              <a:t>Project Manager відрізняється від Product Manager. Product разом із BA та бізнесом уточнює цінність, наслідки й acceptance; Project Manager організовує delivery і навчання: stakeholder availability, dependencies, доступ до даних/domain experts, evaluation cost, час на аналіз і remediation, decision latency, release/operations readiness. Він не стає одноосібним власником risk acceptance.</a:t>
            </a:r>
          </a:p>
          <a:p xmlns:a="http://schemas.openxmlformats.org/drawingml/2006/main">
            <a:r>
              <a:t>Planning: backlog містить не тільки features, а й перевірювані невідомі, наприклад «чи достатньо approved knowledge для типових support cases?». Для trial фіксуємо питання, hypothesis, evidence plan, ресурсну межу, owner і stop condition; якщо треба — погоджений обмежений scope до остаточних tolerance. Sprint review: разом зі working software показуємо versioned evidence, проблемні групи, consequences, uncertainty та unresolved decisions. Результат може бути accept, redesign, narrow, bounded further trial або stop. Це корисний результат роботи, а не автоматична невдача спринту, якщо доказано, що задум нежиттєздатний.</a:t>
            </a:r>
          </a:p>
          <a:p xmlns:a="http://schemas.openxmlformats.org/drawingml/2006/main">
            <a:r>
              <a:t>Release/operate: окремо від Done підтверджуємо authorization конкретного rollout, monitoring, on-call/ручний шлях і їхню місткість; runtime evidence повертає backlog і за потреби project reauthorization. Не рахувати кількість проведених експериментів як цінність саму по собі: прогрес — робоча capability, зменшення матеріальної невизначеності та прийняте рішення. Один живий review artifact і звичні командні події можуть містити ці записи; не потрібні нові ролі або комітет.</a:t>
            </a:r>
          </a:p>
          <a:p xmlns:a="http://schemas.openxmlformats.org/drawingml/2006/main">
            <a:r>
              <a:t>Розподіл 9–13: Product + BA формулюють acceptance; QA + Developers роблять measurement; Developers доставляють evidence/recovery package; Architect замикає bounded control; Project Manager координує весь цикл, рішення, бюджет і залежності.</a:t>
            </a:r>
          </a:p>
          <a:p xmlns:a="http://schemas.openxmlformats.org/drawingml/2006/main">
            <a:r>
              <a:t>Фабрика й лабораторія співіснують. Команда продовжує постачати перевірені deterministic features, але для поведінкових невідомих спочатку формулює гіпотезу й план evidence. Робочий приклад: «Чи достатньо approved knowledge, щоб асистент корисно обробляв типові IT-звернення без вигаданих кроків у допустимих межах вартості та затримки?». Експеримент може показати, що потрібні нові знання, інший scope, ручний support або взагалі інше технічне рішення.</a:t>
            </a:r>
          </a:p>
          <a:p xmlns:a="http://schemas.openxmlformats.org/drawingml/2006/main">
            <a:r>
              <a:t>Project Manager закладає в план підготовку даних, час domain experts, evaluation runs, аналіз, реалізацію controls і rehearsal. Фіксує resource/time box дослідження та decision date. Можна погодити термін отримання evidence й рішення, але не видавати невідому feasibility за гарантовану production capability. Після trial команда уточнює прогноз, scope і залежності; це кероване перепланування за новими даними.</a:t>
            </a:r>
          </a:p>
          <a:p xmlns:a="http://schemas.openxmlformats.org/drawingml/2006/main">
            <a:r>
              <a:t>На planning розділяємо work із відомим способом реалізації та material unknowns. На sprint review поряд із demo показуємо baseline/candidate, проблемні сценарії, cost/latency, evaluator uncertainty і рішення. На retrospective перевіряємо, які припущення та засоби вимірювання підвели. Production incidents повертаються в Golden Set, backlog і review тієї межі, яка виявилася неадекватною. Звичайні Scrum events можуть бути цими контрольними точками без створення окремої бюрократії.</a:t>
            </a:r>
          </a:p>
          <a:p xmlns:a="http://schemas.openxmlformats.org/drawingml/2006/main">
            <a:r>
              <a:t>Негативний експеримент є корисним, коли він закриває важливе питання й змінює рішення, а не просто збільшує лічильник проведених дослідів. Кількість tickets, LOC або красивих demo окремо не описує готовність до відповідальної експлуатації.</a:t>
            </a:r>
          </a:p>
          <a:p xmlns:a="http://schemas.openxmlformats.org/drawingml/2006/main">
            <a:r>
              <a:t/>
            </a:r>
          </a:p>
          <a:p xmlns:a="http://schemas.openxmlformats.org/drawingml/2006/main">
            <a:r>
              <a:t>Це синтез попередніх слайдів у портрет майбутнього Project Manager, а не нова назва Product Manager. Фундамент не зникає: project management theory, планування, ризики, залежності, бюджет, комунікації, stakeholders і delivery залишаються. До нього додаються горизонти, що співіснують. Перший — AI-assisted SDLC. Кодогенерація змінює співвідношення швидкості створення, review, QA, integration та людського розуміння. PM має розуміти систему, якою керує, бачити зміну bottleneck і разом із командою знаходити новий баланс. Ми не знаємо універсального нового equilibrium наперед: його перевіряємо end-to-end flow, review queues, rework, stability та здатністю людей пояснити й відновити систему. Другий — побудова агентних/Thinking Systems як додаткова інженерна дисципліна: probabilistic judgment є частиною runtime, тому requirement, evaluation, control design та operating model стають частиною проєктованої системи. Люди з їхніми правами, компетенціями, latency й capacity входять до її інженерного периметра. Третій — управління цією роботою: PM розуміє, як змінилися завдання Product/BA, QA, developers і architect, хто виробляє докази, хто приймає рішення, хто вміє застосувати корекцію. PM має бачити пропущені функції, нерозв’язані залежності та неузгоджений поділ відповідальності, принаймні робити їх видимими, організовувати рішення й моніторити стан. Потрібна статистична грамотність: відрізняти частоту від наслідку, точкову оцінку від невизначеності, coverage від кількості повторів, sample від production population, correlation від causality. Це не робить PM одноосібним статистиком, QA, архітектором або власником бізнес-ризику. Практичні метрики доповнюють delivery: частка неприйнятних результатів за сценаріями та тяжкістю, task success за погодженим rubric, cost per accepted outcome, latency, частка і черга ескалацій, response time, доступність контролів, результативність stop/fallback, incident recurrence. Вони мають denominators, період, сегмент, active version, межу та owner реакції. Система не стає коректною через один aggregate score. Попередній цикл Hypothesis → Bounded trial → Evidence → Decision залишається механікою: у planning визначаємо evidence gap, бюджет, owner і stop condition; на review приймаємо рішення з Product/BA, QA, Dev та Architect; після release стежимо за authorization і capacity. Приклад trial для IT-асистента: чи може він використовувати затверджені знання без вигаданих кроків. Дослідження обмежене в часі до обіцянки production capability. Прогрес — working capability, reduced uncertainty та явні рішення.</a:t>
            </a:r>
          </a:p>
          <a:p xmlns:a="http://schemas.openxmlformats.org/drawingml/2006/main">
            <a:r>
              <a:t/>
            </a:r>
          </a:p>
          <a:p xmlns:a="http://schemas.openxmlformats.org/drawingml/2006/main">
            <a:r>
              <a:t>Поточне уточнення 23 вересня 2026:</a:t>
            </a:r>
          </a:p>
          <a:p xmlns:a="http://schemas.openxmlformats.org/drawingml/2006/main">
            <a:r>
              <a:t>Еволюція PM означає глибше розуміння нової реальності праці, без заміни його класичного професійного фундаменту. Він має знати, що змінилося у вимогах, роботі BA/Product, developer, QA та architect, які нові результати роботи потрібні і де організація команди їх не забезпечує. Конкретний приклад maintainer: AI швидко генерує невеликий компонент мовою, якої команда не знає. Компонент росте й стає бізнес-критичним, але з початку не було компетентного code review, knowledge owner або здатності діагностувати й виправляти його без цього генератора. Тут є вже наявний issue — прогалина компетенції, ризик від її зростання та dependency для готовності: потрібна доступна експертиза й перевірене розуміння до розширення criticality. PM разом із технічними owners робить цю залежність видимою, призначає owner, дату/trigger, план training/pairing/hiring або звуження stack/scope, і критерій закриття. Свідчення закриття — змістовне review, пояснення design/trade-offs і recovery exercise відповідального інженера, а не позначка «AI написав тести». Не потрібен окремий новий реєстр: використовуємо чинні risk/dependency/backlog механізми.</a:t>
            </a:r>
          </a:p>
          <a:p xmlns:a="http://schemas.openxmlformats.org/drawingml/2006/main">
            <a:r>
              <a:t>Додаткові ризики для PM: (1) output випереджає набуття компетенції; (2) великі generated batches перевантажують review й затримують feedback; (3) нові бібліотеки/сервіси несуть supply-chain, security та maintenance зобов’язання, які слід передати компетентним owners; (4) одночасне генерування реалізації й тестів за одним неперевіреним припущенням може залишити blind spot — це інженерний сценарій, не виміряна тут частота; (5) prototype-to-production promotion непомітно збільшує consequence і ownership burden; (6) модель, agent instructions, environment/configuration та vendor availability впливають на відтворення й recovery. Для Thinking Systems додаються competence/capacity людського контуру, якість оцінювання, drift, помилки різної тяжкості, повна вартість accepted outcome і час реакції. PM організовує рішення, а не сам погоджує всі бізнес-ризики й архітектуру.</a:t>
            </a:r>
          </a:p>
          <a:p xmlns:a="http://schemas.openxmlformats.org/drawingml/2006/main">
            <a:r>
              <a:t>Джерела перевірено 23 вересня 2026. Shen &amp; Tamkin / Anthropic, January 2026: контрольований експеримент з незнайомою Python-бібліотекою показав слабше негайне засвоєння в AI-групі; невелика вибірка, короткий горизонт, інший інструментальний setup — не доказ багаторічної втрати навичок команди. Спосіб використання AI має значення; qualitative interaction patterns не встановлюють causal effect. DORA Working in small batches пояснює review/test/integration burden великих generated changes; практики були потрібні й раніше. Spracklen et al., USENIX Security 2025 документують вигадані package names та supply-chain mechanism для досліджених моделей/мов; не переносимо відсотки на нинішню команду чи всі моделі. Управлінські дії та scenario про невідомий stack — наш синтез цих сигналів і прикладу maintainer, не висновок одного дослідження.</a:t>
            </a:r>
          </a:p>
          <a:p xmlns:a="http://schemas.openxmlformats.org/drawingml/2006/main">
            <a:r>
              <a:t/>
            </a:r>
          </a:p>
          <a:p xmlns:a="http://schemas.openxmlformats.org/drawingml/2006/main">
            <a:r>
              <a:t>Критичний перегляд зв’язності та ролей, v14, 23 вересня 2026:</a:t>
            </a:r>
          </a:p>
          <a:p xmlns:a="http://schemas.openxmlformats.org/drawingml/2006/main">
            <a:r>
              <a:t>Project Manager з’єднує роботу Product Manager / Product Owner, BA, Dev, QA, архітектора, service owner та уповноважених decision owners. Він не отримує автоматично право визначати product value, переписувати технічні межі або приймати business risk. Його робота — зробити залежності й пропуски видимими, отримати власника, час і evidence, домогтися рішення належної особи. У Scrum це окремо від відповідальності Scrum Master за Scrum та ефективність команди; наявність окремої посади Project Manager не є вимогою Scrum або UA.</a:t>
            </a:r>
          </a:p>
          <a:p xmlns:a="http://schemas.openxmlformats.org/drawingml/2006/main">
            <a:r>
              <a:t>Обидва горизонти зводимо до корисного результату. HOW: review queues / rework ростуть — команда з Project Manager переглядає WIP, batch size, reviewer coverage та scope. WHAT: human escalation queue чи response time виходить за погоджені межі — service / release owner вирішує щодо capacity, exposure, fallback чи stop, Product / PO переоцінює value та пріоритети. Project Manager забезпечує своєчасність цих рішень. Більше коду та кращий eval score самі по собі не доводять більшої продуктової цінності. Перехід до 14: одне погодження не закриває невизначеність назавжди; потрібен повторюваний командний цикл evidence → decision → adaptation.</a:t>
            </a:r>
          </a:p>
          <a:p xmlns:a="http://schemas.openxmlformats.org/drawingml/2006/main">
            <a:r>
              <a:t/>
            </a:r>
          </a:p>
          <a:p xmlns:a="http://schemas.openxmlformats.org/drawingml/2006/main">
            <a:r>
              <a:t>Поточне пояснення: наскрізний приклад і рішення.</a:t>
            </a:r>
          </a:p>
          <a:p xmlns:a="http://schemas.openxmlformats.org/drawingml/2006/main">
            <a:r>
              <a:t>WHAT-стовпець тепер показує результат координації: погоджені критерії, компетентний domain reviewer, визначений responder із перевіреною спроможністю та evidence, достатня для рішення. Для IT-асистента відсутність такого responder або невиконаний privacy criterion є delivery dependency, яку не закриває демонстрація working code. Project Manager організовує owner, час і proof of closure, але не підмінює продуктову, технічну або risk authority. На HOW так само потрібні qualified reviewer та людина, здатна підтримати й відновити незнайомий компонент. Existing people можуть поєднувати ці відповідальності. Не створюємо обов’язкового нового headcount чи комітетів.</a:t>
            </a:r>
          </a:p>
          <a:p xmlns:a="http://schemas.openxmlformats.org/drawingml/2006/main">
            <a:r>
              <a:t/>
            </a:r>
          </a:p>
          <a:p xmlns:a="http://schemas.openxmlformats.org/drawingml/2006/main">
            <a:r>
              <a:t>Поточне пояснення: два зсуви та статистичні умови delivery.</a:t>
            </a:r>
          </a:p>
          <a:p xmlns:a="http://schemas.openxmlformats.org/drawingml/2006/main">
            <a:r>
              <a:t>Основна теза: одночасно змінюються HOW — система delivery, її bottlenecks і баланс — та WHAT — продукт, у якому runtime judgment частково ймовірнісний. Саме їхній спільний вплив змінює ролі, розподіл роботи, feedback cadence й операційну модель. Геп експертизи — один ілюстративний наслідок, а не тема всього слайда.</a:t>
            </a:r>
          </a:p>
          <a:p xmlns:a="http://schemas.openxmlformats.org/drawingml/2006/main">
            <a:r>
              <a:t/>
            </a:r>
          </a:p>
          <a:p xmlns:a="http://schemas.openxmlformats.org/drawingml/2006/main">
            <a:r>
              <a:t>HOW: прискорення generation не означає однакового прискорення review, integration, validation або team understanding. Потрібно бачити поточне constraint, WIP / queues / rework, якість review, ability to maintain/recover та зміну навантаження; перевіряти локальний evidence, а не проголошувати універсальне падіння productivity. Це може вимагати інших batch sizes, capacity allocation, learning time, ownership і delivery commitments. WHAT: evaluation, monitoring, drift/provider/model changes, full operating cost і timely human response стають частиною повсякденної роботи. QA, Product / PO / BA, architect/engineers та service owners переузгоджують критерії, evidence, authority й handoffs; назви відповідальностей не зобов’язують створювати нові посади.</a:t>
            </a:r>
          </a:p>
          <a:p xmlns:a="http://schemas.openxmlformats.org/drawingml/2006/main">
            <a:r>
              <a:t/>
            </a:r>
          </a:p>
          <a:p xmlns:a="http://schemas.openxmlformats.org/drawingml/2006/main">
            <a:r>
              <a:t>Новий напрям роботи PM — підтримувати придатність operating model під ці зміни: розуміти механізм двох зсувів, регулярно аналізувати bottlenecks і нові dependencies, добиватися owner / часу / capacity / evidence для їх закриття й адаптувати план та спосіб роботи разом із профільними власниками. PM не стає одноосібним technical чи risk authority, але відповідає за інтеграцію залежних рішень у delivery. Це практичний напрям розвитку ролі, а не універсальна нова job description.</a:t>
            </a:r>
          </a:p>
          <a:p xmlns:a="http://schemas.openxmlformats.org/drawingml/2006/main">
            <a:r>
              <a:t/>
            </a:r>
          </a:p>
          <a:p xmlns:a="http://schemas.openxmlformats.org/drawingml/2006/main">
            <a:r>
              <a:t>Приклад: генератор швидко додає код на незнайомій команді мові. Невелика частина стає critical dependency, а qualified review / maintenance / recovery coverage не зростає разом із нею. Expertise gap впливає на оцінки, acceptance, терміни, operational recovery і клієнтські commitments, тому його слід трекати як delivery dependency. PM разом із tech owner погоджує closure plan: навчання, reviewer/backup, staffing, звуження scope або заміна технології, потрібний час і доказ реальної спроможності. Інші приклади того самого класу — недостатня eval capacity, model/provider dependency, response staffing, review queue і latency/cost envelope. Старі scope / schedule / cost / risk / stakeholder responsibilities зберігаються, але їхній предмет суттєво розширюється.</a:t>
            </a:r>
          </a:p>
          <a:p xmlns:a="http://schemas.openxmlformats.org/drawingml/2006/main">
            <a:r>
              <a:t/>
            </a:r>
          </a:p>
          <a:p xmlns:a="http://schemas.openxmlformats.org/drawingml/2006/main">
            <a:r>
              <a:t>Sources:</a:t>
            </a:r>
          </a:p>
          <a:p xmlns:a="http://schemas.openxmlformats.org/drawingml/2006/main">
            <a:r>
              <a:t>https://github.com/UncertaintyArchitectureGroup/uncertainty-architecture/blob/main/01-patterns/thinking-system-review.md</a:t>
            </a:r>
          </a:p>
          <a:p xmlns:a="http://schemas.openxmlformats.org/drawingml/2006/main">
            <a:r>
              <a:t>https://github.com/UncertaintyArchitectureGroup/uncertainty-architecture/blob/main/00-doctrine/nested-control-lifecycle.md</a:t>
            </a:r>
          </a:p>
          <a:p xmlns:a="http://schemas.openxmlformats.org/drawingml/2006/main">
            <a:r>
              <a:t>https://github.com/UncertaintyArchitectureGroup/uncertainty-architecture/blob/main/content/raw/Designing%20Non-Deterministic%20Systems%3A%20Maintaining%20Engineering%20Rigor%20in%20the%20AI%20Era.pdf#page=20</a:t>
            </a:r>
          </a:p>
          <a:p xmlns:a="http://schemas.openxmlformats.org/drawingml/2006/main">
            <a:r>
              <a:t>https://www.anthropic.com/research/AI-assistance-coding-skills</a:t>
            </a:r>
          </a:p>
          <a:p xmlns:a="http://schemas.openxmlformats.org/drawingml/2006/main">
            <a:r>
              <a:t>https://arxiv.org/abs/2601.20245</a:t>
            </a:r>
          </a:p>
          <a:p xmlns:a="http://schemas.openxmlformats.org/drawingml/2006/main">
            <a:r>
              <a:t>https://dora.dev/capabilities/working-in-small-batches/</a:t>
            </a:r>
          </a:p>
          <a:p xmlns:a="http://schemas.openxmlformats.org/drawingml/2006/main">
            <a:r>
              <a:t>https://www.usenix.org/conference/usenixsecurity25/presentation/spracklen</a:t>
            </a:r>
          </a:p>
          <a:p xmlns:a="http://schemas.openxmlformats.org/drawingml/2006/main">
            <a:r>
              <a:t/>
            </a:r>
          </a:p>
          <a:p xmlns:a="http://schemas.openxmlformats.org/drawingml/2006/main">
            <a:r>
              <a:t>Уточнення v20 — поточна екранна редакція, 23.09.2026:</a:t>
            </a:r>
          </a:p>
          <a:p xmlns:a="http://schemas.openxmlformats.org/drawingml/2006/main">
            <a:r>
              <a:t>Підсумок узагальнює expertise example: матеріальне невідоме стає delivery dependency, коли його незакритість може блокувати acceptance, operation або recovery. Це може бути експертиза, evaluator readiness, domain-expert availability, людська response capacity, зовнішня залежність чи невизначена здійсненність. Не кожне невідоме автоматично потребує нового реєстру: PM разом із профільним owner визначає питання, строк/trigger, потрібні evidence й рішення в наявному delivery plan. HOW/WHAT table та конкретний expertise example збережені. Time-box material unknowns before promising production capability залишається видимою тезою.</a:t>
            </a:r>
          </a:p>
          <a:p xmlns:a="http://schemas.openxmlformats.org/drawingml/2006/main">
            <a:r>
              <a:t/>
            </a:r>
          </a:p>
          <a:p xmlns:a="http://schemas.openxmlformats.org/drawingml/2006/main">
            <a:r>
              <a:t>Уточнення v22 — поточна редакція, 23.09.2026:</a:t>
            </a:r>
          </a:p>
          <a:p xmlns:a="http://schemas.openxmlformats.org/drawingml/2006/main">
            <a:r>
              <a:t>Останній екранний рядок тепер: Required decisions, evidence and capabilities belong in the delivery dependency plan. Він замінює попереднє надто широке ототожнення unknowns та dependencies. Невідоме — питання; наявна прогалина компетенції — issue; можливий зрив чи неможливість recovery — risk; потрібний qualified reviewer, доказ спроможності або рішення до розширення використання — dependency готовності. Коли невідоме може блокувати acceptance, operation або recovery, PM разом із профільним owner планує перевірку, потрібні evidence, рішення та capabilities у наявних механізмах delivery. Це не новий реєстр чи передача PM технічної/risk authority. HOW/WHAT table, expertise example та time-box before production commitment залишаються.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Повертаємо HOW і WHAT із першого слайда, тепер із конкретними ролями й процесом. HOW: швидше створювати код недостатньо — команда зберігає comprehension та ownership, Project Manager організовує flow, evidence, залежності та рішення. Малими партіями й обмеженими експериментами перевіряємо невідомі. WHAT: Product + BA узгоджують acceptance з бізнесом; QA + Developers створюють калібровані докази й реалізацію; Architect проектує ефективні control paths; уповноважений release owner приймає scope і residual risk у своїх межах. Це розширення, а не вичерпні нові job descriptions або передача відповідальності одній ролі.</a:t>
            </a:r>
          </a:p>
          <a:p xmlns:a="http://schemas.openxmlformats.org/drawingml/2006/main">
            <a:r>
              <a:t>Головна зміна процесу: hypothesize → measure → decide → adapt, з робочим software, явними business outcomes і runtime feedback. Детерміновані requirements, tests та delivery discipline залишаються; додається контроль варіативної поведінки і наслідків. Немає нових чисел, нової архітектурної нормативності чи реклами UA.</a:t>
            </a:r>
          </a:p>
          <a:p xmlns:a="http://schemas.openxmlformats.org/drawingml/2006/main">
            <a:r>
              <a:t>Фінал: «AI розширює наші можливості. Команда все одно відповідає за систему цілком: як ми її будуємо, яку поведінку дозволяємо, на яких доказах випускаємо і як виправляємо відхилення». Пауза, Q&amp;A.</a:t>
            </a:r>
          </a:p>
          <a:p xmlns:a="http://schemas.openxmlformats.org/drawingml/2006/main">
            <a:r>
              <a:t>Конкретний перший крок для команди: обрати один AI workflow із реальним бізнес-наслідком. Узгодити корисний результат, дозволену варіативність, неприйнятні наслідки, cost/latency та escalation. Підготувати невеликий початковий Golden Set із domain experts, перевірити evaluator й розширювати evidence відповідно до рішення та ризику, без універсального мінімального sample size. Зв’язати Eval Gate з дозволеним block/canary/release, перевірити fallback і людину, яка зможе діяти.</a:t>
            </a:r>
          </a:p>
          <a:p xmlns:a="http://schemas.openxmlformats.org/drawingml/2006/main">
            <a:r>
              <a:t>Саме тут поєднуються дві половини доповіді. HOW: команда має розуміти реалізацію, докази, обмеження і способи відновлення навіть за великого обсягу AI-generated code. WHAT: оскільки частина поведінки формується під час роботи, специфікація, тестування і відповідальність продовжуються через runtime evidence та контроль. Відповідальність не переноситься на модель або на одного QA; вона проходить через узгоджені boundaries, evidence, authority і реальну здатність змінити роботу системи.</a:t>
            </a:r>
          </a:p>
          <a:p xmlns:a="http://schemas.openxmlformats.org/drawingml/2006/main">
            <a:r>
              <a:t/>
            </a:r>
          </a:p>
          <a:p xmlns:a="http://schemas.openxmlformats.org/drawingml/2006/main">
            <a:r>
              <a:t>Фінал збирає HOW we build та WHAT we build через лабораторний цикл зі старого слайда 20. Звичний delivery cycle Plan → Build → Verify → Ship залишається. Лабораторний цикл додає гіпотезу, обмежений експеримент, вимірювання, рішення й адаптацію; нові дані повертають команду до наступної гіпотези. Scrum уже містить емпіризм та адаптацію, тому ми не оголошуємо їх винаходом AI. Змінюється те, що саме треба вимірювати й керувати: поведінкова варіативність, доказова база, operational control і людська частина системи. Для HOW we build цей підхід потрібен, поки команда перевіряє, як AI code generators змінюють її звичний SDLC, де виник bottleneck, чи є реальне покращення end-to-end delivery та чи зберігаються understanding/ownership. Порівнюємо сумісні типи задач і умови, не приймаємо більше generated lines за delivery improvement. Для WHAT we build — Thinking Systems — цикл триває весь час роботи, бо змінюються входи, usage, дані, поведінкові конфігурації та зовнішні залежності. Production evidence й incidents оновлюють Golden Sets, regression, Eval Gates, monitoring та рішення про scope. «Лабораторія не закінчується» означає постійне навчання й reassessment, а не безперервні неконтрольовані експерименти над користувачами: кожний trial має дозвіл, межі та stop/fallback. З попереднього HOW/WHAT лишаються всі відповідальності: команда — comprehension та ownership; Project Manager — evidence і flow; Product/BA — agreed acceptance; QA/Dev — calibrated evidence; Architect — effective control paths; release owner — scope та residual risk. Перший практичний крок лишається: один workflow, погоджені tolerances, калібрований Golden Set, Eval Gate і відрепетируваний fallback. Оцінюємо рішення та наслідки, не лише демонстрацію. Більше capability не скасовує engineering responsibility.</a:t>
            </a:r>
          </a:p>
          <a:p xmlns:a="http://schemas.openxmlformats.org/drawingml/2006/main">
            <a:r>
              <a:t/>
            </a:r>
          </a:p>
          <a:p xmlns:a="http://schemas.openxmlformats.org/drawingml/2006/main">
            <a:r>
              <a:t>Поточне уточнення 23 вересня 2026:</a:t>
            </a:r>
          </a:p>
          <a:p xmlns:a="http://schemas.openxmlformats.org/drawingml/2006/main">
            <a:r>
              <a:t>Максимально адаптовано зміст старих Welcome to the Laboratory (PDF20) та FINAL OPERATING MODEL (PDF22). Збережено звичний delivery і додано постійний empirical loop: гіпотеза та погоджені межі, bounded experiment, measurement/comparison, decision/adaptation. Межі й stop criteria існують до експерименту. Model variance та зміна умов повертають нас до гіпотези, а production outcomes й incidents продовжують цей цикл. Командна операційна модель конкретна: planning формулює питання, owner, budget/time і needed evidence; daily work versionує trials і показує blockers/knowledge gaps; review розглядає результати, uncertainty/coverage і рішення accept/narrow/rework/stop; після релізу є monitoring, responders, incident learning та reassessment. Інциденти змінюють regression/Golden Sets, Eval Gates, monitoring і control rules після належного погодження. Scrum вже емпіричний; ми адаптуємо предмет evidence і decision checkpoints, а не оголошуємо винахід наукового методу. Для HOW це спосіб перевіряти новий баланс AI-assisted SDLC, не плутати більше коду з delivery value та зберігати understanding/ownership. Для WHAT це робота протягом усього життєвого циклу, бо model-mediated behavior, inputs, дані й vendor assumptions можуть змінюватись. Лабораторний режим не означає неконтрольованих експериментів над користувачами. Один experiment закінчується рішенням, а здатність команди вчитися, моніторити й переглядати assumptions триває. Наступний слайд дає матеріали й контакти для Q&amp;A.</a:t>
            </a:r>
          </a:p>
          <a:p xmlns:a="http://schemas.openxmlformats.org/drawingml/2006/main">
            <a:r>
              <a:t/>
            </a:r>
          </a:p>
          <a:p xmlns:a="http://schemas.openxmlformats.org/drawingml/2006/main">
            <a:r>
              <a:t>Критичний перегляд зв’язності та ролей, v14, 23 вересня 2026:</a:t>
            </a:r>
          </a:p>
          <a:p xmlns:a="http://schemas.openxmlformats.org/drawingml/2006/main">
            <a:r>
              <a:t>Ролі на фінальному слайді показують провідний внесок на етапі, а не виключне право участі. Planning: Product / PO + BA разом із командою визначають value target, питання, межі, потрібні evidence й owner. Daily work: Dev + QA + Architect будують, versionують trial, перевіряють і закривають gaps; інші потрібні фахівці також залучені. Review: Product / PO оцінює value, команда пояснює evidence й невизначеність, уповноважений release / risk owner ухвалює scope-specific рішення. After release: service owner + responders моніторять, реагують і повертають findings до всієї команди. Project Manager координує залежності та своєчасність рішень у всьому циклі; Scrum Master у Scrum підтримує емпіризм та ефективність командної взаємодії. Це не новий обов’язковий склад команди й не зміна значення Scrum events; зокрема Sprint Review не перетворюється на формальний release gate.</a:t>
            </a:r>
          </a:p>
          <a:p xmlns:a="http://schemas.openxmlformats.org/drawingml/2006/main">
            <a:r>
              <a:t>Обидві частини доповіді сходяться тут: HOW перевіряє реальне delivery improvement із збереженим розумінням; WHAT перевіряє корисні outcomes, допустиму поведінку, дієвий контроль та повну вартість. Experiment завершується рішенням, а learning, monitoring та reassessment тривають. Завершити конкретною дією для аудиторії: оберіть один workflow; назвіть, яку корисну зміну очікуєте; погодьте межі; визначте evidence і decision / service owners; відрепетируйте fallback. Це можна почати з наявними людьми. Наступний ресурсний слайд дає матеріали для такого першого кроку.</a:t>
            </a:r>
          </a:p>
          <a:p xmlns:a="http://schemas.openxmlformats.org/drawingml/2006/main">
            <a:r>
              <a:t/>
            </a:r>
          </a:p>
          <a:p xmlns:a="http://schemas.openxmlformats.org/drawingml/2006/main">
            <a:r>
              <a:t>Поточне пояснення: наскрізний приклад і рішення.</a:t>
            </a:r>
          </a:p>
          <a:p xmlns:a="http://schemas.openxmlformats.org/drawingml/2006/main">
            <a:r>
              <a:t>Практичний перший крок після доповіді: обрати один workflow відновлення доступу, визначити observable useful outcome й погоджені межі, призначити існуючих відповідальних за evidence / decisions / operations та відрепетирувати support fallback. Порівняти evidence з погодженими умовами і вирішити continue, narrow або stop. Розмір controls залежить від consequences, authority й reversibility, показаних на 12, а не від вимоги максимальної governance до кожного AI feature. Existing team cadence включає ці рішення в planning, роботу, review й operations. Laboratory loop доповнює delivery commitments; він не є підставою для нескінченного експерименту без критеріїв рішення.</a:t>
            </a:r>
          </a:p>
          <a:p xmlns:a="http://schemas.openxmlformats.org/drawingml/2006/main">
            <a:r>
              <a:t/>
            </a:r>
          </a:p>
          <a:p xmlns:a="http://schemas.openxmlformats.org/drawingml/2006/main">
            <a:r>
              <a:t>Sources:</a:t>
            </a:r>
          </a:p>
          <a:p xmlns:a="http://schemas.openxmlformats.org/drawingml/2006/main">
            <a:r>
              <a:t>https://github.com/UncertaintyArchitectureGroup/uncertainty-architecture/blob/main/content/raw/Designing%20Non-Deterministic%20Systems%3A%20Maintaining%20Engineering%20Rigor%20in%20the%20AI%20Era.pdf#page=20</a:t>
            </a:r>
          </a:p>
          <a:p xmlns:a="http://schemas.openxmlformats.org/drawingml/2006/main">
            <a:r>
              <a:t>https://github.com/UncertaintyArchitectureGroup/uncertainty-architecture/blob/main/content/raw/Designing%20Non-Deterministic%20Systems%3A%20Maintaining%20Engineering%20Rigor%20in%20the%20AI%20Era.pdf#page=22</a:t>
            </a:r>
          </a:p>
          <a:p xmlns:a="http://schemas.openxmlformats.org/drawingml/2006/main">
            <a:r>
              <a:t>https://github.com/UncertaintyArchitectureGroup/uncertainty-architecture/blob/main/01-patterns/thinking-system-review.md</a:t>
            </a:r>
          </a:p>
          <a:p xmlns:a="http://schemas.openxmlformats.org/drawingml/2006/main">
            <a:r>
              <a:t>https://scrumguides.org/scrum-guide.html</a:t>
            </a:r>
          </a:p>
          <a:p xmlns:a="http://schemas.openxmlformats.org/drawingml/2006/main">
            <a:r>
              <a:t/>
            </a:r>
          </a:p>
          <a:p xmlns:a="http://schemas.openxmlformats.org/drawingml/2006/main">
            <a:r>
              <a:t>Уточнення v20 — поточна екранна редакція, 23.09.2026:</a:t>
            </a:r>
          </a:p>
          <a:p xmlns:a="http://schemas.openxmlformats.org/drawingml/2006/main">
            <a:r>
              <a:t>Верхній empirical loop не змінено. Нижня частина розрізняє review evidence від окремого authorized release checkpoint між review та operation. Review з Product/PO і командою аналізує evidence та uncertainty; release/risk owner окремо авторизує scope і residual risk у своїх повноваженнях. Це логічне розділення рішень, не нова обов’язкова Scrum ceremony, не waterfall і не дозвіл обійти обов’язкову заборону. До дозволеного trial з реальним exposure також потрібна відповідна авторизація. Короткий practical first step стоїть над фінальним висновком: More capability still requires engineering responsibility. HOW/WHAT outcomes і production feedback збережені.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Завершальний слайд із двома перевіреними публічними репозиторіями. Uncertainty Architecture — концептуальна рамка, специфікація та практичні матеріали про проєктування й керування Thinking Systems. Не представляємо її як готовий універсальний software engine. The Subprime Code Crisis — дослідницький синтез про AI-assisted delivery, review/QA/architecture/maintenance, людське розуміння й ownership. QR-коди кодують точно надруковані цільові GitHub URL без стороннього redirect. Email і LinkedIn для продовження розмови. Це Q&amp;A ресурсний слайд, який не змінює змістовний фінал 14.</a:t>
            </a:r>
          </a:p>
          <a:p xmlns:a="http://schemas.openxmlformats.org/drawingml/2006/main">
            <a:r>
              <a:t/>
            </a:r>
          </a:p>
          <a:p xmlns:a="http://schemas.openxmlformats.org/drawingml/2006/main">
            <a:r>
              <a:t>Sources:</a:t>
            </a:r>
          </a:p>
          <a:p xmlns:a="http://schemas.openxmlformats.org/drawingml/2006/main">
            <a:r>
              <a:t>https://github.com/UncertaintyArchitectureGroup/uncertainty-architecture</a:t>
            </a:r>
          </a:p>
          <a:p xmlns:a="http://schemas.openxmlformats.org/drawingml/2006/main">
            <a:r>
              <a:t>https://github.com/UncertaintyArchitectureGroup/The-Subprime-Code-Crisis</a:t>
            </a:r>
          </a:p>
          <a:p xmlns:a="http://schemas.openxmlformats.org/drawingml/2006/main">
            <a:r>
              <a:t>https://www.linkedin.com/in/vitaliioborskyi/</a:t>
            </a:r>
          </a:p>
          <a:p xmlns:a="http://schemas.openxmlformats.org/drawingml/2006/main">
            <a:r>
              <a:t/>
            </a:r>
          </a:p>
          <a:p xmlns:a="http://schemas.openxmlformats.org/drawingml/2006/main">
            <a:r>
              <a:t>Уточнення v20 — поточна екранна редакція, 23.09.2026:</a:t>
            </a:r>
          </a:p>
          <a:p xmlns:a="http://schemas.openxmlformats.org/drawingml/2006/main">
            <a:r>
              <a:t>WHAT WE BUILD та HOW WE BUILD розміщені окремими короткими підписами над відповідними ресурсами, щоб замкнути дві частини першого слайда. Обидва QR-коди, їхні зображення, розміри, розташування та hyperlink destinations збережено без зміни.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bd2e703fd24a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73c1d173564b4f" /><Relationship Type="http://schemas.openxmlformats.org/officeDocument/2006/relationships/slideLayout" Target="/ppt/slideLayouts/slideLayout1.xml" Id="R0b75c7eef27048f8"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b75c7eef27048f8"/>
  </p:sldLayoutIdLst>
  <p:txStyles>
    <p:titleStyle>
      <a:lvl1pPr algn="l">
        <a:lnSpc>
          <a:spcPct val="90000"/>
        </a:lnSpc>
        <a:spcBef>
          <a:spcPts val="0"/>
        </a:spcBef>
        <a:buNone/>
        <a:defRPr sz="4400">
          <a:solidFill>
            <a:schemeClr val="tx1"/>
          </a:solidFill>
          <a:latin typeface="Arial"/>
          <a:ea typeface="Arial"/>
          <a:cs typeface="Arial"/>
        </a:defRPr>
      </a:lvl1pPr>
    </p:titleStyle>
    <p:bodyStyle>
      <a:lvl1pPr marL="228600" indent="-228600" algn="l">
        <a:lnSpc>
          <a:spcPct val="90000"/>
        </a:lnSpc>
        <a:spcBef>
          <a:spcPts val="1000"/>
        </a:spcBef>
        <a:buChar char="•"/>
        <a:defRPr sz="2800">
          <a:solidFill>
            <a:schemeClr val="tx1"/>
          </a:solidFill>
          <a:latin typeface="Arial"/>
          <a:ea typeface="Arial"/>
          <a:cs typeface="Arial"/>
        </a:defRPr>
      </a:lvl1pPr>
      <a:lvl2pPr marL="685800" indent="-228600" algn="l">
        <a:lnSpc>
          <a:spcPct val="90000"/>
        </a:lnSpc>
        <a:spcBef>
          <a:spcPts val="500"/>
        </a:spcBef>
        <a:buChar char="•"/>
        <a:defRPr sz="2400">
          <a:solidFill>
            <a:schemeClr val="tx1"/>
          </a:solidFill>
          <a:latin typeface="Arial"/>
          <a:ea typeface="Arial"/>
          <a:cs typeface="Arial"/>
        </a:defRPr>
      </a:lvl2pPr>
      <a:lvl3pPr marL="1143000" indent="-228600" algn="l">
        <a:lnSpc>
          <a:spcPct val="90000"/>
        </a:lnSpc>
        <a:spcBef>
          <a:spcPts val="500"/>
        </a:spcBef>
        <a:buChar char="•"/>
        <a:defRPr sz="2000">
          <a:solidFill>
            <a:schemeClr val="tx1"/>
          </a:solidFill>
          <a:latin typeface="Arial"/>
          <a:ea typeface="Arial"/>
          <a:cs typeface="Arial"/>
        </a:defRPr>
      </a:lvl3pPr>
      <a:lvl4pPr marL="1600200" indent="-228600" algn="l">
        <a:lnSpc>
          <a:spcPct val="90000"/>
        </a:lnSpc>
        <a:spcBef>
          <a:spcPts val="500"/>
        </a:spcBef>
        <a:buChar char="•"/>
        <a:defRPr sz="1800">
          <a:solidFill>
            <a:schemeClr val="tx1"/>
          </a:solidFill>
          <a:latin typeface="Arial"/>
          <a:ea typeface="Arial"/>
          <a:cs typeface="Arial"/>
        </a:defRPr>
      </a:lvl4pPr>
      <a:lvl5pPr marL="2057400" indent="-228600" algn="l">
        <a:lnSpc>
          <a:spcPct val="90000"/>
        </a:lnSpc>
        <a:spcBef>
          <a:spcPts val="500"/>
        </a:spcBef>
        <a:buChar char="•"/>
        <a:defRPr sz="1800">
          <a:solidFill>
            <a:schemeClr val="tx1"/>
          </a:solidFill>
          <a:latin typeface="Arial"/>
          <a:ea typeface="Arial"/>
          <a:cs typeface="Arial"/>
        </a:defRPr>
      </a:lvl5pPr>
      <a:lvl6pPr marL="2514600" indent="-228600" algn="l">
        <a:lnSpc>
          <a:spcPct val="90000"/>
        </a:lnSpc>
        <a:spcBef>
          <a:spcPts val="500"/>
        </a:spcBef>
        <a:buChar char="•"/>
        <a:defRPr sz="1800">
          <a:solidFill>
            <a:schemeClr val="tx1"/>
          </a:solidFill>
          <a:latin typeface="Arial"/>
          <a:ea typeface="Arial"/>
          <a:cs typeface="Arial"/>
        </a:defRPr>
      </a:lvl6pPr>
      <a:lvl7pPr marL="2971800" indent="-228600" algn="l">
        <a:lnSpc>
          <a:spcPct val="90000"/>
        </a:lnSpc>
        <a:spcBef>
          <a:spcPts val="500"/>
        </a:spcBef>
        <a:buChar char="•"/>
        <a:defRPr sz="1800">
          <a:solidFill>
            <a:schemeClr val="tx1"/>
          </a:solidFill>
          <a:latin typeface="Arial"/>
          <a:ea typeface="Arial"/>
          <a:cs typeface="Arial"/>
        </a:defRPr>
      </a:lvl7pPr>
      <a:lvl8pPr marL="3429000" indent="-228600" algn="l">
        <a:lnSpc>
          <a:spcPct val="90000"/>
        </a:lnSpc>
        <a:spcBef>
          <a:spcPts val="500"/>
        </a:spcBef>
        <a:buChar char="•"/>
        <a:defRPr sz="1800">
          <a:solidFill>
            <a:schemeClr val="tx1"/>
          </a:solidFill>
          <a:latin typeface="Arial"/>
          <a:ea typeface="Arial"/>
          <a:cs typeface="Arial"/>
        </a:defRPr>
      </a:lvl8pPr>
      <a:lvl9pPr marL="3886200" indent="-228600" algn="l">
        <a:lnSpc>
          <a:spcPct val="90000"/>
        </a:lnSpc>
        <a:spcBef>
          <a:spcPts val="500"/>
        </a:spcBef>
        <a:buChar char="•"/>
        <a:defRPr sz="1800">
          <a:solidFill>
            <a:schemeClr val="tx1"/>
          </a:solidFill>
          <a:latin typeface="Arial"/>
          <a:ea typeface="Arial"/>
          <a:cs typeface="Arial"/>
        </a:defRPr>
      </a:lvl9pPr>
    </p:bodyStyle>
    <p:otherStyle>
      <a:lvl1pPr marL="0" algn="l">
        <a:buNone/>
        <a:defRPr sz="1800">
          <a:solidFill>
            <a:schemeClr val="tx1"/>
          </a:solidFill>
          <a:latin typeface="Arial"/>
          <a:ea typeface="Arial"/>
          <a:cs typeface="Arial"/>
        </a:defRPr>
      </a:lvl1pPr>
      <a:lvl2pPr marL="457200" algn="l">
        <a:buNone/>
        <a:defRPr sz="1800">
          <a:solidFill>
            <a:schemeClr val="tx1"/>
          </a:solidFill>
          <a:latin typeface="Arial"/>
          <a:ea typeface="Arial"/>
          <a:cs typeface="Arial"/>
        </a:defRPr>
      </a:lvl2pPr>
      <a:lvl3pPr marL="914400" algn="l">
        <a:buNone/>
        <a:defRPr sz="1800">
          <a:solidFill>
            <a:schemeClr val="tx1"/>
          </a:solidFill>
          <a:latin typeface="Arial"/>
          <a:ea typeface="Arial"/>
          <a:cs typeface="Arial"/>
        </a:defRPr>
      </a:lvl3pPr>
      <a:lvl4pPr marL="1371600" algn="l">
        <a:buNone/>
        <a:defRPr sz="1800">
          <a:solidFill>
            <a:schemeClr val="tx1"/>
          </a:solidFill>
          <a:latin typeface="Arial"/>
          <a:ea typeface="Arial"/>
          <a:cs typeface="Arial"/>
        </a:defRPr>
      </a:lvl4pPr>
      <a:lvl5pPr marL="1828800" algn="l">
        <a:buNone/>
        <a:defRPr sz="1800">
          <a:solidFill>
            <a:schemeClr val="tx1"/>
          </a:solidFill>
          <a:latin typeface="Arial"/>
          <a:ea typeface="Arial"/>
          <a:cs typeface="Arial"/>
        </a:defRPr>
      </a:lvl5pPr>
      <a:lvl6pPr marL="2286000" algn="l">
        <a:buNone/>
        <a:defRPr sz="1800">
          <a:solidFill>
            <a:schemeClr val="tx1"/>
          </a:solidFill>
          <a:latin typeface="Arial"/>
          <a:ea typeface="Arial"/>
          <a:cs typeface="Arial"/>
        </a:defRPr>
      </a:lvl6pPr>
      <a:lvl7pPr marL="2743200" algn="l">
        <a:buNone/>
        <a:defRPr sz="1800">
          <a:solidFill>
            <a:schemeClr val="tx1"/>
          </a:solidFill>
          <a:latin typeface="Arial"/>
          <a:ea typeface="Arial"/>
          <a:cs typeface="Arial"/>
        </a:defRPr>
      </a:lvl7pPr>
      <a:lvl8pPr marL="3200400" algn="l">
        <a:buNone/>
        <a:defRPr sz="1800">
          <a:solidFill>
            <a:schemeClr val="tx1"/>
          </a:solidFill>
          <a:latin typeface="Arial"/>
          <a:ea typeface="Arial"/>
          <a:cs typeface="Arial"/>
        </a:defRPr>
      </a:lvl8pPr>
      <a:lvl9pPr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2d9a0375a24bc1" /><Relationship Type="http://schemas.openxmlformats.org/officeDocument/2006/relationships/image" Target="/ppt/media/image.png" Id="R752456a39a79417e" /><Relationship Type="http://schemas.openxmlformats.org/officeDocument/2006/relationships/hyperlink" Target="mailto:oborskyivitalii@gmail.com" TargetMode="External" Id="R17027a26a94b4451" /><Relationship Type="http://schemas.openxmlformats.org/officeDocument/2006/relationships/hyperlink" Target="https://www.linkedin.com/in/vitaliioborskyi/" TargetMode="External" Id="R7a171b86e0804603" /><Relationship Type="http://schemas.openxmlformats.org/officeDocument/2006/relationships/notesSlide" Target="/ppt/notesSlides/notesSlide1.xml" Id="Rdb1ebc5caf3148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54389ec8fa48b8" /><Relationship Type="http://schemas.openxmlformats.org/officeDocument/2006/relationships/notesSlide" Target="/ppt/notesSlides/notesSlide2.xml" Id="Rf343e29db57c42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0125ccc8664d4c" /><Relationship Type="http://schemas.openxmlformats.org/officeDocument/2006/relationships/notesSlide" Target="/ppt/notesSlides/notesSlide3.xml" Id="R5eab4385382349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9004a118c1437e" /><Relationship Type="http://schemas.openxmlformats.org/officeDocument/2006/relationships/notesSlide" Target="/ppt/notesSlides/notesSlide4.xml" Id="Rd238a0285ec64e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bb361d858f4af7" /><Relationship Type="http://schemas.openxmlformats.org/officeDocument/2006/relationships/notesSlide" Target="/ppt/notesSlides/notesSlide5.xml" Id="R78db17496bbe4d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2ccaa5485a4126" /><Relationship Type="http://schemas.openxmlformats.org/officeDocument/2006/relationships/notesSlide" Target="/ppt/notesSlides/notesSlide6.xml" Id="R233fae7a606948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f9f187f460426e" /><Relationship Type="http://schemas.openxmlformats.org/officeDocument/2006/relationships/notesSlide" Target="/ppt/notesSlides/notesSlide7.xml" Id="R228a9702592047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0a3b2ae28a4e39" /><Relationship Type="http://schemas.openxmlformats.org/officeDocument/2006/relationships/notesSlide" Target="/ppt/notesSlides/notesSlide8.xml" Id="R5288bb20b73c40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fcc9ca54284dcb" /><Relationship Type="http://schemas.openxmlformats.org/officeDocument/2006/relationships/notesSlide" Target="/ppt/notesSlides/notesSlide9.xml" Id="Rb0714af81e2747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54e7408afc476d" /><Relationship Type="http://schemas.openxmlformats.org/officeDocument/2006/relationships/chart" Target="/ppt/slides/charts/chart1.xml" Id="R453f2a10e4824eca" /><Relationship Type="http://schemas.openxmlformats.org/officeDocument/2006/relationships/notesSlide" Target="/ppt/notesSlides/notesSlide10.xml" Id="R3c55ec64133f4e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e1b2b7ffd348e8" /><Relationship Type="http://schemas.openxmlformats.org/officeDocument/2006/relationships/notesSlide" Target="/ppt/notesSlides/notesSlide11.xml" Id="Re467bc55af3d40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4954b844074429" /><Relationship Type="http://schemas.openxmlformats.org/officeDocument/2006/relationships/notesSlide" Target="/ppt/notesSlides/notesSlide12.xml" Id="Rd1fff30fb6a44b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1cec5741854642" /><Relationship Type="http://schemas.openxmlformats.org/officeDocument/2006/relationships/notesSlide" Target="/ppt/notesSlides/notesSlide13.xml" Id="R7d7a12f160614f5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d36c32ff5f946b1" /><Relationship Type="http://schemas.openxmlformats.org/officeDocument/2006/relationships/notesSlide" Target="/ppt/notesSlides/notesSlide14.xml" Id="R78c9cef031df4f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1dfdf27d1a84ddb" /><Relationship Type="http://schemas.openxmlformats.org/officeDocument/2006/relationships/image" Target="/ppt/media/image2.png" Id="R80e071b309794530" /><Relationship Type="http://schemas.openxmlformats.org/officeDocument/2006/relationships/hyperlink" Target="https://github.com/UncertaintyArchitectureGroup/uncertainty-architecture" TargetMode="External" Id="Rf1f89aa43b224a61" /><Relationship Type="http://schemas.openxmlformats.org/officeDocument/2006/relationships/hyperlink" Target="https://github.com/UncertaintyArchitectureGroup/uncertainty-architecture" TargetMode="External" Id="R0cb4232a2dbf467f" /><Relationship Type="http://schemas.openxmlformats.org/officeDocument/2006/relationships/image" Target="/ppt/media/image3.png" Id="R67ee99641e074be5" /><Relationship Type="http://schemas.openxmlformats.org/officeDocument/2006/relationships/hyperlink" Target="https://github.com/UncertaintyArchitectureGroup/The-Subprime-Code-Crisis" TargetMode="External" Id="Rb3d6c167f91f4b5d" /><Relationship Type="http://schemas.openxmlformats.org/officeDocument/2006/relationships/hyperlink" Target="https://github.com/UncertaintyArchitectureGroup/The-Subprime-Code-Crisis" TargetMode="External" Id="Rf827061a85a34841" /><Relationship Type="http://schemas.openxmlformats.org/officeDocument/2006/relationships/hyperlink" Target="mailto:oborskyivitalii@gmail.com" TargetMode="External" Id="R4dbbd2d3dc374171" /><Relationship Type="http://schemas.openxmlformats.org/officeDocument/2006/relationships/hyperlink" Target="https://www.linkedin.com/in/vitaliioborskyi/" TargetMode="External" Id="R45f12a51f4cf4665" /><Relationship Type="http://schemas.openxmlformats.org/officeDocument/2006/relationships/notesSlide" Target="/ppt/notesSlides/notesSlide15.xml" Id="R6527151afdde41f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outputs</c:v>
          </c:tx>
          <c:spPr>
            <a:solidFill xmlns:a="http://schemas.openxmlformats.org/drawingml/2006/main">
              <a:srgbClr val="28C7F7"/>
            </a:solidFill>
          </c:spPr>
          <c:dPt>
            <c:idx val="0"/>
            <c:invertIfNegative val="0"/>
            <c:spPr>
              <a:solidFill xmlns:a="http://schemas.openxmlformats.org/drawingml/2006/main">
                <a:srgbClr val="28C7F7"/>
              </a:solidFill>
              <a:ln xmlns:a="http://schemas.openxmlformats.org/drawingml/2006/main" w="0">
                <a:noFill/>
              </a:ln>
            </c:spPr>
          </c:dPt>
          <c:dPt>
            <c:idx val="1"/>
            <c:invertIfNegative val="0"/>
            <c:spPr>
              <a:solidFill xmlns:a="http://schemas.openxmlformats.org/drawingml/2006/main">
                <a:srgbClr val="F5B61C"/>
              </a:solidFill>
              <a:ln xmlns:a="http://schemas.openxmlformats.org/drawingml/2006/main" w="0">
                <a:noFill/>
              </a:ln>
            </c:spPr>
          </c:dPt>
          <c:dPt>
            <c:idx val="2"/>
            <c:invertIfNegative val="0"/>
            <c:spPr>
              <a:solidFill xmlns:a="http://schemas.openxmlformats.org/drawingml/2006/main">
                <a:srgbClr val="FF6B75"/>
              </a:solidFill>
              <a:ln xmlns:a="http://schemas.openxmlformats.org/drawingml/2006/main" w="0">
                <a:noFill/>
              </a:ln>
            </c:spPr>
          </c:dPt>
          <c:cat>
            <c:strRef>
              <c:f>'Chart Data'!$A$2:$A$4</c:f>
              <c:strCache>
                <c:ptCount val="3"/>
                <c:pt idx="0">
                  <c:v>Acceptable</c:v>
                </c:pt>
                <c:pt idx="1">
                  <c:v>Incorrect steps</c:v>
                </c:pt>
                <c:pt idx="2">
                  <c:v>Privacy leak</c:v>
                </c:pt>
              </c:strCache>
            </c:strRef>
          </c:cat>
          <c:val>
            <c:numRef>
              <c:f>'Chart Data'!$B$2:$B$4</c:f>
              <c:numCache>
                <c:formatCode>0</c:formatCode>
                <c:ptCount val="3"/>
                <c:pt idx="0">
                  <c:v>196</c:v>
                </c:pt>
                <c:pt idx="1">
                  <c:v>3</c:v>
                </c:pt>
                <c:pt idx="2">
                  <c:v>1</c:v>
                </c:pt>
              </c:numCache>
            </c:numRef>
          </c:val>
        </c:ser>
        <c:dLbls>
          <c:spPr>
            <a:noFill xmlns:a="http://schemas.openxmlformats.org/drawingml/2006/main"/>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b="1">
                  <a:solidFill>
                    <a:srgbClr val="F4F7FA"/>
                  </a:solidFill>
                  <a:latin typeface="Arial"/>
                  <a:ea typeface="Arial"/>
                  <a:cs typeface="Arial"/>
                </a:defRPr>
              </a:pPr>
            </a:p>
          </c:txPr>
          <c:dLblPos val="outEnd"/>
          <c:showLegendKey val="0"/>
          <c:showVal val="0"/>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44454"/>
            </a:solidFill>
          </a:ln>
        </c:spPr>
        <c:txPr>
          <a:bodyPr xmlns:a="http://schemas.openxmlformats.org/drawingml/2006/main" anchorCtr="1"/>
          <a:lstStyle xmlns:a="http://schemas.openxmlformats.org/drawingml/2006/main"/>
          <a:p xmlns:a="http://schemas.openxmlformats.org/drawingml/2006/main">
            <a:pPr>
              <a:defRPr sz="1200">
                <a:solidFill>
                  <a:srgbClr val="ADB8C5"/>
                </a:solidFill>
                <a:latin typeface="Arial"/>
                <a:ea typeface="Arial"/>
                <a:cs typeface="Arial"/>
              </a:defRPr>
            </a:pPr>
          </a:p>
        </c:txPr>
        <c:crossAx val="48672768"/>
      </c:catAx>
      <c:valAx>
        <c:axId val="48672768"/>
        <c:scaling>
          <c:orientation val="minMax"/>
          <c:max val="200"/>
          <c:min val="0"/>
        </c:scaling>
        <c:delete val="0"/>
        <c:axPos val="l"/>
        <c:majorGridlines>
          <c:spPr>
            <a:ln xmlns:a="http://schemas.openxmlformats.org/drawingml/2006/main" w="9525">
              <a:solidFill>
                <a:srgbClr val="344454"/>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ADB8C5"/>
                </a:solidFill>
                <a:latin typeface="Arial"/>
                <a:ea typeface="Arial"/>
                <a:cs typeface="Arial"/>
              </a:defRPr>
            </a:pPr>
          </a:p>
        </c:txPr>
        <c:crossAx val="48650112"/>
        <c:crossBetween val="between"/>
        <c:majorUnit val="100"/>
      </c:valAx>
      <c:spPr>
        <a:solidFill xmlns:a="http://schemas.openxmlformats.org/drawingml/2006/main">
          <a:srgbClr val="0B0F14"/>
        </a:solidFill>
        <a:ln xmlns:a="http://schemas.openxmlformats.org/drawingml/2006/main" w="0">
          <a:noFill/>
        </a:ln>
      </c:spPr>
    </c:plotArea>
    <c:plotVisOnly val="1"/>
  </c:chart>
  <c:spPr>
    <a:solidFill xmlns:a="http://schemas.openxmlformats.org/drawingml/2006/main">
      <a:srgbClr val="0B0F14"/>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1B05E4A-E3C6-4871-9F17-A96F05AF126D}"/>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CB72DDAD-E273-4A41-99F9-B0BBC87A05EA}"/>
              </a:ext>
            </a:extLst>
          </p:cNvPr>
          <p:cNvSpPr>
            <a:spLocks xmlns:a="http://schemas.openxmlformats.org/drawingml/2006/main" noGrp="1"/>
          </p:cNvSpPr>
          <p:nvPr/>
        </p:nvSpPr>
        <p:spPr>
          <a:xfrm xmlns:a="http://schemas.openxmlformats.org/drawingml/2006/main">
            <a:off x="609600" y="342900"/>
            <a:ext cx="1057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F4F7FA"/>
                </a:solidFill>
                <a:latin typeface="Arial"/>
                <a:ea typeface="Arial"/>
                <a:cs typeface="Arial"/>
              </a:defRPr>
            </a:pPr>
            <a:r>
              <a:rPr sz="3450" b="1">
                <a:solidFill>
                  <a:srgbClr val="F4F7FA"/>
                </a:solidFill>
                <a:latin typeface="Arial"/>
                <a:ea typeface="Arial"/>
                <a:cs typeface="Arial"/>
              </a:rPr>
              <a:t>AI Changes the Delivery System</a:t>
            </a:r>
          </a:p>
          <a:p xmlns:a="http://schemas.openxmlformats.org/drawingml/2006/main">
            <a:pPr algn="l">
              <a:defRPr sz="3450" b="1">
                <a:solidFill>
                  <a:srgbClr val="F4F7FA"/>
                </a:solidFill>
                <a:latin typeface="Arial"/>
                <a:ea typeface="Arial"/>
                <a:cs typeface="Arial"/>
              </a:defRPr>
            </a:pPr>
            <a:r>
              <a:rPr sz="3450" b="1">
                <a:solidFill>
                  <a:srgbClr val="F4F7FA"/>
                </a:solidFill>
                <a:latin typeface="Arial"/>
                <a:ea typeface="Arial"/>
                <a:cs typeface="Arial"/>
              </a:rPr>
              <a:t>and the Product Itself</a:t>
            </a:r>
          </a:p>
        </p:txBody>
      </p:sp>
      <p:sp>
        <p:nvSpPr>
          <p:cNvPr id="3" name="">
            <a:extLst xmlns:a="http://schemas.openxmlformats.org/drawingml/2006/main">
              <a:ext uri="{FF2B5EF4-FFF2-40B4-BE49-F238E27FC236}">
                <a16:creationId xmlns:a16="http://schemas.microsoft.com/office/drawing/2014/main" id="{8D81B2E8-658E-4DA9-9ADE-4AEFF89E965A}"/>
              </a:ext>
            </a:extLst>
          </p:cNvPr>
          <p:cNvSpPr>
            <a:spLocks xmlns:a="http://schemas.openxmlformats.org/drawingml/2006/main" noGrp="1"/>
          </p:cNvSpPr>
          <p:nvPr/>
        </p:nvSpPr>
        <p:spPr>
          <a:xfrm xmlns:a="http://schemas.openxmlformats.org/drawingml/2006/main">
            <a:off x="609600" y="1704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ADB8C5"/>
                </a:solidFill>
                <a:latin typeface="Arial"/>
                <a:ea typeface="Arial"/>
                <a:cs typeface="Arial"/>
              </a:defRPr>
            </a:pPr>
            <a:r>
              <a:rPr sz="2025" b="0">
                <a:solidFill>
                  <a:srgbClr val="ADB8C5"/>
                </a:solidFill>
                <a:latin typeface="Arial"/>
                <a:ea typeface="Arial"/>
                <a:cs typeface="Arial"/>
              </a:rPr>
              <a:t>New capabilities shift constraints. Engineering must adapt around them.</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52456a39a79417e"/>
          <a:stretch xmlns:a="http://schemas.openxmlformats.org/drawingml/2006/main"/>
        </p:blipFill>
        <p:spPr>
          <a:xfrm xmlns:a="http://schemas.openxmlformats.org/drawingml/2006/main">
            <a:off x="1809750" y="2200275"/>
            <a:ext cx="8572500" cy="2857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2F9AD7-F472-4F28-8656-077F95D1851F}"/>
              </a:ext>
            </a:extLst>
          </p:cNvPr>
          <p:cNvSpPr>
            <a:spLocks xmlns:a="http://schemas.openxmlformats.org/drawingml/2006/main" noGrp="1"/>
          </p:cNvSpPr>
          <p:nvPr/>
        </p:nvSpPr>
        <p:spPr>
          <a:xfrm xmlns:a="http://schemas.openxmlformats.org/drawingml/2006/main">
            <a:off x="914400" y="5143500"/>
            <a:ext cx="4800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HOW WE BUILD</a:t>
            </a:r>
          </a:p>
        </p:txBody>
      </p:sp>
      <p:sp>
        <p:nvSpPr>
          <p:cNvPr id="6" name="">
            <a:extLst xmlns:a="http://schemas.openxmlformats.org/drawingml/2006/main">
              <a:ext uri="{FF2B5EF4-FFF2-40B4-BE49-F238E27FC236}">
                <a16:creationId xmlns:a16="http://schemas.microsoft.com/office/drawing/2014/main" id="{C282D889-516F-46D7-8EFB-2AFB9D4D8CDE}"/>
              </a:ext>
            </a:extLst>
          </p:cNvPr>
          <p:cNvSpPr>
            <a:spLocks xmlns:a="http://schemas.openxmlformats.org/drawingml/2006/main" noGrp="1"/>
          </p:cNvSpPr>
          <p:nvPr/>
        </p:nvSpPr>
        <p:spPr>
          <a:xfrm xmlns:a="http://schemas.openxmlformats.org/drawingml/2006/main">
            <a:off x="914400" y="547687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F4F7FA"/>
                </a:solidFill>
                <a:latin typeface="Arial"/>
                <a:ea typeface="Arial"/>
                <a:cs typeface="Arial"/>
              </a:defRPr>
            </a:pPr>
            <a:r>
              <a:rPr sz="1800" b="0">
                <a:solidFill>
                  <a:srgbClr val="F4F7FA"/>
                </a:solidFill>
                <a:latin typeface="Arial"/>
                <a:ea typeface="Arial"/>
                <a:cs typeface="Arial"/>
              </a:rPr>
              <a:t>AI helps a developer write software.</a:t>
            </a:r>
          </a:p>
        </p:txBody>
      </p:sp>
      <p:sp>
        <p:nvSpPr>
          <p:cNvPr id="7" name="">
            <a:extLst xmlns:a="http://schemas.openxmlformats.org/drawingml/2006/main">
              <a:ext uri="{FF2B5EF4-FFF2-40B4-BE49-F238E27FC236}">
                <a16:creationId xmlns:a16="http://schemas.microsoft.com/office/drawing/2014/main" id="{B0B78FDF-D60E-4CC6-AF39-7370E1C79A62}"/>
              </a:ext>
            </a:extLst>
          </p:cNvPr>
          <p:cNvSpPr>
            <a:spLocks xmlns:a="http://schemas.openxmlformats.org/drawingml/2006/main" noGrp="1"/>
          </p:cNvSpPr>
          <p:nvPr/>
        </p:nvSpPr>
        <p:spPr>
          <a:xfrm xmlns:a="http://schemas.openxmlformats.org/drawingml/2006/main">
            <a:off x="6477000" y="5143500"/>
            <a:ext cx="4800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5B61C"/>
                </a:solidFill>
                <a:latin typeface="Arial"/>
                <a:ea typeface="Arial"/>
                <a:cs typeface="Arial"/>
              </a:defRPr>
            </a:pPr>
            <a:r>
              <a:rPr sz="1650" b="1">
                <a:solidFill>
                  <a:srgbClr val="F5B61C"/>
                </a:solidFill>
                <a:latin typeface="Arial"/>
                <a:ea typeface="Arial"/>
                <a:cs typeface="Arial"/>
              </a:rPr>
              <a:t>WHAT WE BUILD</a:t>
            </a:r>
          </a:p>
        </p:txBody>
      </p:sp>
      <p:sp>
        <p:nvSpPr>
          <p:cNvPr id="8" name="">
            <a:extLst xmlns:a="http://schemas.openxmlformats.org/drawingml/2006/main">
              <a:ext uri="{FF2B5EF4-FFF2-40B4-BE49-F238E27FC236}">
                <a16:creationId xmlns:a16="http://schemas.microsoft.com/office/drawing/2014/main" id="{9342C989-8DF5-48C0-A43A-64184E21F7C5}"/>
              </a:ext>
            </a:extLst>
          </p:cNvPr>
          <p:cNvSpPr>
            <a:spLocks xmlns:a="http://schemas.openxmlformats.org/drawingml/2006/main" noGrp="1"/>
          </p:cNvSpPr>
          <p:nvPr/>
        </p:nvSpPr>
        <p:spPr>
          <a:xfrm xmlns:a="http://schemas.openxmlformats.org/drawingml/2006/main">
            <a:off x="6477000" y="547687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F4F7FA"/>
                </a:solidFill>
                <a:latin typeface="Arial"/>
                <a:ea typeface="Arial"/>
                <a:cs typeface="Arial"/>
              </a:defRPr>
            </a:pPr>
            <a:r>
              <a:rPr sz="1800" b="0">
                <a:solidFill>
                  <a:srgbClr val="F4F7FA"/>
                </a:solidFill>
                <a:latin typeface="Arial"/>
                <a:ea typeface="Arial"/>
                <a:cs typeface="Arial"/>
              </a:rPr>
              <a:t>AI interprets a user’s request at runtime.</a:t>
            </a:r>
          </a:p>
        </p:txBody>
      </p:sp>
      <p:sp>
        <p:nvSpPr>
          <p:cNvPr id="9" name="">
            <a:extLst xmlns:a="http://schemas.openxmlformats.org/drawingml/2006/main">
              <a:ext uri="{FF2B5EF4-FFF2-40B4-BE49-F238E27FC236}">
                <a16:creationId xmlns:a16="http://schemas.microsoft.com/office/drawing/2014/main" id="{011451D3-B1BD-4FB4-B46A-955EF0243642}"/>
              </a:ext>
            </a:extLst>
          </p:cNvPr>
          <p:cNvSpPr>
            <a:spLocks xmlns:a="http://schemas.openxmlformats.org/drawingml/2006/main" noGrp="1"/>
          </p:cNvSpPr>
          <p:nvPr/>
        </p:nvSpPr>
        <p:spPr>
          <a:xfrm xmlns:a="http://schemas.openxmlformats.org/drawingml/2006/main" flipH="0" flipV="0">
            <a:off x="609600" y="58864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0" name="">
            <a:extLst xmlns:a="http://schemas.openxmlformats.org/drawingml/2006/main">
              <a:ext uri="{FF2B5EF4-FFF2-40B4-BE49-F238E27FC236}">
                <a16:creationId xmlns:a16="http://schemas.microsoft.com/office/drawing/2014/main" id="{E46066CC-5542-4CE3-8836-7918F7EADCF9}"/>
              </a:ext>
            </a:extLst>
          </p:cNvPr>
          <p:cNvSpPr>
            <a:spLocks xmlns:a="http://schemas.openxmlformats.org/drawingml/2006/main" noGrp="1"/>
          </p:cNvSpPr>
          <p:nvPr/>
        </p:nvSpPr>
        <p:spPr>
          <a:xfrm xmlns:a="http://schemas.openxmlformats.org/drawingml/2006/main">
            <a:off x="609600" y="6010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F4F7FA"/>
                </a:solidFill>
                <a:latin typeface="Arial"/>
                <a:ea typeface="Arial"/>
                <a:cs typeface="Arial"/>
              </a:defRPr>
            </a:pPr>
            <a:r>
              <a:rPr sz="1800" b="1">
                <a:solidFill>
                  <a:srgbClr val="F4F7FA"/>
                </a:solidFill>
                <a:latin typeface="Arial"/>
                <a:ea typeface="Arial"/>
                <a:cs typeface="Arial"/>
              </a:rPr>
              <a:t>Vitalii Oborskyi</a:t>
            </a:r>
          </a:p>
        </p:txBody>
      </p:sp>
      <p:sp>
        <p:nvSpPr>
          <p:cNvPr id="11" name="">
            <a:extLst xmlns:a="http://schemas.openxmlformats.org/drawingml/2006/main">
              <a:ext uri="{FF2B5EF4-FFF2-40B4-BE49-F238E27FC236}">
                <a16:creationId xmlns:a16="http://schemas.microsoft.com/office/drawing/2014/main" id="{392F219D-8686-4D91-A55C-166FC58BFF1E}"/>
              </a:ext>
            </a:extLst>
          </p:cNvPr>
          <p:cNvSpPr>
            <a:spLocks xmlns:a="http://schemas.openxmlformats.org/drawingml/2006/main" noGrp="1"/>
          </p:cNvSpPr>
          <p:nvPr/>
        </p:nvSpPr>
        <p:spPr>
          <a:xfrm xmlns:a="http://schemas.openxmlformats.org/drawingml/2006/main">
            <a:off x="3276600" y="6019800"/>
            <a:ext cx="8305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Head of Delivery &amp; PMO · Author of Uncertainty Architecture</a:t>
            </a:r>
          </a:p>
        </p:txBody>
      </p:sp>
      <p:sp>
        <p:nvSpPr>
          <p:cNvPr id="12" name="">
            <a:extLst xmlns:a="http://schemas.openxmlformats.org/drawingml/2006/main">
              <a:ext uri="{FF2B5EF4-FFF2-40B4-BE49-F238E27FC236}">
                <a16:creationId xmlns:a16="http://schemas.microsoft.com/office/drawing/2014/main" id="{0C5F167B-0FE2-44CC-9B54-AC016F7D5AE1}"/>
              </a:ext>
            </a:extLst>
          </p:cNvPr>
          <p:cNvSpPr>
            <a:spLocks xmlns:a="http://schemas.openxmlformats.org/drawingml/2006/main" noGrp="1"/>
          </p:cNvSpPr>
          <p:nvPr/>
        </p:nvSpPr>
        <p:spPr>
          <a:xfrm xmlns:a="http://schemas.openxmlformats.org/drawingml/2006/main">
            <a:off x="609600" y="6419850"/>
            <a:ext cx="4114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28C7F7"/>
                </a:solidFill>
                <a:latin typeface="Arial"/>
                <a:ea typeface="Arial"/>
                <a:cs typeface="Arial"/>
              </a:defRPr>
            </a:pPr>
            <a:r>
              <a:rPr sz="1425" b="0">
                <a:solidFill>
                  <a:srgbClr val="28C7F7"/>
                </a:solidFill>
                <a:latin typeface="Arial"/>
                <a:ea typeface="Arial"/>
                <a:cs typeface="Arial"/>
                <a:hlinkClick xmlns:r="http://schemas.openxmlformats.org/officeDocument/2006/relationships" r:id="R17027a26a94b4451"/>
              </a:rPr>
              <a:t>oborskyivitalii@gmail.com</a:t>
            </a:r>
          </a:p>
        </p:txBody>
      </p:sp>
      <p:sp>
        <p:nvSpPr>
          <p:cNvPr id="13" name="">
            <a:extLst xmlns:a="http://schemas.openxmlformats.org/drawingml/2006/main">
              <a:ext uri="{FF2B5EF4-FFF2-40B4-BE49-F238E27FC236}">
                <a16:creationId xmlns:a16="http://schemas.microsoft.com/office/drawing/2014/main" id="{10282AA3-48A0-4553-9C0D-8D94B519398D}"/>
              </a:ext>
            </a:extLst>
          </p:cNvPr>
          <p:cNvSpPr>
            <a:spLocks xmlns:a="http://schemas.openxmlformats.org/drawingml/2006/main" noGrp="1"/>
          </p:cNvSpPr>
          <p:nvPr/>
        </p:nvSpPr>
        <p:spPr>
          <a:xfrm xmlns:a="http://schemas.openxmlformats.org/drawingml/2006/main">
            <a:off x="4933950" y="6419850"/>
            <a:ext cx="6057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28C7F7"/>
                </a:solidFill>
                <a:latin typeface="Arial"/>
                <a:ea typeface="Arial"/>
                <a:cs typeface="Arial"/>
              </a:defRPr>
            </a:pPr>
            <a:r>
              <a:rPr sz="1425" b="0">
                <a:solidFill>
                  <a:srgbClr val="28C7F7"/>
                </a:solidFill>
                <a:latin typeface="Arial"/>
                <a:ea typeface="Arial"/>
                <a:cs typeface="Arial"/>
                <a:hlinkClick xmlns:r="http://schemas.openxmlformats.org/officeDocument/2006/relationships" r:id="R7a171b86e0804603"/>
              </a:rPr>
              <a:t>https://www.linkedin.com/in/vitaliioborskyi/</a:t>
            </a:r>
          </a:p>
        </p:txBody>
      </p:sp>
    </p:spTree>
    <p:extLst>
      <p:ext uri="{BB962C8B-B14F-4D97-AF65-F5344CB8AC3E}">
        <p14:creationId xmlns:p14="http://schemas.microsoft.com/office/powerpoint/2010/main" val="1842018802"/>
      </p:ext>
    </p:extLst>
  </p:cSld>
</p:sld>
</file>

<file path=ppt/slides/slide2.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21" name=""/>
          <p:cNvCxnSpPr>
            <a:stCxn xmlns:a="http://schemas.openxmlformats.org/drawingml/2006/main" id="8" idx="3"/>
            <a:endCxn xmlns:a="http://schemas.openxmlformats.org/drawingml/2006/main" id="12" idx="1"/>
          </p:cNvCxnSpPr>
          <p:nvPr/>
        </p:nvCxnSpPr>
        <p:spPr>
          <a:xfrm xmlns:a="http://schemas.openxmlformats.org/drawingml/2006/main">
            <a:off x="7524750" y="3367088"/>
            <a:ext cx="742950" cy="0"/>
          </a:xfrm>
          <a:prstGeom xmlns:a="http://schemas.openxmlformats.org/drawingml/2006/main" prst="straightConnector1">
            <a:avLst/>
          </a:prstGeom>
          <a:ln xmlns:a="http://schemas.openxmlformats.org/drawingml/2006/main" w="21908">
            <a:solidFill>
              <a:srgbClr val="F5B61C"/>
            </a:solidFill>
            <a:prstDash val="solid"/>
            <a:tailEnd type="triangle" w="med" len="med"/>
          </a:ln>
        </p:spPr>
      </p:cxnSp>
      <p:cxnSp>
        <p:nvCxnSpPr>
          <p:cNvPr id="22" name=""/>
          <p:cNvCxnSpPr>
            <a:stCxn xmlns:a="http://schemas.openxmlformats.org/drawingml/2006/main" id="4" idx="3"/>
            <a:endCxn xmlns:a="http://schemas.openxmlformats.org/drawingml/2006/main" id="8" idx="1"/>
          </p:cNvCxnSpPr>
          <p:nvPr/>
        </p:nvCxnSpPr>
        <p:spPr>
          <a:xfrm xmlns:a="http://schemas.openxmlformats.org/drawingml/2006/main">
            <a:off x="3924300" y="3367088"/>
            <a:ext cx="742950" cy="0"/>
          </a:xfrm>
          <a:prstGeom xmlns:a="http://schemas.openxmlformats.org/drawingml/2006/main" prst="straightConnector1">
            <a:avLst/>
          </a:prstGeom>
          <a:ln xmlns:a="http://schemas.openxmlformats.org/drawingml/2006/main" w="21908">
            <a:solidFill>
              <a:srgbClr val="28C7F7"/>
            </a:solidFill>
            <a:prstDash val="solid"/>
            <a:tailEnd type="triangle" w="med" len="med"/>
          </a:ln>
        </p:spPr>
      </p:cxnSp>
      <p:sp>
        <p:nvSpPr>
          <p:cNvPr id="23" name="">
            <a:extLst xmlns:a="http://schemas.openxmlformats.org/drawingml/2006/main">
              <a:ext uri="{FF2B5EF4-FFF2-40B4-BE49-F238E27FC236}">
                <a16:creationId xmlns:a16="http://schemas.microsoft.com/office/drawing/2014/main" id="{528AAC6B-B99B-4385-931C-78B86A9311FB}"/>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A New Capability Changes the Delegation Boundary</a:t>
            </a:r>
          </a:p>
        </p:txBody>
      </p:sp>
      <p:sp>
        <p:nvSpPr>
          <p:cNvPr id="2" name="">
            <a:extLst xmlns:a="http://schemas.openxmlformats.org/drawingml/2006/main">
              <a:ext uri="{FF2B5EF4-FFF2-40B4-BE49-F238E27FC236}">
                <a16:creationId xmlns:a16="http://schemas.microsoft.com/office/drawing/2014/main" id="{F1E8D5CB-D6D5-4E16-908F-65B8B1B19817}"/>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32841CC1-88AE-4291-954B-82DA3AD18096}"/>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537DAD96-CA39-4CB1-ACC9-C577EF897ED2}"/>
              </a:ext>
            </a:extLst>
          </p:cNvPr>
          <p:cNvSpPr>
            <a:spLocks xmlns:a="http://schemas.openxmlformats.org/drawingml/2006/main" noGrp="1"/>
          </p:cNvSpPr>
          <p:nvPr/>
        </p:nvSpPr>
        <p:spPr>
          <a:xfrm xmlns:a="http://schemas.openxmlformats.org/drawingml/2006/main">
            <a:off x="1066800" y="2200275"/>
            <a:ext cx="2857500" cy="2333625"/>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5" name="">
            <a:extLst xmlns:a="http://schemas.openxmlformats.org/drawingml/2006/main">
              <a:ext uri="{FF2B5EF4-FFF2-40B4-BE49-F238E27FC236}">
                <a16:creationId xmlns:a16="http://schemas.microsoft.com/office/drawing/2014/main" id="{33B26C84-E8AF-4583-988A-31B2420B5C2F}"/>
              </a:ext>
            </a:extLst>
          </p:cNvPr>
          <p:cNvSpPr>
            <a:spLocks xmlns:a="http://schemas.openxmlformats.org/drawingml/2006/main" noGrp="1"/>
          </p:cNvSpPr>
          <p:nvPr/>
        </p:nvSpPr>
        <p:spPr>
          <a:xfrm xmlns:a="http://schemas.openxmlformats.org/drawingml/2006/main">
            <a:off x="1295400" y="2371725"/>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F4F7FA"/>
                </a:solidFill>
                <a:latin typeface="Arial"/>
                <a:ea typeface="Arial"/>
                <a:cs typeface="Arial"/>
              </a:defRPr>
            </a:pPr>
            <a:r>
              <a:rPr sz="2250" b="1">
                <a:solidFill>
                  <a:srgbClr val="F4F7FA"/>
                </a:solidFill>
                <a:latin typeface="Arial"/>
                <a:ea typeface="Arial"/>
                <a:cs typeface="Arial"/>
              </a:rPr>
              <a:t>Writing</a:t>
            </a:r>
          </a:p>
        </p:txBody>
      </p:sp>
      <p:sp>
        <p:nvSpPr>
          <p:cNvPr id="6" name="">
            <a:extLst xmlns:a="http://schemas.openxmlformats.org/drawingml/2006/main">
              <a:ext uri="{FF2B5EF4-FFF2-40B4-BE49-F238E27FC236}">
                <a16:creationId xmlns:a16="http://schemas.microsoft.com/office/drawing/2014/main" id="{0449133D-F05D-451F-8524-B4F169BFAD42}"/>
              </a:ext>
            </a:extLst>
          </p:cNvPr>
          <p:cNvSpPr>
            <a:spLocks xmlns:a="http://schemas.openxmlformats.org/drawingml/2006/main" noGrp="1"/>
          </p:cNvSpPr>
          <p:nvPr/>
        </p:nvSpPr>
        <p:spPr>
          <a:xfrm xmlns:a="http://schemas.openxmlformats.org/drawingml/2006/main">
            <a:off x="1295400" y="2981325"/>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28C7F7"/>
                </a:solidFill>
                <a:latin typeface="Arial"/>
                <a:ea typeface="Arial"/>
                <a:cs typeface="Arial"/>
              </a:defRPr>
            </a:pPr>
            <a:r>
              <a:rPr sz="2025" b="1">
                <a:solidFill>
                  <a:srgbClr val="28C7F7"/>
                </a:solidFill>
                <a:latin typeface="Arial"/>
                <a:ea typeface="Arial"/>
                <a:cs typeface="Arial"/>
              </a:rPr>
              <a:t>Externalized</a:t>
            </a:r>
          </a:p>
          <a:p xmlns:a="http://schemas.openxmlformats.org/drawingml/2006/main">
            <a:pPr algn="l">
              <a:defRPr sz="2025" b="1">
                <a:solidFill>
                  <a:srgbClr val="28C7F7"/>
                </a:solidFill>
                <a:latin typeface="Arial"/>
                <a:ea typeface="Arial"/>
                <a:cs typeface="Arial"/>
              </a:defRPr>
            </a:pPr>
            <a:r>
              <a:rPr sz="2025" b="1">
                <a:solidFill>
                  <a:srgbClr val="28C7F7"/>
                </a:solidFill>
                <a:latin typeface="Arial"/>
                <a:ea typeface="Arial"/>
                <a:cs typeface="Arial"/>
              </a:rPr>
              <a:t>Memory</a:t>
            </a:r>
          </a:p>
        </p:txBody>
      </p:sp>
      <p:sp>
        <p:nvSpPr>
          <p:cNvPr id="7" name="">
            <a:extLst xmlns:a="http://schemas.openxmlformats.org/drawingml/2006/main">
              <a:ext uri="{FF2B5EF4-FFF2-40B4-BE49-F238E27FC236}">
                <a16:creationId xmlns:a16="http://schemas.microsoft.com/office/drawing/2014/main" id="{6AE9DD88-A2E3-4AFB-B2C0-699D11E865F5}"/>
              </a:ext>
            </a:extLst>
          </p:cNvPr>
          <p:cNvSpPr>
            <a:spLocks xmlns:a="http://schemas.openxmlformats.org/drawingml/2006/main" noGrp="1"/>
          </p:cNvSpPr>
          <p:nvPr/>
        </p:nvSpPr>
        <p:spPr>
          <a:xfrm xmlns:a="http://schemas.openxmlformats.org/drawingml/2006/main">
            <a:off x="1295400" y="3762375"/>
            <a:ext cx="2400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ADB8C5"/>
                </a:solidFill>
                <a:latin typeface="Arial"/>
                <a:ea typeface="Arial"/>
                <a:cs typeface="Arial"/>
              </a:defRPr>
            </a:pPr>
            <a:r>
              <a:rPr sz="1725" b="0">
                <a:solidFill>
                  <a:srgbClr val="ADB8C5"/>
                </a:solidFill>
                <a:latin typeface="Arial"/>
                <a:ea typeface="Arial"/>
                <a:cs typeface="Arial"/>
              </a:rPr>
              <a:t>Records we</a:t>
            </a:r>
          </a:p>
          <a:p xmlns:a="http://schemas.openxmlformats.org/drawingml/2006/main">
            <a:pPr algn="l">
              <a:defRPr sz="1725" b="0">
                <a:solidFill>
                  <a:srgbClr val="ADB8C5"/>
                </a:solidFill>
                <a:latin typeface="Arial"/>
                <a:ea typeface="Arial"/>
                <a:cs typeface="Arial"/>
              </a:defRPr>
            </a:pPr>
            <a:r>
              <a:rPr sz="1725" b="0">
                <a:solidFill>
                  <a:srgbClr val="ADB8C5"/>
                </a:solidFill>
                <a:latin typeface="Arial"/>
                <a:ea typeface="Arial"/>
                <a:cs typeface="Arial"/>
              </a:rPr>
              <a:t>can retrieve</a:t>
            </a:r>
          </a:p>
        </p:txBody>
      </p:sp>
      <p:sp>
        <p:nvSpPr>
          <p:cNvPr id="8" name="">
            <a:extLst xmlns:a="http://schemas.openxmlformats.org/drawingml/2006/main">
              <a:ext uri="{FF2B5EF4-FFF2-40B4-BE49-F238E27FC236}">
                <a16:creationId xmlns:a16="http://schemas.microsoft.com/office/drawing/2014/main" id="{97279A77-22A7-4C04-B433-8C3860C4AFEA}"/>
              </a:ext>
            </a:extLst>
          </p:cNvPr>
          <p:cNvSpPr>
            <a:spLocks xmlns:a="http://schemas.openxmlformats.org/drawingml/2006/main" noGrp="1"/>
          </p:cNvSpPr>
          <p:nvPr/>
        </p:nvSpPr>
        <p:spPr>
          <a:xfrm xmlns:a="http://schemas.openxmlformats.org/drawingml/2006/main">
            <a:off x="4667250" y="2200275"/>
            <a:ext cx="2857500" cy="2333625"/>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9" name="">
            <a:extLst xmlns:a="http://schemas.openxmlformats.org/drawingml/2006/main">
              <a:ext uri="{FF2B5EF4-FFF2-40B4-BE49-F238E27FC236}">
                <a16:creationId xmlns:a16="http://schemas.microsoft.com/office/drawing/2014/main" id="{1E15BC9E-F3D5-479F-89A4-8BFA9576AEDD}"/>
              </a:ext>
            </a:extLst>
          </p:cNvPr>
          <p:cNvSpPr>
            <a:spLocks xmlns:a="http://schemas.openxmlformats.org/drawingml/2006/main" noGrp="1"/>
          </p:cNvSpPr>
          <p:nvPr/>
        </p:nvSpPr>
        <p:spPr>
          <a:xfrm xmlns:a="http://schemas.openxmlformats.org/drawingml/2006/main">
            <a:off x="4895850" y="2371725"/>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F4F7FA"/>
                </a:solidFill>
                <a:latin typeface="Arial"/>
                <a:ea typeface="Arial"/>
                <a:cs typeface="Arial"/>
              </a:defRPr>
            </a:pPr>
            <a:r>
              <a:rPr sz="2250" b="1">
                <a:solidFill>
                  <a:srgbClr val="F4F7FA"/>
                </a:solidFill>
                <a:latin typeface="Arial"/>
                <a:ea typeface="Arial"/>
                <a:cs typeface="Arial"/>
              </a:rPr>
              <a:t>Computers</a:t>
            </a:r>
          </a:p>
        </p:txBody>
      </p:sp>
      <p:sp>
        <p:nvSpPr>
          <p:cNvPr id="10" name="">
            <a:extLst xmlns:a="http://schemas.openxmlformats.org/drawingml/2006/main">
              <a:ext uri="{FF2B5EF4-FFF2-40B4-BE49-F238E27FC236}">
                <a16:creationId xmlns:a16="http://schemas.microsoft.com/office/drawing/2014/main" id="{F05103E1-6535-4F3C-9CB7-0FBE01AAB533}"/>
              </a:ext>
            </a:extLst>
          </p:cNvPr>
          <p:cNvSpPr>
            <a:spLocks xmlns:a="http://schemas.openxmlformats.org/drawingml/2006/main" noGrp="1"/>
          </p:cNvSpPr>
          <p:nvPr/>
        </p:nvSpPr>
        <p:spPr>
          <a:xfrm xmlns:a="http://schemas.openxmlformats.org/drawingml/2006/main">
            <a:off x="4895850" y="2981325"/>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28C7F7"/>
                </a:solidFill>
                <a:latin typeface="Arial"/>
                <a:ea typeface="Arial"/>
                <a:cs typeface="Arial"/>
              </a:defRPr>
            </a:pPr>
            <a:r>
              <a:rPr sz="2025" b="1">
                <a:solidFill>
                  <a:srgbClr val="28C7F7"/>
                </a:solidFill>
                <a:latin typeface="Arial"/>
                <a:ea typeface="Arial"/>
                <a:cs typeface="Arial"/>
              </a:rPr>
              <a:t>Externalized</a:t>
            </a:r>
          </a:p>
          <a:p xmlns:a="http://schemas.openxmlformats.org/drawingml/2006/main">
            <a:pPr algn="l">
              <a:defRPr sz="2025" b="1">
                <a:solidFill>
                  <a:srgbClr val="28C7F7"/>
                </a:solidFill>
                <a:latin typeface="Arial"/>
                <a:ea typeface="Arial"/>
                <a:cs typeface="Arial"/>
              </a:defRPr>
            </a:pPr>
            <a:r>
              <a:rPr sz="2025" b="1">
                <a:solidFill>
                  <a:srgbClr val="28C7F7"/>
                </a:solidFill>
                <a:latin typeface="Arial"/>
                <a:ea typeface="Arial"/>
                <a:cs typeface="Arial"/>
              </a:rPr>
              <a:t>Calculation</a:t>
            </a:r>
          </a:p>
        </p:txBody>
      </p:sp>
      <p:sp>
        <p:nvSpPr>
          <p:cNvPr id="11" name="">
            <a:extLst xmlns:a="http://schemas.openxmlformats.org/drawingml/2006/main">
              <a:ext uri="{FF2B5EF4-FFF2-40B4-BE49-F238E27FC236}">
                <a16:creationId xmlns:a16="http://schemas.microsoft.com/office/drawing/2014/main" id="{7067B0C2-139F-4474-A7E3-524E77511E7A}"/>
              </a:ext>
            </a:extLst>
          </p:cNvPr>
          <p:cNvSpPr>
            <a:spLocks xmlns:a="http://schemas.openxmlformats.org/drawingml/2006/main" noGrp="1"/>
          </p:cNvSpPr>
          <p:nvPr/>
        </p:nvSpPr>
        <p:spPr>
          <a:xfrm xmlns:a="http://schemas.openxmlformats.org/drawingml/2006/main">
            <a:off x="4895850" y="3762375"/>
            <a:ext cx="2400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ADB8C5"/>
                </a:solidFill>
                <a:latin typeface="Arial"/>
                <a:ea typeface="Arial"/>
                <a:cs typeface="Arial"/>
              </a:defRPr>
            </a:pPr>
            <a:r>
              <a:rPr sz="1725" b="0">
                <a:solidFill>
                  <a:srgbClr val="ADB8C5"/>
                </a:solidFill>
                <a:latin typeface="Arial"/>
                <a:ea typeface="Arial"/>
                <a:cs typeface="Arial"/>
              </a:rPr>
              <a:t>Rules we</a:t>
            </a:r>
          </a:p>
          <a:p xmlns:a="http://schemas.openxmlformats.org/drawingml/2006/main">
            <a:pPr algn="l">
              <a:defRPr sz="1725" b="0">
                <a:solidFill>
                  <a:srgbClr val="ADB8C5"/>
                </a:solidFill>
                <a:latin typeface="Arial"/>
                <a:ea typeface="Arial"/>
                <a:cs typeface="Arial"/>
              </a:defRPr>
            </a:pPr>
            <a:r>
              <a:rPr sz="1725" b="0">
                <a:solidFill>
                  <a:srgbClr val="ADB8C5"/>
                </a:solidFill>
                <a:latin typeface="Arial"/>
                <a:ea typeface="Arial"/>
                <a:cs typeface="Arial"/>
              </a:rPr>
              <a:t>explicitly encode</a:t>
            </a:r>
          </a:p>
        </p:txBody>
      </p:sp>
      <p:sp>
        <p:nvSpPr>
          <p:cNvPr id="12" name="">
            <a:extLst xmlns:a="http://schemas.openxmlformats.org/drawingml/2006/main">
              <a:ext uri="{FF2B5EF4-FFF2-40B4-BE49-F238E27FC236}">
                <a16:creationId xmlns:a16="http://schemas.microsoft.com/office/drawing/2014/main" id="{C7F66E2C-8CA8-4004-984F-C750B517D1C2}"/>
              </a:ext>
            </a:extLst>
          </p:cNvPr>
          <p:cNvSpPr>
            <a:spLocks xmlns:a="http://schemas.openxmlformats.org/drawingml/2006/main" noGrp="1"/>
          </p:cNvSpPr>
          <p:nvPr/>
        </p:nvSpPr>
        <p:spPr>
          <a:xfrm xmlns:a="http://schemas.openxmlformats.org/drawingml/2006/main">
            <a:off x="8267700" y="2200275"/>
            <a:ext cx="2857500" cy="2333625"/>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13" name="">
            <a:extLst xmlns:a="http://schemas.openxmlformats.org/drawingml/2006/main">
              <a:ext uri="{FF2B5EF4-FFF2-40B4-BE49-F238E27FC236}">
                <a16:creationId xmlns:a16="http://schemas.microsoft.com/office/drawing/2014/main" id="{0E26E167-78E6-47E9-B8D9-DD3DA723A068}"/>
              </a:ext>
            </a:extLst>
          </p:cNvPr>
          <p:cNvSpPr>
            <a:spLocks xmlns:a="http://schemas.openxmlformats.org/drawingml/2006/main" noGrp="1"/>
          </p:cNvSpPr>
          <p:nvPr/>
        </p:nvSpPr>
        <p:spPr>
          <a:xfrm xmlns:a="http://schemas.openxmlformats.org/drawingml/2006/main">
            <a:off x="8496300" y="2371725"/>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F4F7FA"/>
                </a:solidFill>
                <a:latin typeface="Arial"/>
                <a:ea typeface="Arial"/>
                <a:cs typeface="Arial"/>
              </a:defRPr>
            </a:pPr>
            <a:r>
              <a:rPr sz="2250" b="1">
                <a:solidFill>
                  <a:srgbClr val="F4F7FA"/>
                </a:solidFill>
                <a:latin typeface="Arial"/>
                <a:ea typeface="Arial"/>
                <a:cs typeface="Arial"/>
              </a:rPr>
              <a:t>Large Models</a:t>
            </a:r>
          </a:p>
        </p:txBody>
      </p:sp>
      <p:sp>
        <p:nvSpPr>
          <p:cNvPr id="14" name="">
            <a:extLst xmlns:a="http://schemas.openxmlformats.org/drawingml/2006/main">
              <a:ext uri="{FF2B5EF4-FFF2-40B4-BE49-F238E27FC236}">
                <a16:creationId xmlns:a16="http://schemas.microsoft.com/office/drawing/2014/main" id="{963527B5-6DFA-4865-BEE4-757D9CAB6F36}"/>
              </a:ext>
            </a:extLst>
          </p:cNvPr>
          <p:cNvSpPr>
            <a:spLocks xmlns:a="http://schemas.openxmlformats.org/drawingml/2006/main" noGrp="1"/>
          </p:cNvSpPr>
          <p:nvPr/>
        </p:nvSpPr>
        <p:spPr>
          <a:xfrm xmlns:a="http://schemas.openxmlformats.org/drawingml/2006/main">
            <a:off x="8496300" y="2981325"/>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F5B61C"/>
                </a:solidFill>
                <a:latin typeface="Arial"/>
                <a:ea typeface="Arial"/>
                <a:cs typeface="Arial"/>
              </a:defRPr>
            </a:pPr>
            <a:r>
              <a:rPr sz="2025" b="1">
                <a:solidFill>
                  <a:srgbClr val="F5B61C"/>
                </a:solidFill>
                <a:latin typeface="Arial"/>
                <a:ea typeface="Arial"/>
                <a:cs typeface="Arial"/>
              </a:rPr>
              <a:t>Externalized</a:t>
            </a:r>
          </a:p>
          <a:p xmlns:a="http://schemas.openxmlformats.org/drawingml/2006/main">
            <a:pPr algn="l">
              <a:defRPr sz="2025" b="1">
                <a:solidFill>
                  <a:srgbClr val="F5B61C"/>
                </a:solidFill>
                <a:latin typeface="Arial"/>
                <a:ea typeface="Arial"/>
                <a:cs typeface="Arial"/>
              </a:defRPr>
            </a:pPr>
            <a:r>
              <a:rPr sz="2025" b="1">
                <a:solidFill>
                  <a:srgbClr val="F5B61C"/>
                </a:solidFill>
                <a:latin typeface="Arial"/>
                <a:ea typeface="Arial"/>
                <a:cs typeface="Arial"/>
              </a:rPr>
              <a:t>Cognition</a:t>
            </a:r>
          </a:p>
        </p:txBody>
      </p:sp>
      <p:sp>
        <p:nvSpPr>
          <p:cNvPr id="15" name="">
            <a:extLst xmlns:a="http://schemas.openxmlformats.org/drawingml/2006/main">
              <a:ext uri="{FF2B5EF4-FFF2-40B4-BE49-F238E27FC236}">
                <a16:creationId xmlns:a16="http://schemas.microsoft.com/office/drawing/2014/main" id="{25E6673B-ADE2-43C2-8FB1-BBFE77C9A06D}"/>
              </a:ext>
            </a:extLst>
          </p:cNvPr>
          <p:cNvSpPr>
            <a:spLocks xmlns:a="http://schemas.openxmlformats.org/drawingml/2006/main" noGrp="1"/>
          </p:cNvSpPr>
          <p:nvPr/>
        </p:nvSpPr>
        <p:spPr>
          <a:xfrm xmlns:a="http://schemas.openxmlformats.org/drawingml/2006/main">
            <a:off x="8496300" y="3762375"/>
            <a:ext cx="2400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ADB8C5"/>
                </a:solidFill>
                <a:latin typeface="Arial"/>
                <a:ea typeface="Arial"/>
                <a:cs typeface="Arial"/>
              </a:defRPr>
            </a:pPr>
            <a:r>
              <a:rPr sz="1725" b="0">
                <a:solidFill>
                  <a:srgbClr val="ADB8C5"/>
                </a:solidFill>
                <a:latin typeface="Arial"/>
                <a:ea typeface="Arial"/>
                <a:cs typeface="Arial"/>
              </a:rPr>
              <a:t>Judgment shaped</a:t>
            </a:r>
          </a:p>
          <a:p xmlns:a="http://schemas.openxmlformats.org/drawingml/2006/main">
            <a:pPr algn="l">
              <a:defRPr sz="1725" b="0">
                <a:solidFill>
                  <a:srgbClr val="ADB8C5"/>
                </a:solidFill>
                <a:latin typeface="Arial"/>
                <a:ea typeface="Arial"/>
                <a:cs typeface="Arial"/>
              </a:defRPr>
            </a:pPr>
            <a:r>
              <a:rPr sz="1725" b="0">
                <a:solidFill>
                  <a:srgbClr val="ADB8C5"/>
                </a:solidFill>
                <a:latin typeface="Arial"/>
                <a:ea typeface="Arial"/>
                <a:cs typeface="Arial"/>
              </a:rPr>
              <a:t>by context</a:t>
            </a:r>
          </a:p>
        </p:txBody>
      </p:sp>
      <p:sp>
        <p:nvSpPr>
          <p:cNvPr id="18" name="">
            <a:extLst xmlns:a="http://schemas.openxmlformats.org/drawingml/2006/main">
              <a:ext uri="{FF2B5EF4-FFF2-40B4-BE49-F238E27FC236}">
                <a16:creationId xmlns:a16="http://schemas.microsoft.com/office/drawing/2014/main" id="{82BC17CF-13A4-4648-BFF8-1F7E95E42480}"/>
              </a:ext>
            </a:extLst>
          </p:cNvPr>
          <p:cNvSpPr>
            <a:spLocks xmlns:a="http://schemas.openxmlformats.org/drawingml/2006/main" noGrp="1"/>
          </p:cNvSpPr>
          <p:nvPr/>
        </p:nvSpPr>
        <p:spPr>
          <a:xfrm xmlns:a="http://schemas.openxmlformats.org/drawingml/2006/main">
            <a:off x="609600" y="49720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No assumption of will, consciousness or human-like understanding is required.</a:t>
            </a:r>
          </a:p>
        </p:txBody>
      </p:sp>
      <p:sp>
        <p:nvSpPr>
          <p:cNvPr id="19" name="">
            <a:extLst xmlns:a="http://schemas.openxmlformats.org/drawingml/2006/main">
              <a:ext uri="{FF2B5EF4-FFF2-40B4-BE49-F238E27FC236}">
                <a16:creationId xmlns:a16="http://schemas.microsoft.com/office/drawing/2014/main" id="{D6039A2F-15D4-4E5B-A596-DCD87C0D5996}"/>
              </a:ext>
            </a:extLst>
          </p:cNvPr>
          <p:cNvSpPr>
            <a:spLocks xmlns:a="http://schemas.openxmlformats.org/drawingml/2006/main" noGrp="1"/>
          </p:cNvSpPr>
          <p:nvPr/>
        </p:nvSpPr>
        <p:spPr>
          <a:xfrm xmlns:a="http://schemas.openxmlformats.org/drawingml/2006/main" flipH="0" flipV="0">
            <a:off x="609600" y="57340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0" name="">
            <a:extLst xmlns:a="http://schemas.openxmlformats.org/drawingml/2006/main">
              <a:ext uri="{FF2B5EF4-FFF2-40B4-BE49-F238E27FC236}">
                <a16:creationId xmlns:a16="http://schemas.microsoft.com/office/drawing/2014/main" id="{4BDB6D5D-4FC3-49AE-8806-7599E082CC63}"/>
              </a:ext>
            </a:extLst>
          </p:cNvPr>
          <p:cNvSpPr>
            <a:spLocks xmlns:a="http://schemas.openxmlformats.org/drawingml/2006/main" noGrp="1"/>
          </p:cNvSpPr>
          <p:nvPr/>
        </p:nvSpPr>
        <p:spPr>
          <a:xfrm xmlns:a="http://schemas.openxmlformats.org/drawingml/2006/main">
            <a:off x="609600" y="5905500"/>
            <a:ext cx="10648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4F7FA"/>
                </a:solidFill>
                <a:latin typeface="Arial"/>
                <a:ea typeface="Arial"/>
                <a:cs typeface="Arial"/>
              </a:defRPr>
            </a:pPr>
            <a:r>
              <a:rPr sz="2100" b="1">
                <a:solidFill>
                  <a:srgbClr val="F4F7FA"/>
                </a:solidFill>
                <a:latin typeface="Arial"/>
                <a:ea typeface="Arial"/>
                <a:cs typeface="Arial"/>
              </a:rPr>
              <a:t>HOW: rebalance the delivery system.</a:t>
            </a:r>
          </a:p>
          <a:p xmlns:a="http://schemas.openxmlformats.org/drawingml/2006/main">
            <a:pPr algn="l">
              <a:defRPr sz="2100" b="1">
                <a:solidFill>
                  <a:srgbClr val="F4F7FA"/>
                </a:solidFill>
                <a:latin typeface="Arial"/>
                <a:ea typeface="Arial"/>
                <a:cs typeface="Arial"/>
              </a:defRPr>
            </a:pPr>
            <a:r>
              <a:rPr sz="2100" b="1">
                <a:solidFill>
                  <a:srgbClr val="F4F7FA"/>
                </a:solidFill>
                <a:latin typeface="Arial"/>
                <a:ea typeface="Arial"/>
                <a:cs typeface="Arial"/>
              </a:rPr>
              <a:t>WHAT: engineer behavior, evidence and control.</a:t>
            </a:r>
          </a:p>
        </p:txBody>
      </p:sp>
    </p:spTree>
    <p:extLst>
      <p:ext uri="{BB962C8B-B14F-4D97-AF65-F5344CB8AC3E}">
        <p14:creationId xmlns:p14="http://schemas.microsoft.com/office/powerpoint/2010/main" val="540402472"/>
      </p:ext>
    </p:extLst>
  </p:cSld>
</p:sld>
</file>

<file path=ppt/slides/slide3.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A1354CCA-C40C-4213-93F7-925EFC9DE84E}"/>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We Accelerated a Step. Not the System.</a:t>
            </a:r>
          </a:p>
        </p:txBody>
      </p:sp>
      <p:sp>
        <p:nvSpPr>
          <p:cNvPr id="2" name="">
            <a:extLst xmlns:a="http://schemas.openxmlformats.org/drawingml/2006/main">
              <a:ext uri="{FF2B5EF4-FFF2-40B4-BE49-F238E27FC236}">
                <a16:creationId xmlns:a16="http://schemas.microsoft.com/office/drawing/2014/main" id="{8E7E36C9-3FE4-43DD-9A3C-1A4012B49938}"/>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A87ACF9A-0176-4198-A03A-29D0664C531F}"/>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627A1F68-1D44-4249-92CF-928C1B736EF3}"/>
              </a:ext>
            </a:extLst>
          </p:cNvPr>
          <p:cNvSpPr>
            <a:spLocks xmlns:a="http://schemas.openxmlformats.org/drawingml/2006/main" noGrp="1"/>
          </p:cNvSpPr>
          <p:nvPr/>
        </p:nvSpPr>
        <p:spPr>
          <a:xfrm xmlns:a="http://schemas.openxmlformats.org/drawingml/2006/main">
            <a:off x="914400" y="171450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AI can affect every stage. Downstream gains are not automatic.</a:t>
            </a:r>
          </a:p>
        </p:txBody>
      </p:sp>
      <p:sp>
        <p:nvSpPr>
          <p:cNvPr id="5" name="">
            <a:extLst xmlns:a="http://schemas.openxmlformats.org/drawingml/2006/main">
              <a:ext uri="{FF2B5EF4-FFF2-40B4-BE49-F238E27FC236}">
                <a16:creationId xmlns:a16="http://schemas.microsoft.com/office/drawing/2014/main" id="{E992B187-249D-4A1C-9E02-2FCEC8C47C45}"/>
              </a:ext>
            </a:extLst>
          </p:cNvPr>
          <p:cNvSpPr>
            <a:spLocks xmlns:a="http://schemas.openxmlformats.org/drawingml/2006/main" noGrp="1"/>
          </p:cNvSpPr>
          <p:nvPr/>
        </p:nvSpPr>
        <p:spPr>
          <a:xfrm xmlns:a="http://schemas.openxmlformats.org/drawingml/2006/main">
            <a:off x="9144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6" name="">
            <a:extLst xmlns:a="http://schemas.openxmlformats.org/drawingml/2006/main">
              <a:ext uri="{FF2B5EF4-FFF2-40B4-BE49-F238E27FC236}">
                <a16:creationId xmlns:a16="http://schemas.microsoft.com/office/drawing/2014/main" id="{F1E72BEC-E43F-446E-AD48-7B357E67ECB6}"/>
              </a:ext>
            </a:extLst>
          </p:cNvPr>
          <p:cNvSpPr>
            <a:spLocks xmlns:a="http://schemas.openxmlformats.org/drawingml/2006/main" noGrp="1"/>
          </p:cNvSpPr>
          <p:nvPr/>
        </p:nvSpPr>
        <p:spPr>
          <a:xfrm xmlns:a="http://schemas.openxmlformats.org/drawingml/2006/main">
            <a:off x="10287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Intent</a:t>
            </a:r>
          </a:p>
        </p:txBody>
      </p:sp>
      <p:sp>
        <p:nvSpPr>
          <p:cNvPr id="7" name="">
            <a:extLst xmlns:a="http://schemas.openxmlformats.org/drawingml/2006/main">
              <a:ext uri="{FF2B5EF4-FFF2-40B4-BE49-F238E27FC236}">
                <a16:creationId xmlns:a16="http://schemas.microsoft.com/office/drawing/2014/main" id="{D7D85792-7380-49E7-B367-3B07E457105F}"/>
              </a:ext>
            </a:extLst>
          </p:cNvPr>
          <p:cNvSpPr>
            <a:spLocks xmlns:a="http://schemas.openxmlformats.org/drawingml/2006/main" noGrp="1"/>
          </p:cNvSpPr>
          <p:nvPr/>
        </p:nvSpPr>
        <p:spPr>
          <a:xfrm xmlns:a="http://schemas.openxmlformats.org/drawingml/2006/main">
            <a:off x="22288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8" name="">
            <a:extLst xmlns:a="http://schemas.openxmlformats.org/drawingml/2006/main">
              <a:ext uri="{FF2B5EF4-FFF2-40B4-BE49-F238E27FC236}">
                <a16:creationId xmlns:a16="http://schemas.microsoft.com/office/drawing/2014/main" id="{3B88B8EA-D193-40B9-AE70-E6D96D929C80}"/>
              </a:ext>
            </a:extLst>
          </p:cNvPr>
          <p:cNvSpPr>
            <a:spLocks xmlns:a="http://schemas.openxmlformats.org/drawingml/2006/main" noGrp="1"/>
          </p:cNvSpPr>
          <p:nvPr/>
        </p:nvSpPr>
        <p:spPr>
          <a:xfrm xmlns:a="http://schemas.openxmlformats.org/drawingml/2006/main">
            <a:off x="23431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Design</a:t>
            </a:r>
          </a:p>
        </p:txBody>
      </p:sp>
      <p:sp>
        <p:nvSpPr>
          <p:cNvPr id="9" name="">
            <a:extLst xmlns:a="http://schemas.openxmlformats.org/drawingml/2006/main">
              <a:ext uri="{FF2B5EF4-FFF2-40B4-BE49-F238E27FC236}">
                <a16:creationId xmlns:a16="http://schemas.microsoft.com/office/drawing/2014/main" id="{59993043-DBCA-4EAB-8FBB-4F0D7874BEBC}"/>
              </a:ext>
            </a:extLst>
          </p:cNvPr>
          <p:cNvSpPr>
            <a:spLocks xmlns:a="http://schemas.openxmlformats.org/drawingml/2006/main" noGrp="1"/>
          </p:cNvSpPr>
          <p:nvPr/>
        </p:nvSpPr>
        <p:spPr>
          <a:xfrm xmlns:a="http://schemas.openxmlformats.org/drawingml/2006/main">
            <a:off x="35433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0" name="">
            <a:extLst xmlns:a="http://schemas.openxmlformats.org/drawingml/2006/main">
              <a:ext uri="{FF2B5EF4-FFF2-40B4-BE49-F238E27FC236}">
                <a16:creationId xmlns:a16="http://schemas.microsoft.com/office/drawing/2014/main" id="{C708644C-4285-4B09-9025-44C5D1642887}"/>
              </a:ext>
            </a:extLst>
          </p:cNvPr>
          <p:cNvSpPr>
            <a:spLocks xmlns:a="http://schemas.openxmlformats.org/drawingml/2006/main" noGrp="1"/>
          </p:cNvSpPr>
          <p:nvPr/>
        </p:nvSpPr>
        <p:spPr>
          <a:xfrm xmlns:a="http://schemas.openxmlformats.org/drawingml/2006/main">
            <a:off x="36576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Code</a:t>
            </a:r>
          </a:p>
        </p:txBody>
      </p:sp>
      <p:sp>
        <p:nvSpPr>
          <p:cNvPr id="11" name="">
            <a:extLst xmlns:a="http://schemas.openxmlformats.org/drawingml/2006/main">
              <a:ext uri="{FF2B5EF4-FFF2-40B4-BE49-F238E27FC236}">
                <a16:creationId xmlns:a16="http://schemas.microsoft.com/office/drawing/2014/main" id="{1409C426-A203-4732-AD9D-7654FCEBEB89}"/>
              </a:ext>
            </a:extLst>
          </p:cNvPr>
          <p:cNvSpPr>
            <a:spLocks xmlns:a="http://schemas.openxmlformats.org/drawingml/2006/main" noGrp="1"/>
          </p:cNvSpPr>
          <p:nvPr/>
        </p:nvSpPr>
        <p:spPr>
          <a:xfrm xmlns:a="http://schemas.openxmlformats.org/drawingml/2006/main">
            <a:off x="48577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2" name="">
            <a:extLst xmlns:a="http://schemas.openxmlformats.org/drawingml/2006/main">
              <a:ext uri="{FF2B5EF4-FFF2-40B4-BE49-F238E27FC236}">
                <a16:creationId xmlns:a16="http://schemas.microsoft.com/office/drawing/2014/main" id="{50FCB825-8290-46AB-9B2A-551E59E59812}"/>
              </a:ext>
            </a:extLst>
          </p:cNvPr>
          <p:cNvSpPr>
            <a:spLocks xmlns:a="http://schemas.openxmlformats.org/drawingml/2006/main" noGrp="1"/>
          </p:cNvSpPr>
          <p:nvPr/>
        </p:nvSpPr>
        <p:spPr>
          <a:xfrm xmlns:a="http://schemas.openxmlformats.org/drawingml/2006/main">
            <a:off x="49720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Review</a:t>
            </a:r>
          </a:p>
        </p:txBody>
      </p:sp>
      <p:sp>
        <p:nvSpPr>
          <p:cNvPr id="13" name="">
            <a:extLst xmlns:a="http://schemas.openxmlformats.org/drawingml/2006/main">
              <a:ext uri="{FF2B5EF4-FFF2-40B4-BE49-F238E27FC236}">
                <a16:creationId xmlns:a16="http://schemas.microsoft.com/office/drawing/2014/main" id="{5C76C649-1123-442C-B94C-AB18A4EDCE31}"/>
              </a:ext>
            </a:extLst>
          </p:cNvPr>
          <p:cNvSpPr>
            <a:spLocks xmlns:a="http://schemas.openxmlformats.org/drawingml/2006/main" noGrp="1"/>
          </p:cNvSpPr>
          <p:nvPr/>
        </p:nvSpPr>
        <p:spPr>
          <a:xfrm xmlns:a="http://schemas.openxmlformats.org/drawingml/2006/main">
            <a:off x="61722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4" name="">
            <a:extLst xmlns:a="http://schemas.openxmlformats.org/drawingml/2006/main">
              <a:ext uri="{FF2B5EF4-FFF2-40B4-BE49-F238E27FC236}">
                <a16:creationId xmlns:a16="http://schemas.microsoft.com/office/drawing/2014/main" id="{0BD77D60-D66C-4AA6-B702-7F29F2E58F41}"/>
              </a:ext>
            </a:extLst>
          </p:cNvPr>
          <p:cNvSpPr>
            <a:spLocks xmlns:a="http://schemas.openxmlformats.org/drawingml/2006/main" noGrp="1"/>
          </p:cNvSpPr>
          <p:nvPr/>
        </p:nvSpPr>
        <p:spPr>
          <a:xfrm xmlns:a="http://schemas.openxmlformats.org/drawingml/2006/main">
            <a:off x="62865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Test</a:t>
            </a:r>
          </a:p>
        </p:txBody>
      </p:sp>
      <p:sp>
        <p:nvSpPr>
          <p:cNvPr id="15" name="">
            <a:extLst xmlns:a="http://schemas.openxmlformats.org/drawingml/2006/main">
              <a:ext uri="{FF2B5EF4-FFF2-40B4-BE49-F238E27FC236}">
                <a16:creationId xmlns:a16="http://schemas.microsoft.com/office/drawing/2014/main" id="{42B76301-D1EF-42AA-BF23-32443061D278}"/>
              </a:ext>
            </a:extLst>
          </p:cNvPr>
          <p:cNvSpPr>
            <a:spLocks xmlns:a="http://schemas.openxmlformats.org/drawingml/2006/main" noGrp="1"/>
          </p:cNvSpPr>
          <p:nvPr/>
        </p:nvSpPr>
        <p:spPr>
          <a:xfrm xmlns:a="http://schemas.openxmlformats.org/drawingml/2006/main">
            <a:off x="74866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6" name="">
            <a:extLst xmlns:a="http://schemas.openxmlformats.org/drawingml/2006/main">
              <a:ext uri="{FF2B5EF4-FFF2-40B4-BE49-F238E27FC236}">
                <a16:creationId xmlns:a16="http://schemas.microsoft.com/office/drawing/2014/main" id="{9B3BA5BF-7C1D-428C-B593-3C8516F1872A}"/>
              </a:ext>
            </a:extLst>
          </p:cNvPr>
          <p:cNvSpPr>
            <a:spLocks xmlns:a="http://schemas.openxmlformats.org/drawingml/2006/main" noGrp="1"/>
          </p:cNvSpPr>
          <p:nvPr/>
        </p:nvSpPr>
        <p:spPr>
          <a:xfrm xmlns:a="http://schemas.openxmlformats.org/drawingml/2006/main">
            <a:off x="76009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4F7FA"/>
                </a:solidFill>
                <a:latin typeface="Arial"/>
                <a:ea typeface="Arial"/>
                <a:cs typeface="Arial"/>
              </a:defRPr>
            </a:pPr>
            <a:r>
              <a:rPr sz="1350" b="1">
                <a:solidFill>
                  <a:srgbClr val="F4F7FA"/>
                </a:solidFill>
                <a:latin typeface="Arial"/>
                <a:ea typeface="Arial"/>
                <a:cs typeface="Arial"/>
              </a:rPr>
              <a:t>Integrate</a:t>
            </a:r>
          </a:p>
        </p:txBody>
      </p:sp>
      <p:sp>
        <p:nvSpPr>
          <p:cNvPr id="17" name="">
            <a:extLst xmlns:a="http://schemas.openxmlformats.org/drawingml/2006/main">
              <a:ext uri="{FF2B5EF4-FFF2-40B4-BE49-F238E27FC236}">
                <a16:creationId xmlns:a16="http://schemas.microsoft.com/office/drawing/2014/main" id="{5F4FAABA-2D8B-4310-8FDB-62901B0FDC71}"/>
              </a:ext>
            </a:extLst>
          </p:cNvPr>
          <p:cNvSpPr>
            <a:spLocks xmlns:a="http://schemas.openxmlformats.org/drawingml/2006/main" noGrp="1"/>
          </p:cNvSpPr>
          <p:nvPr/>
        </p:nvSpPr>
        <p:spPr>
          <a:xfrm xmlns:a="http://schemas.openxmlformats.org/drawingml/2006/main">
            <a:off x="88011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8" name="">
            <a:extLst xmlns:a="http://schemas.openxmlformats.org/drawingml/2006/main">
              <a:ext uri="{FF2B5EF4-FFF2-40B4-BE49-F238E27FC236}">
                <a16:creationId xmlns:a16="http://schemas.microsoft.com/office/drawing/2014/main" id="{96F011C6-9FBA-48A0-B3E8-450070E58BDE}"/>
              </a:ext>
            </a:extLst>
          </p:cNvPr>
          <p:cNvSpPr>
            <a:spLocks xmlns:a="http://schemas.openxmlformats.org/drawingml/2006/main" noGrp="1"/>
          </p:cNvSpPr>
          <p:nvPr/>
        </p:nvSpPr>
        <p:spPr>
          <a:xfrm xmlns:a="http://schemas.openxmlformats.org/drawingml/2006/main">
            <a:off x="89154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Deploy</a:t>
            </a:r>
          </a:p>
        </p:txBody>
      </p:sp>
      <p:sp>
        <p:nvSpPr>
          <p:cNvPr id="19" name="">
            <a:extLst xmlns:a="http://schemas.openxmlformats.org/drawingml/2006/main">
              <a:ext uri="{FF2B5EF4-FFF2-40B4-BE49-F238E27FC236}">
                <a16:creationId xmlns:a16="http://schemas.microsoft.com/office/drawing/2014/main" id="{41C709A8-411B-450F-AAE3-BABE4E20E619}"/>
              </a:ext>
            </a:extLst>
          </p:cNvPr>
          <p:cNvSpPr>
            <a:spLocks xmlns:a="http://schemas.openxmlformats.org/drawingml/2006/main" noGrp="1"/>
          </p:cNvSpPr>
          <p:nvPr/>
        </p:nvSpPr>
        <p:spPr>
          <a:xfrm xmlns:a="http://schemas.openxmlformats.org/drawingml/2006/main">
            <a:off x="101155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20" name="">
            <a:extLst xmlns:a="http://schemas.openxmlformats.org/drawingml/2006/main">
              <a:ext uri="{FF2B5EF4-FFF2-40B4-BE49-F238E27FC236}">
                <a16:creationId xmlns:a16="http://schemas.microsoft.com/office/drawing/2014/main" id="{F9E912E1-1197-448E-9D87-2C7C514BAE4D}"/>
              </a:ext>
            </a:extLst>
          </p:cNvPr>
          <p:cNvSpPr>
            <a:spLocks xmlns:a="http://schemas.openxmlformats.org/drawingml/2006/main" noGrp="1"/>
          </p:cNvSpPr>
          <p:nvPr/>
        </p:nvSpPr>
        <p:spPr>
          <a:xfrm xmlns:a="http://schemas.openxmlformats.org/drawingml/2006/main">
            <a:off x="102298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Operate</a:t>
            </a:r>
          </a:p>
        </p:txBody>
      </p:sp>
      <p:sp>
        <p:nvSpPr>
          <p:cNvPr id="21" name="">
            <a:extLst xmlns:a="http://schemas.openxmlformats.org/drawingml/2006/main">
              <a:ext uri="{FF2B5EF4-FFF2-40B4-BE49-F238E27FC236}">
                <a16:creationId xmlns:a16="http://schemas.microsoft.com/office/drawing/2014/main" id="{10AB8FEC-0D9D-4808-94F0-9587A30369DD}"/>
              </a:ext>
            </a:extLst>
          </p:cNvPr>
          <p:cNvSpPr>
            <a:spLocks xmlns:a="http://schemas.openxmlformats.org/drawingml/2006/main" noGrp="1"/>
          </p:cNvSpPr>
          <p:nvPr/>
        </p:nvSpPr>
        <p:spPr>
          <a:xfrm xmlns:a="http://schemas.openxmlformats.org/drawingml/2006/main" flipH="0" flipV="0">
            <a:off x="20764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2" name="">
            <a:extLst xmlns:a="http://schemas.openxmlformats.org/drawingml/2006/main">
              <a:ext uri="{FF2B5EF4-FFF2-40B4-BE49-F238E27FC236}">
                <a16:creationId xmlns:a16="http://schemas.microsoft.com/office/drawing/2014/main" id="{D29527AE-FA94-4955-8E40-C6427AA934D9}"/>
              </a:ext>
            </a:extLst>
          </p:cNvPr>
          <p:cNvSpPr>
            <a:spLocks xmlns:a="http://schemas.openxmlformats.org/drawingml/2006/main" noGrp="1"/>
          </p:cNvSpPr>
          <p:nvPr/>
        </p:nvSpPr>
        <p:spPr>
          <a:xfrm xmlns:a="http://schemas.openxmlformats.org/drawingml/2006/main" flipH="0" flipV="0">
            <a:off x="33909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3" name="">
            <a:extLst xmlns:a="http://schemas.openxmlformats.org/drawingml/2006/main">
              <a:ext uri="{FF2B5EF4-FFF2-40B4-BE49-F238E27FC236}">
                <a16:creationId xmlns:a16="http://schemas.microsoft.com/office/drawing/2014/main" id="{691EAA89-DB2F-40FF-A966-3D8D1985C0E4}"/>
              </a:ext>
            </a:extLst>
          </p:cNvPr>
          <p:cNvSpPr>
            <a:spLocks xmlns:a="http://schemas.openxmlformats.org/drawingml/2006/main" noGrp="1"/>
          </p:cNvSpPr>
          <p:nvPr/>
        </p:nvSpPr>
        <p:spPr>
          <a:xfrm xmlns:a="http://schemas.openxmlformats.org/drawingml/2006/main" flipH="0" flipV="0">
            <a:off x="47053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4" name="">
            <a:extLst xmlns:a="http://schemas.openxmlformats.org/drawingml/2006/main">
              <a:ext uri="{FF2B5EF4-FFF2-40B4-BE49-F238E27FC236}">
                <a16:creationId xmlns:a16="http://schemas.microsoft.com/office/drawing/2014/main" id="{9690FEC8-29CC-4E21-B42D-26279341B6F2}"/>
              </a:ext>
            </a:extLst>
          </p:cNvPr>
          <p:cNvSpPr>
            <a:spLocks xmlns:a="http://schemas.openxmlformats.org/drawingml/2006/main" noGrp="1"/>
          </p:cNvSpPr>
          <p:nvPr/>
        </p:nvSpPr>
        <p:spPr>
          <a:xfrm xmlns:a="http://schemas.openxmlformats.org/drawingml/2006/main" flipH="0" flipV="0">
            <a:off x="60198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5" name="">
            <a:extLst xmlns:a="http://schemas.openxmlformats.org/drawingml/2006/main">
              <a:ext uri="{FF2B5EF4-FFF2-40B4-BE49-F238E27FC236}">
                <a16:creationId xmlns:a16="http://schemas.microsoft.com/office/drawing/2014/main" id="{D41A9235-63E7-4028-AD95-E8D00A7036A8}"/>
              </a:ext>
            </a:extLst>
          </p:cNvPr>
          <p:cNvSpPr>
            <a:spLocks xmlns:a="http://schemas.openxmlformats.org/drawingml/2006/main" noGrp="1"/>
          </p:cNvSpPr>
          <p:nvPr/>
        </p:nvSpPr>
        <p:spPr>
          <a:xfrm xmlns:a="http://schemas.openxmlformats.org/drawingml/2006/main" flipH="0" flipV="0">
            <a:off x="73342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6" name="">
            <a:extLst xmlns:a="http://schemas.openxmlformats.org/drawingml/2006/main">
              <a:ext uri="{FF2B5EF4-FFF2-40B4-BE49-F238E27FC236}">
                <a16:creationId xmlns:a16="http://schemas.microsoft.com/office/drawing/2014/main" id="{DE2D8FF9-0378-4914-99D5-DD7D76FEAEA9}"/>
              </a:ext>
            </a:extLst>
          </p:cNvPr>
          <p:cNvSpPr>
            <a:spLocks xmlns:a="http://schemas.openxmlformats.org/drawingml/2006/main" noGrp="1"/>
          </p:cNvSpPr>
          <p:nvPr/>
        </p:nvSpPr>
        <p:spPr>
          <a:xfrm xmlns:a="http://schemas.openxmlformats.org/drawingml/2006/main" flipH="0" flipV="0">
            <a:off x="86487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7" name="">
            <a:extLst xmlns:a="http://schemas.openxmlformats.org/drawingml/2006/main">
              <a:ext uri="{FF2B5EF4-FFF2-40B4-BE49-F238E27FC236}">
                <a16:creationId xmlns:a16="http://schemas.microsoft.com/office/drawing/2014/main" id="{9035D3E3-7FCA-4F6B-8330-EA97697BEE39}"/>
              </a:ext>
            </a:extLst>
          </p:cNvPr>
          <p:cNvSpPr>
            <a:spLocks xmlns:a="http://schemas.openxmlformats.org/drawingml/2006/main" noGrp="1"/>
          </p:cNvSpPr>
          <p:nvPr/>
        </p:nvSpPr>
        <p:spPr>
          <a:xfrm xmlns:a="http://schemas.openxmlformats.org/drawingml/2006/main" flipH="0" flipV="0">
            <a:off x="99631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8" name="">
            <a:extLst xmlns:a="http://schemas.openxmlformats.org/drawingml/2006/main">
              <a:ext uri="{FF2B5EF4-FFF2-40B4-BE49-F238E27FC236}">
                <a16:creationId xmlns:a16="http://schemas.microsoft.com/office/drawing/2014/main" id="{5A3EB2BB-B8C9-48B6-8D65-37A173EB31C3}"/>
              </a:ext>
            </a:extLst>
          </p:cNvPr>
          <p:cNvSpPr>
            <a:spLocks xmlns:a="http://schemas.openxmlformats.org/drawingml/2006/main" noGrp="1"/>
          </p:cNvSpPr>
          <p:nvPr/>
        </p:nvSpPr>
        <p:spPr>
          <a:xfrm xmlns:a="http://schemas.openxmlformats.org/drawingml/2006/main">
            <a:off x="9144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F99D40F4-44A4-4BD4-9CE7-8DC078A17D36}"/>
              </a:ext>
            </a:extLst>
          </p:cNvPr>
          <p:cNvSpPr>
            <a:spLocks xmlns:a="http://schemas.openxmlformats.org/drawingml/2006/main" noGrp="1"/>
          </p:cNvSpPr>
          <p:nvPr/>
        </p:nvSpPr>
        <p:spPr>
          <a:xfrm xmlns:a="http://schemas.openxmlformats.org/drawingml/2006/main">
            <a:off x="22288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61B79944-E39A-487D-B94F-60DEFCC2E7B0}"/>
              </a:ext>
            </a:extLst>
          </p:cNvPr>
          <p:cNvSpPr>
            <a:spLocks xmlns:a="http://schemas.openxmlformats.org/drawingml/2006/main" noGrp="1"/>
          </p:cNvSpPr>
          <p:nvPr/>
        </p:nvSpPr>
        <p:spPr>
          <a:xfrm xmlns:a="http://schemas.openxmlformats.org/drawingml/2006/main">
            <a:off x="48577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A979DAA3-DB7A-402A-AA60-CF6F5470E3B3}"/>
              </a:ext>
            </a:extLst>
          </p:cNvPr>
          <p:cNvSpPr>
            <a:spLocks xmlns:a="http://schemas.openxmlformats.org/drawingml/2006/main" noGrp="1"/>
          </p:cNvSpPr>
          <p:nvPr/>
        </p:nvSpPr>
        <p:spPr>
          <a:xfrm xmlns:a="http://schemas.openxmlformats.org/drawingml/2006/main">
            <a:off x="61722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2" name="">
            <a:extLst xmlns:a="http://schemas.openxmlformats.org/drawingml/2006/main">
              <a:ext uri="{FF2B5EF4-FFF2-40B4-BE49-F238E27FC236}">
                <a16:creationId xmlns:a16="http://schemas.microsoft.com/office/drawing/2014/main" id="{4CCBE470-C802-40AA-AFCF-18426F7ACE2D}"/>
              </a:ext>
            </a:extLst>
          </p:cNvPr>
          <p:cNvSpPr>
            <a:spLocks xmlns:a="http://schemas.openxmlformats.org/drawingml/2006/main" noGrp="1"/>
          </p:cNvSpPr>
          <p:nvPr/>
        </p:nvSpPr>
        <p:spPr>
          <a:xfrm xmlns:a="http://schemas.openxmlformats.org/drawingml/2006/main">
            <a:off x="74866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BE8DB58F-4CF2-4F17-A875-DAAA856D7D25}"/>
              </a:ext>
            </a:extLst>
          </p:cNvPr>
          <p:cNvSpPr>
            <a:spLocks xmlns:a="http://schemas.openxmlformats.org/drawingml/2006/main" noGrp="1"/>
          </p:cNvSpPr>
          <p:nvPr/>
        </p:nvSpPr>
        <p:spPr>
          <a:xfrm xmlns:a="http://schemas.openxmlformats.org/drawingml/2006/main">
            <a:off x="88011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4" name="">
            <a:extLst xmlns:a="http://schemas.openxmlformats.org/drawingml/2006/main">
              <a:ext uri="{FF2B5EF4-FFF2-40B4-BE49-F238E27FC236}">
                <a16:creationId xmlns:a16="http://schemas.microsoft.com/office/drawing/2014/main" id="{FE1549CB-E6F3-447B-A9BF-DEBF414A72C0}"/>
              </a:ext>
            </a:extLst>
          </p:cNvPr>
          <p:cNvSpPr>
            <a:spLocks xmlns:a="http://schemas.openxmlformats.org/drawingml/2006/main" noGrp="1"/>
          </p:cNvSpPr>
          <p:nvPr/>
        </p:nvSpPr>
        <p:spPr>
          <a:xfrm xmlns:a="http://schemas.openxmlformats.org/drawingml/2006/main">
            <a:off x="101155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0A32D04A-CECC-4023-B6D4-565A490E97CF}"/>
              </a:ext>
            </a:extLst>
          </p:cNvPr>
          <p:cNvSpPr>
            <a:spLocks xmlns:a="http://schemas.openxmlformats.org/drawingml/2006/main" noGrp="1"/>
          </p:cNvSpPr>
          <p:nvPr/>
        </p:nvSpPr>
        <p:spPr>
          <a:xfrm xmlns:a="http://schemas.openxmlformats.org/drawingml/2006/main">
            <a:off x="914400" y="3067050"/>
            <a:ext cx="1036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Illustrative team: changes per week; comparable work, fixed downstream capacity.</a:t>
            </a:r>
          </a:p>
        </p:txBody>
      </p:sp>
      <p:sp>
        <p:nvSpPr>
          <p:cNvPr id="36" name="">
            <a:extLst xmlns:a="http://schemas.openxmlformats.org/drawingml/2006/main">
              <a:ext uri="{FF2B5EF4-FFF2-40B4-BE49-F238E27FC236}">
                <a16:creationId xmlns:a16="http://schemas.microsoft.com/office/drawing/2014/main" id="{F03558B4-D89A-481E-B6B4-3ADC873FB4F3}"/>
              </a:ext>
            </a:extLst>
          </p:cNvPr>
          <p:cNvSpPr>
            <a:spLocks xmlns:a="http://schemas.openxmlformats.org/drawingml/2006/main" noGrp="1"/>
          </p:cNvSpPr>
          <p:nvPr/>
        </p:nvSpPr>
        <p:spPr>
          <a:xfrm xmlns:a="http://schemas.openxmlformats.org/drawingml/2006/main">
            <a:off x="323850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Code</a:t>
            </a:r>
          </a:p>
        </p:txBody>
      </p:sp>
      <p:sp>
        <p:nvSpPr>
          <p:cNvPr id="37" name="">
            <a:extLst xmlns:a="http://schemas.openxmlformats.org/drawingml/2006/main">
              <a:ext uri="{FF2B5EF4-FFF2-40B4-BE49-F238E27FC236}">
                <a16:creationId xmlns:a16="http://schemas.microsoft.com/office/drawing/2014/main" id="{3B10185D-E384-4606-A9EE-FAD187499796}"/>
              </a:ext>
            </a:extLst>
          </p:cNvPr>
          <p:cNvSpPr>
            <a:spLocks xmlns:a="http://schemas.openxmlformats.org/drawingml/2006/main" noGrp="1"/>
          </p:cNvSpPr>
          <p:nvPr/>
        </p:nvSpPr>
        <p:spPr>
          <a:xfrm xmlns:a="http://schemas.openxmlformats.org/drawingml/2006/main">
            <a:off x="531495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Review</a:t>
            </a:r>
          </a:p>
        </p:txBody>
      </p:sp>
      <p:sp>
        <p:nvSpPr>
          <p:cNvPr id="38" name="">
            <a:extLst xmlns:a="http://schemas.openxmlformats.org/drawingml/2006/main">
              <a:ext uri="{FF2B5EF4-FFF2-40B4-BE49-F238E27FC236}">
                <a16:creationId xmlns:a16="http://schemas.microsoft.com/office/drawing/2014/main" id="{2F39F9BF-2BA4-4423-B34A-C0C938C1FE62}"/>
              </a:ext>
            </a:extLst>
          </p:cNvPr>
          <p:cNvSpPr>
            <a:spLocks xmlns:a="http://schemas.openxmlformats.org/drawingml/2006/main" noGrp="1"/>
          </p:cNvSpPr>
          <p:nvPr/>
        </p:nvSpPr>
        <p:spPr>
          <a:xfrm xmlns:a="http://schemas.openxmlformats.org/drawingml/2006/main">
            <a:off x="739140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Integrate</a:t>
            </a:r>
          </a:p>
        </p:txBody>
      </p:sp>
      <p:sp>
        <p:nvSpPr>
          <p:cNvPr id="39" name="">
            <a:extLst xmlns:a="http://schemas.openxmlformats.org/drawingml/2006/main">
              <a:ext uri="{FF2B5EF4-FFF2-40B4-BE49-F238E27FC236}">
                <a16:creationId xmlns:a16="http://schemas.microsoft.com/office/drawing/2014/main" id="{EC10EBC2-A795-4764-941F-05FDEF65C124}"/>
              </a:ext>
            </a:extLst>
          </p:cNvPr>
          <p:cNvSpPr>
            <a:spLocks xmlns:a="http://schemas.openxmlformats.org/drawingml/2006/main" noGrp="1"/>
          </p:cNvSpPr>
          <p:nvPr/>
        </p:nvSpPr>
        <p:spPr>
          <a:xfrm xmlns:a="http://schemas.openxmlformats.org/drawingml/2006/main">
            <a:off x="9582150" y="342900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ADB8C5"/>
                </a:solidFill>
                <a:latin typeface="Arial"/>
                <a:ea typeface="Arial"/>
                <a:cs typeface="Arial"/>
              </a:defRPr>
            </a:pPr>
            <a:r>
              <a:rPr sz="1500" b="1">
                <a:solidFill>
                  <a:srgbClr val="ADB8C5"/>
                </a:solidFill>
                <a:latin typeface="Arial"/>
                <a:ea typeface="Arial"/>
                <a:cs typeface="Arial"/>
              </a:rPr>
              <a:t>BACKLOG</a:t>
            </a:r>
          </a:p>
        </p:txBody>
      </p:sp>
      <p:sp>
        <p:nvSpPr>
          <p:cNvPr id="40" name="">
            <a:extLst xmlns:a="http://schemas.openxmlformats.org/drawingml/2006/main">
              <a:ext uri="{FF2B5EF4-FFF2-40B4-BE49-F238E27FC236}">
                <a16:creationId xmlns:a16="http://schemas.microsoft.com/office/drawing/2014/main" id="{836468BA-4C91-401A-AAB5-001B396DE500}"/>
              </a:ext>
            </a:extLst>
          </p:cNvPr>
          <p:cNvSpPr>
            <a:spLocks xmlns:a="http://schemas.openxmlformats.org/drawingml/2006/main" noGrp="1"/>
          </p:cNvSpPr>
          <p:nvPr/>
        </p:nvSpPr>
        <p:spPr>
          <a:xfrm xmlns:a="http://schemas.openxmlformats.org/drawingml/2006/main">
            <a:off x="914400" y="38290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ADB8C5"/>
                </a:solidFill>
                <a:latin typeface="Arial"/>
                <a:ea typeface="Arial"/>
                <a:cs typeface="Arial"/>
              </a:defRPr>
            </a:pPr>
            <a:r>
              <a:rPr sz="1650" b="1">
                <a:solidFill>
                  <a:srgbClr val="ADB8C5"/>
                </a:solidFill>
                <a:latin typeface="Arial"/>
                <a:ea typeface="Arial"/>
                <a:cs typeface="Arial"/>
              </a:rPr>
              <a:t>BEFORE</a:t>
            </a:r>
          </a:p>
        </p:txBody>
      </p:sp>
      <p:sp>
        <p:nvSpPr>
          <p:cNvPr id="41" name="">
            <a:extLst xmlns:a="http://schemas.openxmlformats.org/drawingml/2006/main">
              <a:ext uri="{FF2B5EF4-FFF2-40B4-BE49-F238E27FC236}">
                <a16:creationId xmlns:a16="http://schemas.microsoft.com/office/drawing/2014/main" id="{2F681EEE-40F8-451B-BCC5-665CF76407D6}"/>
              </a:ext>
            </a:extLst>
          </p:cNvPr>
          <p:cNvSpPr>
            <a:spLocks xmlns:a="http://schemas.openxmlformats.org/drawingml/2006/main" noGrp="1"/>
          </p:cNvSpPr>
          <p:nvPr/>
        </p:nvSpPr>
        <p:spPr>
          <a:xfrm xmlns:a="http://schemas.openxmlformats.org/drawingml/2006/main">
            <a:off x="914400" y="4152900"/>
            <a:ext cx="209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Balanced flow</a:t>
            </a:r>
          </a:p>
        </p:txBody>
      </p:sp>
      <p:sp>
        <p:nvSpPr>
          <p:cNvPr id="42" name="">
            <a:extLst xmlns:a="http://schemas.openxmlformats.org/drawingml/2006/main">
              <a:ext uri="{FF2B5EF4-FFF2-40B4-BE49-F238E27FC236}">
                <a16:creationId xmlns:a16="http://schemas.microsoft.com/office/drawing/2014/main" id="{C3976B42-E7FD-41B1-A2C3-63D52E0F2D69}"/>
              </a:ext>
            </a:extLst>
          </p:cNvPr>
          <p:cNvSpPr>
            <a:spLocks xmlns:a="http://schemas.openxmlformats.org/drawingml/2006/main" noGrp="1"/>
          </p:cNvSpPr>
          <p:nvPr/>
        </p:nvSpPr>
        <p:spPr>
          <a:xfrm xmlns:a="http://schemas.openxmlformats.org/drawingml/2006/main">
            <a:off x="323850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3" name="">
            <a:extLst xmlns:a="http://schemas.openxmlformats.org/drawingml/2006/main">
              <a:ext uri="{FF2B5EF4-FFF2-40B4-BE49-F238E27FC236}">
                <a16:creationId xmlns:a16="http://schemas.microsoft.com/office/drawing/2014/main" id="{E02F9740-C8EE-4D95-801F-BAB5AC78642C}"/>
              </a:ext>
            </a:extLst>
          </p:cNvPr>
          <p:cNvSpPr>
            <a:spLocks xmlns:a="http://schemas.openxmlformats.org/drawingml/2006/main" noGrp="1"/>
          </p:cNvSpPr>
          <p:nvPr/>
        </p:nvSpPr>
        <p:spPr>
          <a:xfrm xmlns:a="http://schemas.openxmlformats.org/drawingml/2006/main">
            <a:off x="335280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4" name="">
            <a:extLst xmlns:a="http://schemas.openxmlformats.org/drawingml/2006/main">
              <a:ext uri="{FF2B5EF4-FFF2-40B4-BE49-F238E27FC236}">
                <a16:creationId xmlns:a16="http://schemas.microsoft.com/office/drawing/2014/main" id="{ED7696E2-947D-463C-B594-A63085A19475}"/>
              </a:ext>
            </a:extLst>
          </p:cNvPr>
          <p:cNvSpPr>
            <a:spLocks xmlns:a="http://schemas.openxmlformats.org/drawingml/2006/main" noGrp="1"/>
          </p:cNvSpPr>
          <p:nvPr/>
        </p:nvSpPr>
        <p:spPr>
          <a:xfrm xmlns:a="http://schemas.openxmlformats.org/drawingml/2006/main">
            <a:off x="531495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5" name="">
            <a:extLst xmlns:a="http://schemas.openxmlformats.org/drawingml/2006/main">
              <a:ext uri="{FF2B5EF4-FFF2-40B4-BE49-F238E27FC236}">
                <a16:creationId xmlns:a16="http://schemas.microsoft.com/office/drawing/2014/main" id="{6F75E043-A663-4E5B-9843-26E1414FD74E}"/>
              </a:ext>
            </a:extLst>
          </p:cNvPr>
          <p:cNvSpPr>
            <a:spLocks xmlns:a="http://schemas.openxmlformats.org/drawingml/2006/main" noGrp="1"/>
          </p:cNvSpPr>
          <p:nvPr/>
        </p:nvSpPr>
        <p:spPr>
          <a:xfrm xmlns:a="http://schemas.openxmlformats.org/drawingml/2006/main">
            <a:off x="542925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6" name="">
            <a:extLst xmlns:a="http://schemas.openxmlformats.org/drawingml/2006/main">
              <a:ext uri="{FF2B5EF4-FFF2-40B4-BE49-F238E27FC236}">
                <a16:creationId xmlns:a16="http://schemas.microsoft.com/office/drawing/2014/main" id="{C710D817-8A93-4BA1-B27B-7A984D4A382E}"/>
              </a:ext>
            </a:extLst>
          </p:cNvPr>
          <p:cNvSpPr>
            <a:spLocks xmlns:a="http://schemas.openxmlformats.org/drawingml/2006/main" noGrp="1"/>
          </p:cNvSpPr>
          <p:nvPr/>
        </p:nvSpPr>
        <p:spPr>
          <a:xfrm xmlns:a="http://schemas.openxmlformats.org/drawingml/2006/main">
            <a:off x="739140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7" name="">
            <a:extLst xmlns:a="http://schemas.openxmlformats.org/drawingml/2006/main">
              <a:ext uri="{FF2B5EF4-FFF2-40B4-BE49-F238E27FC236}">
                <a16:creationId xmlns:a16="http://schemas.microsoft.com/office/drawing/2014/main" id="{FEF13508-F7BD-4907-AA07-022163631076}"/>
              </a:ext>
            </a:extLst>
          </p:cNvPr>
          <p:cNvSpPr>
            <a:spLocks xmlns:a="http://schemas.openxmlformats.org/drawingml/2006/main" noGrp="1"/>
          </p:cNvSpPr>
          <p:nvPr/>
        </p:nvSpPr>
        <p:spPr>
          <a:xfrm xmlns:a="http://schemas.openxmlformats.org/drawingml/2006/main">
            <a:off x="750570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8" name="">
            <a:extLst xmlns:a="http://schemas.openxmlformats.org/drawingml/2006/main">
              <a:ext uri="{FF2B5EF4-FFF2-40B4-BE49-F238E27FC236}">
                <a16:creationId xmlns:a16="http://schemas.microsoft.com/office/drawing/2014/main" id="{191F3FEB-0C13-4C82-90B2-60F5E9FB2672}"/>
              </a:ext>
            </a:extLst>
          </p:cNvPr>
          <p:cNvSpPr>
            <a:spLocks xmlns:a="http://schemas.openxmlformats.org/drawingml/2006/main" noGrp="1"/>
          </p:cNvSpPr>
          <p:nvPr/>
        </p:nvSpPr>
        <p:spPr>
          <a:xfrm xmlns:a="http://schemas.openxmlformats.org/drawingml/2006/main" flipH="0" flipV="0">
            <a:off x="4876800" y="41243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49" name="">
            <a:extLst xmlns:a="http://schemas.openxmlformats.org/drawingml/2006/main">
              <a:ext uri="{FF2B5EF4-FFF2-40B4-BE49-F238E27FC236}">
                <a16:creationId xmlns:a16="http://schemas.microsoft.com/office/drawing/2014/main" id="{F3EA1BA7-F064-4706-AF53-E389567AC4A0}"/>
              </a:ext>
            </a:extLst>
          </p:cNvPr>
          <p:cNvSpPr>
            <a:spLocks xmlns:a="http://schemas.openxmlformats.org/drawingml/2006/main" noGrp="1"/>
          </p:cNvSpPr>
          <p:nvPr/>
        </p:nvSpPr>
        <p:spPr>
          <a:xfrm xmlns:a="http://schemas.openxmlformats.org/drawingml/2006/main" flipH="0" flipV="0">
            <a:off x="6953250" y="41243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50" name="">
            <a:extLst xmlns:a="http://schemas.openxmlformats.org/drawingml/2006/main">
              <a:ext uri="{FF2B5EF4-FFF2-40B4-BE49-F238E27FC236}">
                <a16:creationId xmlns:a16="http://schemas.microsoft.com/office/drawing/2014/main" id="{77D6B1EB-6AE2-4596-BE78-472C5F60B16E}"/>
              </a:ext>
            </a:extLst>
          </p:cNvPr>
          <p:cNvSpPr>
            <a:spLocks xmlns:a="http://schemas.openxmlformats.org/drawingml/2006/main" noGrp="1"/>
          </p:cNvSpPr>
          <p:nvPr/>
        </p:nvSpPr>
        <p:spPr>
          <a:xfrm xmlns:a="http://schemas.openxmlformats.org/drawingml/2006/main">
            <a:off x="9582150" y="3829050"/>
            <a:ext cx="1695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925" b="1">
                <a:solidFill>
                  <a:srgbClr val="ADB8C5"/>
                </a:solidFill>
                <a:latin typeface="Arial"/>
                <a:ea typeface="Arial"/>
                <a:cs typeface="Arial"/>
              </a:defRPr>
            </a:pPr>
            <a:r>
              <a:rPr sz="2925" b="1">
                <a:solidFill>
                  <a:srgbClr val="ADB8C5"/>
                </a:solidFill>
                <a:latin typeface="Arial"/>
                <a:ea typeface="Arial"/>
                <a:cs typeface="Arial"/>
              </a:rPr>
              <a:t>0</a:t>
            </a:r>
          </a:p>
        </p:txBody>
      </p:sp>
      <p:sp>
        <p:nvSpPr>
          <p:cNvPr id="51" name="">
            <a:extLst xmlns:a="http://schemas.openxmlformats.org/drawingml/2006/main">
              <a:ext uri="{FF2B5EF4-FFF2-40B4-BE49-F238E27FC236}">
                <a16:creationId xmlns:a16="http://schemas.microsoft.com/office/drawing/2014/main" id="{61008C5D-8195-47B0-9175-0F5AA885A0D7}"/>
              </a:ext>
            </a:extLst>
          </p:cNvPr>
          <p:cNvSpPr>
            <a:spLocks xmlns:a="http://schemas.openxmlformats.org/drawingml/2006/main" noGrp="1"/>
          </p:cNvSpPr>
          <p:nvPr/>
        </p:nvSpPr>
        <p:spPr>
          <a:xfrm xmlns:a="http://schemas.openxmlformats.org/drawingml/2006/main">
            <a:off x="9582150" y="42862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no accumulation</a:t>
            </a:r>
          </a:p>
        </p:txBody>
      </p:sp>
      <p:sp>
        <p:nvSpPr>
          <p:cNvPr id="52" name="">
            <a:extLst xmlns:a="http://schemas.openxmlformats.org/drawingml/2006/main">
              <a:ext uri="{FF2B5EF4-FFF2-40B4-BE49-F238E27FC236}">
                <a16:creationId xmlns:a16="http://schemas.microsoft.com/office/drawing/2014/main" id="{40495763-BAE1-4A18-8B1B-69DD0954E9E2}"/>
              </a:ext>
            </a:extLst>
          </p:cNvPr>
          <p:cNvSpPr>
            <a:spLocks xmlns:a="http://schemas.openxmlformats.org/drawingml/2006/main" noGrp="1"/>
          </p:cNvSpPr>
          <p:nvPr/>
        </p:nvSpPr>
        <p:spPr>
          <a:xfrm xmlns:a="http://schemas.openxmlformats.org/drawingml/2006/main">
            <a:off x="914400" y="48196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AFTER AI</a:t>
            </a:r>
          </a:p>
        </p:txBody>
      </p:sp>
      <p:sp>
        <p:nvSpPr>
          <p:cNvPr id="53" name="">
            <a:extLst xmlns:a="http://schemas.openxmlformats.org/drawingml/2006/main">
              <a:ext uri="{FF2B5EF4-FFF2-40B4-BE49-F238E27FC236}">
                <a16:creationId xmlns:a16="http://schemas.microsoft.com/office/drawing/2014/main" id="{5EB02011-362D-479E-B566-DFEC4A22DC34}"/>
              </a:ext>
            </a:extLst>
          </p:cNvPr>
          <p:cNvSpPr>
            <a:spLocks xmlns:a="http://schemas.openxmlformats.org/drawingml/2006/main" noGrp="1"/>
          </p:cNvSpPr>
          <p:nvPr/>
        </p:nvSpPr>
        <p:spPr>
          <a:xfrm xmlns:a="http://schemas.openxmlformats.org/drawingml/2006/main">
            <a:off x="914400" y="5143500"/>
            <a:ext cx="209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Other stages have</a:t>
            </a:r>
          </a:p>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not sped up</a:t>
            </a:r>
          </a:p>
        </p:txBody>
      </p:sp>
      <p:sp>
        <p:nvSpPr>
          <p:cNvPr id="54" name="">
            <a:extLst xmlns:a="http://schemas.openxmlformats.org/drawingml/2006/main">
              <a:ext uri="{FF2B5EF4-FFF2-40B4-BE49-F238E27FC236}">
                <a16:creationId xmlns:a16="http://schemas.microsoft.com/office/drawing/2014/main" id="{299607FE-AD5C-4A2F-925E-D69336BADCA1}"/>
              </a:ext>
            </a:extLst>
          </p:cNvPr>
          <p:cNvSpPr>
            <a:spLocks xmlns:a="http://schemas.openxmlformats.org/drawingml/2006/main" noGrp="1"/>
          </p:cNvSpPr>
          <p:nvPr/>
        </p:nvSpPr>
        <p:spPr>
          <a:xfrm xmlns:a="http://schemas.openxmlformats.org/drawingml/2006/main">
            <a:off x="323850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55" name="">
            <a:extLst xmlns:a="http://schemas.openxmlformats.org/drawingml/2006/main">
              <a:ext uri="{FF2B5EF4-FFF2-40B4-BE49-F238E27FC236}">
                <a16:creationId xmlns:a16="http://schemas.microsoft.com/office/drawing/2014/main" id="{5B48B001-1048-4BDA-B2C3-15BF9B7A55E3}"/>
              </a:ext>
            </a:extLst>
          </p:cNvPr>
          <p:cNvSpPr>
            <a:spLocks xmlns:a="http://schemas.openxmlformats.org/drawingml/2006/main" noGrp="1"/>
          </p:cNvSpPr>
          <p:nvPr/>
        </p:nvSpPr>
        <p:spPr>
          <a:xfrm xmlns:a="http://schemas.openxmlformats.org/drawingml/2006/main">
            <a:off x="335280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28C7F7"/>
                </a:solidFill>
                <a:latin typeface="Arial"/>
                <a:ea typeface="Arial"/>
                <a:cs typeface="Arial"/>
              </a:defRPr>
            </a:pPr>
            <a:r>
              <a:rPr sz="2700" b="1">
                <a:solidFill>
                  <a:srgbClr val="28C7F7"/>
                </a:solidFill>
                <a:latin typeface="Arial"/>
                <a:ea typeface="Arial"/>
                <a:cs typeface="Arial"/>
              </a:rPr>
              <a:t>100</a:t>
            </a:r>
          </a:p>
        </p:txBody>
      </p:sp>
      <p:sp>
        <p:nvSpPr>
          <p:cNvPr id="56" name="">
            <a:extLst xmlns:a="http://schemas.openxmlformats.org/drawingml/2006/main">
              <a:ext uri="{FF2B5EF4-FFF2-40B4-BE49-F238E27FC236}">
                <a16:creationId xmlns:a16="http://schemas.microsoft.com/office/drawing/2014/main" id="{8FD6F51E-A5E4-4133-BACE-F36D65E2B100}"/>
              </a:ext>
            </a:extLst>
          </p:cNvPr>
          <p:cNvSpPr>
            <a:spLocks xmlns:a="http://schemas.openxmlformats.org/drawingml/2006/main" noGrp="1"/>
          </p:cNvSpPr>
          <p:nvPr/>
        </p:nvSpPr>
        <p:spPr>
          <a:xfrm xmlns:a="http://schemas.openxmlformats.org/drawingml/2006/main">
            <a:off x="531495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57" name="">
            <a:extLst xmlns:a="http://schemas.openxmlformats.org/drawingml/2006/main">
              <a:ext uri="{FF2B5EF4-FFF2-40B4-BE49-F238E27FC236}">
                <a16:creationId xmlns:a16="http://schemas.microsoft.com/office/drawing/2014/main" id="{99195CED-F542-4EC6-BD0E-98BB1695A402}"/>
              </a:ext>
            </a:extLst>
          </p:cNvPr>
          <p:cNvSpPr>
            <a:spLocks xmlns:a="http://schemas.openxmlformats.org/drawingml/2006/main" noGrp="1"/>
          </p:cNvSpPr>
          <p:nvPr/>
        </p:nvSpPr>
        <p:spPr>
          <a:xfrm xmlns:a="http://schemas.openxmlformats.org/drawingml/2006/main">
            <a:off x="542925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58" name="">
            <a:extLst xmlns:a="http://schemas.openxmlformats.org/drawingml/2006/main">
              <a:ext uri="{FF2B5EF4-FFF2-40B4-BE49-F238E27FC236}">
                <a16:creationId xmlns:a16="http://schemas.microsoft.com/office/drawing/2014/main" id="{3A4279D1-2C3F-4AA0-BA91-E6D8F99C3A36}"/>
              </a:ext>
            </a:extLst>
          </p:cNvPr>
          <p:cNvSpPr>
            <a:spLocks xmlns:a="http://schemas.openxmlformats.org/drawingml/2006/main" noGrp="1"/>
          </p:cNvSpPr>
          <p:nvPr/>
        </p:nvSpPr>
        <p:spPr>
          <a:xfrm xmlns:a="http://schemas.openxmlformats.org/drawingml/2006/main">
            <a:off x="739140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59" name="">
            <a:extLst xmlns:a="http://schemas.openxmlformats.org/drawingml/2006/main">
              <a:ext uri="{FF2B5EF4-FFF2-40B4-BE49-F238E27FC236}">
                <a16:creationId xmlns:a16="http://schemas.microsoft.com/office/drawing/2014/main" id="{FD528255-11E8-4A66-A460-7BDA4DEA1955}"/>
              </a:ext>
            </a:extLst>
          </p:cNvPr>
          <p:cNvSpPr>
            <a:spLocks xmlns:a="http://schemas.openxmlformats.org/drawingml/2006/main" noGrp="1"/>
          </p:cNvSpPr>
          <p:nvPr/>
        </p:nvSpPr>
        <p:spPr>
          <a:xfrm xmlns:a="http://schemas.openxmlformats.org/drawingml/2006/main">
            <a:off x="750570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60" name="">
            <a:extLst xmlns:a="http://schemas.openxmlformats.org/drawingml/2006/main">
              <a:ext uri="{FF2B5EF4-FFF2-40B4-BE49-F238E27FC236}">
                <a16:creationId xmlns:a16="http://schemas.microsoft.com/office/drawing/2014/main" id="{EACE4950-750B-4534-BF2A-613592D1423E}"/>
              </a:ext>
            </a:extLst>
          </p:cNvPr>
          <p:cNvSpPr>
            <a:spLocks xmlns:a="http://schemas.openxmlformats.org/drawingml/2006/main" noGrp="1"/>
          </p:cNvSpPr>
          <p:nvPr/>
        </p:nvSpPr>
        <p:spPr>
          <a:xfrm xmlns:a="http://schemas.openxmlformats.org/drawingml/2006/main" flipH="0" flipV="0">
            <a:off x="4876800" y="51149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1" name="">
            <a:extLst xmlns:a="http://schemas.openxmlformats.org/drawingml/2006/main">
              <a:ext uri="{FF2B5EF4-FFF2-40B4-BE49-F238E27FC236}">
                <a16:creationId xmlns:a16="http://schemas.microsoft.com/office/drawing/2014/main" id="{E4FFA6C9-63FC-4C0A-95D7-A07C3563CC98}"/>
              </a:ext>
            </a:extLst>
          </p:cNvPr>
          <p:cNvSpPr>
            <a:spLocks xmlns:a="http://schemas.openxmlformats.org/drawingml/2006/main" noGrp="1"/>
          </p:cNvSpPr>
          <p:nvPr/>
        </p:nvSpPr>
        <p:spPr>
          <a:xfrm xmlns:a="http://schemas.openxmlformats.org/drawingml/2006/main" flipH="0" flipV="0">
            <a:off x="6953250" y="51149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2" name="">
            <a:extLst xmlns:a="http://schemas.openxmlformats.org/drawingml/2006/main">
              <a:ext uri="{FF2B5EF4-FFF2-40B4-BE49-F238E27FC236}">
                <a16:creationId xmlns:a16="http://schemas.microsoft.com/office/drawing/2014/main" id="{3CA735E8-88E6-443E-B479-902EAE5F74EF}"/>
              </a:ext>
            </a:extLst>
          </p:cNvPr>
          <p:cNvSpPr>
            <a:spLocks xmlns:a="http://schemas.openxmlformats.org/drawingml/2006/main" noGrp="1"/>
          </p:cNvSpPr>
          <p:nvPr/>
        </p:nvSpPr>
        <p:spPr>
          <a:xfrm xmlns:a="http://schemas.openxmlformats.org/drawingml/2006/main">
            <a:off x="9582150" y="4819650"/>
            <a:ext cx="1695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925" b="1">
                <a:solidFill>
                  <a:srgbClr val="F5B61C"/>
                </a:solidFill>
                <a:latin typeface="Arial"/>
                <a:ea typeface="Arial"/>
                <a:cs typeface="Arial"/>
              </a:defRPr>
            </a:pPr>
            <a:r>
              <a:rPr sz="2925" b="1">
                <a:solidFill>
                  <a:srgbClr val="F5B61C"/>
                </a:solidFill>
                <a:latin typeface="Arial"/>
                <a:ea typeface="Arial"/>
                <a:cs typeface="Arial"/>
              </a:rPr>
              <a:t>+92</a:t>
            </a:r>
          </a:p>
        </p:txBody>
      </p:sp>
      <p:sp>
        <p:nvSpPr>
          <p:cNvPr id="63" name="">
            <a:extLst xmlns:a="http://schemas.openxmlformats.org/drawingml/2006/main">
              <a:ext uri="{FF2B5EF4-FFF2-40B4-BE49-F238E27FC236}">
                <a16:creationId xmlns:a16="http://schemas.microsoft.com/office/drawing/2014/main" id="{2260C6C9-A1DB-4542-B072-4578C811C446}"/>
              </a:ext>
            </a:extLst>
          </p:cNvPr>
          <p:cNvSpPr>
            <a:spLocks xmlns:a="http://schemas.openxmlformats.org/drawingml/2006/main" noGrp="1"/>
          </p:cNvSpPr>
          <p:nvPr/>
        </p:nvSpPr>
        <p:spPr>
          <a:xfrm xmlns:a="http://schemas.openxmlformats.org/drawingml/2006/main">
            <a:off x="9582150" y="52768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unfinished / week</a:t>
            </a:r>
          </a:p>
        </p:txBody>
      </p:sp>
      <p:sp>
        <p:nvSpPr>
          <p:cNvPr id="64" name="">
            <a:extLst xmlns:a="http://schemas.openxmlformats.org/drawingml/2006/main">
              <a:ext uri="{FF2B5EF4-FFF2-40B4-BE49-F238E27FC236}">
                <a16:creationId xmlns:a16="http://schemas.microsoft.com/office/drawing/2014/main" id="{1375D999-F66F-48EB-AB6A-9DED30B6FCF1}"/>
              </a:ext>
            </a:extLst>
          </p:cNvPr>
          <p:cNvSpPr>
            <a:spLocks xmlns:a="http://schemas.openxmlformats.org/drawingml/2006/main" noGrp="1"/>
          </p:cNvSpPr>
          <p:nvPr/>
        </p:nvSpPr>
        <p:spPr>
          <a:xfrm xmlns:a="http://schemas.openxmlformats.org/drawingml/2006/main" flipH="0" flipV="0">
            <a:off x="914400" y="5705475"/>
            <a:ext cx="10363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65" name="">
            <a:extLst xmlns:a="http://schemas.openxmlformats.org/drawingml/2006/main">
              <a:ext uri="{FF2B5EF4-FFF2-40B4-BE49-F238E27FC236}">
                <a16:creationId xmlns:a16="http://schemas.microsoft.com/office/drawing/2014/main" id="{3601FCB2-4FFF-4D06-913D-35399C3EBFEC}"/>
              </a:ext>
            </a:extLst>
          </p:cNvPr>
          <p:cNvSpPr>
            <a:spLocks xmlns:a="http://schemas.openxmlformats.org/drawingml/2006/main" noGrp="1"/>
          </p:cNvSpPr>
          <p:nvPr/>
        </p:nvSpPr>
        <p:spPr>
          <a:xfrm xmlns:a="http://schemas.openxmlformats.org/drawingml/2006/main">
            <a:off x="914400" y="5829300"/>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THEORY OF CONSTRAINTS</a:t>
            </a:r>
          </a:p>
        </p:txBody>
      </p:sp>
      <p:sp>
        <p:nvSpPr>
          <p:cNvPr id="66" name="">
            <a:extLst xmlns:a="http://schemas.openxmlformats.org/drawingml/2006/main">
              <a:ext uri="{FF2B5EF4-FFF2-40B4-BE49-F238E27FC236}">
                <a16:creationId xmlns:a16="http://schemas.microsoft.com/office/drawing/2014/main" id="{B891E0CF-C8F5-4919-B615-9D2D084CEFA4}"/>
              </a:ext>
            </a:extLst>
          </p:cNvPr>
          <p:cNvSpPr>
            <a:spLocks xmlns:a="http://schemas.openxmlformats.org/drawingml/2006/main" noGrp="1"/>
          </p:cNvSpPr>
          <p:nvPr/>
        </p:nvSpPr>
        <p:spPr>
          <a:xfrm xmlns:a="http://schemas.openxmlformats.org/drawingml/2006/main">
            <a:off x="914400" y="6143625"/>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4F7FA"/>
                </a:solidFill>
                <a:latin typeface="Arial"/>
                <a:ea typeface="Arial"/>
                <a:cs typeface="Arial"/>
              </a:defRPr>
            </a:pPr>
            <a:r>
              <a:rPr sz="1875" b="1">
                <a:solidFill>
                  <a:srgbClr val="F4F7FA"/>
                </a:solidFill>
                <a:latin typeface="Arial"/>
                <a:ea typeface="Arial"/>
                <a:cs typeface="Arial"/>
              </a:rPr>
              <a:t>Delivery stays at 8/week. WIP grows; overload can reduce quality.</a:t>
            </a:r>
          </a:p>
        </p:txBody>
      </p:sp>
      <p:sp>
        <p:nvSpPr>
          <p:cNvPr id="67" name="">
            <a:extLst xmlns:a="http://schemas.openxmlformats.org/drawingml/2006/main">
              <a:ext uri="{FF2B5EF4-FFF2-40B4-BE49-F238E27FC236}">
                <a16:creationId xmlns:a16="http://schemas.microsoft.com/office/drawing/2014/main" id="{BA894D7F-BCAA-410D-BDB1-BC32CB56A1B2}"/>
              </a:ext>
            </a:extLst>
          </p:cNvPr>
          <p:cNvSpPr>
            <a:spLocks xmlns:a="http://schemas.openxmlformats.org/drawingml/2006/main" noGrp="1"/>
          </p:cNvSpPr>
          <p:nvPr/>
        </p:nvSpPr>
        <p:spPr>
          <a:xfrm xmlns:a="http://schemas.openxmlformats.org/drawingml/2006/main">
            <a:off x="6381750" y="5829300"/>
            <a:ext cx="489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ADB8C5"/>
                </a:solidFill>
                <a:latin typeface="Arial"/>
                <a:ea typeface="Arial"/>
                <a:cs typeface="Arial"/>
              </a:defRPr>
            </a:pPr>
            <a:r>
              <a:rPr sz="1350" b="0">
                <a:solidFill>
                  <a:srgbClr val="ADB8C5"/>
                </a:solidFill>
                <a:latin typeface="Arial"/>
                <a:ea typeface="Arial"/>
                <a:cs typeface="Arial"/>
              </a:rPr>
              <a:t>Push system: no WIP limit, no discarded work.</a:t>
            </a:r>
          </a:p>
        </p:txBody>
      </p:sp>
    </p:spTree>
    <p:extLst>
      <p:ext uri="{BB962C8B-B14F-4D97-AF65-F5344CB8AC3E}">
        <p14:creationId xmlns:p14="http://schemas.microsoft.com/office/powerpoint/2010/main" val="911927030"/>
      </p:ext>
    </p:extLst>
  </p:cSld>
</p:sld>
</file>

<file path=ppt/slides/slide4.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06E837D1-4DD1-48FC-9289-FD7B22F0B112}"/>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Evidence Is Already Messy</a:t>
            </a:r>
          </a:p>
        </p:txBody>
      </p:sp>
      <p:sp>
        <p:nvSpPr>
          <p:cNvPr id="2" name="">
            <a:extLst xmlns:a="http://schemas.openxmlformats.org/drawingml/2006/main">
              <a:ext uri="{FF2B5EF4-FFF2-40B4-BE49-F238E27FC236}">
                <a16:creationId xmlns:a16="http://schemas.microsoft.com/office/drawing/2014/main" id="{B73C072F-EFF3-4DE1-A9A8-1911D3ED1498}"/>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F2596C2C-CF0B-4364-9AE2-BFC9F2143169}"/>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EEEAFD35-F2FD-4B62-8B71-9E362C3E337A}"/>
              </a:ext>
            </a:extLst>
          </p:cNvPr>
          <p:cNvSpPr>
            <a:spLocks xmlns:a="http://schemas.openxmlformats.org/drawingml/2006/main" noGrp="1"/>
          </p:cNvSpPr>
          <p:nvPr/>
        </p:nvSpPr>
        <p:spPr>
          <a:xfrm xmlns:a="http://schemas.openxmlformats.org/drawingml/2006/main">
            <a:off x="609600" y="11525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Different studies measure different outcomes — not one universal productivity effect.</a:t>
            </a:r>
          </a:p>
        </p:txBody>
      </p:sp>
      <p:sp>
        <p:nvSpPr>
          <p:cNvPr id="5" name="">
            <a:extLst xmlns:a="http://schemas.openxmlformats.org/drawingml/2006/main">
              <a:ext uri="{FF2B5EF4-FFF2-40B4-BE49-F238E27FC236}">
                <a16:creationId xmlns:a16="http://schemas.microsoft.com/office/drawing/2014/main" id="{ADAB9E40-259A-4665-A806-80E06F42D942}"/>
              </a:ext>
            </a:extLst>
          </p:cNvPr>
          <p:cNvSpPr>
            <a:spLocks xmlns:a="http://schemas.openxmlformats.org/drawingml/2006/main" noGrp="1"/>
          </p:cNvSpPr>
          <p:nvPr/>
        </p:nvSpPr>
        <p:spPr>
          <a:xfrm xmlns:a="http://schemas.openxmlformats.org/drawingml/2006/main" flipH="0" flipV="0">
            <a:off x="5553075" y="1743075"/>
            <a:ext cx="0" cy="3648075"/>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6" name="">
            <a:extLst xmlns:a="http://schemas.openxmlformats.org/drawingml/2006/main">
              <a:ext uri="{FF2B5EF4-FFF2-40B4-BE49-F238E27FC236}">
                <a16:creationId xmlns:a16="http://schemas.microsoft.com/office/drawing/2014/main" id="{A8359180-69AB-4F53-816F-2C81F3CC3901}"/>
              </a:ext>
            </a:extLst>
          </p:cNvPr>
          <p:cNvSpPr>
            <a:spLocks xmlns:a="http://schemas.openxmlformats.org/drawingml/2006/main" noGrp="1"/>
          </p:cNvSpPr>
          <p:nvPr/>
        </p:nvSpPr>
        <p:spPr>
          <a:xfrm xmlns:a="http://schemas.openxmlformats.org/drawingml/2006/main">
            <a:off x="609600" y="1714500"/>
            <a:ext cx="4800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NBER · SEP 2026 · &gt;500K GITHUB DEVS</a:t>
            </a:r>
          </a:p>
        </p:txBody>
      </p:sp>
      <p:sp>
        <p:nvSpPr>
          <p:cNvPr id="7" name="">
            <a:extLst xmlns:a="http://schemas.openxmlformats.org/drawingml/2006/main">
              <a:ext uri="{FF2B5EF4-FFF2-40B4-BE49-F238E27FC236}">
                <a16:creationId xmlns:a16="http://schemas.microsoft.com/office/drawing/2014/main" id="{3039C84D-F3FA-488D-AEF8-913C97ED2F4F}"/>
              </a:ext>
            </a:extLst>
          </p:cNvPr>
          <p:cNvSpPr>
            <a:spLocks xmlns:a="http://schemas.openxmlformats.org/drawingml/2006/main" noGrp="1"/>
          </p:cNvSpPr>
          <p:nvPr/>
        </p:nvSpPr>
        <p:spPr>
          <a:xfrm xmlns:a="http://schemas.openxmlformats.org/drawingml/2006/main">
            <a:off x="609600"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25.5×</a:t>
            </a:r>
          </a:p>
        </p:txBody>
      </p:sp>
      <p:sp>
        <p:nvSpPr>
          <p:cNvPr id="8" name="">
            <a:extLst xmlns:a="http://schemas.openxmlformats.org/drawingml/2006/main">
              <a:ext uri="{FF2B5EF4-FFF2-40B4-BE49-F238E27FC236}">
                <a16:creationId xmlns:a16="http://schemas.microsoft.com/office/drawing/2014/main" id="{19C3AD07-1500-435C-8741-66C5E13A1D04}"/>
              </a:ext>
            </a:extLst>
          </p:cNvPr>
          <p:cNvSpPr>
            <a:spLocks xmlns:a="http://schemas.openxmlformats.org/drawingml/2006/main" noGrp="1"/>
          </p:cNvSpPr>
          <p:nvPr/>
        </p:nvSpPr>
        <p:spPr>
          <a:xfrm xmlns:a="http://schemas.openxmlformats.org/drawingml/2006/main">
            <a:off x="609600"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changed LOC</a:t>
            </a:r>
          </a:p>
        </p:txBody>
      </p:sp>
      <p:sp>
        <p:nvSpPr>
          <p:cNvPr id="9" name="">
            <a:extLst xmlns:a="http://schemas.openxmlformats.org/drawingml/2006/main">
              <a:ext uri="{FF2B5EF4-FFF2-40B4-BE49-F238E27FC236}">
                <a16:creationId xmlns:a16="http://schemas.microsoft.com/office/drawing/2014/main" id="{4EC13811-89D7-4F49-9BDB-2F39CD14DCD3}"/>
              </a:ext>
            </a:extLst>
          </p:cNvPr>
          <p:cNvSpPr>
            <a:spLocks xmlns:a="http://schemas.openxmlformats.org/drawingml/2006/main" noGrp="1"/>
          </p:cNvSpPr>
          <p:nvPr/>
        </p:nvSpPr>
        <p:spPr>
          <a:xfrm xmlns:a="http://schemas.openxmlformats.org/drawingml/2006/main">
            <a:off x="2219325"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3.4×</a:t>
            </a:r>
          </a:p>
        </p:txBody>
      </p:sp>
      <p:sp>
        <p:nvSpPr>
          <p:cNvPr id="10" name="">
            <a:extLst xmlns:a="http://schemas.openxmlformats.org/drawingml/2006/main">
              <a:ext uri="{FF2B5EF4-FFF2-40B4-BE49-F238E27FC236}">
                <a16:creationId xmlns:a16="http://schemas.microsoft.com/office/drawing/2014/main" id="{1C0AD475-B45B-497E-851D-4B52C5F850BF}"/>
              </a:ext>
            </a:extLst>
          </p:cNvPr>
          <p:cNvSpPr>
            <a:spLocks xmlns:a="http://schemas.openxmlformats.org/drawingml/2006/main" noGrp="1"/>
          </p:cNvSpPr>
          <p:nvPr/>
        </p:nvSpPr>
        <p:spPr>
          <a:xfrm xmlns:a="http://schemas.openxmlformats.org/drawingml/2006/main">
            <a:off x="2219325"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commits</a:t>
            </a:r>
          </a:p>
        </p:txBody>
      </p:sp>
      <p:sp>
        <p:nvSpPr>
          <p:cNvPr id="11" name="">
            <a:extLst xmlns:a="http://schemas.openxmlformats.org/drawingml/2006/main">
              <a:ext uri="{FF2B5EF4-FFF2-40B4-BE49-F238E27FC236}">
                <a16:creationId xmlns:a16="http://schemas.microsoft.com/office/drawing/2014/main" id="{DDC528E9-C1FB-4A6A-9659-3D70C1448D09}"/>
              </a:ext>
            </a:extLst>
          </p:cNvPr>
          <p:cNvSpPr>
            <a:spLocks xmlns:a="http://schemas.openxmlformats.org/drawingml/2006/main" noGrp="1"/>
          </p:cNvSpPr>
          <p:nvPr/>
        </p:nvSpPr>
        <p:spPr>
          <a:xfrm xmlns:a="http://schemas.openxmlformats.org/drawingml/2006/main">
            <a:off x="3829050"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1.3×</a:t>
            </a:r>
          </a:p>
        </p:txBody>
      </p:sp>
      <p:sp>
        <p:nvSpPr>
          <p:cNvPr id="12" name="">
            <a:extLst xmlns:a="http://schemas.openxmlformats.org/drawingml/2006/main">
              <a:ext uri="{FF2B5EF4-FFF2-40B4-BE49-F238E27FC236}">
                <a16:creationId xmlns:a16="http://schemas.microsoft.com/office/drawing/2014/main" id="{BC023E71-4F6E-4F85-B7D5-E470725DD9D0}"/>
              </a:ext>
            </a:extLst>
          </p:cNvPr>
          <p:cNvSpPr>
            <a:spLocks xmlns:a="http://schemas.openxmlformats.org/drawingml/2006/main" noGrp="1"/>
          </p:cNvSpPr>
          <p:nvPr/>
        </p:nvSpPr>
        <p:spPr>
          <a:xfrm xmlns:a="http://schemas.openxmlformats.org/drawingml/2006/main">
            <a:off x="3829050"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releases</a:t>
            </a:r>
          </a:p>
        </p:txBody>
      </p:sp>
      <p:sp>
        <p:nvSpPr>
          <p:cNvPr id="13" name="">
            <a:extLst xmlns:a="http://schemas.openxmlformats.org/drawingml/2006/main">
              <a:ext uri="{FF2B5EF4-FFF2-40B4-BE49-F238E27FC236}">
                <a16:creationId xmlns:a16="http://schemas.microsoft.com/office/drawing/2014/main" id="{B3C36073-22F4-4108-B2A1-3129BC0B437A}"/>
              </a:ext>
            </a:extLst>
          </p:cNvPr>
          <p:cNvSpPr>
            <a:spLocks xmlns:a="http://schemas.openxmlformats.org/drawingml/2006/main" noGrp="1"/>
          </p:cNvSpPr>
          <p:nvPr/>
        </p:nvSpPr>
        <p:spPr>
          <a:xfrm xmlns:a="http://schemas.openxmlformats.org/drawingml/2006/main">
            <a:off x="609600" y="2990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Cumulative across three tool generations</a:t>
            </a:r>
          </a:p>
        </p:txBody>
      </p:sp>
      <p:sp>
        <p:nvSpPr>
          <p:cNvPr id="14" name="">
            <a:extLst xmlns:a="http://schemas.openxmlformats.org/drawingml/2006/main">
              <a:ext uri="{FF2B5EF4-FFF2-40B4-BE49-F238E27FC236}">
                <a16:creationId xmlns:a16="http://schemas.microsoft.com/office/drawing/2014/main" id="{1717FC28-AAEB-4383-A174-65F1E8BA0FB9}"/>
              </a:ext>
            </a:extLst>
          </p:cNvPr>
          <p:cNvSpPr>
            <a:spLocks xmlns:a="http://schemas.openxmlformats.org/drawingml/2006/main" noGrp="1"/>
          </p:cNvSpPr>
          <p:nvPr/>
        </p:nvSpPr>
        <p:spPr>
          <a:xfrm xmlns:a="http://schemas.openxmlformats.org/drawingml/2006/main">
            <a:off x="609600" y="3324225"/>
            <a:ext cx="4800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Changed LOC = additions + deletions.</a:t>
            </a:r>
          </a:p>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Fig. 1 rounded; async releases not estimated.</a:t>
            </a:r>
          </a:p>
        </p:txBody>
      </p:sp>
      <p:sp>
        <p:nvSpPr>
          <p:cNvPr id="15" name="">
            <a:extLst xmlns:a="http://schemas.openxmlformats.org/drawingml/2006/main">
              <a:ext uri="{FF2B5EF4-FFF2-40B4-BE49-F238E27FC236}">
                <a16:creationId xmlns:a16="http://schemas.microsoft.com/office/drawing/2014/main" id="{A67D39BB-1983-464A-A151-24E66AEE8218}"/>
              </a:ext>
            </a:extLst>
          </p:cNvPr>
          <p:cNvSpPr>
            <a:spLocks xmlns:a="http://schemas.openxmlformats.org/drawingml/2006/main" noGrp="1"/>
          </p:cNvSpPr>
          <p:nvPr/>
        </p:nvSpPr>
        <p:spPr>
          <a:xfrm xmlns:a="http://schemas.openxmlformats.org/drawingml/2006/main">
            <a:off x="609600" y="3981450"/>
            <a:ext cx="4800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4F7FA"/>
                </a:solidFill>
                <a:latin typeface="Arial"/>
                <a:ea typeface="Arial"/>
                <a:cs typeface="Arial"/>
              </a:defRPr>
            </a:pPr>
            <a:r>
              <a:rPr sz="1725" b="1">
                <a:solidFill>
                  <a:srgbClr val="F4F7FA"/>
                </a:solidFill>
                <a:latin typeface="Arial"/>
                <a:ea typeface="Arial"/>
                <a:cs typeface="Arial"/>
              </a:rPr>
              <a:t>More apps. Low-usage shares rise.</a:t>
            </a:r>
          </a:p>
        </p:txBody>
      </p:sp>
      <p:sp>
        <p:nvSpPr>
          <p:cNvPr id="16" name="">
            <a:extLst xmlns:a="http://schemas.openxmlformats.org/drawingml/2006/main">
              <a:ext uri="{FF2B5EF4-FFF2-40B4-BE49-F238E27FC236}">
                <a16:creationId xmlns:a16="http://schemas.microsoft.com/office/drawing/2014/main" id="{E8BB00CB-3D50-44B3-8803-3D9CDAB5AD3B}"/>
              </a:ext>
            </a:extLst>
          </p:cNvPr>
          <p:cNvSpPr>
            <a:spLocks xmlns:a="http://schemas.openxmlformats.org/drawingml/2006/main" noGrp="1"/>
          </p:cNvSpPr>
          <p:nvPr/>
        </p:nvSpPr>
        <p:spPr>
          <a:xfrm xmlns:a="http://schemas.openxmlformats.org/drawingml/2006/main">
            <a:off x="609600" y="4362450"/>
            <a:ext cx="2466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iOS: &lt;10 ratings</a:t>
            </a:r>
          </a:p>
        </p:txBody>
      </p:sp>
      <p:sp>
        <p:nvSpPr>
          <p:cNvPr id="17" name="">
            <a:extLst xmlns:a="http://schemas.openxmlformats.org/drawingml/2006/main">
              <a:ext uri="{FF2B5EF4-FFF2-40B4-BE49-F238E27FC236}">
                <a16:creationId xmlns:a16="http://schemas.microsoft.com/office/drawing/2014/main" id="{E2798D11-CED0-466D-9A93-18BAFFC5B81B}"/>
              </a:ext>
            </a:extLst>
          </p:cNvPr>
          <p:cNvSpPr>
            <a:spLocks xmlns:a="http://schemas.openxmlformats.org/drawingml/2006/main" noGrp="1"/>
          </p:cNvSpPr>
          <p:nvPr/>
        </p:nvSpPr>
        <p:spPr>
          <a:xfrm xmlns:a="http://schemas.openxmlformats.org/drawingml/2006/main">
            <a:off x="3076575" y="4362450"/>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1">
                <a:solidFill>
                  <a:srgbClr val="F5B61C"/>
                </a:solidFill>
                <a:latin typeface="Arial"/>
                <a:ea typeface="Arial"/>
                <a:cs typeface="Arial"/>
              </a:defRPr>
            </a:pPr>
            <a:r>
              <a:rPr sz="1725" b="1">
                <a:solidFill>
                  <a:srgbClr val="F5B61C"/>
                </a:solidFill>
                <a:latin typeface="Arial"/>
                <a:ea typeface="Arial"/>
                <a:cs typeface="Arial"/>
              </a:rPr>
              <a:t>≈78% → 87%</a:t>
            </a:r>
          </a:p>
        </p:txBody>
      </p:sp>
      <p:sp>
        <p:nvSpPr>
          <p:cNvPr id="18" name="">
            <a:extLst xmlns:a="http://schemas.openxmlformats.org/drawingml/2006/main">
              <a:ext uri="{FF2B5EF4-FFF2-40B4-BE49-F238E27FC236}">
                <a16:creationId xmlns:a16="http://schemas.microsoft.com/office/drawing/2014/main" id="{EA7F2D8C-BF8B-46E4-95FD-5A39FC2B6024}"/>
              </a:ext>
            </a:extLst>
          </p:cNvPr>
          <p:cNvSpPr>
            <a:spLocks xmlns:a="http://schemas.openxmlformats.org/drawingml/2006/main" noGrp="1"/>
          </p:cNvSpPr>
          <p:nvPr/>
        </p:nvSpPr>
        <p:spPr>
          <a:xfrm xmlns:a="http://schemas.openxmlformats.org/drawingml/2006/main">
            <a:off x="609600" y="4667250"/>
            <a:ext cx="2466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Chrome: &lt;10 downloads</a:t>
            </a:r>
          </a:p>
        </p:txBody>
      </p:sp>
      <p:sp>
        <p:nvSpPr>
          <p:cNvPr id="19" name="">
            <a:extLst xmlns:a="http://schemas.openxmlformats.org/drawingml/2006/main">
              <a:ext uri="{FF2B5EF4-FFF2-40B4-BE49-F238E27FC236}">
                <a16:creationId xmlns:a16="http://schemas.microsoft.com/office/drawing/2014/main" id="{2FE93D71-92C8-4547-B1C8-3A5B7D363DE2}"/>
              </a:ext>
            </a:extLst>
          </p:cNvPr>
          <p:cNvSpPr>
            <a:spLocks xmlns:a="http://schemas.openxmlformats.org/drawingml/2006/main" noGrp="1"/>
          </p:cNvSpPr>
          <p:nvPr/>
        </p:nvSpPr>
        <p:spPr>
          <a:xfrm xmlns:a="http://schemas.openxmlformats.org/drawingml/2006/main">
            <a:off x="3076575" y="4667250"/>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1">
                <a:solidFill>
                  <a:srgbClr val="F5B61C"/>
                </a:solidFill>
                <a:latin typeface="Arial"/>
                <a:ea typeface="Arial"/>
                <a:cs typeface="Arial"/>
              </a:defRPr>
            </a:pPr>
            <a:r>
              <a:rPr sz="1725" b="1">
                <a:solidFill>
                  <a:srgbClr val="F5B61C"/>
                </a:solidFill>
                <a:latin typeface="Arial"/>
                <a:ea typeface="Arial"/>
                <a:cs typeface="Arial"/>
              </a:rPr>
              <a:t>19% → 33%</a:t>
            </a:r>
          </a:p>
        </p:txBody>
      </p:sp>
      <p:sp>
        <p:nvSpPr>
          <p:cNvPr id="20" name="">
            <a:extLst xmlns:a="http://schemas.openxmlformats.org/drawingml/2006/main">
              <a:ext uri="{FF2B5EF4-FFF2-40B4-BE49-F238E27FC236}">
                <a16:creationId xmlns:a16="http://schemas.microsoft.com/office/drawing/2014/main" id="{0B846724-348A-4767-A9E7-378328F5B566}"/>
              </a:ext>
            </a:extLst>
          </p:cNvPr>
          <p:cNvSpPr>
            <a:spLocks xmlns:a="http://schemas.openxmlformats.org/drawingml/2006/main" noGrp="1"/>
          </p:cNvSpPr>
          <p:nvPr/>
        </p:nvSpPr>
        <p:spPr>
          <a:xfrm xmlns:a="http://schemas.openxmlformats.org/drawingml/2006/main">
            <a:off x="609600" y="5010150"/>
            <a:ext cx="4800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4 marketplaces; iOS / Chrome shown.</a:t>
            </a:r>
          </a:p>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Jan 2025–Apr 2026; first 3 months.</a:t>
            </a:r>
          </a:p>
        </p:txBody>
      </p:sp>
      <p:sp>
        <p:nvSpPr>
          <p:cNvPr id="21" name="">
            <a:extLst xmlns:a="http://schemas.openxmlformats.org/drawingml/2006/main">
              <a:ext uri="{FF2B5EF4-FFF2-40B4-BE49-F238E27FC236}">
                <a16:creationId xmlns:a16="http://schemas.microsoft.com/office/drawing/2014/main" id="{5F85E6B5-82A2-4B21-8C41-1370B34543AD}"/>
              </a:ext>
            </a:extLst>
          </p:cNvPr>
          <p:cNvSpPr>
            <a:spLocks xmlns:a="http://schemas.openxmlformats.org/drawingml/2006/main" noGrp="1"/>
          </p:cNvSpPr>
          <p:nvPr/>
        </p:nvSpPr>
        <p:spPr>
          <a:xfrm xmlns:a="http://schemas.openxmlformats.org/drawingml/2006/main">
            <a:off x="5867400" y="171450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DORA · 2025 · n = 4,867</a:t>
            </a:r>
          </a:p>
        </p:txBody>
      </p:sp>
      <p:sp>
        <p:nvSpPr>
          <p:cNvPr id="22" name="">
            <a:extLst xmlns:a="http://schemas.openxmlformats.org/drawingml/2006/main">
              <a:ext uri="{FF2B5EF4-FFF2-40B4-BE49-F238E27FC236}">
                <a16:creationId xmlns:a16="http://schemas.microsoft.com/office/drawing/2014/main" id="{2257CE7F-CA4E-46FC-A48E-0ACDC96ECF2A}"/>
              </a:ext>
            </a:extLst>
          </p:cNvPr>
          <p:cNvSpPr>
            <a:spLocks xmlns:a="http://schemas.openxmlformats.org/drawingml/2006/main" noGrp="1"/>
          </p:cNvSpPr>
          <p:nvPr/>
        </p:nvSpPr>
        <p:spPr>
          <a:xfrm xmlns:a="http://schemas.openxmlformats.org/drawingml/2006/main">
            <a:off x="5867400" y="2057400"/>
            <a:ext cx="571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SELF-REPORTED: &gt;80% productivity ↑</a:t>
            </a:r>
          </a:p>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59% code quality ↑</a:t>
            </a:r>
          </a:p>
        </p:txBody>
      </p:sp>
      <p:sp>
        <p:nvSpPr>
          <p:cNvPr id="23" name="">
            <a:extLst xmlns:a="http://schemas.openxmlformats.org/drawingml/2006/main">
              <a:ext uri="{FF2B5EF4-FFF2-40B4-BE49-F238E27FC236}">
                <a16:creationId xmlns:a16="http://schemas.microsoft.com/office/drawing/2014/main" id="{B6CB929B-FB86-44D9-A3C3-510E41377D4A}"/>
              </a:ext>
            </a:extLst>
          </p:cNvPr>
          <p:cNvSpPr>
            <a:spLocks xmlns:a="http://schemas.openxmlformats.org/drawingml/2006/main" noGrp="1"/>
          </p:cNvSpPr>
          <p:nvPr/>
        </p:nvSpPr>
        <p:spPr>
          <a:xfrm xmlns:a="http://schemas.openxmlformats.org/drawingml/2006/main">
            <a:off x="5867400" y="26289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5B61C"/>
                </a:solidFill>
                <a:latin typeface="Arial"/>
                <a:ea typeface="Arial"/>
                <a:cs typeface="Arial"/>
              </a:defRPr>
            </a:pPr>
            <a:r>
              <a:rPr sz="1500" b="1">
                <a:solidFill>
                  <a:srgbClr val="F5B61C"/>
                </a:solidFill>
                <a:latin typeface="Arial"/>
                <a:ea typeface="Arial"/>
                <a:cs typeface="Arial"/>
              </a:rPr>
              <a:t>Higher adoption ↔ throughput + instability</a:t>
            </a:r>
          </a:p>
        </p:txBody>
      </p:sp>
      <p:sp>
        <p:nvSpPr>
          <p:cNvPr id="24" name="">
            <a:extLst xmlns:a="http://schemas.openxmlformats.org/drawingml/2006/main">
              <a:ext uri="{FF2B5EF4-FFF2-40B4-BE49-F238E27FC236}">
                <a16:creationId xmlns:a16="http://schemas.microsoft.com/office/drawing/2014/main" id="{920B14BF-53D9-4D4C-ABE6-A2965892298B}"/>
              </a:ext>
            </a:extLst>
          </p:cNvPr>
          <p:cNvSpPr>
            <a:spLocks xmlns:a="http://schemas.openxmlformats.org/drawingml/2006/main" noGrp="1"/>
          </p:cNvSpPr>
          <p:nvPr/>
        </p:nvSpPr>
        <p:spPr>
          <a:xfrm xmlns:a="http://schemas.openxmlformats.org/drawingml/2006/main">
            <a:off x="5867400" y="2924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Instability: failed production changes + unplanned fixes.</a:t>
            </a:r>
          </a:p>
        </p:txBody>
      </p:sp>
      <p:sp>
        <p:nvSpPr>
          <p:cNvPr id="25" name="">
            <a:extLst xmlns:a="http://schemas.openxmlformats.org/drawingml/2006/main">
              <a:ext uri="{FF2B5EF4-FFF2-40B4-BE49-F238E27FC236}">
                <a16:creationId xmlns:a16="http://schemas.microsoft.com/office/drawing/2014/main" id="{BC3B6CE7-4B7B-4C96-A8EE-E450AA015BA9}"/>
              </a:ext>
            </a:extLst>
          </p:cNvPr>
          <p:cNvSpPr>
            <a:spLocks xmlns:a="http://schemas.openxmlformats.org/drawingml/2006/main" noGrp="1"/>
          </p:cNvSpPr>
          <p:nvPr/>
        </p:nvSpPr>
        <p:spPr>
          <a:xfrm xmlns:a="http://schemas.openxmlformats.org/drawingml/2006/main">
            <a:off x="5867400" y="31718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Survey association; no causal estimate.</a:t>
            </a:r>
          </a:p>
        </p:txBody>
      </p:sp>
      <p:sp>
        <p:nvSpPr>
          <p:cNvPr id="26" name="">
            <a:extLst xmlns:a="http://schemas.openxmlformats.org/drawingml/2006/main">
              <a:ext uri="{FF2B5EF4-FFF2-40B4-BE49-F238E27FC236}">
                <a16:creationId xmlns:a16="http://schemas.microsoft.com/office/drawing/2014/main" id="{592C2A3F-5568-4469-BBA5-58A90A362563}"/>
              </a:ext>
            </a:extLst>
          </p:cNvPr>
          <p:cNvSpPr>
            <a:spLocks xmlns:a="http://schemas.openxmlformats.org/drawingml/2006/main" noGrp="1"/>
          </p:cNvSpPr>
          <p:nvPr/>
        </p:nvSpPr>
        <p:spPr>
          <a:xfrm xmlns:a="http://schemas.openxmlformats.org/drawingml/2006/main" flipH="0" flipV="0">
            <a:off x="5867400" y="3495675"/>
            <a:ext cx="57150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7" name="">
            <a:extLst xmlns:a="http://schemas.openxmlformats.org/drawingml/2006/main">
              <a:ext uri="{FF2B5EF4-FFF2-40B4-BE49-F238E27FC236}">
                <a16:creationId xmlns:a16="http://schemas.microsoft.com/office/drawing/2014/main" id="{6E610400-EDAE-46F2-9BBF-003B31C5E41B}"/>
              </a:ext>
            </a:extLst>
          </p:cNvPr>
          <p:cNvSpPr>
            <a:spLocks xmlns:a="http://schemas.openxmlformats.org/drawingml/2006/main" noGrp="1"/>
          </p:cNvSpPr>
          <p:nvPr/>
        </p:nvSpPr>
        <p:spPr>
          <a:xfrm xmlns:a="http://schemas.openxmlformats.org/drawingml/2006/main">
            <a:off x="5867400" y="35623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GITCLEAR · SHARES OF CHANGED LINES</a:t>
            </a:r>
          </a:p>
        </p:txBody>
      </p:sp>
      <p:graphicFrame>
        <p:nvGraphicFramePr>
          <p:cNvPr id="67" name=""/>
          <p:cNvGraphicFramePr/>
          <p:nvPr/>
        </p:nvGraphicFramePr>
        <p:xfrm>
          <a:off xmlns:a="http://schemas.openxmlformats.org/drawingml/2006/main" x="5867400" y="3886200"/>
          <a:ext xmlns:a="http://schemas.openxmlformats.org/drawingml/2006/main" cx="5715000" cy="942975"/>
        </p:xfrm>
        <a:graphic xmlns:a="http://schemas.openxmlformats.org/drawingml/2006/main">
          <a:graphicData uri="http://schemas.openxmlformats.org/drawingml/2006/table">
            <a:tbl>
              <a:tblPr/>
              <a:tblGrid>
                <a:gridCol w="2381250"/>
                <a:gridCol w="1524000"/>
                <a:gridCol w="1809750"/>
              </a:tblGrid>
              <a:tr h="314325">
                <a:tc>
                  <a:txBody>
                    <a:bodyPr lIns="171450" tIns="19050" rIns="171450" bIns="19050">
                      <a:noAutofit/>
                    </a:bodyPr>
                    <a:lstStyle/>
                    <a:p>
                      <a:r>
                        <a:rPr sz="1575" b="1">
                          <a:solidFill>
                            <a:srgbClr val="F4F7FA"/>
                          </a:solidFill>
                          <a:latin typeface="Arial"/>
                          <a:ea typeface="Arial"/>
                          <a:cs typeface="Arial"/>
                        </a:rPr>
                        <a:t>Metric</a:t>
                      </a:r>
                    </a:p>
                  </a:txBody>
                  <a:tcPr marL="91440" marR="91440" marT="45720" marB="45720" anchor="ctr">
                    <a:solidFill>
                      <a:srgbClr val="1A2734"/>
                    </a:solidFill>
                  </a:tcPr>
                </a:tc>
                <a:tc>
                  <a:txBody>
                    <a:bodyPr lIns="171450" tIns="19050" rIns="171450" bIns="19050">
                      <a:noAutofit/>
                    </a:bodyPr>
                    <a:lstStyle/>
                    <a:p>
                      <a:r>
                        <a:rPr sz="1575" b="1">
                          <a:solidFill>
                            <a:srgbClr val="F4F7FA"/>
                          </a:solidFill>
                          <a:latin typeface="Arial"/>
                          <a:ea typeface="Arial"/>
                          <a:cs typeface="Arial"/>
                        </a:rPr>
                        <a:t>2021¹</a:t>
                      </a:r>
                    </a:p>
                  </a:txBody>
                  <a:tcPr marL="91440" marR="91440" marT="45720" marB="45720" anchor="ctr">
                    <a:solidFill>
                      <a:srgbClr val="1A2734"/>
                    </a:solidFill>
                  </a:tcPr>
                </a:tc>
                <a:tc>
                  <a:txBody>
                    <a:bodyPr lIns="171450" tIns="19050" rIns="171450" bIns="19050">
                      <a:noAutofit/>
                    </a:bodyPr>
                    <a:lstStyle/>
                    <a:p>
                      <a:r>
                        <a:rPr sz="1575" b="1">
                          <a:solidFill>
                            <a:srgbClr val="28C7F7"/>
                          </a:solidFill>
                          <a:latin typeface="Arial"/>
                          <a:ea typeface="Arial"/>
                          <a:cs typeface="Arial"/>
                        </a:rPr>
                        <a:t>2026²</a:t>
                      </a:r>
                    </a:p>
                  </a:txBody>
                  <a:tcPr marL="91440" marR="91440" marT="45720" marB="45720" anchor="ctr">
                    <a:solidFill>
                      <a:srgbClr val="1A2734"/>
                    </a:solidFill>
                  </a:tcPr>
                </a:tc>
              </a:tr>
              <a:tr h="314325">
                <a:tc>
                  <a:txBody>
                    <a:bodyPr lIns="171450" tIns="19050" rIns="171450" bIns="19050">
                      <a:noAutofit/>
                    </a:bodyPr>
                    <a:lstStyle/>
                    <a:p>
                      <a:r>
                        <a:rPr sz="1500" b="1">
                          <a:solidFill>
                            <a:srgbClr val="F4F7FA"/>
                          </a:solidFill>
                          <a:latin typeface="Arial"/>
                          <a:ea typeface="Arial"/>
                          <a:cs typeface="Arial"/>
                        </a:rPr>
                        <a:t>Moved code</a:t>
                      </a:r>
                    </a:p>
                  </a:txBody>
                  <a:tcPr marL="91440" marR="91440" marT="45720" marB="45720" anchor="ctr">
                    <a:solidFill>
                      <a:srgbClr val="0B0F14"/>
                    </a:solidFill>
                  </a:tcPr>
                </a:tc>
                <a:tc>
                  <a:txBody>
                    <a:bodyPr lIns="171450" tIns="19050" rIns="171450" bIns="19050">
                      <a:noAutofit/>
                    </a:bodyPr>
                    <a:lstStyle/>
                    <a:p>
                      <a:r>
                        <a:rPr sz="1500" b="0">
                          <a:solidFill>
                            <a:srgbClr val="F4F7FA"/>
                          </a:solidFill>
                          <a:latin typeface="Arial"/>
                          <a:ea typeface="Arial"/>
                          <a:cs typeface="Arial"/>
                        </a:rPr>
                        <a:t>24.65%</a:t>
                      </a:r>
                    </a:p>
                  </a:txBody>
                  <a:tcPr marL="91440" marR="91440" marT="45720" marB="45720" anchor="ctr">
                    <a:solidFill>
                      <a:srgbClr val="0B0F14"/>
                    </a:solidFill>
                  </a:tcPr>
                </a:tc>
                <a:tc>
                  <a:txBody>
                    <a:bodyPr lIns="171450" tIns="19050" rIns="171450" bIns="19050">
                      <a:noAutofit/>
                    </a:bodyPr>
                    <a:lstStyle/>
                    <a:p>
                      <a:r>
                        <a:rPr sz="1500" b="0">
                          <a:solidFill>
                            <a:srgbClr val="28C7F7"/>
                          </a:solidFill>
                          <a:latin typeface="Arial"/>
                          <a:ea typeface="Arial"/>
                          <a:cs typeface="Arial"/>
                        </a:rPr>
                        <a:t>3.8% YTD</a:t>
                      </a:r>
                    </a:p>
                  </a:txBody>
                  <a:tcPr marL="91440" marR="91440" marT="45720" marB="45720" anchor="ctr">
                    <a:solidFill>
                      <a:srgbClr val="0B0F14"/>
                    </a:solidFill>
                  </a:tcPr>
                </a:tc>
              </a:tr>
              <a:tr h="314325">
                <a:tc>
                  <a:txBody>
                    <a:bodyPr lIns="171450" tIns="19050" rIns="171450" bIns="19050">
                      <a:noAutofit/>
                    </a:bodyPr>
                    <a:lstStyle/>
                    <a:p>
                      <a:r>
                        <a:rPr sz="1500" b="1">
                          <a:solidFill>
                            <a:srgbClr val="F4F7FA"/>
                          </a:solidFill>
                          <a:latin typeface="Arial"/>
                          <a:ea typeface="Arial"/>
                          <a:cs typeface="Arial"/>
                        </a:rPr>
                        <a:t>Copy/paste</a:t>
                      </a:r>
                    </a:p>
                  </a:txBody>
                  <a:tcPr marL="91440" marR="91440" marT="45720" marB="45720" anchor="ctr">
                    <a:solidFill>
                      <a:srgbClr val="0B0F14"/>
                    </a:solidFill>
                  </a:tcPr>
                </a:tc>
                <a:tc>
                  <a:txBody>
                    <a:bodyPr lIns="171450" tIns="19050" rIns="171450" bIns="19050">
                      <a:noAutofit/>
                    </a:bodyPr>
                    <a:lstStyle/>
                    <a:p>
                      <a:r>
                        <a:rPr sz="1500" b="0">
                          <a:solidFill>
                            <a:srgbClr val="F4F7FA"/>
                          </a:solidFill>
                          <a:latin typeface="Arial"/>
                          <a:ea typeface="Arial"/>
                          <a:cs typeface="Arial"/>
                        </a:rPr>
                        <a:t>8.66%</a:t>
                      </a:r>
                    </a:p>
                  </a:txBody>
                  <a:tcPr marL="91440" marR="91440" marT="45720" marB="45720" anchor="ctr">
                    <a:solidFill>
                      <a:srgbClr val="0B0F14"/>
                    </a:solidFill>
                  </a:tcPr>
                </a:tc>
                <a:tc>
                  <a:txBody>
                    <a:bodyPr lIns="171450" tIns="19050" rIns="171450" bIns="19050">
                      <a:noAutofit/>
                    </a:bodyPr>
                    <a:lstStyle/>
                    <a:p>
                      <a:r>
                        <a:rPr sz="1500" b="0">
                          <a:solidFill>
                            <a:srgbClr val="28C7F7"/>
                          </a:solidFill>
                          <a:latin typeface="Arial"/>
                          <a:ea typeface="Arial"/>
                          <a:cs typeface="Arial"/>
                        </a:rPr>
                        <a:t>15.7% H1</a:t>
                      </a:r>
                    </a:p>
                  </a:txBody>
                  <a:tcPr marL="91440" marR="91440" marT="45720" marB="45720" anchor="ctr">
                    <a:solidFill>
                      <a:srgbClr val="0B0F14"/>
                    </a:solidFill>
                  </a:tcPr>
                </a:tc>
              </a:tr>
            </a:tbl>
          </a:graphicData>
        </a:graphic>
      </p:graphicFrame>
      <p:sp>
        <p:nvSpPr>
          <p:cNvPr id="29" name="">
            <a:extLst xmlns:a="http://schemas.openxmlformats.org/drawingml/2006/main">
              <a:ext uri="{FF2B5EF4-FFF2-40B4-BE49-F238E27FC236}">
                <a16:creationId xmlns:a16="http://schemas.microsoft.com/office/drawing/2014/main" id="{86697306-71D1-4A42-A0E9-2F1779837839}"/>
              </a:ext>
            </a:extLst>
          </p:cNvPr>
          <p:cNvSpPr>
            <a:spLocks xmlns:a="http://schemas.openxmlformats.org/drawingml/2006/main" noGrp="1"/>
          </p:cNvSpPr>
          <p:nvPr/>
        </p:nvSpPr>
        <p:spPr>
          <a:xfrm xmlns:a="http://schemas.openxmlformats.org/drawingml/2006/main">
            <a:off x="5867400" y="487680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¹2025 report  ²2026 report; different samples.</a:t>
            </a:r>
          </a:p>
        </p:txBody>
      </p:sp>
      <p:sp>
        <p:nvSpPr>
          <p:cNvPr id="30" name="">
            <a:extLst xmlns:a="http://schemas.openxmlformats.org/drawingml/2006/main">
              <a:ext uri="{FF2B5EF4-FFF2-40B4-BE49-F238E27FC236}">
                <a16:creationId xmlns:a16="http://schemas.microsoft.com/office/drawing/2014/main" id="{222FA0AB-C676-4D8D-B4FC-3BC5620D69F6}"/>
              </a:ext>
            </a:extLst>
          </p:cNvPr>
          <p:cNvSpPr>
            <a:spLocks xmlns:a="http://schemas.openxmlformats.org/drawingml/2006/main" noGrp="1"/>
          </p:cNvSpPr>
          <p:nvPr/>
        </p:nvSpPr>
        <p:spPr>
          <a:xfrm xmlns:a="http://schemas.openxmlformats.org/drawingml/2006/main">
            <a:off x="5867400" y="51244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F5B61C"/>
                </a:solidFill>
                <a:latin typeface="Arial"/>
                <a:ea typeface="Arial"/>
                <a:cs typeface="Arial"/>
              </a:defRPr>
            </a:pPr>
            <a:r>
              <a:rPr sz="1350" b="0">
                <a:solidFill>
                  <a:srgbClr val="F5B61C"/>
                </a:solidFill>
                <a:latin typeface="Arial"/>
                <a:ea typeface="Arial"/>
                <a:cs typeface="Arial"/>
              </a:rPr>
              <a:t>Snapshots only; no comparable trend or causal estimate.</a:t>
            </a:r>
          </a:p>
        </p:txBody>
      </p:sp>
      <p:sp>
        <p:nvSpPr>
          <p:cNvPr id="31" name="">
            <a:extLst xmlns:a="http://schemas.openxmlformats.org/drawingml/2006/main">
              <a:ext uri="{FF2B5EF4-FFF2-40B4-BE49-F238E27FC236}">
                <a16:creationId xmlns:a16="http://schemas.microsoft.com/office/drawing/2014/main" id="{5AC438C3-763B-4B3F-9FC4-5D942906D70D}"/>
              </a:ext>
            </a:extLst>
          </p:cNvPr>
          <p:cNvSpPr>
            <a:spLocks xmlns:a="http://schemas.openxmlformats.org/drawingml/2006/main" noGrp="1"/>
          </p:cNvSpPr>
          <p:nvPr/>
        </p:nvSpPr>
        <p:spPr>
          <a:xfrm xmlns:a="http://schemas.openxmlformats.org/drawingml/2006/main" flipH="0" flipV="0">
            <a:off x="609600" y="549592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2" name="">
            <a:extLst xmlns:a="http://schemas.openxmlformats.org/drawingml/2006/main">
              <a:ext uri="{FF2B5EF4-FFF2-40B4-BE49-F238E27FC236}">
                <a16:creationId xmlns:a16="http://schemas.microsoft.com/office/drawing/2014/main" id="{2BB6966E-2DE8-4D00-BF2F-A5CA5C7F5DE0}"/>
              </a:ext>
            </a:extLst>
          </p:cNvPr>
          <p:cNvSpPr>
            <a:spLocks xmlns:a="http://schemas.openxmlformats.org/drawingml/2006/main" noGrp="1"/>
          </p:cNvSpPr>
          <p:nvPr/>
        </p:nvSpPr>
        <p:spPr>
          <a:xfrm xmlns:a="http://schemas.openxmlformats.org/drawingml/2006/main">
            <a:off x="609600" y="558165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METR · MAY 2026 · n = 349</a:t>
            </a:r>
          </a:p>
        </p:txBody>
      </p:sp>
      <p:sp>
        <p:nvSpPr>
          <p:cNvPr id="33" name="">
            <a:extLst xmlns:a="http://schemas.openxmlformats.org/drawingml/2006/main">
              <a:ext uri="{FF2B5EF4-FFF2-40B4-BE49-F238E27FC236}">
                <a16:creationId xmlns:a16="http://schemas.microsoft.com/office/drawing/2014/main" id="{C76DB5E2-9928-414A-9D42-AF120BF0F8D9}"/>
              </a:ext>
            </a:extLst>
          </p:cNvPr>
          <p:cNvSpPr>
            <a:spLocks xmlns:a="http://schemas.openxmlformats.org/drawingml/2006/main" noGrp="1"/>
          </p:cNvSpPr>
          <p:nvPr/>
        </p:nvSpPr>
        <p:spPr>
          <a:xfrm xmlns:a="http://schemas.openxmlformats.org/drawingml/2006/main">
            <a:off x="609600" y="5895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4F7FA"/>
                </a:solidFill>
                <a:latin typeface="Arial"/>
                <a:ea typeface="Arial"/>
                <a:cs typeface="Arial"/>
              </a:defRPr>
            </a:pPr>
            <a:r>
              <a:rPr sz="1725" b="1">
                <a:solidFill>
                  <a:srgbClr val="F4F7FA"/>
                </a:solidFill>
                <a:latin typeface="Arial"/>
                <a:ea typeface="Arial"/>
                <a:cs typeface="Arial"/>
              </a:rPr>
              <a:t>1.4–2× self-reported work value</a:t>
            </a:r>
          </a:p>
        </p:txBody>
      </p:sp>
      <p:sp>
        <p:nvSpPr>
          <p:cNvPr id="34" name="">
            <a:extLst xmlns:a="http://schemas.openxmlformats.org/drawingml/2006/main">
              <a:ext uri="{FF2B5EF4-FFF2-40B4-BE49-F238E27FC236}">
                <a16:creationId xmlns:a16="http://schemas.microsoft.com/office/drawing/2014/main" id="{D4C7E9A2-82E0-4F3E-AE52-55E479E59810}"/>
              </a:ext>
            </a:extLst>
          </p:cNvPr>
          <p:cNvSpPr>
            <a:spLocks xmlns:a="http://schemas.openxmlformats.org/drawingml/2006/main" noGrp="1"/>
          </p:cNvSpPr>
          <p:nvPr/>
        </p:nvSpPr>
        <p:spPr>
          <a:xfrm xmlns:a="http://schemas.openxmlformats.org/drawingml/2006/main">
            <a:off x="609600" y="6191250"/>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Medians across three questions.</a:t>
            </a:r>
          </a:p>
        </p:txBody>
      </p:sp>
      <p:sp>
        <p:nvSpPr>
          <p:cNvPr id="35" name="">
            <a:extLst xmlns:a="http://schemas.openxmlformats.org/drawingml/2006/main">
              <a:ext uri="{FF2B5EF4-FFF2-40B4-BE49-F238E27FC236}">
                <a16:creationId xmlns:a16="http://schemas.microsoft.com/office/drawing/2014/main" id="{39853363-4953-43D8-BFD1-8312F1AEBCD7}"/>
              </a:ext>
            </a:extLst>
          </p:cNvPr>
          <p:cNvSpPr>
            <a:spLocks xmlns:a="http://schemas.openxmlformats.org/drawingml/2006/main" noGrp="1"/>
          </p:cNvSpPr>
          <p:nvPr/>
        </p:nvSpPr>
        <p:spPr>
          <a:xfrm xmlns:a="http://schemas.openxmlformats.org/drawingml/2006/main">
            <a:off x="609600" y="6448425"/>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Technical workers; no causal estimate.</a:t>
            </a:r>
          </a:p>
        </p:txBody>
      </p:sp>
      <p:sp>
        <p:nvSpPr>
          <p:cNvPr id="36" name="">
            <a:extLst xmlns:a="http://schemas.openxmlformats.org/drawingml/2006/main">
              <a:ext uri="{FF2B5EF4-FFF2-40B4-BE49-F238E27FC236}">
                <a16:creationId xmlns:a16="http://schemas.microsoft.com/office/drawing/2014/main" id="{F420C08B-DC25-436B-97FE-633C899CB3D0}"/>
              </a:ext>
            </a:extLst>
          </p:cNvPr>
          <p:cNvSpPr>
            <a:spLocks xmlns:a="http://schemas.openxmlformats.org/drawingml/2006/main" noGrp="1"/>
          </p:cNvSpPr>
          <p:nvPr/>
        </p:nvSpPr>
        <p:spPr>
          <a:xfrm xmlns:a="http://schemas.openxmlformats.org/drawingml/2006/main">
            <a:off x="6153150" y="558165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AGARWAL · JAN 2026 · 1,197 REPOS</a:t>
            </a:r>
          </a:p>
        </p:txBody>
      </p:sp>
      <p:sp>
        <p:nvSpPr>
          <p:cNvPr id="37" name="">
            <a:extLst xmlns:a="http://schemas.openxmlformats.org/drawingml/2006/main">
              <a:ext uri="{FF2B5EF4-FFF2-40B4-BE49-F238E27FC236}">
                <a16:creationId xmlns:a16="http://schemas.microsoft.com/office/drawing/2014/main" id="{73381187-A567-4860-BBCE-4EF16025840B}"/>
              </a:ext>
            </a:extLst>
          </p:cNvPr>
          <p:cNvSpPr>
            <a:spLocks xmlns:a="http://schemas.openxmlformats.org/drawingml/2006/main" noGrp="1"/>
          </p:cNvSpPr>
          <p:nvPr/>
        </p:nvSpPr>
        <p:spPr>
          <a:xfrm xmlns:a="http://schemas.openxmlformats.org/drawingml/2006/main">
            <a:off x="6153150" y="5895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Cognitive complexity after agent adoption</a:t>
            </a:r>
          </a:p>
        </p:txBody>
      </p:sp>
      <p:sp>
        <p:nvSpPr>
          <p:cNvPr id="38" name="">
            <a:extLst xmlns:a="http://schemas.openxmlformats.org/drawingml/2006/main">
              <a:ext uri="{FF2B5EF4-FFF2-40B4-BE49-F238E27FC236}">
                <a16:creationId xmlns:a16="http://schemas.microsoft.com/office/drawing/2014/main" id="{395C211A-31C5-487C-A802-DE9D4B9F7333}"/>
              </a:ext>
            </a:extLst>
          </p:cNvPr>
          <p:cNvSpPr>
            <a:spLocks xmlns:a="http://schemas.openxmlformats.org/drawingml/2006/main" noGrp="1"/>
          </p:cNvSpPr>
          <p:nvPr/>
        </p:nvSpPr>
        <p:spPr>
          <a:xfrm xmlns:a="http://schemas.openxmlformats.org/drawingml/2006/main">
            <a:off x="6153150" y="6191250"/>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4F7FA"/>
                </a:solidFill>
                <a:latin typeface="Arial"/>
                <a:ea typeface="Arial"/>
                <a:cs typeface="Arial"/>
              </a:defRPr>
            </a:pPr>
            <a:r>
              <a:rPr sz="1425" b="0">
                <a:solidFill>
                  <a:srgbClr val="F4F7FA"/>
                </a:solidFill>
                <a:latin typeface="Arial"/>
                <a:ea typeface="Arial"/>
                <a:cs typeface="Arial"/>
              </a:rPr>
              <a:t>Agent-first +34.85% · Prior AI-IDE +42.87%</a:t>
            </a:r>
          </a:p>
        </p:txBody>
      </p:sp>
      <p:sp>
        <p:nvSpPr>
          <p:cNvPr id="39" name="">
            <a:extLst xmlns:a="http://schemas.openxmlformats.org/drawingml/2006/main">
              <a:ext uri="{FF2B5EF4-FFF2-40B4-BE49-F238E27FC236}">
                <a16:creationId xmlns:a16="http://schemas.microsoft.com/office/drawing/2014/main" id="{1D498211-EB21-4683-A448-C54DF66BA9B7}"/>
              </a:ext>
            </a:extLst>
          </p:cNvPr>
          <p:cNvSpPr>
            <a:spLocks xmlns:a="http://schemas.openxmlformats.org/drawingml/2006/main" noGrp="1"/>
          </p:cNvSpPr>
          <p:nvPr/>
        </p:nvSpPr>
        <p:spPr>
          <a:xfrm xmlns:a="http://schemas.openxmlformats.org/drawingml/2006/main">
            <a:off x="6153150" y="6448425"/>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Matched controls; 19,236 repo-months.</a:t>
            </a:r>
          </a:p>
        </p:txBody>
      </p:sp>
    </p:spTree>
    <p:extLst>
      <p:ext uri="{BB962C8B-B14F-4D97-AF65-F5344CB8AC3E}">
        <p14:creationId xmlns:p14="http://schemas.microsoft.com/office/powerpoint/2010/main" val="1984156607"/>
      </p:ext>
    </p:extLst>
  </p:cSld>
</p:sld>
</file>

<file path=ppt/slides/slide5.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59F2DE4-BDF7-4CCB-9B05-B9B2A06525A7}"/>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New Scarcity Is Human Comprehension</a:t>
            </a:r>
          </a:p>
        </p:txBody>
      </p:sp>
      <p:sp>
        <p:nvSpPr>
          <p:cNvPr id="2" name="">
            <a:extLst xmlns:a="http://schemas.openxmlformats.org/drawingml/2006/main">
              <a:ext uri="{FF2B5EF4-FFF2-40B4-BE49-F238E27FC236}">
                <a16:creationId xmlns:a16="http://schemas.microsoft.com/office/drawing/2014/main" id="{E44F9311-59F1-4AB6-927E-DE2DCFBBC608}"/>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66406525-CA56-459B-8689-C0373797B035}"/>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FE8F07DE-5DB1-41C4-A918-63B2CFA82925}"/>
              </a:ext>
            </a:extLst>
          </p:cNvPr>
          <p:cNvSpPr>
            <a:spLocks xmlns:a="http://schemas.openxmlformats.org/drawingml/2006/main" noGrp="1"/>
          </p:cNvSpPr>
          <p:nvPr/>
        </p:nvSpPr>
        <p:spPr>
          <a:xfrm xmlns:a="http://schemas.openxmlformats.org/drawingml/2006/main" flipH="0" flipV="0">
            <a:off x="838200" y="4695825"/>
            <a:ext cx="66865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5" name="">
            <a:extLst xmlns:a="http://schemas.openxmlformats.org/drawingml/2006/main">
              <a:ext uri="{FF2B5EF4-FFF2-40B4-BE49-F238E27FC236}">
                <a16:creationId xmlns:a16="http://schemas.microsoft.com/office/drawing/2014/main" id="{CF949BCB-DAAE-461B-8E3D-45EB5AD9231F}"/>
              </a:ext>
            </a:extLst>
          </p:cNvPr>
          <p:cNvSpPr>
            <a:spLocks xmlns:a="http://schemas.openxmlformats.org/drawingml/2006/main" noGrp="1"/>
          </p:cNvSpPr>
          <p:nvPr/>
        </p:nvSpPr>
        <p:spPr>
          <a:xfrm xmlns:a="http://schemas.openxmlformats.org/drawingml/2006/main" flipH="0" flipV="1">
            <a:off x="838200" y="2171700"/>
            <a:ext cx="0" cy="2524125"/>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 name="">
            <a:extLst xmlns:a="http://schemas.openxmlformats.org/drawingml/2006/main">
              <a:ext uri="{FF2B5EF4-FFF2-40B4-BE49-F238E27FC236}">
                <a16:creationId xmlns:a16="http://schemas.microsoft.com/office/drawing/2014/main" id="{C54E1EDA-C811-44DE-9630-EB66AD9B8129}"/>
              </a:ext>
            </a:extLst>
          </p:cNvPr>
          <p:cNvSpPr>
            <a:spLocks xmlns:a="http://schemas.openxmlformats.org/drawingml/2006/main" noGrp="1"/>
          </p:cNvSpPr>
          <p:nvPr/>
        </p:nvSpPr>
        <p:spPr>
          <a:xfrm xmlns:a="http://schemas.openxmlformats.org/drawingml/2006/main">
            <a:off x="952500" y="2238375"/>
            <a:ext cx="6143625" cy="2190750"/>
          </a:xfrm>
          <a:custGeom xmlns:a="http://schemas.openxmlformats.org/drawingml/2006/main">
            <a:pathLst>
              <a:path w="6143625" h="2190750">
                <a:moveTo>
                  <a:pt x="0" y="2190750"/>
                </a:moveTo>
                <a:lnTo>
                  <a:pt x="51197" y="2187339"/>
                </a:lnTo>
                <a:lnTo>
                  <a:pt x="102394" y="2183679"/>
                </a:lnTo>
                <a:lnTo>
                  <a:pt x="153591" y="2179769"/>
                </a:lnTo>
                <a:lnTo>
                  <a:pt x="204788" y="2175609"/>
                </a:lnTo>
                <a:lnTo>
                  <a:pt x="255984" y="2171201"/>
                </a:lnTo>
                <a:lnTo>
                  <a:pt x="307181" y="2166542"/>
                </a:lnTo>
                <a:lnTo>
                  <a:pt x="358378" y="2161634"/>
                </a:lnTo>
                <a:lnTo>
                  <a:pt x="409575" y="2156477"/>
                </a:lnTo>
                <a:lnTo>
                  <a:pt x="460772" y="2151070"/>
                </a:lnTo>
                <a:lnTo>
                  <a:pt x="511969" y="2145414"/>
                </a:lnTo>
                <a:lnTo>
                  <a:pt x="563166" y="2139508"/>
                </a:lnTo>
                <a:lnTo>
                  <a:pt x="614363" y="2133352"/>
                </a:lnTo>
                <a:lnTo>
                  <a:pt x="665559" y="2126947"/>
                </a:lnTo>
                <a:lnTo>
                  <a:pt x="716756" y="2120293"/>
                </a:lnTo>
                <a:lnTo>
                  <a:pt x="767953" y="2113389"/>
                </a:lnTo>
                <a:lnTo>
                  <a:pt x="819150" y="2106236"/>
                </a:lnTo>
                <a:lnTo>
                  <a:pt x="870347" y="2098833"/>
                </a:lnTo>
                <a:lnTo>
                  <a:pt x="921544" y="2091180"/>
                </a:lnTo>
                <a:lnTo>
                  <a:pt x="972741" y="2083278"/>
                </a:lnTo>
                <a:lnTo>
                  <a:pt x="1023938" y="2075127"/>
                </a:lnTo>
                <a:lnTo>
                  <a:pt x="1075134" y="2066726"/>
                </a:lnTo>
                <a:lnTo>
                  <a:pt x="1126331" y="2058076"/>
                </a:lnTo>
                <a:lnTo>
                  <a:pt x="1177528" y="2049176"/>
                </a:lnTo>
                <a:lnTo>
                  <a:pt x="1228725" y="2040026"/>
                </a:lnTo>
                <a:lnTo>
                  <a:pt x="1279922" y="2030627"/>
                </a:lnTo>
                <a:lnTo>
                  <a:pt x="1331119" y="2020979"/>
                </a:lnTo>
                <a:lnTo>
                  <a:pt x="1382316" y="2011081"/>
                </a:lnTo>
                <a:lnTo>
                  <a:pt x="1433513" y="2000934"/>
                </a:lnTo>
                <a:lnTo>
                  <a:pt x="1484709" y="1990537"/>
                </a:lnTo>
                <a:lnTo>
                  <a:pt x="1535906" y="1979890"/>
                </a:lnTo>
                <a:lnTo>
                  <a:pt x="1587103" y="1968994"/>
                </a:lnTo>
                <a:lnTo>
                  <a:pt x="1638300" y="1957849"/>
                </a:lnTo>
                <a:lnTo>
                  <a:pt x="1689497" y="1946454"/>
                </a:lnTo>
                <a:lnTo>
                  <a:pt x="1740694" y="1934810"/>
                </a:lnTo>
                <a:lnTo>
                  <a:pt x="1791891" y="1922916"/>
                </a:lnTo>
                <a:lnTo>
                  <a:pt x="1843088" y="1910772"/>
                </a:lnTo>
                <a:lnTo>
                  <a:pt x="1894284" y="1898379"/>
                </a:lnTo>
                <a:lnTo>
                  <a:pt x="1945481" y="1885737"/>
                </a:lnTo>
                <a:lnTo>
                  <a:pt x="1996678" y="1872845"/>
                </a:lnTo>
                <a:lnTo>
                  <a:pt x="2047875" y="1859703"/>
                </a:lnTo>
                <a:lnTo>
                  <a:pt x="2099072" y="1846312"/>
                </a:lnTo>
                <a:lnTo>
                  <a:pt x="2150269" y="1832672"/>
                </a:lnTo>
                <a:lnTo>
                  <a:pt x="2201466" y="1818782"/>
                </a:lnTo>
                <a:lnTo>
                  <a:pt x="2252662" y="1804642"/>
                </a:lnTo>
                <a:lnTo>
                  <a:pt x="2303859" y="1790254"/>
                </a:lnTo>
                <a:lnTo>
                  <a:pt x="2355056" y="1775615"/>
                </a:lnTo>
                <a:lnTo>
                  <a:pt x="2406253" y="1760727"/>
                </a:lnTo>
                <a:lnTo>
                  <a:pt x="2457450" y="1745590"/>
                </a:lnTo>
                <a:lnTo>
                  <a:pt x="2508647" y="1730203"/>
                </a:lnTo>
                <a:lnTo>
                  <a:pt x="2559844" y="1714566"/>
                </a:lnTo>
                <a:lnTo>
                  <a:pt x="2611041" y="1698680"/>
                </a:lnTo>
                <a:lnTo>
                  <a:pt x="2662238" y="1682545"/>
                </a:lnTo>
                <a:lnTo>
                  <a:pt x="2713434" y="1666160"/>
                </a:lnTo>
                <a:lnTo>
                  <a:pt x="2764631" y="1649525"/>
                </a:lnTo>
                <a:lnTo>
                  <a:pt x="2815828" y="1632641"/>
                </a:lnTo>
                <a:lnTo>
                  <a:pt x="2867025" y="1615508"/>
                </a:lnTo>
                <a:lnTo>
                  <a:pt x="2918222" y="1598125"/>
                </a:lnTo>
                <a:lnTo>
                  <a:pt x="2969419" y="1580492"/>
                </a:lnTo>
                <a:lnTo>
                  <a:pt x="3020616" y="1562610"/>
                </a:lnTo>
                <a:lnTo>
                  <a:pt x="3071813" y="1544479"/>
                </a:lnTo>
                <a:lnTo>
                  <a:pt x="3123009" y="1526098"/>
                </a:lnTo>
                <a:lnTo>
                  <a:pt x="3174206" y="1507467"/>
                </a:lnTo>
                <a:lnTo>
                  <a:pt x="3225403" y="1488587"/>
                </a:lnTo>
                <a:lnTo>
                  <a:pt x="3276600" y="1469458"/>
                </a:lnTo>
                <a:lnTo>
                  <a:pt x="3327797" y="1450079"/>
                </a:lnTo>
                <a:lnTo>
                  <a:pt x="3378994" y="1430450"/>
                </a:lnTo>
                <a:lnTo>
                  <a:pt x="3430191" y="1410572"/>
                </a:lnTo>
                <a:lnTo>
                  <a:pt x="3481388" y="1390445"/>
                </a:lnTo>
                <a:lnTo>
                  <a:pt x="3532584" y="1370068"/>
                </a:lnTo>
                <a:lnTo>
                  <a:pt x="3583781" y="1349441"/>
                </a:lnTo>
                <a:lnTo>
                  <a:pt x="3634978" y="1328565"/>
                </a:lnTo>
                <a:lnTo>
                  <a:pt x="3686175" y="1307440"/>
                </a:lnTo>
                <a:lnTo>
                  <a:pt x="3737372" y="1286065"/>
                </a:lnTo>
                <a:lnTo>
                  <a:pt x="3788569" y="1264440"/>
                </a:lnTo>
                <a:lnTo>
                  <a:pt x="3839766" y="1242566"/>
                </a:lnTo>
                <a:lnTo>
                  <a:pt x="3890963" y="1220442"/>
                </a:lnTo>
                <a:lnTo>
                  <a:pt x="3942159" y="1198069"/>
                </a:lnTo>
                <a:lnTo>
                  <a:pt x="3993356" y="1175447"/>
                </a:lnTo>
                <a:lnTo>
                  <a:pt x="4044553" y="1152575"/>
                </a:lnTo>
                <a:lnTo>
                  <a:pt x="4095750" y="1129453"/>
                </a:lnTo>
                <a:lnTo>
                  <a:pt x="4146947" y="1106082"/>
                </a:lnTo>
                <a:lnTo>
                  <a:pt x="4198144" y="1082462"/>
                </a:lnTo>
                <a:lnTo>
                  <a:pt x="4249341" y="1058592"/>
                </a:lnTo>
                <a:lnTo>
                  <a:pt x="4300537" y="1034472"/>
                </a:lnTo>
                <a:lnTo>
                  <a:pt x="4351734" y="1010103"/>
                </a:lnTo>
                <a:lnTo>
                  <a:pt x="4402931" y="985485"/>
                </a:lnTo>
                <a:lnTo>
                  <a:pt x="4454128" y="960616"/>
                </a:lnTo>
                <a:lnTo>
                  <a:pt x="4505325" y="935499"/>
                </a:lnTo>
                <a:lnTo>
                  <a:pt x="4556522" y="910132"/>
                </a:lnTo>
                <a:lnTo>
                  <a:pt x="4607719" y="884515"/>
                </a:lnTo>
                <a:lnTo>
                  <a:pt x="4658916" y="858649"/>
                </a:lnTo>
                <a:lnTo>
                  <a:pt x="4710113" y="832534"/>
                </a:lnTo>
                <a:lnTo>
                  <a:pt x="4761309" y="806169"/>
                </a:lnTo>
                <a:lnTo>
                  <a:pt x="4812506" y="779554"/>
                </a:lnTo>
                <a:lnTo>
                  <a:pt x="4863703" y="752690"/>
                </a:lnTo>
                <a:lnTo>
                  <a:pt x="4914900" y="725576"/>
                </a:lnTo>
                <a:lnTo>
                  <a:pt x="4966097" y="698213"/>
                </a:lnTo>
                <a:lnTo>
                  <a:pt x="5017294" y="670601"/>
                </a:lnTo>
                <a:lnTo>
                  <a:pt x="5068491" y="642739"/>
                </a:lnTo>
                <a:lnTo>
                  <a:pt x="5119688" y="614627"/>
                </a:lnTo>
                <a:lnTo>
                  <a:pt x="5170884" y="586266"/>
                </a:lnTo>
                <a:lnTo>
                  <a:pt x="5222081" y="557655"/>
                </a:lnTo>
                <a:lnTo>
                  <a:pt x="5273278" y="528795"/>
                </a:lnTo>
                <a:lnTo>
                  <a:pt x="5324475" y="499686"/>
                </a:lnTo>
                <a:lnTo>
                  <a:pt x="5375672" y="470327"/>
                </a:lnTo>
                <a:lnTo>
                  <a:pt x="5426869" y="440718"/>
                </a:lnTo>
                <a:lnTo>
                  <a:pt x="5478066" y="410860"/>
                </a:lnTo>
                <a:lnTo>
                  <a:pt x="5529263" y="380752"/>
                </a:lnTo>
                <a:lnTo>
                  <a:pt x="5580459" y="350395"/>
                </a:lnTo>
                <a:lnTo>
                  <a:pt x="5631656" y="319789"/>
                </a:lnTo>
                <a:lnTo>
                  <a:pt x="5682853" y="288933"/>
                </a:lnTo>
                <a:lnTo>
                  <a:pt x="5734050" y="257827"/>
                </a:lnTo>
                <a:lnTo>
                  <a:pt x="5785247" y="226472"/>
                </a:lnTo>
                <a:lnTo>
                  <a:pt x="5836444" y="194867"/>
                </a:lnTo>
                <a:lnTo>
                  <a:pt x="5887641" y="163013"/>
                </a:lnTo>
                <a:lnTo>
                  <a:pt x="5938838" y="130909"/>
                </a:lnTo>
                <a:lnTo>
                  <a:pt x="5990034" y="98556"/>
                </a:lnTo>
                <a:lnTo>
                  <a:pt x="6041231" y="65954"/>
                </a:lnTo>
                <a:lnTo>
                  <a:pt x="6092428" y="33102"/>
                </a:lnTo>
                <a:lnTo>
                  <a:pt x="6143625" y="0"/>
                </a:lnTo>
              </a:path>
            </a:pathLst>
          </a:custGeom>
          <a:noFill xmlns:a="http://schemas.openxmlformats.org/drawingml/2006/main"/>
          <a:ln xmlns:a="http://schemas.openxmlformats.org/drawingml/2006/main" w="38100">
            <a:solidFill>
              <a:srgbClr val="28C7F7"/>
            </a:solidFill>
            <a:prstDash val="solid"/>
          </a:ln>
        </p:spPr>
      </p:sp>
      <p:sp>
        <p:nvSpPr>
          <p:cNvPr id="7" name="">
            <a:extLst xmlns:a="http://schemas.openxmlformats.org/drawingml/2006/main">
              <a:ext uri="{FF2B5EF4-FFF2-40B4-BE49-F238E27FC236}">
                <a16:creationId xmlns:a16="http://schemas.microsoft.com/office/drawing/2014/main" id="{16C5C4F9-2CD4-407B-AA3C-DC4B277E911B}"/>
              </a:ext>
            </a:extLst>
          </p:cNvPr>
          <p:cNvSpPr>
            <a:spLocks xmlns:a="http://schemas.openxmlformats.org/drawingml/2006/main" noGrp="1"/>
          </p:cNvSpPr>
          <p:nvPr/>
        </p:nvSpPr>
        <p:spPr>
          <a:xfrm xmlns:a="http://schemas.openxmlformats.org/drawingml/2006/main" flipH="0" flipV="0">
            <a:off x="952500" y="4429125"/>
            <a:ext cx="6143625" cy="0"/>
          </a:xfrm>
          <a:prstGeom xmlns:a="http://schemas.openxmlformats.org/drawingml/2006/main" prst="line">
            <a:avLst/>
          </a:prstGeom>
          <a:noFill xmlns:a="http://schemas.openxmlformats.org/drawingml/2006/main"/>
          <a:ln xmlns:a="http://schemas.openxmlformats.org/drawingml/2006/main" w="38100">
            <a:solidFill>
              <a:srgbClr val="F5B61C"/>
            </a:solidFill>
            <a:prstDash val="solid"/>
          </a:ln>
        </p:spPr>
      </p:sp>
      <p:sp>
        <p:nvSpPr>
          <p:cNvPr id="8" name="">
            <a:extLst xmlns:a="http://schemas.openxmlformats.org/drawingml/2006/main">
              <a:ext uri="{FF2B5EF4-FFF2-40B4-BE49-F238E27FC236}">
                <a16:creationId xmlns:a16="http://schemas.microsoft.com/office/drawing/2014/main" id="{130818D2-A256-4093-B2EA-C2EE9E7A9569}"/>
              </a:ext>
            </a:extLst>
          </p:cNvPr>
          <p:cNvSpPr>
            <a:spLocks xmlns:a="http://schemas.openxmlformats.org/drawingml/2006/main" noGrp="1"/>
          </p:cNvSpPr>
          <p:nvPr/>
        </p:nvSpPr>
        <p:spPr>
          <a:xfrm xmlns:a="http://schemas.openxmlformats.org/drawingml/2006/main">
            <a:off x="1047750" y="18383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28C7F7"/>
                </a:solidFill>
                <a:latin typeface="Arial"/>
                <a:ea typeface="Arial"/>
                <a:cs typeface="Arial"/>
              </a:defRPr>
            </a:pPr>
            <a:r>
              <a:rPr sz="1875" b="1">
                <a:solidFill>
                  <a:srgbClr val="28C7F7"/>
                </a:solidFill>
                <a:latin typeface="Arial"/>
                <a:ea typeface="Arial"/>
                <a:cs typeface="Arial"/>
              </a:rPr>
              <a:t>Machine generation capacity</a:t>
            </a:r>
          </a:p>
        </p:txBody>
      </p:sp>
      <p:sp>
        <p:nvSpPr>
          <p:cNvPr id="9" name="">
            <a:extLst xmlns:a="http://schemas.openxmlformats.org/drawingml/2006/main">
              <a:ext uri="{FF2B5EF4-FFF2-40B4-BE49-F238E27FC236}">
                <a16:creationId xmlns:a16="http://schemas.microsoft.com/office/drawing/2014/main" id="{F528BAB4-7F0D-4BF2-ADD1-BBB35C84999B}"/>
              </a:ext>
            </a:extLst>
          </p:cNvPr>
          <p:cNvSpPr>
            <a:spLocks xmlns:a="http://schemas.openxmlformats.org/drawingml/2006/main" noGrp="1"/>
          </p:cNvSpPr>
          <p:nvPr/>
        </p:nvSpPr>
        <p:spPr>
          <a:xfrm xmlns:a="http://schemas.openxmlformats.org/drawingml/2006/main">
            <a:off x="1028700" y="485775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F5B61C"/>
                </a:solidFill>
                <a:latin typeface="Arial"/>
                <a:ea typeface="Arial"/>
                <a:cs typeface="Arial"/>
              </a:defRPr>
            </a:pPr>
            <a:r>
              <a:rPr sz="1725" b="0">
                <a:solidFill>
                  <a:srgbClr val="F5B61C"/>
                </a:solidFill>
                <a:latin typeface="Arial"/>
                <a:ea typeface="Arial"/>
                <a:cs typeface="Arial"/>
              </a:rPr>
              <a:t>Human comprehension capacity</a:t>
            </a:r>
          </a:p>
        </p:txBody>
      </p:sp>
      <p:sp>
        <p:nvSpPr>
          <p:cNvPr id="10" name="">
            <a:extLst xmlns:a="http://schemas.openxmlformats.org/drawingml/2006/main">
              <a:ext uri="{FF2B5EF4-FFF2-40B4-BE49-F238E27FC236}">
                <a16:creationId xmlns:a16="http://schemas.microsoft.com/office/drawing/2014/main" id="{DAFFD87B-AC52-4124-939A-9DDB5838EB48}"/>
              </a:ext>
            </a:extLst>
          </p:cNvPr>
          <p:cNvSpPr>
            <a:spLocks xmlns:a="http://schemas.openxmlformats.org/drawingml/2006/main" noGrp="1"/>
          </p:cNvSpPr>
          <p:nvPr/>
        </p:nvSpPr>
        <p:spPr>
          <a:xfrm xmlns:a="http://schemas.openxmlformats.org/drawingml/2006/main">
            <a:off x="5000625" y="35242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Potential</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comprehension gap</a:t>
            </a:r>
          </a:p>
        </p:txBody>
      </p:sp>
      <p:sp>
        <p:nvSpPr>
          <p:cNvPr id="11" name="">
            <a:extLst xmlns:a="http://schemas.openxmlformats.org/drawingml/2006/main">
              <a:ext uri="{FF2B5EF4-FFF2-40B4-BE49-F238E27FC236}">
                <a16:creationId xmlns:a16="http://schemas.microsoft.com/office/drawing/2014/main" id="{B3EC228B-5AA3-4995-8ED0-02B5AD6D322A}"/>
              </a:ext>
            </a:extLst>
          </p:cNvPr>
          <p:cNvSpPr>
            <a:spLocks xmlns:a="http://schemas.openxmlformats.org/drawingml/2006/main" noGrp="1"/>
          </p:cNvSpPr>
          <p:nvPr/>
        </p:nvSpPr>
        <p:spPr>
          <a:xfrm xmlns:a="http://schemas.openxmlformats.org/drawingml/2006/main">
            <a:off x="5572125" y="46958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Adoption / time</a:t>
            </a:r>
          </a:p>
        </p:txBody>
      </p:sp>
      <p:sp>
        <p:nvSpPr>
          <p:cNvPr id="12" name="">
            <a:extLst xmlns:a="http://schemas.openxmlformats.org/drawingml/2006/main">
              <a:ext uri="{FF2B5EF4-FFF2-40B4-BE49-F238E27FC236}">
                <a16:creationId xmlns:a16="http://schemas.microsoft.com/office/drawing/2014/main" id="{4934D12C-D703-43FE-A2B1-63BA0DA4E92D}"/>
              </a:ext>
            </a:extLst>
          </p:cNvPr>
          <p:cNvSpPr>
            <a:spLocks xmlns:a="http://schemas.openxmlformats.org/drawingml/2006/main" noGrp="1"/>
          </p:cNvSpPr>
          <p:nvPr/>
        </p:nvSpPr>
        <p:spPr>
          <a:xfrm xmlns:a="http://schemas.openxmlformats.org/drawingml/2006/main">
            <a:off x="8048625" y="209550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ADB8C5"/>
                </a:solidFill>
                <a:latin typeface="Arial"/>
                <a:ea typeface="Arial"/>
                <a:cs typeface="Arial"/>
              </a:defRPr>
            </a:pPr>
            <a:r>
              <a:rPr sz="1875" b="0">
                <a:solidFill>
                  <a:srgbClr val="ADB8C5"/>
                </a:solidFill>
                <a:latin typeface="Arial"/>
                <a:ea typeface="Arial"/>
                <a:cs typeface="Arial"/>
              </a:rPr>
              <a:t>Can we generate faster?</a:t>
            </a:r>
          </a:p>
        </p:txBody>
      </p:sp>
      <p:sp>
        <p:nvSpPr>
          <p:cNvPr id="13" name="">
            <a:extLst xmlns:a="http://schemas.openxmlformats.org/drawingml/2006/main">
              <a:ext uri="{FF2B5EF4-FFF2-40B4-BE49-F238E27FC236}">
                <a16:creationId xmlns:a16="http://schemas.microsoft.com/office/drawing/2014/main" id="{39F49AE5-6E78-4F83-8909-27E787F4C9BA}"/>
              </a:ext>
            </a:extLst>
          </p:cNvPr>
          <p:cNvSpPr>
            <a:spLocks xmlns:a="http://schemas.openxmlformats.org/drawingml/2006/main" noGrp="1"/>
          </p:cNvSpPr>
          <p:nvPr/>
        </p:nvSpPr>
        <p:spPr>
          <a:xfrm xmlns:a="http://schemas.openxmlformats.org/drawingml/2006/main">
            <a:off x="8048625" y="26765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8C7F7"/>
                </a:solidFill>
                <a:latin typeface="Arial"/>
                <a:ea typeface="Arial"/>
                <a:cs typeface="Arial"/>
              </a:defRPr>
            </a:pPr>
            <a:r>
              <a:rPr sz="2100" b="1">
                <a:solidFill>
                  <a:srgbClr val="28C7F7"/>
                </a:solidFill>
                <a:latin typeface="Arial"/>
                <a:ea typeface="Arial"/>
                <a:cs typeface="Arial"/>
              </a:rPr>
              <a:t>YES</a:t>
            </a:r>
          </a:p>
        </p:txBody>
      </p:sp>
      <p:sp>
        <p:nvSpPr>
          <p:cNvPr id="14" name="">
            <a:extLst xmlns:a="http://schemas.openxmlformats.org/drawingml/2006/main">
              <a:ext uri="{FF2B5EF4-FFF2-40B4-BE49-F238E27FC236}">
                <a16:creationId xmlns:a16="http://schemas.microsoft.com/office/drawing/2014/main" id="{646377A5-F702-4779-8970-F1FA601ECDFB}"/>
              </a:ext>
            </a:extLst>
          </p:cNvPr>
          <p:cNvSpPr>
            <a:spLocks xmlns:a="http://schemas.openxmlformats.org/drawingml/2006/main" noGrp="1"/>
          </p:cNvSpPr>
          <p:nvPr/>
        </p:nvSpPr>
        <p:spPr>
          <a:xfrm xmlns:a="http://schemas.openxmlformats.org/drawingml/2006/main">
            <a:off x="8048625" y="31908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ADB8C5"/>
                </a:solidFill>
                <a:latin typeface="Arial"/>
                <a:ea typeface="Arial"/>
                <a:cs typeface="Arial"/>
              </a:defRPr>
            </a:pPr>
            <a:r>
              <a:rPr sz="1875" b="0">
                <a:solidFill>
                  <a:srgbClr val="ADB8C5"/>
                </a:solidFill>
                <a:latin typeface="Arial"/>
                <a:ea typeface="Arial"/>
                <a:cs typeface="Arial"/>
              </a:rPr>
              <a:t>Can review keep pace?</a:t>
            </a:r>
          </a:p>
        </p:txBody>
      </p:sp>
      <p:sp>
        <p:nvSpPr>
          <p:cNvPr id="15" name="">
            <a:extLst xmlns:a="http://schemas.openxmlformats.org/drawingml/2006/main">
              <a:ext uri="{FF2B5EF4-FFF2-40B4-BE49-F238E27FC236}">
                <a16:creationId xmlns:a16="http://schemas.microsoft.com/office/drawing/2014/main" id="{9E6925B9-D562-4F8D-8932-B2C9E6945D78}"/>
              </a:ext>
            </a:extLst>
          </p:cNvPr>
          <p:cNvSpPr>
            <a:spLocks xmlns:a="http://schemas.openxmlformats.org/drawingml/2006/main" noGrp="1"/>
          </p:cNvSpPr>
          <p:nvPr/>
        </p:nvSpPr>
        <p:spPr>
          <a:xfrm xmlns:a="http://schemas.openxmlformats.org/drawingml/2006/main">
            <a:off x="8048625" y="37719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5B61C"/>
                </a:solidFill>
                <a:latin typeface="Arial"/>
                <a:ea typeface="Arial"/>
                <a:cs typeface="Arial"/>
              </a:defRPr>
            </a:pPr>
            <a:r>
              <a:rPr sz="2100" b="1">
                <a:solidFill>
                  <a:srgbClr val="F5B61C"/>
                </a:solidFill>
                <a:latin typeface="Arial"/>
                <a:ea typeface="Arial"/>
                <a:cs typeface="Arial"/>
              </a:rPr>
              <a:t>NOT AT THIS RATE</a:t>
            </a:r>
          </a:p>
        </p:txBody>
      </p:sp>
      <p:sp>
        <p:nvSpPr>
          <p:cNvPr id="16" name="">
            <a:extLst xmlns:a="http://schemas.openxmlformats.org/drawingml/2006/main">
              <a:ext uri="{FF2B5EF4-FFF2-40B4-BE49-F238E27FC236}">
                <a16:creationId xmlns:a16="http://schemas.microsoft.com/office/drawing/2014/main" id="{909785F8-67E0-4FF9-BBFA-ABBF9D31D7A3}"/>
              </a:ext>
            </a:extLst>
          </p:cNvPr>
          <p:cNvSpPr>
            <a:spLocks xmlns:a="http://schemas.openxmlformats.org/drawingml/2006/main" noGrp="1"/>
          </p:cNvSpPr>
          <p:nvPr/>
        </p:nvSpPr>
        <p:spPr>
          <a:xfrm xmlns:a="http://schemas.openxmlformats.org/drawingml/2006/main">
            <a:off x="8048625" y="428625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ADB8C5"/>
                </a:solidFill>
                <a:latin typeface="Arial"/>
                <a:ea typeface="Arial"/>
                <a:cs typeface="Arial"/>
              </a:defRPr>
            </a:pPr>
            <a:r>
              <a:rPr sz="1875" b="0">
                <a:solidFill>
                  <a:srgbClr val="ADB8C5"/>
                </a:solidFill>
                <a:latin typeface="Arial"/>
                <a:ea typeface="Arial"/>
                <a:cs typeface="Arial"/>
              </a:rPr>
              <a:t>Will we understand it</a:t>
            </a:r>
          </a:p>
          <a:p xmlns:a="http://schemas.openxmlformats.org/drawingml/2006/main">
            <a:pPr algn="l">
              <a:defRPr sz="1875" b="0">
                <a:solidFill>
                  <a:srgbClr val="ADB8C5"/>
                </a:solidFill>
                <a:latin typeface="Arial"/>
                <a:ea typeface="Arial"/>
                <a:cs typeface="Arial"/>
              </a:defRPr>
            </a:pPr>
            <a:r>
              <a:rPr sz="1875" b="0">
                <a:solidFill>
                  <a:srgbClr val="ADB8C5"/>
                </a:solidFill>
                <a:latin typeface="Arial"/>
                <a:ea typeface="Arial"/>
                <a:cs typeface="Arial"/>
              </a:rPr>
              <a:t>in 5 years?</a:t>
            </a:r>
          </a:p>
        </p:txBody>
      </p:sp>
      <p:sp>
        <p:nvSpPr>
          <p:cNvPr id="17" name="">
            <a:extLst xmlns:a="http://schemas.openxmlformats.org/drawingml/2006/main">
              <a:ext uri="{FF2B5EF4-FFF2-40B4-BE49-F238E27FC236}">
                <a16:creationId xmlns:a16="http://schemas.microsoft.com/office/drawing/2014/main" id="{F3C54784-338C-455C-ACE2-C6BA0C00FF62}"/>
              </a:ext>
            </a:extLst>
          </p:cNvPr>
          <p:cNvSpPr>
            <a:spLocks xmlns:a="http://schemas.openxmlformats.org/drawingml/2006/main" noGrp="1"/>
          </p:cNvSpPr>
          <p:nvPr/>
        </p:nvSpPr>
        <p:spPr>
          <a:xfrm xmlns:a="http://schemas.openxmlformats.org/drawingml/2006/main">
            <a:off x="8048625" y="48672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1">
                <a:solidFill>
                  <a:srgbClr val="F5B61C"/>
                </a:solidFill>
                <a:latin typeface="Arial"/>
                <a:ea typeface="Arial"/>
                <a:cs typeface="Arial"/>
              </a:defRPr>
            </a:pPr>
            <a:r>
              <a:rPr sz="3075" b="1">
                <a:solidFill>
                  <a:srgbClr val="F5B61C"/>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9663B751-82BA-40F7-8658-55D7DF5C0807}"/>
              </a:ext>
            </a:extLst>
          </p:cNvPr>
          <p:cNvSpPr>
            <a:spLocks xmlns:a="http://schemas.openxmlformats.org/drawingml/2006/main" noGrp="1"/>
          </p:cNvSpPr>
          <p:nvPr/>
        </p:nvSpPr>
        <p:spPr>
          <a:xfrm xmlns:a="http://schemas.openxmlformats.org/drawingml/2006/main">
            <a:off x="838200" y="53435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Illustrative overload hypothesis — motivated by slide 4, not measured by those studies.</a:t>
            </a:r>
          </a:p>
        </p:txBody>
      </p:sp>
      <p:sp>
        <p:nvSpPr>
          <p:cNvPr id="19" name="">
            <a:extLst xmlns:a="http://schemas.openxmlformats.org/drawingml/2006/main">
              <a:ext uri="{FF2B5EF4-FFF2-40B4-BE49-F238E27FC236}">
                <a16:creationId xmlns:a16="http://schemas.microsoft.com/office/drawing/2014/main" id="{ADFBDEDA-8BB1-4B7D-B8F8-3A7003165C0C}"/>
              </a:ext>
            </a:extLst>
          </p:cNvPr>
          <p:cNvSpPr>
            <a:spLocks xmlns:a="http://schemas.openxmlformats.org/drawingml/2006/main" noGrp="1"/>
          </p:cNvSpPr>
          <p:nvPr/>
        </p:nvSpPr>
        <p:spPr>
          <a:xfrm xmlns:a="http://schemas.openxmlformats.org/drawingml/2006/main" flipH="0" flipV="0">
            <a:off x="609600" y="57340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0" name="">
            <a:extLst xmlns:a="http://schemas.openxmlformats.org/drawingml/2006/main">
              <a:ext uri="{FF2B5EF4-FFF2-40B4-BE49-F238E27FC236}">
                <a16:creationId xmlns:a16="http://schemas.microsoft.com/office/drawing/2014/main" id="{A0507F9F-1018-4EE1-B13B-D1EAD27ABEDC}"/>
              </a:ext>
            </a:extLst>
          </p:cNvPr>
          <p:cNvSpPr>
            <a:spLocks xmlns:a="http://schemas.openxmlformats.org/drawingml/2006/main" noGrp="1"/>
          </p:cNvSpPr>
          <p:nvPr/>
        </p:nvSpPr>
        <p:spPr>
          <a:xfrm xmlns:a="http://schemas.openxmlformats.org/drawingml/2006/main">
            <a:off x="609600" y="5905500"/>
            <a:ext cx="10648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4F7FA"/>
                </a:solidFill>
                <a:latin typeface="Arial"/>
                <a:ea typeface="Arial"/>
                <a:cs typeface="Arial"/>
              </a:defRPr>
            </a:pPr>
            <a:r>
              <a:rPr sz="2100" b="1">
                <a:solidFill>
                  <a:srgbClr val="F4F7FA"/>
                </a:solidFill>
                <a:latin typeface="Arial"/>
                <a:ea typeface="Arial"/>
                <a:cs typeface="Arial"/>
              </a:rPr>
              <a:t>Generation can scale faster than comprehension.</a:t>
            </a:r>
          </a:p>
        </p:txBody>
      </p:sp>
    </p:spTree>
    <p:extLst>
      <p:ext uri="{BB962C8B-B14F-4D97-AF65-F5344CB8AC3E}">
        <p14:creationId xmlns:p14="http://schemas.microsoft.com/office/powerpoint/2010/main" val="1366016290"/>
      </p:ext>
    </p:extLst>
  </p:cSld>
</p:sld>
</file>

<file path=ppt/slides/slide6.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24" name=""/>
          <p:cNvCxnSpPr>
            <a:stCxn xmlns:a="http://schemas.openxmlformats.org/drawingml/2006/main" id="12" idx="3"/>
            <a:endCxn xmlns:a="http://schemas.openxmlformats.org/drawingml/2006/main" id="15" idx="1"/>
          </p:cNvCxnSpPr>
          <p:nvPr/>
        </p:nvCxnSpPr>
        <p:spPr>
          <a:xfrm xmlns:a="http://schemas.openxmlformats.org/drawingml/2006/main">
            <a:off x="8724900" y="3505200"/>
            <a:ext cx="457200" cy="0"/>
          </a:xfrm>
          <a:prstGeom xmlns:a="http://schemas.openxmlformats.org/drawingml/2006/main" prst="straightConnector1">
            <a:avLst/>
          </a:prstGeom>
          <a:ln xmlns:a="http://schemas.openxmlformats.org/drawingml/2006/main" w="21908">
            <a:solidFill>
              <a:srgbClr val="ADB8C5"/>
            </a:solidFill>
            <a:prstDash val="solid"/>
            <a:tailEnd type="triangle" w="med" len="med"/>
          </a:ln>
        </p:spPr>
      </p:cxnSp>
      <p:cxnSp>
        <p:nvCxnSpPr>
          <p:cNvPr id="25" name=""/>
          <p:cNvCxnSpPr>
            <a:stCxn xmlns:a="http://schemas.openxmlformats.org/drawingml/2006/main" id="9" idx="3"/>
            <a:endCxn xmlns:a="http://schemas.openxmlformats.org/drawingml/2006/main" id="12" idx="1"/>
          </p:cNvCxnSpPr>
          <p:nvPr/>
        </p:nvCxnSpPr>
        <p:spPr>
          <a:xfrm xmlns:a="http://schemas.openxmlformats.org/drawingml/2006/main">
            <a:off x="5867400" y="3505200"/>
            <a:ext cx="457200" cy="0"/>
          </a:xfrm>
          <a:prstGeom xmlns:a="http://schemas.openxmlformats.org/drawingml/2006/main" prst="straightConnector1">
            <a:avLst/>
          </a:prstGeom>
          <a:ln xmlns:a="http://schemas.openxmlformats.org/drawingml/2006/main" w="21908">
            <a:solidFill>
              <a:srgbClr val="F5B61C"/>
            </a:solidFill>
            <a:prstDash val="solid"/>
            <a:tailEnd type="triangle" w="med" len="med"/>
          </a:ln>
        </p:spPr>
      </p:cxnSp>
      <p:cxnSp>
        <p:nvCxnSpPr>
          <p:cNvPr id="26" name=""/>
          <p:cNvCxnSpPr>
            <a:stCxn xmlns:a="http://schemas.openxmlformats.org/drawingml/2006/main" id="6" idx="3"/>
            <a:endCxn xmlns:a="http://schemas.openxmlformats.org/drawingml/2006/main" id="9" idx="1"/>
          </p:cNvCxnSpPr>
          <p:nvPr/>
        </p:nvCxnSpPr>
        <p:spPr>
          <a:xfrm xmlns:a="http://schemas.openxmlformats.org/drawingml/2006/main">
            <a:off x="3009900" y="3505200"/>
            <a:ext cx="457200" cy="0"/>
          </a:xfrm>
          <a:prstGeom xmlns:a="http://schemas.openxmlformats.org/drawingml/2006/main" prst="straightConnector1">
            <a:avLst/>
          </a:prstGeom>
          <a:ln xmlns:a="http://schemas.openxmlformats.org/drawingml/2006/main" w="21908">
            <a:solidFill>
              <a:srgbClr val="ADB8C5"/>
            </a:solidFill>
            <a:prstDash val="solid"/>
            <a:tailEnd type="triangle" w="med" len="med"/>
          </a:ln>
        </p:spPr>
      </p:cxnSp>
      <p:sp>
        <p:nvSpPr>
          <p:cNvPr id="27" name="">
            <a:extLst xmlns:a="http://schemas.openxmlformats.org/drawingml/2006/main">
              <a:ext uri="{FF2B5EF4-FFF2-40B4-BE49-F238E27FC236}">
                <a16:creationId xmlns:a16="http://schemas.microsoft.com/office/drawing/2014/main" id="{7E2FAE62-A2C7-4FC4-8C88-7796509EE73B}"/>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Team Is the Last Line of Defense</a:t>
            </a:r>
          </a:p>
        </p:txBody>
      </p:sp>
      <p:sp>
        <p:nvSpPr>
          <p:cNvPr id="2" name="">
            <a:extLst xmlns:a="http://schemas.openxmlformats.org/drawingml/2006/main">
              <a:ext uri="{FF2B5EF4-FFF2-40B4-BE49-F238E27FC236}">
                <a16:creationId xmlns:a16="http://schemas.microsoft.com/office/drawing/2014/main" id="{9E38B0EA-E07A-40C9-8CDD-50885E8F5703}"/>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979040E2-AA93-4DA4-89B0-4B8CBAC7267D}"/>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15303E96-51B9-490A-915F-43EA5EEEF9CF}"/>
              </a:ext>
            </a:extLst>
          </p:cNvPr>
          <p:cNvSpPr>
            <a:spLocks xmlns:a="http://schemas.openxmlformats.org/drawingml/2006/main" noGrp="1"/>
          </p:cNvSpPr>
          <p:nvPr/>
        </p:nvSpPr>
        <p:spPr>
          <a:xfrm xmlns:a="http://schemas.openxmlformats.org/drawingml/2006/main">
            <a:off x="609600" y="18097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F4F7FA"/>
                </a:solidFill>
                <a:latin typeface="Arial"/>
                <a:ea typeface="Arial"/>
                <a:cs typeface="Arial"/>
              </a:defRPr>
            </a:pPr>
            <a:r>
              <a:rPr sz="2175" b="1">
                <a:solidFill>
                  <a:srgbClr val="F4F7FA"/>
                </a:solidFill>
                <a:latin typeface="Arial"/>
                <a:ea typeface="Arial"/>
                <a:cs typeface="Arial"/>
              </a:rPr>
              <a:t>AI code generators are technical systems with limits.</a:t>
            </a:r>
          </a:p>
        </p:txBody>
      </p:sp>
      <p:sp>
        <p:nvSpPr>
          <p:cNvPr id="5" name="">
            <a:extLst xmlns:a="http://schemas.openxmlformats.org/drawingml/2006/main">
              <a:ext uri="{FF2B5EF4-FFF2-40B4-BE49-F238E27FC236}">
                <a16:creationId xmlns:a16="http://schemas.microsoft.com/office/drawing/2014/main" id="{38A2E14D-3151-4B9F-B884-80177F071EA4}"/>
              </a:ext>
            </a:extLst>
          </p:cNvPr>
          <p:cNvSpPr>
            <a:spLocks xmlns:a="http://schemas.openxmlformats.org/drawingml/2006/main" noGrp="1"/>
          </p:cNvSpPr>
          <p:nvPr/>
        </p:nvSpPr>
        <p:spPr>
          <a:xfrm xmlns:a="http://schemas.openxmlformats.org/drawingml/2006/main">
            <a:off x="609600" y="22669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ADB8C5"/>
                </a:solidFill>
                <a:latin typeface="Arial"/>
                <a:ea typeface="Arial"/>
                <a:cs typeface="Arial"/>
              </a:defRPr>
            </a:pPr>
            <a:r>
              <a:rPr sz="1875" b="0">
                <a:solidFill>
                  <a:srgbClr val="ADB8C5"/>
                </a:solidFill>
                <a:latin typeface="Arial"/>
                <a:ea typeface="Arial"/>
                <a:cs typeface="Arial"/>
              </a:rPr>
              <a:t>Their failure to fix an incident belongs in the project risk model.</a:t>
            </a:r>
          </a:p>
        </p:txBody>
      </p:sp>
      <p:sp>
        <p:nvSpPr>
          <p:cNvPr id="6" name="">
            <a:extLst xmlns:a="http://schemas.openxmlformats.org/drawingml/2006/main">
              <a:ext uri="{FF2B5EF4-FFF2-40B4-BE49-F238E27FC236}">
                <a16:creationId xmlns:a16="http://schemas.microsoft.com/office/drawing/2014/main" id="{D38C0195-D24C-4FD9-86D8-B9A30E31E652}"/>
              </a:ext>
            </a:extLst>
          </p:cNvPr>
          <p:cNvSpPr>
            <a:spLocks xmlns:a="http://schemas.openxmlformats.org/drawingml/2006/main" noGrp="1"/>
          </p:cNvSpPr>
          <p:nvPr/>
        </p:nvSpPr>
        <p:spPr>
          <a:xfrm xmlns:a="http://schemas.openxmlformats.org/drawingml/2006/main">
            <a:off x="609600" y="3086100"/>
            <a:ext cx="2400300" cy="8382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7" name="">
            <a:extLst xmlns:a="http://schemas.openxmlformats.org/drawingml/2006/main">
              <a:ext uri="{FF2B5EF4-FFF2-40B4-BE49-F238E27FC236}">
                <a16:creationId xmlns:a16="http://schemas.microsoft.com/office/drawing/2014/main" id="{A9433845-7404-4FA3-87F3-D6CB037F51FF}"/>
              </a:ext>
            </a:extLst>
          </p:cNvPr>
          <p:cNvSpPr>
            <a:spLocks xmlns:a="http://schemas.openxmlformats.org/drawingml/2006/main" noGrp="1"/>
          </p:cNvSpPr>
          <p:nvPr/>
        </p:nvSpPr>
        <p:spPr>
          <a:xfrm xmlns:a="http://schemas.openxmlformats.org/drawingml/2006/main">
            <a:off x="723900" y="3162300"/>
            <a:ext cx="217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Production</a:t>
            </a:r>
          </a:p>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incident</a:t>
            </a:r>
          </a:p>
        </p:txBody>
      </p:sp>
      <p:sp>
        <p:nvSpPr>
          <p:cNvPr id="8" name="">
            <a:extLst xmlns:a="http://schemas.openxmlformats.org/drawingml/2006/main">
              <a:ext uri="{FF2B5EF4-FFF2-40B4-BE49-F238E27FC236}">
                <a16:creationId xmlns:a16="http://schemas.microsoft.com/office/drawing/2014/main" id="{D30EE51F-021E-4FAD-95C6-5A828DCFECDC}"/>
              </a:ext>
            </a:extLst>
          </p:cNvPr>
          <p:cNvSpPr>
            <a:spLocks xmlns:a="http://schemas.openxmlformats.org/drawingml/2006/main" noGrp="1"/>
          </p:cNvSpPr>
          <p:nvPr/>
        </p:nvSpPr>
        <p:spPr>
          <a:xfrm xmlns:a="http://schemas.openxmlformats.org/drawingml/2006/main">
            <a:off x="609600" y="4152900"/>
            <a:ext cx="2400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Contain impact.</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Roll back or use</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fallback where safe.</a:t>
            </a:r>
          </a:p>
        </p:txBody>
      </p:sp>
      <p:sp>
        <p:nvSpPr>
          <p:cNvPr id="9" name="">
            <a:extLst xmlns:a="http://schemas.openxmlformats.org/drawingml/2006/main">
              <a:ext uri="{FF2B5EF4-FFF2-40B4-BE49-F238E27FC236}">
                <a16:creationId xmlns:a16="http://schemas.microsoft.com/office/drawing/2014/main" id="{245E8FCE-2351-4721-B40E-A13468C91D29}"/>
              </a:ext>
            </a:extLst>
          </p:cNvPr>
          <p:cNvSpPr>
            <a:spLocks xmlns:a="http://schemas.openxmlformats.org/drawingml/2006/main" noGrp="1"/>
          </p:cNvSpPr>
          <p:nvPr/>
        </p:nvSpPr>
        <p:spPr>
          <a:xfrm xmlns:a="http://schemas.openxmlformats.org/drawingml/2006/main">
            <a:off x="3467100" y="3086100"/>
            <a:ext cx="2400300" cy="838200"/>
          </a:xfrm>
          <a:prstGeom xmlns:a="http://schemas.openxmlformats.org/drawingml/2006/main" prst="rect">
            <a:avLst/>
          </a:prstGeom>
          <a:solidFill xmlns:a="http://schemas.openxmlformats.org/drawingml/2006/main">
            <a:srgbClr val="141C26"/>
          </a:solidFill>
          <a:ln xmlns:a="http://schemas.openxmlformats.org/drawingml/2006/main" w="14288">
            <a:solidFill>
              <a:srgbClr val="FF6B75"/>
            </a:solidFill>
            <a:prstDash val="solid"/>
          </a:ln>
        </p:spPr>
      </p:sp>
      <p:sp>
        <p:nvSpPr>
          <p:cNvPr id="10" name="">
            <a:extLst xmlns:a="http://schemas.openxmlformats.org/drawingml/2006/main">
              <a:ext uri="{FF2B5EF4-FFF2-40B4-BE49-F238E27FC236}">
                <a16:creationId xmlns:a16="http://schemas.microsoft.com/office/drawing/2014/main" id="{52490546-75A2-425A-9A28-D9CE5100EC8C}"/>
              </a:ext>
            </a:extLst>
          </p:cNvPr>
          <p:cNvSpPr>
            <a:spLocks xmlns:a="http://schemas.openxmlformats.org/drawingml/2006/main" noGrp="1"/>
          </p:cNvSpPr>
          <p:nvPr/>
        </p:nvSpPr>
        <p:spPr>
          <a:xfrm xmlns:a="http://schemas.openxmlformats.org/drawingml/2006/main">
            <a:off x="3581400" y="3162300"/>
            <a:ext cx="217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AI cannot</a:t>
            </a:r>
          </a:p>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recover</a:t>
            </a:r>
          </a:p>
        </p:txBody>
      </p:sp>
      <p:sp>
        <p:nvSpPr>
          <p:cNvPr id="11" name="">
            <a:extLst xmlns:a="http://schemas.openxmlformats.org/drawingml/2006/main">
              <a:ext uri="{FF2B5EF4-FFF2-40B4-BE49-F238E27FC236}">
                <a16:creationId xmlns:a16="http://schemas.microsoft.com/office/drawing/2014/main" id="{43C1A760-A917-45CC-9AAD-BF9AD8DE3CB3}"/>
              </a:ext>
            </a:extLst>
          </p:cNvPr>
          <p:cNvSpPr>
            <a:spLocks xmlns:a="http://schemas.openxmlformats.org/drawingml/2006/main" noGrp="1"/>
          </p:cNvSpPr>
          <p:nvPr/>
        </p:nvSpPr>
        <p:spPr>
          <a:xfrm xmlns:a="http://schemas.openxmlformats.org/drawingml/2006/main">
            <a:off x="3467100" y="4152900"/>
            <a:ext cx="2400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Stop at the agreed</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retry limit. Preserve</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traces and changes.</a:t>
            </a:r>
          </a:p>
        </p:txBody>
      </p:sp>
      <p:sp>
        <p:nvSpPr>
          <p:cNvPr id="12" name="">
            <a:extLst xmlns:a="http://schemas.openxmlformats.org/drawingml/2006/main">
              <a:ext uri="{FF2B5EF4-FFF2-40B4-BE49-F238E27FC236}">
                <a16:creationId xmlns:a16="http://schemas.microsoft.com/office/drawing/2014/main" id="{67D306E6-C4A0-4F53-BF15-3197F82802E6}"/>
              </a:ext>
            </a:extLst>
          </p:cNvPr>
          <p:cNvSpPr>
            <a:spLocks xmlns:a="http://schemas.openxmlformats.org/drawingml/2006/main" noGrp="1"/>
          </p:cNvSpPr>
          <p:nvPr/>
        </p:nvSpPr>
        <p:spPr>
          <a:xfrm xmlns:a="http://schemas.openxmlformats.org/drawingml/2006/main">
            <a:off x="6324600" y="3086100"/>
            <a:ext cx="2400300" cy="8382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13" name="">
            <a:extLst xmlns:a="http://schemas.openxmlformats.org/drawingml/2006/main">
              <a:ext uri="{FF2B5EF4-FFF2-40B4-BE49-F238E27FC236}">
                <a16:creationId xmlns:a16="http://schemas.microsoft.com/office/drawing/2014/main" id="{9C581F2D-3B8D-4D7F-87C9-8588F53B31D4}"/>
              </a:ext>
            </a:extLst>
          </p:cNvPr>
          <p:cNvSpPr>
            <a:spLocks xmlns:a="http://schemas.openxmlformats.org/drawingml/2006/main" noGrp="1"/>
          </p:cNvSpPr>
          <p:nvPr/>
        </p:nvSpPr>
        <p:spPr>
          <a:xfrm xmlns:a="http://schemas.openxmlformats.org/drawingml/2006/main">
            <a:off x="6438900" y="3162300"/>
            <a:ext cx="217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Team diagnoses</a:t>
            </a:r>
          </a:p>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&amp; proposes fix</a:t>
            </a:r>
          </a:p>
        </p:txBody>
      </p:sp>
      <p:sp>
        <p:nvSpPr>
          <p:cNvPr id="14" name="">
            <a:extLst xmlns:a="http://schemas.openxmlformats.org/drawingml/2006/main">
              <a:ext uri="{FF2B5EF4-FFF2-40B4-BE49-F238E27FC236}">
                <a16:creationId xmlns:a16="http://schemas.microsoft.com/office/drawing/2014/main" id="{3D2C5C07-EDC6-4590-A30E-57CE8BA2B0F3}"/>
              </a:ext>
            </a:extLst>
          </p:cNvPr>
          <p:cNvSpPr>
            <a:spLocks xmlns:a="http://schemas.openxmlformats.org/drawingml/2006/main" noGrp="1"/>
          </p:cNvSpPr>
          <p:nvPr/>
        </p:nvSpPr>
        <p:spPr>
          <a:xfrm xmlns:a="http://schemas.openxmlformats.org/drawingml/2006/main">
            <a:off x="6324600" y="4152900"/>
            <a:ext cx="2400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Reconstruct intent,</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dependencies and</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system invariants.</a:t>
            </a:r>
          </a:p>
        </p:txBody>
      </p:sp>
      <p:sp>
        <p:nvSpPr>
          <p:cNvPr id="15" name="">
            <a:extLst xmlns:a="http://schemas.openxmlformats.org/drawingml/2006/main">
              <a:ext uri="{FF2B5EF4-FFF2-40B4-BE49-F238E27FC236}">
                <a16:creationId xmlns:a16="http://schemas.microsoft.com/office/drawing/2014/main" id="{3A9E5E90-B83C-462C-8000-C5A3AA90C58A}"/>
              </a:ext>
            </a:extLst>
          </p:cNvPr>
          <p:cNvSpPr>
            <a:spLocks xmlns:a="http://schemas.openxmlformats.org/drawingml/2006/main" noGrp="1"/>
          </p:cNvSpPr>
          <p:nvPr/>
        </p:nvSpPr>
        <p:spPr>
          <a:xfrm xmlns:a="http://schemas.openxmlformats.org/drawingml/2006/main">
            <a:off x="9182100" y="3086100"/>
            <a:ext cx="2400300" cy="8382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6" name="">
            <a:extLst xmlns:a="http://schemas.openxmlformats.org/drawingml/2006/main">
              <a:ext uri="{FF2B5EF4-FFF2-40B4-BE49-F238E27FC236}">
                <a16:creationId xmlns:a16="http://schemas.microsoft.com/office/drawing/2014/main" id="{3E3CBFDF-0660-4D37-B234-AAF919FAB333}"/>
              </a:ext>
            </a:extLst>
          </p:cNvPr>
          <p:cNvSpPr>
            <a:spLocks xmlns:a="http://schemas.openxmlformats.org/drawingml/2006/main" noGrp="1"/>
          </p:cNvSpPr>
          <p:nvPr/>
        </p:nvSpPr>
        <p:spPr>
          <a:xfrm xmlns:a="http://schemas.openxmlformats.org/drawingml/2006/main">
            <a:off x="9296400" y="3162300"/>
            <a:ext cx="217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Validate fix</a:t>
            </a:r>
          </a:p>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and restore</a:t>
            </a:r>
          </a:p>
        </p:txBody>
      </p:sp>
      <p:sp>
        <p:nvSpPr>
          <p:cNvPr id="17" name="">
            <a:extLst xmlns:a="http://schemas.openxmlformats.org/drawingml/2006/main">
              <a:ext uri="{FF2B5EF4-FFF2-40B4-BE49-F238E27FC236}">
                <a16:creationId xmlns:a16="http://schemas.microsoft.com/office/drawing/2014/main" id="{8AAB9412-BCA6-4BDC-AD91-238408E08BD8}"/>
              </a:ext>
            </a:extLst>
          </p:cNvPr>
          <p:cNvSpPr>
            <a:spLocks xmlns:a="http://schemas.openxmlformats.org/drawingml/2006/main" noGrp="1"/>
          </p:cNvSpPr>
          <p:nvPr/>
        </p:nvSpPr>
        <p:spPr>
          <a:xfrm xmlns:a="http://schemas.openxmlformats.org/drawingml/2006/main">
            <a:off x="9182100" y="4152900"/>
            <a:ext cx="2400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Test the repair.</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Restore under incident</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owner authority.</a:t>
            </a:r>
          </a:p>
        </p:txBody>
      </p:sp>
      <p:sp>
        <p:nvSpPr>
          <p:cNvPr id="21" name="">
            <a:extLst xmlns:a="http://schemas.openxmlformats.org/drawingml/2006/main">
              <a:ext uri="{FF2B5EF4-FFF2-40B4-BE49-F238E27FC236}">
                <a16:creationId xmlns:a16="http://schemas.microsoft.com/office/drawing/2014/main" id="{E7E92A7A-4E06-44E5-B99C-D808ED1E2116}"/>
              </a:ext>
            </a:extLst>
          </p:cNvPr>
          <p:cNvSpPr>
            <a:spLocks xmlns:a="http://schemas.openxmlformats.org/drawingml/2006/main" noGrp="1"/>
          </p:cNvSpPr>
          <p:nvPr/>
        </p:nvSpPr>
        <p:spPr>
          <a:xfrm xmlns:a="http://schemas.openxmlformats.org/drawingml/2006/main">
            <a:off x="609600" y="53244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Hypothetical scenario. Rehearse the human recovery path before production.</a:t>
            </a:r>
          </a:p>
        </p:txBody>
      </p:sp>
      <p:sp>
        <p:nvSpPr>
          <p:cNvPr id="22" name="">
            <a:extLst xmlns:a="http://schemas.openxmlformats.org/drawingml/2006/main">
              <a:ext uri="{FF2B5EF4-FFF2-40B4-BE49-F238E27FC236}">
                <a16:creationId xmlns:a16="http://schemas.microsoft.com/office/drawing/2014/main" id="{A89890FD-E676-4461-8605-D98005A69FDB}"/>
              </a:ext>
            </a:extLst>
          </p:cNvPr>
          <p:cNvSpPr>
            <a:spLocks xmlns:a="http://schemas.openxmlformats.org/drawingml/2006/main" noGrp="1"/>
          </p:cNvSpPr>
          <p:nvPr/>
        </p:nvSpPr>
        <p:spPr>
          <a:xfrm xmlns:a="http://schemas.openxmlformats.org/drawingml/2006/main" flipH="0" flipV="0">
            <a:off x="609600" y="57340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3" name="">
            <a:extLst xmlns:a="http://schemas.openxmlformats.org/drawingml/2006/main">
              <a:ext uri="{FF2B5EF4-FFF2-40B4-BE49-F238E27FC236}">
                <a16:creationId xmlns:a16="http://schemas.microsoft.com/office/drawing/2014/main" id="{4C3EAD00-EC8A-4CBC-B77C-1A238DCBC77E}"/>
              </a:ext>
            </a:extLst>
          </p:cNvPr>
          <p:cNvSpPr>
            <a:spLocks xmlns:a="http://schemas.openxmlformats.org/drawingml/2006/main" noGrp="1"/>
          </p:cNvSpPr>
          <p:nvPr/>
        </p:nvSpPr>
        <p:spPr>
          <a:xfrm xmlns:a="http://schemas.openxmlformats.org/drawingml/2006/main">
            <a:off x="609600" y="5905500"/>
            <a:ext cx="10648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4F7FA"/>
                </a:solidFill>
                <a:latin typeface="Arial"/>
                <a:ea typeface="Arial"/>
                <a:cs typeface="Arial"/>
              </a:defRPr>
            </a:pPr>
            <a:r>
              <a:rPr sz="2100" b="1">
                <a:solidFill>
                  <a:srgbClr val="F4F7FA"/>
                </a:solidFill>
                <a:latin typeface="Arial"/>
                <a:ea typeface="Arial"/>
                <a:cs typeface="Arial"/>
              </a:rPr>
              <a:t>If AI cannot recover the system, the team still must.</a:t>
            </a:r>
          </a:p>
        </p:txBody>
      </p:sp>
    </p:spTree>
    <p:extLst>
      <p:ext uri="{BB962C8B-B14F-4D97-AF65-F5344CB8AC3E}">
        <p14:creationId xmlns:p14="http://schemas.microsoft.com/office/powerpoint/2010/main" val="1211795677"/>
      </p:ext>
    </p:extLst>
  </p:cSld>
</p:sld>
</file>

<file path=ppt/slides/slide7.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8974CD1-FDF2-473A-86F7-5C11C4159F2F}"/>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We Are Searching for a New</a:t>
            </a:r>
          </a:p>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SDLC Equilibrium</a:t>
            </a:r>
          </a:p>
        </p:txBody>
      </p:sp>
      <p:sp>
        <p:nvSpPr>
          <p:cNvPr id="2" name="">
            <a:extLst xmlns:a="http://schemas.openxmlformats.org/drawingml/2006/main">
              <a:ext uri="{FF2B5EF4-FFF2-40B4-BE49-F238E27FC236}">
                <a16:creationId xmlns:a16="http://schemas.microsoft.com/office/drawing/2014/main" id="{36AAE4B1-E1AD-4587-97F1-E5015CCCA6CA}"/>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6E723DA9-6A9D-40C6-BAEF-7BF230A2AE22}"/>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9F218EE-303A-42B4-BD38-8F3620CE0E5B}"/>
              </a:ext>
            </a:extLst>
          </p:cNvPr>
          <p:cNvSpPr>
            <a:spLocks xmlns:a="http://schemas.openxmlformats.org/drawingml/2006/main" noGrp="1"/>
          </p:cNvSpPr>
          <p:nvPr/>
        </p:nvSpPr>
        <p:spPr>
          <a:xfrm xmlns:a="http://schemas.openxmlformats.org/drawingml/2006/main">
            <a:off x="609600" y="1762125"/>
            <a:ext cx="3390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DB8C5"/>
                </a:solidFill>
                <a:latin typeface="Arial"/>
                <a:ea typeface="Arial"/>
                <a:cs typeface="Arial"/>
              </a:defRPr>
            </a:pPr>
            <a:r>
              <a:rPr sz="1575" b="1">
                <a:solidFill>
                  <a:srgbClr val="ADB8C5"/>
                </a:solidFill>
                <a:latin typeface="Arial"/>
                <a:ea typeface="Arial"/>
                <a:cs typeface="Arial"/>
              </a:rPr>
              <a:t>OLD EQUILIBRIUM</a:t>
            </a:r>
          </a:p>
        </p:txBody>
      </p:sp>
      <p:sp>
        <p:nvSpPr>
          <p:cNvPr id="5" name="">
            <a:extLst xmlns:a="http://schemas.openxmlformats.org/drawingml/2006/main">
              <a:ext uri="{FF2B5EF4-FFF2-40B4-BE49-F238E27FC236}">
                <a16:creationId xmlns:a16="http://schemas.microsoft.com/office/drawing/2014/main" id="{868C9854-FCA0-43BA-B25C-447A490CD98C}"/>
              </a:ext>
            </a:extLst>
          </p:cNvPr>
          <p:cNvSpPr>
            <a:spLocks xmlns:a="http://schemas.openxmlformats.org/drawingml/2006/main" noGrp="1"/>
          </p:cNvSpPr>
          <p:nvPr/>
        </p:nvSpPr>
        <p:spPr>
          <a:xfrm xmlns:a="http://schemas.openxmlformats.org/drawingml/2006/main">
            <a:off x="609600" y="2124075"/>
            <a:ext cx="339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F4F7FA"/>
                </a:solidFill>
                <a:latin typeface="Arial"/>
                <a:ea typeface="Arial"/>
                <a:cs typeface="Arial"/>
              </a:defRPr>
            </a:pPr>
            <a:r>
              <a:rPr sz="1650" b="0">
                <a:solidFill>
                  <a:srgbClr val="F4F7FA"/>
                </a:solidFill>
                <a:latin typeface="Arial"/>
                <a:ea typeface="Arial"/>
                <a:cs typeface="Arial"/>
              </a:rPr>
              <a:t>Human-led flow</a:t>
            </a:r>
          </a:p>
        </p:txBody>
      </p:sp>
      <p:sp>
        <p:nvSpPr>
          <p:cNvPr id="6" name="">
            <a:extLst xmlns:a="http://schemas.openxmlformats.org/drawingml/2006/main">
              <a:ext uri="{FF2B5EF4-FFF2-40B4-BE49-F238E27FC236}">
                <a16:creationId xmlns:a16="http://schemas.microsoft.com/office/drawing/2014/main" id="{FAD9B65A-09E2-40C8-AAFF-4D98912DDBAA}"/>
              </a:ext>
            </a:extLst>
          </p:cNvPr>
          <p:cNvSpPr>
            <a:spLocks xmlns:a="http://schemas.openxmlformats.org/drawingml/2006/main" noGrp="1"/>
          </p:cNvSpPr>
          <p:nvPr/>
        </p:nvSpPr>
        <p:spPr>
          <a:xfrm xmlns:a="http://schemas.openxmlformats.org/drawingml/2006/main">
            <a:off x="4400550" y="1762125"/>
            <a:ext cx="3390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8C7F7"/>
                </a:solidFill>
                <a:latin typeface="Arial"/>
                <a:ea typeface="Arial"/>
                <a:cs typeface="Arial"/>
              </a:defRPr>
            </a:pPr>
            <a:r>
              <a:rPr sz="1575" b="1">
                <a:solidFill>
                  <a:srgbClr val="28C7F7"/>
                </a:solidFill>
                <a:latin typeface="Arial"/>
                <a:ea typeface="Arial"/>
                <a:cs typeface="Arial"/>
              </a:rPr>
              <a:t>TODAY</a:t>
            </a:r>
          </a:p>
        </p:txBody>
      </p:sp>
      <p:sp>
        <p:nvSpPr>
          <p:cNvPr id="7" name="">
            <a:extLst xmlns:a="http://schemas.openxmlformats.org/drawingml/2006/main">
              <a:ext uri="{FF2B5EF4-FFF2-40B4-BE49-F238E27FC236}">
                <a16:creationId xmlns:a16="http://schemas.microsoft.com/office/drawing/2014/main" id="{29A4B8A2-1F92-4DEB-A5AC-151C5336B776}"/>
              </a:ext>
            </a:extLst>
          </p:cNvPr>
          <p:cNvSpPr>
            <a:spLocks xmlns:a="http://schemas.openxmlformats.org/drawingml/2006/main" noGrp="1"/>
          </p:cNvSpPr>
          <p:nvPr/>
        </p:nvSpPr>
        <p:spPr>
          <a:xfrm xmlns:a="http://schemas.openxmlformats.org/drawingml/2006/main">
            <a:off x="4400550" y="2124075"/>
            <a:ext cx="339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F4F7FA"/>
                </a:solidFill>
                <a:latin typeface="Arial"/>
                <a:ea typeface="Arial"/>
                <a:cs typeface="Arial"/>
              </a:defRPr>
            </a:pPr>
            <a:r>
              <a:rPr sz="1650" b="0">
                <a:solidFill>
                  <a:srgbClr val="F4F7FA"/>
                </a:solidFill>
                <a:latin typeface="Arial"/>
                <a:ea typeface="Arial"/>
                <a:cs typeface="Arial"/>
              </a:rPr>
              <a:t>Generation can outpace review</a:t>
            </a:r>
          </a:p>
        </p:txBody>
      </p:sp>
      <p:sp>
        <p:nvSpPr>
          <p:cNvPr id="8" name="">
            <a:extLst xmlns:a="http://schemas.openxmlformats.org/drawingml/2006/main">
              <a:ext uri="{FF2B5EF4-FFF2-40B4-BE49-F238E27FC236}">
                <a16:creationId xmlns:a16="http://schemas.microsoft.com/office/drawing/2014/main" id="{636CB5ED-D24A-4179-911F-4DBF0E428060}"/>
              </a:ext>
            </a:extLst>
          </p:cNvPr>
          <p:cNvSpPr>
            <a:spLocks xmlns:a="http://schemas.openxmlformats.org/drawingml/2006/main" noGrp="1"/>
          </p:cNvSpPr>
          <p:nvPr/>
        </p:nvSpPr>
        <p:spPr>
          <a:xfrm xmlns:a="http://schemas.openxmlformats.org/drawingml/2006/main">
            <a:off x="8191500" y="1762125"/>
            <a:ext cx="3390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DB8C5"/>
                </a:solidFill>
                <a:latin typeface="Arial"/>
                <a:ea typeface="Arial"/>
                <a:cs typeface="Arial"/>
              </a:defRPr>
            </a:pPr>
            <a:r>
              <a:rPr sz="1575" b="1">
                <a:solidFill>
                  <a:srgbClr val="ADB8C5"/>
                </a:solidFill>
                <a:latin typeface="Arial"/>
                <a:ea typeface="Arial"/>
                <a:cs typeface="Arial"/>
              </a:rPr>
              <a:t>NEW EQUILIBRIUM</a:t>
            </a:r>
          </a:p>
        </p:txBody>
      </p:sp>
      <p:sp>
        <p:nvSpPr>
          <p:cNvPr id="9" name="">
            <a:extLst xmlns:a="http://schemas.openxmlformats.org/drawingml/2006/main">
              <a:ext uri="{FF2B5EF4-FFF2-40B4-BE49-F238E27FC236}">
                <a16:creationId xmlns:a16="http://schemas.microsoft.com/office/drawing/2014/main" id="{9F5729C1-BEFF-451F-AFE9-B2D7190CD14D}"/>
              </a:ext>
            </a:extLst>
          </p:cNvPr>
          <p:cNvSpPr>
            <a:spLocks xmlns:a="http://schemas.openxmlformats.org/drawingml/2006/main" noGrp="1"/>
          </p:cNvSpPr>
          <p:nvPr/>
        </p:nvSpPr>
        <p:spPr>
          <a:xfrm xmlns:a="http://schemas.openxmlformats.org/drawingml/2006/main">
            <a:off x="8191500" y="2124075"/>
            <a:ext cx="339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F5B61C"/>
                </a:solidFill>
                <a:latin typeface="Arial"/>
                <a:ea typeface="Arial"/>
                <a:cs typeface="Arial"/>
              </a:defRPr>
            </a:pPr>
            <a:r>
              <a:rPr sz="1650" b="0">
                <a:solidFill>
                  <a:srgbClr val="F5B61C"/>
                </a:solidFill>
                <a:latin typeface="Arial"/>
                <a:ea typeface="Arial"/>
                <a:cs typeface="Arial"/>
              </a:rPr>
              <a:t>Sustainable flow?</a:t>
            </a:r>
          </a:p>
        </p:txBody>
      </p:sp>
      <p:sp>
        <p:nvSpPr>
          <p:cNvPr id="10" name="">
            <a:extLst xmlns:a="http://schemas.openxmlformats.org/drawingml/2006/main">
              <a:ext uri="{FF2B5EF4-FFF2-40B4-BE49-F238E27FC236}">
                <a16:creationId xmlns:a16="http://schemas.microsoft.com/office/drawing/2014/main" id="{B96638E0-00A0-44D7-9A2D-BEF700E503D7}"/>
              </a:ext>
            </a:extLst>
          </p:cNvPr>
          <p:cNvSpPr>
            <a:spLocks xmlns:a="http://schemas.openxmlformats.org/drawingml/2006/main" noGrp="1"/>
          </p:cNvSpPr>
          <p:nvPr/>
        </p:nvSpPr>
        <p:spPr>
          <a:xfrm xmlns:a="http://schemas.openxmlformats.org/drawingml/2006/main" flipH="0" flipV="0">
            <a:off x="609600" y="26479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1" name="">
            <a:extLst xmlns:a="http://schemas.openxmlformats.org/drawingml/2006/main">
              <a:ext uri="{FF2B5EF4-FFF2-40B4-BE49-F238E27FC236}">
                <a16:creationId xmlns:a16="http://schemas.microsoft.com/office/drawing/2014/main" id="{6F562CD0-3878-43CE-9AC5-45A2B205EE3E}"/>
              </a:ext>
            </a:extLst>
          </p:cNvPr>
          <p:cNvSpPr>
            <a:spLocks xmlns:a="http://schemas.openxmlformats.org/drawingml/2006/main" noGrp="1"/>
          </p:cNvSpPr>
          <p:nvPr/>
        </p:nvSpPr>
        <p:spPr>
          <a:xfrm xmlns:a="http://schemas.openxmlformats.org/drawingml/2006/main">
            <a:off x="609600" y="2809875"/>
            <a:ext cx="5257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5B61C"/>
                </a:solidFill>
                <a:latin typeface="Arial"/>
                <a:ea typeface="Arial"/>
                <a:cs typeface="Arial"/>
              </a:defRPr>
            </a:pPr>
            <a:r>
              <a:rPr sz="1725" b="1">
                <a:solidFill>
                  <a:srgbClr val="F5B61C"/>
                </a:solidFill>
                <a:latin typeface="Arial"/>
                <a:ea typeface="Arial"/>
                <a:cs typeface="Arial"/>
              </a:rPr>
              <a:t>WATCH / MEASURE</a:t>
            </a:r>
          </a:p>
        </p:txBody>
      </p:sp>
      <p:sp>
        <p:nvSpPr>
          <p:cNvPr id="12" name="">
            <a:extLst xmlns:a="http://schemas.openxmlformats.org/drawingml/2006/main">
              <a:ext uri="{FF2B5EF4-FFF2-40B4-BE49-F238E27FC236}">
                <a16:creationId xmlns:a16="http://schemas.microsoft.com/office/drawing/2014/main" id="{BED15175-A84E-4973-B275-B64D97840F8F}"/>
              </a:ext>
            </a:extLst>
          </p:cNvPr>
          <p:cNvSpPr>
            <a:spLocks xmlns:a="http://schemas.openxmlformats.org/drawingml/2006/main" noGrp="1"/>
          </p:cNvSpPr>
          <p:nvPr/>
        </p:nvSpPr>
        <p:spPr>
          <a:xfrm xmlns:a="http://schemas.openxmlformats.org/drawingml/2006/main">
            <a:off x="609600" y="32575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FLOW &amp; REVIEW</a:t>
            </a:r>
          </a:p>
        </p:txBody>
      </p:sp>
      <p:sp>
        <p:nvSpPr>
          <p:cNvPr id="13" name="">
            <a:extLst xmlns:a="http://schemas.openxmlformats.org/drawingml/2006/main">
              <a:ext uri="{FF2B5EF4-FFF2-40B4-BE49-F238E27FC236}">
                <a16:creationId xmlns:a16="http://schemas.microsoft.com/office/drawing/2014/main" id="{ECC34BBA-1688-49ED-BFF1-76286E2CFAA6}"/>
              </a:ext>
            </a:extLst>
          </p:cNvPr>
          <p:cNvSpPr>
            <a:spLocks xmlns:a="http://schemas.openxmlformats.org/drawingml/2006/main" noGrp="1"/>
          </p:cNvSpPr>
          <p:nvPr/>
        </p:nvSpPr>
        <p:spPr>
          <a:xfrm xmlns:a="http://schemas.openxmlformats.org/drawingml/2006/main">
            <a:off x="609600" y="35147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Review age, batch size and WIP</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Lead time</a:t>
            </a:r>
          </a:p>
        </p:txBody>
      </p:sp>
      <p:sp>
        <p:nvSpPr>
          <p:cNvPr id="14" name="">
            <a:extLst xmlns:a="http://schemas.openxmlformats.org/drawingml/2006/main">
              <a:ext uri="{FF2B5EF4-FFF2-40B4-BE49-F238E27FC236}">
                <a16:creationId xmlns:a16="http://schemas.microsoft.com/office/drawing/2014/main" id="{DAD93B6B-7329-432C-872C-045E9DA6DC53}"/>
              </a:ext>
            </a:extLst>
          </p:cNvPr>
          <p:cNvSpPr>
            <a:spLocks xmlns:a="http://schemas.openxmlformats.org/drawingml/2006/main" noGrp="1"/>
          </p:cNvSpPr>
          <p:nvPr/>
        </p:nvSpPr>
        <p:spPr>
          <a:xfrm xmlns:a="http://schemas.openxmlformats.org/drawingml/2006/main">
            <a:off x="609600" y="39433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CODEBASE &amp; MAINTAINABILITY</a:t>
            </a:r>
          </a:p>
        </p:txBody>
      </p:sp>
      <p:sp>
        <p:nvSpPr>
          <p:cNvPr id="15" name="">
            <a:extLst xmlns:a="http://schemas.openxmlformats.org/drawingml/2006/main">
              <a:ext uri="{FF2B5EF4-FFF2-40B4-BE49-F238E27FC236}">
                <a16:creationId xmlns:a16="http://schemas.microsoft.com/office/drawing/2014/main" id="{D25DC5CB-9237-4B2C-8065-31AFED592D28}"/>
              </a:ext>
            </a:extLst>
          </p:cNvPr>
          <p:cNvSpPr>
            <a:spLocks xmlns:a="http://schemas.openxmlformats.org/drawingml/2006/main" noGrp="1"/>
          </p:cNvSpPr>
          <p:nvPr/>
        </p:nvSpPr>
        <p:spPr>
          <a:xfrm xmlns:a="http://schemas.openxmlformats.org/drawingml/2006/main">
            <a:off x="609600" y="42005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Churn, duplication and complexity</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Code / dependency growth vs value</a:t>
            </a:r>
          </a:p>
        </p:txBody>
      </p:sp>
      <p:sp>
        <p:nvSpPr>
          <p:cNvPr id="16" name="">
            <a:extLst xmlns:a="http://schemas.openxmlformats.org/drawingml/2006/main">
              <a:ext uri="{FF2B5EF4-FFF2-40B4-BE49-F238E27FC236}">
                <a16:creationId xmlns:a16="http://schemas.microsoft.com/office/drawing/2014/main" id="{B54E737E-473D-4112-A3E0-85E4C1741D0D}"/>
              </a:ext>
            </a:extLst>
          </p:cNvPr>
          <p:cNvSpPr>
            <a:spLocks xmlns:a="http://schemas.openxmlformats.org/drawingml/2006/main" noGrp="1"/>
          </p:cNvSpPr>
          <p:nvPr/>
        </p:nvSpPr>
        <p:spPr>
          <a:xfrm xmlns:a="http://schemas.openxmlformats.org/drawingml/2006/main">
            <a:off x="609600" y="46291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DELIVERY &amp; PRODUCTION</a:t>
            </a:r>
          </a:p>
        </p:txBody>
      </p:sp>
      <p:sp>
        <p:nvSpPr>
          <p:cNvPr id="17" name="">
            <a:extLst xmlns:a="http://schemas.openxmlformats.org/drawingml/2006/main">
              <a:ext uri="{FF2B5EF4-FFF2-40B4-BE49-F238E27FC236}">
                <a16:creationId xmlns:a16="http://schemas.microsoft.com/office/drawing/2014/main" id="{FAAECC23-AA4B-4399-BA55-D77297FE18F7}"/>
              </a:ext>
            </a:extLst>
          </p:cNvPr>
          <p:cNvSpPr>
            <a:spLocks xmlns:a="http://schemas.openxmlformats.org/drawingml/2006/main" noGrp="1"/>
          </p:cNvSpPr>
          <p:nvPr/>
        </p:nvSpPr>
        <p:spPr>
          <a:xfrm xmlns:a="http://schemas.openxmlformats.org/drawingml/2006/main">
            <a:off x="609600" y="48863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Release throughput and stability</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Incidents, rollback and recovery time</a:t>
            </a:r>
          </a:p>
        </p:txBody>
      </p:sp>
      <p:sp>
        <p:nvSpPr>
          <p:cNvPr id="18" name="">
            <a:extLst xmlns:a="http://schemas.openxmlformats.org/drawingml/2006/main">
              <a:ext uri="{FF2B5EF4-FFF2-40B4-BE49-F238E27FC236}">
                <a16:creationId xmlns:a16="http://schemas.microsoft.com/office/drawing/2014/main" id="{95501AA4-1B8E-4030-A528-7B74D7515674}"/>
              </a:ext>
            </a:extLst>
          </p:cNvPr>
          <p:cNvSpPr>
            <a:spLocks xmlns:a="http://schemas.openxmlformats.org/drawingml/2006/main" noGrp="1"/>
          </p:cNvSpPr>
          <p:nvPr/>
        </p:nvSpPr>
        <p:spPr>
          <a:xfrm xmlns:a="http://schemas.openxmlformats.org/drawingml/2006/main">
            <a:off x="609600" y="53149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TEAM, OWNERSHIP &amp; RECOVERY</a:t>
            </a:r>
          </a:p>
        </p:txBody>
      </p:sp>
      <p:sp>
        <p:nvSpPr>
          <p:cNvPr id="19" name="">
            <a:extLst xmlns:a="http://schemas.openxmlformats.org/drawingml/2006/main">
              <a:ext uri="{FF2B5EF4-FFF2-40B4-BE49-F238E27FC236}">
                <a16:creationId xmlns:a16="http://schemas.microsoft.com/office/drawing/2014/main" id="{7A97B95F-E795-44BF-A881-AE47157E4463}"/>
              </a:ext>
            </a:extLst>
          </p:cNvPr>
          <p:cNvSpPr>
            <a:spLocks xmlns:a="http://schemas.openxmlformats.org/drawingml/2006/main" noGrp="1"/>
          </p:cNvSpPr>
          <p:nvPr/>
        </p:nvSpPr>
        <p:spPr>
          <a:xfrm xmlns:a="http://schemas.openxmlformats.org/drawingml/2006/main">
            <a:off x="609600" y="55721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Review / on-call load and ownership</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Team health; recovery without AI</a:t>
            </a:r>
          </a:p>
        </p:txBody>
      </p:sp>
      <p:sp>
        <p:nvSpPr>
          <p:cNvPr id="20" name="">
            <a:extLst xmlns:a="http://schemas.openxmlformats.org/drawingml/2006/main">
              <a:ext uri="{FF2B5EF4-FFF2-40B4-BE49-F238E27FC236}">
                <a16:creationId xmlns:a16="http://schemas.microsoft.com/office/drawing/2014/main" id="{26165DA1-1167-4BB1-9422-8B7EAB5828EF}"/>
              </a:ext>
            </a:extLst>
          </p:cNvPr>
          <p:cNvSpPr>
            <a:spLocks xmlns:a="http://schemas.openxmlformats.org/drawingml/2006/main" noGrp="1"/>
          </p:cNvSpPr>
          <p:nvPr/>
        </p:nvSpPr>
        <p:spPr>
          <a:xfrm xmlns:a="http://schemas.openxmlformats.org/drawingml/2006/main">
            <a:off x="6286500" y="2809875"/>
            <a:ext cx="5257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8C7F7"/>
                </a:solidFill>
                <a:latin typeface="Arial"/>
                <a:ea typeface="Arial"/>
                <a:cs typeface="Arial"/>
              </a:defRPr>
            </a:pPr>
            <a:r>
              <a:rPr sz="1725" b="1">
                <a:solidFill>
                  <a:srgbClr val="28C7F7"/>
                </a:solidFill>
                <a:latin typeface="Arial"/>
                <a:ea typeface="Arial"/>
                <a:cs typeface="Arial"/>
              </a:rPr>
              <a:t>EXPLORE / TEST</a:t>
            </a:r>
          </a:p>
        </p:txBody>
      </p:sp>
      <p:sp>
        <p:nvSpPr>
          <p:cNvPr id="21" name="">
            <a:extLst xmlns:a="http://schemas.openxmlformats.org/drawingml/2006/main">
              <a:ext uri="{FF2B5EF4-FFF2-40B4-BE49-F238E27FC236}">
                <a16:creationId xmlns:a16="http://schemas.microsoft.com/office/drawing/2014/main" id="{87BED242-6465-4E13-A50B-CEDBFBCCF204}"/>
              </a:ext>
            </a:extLst>
          </p:cNvPr>
          <p:cNvSpPr>
            <a:spLocks xmlns:a="http://schemas.openxmlformats.org/drawingml/2006/main" noGrp="1"/>
          </p:cNvSpPr>
          <p:nvPr/>
        </p:nvSpPr>
        <p:spPr>
          <a:xfrm xmlns:a="http://schemas.openxmlformats.org/drawingml/2006/main">
            <a:off x="6286500" y="32575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FLOW CONTROL</a:t>
            </a:r>
          </a:p>
        </p:txBody>
      </p:sp>
      <p:sp>
        <p:nvSpPr>
          <p:cNvPr id="22" name="">
            <a:extLst xmlns:a="http://schemas.openxmlformats.org/drawingml/2006/main">
              <a:ext uri="{FF2B5EF4-FFF2-40B4-BE49-F238E27FC236}">
                <a16:creationId xmlns:a16="http://schemas.microsoft.com/office/drawing/2014/main" id="{893E4452-F49A-4B98-964F-54B3CA5F4911}"/>
              </a:ext>
            </a:extLst>
          </p:cNvPr>
          <p:cNvSpPr>
            <a:spLocks xmlns:a="http://schemas.openxmlformats.org/drawingml/2006/main" noGrp="1"/>
          </p:cNvSpPr>
          <p:nvPr/>
        </p:nvSpPr>
        <p:spPr>
          <a:xfrm xmlns:a="http://schemas.openxmlformats.org/drawingml/2006/main">
            <a:off x="6286500" y="35147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Small batches and WIP limits</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Match generation to review capacity</a:t>
            </a:r>
          </a:p>
        </p:txBody>
      </p:sp>
      <p:sp>
        <p:nvSpPr>
          <p:cNvPr id="23" name="">
            <a:extLst xmlns:a="http://schemas.openxmlformats.org/drawingml/2006/main">
              <a:ext uri="{FF2B5EF4-FFF2-40B4-BE49-F238E27FC236}">
                <a16:creationId xmlns:a16="http://schemas.microsoft.com/office/drawing/2014/main" id="{44F3C87E-7B26-4EED-8EEB-57D1042F0E0D}"/>
              </a:ext>
            </a:extLst>
          </p:cNvPr>
          <p:cNvSpPr>
            <a:spLocks xmlns:a="http://schemas.openxmlformats.org/drawingml/2006/main" noGrp="1"/>
          </p:cNvSpPr>
          <p:nvPr/>
        </p:nvSpPr>
        <p:spPr>
          <a:xfrm xmlns:a="http://schemas.openxmlformats.org/drawingml/2006/main">
            <a:off x="6286500" y="39433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SPEC-FIRST / DISPOSABLE CODE</a:t>
            </a:r>
          </a:p>
        </p:txBody>
      </p:sp>
      <p:sp>
        <p:nvSpPr>
          <p:cNvPr id="24" name="">
            <a:extLst xmlns:a="http://schemas.openxmlformats.org/drawingml/2006/main">
              <a:ext uri="{FF2B5EF4-FFF2-40B4-BE49-F238E27FC236}">
                <a16:creationId xmlns:a16="http://schemas.microsoft.com/office/drawing/2014/main" id="{DC6A0FF9-5C66-45C9-A9C9-675A1B187E33}"/>
              </a:ext>
            </a:extLst>
          </p:cNvPr>
          <p:cNvSpPr>
            <a:spLocks xmlns:a="http://schemas.openxmlformats.org/drawingml/2006/main" noGrp="1"/>
          </p:cNvSpPr>
          <p:nvPr/>
        </p:nvSpPr>
        <p:spPr>
          <a:xfrm xmlns:a="http://schemas.openxmlformats.org/drawingml/2006/main">
            <a:off x="6286500" y="42005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Trusted specs and tests as anchors</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Regenerate only when cheaper</a:t>
            </a:r>
          </a:p>
        </p:txBody>
      </p:sp>
      <p:sp>
        <p:nvSpPr>
          <p:cNvPr id="25" name="">
            <a:extLst xmlns:a="http://schemas.openxmlformats.org/drawingml/2006/main">
              <a:ext uri="{FF2B5EF4-FFF2-40B4-BE49-F238E27FC236}">
                <a16:creationId xmlns:a16="http://schemas.microsoft.com/office/drawing/2014/main" id="{8EA51821-6C8D-4B85-B51C-47CC383C332C}"/>
              </a:ext>
            </a:extLst>
          </p:cNvPr>
          <p:cNvSpPr>
            <a:spLocks xmlns:a="http://schemas.openxmlformats.org/drawingml/2006/main" noGrp="1"/>
          </p:cNvSpPr>
          <p:nvPr/>
        </p:nvSpPr>
        <p:spPr>
          <a:xfrm xmlns:a="http://schemas.openxmlformats.org/drawingml/2006/main">
            <a:off x="6286500" y="46291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KNOWLEDGE FOR HUMANS + AGENTS</a:t>
            </a:r>
          </a:p>
        </p:txBody>
      </p:sp>
      <p:sp>
        <p:nvSpPr>
          <p:cNvPr id="26" name="">
            <a:extLst xmlns:a="http://schemas.openxmlformats.org/drawingml/2006/main">
              <a:ext uri="{FF2B5EF4-FFF2-40B4-BE49-F238E27FC236}">
                <a16:creationId xmlns:a16="http://schemas.microsoft.com/office/drawing/2014/main" id="{F5E5D3EA-BFF2-41E5-9696-F4D734A9ECD7}"/>
              </a:ext>
            </a:extLst>
          </p:cNvPr>
          <p:cNvSpPr>
            <a:spLocks xmlns:a="http://schemas.openxmlformats.org/drawingml/2006/main" noGrp="1"/>
          </p:cNvSpPr>
          <p:nvPr/>
        </p:nvSpPr>
        <p:spPr>
          <a:xfrm xmlns:a="http://schemas.openxmlformats.org/drawingml/2006/main">
            <a:off x="6286500" y="48863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Living docs and ownership maps</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Knowledge retrieval for people + agents</a:t>
            </a:r>
          </a:p>
        </p:txBody>
      </p:sp>
      <p:sp>
        <p:nvSpPr>
          <p:cNvPr id="27" name="">
            <a:extLst xmlns:a="http://schemas.openxmlformats.org/drawingml/2006/main">
              <a:ext uri="{FF2B5EF4-FFF2-40B4-BE49-F238E27FC236}">
                <a16:creationId xmlns:a16="http://schemas.microsoft.com/office/drawing/2014/main" id="{06F55743-5F0E-4894-9EC8-D3AA700524CC}"/>
              </a:ext>
            </a:extLst>
          </p:cNvPr>
          <p:cNvSpPr>
            <a:spLocks xmlns:a="http://schemas.openxmlformats.org/drawingml/2006/main" noGrp="1"/>
          </p:cNvSpPr>
          <p:nvPr/>
        </p:nvSpPr>
        <p:spPr>
          <a:xfrm xmlns:a="http://schemas.openxmlformats.org/drawingml/2006/main">
            <a:off x="6286500" y="53149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AI-ASSISTED REVIEW &amp; RECOVERY</a:t>
            </a:r>
          </a:p>
        </p:txBody>
      </p:sp>
      <p:sp>
        <p:nvSpPr>
          <p:cNvPr id="28" name="">
            <a:extLst xmlns:a="http://schemas.openxmlformats.org/drawingml/2006/main">
              <a:ext uri="{FF2B5EF4-FFF2-40B4-BE49-F238E27FC236}">
                <a16:creationId xmlns:a16="http://schemas.microsoft.com/office/drawing/2014/main" id="{81538DEC-2D44-4EB2-9FF8-C5D7BC956B14}"/>
              </a:ext>
            </a:extLst>
          </p:cNvPr>
          <p:cNvSpPr>
            <a:spLocks xmlns:a="http://schemas.openxmlformats.org/drawingml/2006/main" noGrp="1"/>
          </p:cNvSpPr>
          <p:nvPr/>
        </p:nvSpPr>
        <p:spPr>
          <a:xfrm xmlns:a="http://schemas.openxmlformats.org/drawingml/2006/main">
            <a:off x="6286500" y="55721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AI review plus static and eval gates</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Code + docs review; recovery drills</a:t>
            </a:r>
          </a:p>
        </p:txBody>
      </p:sp>
      <p:sp>
        <p:nvSpPr>
          <p:cNvPr id="29" name="">
            <a:extLst xmlns:a="http://schemas.openxmlformats.org/drawingml/2006/main">
              <a:ext uri="{FF2B5EF4-FFF2-40B4-BE49-F238E27FC236}">
                <a16:creationId xmlns:a16="http://schemas.microsoft.com/office/drawing/2014/main" id="{45FE5266-6EE1-4F74-9046-5323A21CB242}"/>
              </a:ext>
            </a:extLst>
          </p:cNvPr>
          <p:cNvSpPr>
            <a:spLocks xmlns:a="http://schemas.openxmlformats.org/drawingml/2006/main" noGrp="1"/>
          </p:cNvSpPr>
          <p:nvPr/>
        </p:nvSpPr>
        <p:spPr>
          <a:xfrm xmlns:a="http://schemas.openxmlformats.org/drawingml/2006/main" flipH="0" flipV="0">
            <a:off x="609600" y="608647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0" name="">
            <a:extLst xmlns:a="http://schemas.openxmlformats.org/drawingml/2006/main">
              <a:ext uri="{FF2B5EF4-FFF2-40B4-BE49-F238E27FC236}">
                <a16:creationId xmlns:a16="http://schemas.microsoft.com/office/drawing/2014/main" id="{31E39309-1B2E-435B-8056-12DF5B89CB96}"/>
              </a:ext>
            </a:extLst>
          </p:cNvPr>
          <p:cNvSpPr>
            <a:spLocks xmlns:a="http://schemas.openxmlformats.org/drawingml/2006/main" noGrp="1"/>
          </p:cNvSpPr>
          <p:nvPr/>
        </p:nvSpPr>
        <p:spPr>
          <a:xfrm xmlns:a="http://schemas.openxmlformats.org/drawingml/2006/main">
            <a:off x="609600" y="6172200"/>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4F7FA"/>
                </a:solidFill>
                <a:latin typeface="Arial"/>
                <a:ea typeface="Arial"/>
                <a:cs typeface="Arial"/>
              </a:defRPr>
            </a:pPr>
            <a:r>
              <a:rPr sz="1725" b="1">
                <a:solidFill>
                  <a:srgbClr val="F4F7FA"/>
                </a:solidFill>
                <a:latin typeface="Arial"/>
                <a:ea typeface="Arial"/>
                <a:cs typeface="Arial"/>
              </a:rPr>
              <a:t>Candidate countermeasures — not proven fixes.</a:t>
            </a:r>
          </a:p>
        </p:txBody>
      </p:sp>
      <p:sp>
        <p:nvSpPr>
          <p:cNvPr id="31" name="">
            <a:extLst xmlns:a="http://schemas.openxmlformats.org/drawingml/2006/main">
              <a:ext uri="{FF2B5EF4-FFF2-40B4-BE49-F238E27FC236}">
                <a16:creationId xmlns:a16="http://schemas.microsoft.com/office/drawing/2014/main" id="{D82695D2-25C6-4CB4-AB2D-FD3A30607DF8}"/>
              </a:ext>
            </a:extLst>
          </p:cNvPr>
          <p:cNvSpPr>
            <a:spLocks xmlns:a="http://schemas.openxmlformats.org/drawingml/2006/main" noGrp="1"/>
          </p:cNvSpPr>
          <p:nvPr/>
        </p:nvSpPr>
        <p:spPr>
          <a:xfrm xmlns:a="http://schemas.openxmlformats.org/drawingml/2006/main">
            <a:off x="609600" y="6515100"/>
            <a:ext cx="10429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28C7F7"/>
                </a:solidFill>
                <a:latin typeface="Arial"/>
                <a:ea typeface="Arial"/>
                <a:cs typeface="Arial"/>
              </a:defRPr>
            </a:pPr>
            <a:r>
              <a:rPr sz="1350" b="0">
                <a:solidFill>
                  <a:srgbClr val="28C7F7"/>
                </a:solidFill>
                <a:latin typeface="Arial"/>
                <a:ea typeface="Arial"/>
                <a:cs typeface="Arial"/>
              </a:rPr>
              <a:t>Test the gap, delivery, quality, full cost and team health.</a:t>
            </a:r>
          </a:p>
        </p:txBody>
      </p:sp>
    </p:spTree>
    <p:extLst>
      <p:ext uri="{BB962C8B-B14F-4D97-AF65-F5344CB8AC3E}">
        <p14:creationId xmlns:p14="http://schemas.microsoft.com/office/powerpoint/2010/main" val="637884542"/>
      </p:ext>
    </p:extLst>
  </p:cSld>
</p:sld>
</file>

<file path=ppt/slides/slide8.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B87452D-A0C8-48E1-A6D6-8886E065D054}"/>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When Software Starts Thinking</a:t>
            </a:r>
          </a:p>
        </p:txBody>
      </p:sp>
      <p:sp>
        <p:nvSpPr>
          <p:cNvPr id="2" name="">
            <a:extLst xmlns:a="http://schemas.openxmlformats.org/drawingml/2006/main">
              <a:ext uri="{FF2B5EF4-FFF2-40B4-BE49-F238E27FC236}">
                <a16:creationId xmlns:a16="http://schemas.microsoft.com/office/drawing/2014/main" id="{0F071BBB-FAE7-4A3C-9797-9C57F1A8519B}"/>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3EF7B18D-4502-4F30-AC3F-63E50834D758}"/>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3A7BECB4-A87F-4C40-BA22-90F8F524095F}"/>
              </a:ext>
            </a:extLst>
          </p:cNvPr>
          <p:cNvSpPr>
            <a:spLocks xmlns:a="http://schemas.openxmlformats.org/drawingml/2006/main" noGrp="1"/>
          </p:cNvSpPr>
          <p:nvPr/>
        </p:nvSpPr>
        <p:spPr>
          <a:xfrm xmlns:a="http://schemas.openxmlformats.org/drawingml/2006/main">
            <a:off x="609600" y="1676400"/>
            <a:ext cx="10648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8C7F7"/>
                </a:solidFill>
                <a:latin typeface="Arial"/>
                <a:ea typeface="Arial"/>
                <a:cs typeface="Arial"/>
              </a:defRPr>
            </a:pPr>
            <a:r>
              <a:rPr sz="1575" b="1">
                <a:solidFill>
                  <a:srgbClr val="28C7F7"/>
                </a:solidFill>
                <a:latin typeface="Arial"/>
                <a:ea typeface="Arial"/>
                <a:cs typeface="Arial"/>
              </a:rPr>
              <a:t>PRODUCT / PO · BA · PROJECT MANAGER · ENGINEERING · QA · OPERATIONS</a:t>
            </a:r>
          </a:p>
        </p:txBody>
      </p:sp>
      <p:sp>
        <p:nvSpPr>
          <p:cNvPr id="5" name="">
            <a:extLst xmlns:a="http://schemas.openxmlformats.org/drawingml/2006/main">
              <a:ext uri="{FF2B5EF4-FFF2-40B4-BE49-F238E27FC236}">
                <a16:creationId xmlns:a16="http://schemas.microsoft.com/office/drawing/2014/main" id="{93ED601E-F665-4134-B304-70425798C66D}"/>
              </a:ext>
            </a:extLst>
          </p:cNvPr>
          <p:cNvSpPr>
            <a:spLocks xmlns:a="http://schemas.openxmlformats.org/drawingml/2006/main" noGrp="1"/>
          </p:cNvSpPr>
          <p:nvPr/>
        </p:nvSpPr>
        <p:spPr>
          <a:xfrm xmlns:a="http://schemas.openxmlformats.org/drawingml/2006/main">
            <a:off x="609600" y="20193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F4F7FA"/>
                </a:solidFill>
                <a:latin typeface="Arial"/>
                <a:ea typeface="Arial"/>
                <a:cs typeface="Arial"/>
              </a:defRPr>
            </a:pPr>
            <a:r>
              <a:rPr sz="2025" b="1">
                <a:solidFill>
                  <a:srgbClr val="F4F7FA"/>
                </a:solidFill>
                <a:latin typeface="Arial"/>
                <a:ea typeface="Arial"/>
                <a:cs typeface="Arial"/>
              </a:rPr>
              <a:t>A system where consequential runtime responsibility partly depends on probabilistic Model Judgment.</a:t>
            </a:r>
          </a:p>
        </p:txBody>
      </p:sp>
      <p:sp>
        <p:nvSpPr>
          <p:cNvPr id="6" name="">
            <a:extLst xmlns:a="http://schemas.openxmlformats.org/drawingml/2006/main">
              <a:ext uri="{FF2B5EF4-FFF2-40B4-BE49-F238E27FC236}">
                <a16:creationId xmlns:a16="http://schemas.microsoft.com/office/drawing/2014/main" id="{C2E5FADD-1FBA-40E2-B8EE-413DD9DBC998}"/>
              </a:ext>
            </a:extLst>
          </p:cNvPr>
          <p:cNvSpPr>
            <a:spLocks xmlns:a="http://schemas.openxmlformats.org/drawingml/2006/main" noGrp="1"/>
          </p:cNvSpPr>
          <p:nvPr/>
        </p:nvSpPr>
        <p:spPr>
          <a:xfrm xmlns:a="http://schemas.openxmlformats.org/drawingml/2006/main">
            <a:off x="609600" y="27813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ADB8C5"/>
                </a:solidFill>
                <a:latin typeface="Arial"/>
                <a:ea typeface="Arial"/>
                <a:cs typeface="Arial"/>
              </a:defRPr>
            </a:pPr>
            <a:r>
              <a:rPr sz="1725" b="0">
                <a:solidFill>
                  <a:srgbClr val="ADB8C5"/>
                </a:solidFill>
                <a:latin typeface="Arial"/>
                <a:ea typeface="Arial"/>
                <a:cs typeface="Arial"/>
              </a:rPr>
              <a:t>Software 1.0</a:t>
            </a:r>
          </a:p>
        </p:txBody>
      </p:sp>
      <p:sp>
        <p:nvSpPr>
          <p:cNvPr id="7" name="">
            <a:extLst xmlns:a="http://schemas.openxmlformats.org/drawingml/2006/main">
              <a:ext uri="{FF2B5EF4-FFF2-40B4-BE49-F238E27FC236}">
                <a16:creationId xmlns:a16="http://schemas.microsoft.com/office/drawing/2014/main" id="{92EF5FC8-B166-422A-B48F-15C272238BBF}"/>
              </a:ext>
            </a:extLst>
          </p:cNvPr>
          <p:cNvSpPr>
            <a:spLocks xmlns:a="http://schemas.openxmlformats.org/drawingml/2006/main" noGrp="1"/>
          </p:cNvSpPr>
          <p:nvPr/>
        </p:nvSpPr>
        <p:spPr>
          <a:xfrm xmlns:a="http://schemas.openxmlformats.org/drawingml/2006/main">
            <a:off x="609600" y="3124200"/>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900" b="1">
                <a:solidFill>
                  <a:srgbClr val="28C7F7"/>
                </a:solidFill>
                <a:latin typeface="Arial"/>
                <a:ea typeface="Arial"/>
                <a:cs typeface="Arial"/>
              </a:defRPr>
            </a:pPr>
            <a:r>
              <a:rPr sz="3900" b="1">
                <a:solidFill>
                  <a:srgbClr val="28C7F7"/>
                </a:solidFill>
                <a:latin typeface="Arial"/>
                <a:ea typeface="Arial"/>
                <a:cs typeface="Arial"/>
              </a:rPr>
              <a:t>y = f(x)</a:t>
            </a:r>
          </a:p>
        </p:txBody>
      </p:sp>
      <p:sp>
        <p:nvSpPr>
          <p:cNvPr id="8" name="">
            <a:extLst xmlns:a="http://schemas.openxmlformats.org/drawingml/2006/main">
              <a:ext uri="{FF2B5EF4-FFF2-40B4-BE49-F238E27FC236}">
                <a16:creationId xmlns:a16="http://schemas.microsoft.com/office/drawing/2014/main" id="{319EC1A8-A73B-4A15-B1DA-127ABBA9003C}"/>
              </a:ext>
            </a:extLst>
          </p:cNvPr>
          <p:cNvSpPr>
            <a:spLocks xmlns:a="http://schemas.openxmlformats.org/drawingml/2006/main" noGrp="1"/>
          </p:cNvSpPr>
          <p:nvPr/>
        </p:nvSpPr>
        <p:spPr>
          <a:xfrm xmlns:a="http://schemas.openxmlformats.org/drawingml/2006/main">
            <a:off x="6324600" y="27813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ADB8C5"/>
                </a:solidFill>
                <a:latin typeface="Arial"/>
                <a:ea typeface="Arial"/>
                <a:cs typeface="Arial"/>
              </a:defRPr>
            </a:pPr>
            <a:r>
              <a:rPr sz="1725" b="0">
                <a:solidFill>
                  <a:srgbClr val="ADB8C5"/>
                </a:solidFill>
                <a:latin typeface="Arial"/>
                <a:ea typeface="Arial"/>
                <a:cs typeface="Arial"/>
              </a:rPr>
              <a:t>Software with Model Judgment</a:t>
            </a:r>
          </a:p>
        </p:txBody>
      </p:sp>
      <p:sp>
        <p:nvSpPr>
          <p:cNvPr id="9" name="">
            <a:extLst xmlns:a="http://schemas.openxmlformats.org/drawingml/2006/main">
              <a:ext uri="{FF2B5EF4-FFF2-40B4-BE49-F238E27FC236}">
                <a16:creationId xmlns:a16="http://schemas.microsoft.com/office/drawing/2014/main" id="{E4040546-1C60-4065-862F-B9E27100263B}"/>
              </a:ext>
            </a:extLst>
          </p:cNvPr>
          <p:cNvSpPr>
            <a:spLocks xmlns:a="http://schemas.openxmlformats.org/drawingml/2006/main" noGrp="1"/>
          </p:cNvSpPr>
          <p:nvPr/>
        </p:nvSpPr>
        <p:spPr>
          <a:xfrm xmlns:a="http://schemas.openxmlformats.org/drawingml/2006/main">
            <a:off x="6324600" y="3124200"/>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900" b="1">
                <a:solidFill>
                  <a:srgbClr val="F5B61C"/>
                </a:solidFill>
                <a:latin typeface="Arial"/>
                <a:ea typeface="Arial"/>
                <a:cs typeface="Arial"/>
              </a:defRPr>
            </a:pPr>
            <a:r>
              <a:rPr sz="3900" b="1">
                <a:solidFill>
                  <a:srgbClr val="F5B61C"/>
                </a:solidFill>
                <a:latin typeface="Arial"/>
                <a:ea typeface="Arial"/>
                <a:cs typeface="Arial"/>
              </a:rPr>
              <a:t>y ~ P(y | x)</a:t>
            </a:r>
          </a:p>
        </p:txBody>
      </p:sp>
      <p:sp>
        <p:nvSpPr>
          <p:cNvPr id="10" name="">
            <a:extLst xmlns:a="http://schemas.openxmlformats.org/drawingml/2006/main">
              <a:ext uri="{FF2B5EF4-FFF2-40B4-BE49-F238E27FC236}">
                <a16:creationId xmlns:a16="http://schemas.microsoft.com/office/drawing/2014/main" id="{0A220C4D-18B8-44CB-B82D-73B8760BEFF4}"/>
              </a:ext>
            </a:extLst>
          </p:cNvPr>
          <p:cNvSpPr>
            <a:spLocks xmlns:a="http://schemas.openxmlformats.org/drawingml/2006/main" noGrp="1"/>
          </p:cNvSpPr>
          <p:nvPr/>
        </p:nvSpPr>
        <p:spPr>
          <a:xfrm xmlns:a="http://schemas.openxmlformats.org/drawingml/2006/main" flipH="0" flipV="0">
            <a:off x="6096000" y="2781300"/>
            <a:ext cx="0" cy="24765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1" name="">
            <a:extLst xmlns:a="http://schemas.openxmlformats.org/drawingml/2006/main">
              <a:ext uri="{FF2B5EF4-FFF2-40B4-BE49-F238E27FC236}">
                <a16:creationId xmlns:a16="http://schemas.microsoft.com/office/drawing/2014/main" id="{C20B61C6-EAB7-48D9-B849-C2CA3F9BE65D}"/>
              </a:ext>
            </a:extLst>
          </p:cNvPr>
          <p:cNvSpPr>
            <a:spLocks xmlns:a="http://schemas.openxmlformats.org/drawingml/2006/main" noGrp="1"/>
          </p:cNvSpPr>
          <p:nvPr/>
        </p:nvSpPr>
        <p:spPr>
          <a:xfrm xmlns:a="http://schemas.openxmlformats.org/drawingml/2006/main" flipH="0" flipV="0">
            <a:off x="952500" y="4857750"/>
            <a:ext cx="44767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12" name="">
            <a:extLst xmlns:a="http://schemas.openxmlformats.org/drawingml/2006/main">
              <a:ext uri="{FF2B5EF4-FFF2-40B4-BE49-F238E27FC236}">
                <a16:creationId xmlns:a16="http://schemas.microsoft.com/office/drawing/2014/main" id="{C66AA8AB-C294-44DE-B620-F9FC55AA49AA}"/>
              </a:ext>
            </a:extLst>
          </p:cNvPr>
          <p:cNvSpPr>
            <a:spLocks xmlns:a="http://schemas.openxmlformats.org/drawingml/2006/main" noGrp="1"/>
          </p:cNvSpPr>
          <p:nvPr/>
        </p:nvSpPr>
        <p:spPr>
          <a:xfrm xmlns:a="http://schemas.openxmlformats.org/drawingml/2006/main">
            <a:off x="3086100" y="3905250"/>
            <a:ext cx="247650" cy="95250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13" name="">
            <a:extLst xmlns:a="http://schemas.openxmlformats.org/drawingml/2006/main">
              <a:ext uri="{FF2B5EF4-FFF2-40B4-BE49-F238E27FC236}">
                <a16:creationId xmlns:a16="http://schemas.microsoft.com/office/drawing/2014/main" id="{567D7DFD-3245-47E3-B7AF-DF25853242D0}"/>
              </a:ext>
            </a:extLst>
          </p:cNvPr>
          <p:cNvSpPr>
            <a:spLocks xmlns:a="http://schemas.openxmlformats.org/drawingml/2006/main" noGrp="1"/>
          </p:cNvSpPr>
          <p:nvPr/>
        </p:nvSpPr>
        <p:spPr>
          <a:xfrm xmlns:a="http://schemas.openxmlformats.org/drawingml/2006/main">
            <a:off x="1333500" y="493395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28C7F7"/>
                </a:solidFill>
                <a:latin typeface="Arial"/>
                <a:ea typeface="Arial"/>
                <a:cs typeface="Arial"/>
              </a:defRPr>
            </a:pPr>
            <a:r>
              <a:rPr sz="1575" b="1">
                <a:solidFill>
                  <a:srgbClr val="28C7F7"/>
                </a:solidFill>
                <a:latin typeface="Arial"/>
                <a:ea typeface="Arial"/>
                <a:cs typeface="Arial"/>
              </a:rPr>
              <a:t>One fixed result</a:t>
            </a:r>
          </a:p>
        </p:txBody>
      </p:sp>
      <p:sp>
        <p:nvSpPr>
          <p:cNvPr id="14" name="">
            <a:extLst xmlns:a="http://schemas.openxmlformats.org/drawingml/2006/main">
              <a:ext uri="{FF2B5EF4-FFF2-40B4-BE49-F238E27FC236}">
                <a16:creationId xmlns:a16="http://schemas.microsoft.com/office/drawing/2014/main" id="{408F2386-C01C-424E-9713-CA6F0086EC5E}"/>
              </a:ext>
            </a:extLst>
          </p:cNvPr>
          <p:cNvSpPr>
            <a:spLocks xmlns:a="http://schemas.openxmlformats.org/drawingml/2006/main" noGrp="1"/>
          </p:cNvSpPr>
          <p:nvPr/>
        </p:nvSpPr>
        <p:spPr>
          <a:xfrm xmlns:a="http://schemas.openxmlformats.org/drawingml/2006/main">
            <a:off x="7429500" y="4705350"/>
            <a:ext cx="200025" cy="152400"/>
          </a:xfrm>
          <a:prstGeom xmlns:a="http://schemas.openxmlformats.org/drawingml/2006/main" prst="rect">
            <a:avLst/>
          </a:prstGeom>
          <a:solidFill xmlns:a="http://schemas.openxmlformats.org/drawingml/2006/main">
            <a:srgbClr val="F5B61C"/>
          </a:solidFill>
          <a:ln xmlns:a="http://schemas.openxmlformats.org/drawingml/2006/main" w="0">
            <a:solidFill>
              <a:srgbClr val="F5B61C"/>
            </a:solidFill>
            <a:prstDash val="solid"/>
          </a:ln>
        </p:spPr>
      </p:sp>
      <p:sp>
        <p:nvSpPr>
          <p:cNvPr id="15" name="">
            <a:extLst xmlns:a="http://schemas.openxmlformats.org/drawingml/2006/main">
              <a:ext uri="{FF2B5EF4-FFF2-40B4-BE49-F238E27FC236}">
                <a16:creationId xmlns:a16="http://schemas.microsoft.com/office/drawing/2014/main" id="{01E5C8D1-CDD4-4C50-BCFD-F9083912A72C}"/>
              </a:ext>
            </a:extLst>
          </p:cNvPr>
          <p:cNvSpPr>
            <a:spLocks xmlns:a="http://schemas.openxmlformats.org/drawingml/2006/main" noGrp="1"/>
          </p:cNvSpPr>
          <p:nvPr/>
        </p:nvSpPr>
        <p:spPr>
          <a:xfrm xmlns:a="http://schemas.openxmlformats.org/drawingml/2006/main">
            <a:off x="7705725" y="4591050"/>
            <a:ext cx="200025" cy="266700"/>
          </a:xfrm>
          <a:prstGeom xmlns:a="http://schemas.openxmlformats.org/drawingml/2006/main" prst="rect">
            <a:avLst/>
          </a:prstGeom>
          <a:solidFill xmlns:a="http://schemas.openxmlformats.org/drawingml/2006/main">
            <a:srgbClr val="F5B61C"/>
          </a:solidFill>
          <a:ln xmlns:a="http://schemas.openxmlformats.org/drawingml/2006/main" w="0">
            <a:solidFill>
              <a:srgbClr val="F5B61C"/>
            </a:solidFill>
            <a:prstDash val="solid"/>
          </a:ln>
        </p:spPr>
      </p:sp>
      <p:sp>
        <p:nvSpPr>
          <p:cNvPr id="16" name="">
            <a:extLst xmlns:a="http://schemas.openxmlformats.org/drawingml/2006/main">
              <a:ext uri="{FF2B5EF4-FFF2-40B4-BE49-F238E27FC236}">
                <a16:creationId xmlns:a16="http://schemas.microsoft.com/office/drawing/2014/main" id="{E1859E8D-8CF4-4F6E-B2BA-3DE647010F35}"/>
              </a:ext>
            </a:extLst>
          </p:cNvPr>
          <p:cNvSpPr>
            <a:spLocks xmlns:a="http://schemas.openxmlformats.org/drawingml/2006/main" noGrp="1"/>
          </p:cNvSpPr>
          <p:nvPr/>
        </p:nvSpPr>
        <p:spPr>
          <a:xfrm xmlns:a="http://schemas.openxmlformats.org/drawingml/2006/main">
            <a:off x="7981950" y="4400550"/>
            <a:ext cx="200025" cy="45720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17" name="">
            <a:extLst xmlns:a="http://schemas.openxmlformats.org/drawingml/2006/main">
              <a:ext uri="{FF2B5EF4-FFF2-40B4-BE49-F238E27FC236}">
                <a16:creationId xmlns:a16="http://schemas.microsoft.com/office/drawing/2014/main" id="{D2132758-98F0-42F3-B79B-F496DF9BC18C}"/>
              </a:ext>
            </a:extLst>
          </p:cNvPr>
          <p:cNvSpPr>
            <a:spLocks xmlns:a="http://schemas.openxmlformats.org/drawingml/2006/main" noGrp="1"/>
          </p:cNvSpPr>
          <p:nvPr/>
        </p:nvSpPr>
        <p:spPr>
          <a:xfrm xmlns:a="http://schemas.openxmlformats.org/drawingml/2006/main">
            <a:off x="8258175" y="4133850"/>
            <a:ext cx="200025" cy="72390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18" name="">
            <a:extLst xmlns:a="http://schemas.openxmlformats.org/drawingml/2006/main">
              <a:ext uri="{FF2B5EF4-FFF2-40B4-BE49-F238E27FC236}">
                <a16:creationId xmlns:a16="http://schemas.microsoft.com/office/drawing/2014/main" id="{6DB913CB-1225-4D8E-920D-90B2411E2B3A}"/>
              </a:ext>
            </a:extLst>
          </p:cNvPr>
          <p:cNvSpPr>
            <a:spLocks xmlns:a="http://schemas.openxmlformats.org/drawingml/2006/main" noGrp="1"/>
          </p:cNvSpPr>
          <p:nvPr/>
        </p:nvSpPr>
        <p:spPr>
          <a:xfrm xmlns:a="http://schemas.openxmlformats.org/drawingml/2006/main">
            <a:off x="8534400" y="3857625"/>
            <a:ext cx="200025" cy="10001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19" name="">
            <a:extLst xmlns:a="http://schemas.openxmlformats.org/drawingml/2006/main">
              <a:ext uri="{FF2B5EF4-FFF2-40B4-BE49-F238E27FC236}">
                <a16:creationId xmlns:a16="http://schemas.microsoft.com/office/drawing/2014/main" id="{454CFD10-A69C-43CF-AEF9-CDEFB318DFFF}"/>
              </a:ext>
            </a:extLst>
          </p:cNvPr>
          <p:cNvSpPr>
            <a:spLocks xmlns:a="http://schemas.openxmlformats.org/drawingml/2006/main" noGrp="1"/>
          </p:cNvSpPr>
          <p:nvPr/>
        </p:nvSpPr>
        <p:spPr>
          <a:xfrm xmlns:a="http://schemas.openxmlformats.org/drawingml/2006/main">
            <a:off x="8810625" y="3695700"/>
            <a:ext cx="200025" cy="116205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20" name="">
            <a:extLst xmlns:a="http://schemas.openxmlformats.org/drawingml/2006/main">
              <a:ext uri="{FF2B5EF4-FFF2-40B4-BE49-F238E27FC236}">
                <a16:creationId xmlns:a16="http://schemas.microsoft.com/office/drawing/2014/main" id="{AB5F629B-930E-4379-B30A-4D5531988CE4}"/>
              </a:ext>
            </a:extLst>
          </p:cNvPr>
          <p:cNvSpPr>
            <a:spLocks xmlns:a="http://schemas.openxmlformats.org/drawingml/2006/main" noGrp="1"/>
          </p:cNvSpPr>
          <p:nvPr/>
        </p:nvSpPr>
        <p:spPr>
          <a:xfrm xmlns:a="http://schemas.openxmlformats.org/drawingml/2006/main">
            <a:off x="9086850" y="3857625"/>
            <a:ext cx="200025" cy="10001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21" name="">
            <a:extLst xmlns:a="http://schemas.openxmlformats.org/drawingml/2006/main">
              <a:ext uri="{FF2B5EF4-FFF2-40B4-BE49-F238E27FC236}">
                <a16:creationId xmlns:a16="http://schemas.microsoft.com/office/drawing/2014/main" id="{B7F10701-502F-4E3A-93E3-9A4A6CA20209}"/>
              </a:ext>
            </a:extLst>
          </p:cNvPr>
          <p:cNvSpPr>
            <a:spLocks xmlns:a="http://schemas.openxmlformats.org/drawingml/2006/main" noGrp="1"/>
          </p:cNvSpPr>
          <p:nvPr/>
        </p:nvSpPr>
        <p:spPr>
          <a:xfrm xmlns:a="http://schemas.openxmlformats.org/drawingml/2006/main">
            <a:off x="9363075" y="4133850"/>
            <a:ext cx="200025" cy="72390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22" name="">
            <a:extLst xmlns:a="http://schemas.openxmlformats.org/drawingml/2006/main">
              <a:ext uri="{FF2B5EF4-FFF2-40B4-BE49-F238E27FC236}">
                <a16:creationId xmlns:a16="http://schemas.microsoft.com/office/drawing/2014/main" id="{4EF8C2F4-1BF7-4822-BE68-9B5BA83D580B}"/>
              </a:ext>
            </a:extLst>
          </p:cNvPr>
          <p:cNvSpPr>
            <a:spLocks xmlns:a="http://schemas.openxmlformats.org/drawingml/2006/main" noGrp="1"/>
          </p:cNvSpPr>
          <p:nvPr/>
        </p:nvSpPr>
        <p:spPr>
          <a:xfrm xmlns:a="http://schemas.openxmlformats.org/drawingml/2006/main">
            <a:off x="9639300" y="4400550"/>
            <a:ext cx="200025" cy="45720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23" name="">
            <a:extLst xmlns:a="http://schemas.openxmlformats.org/drawingml/2006/main">
              <a:ext uri="{FF2B5EF4-FFF2-40B4-BE49-F238E27FC236}">
                <a16:creationId xmlns:a16="http://schemas.microsoft.com/office/drawing/2014/main" id="{A3887DE5-17AC-4AE7-B333-32725B53C017}"/>
              </a:ext>
            </a:extLst>
          </p:cNvPr>
          <p:cNvSpPr>
            <a:spLocks xmlns:a="http://schemas.openxmlformats.org/drawingml/2006/main" noGrp="1"/>
          </p:cNvSpPr>
          <p:nvPr/>
        </p:nvSpPr>
        <p:spPr>
          <a:xfrm xmlns:a="http://schemas.openxmlformats.org/drawingml/2006/main">
            <a:off x="9915525" y="4591050"/>
            <a:ext cx="200025" cy="266700"/>
          </a:xfrm>
          <a:prstGeom xmlns:a="http://schemas.openxmlformats.org/drawingml/2006/main" prst="rect">
            <a:avLst/>
          </a:prstGeom>
          <a:solidFill xmlns:a="http://schemas.openxmlformats.org/drawingml/2006/main">
            <a:srgbClr val="F5B61C"/>
          </a:solidFill>
          <a:ln xmlns:a="http://schemas.openxmlformats.org/drawingml/2006/main" w="0">
            <a:solidFill>
              <a:srgbClr val="F5B61C"/>
            </a:solidFill>
            <a:prstDash val="solid"/>
          </a:ln>
        </p:spPr>
      </p:sp>
      <p:sp>
        <p:nvSpPr>
          <p:cNvPr id="24" name="">
            <a:extLst xmlns:a="http://schemas.openxmlformats.org/drawingml/2006/main">
              <a:ext uri="{FF2B5EF4-FFF2-40B4-BE49-F238E27FC236}">
                <a16:creationId xmlns:a16="http://schemas.microsoft.com/office/drawing/2014/main" id="{EA19B4A4-A46F-4538-89F4-C0137B997F60}"/>
              </a:ext>
            </a:extLst>
          </p:cNvPr>
          <p:cNvSpPr>
            <a:spLocks xmlns:a="http://schemas.openxmlformats.org/drawingml/2006/main" noGrp="1"/>
          </p:cNvSpPr>
          <p:nvPr/>
        </p:nvSpPr>
        <p:spPr>
          <a:xfrm xmlns:a="http://schemas.openxmlformats.org/drawingml/2006/main">
            <a:off x="10191750" y="4705350"/>
            <a:ext cx="200025" cy="152400"/>
          </a:xfrm>
          <a:prstGeom xmlns:a="http://schemas.openxmlformats.org/drawingml/2006/main" prst="rect">
            <a:avLst/>
          </a:prstGeom>
          <a:solidFill xmlns:a="http://schemas.openxmlformats.org/drawingml/2006/main">
            <a:srgbClr val="F5B61C"/>
          </a:solidFill>
          <a:ln xmlns:a="http://schemas.openxmlformats.org/drawingml/2006/main" w="0">
            <a:solidFill>
              <a:srgbClr val="F5B61C"/>
            </a:solidFill>
            <a:prstDash val="solid"/>
          </a:ln>
        </p:spPr>
      </p:sp>
      <p:sp>
        <p:nvSpPr>
          <p:cNvPr id="25" name="">
            <a:extLst xmlns:a="http://schemas.openxmlformats.org/drawingml/2006/main">
              <a:ext uri="{FF2B5EF4-FFF2-40B4-BE49-F238E27FC236}">
                <a16:creationId xmlns:a16="http://schemas.microsoft.com/office/drawing/2014/main" id="{CB02C254-0CCF-4113-B248-BB9EDEEB5FAB}"/>
              </a:ext>
            </a:extLst>
          </p:cNvPr>
          <p:cNvSpPr>
            <a:spLocks xmlns:a="http://schemas.openxmlformats.org/drawingml/2006/main" noGrp="1"/>
          </p:cNvSpPr>
          <p:nvPr/>
        </p:nvSpPr>
        <p:spPr>
          <a:xfrm xmlns:a="http://schemas.openxmlformats.org/drawingml/2006/main" flipH="0" flipV="0">
            <a:off x="6619875" y="4857750"/>
            <a:ext cx="4867275"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6" name="">
            <a:extLst xmlns:a="http://schemas.openxmlformats.org/drawingml/2006/main">
              <a:ext uri="{FF2B5EF4-FFF2-40B4-BE49-F238E27FC236}">
                <a16:creationId xmlns:a16="http://schemas.microsoft.com/office/drawing/2014/main" id="{4F784E1B-0962-4B46-B53C-03EBFB8059AD}"/>
              </a:ext>
            </a:extLst>
          </p:cNvPr>
          <p:cNvSpPr>
            <a:spLocks xmlns:a="http://schemas.openxmlformats.org/drawingml/2006/main" noGrp="1"/>
          </p:cNvSpPr>
          <p:nvPr/>
        </p:nvSpPr>
        <p:spPr>
          <a:xfrm xmlns:a="http://schemas.openxmlformats.org/drawingml/2006/main">
            <a:off x="6543675" y="4991100"/>
            <a:ext cx="1381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5B61C"/>
                </a:solidFill>
                <a:latin typeface="Arial"/>
                <a:ea typeface="Arial"/>
                <a:cs typeface="Arial"/>
              </a:defRPr>
            </a:pPr>
            <a:r>
              <a:rPr sz="1275" b="0">
                <a:solidFill>
                  <a:srgbClr val="F5B61C"/>
                </a:solidFill>
                <a:latin typeface="Arial"/>
                <a:ea typeface="Arial"/>
                <a:cs typeface="Arial"/>
              </a:rPr>
              <a:t>Less frequent outcomes</a:t>
            </a:r>
          </a:p>
        </p:txBody>
      </p:sp>
      <p:sp>
        <p:nvSpPr>
          <p:cNvPr id="27" name="">
            <a:extLst xmlns:a="http://schemas.openxmlformats.org/drawingml/2006/main">
              <a:ext uri="{FF2B5EF4-FFF2-40B4-BE49-F238E27FC236}">
                <a16:creationId xmlns:a16="http://schemas.microsoft.com/office/drawing/2014/main" id="{B1C0CEDD-9567-48C2-8811-A6B9BA1AA217}"/>
              </a:ext>
            </a:extLst>
          </p:cNvPr>
          <p:cNvSpPr>
            <a:spLocks xmlns:a="http://schemas.openxmlformats.org/drawingml/2006/main" noGrp="1"/>
          </p:cNvSpPr>
          <p:nvPr/>
        </p:nvSpPr>
        <p:spPr>
          <a:xfrm xmlns:a="http://schemas.openxmlformats.org/drawingml/2006/main">
            <a:off x="7991475" y="4962525"/>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28C7F7"/>
                </a:solidFill>
                <a:latin typeface="Arial"/>
                <a:ea typeface="Arial"/>
                <a:cs typeface="Arial"/>
              </a:defRPr>
            </a:pPr>
            <a:r>
              <a:rPr sz="1500" b="1">
                <a:solidFill>
                  <a:srgbClr val="28C7F7"/>
                </a:solidFill>
                <a:latin typeface="Arial"/>
                <a:ea typeface="Arial"/>
                <a:cs typeface="Arial"/>
              </a:rPr>
              <a:t>Useful variation</a:t>
            </a:r>
          </a:p>
        </p:txBody>
      </p:sp>
      <p:sp>
        <p:nvSpPr>
          <p:cNvPr id="28" name="">
            <a:extLst xmlns:a="http://schemas.openxmlformats.org/drawingml/2006/main">
              <a:ext uri="{FF2B5EF4-FFF2-40B4-BE49-F238E27FC236}">
                <a16:creationId xmlns:a16="http://schemas.microsoft.com/office/drawing/2014/main" id="{5E8B6465-515D-4776-ABEF-3D9E25DD70C8}"/>
              </a:ext>
            </a:extLst>
          </p:cNvPr>
          <p:cNvSpPr>
            <a:spLocks xmlns:a="http://schemas.openxmlformats.org/drawingml/2006/main" noGrp="1"/>
          </p:cNvSpPr>
          <p:nvPr/>
        </p:nvSpPr>
        <p:spPr>
          <a:xfrm xmlns:a="http://schemas.openxmlformats.org/drawingml/2006/main">
            <a:off x="10201275" y="4991100"/>
            <a:ext cx="1381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5B61C"/>
                </a:solidFill>
                <a:latin typeface="Arial"/>
                <a:ea typeface="Arial"/>
                <a:cs typeface="Arial"/>
              </a:defRPr>
            </a:pPr>
            <a:r>
              <a:rPr sz="1275" b="0">
                <a:solidFill>
                  <a:srgbClr val="F5B61C"/>
                </a:solidFill>
                <a:latin typeface="Arial"/>
                <a:ea typeface="Arial"/>
                <a:cs typeface="Arial"/>
              </a:rPr>
              <a:t>Less frequent outcomes</a:t>
            </a:r>
          </a:p>
        </p:txBody>
      </p:sp>
      <p:sp>
        <p:nvSpPr>
          <p:cNvPr id="29" name="">
            <a:extLst xmlns:a="http://schemas.openxmlformats.org/drawingml/2006/main">
              <a:ext uri="{FF2B5EF4-FFF2-40B4-BE49-F238E27FC236}">
                <a16:creationId xmlns:a16="http://schemas.microsoft.com/office/drawing/2014/main" id="{42FA0EEC-CEF0-4DB0-948B-B1D0EA0F005F}"/>
              </a:ext>
            </a:extLst>
          </p:cNvPr>
          <p:cNvSpPr>
            <a:spLocks xmlns:a="http://schemas.openxmlformats.org/drawingml/2006/main" noGrp="1"/>
          </p:cNvSpPr>
          <p:nvPr/>
        </p:nvSpPr>
        <p:spPr>
          <a:xfrm xmlns:a="http://schemas.openxmlformats.org/drawingml/2006/main">
            <a:off x="609600" y="5362575"/>
            <a:ext cx="5257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Same input, state and version: same result.</a:t>
            </a:r>
          </a:p>
        </p:txBody>
      </p:sp>
      <p:sp>
        <p:nvSpPr>
          <p:cNvPr id="30" name="">
            <a:extLst xmlns:a="http://schemas.openxmlformats.org/drawingml/2006/main">
              <a:ext uri="{FF2B5EF4-FFF2-40B4-BE49-F238E27FC236}">
                <a16:creationId xmlns:a16="http://schemas.microsoft.com/office/drawing/2014/main" id="{EDAE2F33-BC79-430F-AD78-057DD0E263B5}"/>
              </a:ext>
            </a:extLst>
          </p:cNvPr>
          <p:cNvSpPr>
            <a:spLocks xmlns:a="http://schemas.openxmlformats.org/drawingml/2006/main" noGrp="1"/>
          </p:cNvSpPr>
          <p:nvPr/>
        </p:nvSpPr>
        <p:spPr>
          <a:xfrm xmlns:a="http://schemas.openxmlformats.org/drawingml/2006/main">
            <a:off x="6324600" y="5362575"/>
            <a:ext cx="5257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The same request can produce different results.</a:t>
            </a:r>
          </a:p>
        </p:txBody>
      </p:sp>
      <p:sp>
        <p:nvSpPr>
          <p:cNvPr id="31" name="">
            <a:extLst xmlns:a="http://schemas.openxmlformats.org/drawingml/2006/main">
              <a:ext uri="{FF2B5EF4-FFF2-40B4-BE49-F238E27FC236}">
                <a16:creationId xmlns:a16="http://schemas.microsoft.com/office/drawing/2014/main" id="{A2B7D5AD-5FFB-4B12-9EEB-B7FE43DA26E9}"/>
              </a:ext>
            </a:extLst>
          </p:cNvPr>
          <p:cNvSpPr>
            <a:spLocks xmlns:a="http://schemas.openxmlformats.org/drawingml/2006/main" noGrp="1"/>
          </p:cNvSpPr>
          <p:nvPr/>
        </p:nvSpPr>
        <p:spPr>
          <a:xfrm xmlns:a="http://schemas.openxmlformats.org/drawingml/2006/main" flipH="0" flipV="0">
            <a:off x="609600" y="57340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2" name="">
            <a:extLst xmlns:a="http://schemas.openxmlformats.org/drawingml/2006/main">
              <a:ext uri="{FF2B5EF4-FFF2-40B4-BE49-F238E27FC236}">
                <a16:creationId xmlns:a16="http://schemas.microsoft.com/office/drawing/2014/main" id="{41A1D022-BDE7-4070-8ED3-8EDD70779285}"/>
              </a:ext>
            </a:extLst>
          </p:cNvPr>
          <p:cNvSpPr>
            <a:spLocks xmlns:a="http://schemas.openxmlformats.org/drawingml/2006/main" noGrp="1"/>
          </p:cNvSpPr>
          <p:nvPr/>
        </p:nvSpPr>
        <p:spPr>
          <a:xfrm xmlns:a="http://schemas.openxmlformats.org/drawingml/2006/main">
            <a:off x="609600" y="6029325"/>
            <a:ext cx="10648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F4F7FA"/>
                </a:solidFill>
                <a:latin typeface="Arial"/>
                <a:ea typeface="Arial"/>
                <a:cs typeface="Arial"/>
              </a:defRPr>
            </a:pPr>
            <a:r>
              <a:rPr sz="1950" b="1">
                <a:solidFill>
                  <a:srgbClr val="F4F7FA"/>
                </a:solidFill>
                <a:latin typeface="Arial"/>
                <a:ea typeface="Arial"/>
                <a:cs typeface="Arial"/>
              </a:rPr>
              <a:t>IT assistant: help employees recover access</a:t>
            </a:r>
          </a:p>
          <a:p xmlns:a="http://schemas.openxmlformats.org/drawingml/2006/main">
            <a:pPr algn="l">
              <a:defRPr sz="1950" b="1">
                <a:solidFill>
                  <a:srgbClr val="F4F7FA"/>
                </a:solidFill>
                <a:latin typeface="Arial"/>
                <a:ea typeface="Arial"/>
                <a:cs typeface="Arial"/>
              </a:defRPr>
            </a:pPr>
            <a:r>
              <a:rPr sz="1950" b="1">
                <a:solidFill>
                  <a:srgbClr val="F4F7FA"/>
                </a:solidFill>
                <a:latin typeface="Arial"/>
                <a:ea typeface="Arial"/>
                <a:cs typeface="Arial"/>
              </a:rPr>
              <a:t>using approved guidance and permitted actions.</a:t>
            </a:r>
          </a:p>
        </p:txBody>
      </p:sp>
      <p:sp>
        <p:nvSpPr>
          <p:cNvPr id="33" name="">
            <a:extLst xmlns:a="http://schemas.openxmlformats.org/drawingml/2006/main">
              <a:ext uri="{FF2B5EF4-FFF2-40B4-BE49-F238E27FC236}">
                <a16:creationId xmlns:a16="http://schemas.microsoft.com/office/drawing/2014/main" id="{12764EEB-3184-4FC9-8A85-5762F177A6DF}"/>
              </a:ext>
            </a:extLst>
          </p:cNvPr>
          <p:cNvSpPr>
            <a:spLocks xmlns:a="http://schemas.openxmlformats.org/drawingml/2006/main" noGrp="1"/>
          </p:cNvSpPr>
          <p:nvPr/>
        </p:nvSpPr>
        <p:spPr>
          <a:xfrm xmlns:a="http://schemas.openxmlformats.org/drawingml/2006/main">
            <a:off x="609600" y="57721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Same request, different responses. Context, model and configuration also matter.</a:t>
            </a:r>
          </a:p>
        </p:txBody>
      </p:sp>
      <p:sp>
        <p:nvSpPr>
          <p:cNvPr id="34" name="">
            <a:extLst xmlns:a="http://schemas.openxmlformats.org/drawingml/2006/main">
              <a:ext uri="{FF2B5EF4-FFF2-40B4-BE49-F238E27FC236}">
                <a16:creationId xmlns:a16="http://schemas.microsoft.com/office/drawing/2014/main" id="{F6B8442C-5836-4AD0-A1DD-6215E9FB9AB9}"/>
              </a:ext>
            </a:extLst>
          </p:cNvPr>
          <p:cNvSpPr>
            <a:spLocks xmlns:a="http://schemas.openxmlformats.org/drawingml/2006/main" noGrp="1"/>
          </p:cNvSpPr>
          <p:nvPr/>
        </p:nvSpPr>
        <p:spPr>
          <a:xfrm xmlns:a="http://schemas.openxmlformats.org/drawingml/2006/main">
            <a:off x="609600" y="6619875"/>
            <a:ext cx="106489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ADB8C5"/>
                </a:solidFill>
                <a:latin typeface="Arial"/>
                <a:ea typeface="Arial"/>
                <a:cs typeface="Arial"/>
              </a:defRPr>
            </a:pPr>
            <a:r>
              <a:rPr sz="1200" b="0">
                <a:solidFill>
                  <a:srgbClr val="ADB8C5"/>
                </a:solidFill>
                <a:latin typeface="Arial"/>
                <a:ea typeface="Arial"/>
                <a:cs typeface="Arial"/>
              </a:rPr>
              <a:t>Schematic distribution, not measured data. Shape depends on the task.</a:t>
            </a:r>
          </a:p>
        </p:txBody>
      </p:sp>
    </p:spTree>
    <p:extLst>
      <p:ext uri="{BB962C8B-B14F-4D97-AF65-F5344CB8AC3E}">
        <p14:creationId xmlns:p14="http://schemas.microsoft.com/office/powerpoint/2010/main" val="794678658"/>
      </p:ext>
    </p:extLst>
  </p:cSld>
</p:sld>
</file>

<file path=ppt/slides/slide9.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52" name=""/>
          <p:cNvCxnSpPr>
            <a:stCxn xmlns:a="http://schemas.openxmlformats.org/drawingml/2006/main" id="7" idx="3"/>
            <a:endCxn xmlns:a="http://schemas.openxmlformats.org/drawingml/2006/main" id="9" idx="1"/>
          </p:cNvCxnSpPr>
          <p:nvPr/>
        </p:nvCxnSpPr>
        <p:spPr>
          <a:xfrm xmlns:a="http://schemas.openxmlformats.org/drawingml/2006/main">
            <a:off x="2219325" y="2857500"/>
            <a:ext cx="657225" cy="0"/>
          </a:xfrm>
          <a:prstGeom xmlns:a="http://schemas.openxmlformats.org/drawingml/2006/main" prst="straightConnector1">
            <a:avLst/>
          </a:prstGeom>
          <a:ln xmlns:a="http://schemas.openxmlformats.org/drawingml/2006/main" w="21908">
            <a:solidFill>
              <a:srgbClr val="ADB8C5"/>
            </a:solidFill>
            <a:prstDash val="solid"/>
            <a:tailEnd type="triangle" w="med" len="med"/>
          </a:ln>
        </p:spPr>
      </p:cxnSp>
      <p:sp>
        <p:nvSpPr>
          <p:cNvPr id="53" name="">
            <a:extLst xmlns:a="http://schemas.openxmlformats.org/drawingml/2006/main">
              <a:ext uri="{FF2B5EF4-FFF2-40B4-BE49-F238E27FC236}">
                <a16:creationId xmlns:a16="http://schemas.microsoft.com/office/drawing/2014/main" id="{CA662135-362B-4590-9F58-9F28E40AE865}"/>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Requirements Become Boundaries</a:t>
            </a:r>
          </a:p>
        </p:txBody>
      </p:sp>
      <p:sp>
        <p:nvSpPr>
          <p:cNvPr id="2" name="">
            <a:extLst xmlns:a="http://schemas.openxmlformats.org/drawingml/2006/main">
              <a:ext uri="{FF2B5EF4-FFF2-40B4-BE49-F238E27FC236}">
                <a16:creationId xmlns:a16="http://schemas.microsoft.com/office/drawing/2014/main" id="{7D6B736C-F2EA-48A5-A6D9-4124EB1E6AD0}"/>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AC55C5C2-32D7-48CE-832E-508D9F63DBFB}"/>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6B512E54-AC87-4CA7-B930-72E5FA03926D}"/>
              </a:ext>
            </a:extLst>
          </p:cNvPr>
          <p:cNvSpPr>
            <a:spLocks xmlns:a="http://schemas.openxmlformats.org/drawingml/2006/main" noGrp="1"/>
          </p:cNvSpPr>
          <p:nvPr/>
        </p:nvSpPr>
        <p:spPr>
          <a:xfrm xmlns:a="http://schemas.openxmlformats.org/drawingml/2006/main">
            <a:off x="609600" y="1676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PRODUCT MANAGER / PRODUCT OWNER · BA · QA / DEV · PROJECT MANAGER</a:t>
            </a:r>
          </a:p>
        </p:txBody>
      </p:sp>
      <p:sp>
        <p:nvSpPr>
          <p:cNvPr id="5" name="">
            <a:extLst xmlns:a="http://schemas.openxmlformats.org/drawingml/2006/main">
              <a:ext uri="{FF2B5EF4-FFF2-40B4-BE49-F238E27FC236}">
                <a16:creationId xmlns:a16="http://schemas.microsoft.com/office/drawing/2014/main" id="{67255ADA-2255-4CF6-B7CA-3EC09EC01208}"/>
              </a:ext>
            </a:extLst>
          </p:cNvPr>
          <p:cNvSpPr>
            <a:spLocks xmlns:a="http://schemas.openxmlformats.org/drawingml/2006/main" noGrp="1"/>
          </p:cNvSpPr>
          <p:nvPr/>
        </p:nvSpPr>
        <p:spPr>
          <a:xfrm xmlns:a="http://schemas.openxmlformats.org/drawingml/2006/main" flipH="0" flipV="0">
            <a:off x="4838700" y="2095500"/>
            <a:ext cx="0" cy="226695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6" name="">
            <a:extLst xmlns:a="http://schemas.openxmlformats.org/drawingml/2006/main">
              <a:ext uri="{FF2B5EF4-FFF2-40B4-BE49-F238E27FC236}">
                <a16:creationId xmlns:a16="http://schemas.microsoft.com/office/drawing/2014/main" id="{D42B4C1F-7423-47CA-85CE-88E763C62048}"/>
              </a:ext>
            </a:extLst>
          </p:cNvPr>
          <p:cNvSpPr>
            <a:spLocks xmlns:a="http://schemas.openxmlformats.org/drawingml/2006/main" noGrp="1"/>
          </p:cNvSpPr>
          <p:nvPr/>
        </p:nvSpPr>
        <p:spPr>
          <a:xfrm xmlns:a="http://schemas.openxmlformats.org/drawingml/2006/main">
            <a:off x="609600" y="20955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ADB8C5"/>
                </a:solidFill>
                <a:latin typeface="Arial"/>
                <a:ea typeface="Arial"/>
                <a:cs typeface="Arial"/>
              </a:defRPr>
            </a:pPr>
            <a:r>
              <a:rPr sz="1500" b="1">
                <a:solidFill>
                  <a:srgbClr val="ADB8C5"/>
                </a:solidFill>
                <a:latin typeface="Arial"/>
                <a:ea typeface="Arial"/>
                <a:cs typeface="Arial"/>
              </a:rPr>
              <a:t>BEFORE: SPECIFY THE PATH</a:t>
            </a:r>
          </a:p>
        </p:txBody>
      </p:sp>
      <p:sp>
        <p:nvSpPr>
          <p:cNvPr id="7" name="">
            <a:extLst xmlns:a="http://schemas.openxmlformats.org/drawingml/2006/main">
              <a:ext uri="{FF2B5EF4-FFF2-40B4-BE49-F238E27FC236}">
                <a16:creationId xmlns:a16="http://schemas.microsoft.com/office/drawing/2014/main" id="{84E175EF-391E-43DF-9A42-A2585AC483C3}"/>
              </a:ext>
            </a:extLst>
          </p:cNvPr>
          <p:cNvSpPr>
            <a:spLocks xmlns:a="http://schemas.openxmlformats.org/drawingml/2006/main" noGrp="1"/>
          </p:cNvSpPr>
          <p:nvPr/>
        </p:nvSpPr>
        <p:spPr>
          <a:xfrm xmlns:a="http://schemas.openxmlformats.org/drawingml/2006/main">
            <a:off x="609600" y="2581275"/>
            <a:ext cx="1609725" cy="552450"/>
          </a:xfrm>
          <a:prstGeom xmlns:a="http://schemas.openxmlformats.org/drawingml/2006/main" prst="rect">
            <a:avLst/>
          </a:prstGeom>
          <a:solidFill xmlns:a="http://schemas.openxmlformats.org/drawingml/2006/main">
            <a:srgbClr val="141C26"/>
          </a:solidFill>
          <a:ln xmlns:a="http://schemas.openxmlformats.org/drawingml/2006/main" w="14288">
            <a:solidFill>
              <a:srgbClr val="ADB8C5"/>
            </a:solidFill>
            <a:prstDash val="solid"/>
          </a:ln>
        </p:spPr>
      </p:sp>
      <p:sp>
        <p:nvSpPr>
          <p:cNvPr id="8" name="">
            <a:extLst xmlns:a="http://schemas.openxmlformats.org/drawingml/2006/main">
              <a:ext uri="{FF2B5EF4-FFF2-40B4-BE49-F238E27FC236}">
                <a16:creationId xmlns:a16="http://schemas.microsoft.com/office/drawing/2014/main" id="{AB118EC2-079F-41BC-8E4B-B2E3F3A76257}"/>
              </a:ext>
            </a:extLst>
          </p:cNvPr>
          <p:cNvSpPr>
            <a:spLocks xmlns:a="http://schemas.openxmlformats.org/drawingml/2006/main" noGrp="1"/>
          </p:cNvSpPr>
          <p:nvPr/>
        </p:nvSpPr>
        <p:spPr>
          <a:xfrm xmlns:a="http://schemas.openxmlformats.org/drawingml/2006/main">
            <a:off x="723900" y="2657475"/>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F4F7FA"/>
                </a:solidFill>
                <a:latin typeface="Arial"/>
                <a:ea typeface="Arial"/>
                <a:cs typeface="Arial"/>
              </a:defRPr>
            </a:pPr>
            <a:r>
              <a:rPr sz="1950" b="1">
                <a:solidFill>
                  <a:srgbClr val="F4F7FA"/>
                </a:solidFill>
                <a:latin typeface="Arial"/>
                <a:ea typeface="Arial"/>
                <a:cs typeface="Arial"/>
              </a:rPr>
              <a:t>Press A</a:t>
            </a:r>
          </a:p>
        </p:txBody>
      </p:sp>
      <p:sp>
        <p:nvSpPr>
          <p:cNvPr id="9" name="">
            <a:extLst xmlns:a="http://schemas.openxmlformats.org/drawingml/2006/main">
              <a:ext uri="{FF2B5EF4-FFF2-40B4-BE49-F238E27FC236}">
                <a16:creationId xmlns:a16="http://schemas.microsoft.com/office/drawing/2014/main" id="{83DDE96C-395A-4944-B4E9-34674DD2F909}"/>
              </a:ext>
            </a:extLst>
          </p:cNvPr>
          <p:cNvSpPr>
            <a:spLocks xmlns:a="http://schemas.openxmlformats.org/drawingml/2006/main" noGrp="1"/>
          </p:cNvSpPr>
          <p:nvPr/>
        </p:nvSpPr>
        <p:spPr>
          <a:xfrm xmlns:a="http://schemas.openxmlformats.org/drawingml/2006/main">
            <a:off x="2876550" y="2581275"/>
            <a:ext cx="1733550" cy="552450"/>
          </a:xfrm>
          <a:prstGeom xmlns:a="http://schemas.openxmlformats.org/drawingml/2006/main" prst="rect">
            <a:avLst/>
          </a:prstGeom>
          <a:solidFill xmlns:a="http://schemas.openxmlformats.org/drawingml/2006/main">
            <a:srgbClr val="141C26"/>
          </a:solidFill>
          <a:ln xmlns:a="http://schemas.openxmlformats.org/drawingml/2006/main" w="14288">
            <a:solidFill>
              <a:srgbClr val="ADB8C5"/>
            </a:solidFill>
            <a:prstDash val="solid"/>
          </a:ln>
        </p:spPr>
      </p:sp>
      <p:sp>
        <p:nvSpPr>
          <p:cNvPr id="10" name="">
            <a:extLst xmlns:a="http://schemas.openxmlformats.org/drawingml/2006/main">
              <a:ext uri="{FF2B5EF4-FFF2-40B4-BE49-F238E27FC236}">
                <a16:creationId xmlns:a16="http://schemas.microsoft.com/office/drawing/2014/main" id="{A847706B-58D7-4476-9A42-1ACF9981917A}"/>
              </a:ext>
            </a:extLst>
          </p:cNvPr>
          <p:cNvSpPr>
            <a:spLocks xmlns:a="http://schemas.openxmlformats.org/drawingml/2006/main" noGrp="1"/>
          </p:cNvSpPr>
          <p:nvPr/>
        </p:nvSpPr>
        <p:spPr>
          <a:xfrm xmlns:a="http://schemas.openxmlformats.org/drawingml/2006/main">
            <a:off x="2990850" y="2657475"/>
            <a:ext cx="150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F4F7FA"/>
                </a:solidFill>
                <a:latin typeface="Arial"/>
                <a:ea typeface="Arial"/>
                <a:cs typeface="Arial"/>
              </a:defRPr>
            </a:pPr>
            <a:r>
              <a:rPr sz="1950" b="1">
                <a:solidFill>
                  <a:srgbClr val="F4F7FA"/>
                </a:solidFill>
                <a:latin typeface="Arial"/>
                <a:ea typeface="Arial"/>
                <a:cs typeface="Arial"/>
              </a:rPr>
              <a:t>Window B</a:t>
            </a:r>
          </a:p>
        </p:txBody>
      </p:sp>
      <p:sp>
        <p:nvSpPr>
          <p:cNvPr id="12" name="">
            <a:extLst xmlns:a="http://schemas.openxmlformats.org/drawingml/2006/main">
              <a:ext uri="{FF2B5EF4-FFF2-40B4-BE49-F238E27FC236}">
                <a16:creationId xmlns:a16="http://schemas.microsoft.com/office/drawing/2014/main" id="{EA01150B-AEBE-4E92-A08E-6DCA0C8AACF6}"/>
              </a:ext>
            </a:extLst>
          </p:cNvPr>
          <p:cNvSpPr>
            <a:spLocks xmlns:a="http://schemas.openxmlformats.org/drawingml/2006/main" noGrp="1"/>
          </p:cNvSpPr>
          <p:nvPr/>
        </p:nvSpPr>
        <p:spPr>
          <a:xfrm xmlns:a="http://schemas.openxmlformats.org/drawingml/2006/main" flipH="0" flipV="0">
            <a:off x="2381250" y="2476500"/>
            <a:ext cx="76200" cy="76200"/>
          </a:xfrm>
          <a:prstGeom xmlns:a="http://schemas.openxmlformats.org/drawingml/2006/main" prst="line">
            <a:avLst/>
          </a:prstGeom>
          <a:noFill xmlns:a="http://schemas.openxmlformats.org/drawingml/2006/main"/>
          <a:ln xmlns:a="http://schemas.openxmlformats.org/drawingml/2006/main" w="19050">
            <a:solidFill>
              <a:srgbClr val="FF6B75"/>
            </a:solidFill>
            <a:prstDash val="solid"/>
          </a:ln>
        </p:spPr>
      </p:sp>
      <p:sp>
        <p:nvSpPr>
          <p:cNvPr id="13" name="">
            <a:extLst xmlns:a="http://schemas.openxmlformats.org/drawingml/2006/main">
              <a:ext uri="{FF2B5EF4-FFF2-40B4-BE49-F238E27FC236}">
                <a16:creationId xmlns:a16="http://schemas.microsoft.com/office/drawing/2014/main" id="{9AADF9A8-B98A-4D81-9DFA-494385442F0A}"/>
              </a:ext>
            </a:extLst>
          </p:cNvPr>
          <p:cNvSpPr>
            <a:spLocks xmlns:a="http://schemas.openxmlformats.org/drawingml/2006/main" noGrp="1"/>
          </p:cNvSpPr>
          <p:nvPr/>
        </p:nvSpPr>
        <p:spPr>
          <a:xfrm xmlns:a="http://schemas.openxmlformats.org/drawingml/2006/main" flipH="0" flipV="1">
            <a:off x="2381250" y="2476500"/>
            <a:ext cx="76200" cy="76200"/>
          </a:xfrm>
          <a:prstGeom xmlns:a="http://schemas.openxmlformats.org/drawingml/2006/main" prst="line">
            <a:avLst/>
          </a:prstGeom>
          <a:noFill xmlns:a="http://schemas.openxmlformats.org/drawingml/2006/main"/>
          <a:ln xmlns:a="http://schemas.openxmlformats.org/drawingml/2006/main" w="19050">
            <a:solidFill>
              <a:srgbClr val="FF6B75"/>
            </a:solidFill>
            <a:prstDash val="solid"/>
          </a:ln>
        </p:spPr>
      </p:sp>
      <p:sp>
        <p:nvSpPr>
          <p:cNvPr id="14" name="">
            <a:extLst xmlns:a="http://schemas.openxmlformats.org/drawingml/2006/main">
              <a:ext uri="{FF2B5EF4-FFF2-40B4-BE49-F238E27FC236}">
                <a16:creationId xmlns:a16="http://schemas.microsoft.com/office/drawing/2014/main" id="{345E27AE-6F38-4389-ACA1-FAAF1CC79CDA}"/>
              </a:ext>
            </a:extLst>
          </p:cNvPr>
          <p:cNvSpPr>
            <a:spLocks xmlns:a="http://schemas.openxmlformats.org/drawingml/2006/main" noGrp="1"/>
          </p:cNvSpPr>
          <p:nvPr/>
        </p:nvSpPr>
        <p:spPr>
          <a:xfrm xmlns:a="http://schemas.openxmlformats.org/drawingml/2006/main" flipH="0" flipV="0">
            <a:off x="2609850" y="3171825"/>
            <a:ext cx="76200" cy="76200"/>
          </a:xfrm>
          <a:prstGeom xmlns:a="http://schemas.openxmlformats.org/drawingml/2006/main" prst="line">
            <a:avLst/>
          </a:prstGeom>
          <a:noFill xmlns:a="http://schemas.openxmlformats.org/drawingml/2006/main"/>
          <a:ln xmlns:a="http://schemas.openxmlformats.org/drawingml/2006/main" w="19050">
            <a:solidFill>
              <a:srgbClr val="FF6B75"/>
            </a:solidFill>
            <a:prstDash val="solid"/>
          </a:ln>
        </p:spPr>
      </p:sp>
      <p:sp>
        <p:nvSpPr>
          <p:cNvPr id="15" name="">
            <a:extLst xmlns:a="http://schemas.openxmlformats.org/drawingml/2006/main">
              <a:ext uri="{FF2B5EF4-FFF2-40B4-BE49-F238E27FC236}">
                <a16:creationId xmlns:a16="http://schemas.microsoft.com/office/drawing/2014/main" id="{E47FC73C-A098-490F-B431-81465B38D5EB}"/>
              </a:ext>
            </a:extLst>
          </p:cNvPr>
          <p:cNvSpPr>
            <a:spLocks xmlns:a="http://schemas.openxmlformats.org/drawingml/2006/main" noGrp="1"/>
          </p:cNvSpPr>
          <p:nvPr/>
        </p:nvSpPr>
        <p:spPr>
          <a:xfrm xmlns:a="http://schemas.openxmlformats.org/drawingml/2006/main" flipH="0" flipV="1">
            <a:off x="2609850" y="3171825"/>
            <a:ext cx="76200" cy="76200"/>
          </a:xfrm>
          <a:prstGeom xmlns:a="http://schemas.openxmlformats.org/drawingml/2006/main" prst="line">
            <a:avLst/>
          </a:prstGeom>
          <a:noFill xmlns:a="http://schemas.openxmlformats.org/drawingml/2006/main"/>
          <a:ln xmlns:a="http://schemas.openxmlformats.org/drawingml/2006/main" w="19050">
            <a:solidFill>
              <a:srgbClr val="FF6B75"/>
            </a:solidFill>
            <a:prstDash val="solid"/>
          </a:ln>
        </p:spPr>
      </p:sp>
      <p:sp>
        <p:nvSpPr>
          <p:cNvPr id="16" name="">
            <a:extLst xmlns:a="http://schemas.openxmlformats.org/drawingml/2006/main">
              <a:ext uri="{FF2B5EF4-FFF2-40B4-BE49-F238E27FC236}">
                <a16:creationId xmlns:a16="http://schemas.microsoft.com/office/drawing/2014/main" id="{35B1D974-9D4D-4D36-8022-B2D6C49C2180}"/>
              </a:ext>
            </a:extLst>
          </p:cNvPr>
          <p:cNvSpPr>
            <a:spLocks xmlns:a="http://schemas.openxmlformats.org/drawingml/2006/main" noGrp="1"/>
          </p:cNvSpPr>
          <p:nvPr/>
        </p:nvSpPr>
        <p:spPr>
          <a:xfrm xmlns:a="http://schemas.openxmlformats.org/drawingml/2006/main">
            <a:off x="609600" y="3314700"/>
            <a:ext cx="4000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F4F7FA"/>
                </a:solidFill>
                <a:latin typeface="Arial"/>
                <a:ea typeface="Arial"/>
                <a:cs typeface="Arial"/>
              </a:defRPr>
            </a:pPr>
            <a:r>
              <a:rPr sz="1875" b="0">
                <a:solidFill>
                  <a:srgbClr val="F4F7FA"/>
                </a:solidFill>
                <a:latin typeface="Arial"/>
                <a:ea typeface="Arial"/>
                <a:cs typeface="Arial"/>
              </a:rPr>
              <a:t>Given the same state,</a:t>
            </a:r>
          </a:p>
          <a:p xmlns:a="http://schemas.openxmlformats.org/drawingml/2006/main">
            <a:pPr algn="l">
              <a:defRPr sz="1875" b="0">
                <a:solidFill>
                  <a:srgbClr val="F4F7FA"/>
                </a:solidFill>
                <a:latin typeface="Arial"/>
                <a:ea typeface="Arial"/>
                <a:cs typeface="Arial"/>
              </a:defRPr>
            </a:pPr>
            <a:r>
              <a:rPr sz="1875" b="0">
                <a:solidFill>
                  <a:srgbClr val="F4F7FA"/>
                </a:solidFill>
                <a:latin typeface="Arial"/>
                <a:ea typeface="Arial"/>
                <a:cs typeface="Arial"/>
              </a:rPr>
              <a:t>A must open window B.</a:t>
            </a:r>
          </a:p>
        </p:txBody>
      </p:sp>
      <p:sp>
        <p:nvSpPr>
          <p:cNvPr id="17" name="">
            <a:extLst xmlns:a="http://schemas.openxmlformats.org/drawingml/2006/main">
              <a:ext uri="{FF2B5EF4-FFF2-40B4-BE49-F238E27FC236}">
                <a16:creationId xmlns:a16="http://schemas.microsoft.com/office/drawing/2014/main" id="{34866C83-08E6-4243-BB10-C0002E68E557}"/>
              </a:ext>
            </a:extLst>
          </p:cNvPr>
          <p:cNvSpPr>
            <a:spLocks xmlns:a="http://schemas.openxmlformats.org/drawingml/2006/main" noGrp="1"/>
          </p:cNvSpPr>
          <p:nvPr/>
        </p:nvSpPr>
        <p:spPr>
          <a:xfrm xmlns:a="http://schemas.openxmlformats.org/drawingml/2006/main">
            <a:off x="609600" y="39433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Expected states and branches</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anchor the acceptance checks.</a:t>
            </a:r>
          </a:p>
        </p:txBody>
      </p:sp>
      <p:sp>
        <p:nvSpPr>
          <p:cNvPr id="18" name="">
            <a:extLst xmlns:a="http://schemas.openxmlformats.org/drawingml/2006/main">
              <a:ext uri="{FF2B5EF4-FFF2-40B4-BE49-F238E27FC236}">
                <a16:creationId xmlns:a16="http://schemas.microsoft.com/office/drawing/2014/main" id="{32D0154E-8546-4A34-A718-C2CA0CB70385}"/>
              </a:ext>
            </a:extLst>
          </p:cNvPr>
          <p:cNvSpPr>
            <a:spLocks xmlns:a="http://schemas.openxmlformats.org/drawingml/2006/main" noGrp="1"/>
          </p:cNvSpPr>
          <p:nvPr/>
        </p:nvSpPr>
        <p:spPr>
          <a:xfrm xmlns:a="http://schemas.openxmlformats.org/drawingml/2006/main">
            <a:off x="5105400" y="2095500"/>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NOW: SPECIFY A SPACE OF VARIANTS</a:t>
            </a:r>
          </a:p>
        </p:txBody>
      </p:sp>
      <p:sp>
        <p:nvSpPr>
          <p:cNvPr id="19" name="">
            <a:extLst xmlns:a="http://schemas.openxmlformats.org/drawingml/2006/main">
              <a:ext uri="{FF2B5EF4-FFF2-40B4-BE49-F238E27FC236}">
                <a16:creationId xmlns:a16="http://schemas.microsoft.com/office/drawing/2014/main" id="{F8ED492D-01F7-4817-B695-0F7D608A4D89}"/>
              </a:ext>
            </a:extLst>
          </p:cNvPr>
          <p:cNvSpPr>
            <a:spLocks xmlns:a="http://schemas.openxmlformats.org/drawingml/2006/main" noGrp="1"/>
          </p:cNvSpPr>
          <p:nvPr/>
        </p:nvSpPr>
        <p:spPr>
          <a:xfrm xmlns:a="http://schemas.openxmlformats.org/drawingml/2006/main">
            <a:off x="5305425" y="2400300"/>
            <a:ext cx="62769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4F7FA"/>
                </a:solidFill>
                <a:latin typeface="Arial"/>
                <a:ea typeface="Arial"/>
                <a:cs typeface="Arial"/>
              </a:defRPr>
            </a:pPr>
            <a:r>
              <a:rPr sz="1425" b="0">
                <a:solidFill>
                  <a:srgbClr val="F4F7FA"/>
                </a:solidFill>
                <a:latin typeface="Arial"/>
                <a:ea typeface="Arial"/>
                <a:cs typeface="Arial"/>
              </a:rPr>
              <a:t>INPUT: intents, context, data and permissions</a:t>
            </a:r>
          </a:p>
        </p:txBody>
      </p:sp>
      <p:sp>
        <p:nvSpPr>
          <p:cNvPr id="20" name="">
            <a:extLst xmlns:a="http://schemas.openxmlformats.org/drawingml/2006/main">
              <a:ext uri="{FF2B5EF4-FFF2-40B4-BE49-F238E27FC236}">
                <a16:creationId xmlns:a16="http://schemas.microsoft.com/office/drawing/2014/main" id="{D64C3FE7-7FC4-4391-A60B-F527879AA72B}"/>
              </a:ext>
            </a:extLst>
          </p:cNvPr>
          <p:cNvSpPr>
            <a:spLocks xmlns:a="http://schemas.openxmlformats.org/drawingml/2006/main" noGrp="1"/>
          </p:cNvSpPr>
          <p:nvPr/>
        </p:nvSpPr>
        <p:spPr>
          <a:xfrm xmlns:a="http://schemas.openxmlformats.org/drawingml/2006/main" flipH="0" flipV="0">
            <a:off x="5305425" y="2857500"/>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1" name="">
            <a:extLst xmlns:a="http://schemas.openxmlformats.org/drawingml/2006/main">
              <a:ext uri="{FF2B5EF4-FFF2-40B4-BE49-F238E27FC236}">
                <a16:creationId xmlns:a16="http://schemas.microsoft.com/office/drawing/2014/main" id="{E57D1708-1F02-4EFF-B905-EAF4A9A03B0F}"/>
              </a:ext>
            </a:extLst>
          </p:cNvPr>
          <p:cNvSpPr>
            <a:spLocks xmlns:a="http://schemas.openxmlformats.org/drawingml/2006/main" noGrp="1"/>
          </p:cNvSpPr>
          <p:nvPr/>
        </p:nvSpPr>
        <p:spPr>
          <a:xfrm xmlns:a="http://schemas.openxmlformats.org/drawingml/2006/main" flipH="0" flipV="0">
            <a:off x="5305425" y="3190875"/>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2" name="">
            <a:extLst xmlns:a="http://schemas.openxmlformats.org/drawingml/2006/main">
              <a:ext uri="{FF2B5EF4-FFF2-40B4-BE49-F238E27FC236}">
                <a16:creationId xmlns:a16="http://schemas.microsoft.com/office/drawing/2014/main" id="{ACF08BBA-7670-4205-A2E9-431615CDD979}"/>
              </a:ext>
            </a:extLst>
          </p:cNvPr>
          <p:cNvSpPr>
            <a:spLocks xmlns:a="http://schemas.openxmlformats.org/drawingml/2006/main" noGrp="1"/>
          </p:cNvSpPr>
          <p:nvPr/>
        </p:nvSpPr>
        <p:spPr>
          <a:xfrm xmlns:a="http://schemas.openxmlformats.org/drawingml/2006/main" flipH="0" flipV="0">
            <a:off x="5305425" y="3524250"/>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3" name="">
            <a:extLst xmlns:a="http://schemas.openxmlformats.org/drawingml/2006/main">
              <a:ext uri="{FF2B5EF4-FFF2-40B4-BE49-F238E27FC236}">
                <a16:creationId xmlns:a16="http://schemas.microsoft.com/office/drawing/2014/main" id="{B8347EB5-2595-4928-918A-AB5B443A133C}"/>
              </a:ext>
            </a:extLst>
          </p:cNvPr>
          <p:cNvSpPr>
            <a:spLocks xmlns:a="http://schemas.openxmlformats.org/drawingml/2006/main" noGrp="1"/>
          </p:cNvSpPr>
          <p:nvPr/>
        </p:nvSpPr>
        <p:spPr>
          <a:xfrm xmlns:a="http://schemas.openxmlformats.org/drawingml/2006/main" flipH="0" flipV="0">
            <a:off x="5305425" y="3857625"/>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4" name="">
            <a:extLst xmlns:a="http://schemas.openxmlformats.org/drawingml/2006/main">
              <a:ext uri="{FF2B5EF4-FFF2-40B4-BE49-F238E27FC236}">
                <a16:creationId xmlns:a16="http://schemas.microsoft.com/office/drawing/2014/main" id="{5C7CA0A4-D4EC-4402-A6D6-C382126698B4}"/>
              </a:ext>
            </a:extLst>
          </p:cNvPr>
          <p:cNvSpPr>
            <a:spLocks xmlns:a="http://schemas.openxmlformats.org/drawingml/2006/main" noGrp="1"/>
          </p:cNvSpPr>
          <p:nvPr/>
        </p:nvSpPr>
        <p:spPr>
          <a:xfrm xmlns:a="http://schemas.openxmlformats.org/drawingml/2006/main" flipH="0" flipV="1">
            <a:off x="530542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5" name="">
            <a:extLst xmlns:a="http://schemas.openxmlformats.org/drawingml/2006/main">
              <a:ext uri="{FF2B5EF4-FFF2-40B4-BE49-F238E27FC236}">
                <a16:creationId xmlns:a16="http://schemas.microsoft.com/office/drawing/2014/main" id="{62413687-92F8-46DF-9A69-2478D8E14190}"/>
              </a:ext>
            </a:extLst>
          </p:cNvPr>
          <p:cNvSpPr>
            <a:spLocks xmlns:a="http://schemas.openxmlformats.org/drawingml/2006/main" noGrp="1"/>
          </p:cNvSpPr>
          <p:nvPr/>
        </p:nvSpPr>
        <p:spPr>
          <a:xfrm xmlns:a="http://schemas.openxmlformats.org/drawingml/2006/main" flipH="0" flipV="1">
            <a:off x="635317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6" name="">
            <a:extLst xmlns:a="http://schemas.openxmlformats.org/drawingml/2006/main">
              <a:ext uri="{FF2B5EF4-FFF2-40B4-BE49-F238E27FC236}">
                <a16:creationId xmlns:a16="http://schemas.microsoft.com/office/drawing/2014/main" id="{5B0D2FC1-C6DD-4F13-8A79-E5959B40B7FA}"/>
              </a:ext>
            </a:extLst>
          </p:cNvPr>
          <p:cNvSpPr>
            <a:spLocks xmlns:a="http://schemas.openxmlformats.org/drawingml/2006/main" noGrp="1"/>
          </p:cNvSpPr>
          <p:nvPr/>
        </p:nvSpPr>
        <p:spPr>
          <a:xfrm xmlns:a="http://schemas.openxmlformats.org/drawingml/2006/main" flipH="0" flipV="1">
            <a:off x="740092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7" name="">
            <a:extLst xmlns:a="http://schemas.openxmlformats.org/drawingml/2006/main">
              <a:ext uri="{FF2B5EF4-FFF2-40B4-BE49-F238E27FC236}">
                <a16:creationId xmlns:a16="http://schemas.microsoft.com/office/drawing/2014/main" id="{8C1FFFF8-45DC-468D-8330-4FF1AC6139B4}"/>
              </a:ext>
            </a:extLst>
          </p:cNvPr>
          <p:cNvSpPr>
            <a:spLocks xmlns:a="http://schemas.openxmlformats.org/drawingml/2006/main" noGrp="1"/>
          </p:cNvSpPr>
          <p:nvPr/>
        </p:nvSpPr>
        <p:spPr>
          <a:xfrm xmlns:a="http://schemas.openxmlformats.org/drawingml/2006/main" flipH="0" flipV="1">
            <a:off x="844867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8" name="">
            <a:extLst xmlns:a="http://schemas.openxmlformats.org/drawingml/2006/main">
              <a:ext uri="{FF2B5EF4-FFF2-40B4-BE49-F238E27FC236}">
                <a16:creationId xmlns:a16="http://schemas.microsoft.com/office/drawing/2014/main" id="{B2C4A3B4-C77C-4DBD-BE0E-2BBAD1E00DE0}"/>
              </a:ext>
            </a:extLst>
          </p:cNvPr>
          <p:cNvSpPr>
            <a:spLocks xmlns:a="http://schemas.openxmlformats.org/drawingml/2006/main" noGrp="1"/>
          </p:cNvSpPr>
          <p:nvPr/>
        </p:nvSpPr>
        <p:spPr>
          <a:xfrm xmlns:a="http://schemas.openxmlformats.org/drawingml/2006/main" flipH="0" flipV="1">
            <a:off x="949642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9" name="">
            <a:extLst xmlns:a="http://schemas.openxmlformats.org/drawingml/2006/main">
              <a:ext uri="{FF2B5EF4-FFF2-40B4-BE49-F238E27FC236}">
                <a16:creationId xmlns:a16="http://schemas.microsoft.com/office/drawing/2014/main" id="{8E747E15-1B90-4B58-96B6-94FF3787EBEC}"/>
              </a:ext>
            </a:extLst>
          </p:cNvPr>
          <p:cNvSpPr>
            <a:spLocks xmlns:a="http://schemas.openxmlformats.org/drawingml/2006/main" noGrp="1"/>
          </p:cNvSpPr>
          <p:nvPr/>
        </p:nvSpPr>
        <p:spPr>
          <a:xfrm xmlns:a="http://schemas.openxmlformats.org/drawingml/2006/main" flipH="0" flipV="1">
            <a:off x="1054417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0" name="">
            <a:extLst xmlns:a="http://schemas.openxmlformats.org/drawingml/2006/main">
              <a:ext uri="{FF2B5EF4-FFF2-40B4-BE49-F238E27FC236}">
                <a16:creationId xmlns:a16="http://schemas.microsoft.com/office/drawing/2014/main" id="{46BAFC4F-A32D-4A1C-958F-A612C7FA52AB}"/>
              </a:ext>
            </a:extLst>
          </p:cNvPr>
          <p:cNvSpPr>
            <a:spLocks xmlns:a="http://schemas.openxmlformats.org/drawingml/2006/main" noGrp="1"/>
          </p:cNvSpPr>
          <p:nvPr/>
        </p:nvSpPr>
        <p:spPr>
          <a:xfrm xmlns:a="http://schemas.openxmlformats.org/drawingml/2006/main">
            <a:off x="5810250" y="2752725"/>
            <a:ext cx="4476750" cy="1171575"/>
          </a:xfrm>
          <a:custGeom xmlns:a="http://schemas.openxmlformats.org/drawingml/2006/main">
            <a:pathLst>
              <a:path w="4476750" h="1171575">
                <a:moveTo>
                  <a:pt x="419100" y="0"/>
                </a:moveTo>
                <a:lnTo>
                  <a:pt x="4476750" y="0"/>
                </a:lnTo>
                <a:lnTo>
                  <a:pt x="4057650" y="1171575"/>
                </a:lnTo>
                <a:lnTo>
                  <a:pt x="0" y="1171575"/>
                </a:lnTo>
                <a:close/>
              </a:path>
            </a:pathLst>
          </a:custGeom>
          <a:solidFill xmlns:a="http://schemas.openxmlformats.org/drawingml/2006/main">
            <a:srgbClr val="24231B"/>
          </a:solidFill>
          <a:ln xmlns:a="http://schemas.openxmlformats.org/drawingml/2006/main" w="19050">
            <a:solidFill>
              <a:srgbClr val="F5B61C"/>
            </a:solidFill>
            <a:prstDash val="dash"/>
          </a:ln>
        </p:spPr>
      </p:sp>
      <p:sp>
        <p:nvSpPr>
          <p:cNvPr id="31" name="">
            <a:extLst xmlns:a="http://schemas.openxmlformats.org/drawingml/2006/main">
              <a:ext uri="{FF2B5EF4-FFF2-40B4-BE49-F238E27FC236}">
                <a16:creationId xmlns:a16="http://schemas.microsoft.com/office/drawing/2014/main" id="{DE798E46-1080-4B07-9E86-08288B5B83BF}"/>
              </a:ext>
            </a:extLst>
          </p:cNvPr>
          <p:cNvSpPr>
            <a:spLocks xmlns:a="http://schemas.openxmlformats.org/drawingml/2006/main" noGrp="1"/>
          </p:cNvSpPr>
          <p:nvPr/>
        </p:nvSpPr>
        <p:spPr>
          <a:xfrm xmlns:a="http://schemas.openxmlformats.org/drawingml/2006/main">
            <a:off x="6515100" y="3000375"/>
            <a:ext cx="3228975" cy="714375"/>
          </a:xfrm>
          <a:custGeom xmlns:a="http://schemas.openxmlformats.org/drawingml/2006/main">
            <a:pathLst>
              <a:path w="3228975" h="714375">
                <a:moveTo>
                  <a:pt x="219075" y="0"/>
                </a:moveTo>
                <a:lnTo>
                  <a:pt x="3228975" y="0"/>
                </a:lnTo>
                <a:lnTo>
                  <a:pt x="3009900" y="714375"/>
                </a:lnTo>
                <a:lnTo>
                  <a:pt x="0" y="714375"/>
                </a:lnTo>
                <a:close/>
              </a:path>
            </a:pathLst>
          </a:custGeom>
          <a:solidFill xmlns:a="http://schemas.openxmlformats.org/drawingml/2006/main">
            <a:srgbClr val="122934"/>
          </a:solidFill>
          <a:ln xmlns:a="http://schemas.openxmlformats.org/drawingml/2006/main" w="19050">
            <a:solidFill>
              <a:srgbClr val="28C7F7"/>
            </a:solidFill>
            <a:prstDash val="dash"/>
          </a:ln>
        </p:spPr>
      </p:sp>
      <p:sp>
        <p:nvSpPr>
          <p:cNvPr id="32" name="">
            <a:extLst xmlns:a="http://schemas.openxmlformats.org/drawingml/2006/main">
              <a:ext uri="{FF2B5EF4-FFF2-40B4-BE49-F238E27FC236}">
                <a16:creationId xmlns:a16="http://schemas.microsoft.com/office/drawing/2014/main" id="{43F9D73D-5545-4857-8FE8-E93359B52926}"/>
              </a:ext>
            </a:extLst>
          </p:cNvPr>
          <p:cNvSpPr>
            <a:spLocks xmlns:a="http://schemas.openxmlformats.org/drawingml/2006/main" noGrp="1"/>
          </p:cNvSpPr>
          <p:nvPr/>
        </p:nvSpPr>
        <p:spPr>
          <a:xfrm xmlns:a="http://schemas.openxmlformats.org/drawingml/2006/main">
            <a:off x="6267450" y="2762250"/>
            <a:ext cx="3743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F5B61C"/>
                </a:solidFill>
                <a:latin typeface="Arial"/>
                <a:ea typeface="Arial"/>
                <a:cs typeface="Arial"/>
              </a:defRPr>
            </a:pPr>
            <a:r>
              <a:rPr sz="1200" b="0">
                <a:solidFill>
                  <a:srgbClr val="F5B61C"/>
                </a:solidFill>
                <a:latin typeface="Arial"/>
                <a:ea typeface="Arial"/>
                <a:cs typeface="Arial"/>
              </a:rPr>
              <a:t>Boundary cases need contextual judgment</a:t>
            </a:r>
          </a:p>
        </p:txBody>
      </p:sp>
      <p:sp>
        <p:nvSpPr>
          <p:cNvPr id="33" name="">
            <a:extLst xmlns:a="http://schemas.openxmlformats.org/drawingml/2006/main">
              <a:ext uri="{FF2B5EF4-FFF2-40B4-BE49-F238E27FC236}">
                <a16:creationId xmlns:a16="http://schemas.microsoft.com/office/drawing/2014/main" id="{9F967C45-A0C0-4CC5-8BAD-6F3F34FBB49E}"/>
              </a:ext>
            </a:extLst>
          </p:cNvPr>
          <p:cNvSpPr>
            <a:spLocks xmlns:a="http://schemas.openxmlformats.org/drawingml/2006/main" noGrp="1"/>
          </p:cNvSpPr>
          <p:nvPr/>
        </p:nvSpPr>
        <p:spPr>
          <a:xfrm xmlns:a="http://schemas.openxmlformats.org/drawingml/2006/main">
            <a:off x="6753225" y="304800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28C7F7"/>
                </a:solidFill>
                <a:latin typeface="Arial"/>
                <a:ea typeface="Arial"/>
                <a:cs typeface="Arial"/>
              </a:defRPr>
            </a:pPr>
            <a:r>
              <a:rPr sz="1425" b="1">
                <a:solidFill>
                  <a:srgbClr val="28C7F7"/>
                </a:solidFill>
                <a:latin typeface="Arial"/>
                <a:ea typeface="Arial"/>
                <a:cs typeface="Arial"/>
              </a:rPr>
              <a:t>Acceptable outputs / actions</a:t>
            </a:r>
          </a:p>
        </p:txBody>
      </p:sp>
      <p:sp>
        <p:nvSpPr>
          <p:cNvPr id="34" name="">
            <a:extLst xmlns:a="http://schemas.openxmlformats.org/drawingml/2006/main">
              <a:ext uri="{FF2B5EF4-FFF2-40B4-BE49-F238E27FC236}">
                <a16:creationId xmlns:a16="http://schemas.microsoft.com/office/drawing/2014/main" id="{20396103-94E3-48F4-8C5C-8FB8C9F47EA1}"/>
              </a:ext>
            </a:extLst>
          </p:cNvPr>
          <p:cNvSpPr>
            <a:spLocks xmlns:a="http://schemas.openxmlformats.org/drawingml/2006/main" noGrp="1"/>
          </p:cNvSpPr>
          <p:nvPr/>
        </p:nvSpPr>
        <p:spPr>
          <a:xfrm xmlns:a="http://schemas.openxmlformats.org/drawingml/2006/main">
            <a:off x="6829425" y="3438525"/>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5" name="">
            <a:extLst xmlns:a="http://schemas.openxmlformats.org/drawingml/2006/main">
              <a:ext uri="{FF2B5EF4-FFF2-40B4-BE49-F238E27FC236}">
                <a16:creationId xmlns:a16="http://schemas.microsoft.com/office/drawing/2014/main" id="{6C15A39B-B78C-4C5B-8C2E-7288ADA8436C}"/>
              </a:ext>
            </a:extLst>
          </p:cNvPr>
          <p:cNvSpPr>
            <a:spLocks xmlns:a="http://schemas.openxmlformats.org/drawingml/2006/main" noGrp="1"/>
          </p:cNvSpPr>
          <p:nvPr/>
        </p:nvSpPr>
        <p:spPr>
          <a:xfrm xmlns:a="http://schemas.openxmlformats.org/drawingml/2006/main">
            <a:off x="6905625" y="3333750"/>
            <a:ext cx="866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F4F7FA"/>
                </a:solidFill>
                <a:latin typeface="Arial"/>
                <a:ea typeface="Arial"/>
                <a:cs typeface="Arial"/>
              </a:defRPr>
            </a:pPr>
            <a:r>
              <a:rPr sz="1275" b="0">
                <a:solidFill>
                  <a:srgbClr val="F4F7FA"/>
                </a:solidFill>
                <a:latin typeface="Arial"/>
                <a:ea typeface="Arial"/>
                <a:cs typeface="Arial"/>
              </a:rPr>
              <a:t>Answer</a:t>
            </a:r>
          </a:p>
        </p:txBody>
      </p:sp>
      <p:sp>
        <p:nvSpPr>
          <p:cNvPr id="36" name="">
            <a:extLst xmlns:a="http://schemas.openxmlformats.org/drawingml/2006/main">
              <a:ext uri="{FF2B5EF4-FFF2-40B4-BE49-F238E27FC236}">
                <a16:creationId xmlns:a16="http://schemas.microsoft.com/office/drawing/2014/main" id="{556F3C47-CAFC-47A7-B924-E6477F9418AE}"/>
              </a:ext>
            </a:extLst>
          </p:cNvPr>
          <p:cNvSpPr>
            <a:spLocks xmlns:a="http://schemas.openxmlformats.org/drawingml/2006/main" noGrp="1"/>
          </p:cNvSpPr>
          <p:nvPr/>
        </p:nvSpPr>
        <p:spPr>
          <a:xfrm xmlns:a="http://schemas.openxmlformats.org/drawingml/2006/main">
            <a:off x="7772400" y="3438525"/>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7" name="">
            <a:extLst xmlns:a="http://schemas.openxmlformats.org/drawingml/2006/main">
              <a:ext uri="{FF2B5EF4-FFF2-40B4-BE49-F238E27FC236}">
                <a16:creationId xmlns:a16="http://schemas.microsoft.com/office/drawing/2014/main" id="{B5FE35EF-D22B-468F-91C5-AC73044DD83C}"/>
              </a:ext>
            </a:extLst>
          </p:cNvPr>
          <p:cNvSpPr>
            <a:spLocks xmlns:a="http://schemas.openxmlformats.org/drawingml/2006/main" noGrp="1"/>
          </p:cNvSpPr>
          <p:nvPr/>
        </p:nvSpPr>
        <p:spPr>
          <a:xfrm xmlns:a="http://schemas.openxmlformats.org/drawingml/2006/main">
            <a:off x="7848600" y="3333750"/>
            <a:ext cx="866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F4F7FA"/>
                </a:solidFill>
                <a:latin typeface="Arial"/>
                <a:ea typeface="Arial"/>
                <a:cs typeface="Arial"/>
              </a:defRPr>
            </a:pPr>
            <a:r>
              <a:rPr sz="1275" b="0">
                <a:solidFill>
                  <a:srgbClr val="F4F7FA"/>
                </a:solidFill>
                <a:latin typeface="Arial"/>
                <a:ea typeface="Arial"/>
                <a:cs typeface="Arial"/>
              </a:rPr>
              <a:t>Clarify</a:t>
            </a:r>
          </a:p>
        </p:txBody>
      </p:sp>
      <p:sp>
        <p:nvSpPr>
          <p:cNvPr id="38" name="">
            <a:extLst xmlns:a="http://schemas.openxmlformats.org/drawingml/2006/main">
              <a:ext uri="{FF2B5EF4-FFF2-40B4-BE49-F238E27FC236}">
                <a16:creationId xmlns:a16="http://schemas.microsoft.com/office/drawing/2014/main" id="{87EBF289-53E1-43D9-A4F0-B0E5F1439ED7}"/>
              </a:ext>
            </a:extLst>
          </p:cNvPr>
          <p:cNvSpPr>
            <a:spLocks xmlns:a="http://schemas.openxmlformats.org/drawingml/2006/main" noGrp="1"/>
          </p:cNvSpPr>
          <p:nvPr/>
        </p:nvSpPr>
        <p:spPr>
          <a:xfrm xmlns:a="http://schemas.openxmlformats.org/drawingml/2006/main">
            <a:off x="8715375" y="3438525"/>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9" name="">
            <a:extLst xmlns:a="http://schemas.openxmlformats.org/drawingml/2006/main">
              <a:ext uri="{FF2B5EF4-FFF2-40B4-BE49-F238E27FC236}">
                <a16:creationId xmlns:a16="http://schemas.microsoft.com/office/drawing/2014/main" id="{9656F133-1112-4216-973B-3AC1C0FC7D7C}"/>
              </a:ext>
            </a:extLst>
          </p:cNvPr>
          <p:cNvSpPr>
            <a:spLocks xmlns:a="http://schemas.openxmlformats.org/drawingml/2006/main" noGrp="1"/>
          </p:cNvSpPr>
          <p:nvPr/>
        </p:nvSpPr>
        <p:spPr>
          <a:xfrm xmlns:a="http://schemas.openxmlformats.org/drawingml/2006/main">
            <a:off x="8791575" y="3333750"/>
            <a:ext cx="866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F4F7FA"/>
                </a:solidFill>
                <a:latin typeface="Arial"/>
                <a:ea typeface="Arial"/>
                <a:cs typeface="Arial"/>
              </a:defRPr>
            </a:pPr>
            <a:r>
              <a:rPr sz="1275" b="0">
                <a:solidFill>
                  <a:srgbClr val="F4F7FA"/>
                </a:solidFill>
                <a:latin typeface="Arial"/>
                <a:ea typeface="Arial"/>
                <a:cs typeface="Arial"/>
              </a:rPr>
              <a:t>Escalate</a:t>
            </a:r>
          </a:p>
        </p:txBody>
      </p:sp>
      <p:sp>
        <p:nvSpPr>
          <p:cNvPr id="40" name="">
            <a:extLst xmlns:a="http://schemas.openxmlformats.org/drawingml/2006/main">
              <a:ext uri="{FF2B5EF4-FFF2-40B4-BE49-F238E27FC236}">
                <a16:creationId xmlns:a16="http://schemas.microsoft.com/office/drawing/2014/main" id="{8BC1834C-FC3F-4D61-A77D-3FA1A6FAC9C9}"/>
              </a:ext>
            </a:extLst>
          </p:cNvPr>
          <p:cNvSpPr>
            <a:spLocks xmlns:a="http://schemas.openxmlformats.org/drawingml/2006/main" noGrp="1"/>
          </p:cNvSpPr>
          <p:nvPr/>
        </p:nvSpPr>
        <p:spPr>
          <a:xfrm xmlns:a="http://schemas.openxmlformats.org/drawingml/2006/main">
            <a:off x="11106150" y="3048000"/>
            <a:ext cx="95250" cy="95250"/>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41" name="">
            <a:extLst xmlns:a="http://schemas.openxmlformats.org/drawingml/2006/main">
              <a:ext uri="{FF2B5EF4-FFF2-40B4-BE49-F238E27FC236}">
                <a16:creationId xmlns:a16="http://schemas.microsoft.com/office/drawing/2014/main" id="{2CC10B65-3CF1-4D9E-AEB6-3E6E60DFD6F2}"/>
              </a:ext>
            </a:extLst>
          </p:cNvPr>
          <p:cNvSpPr>
            <a:spLocks xmlns:a="http://schemas.openxmlformats.org/drawingml/2006/main" noGrp="1"/>
          </p:cNvSpPr>
          <p:nvPr/>
        </p:nvSpPr>
        <p:spPr>
          <a:xfrm xmlns:a="http://schemas.openxmlformats.org/drawingml/2006/main">
            <a:off x="10344150" y="3248025"/>
            <a:ext cx="123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FF6B75"/>
                </a:solidFill>
                <a:latin typeface="Arial"/>
                <a:ea typeface="Arial"/>
                <a:cs typeface="Arial"/>
              </a:defRPr>
            </a:pPr>
            <a:r>
              <a:rPr sz="1350" b="0">
                <a:solidFill>
                  <a:srgbClr val="FF6B75"/>
                </a:solidFill>
                <a:latin typeface="Arial"/>
                <a:ea typeface="Arial"/>
                <a:cs typeface="Arial"/>
              </a:rPr>
              <a:t>Unauthorized</a:t>
            </a:r>
          </a:p>
          <a:p xmlns:a="http://schemas.openxmlformats.org/drawingml/2006/main">
            <a:pPr algn="ctr">
              <a:defRPr sz="1350" b="0">
                <a:solidFill>
                  <a:srgbClr val="FF6B75"/>
                </a:solidFill>
                <a:latin typeface="Arial"/>
                <a:ea typeface="Arial"/>
                <a:cs typeface="Arial"/>
              </a:defRPr>
            </a:pPr>
            <a:r>
              <a:rPr sz="1350" b="0">
                <a:solidFill>
                  <a:srgbClr val="FF6B75"/>
                </a:solidFill>
                <a:latin typeface="Arial"/>
                <a:ea typeface="Arial"/>
                <a:cs typeface="Arial"/>
              </a:rPr>
              <a:t>disclosure</a:t>
            </a:r>
          </a:p>
        </p:txBody>
      </p:sp>
      <p:sp>
        <p:nvSpPr>
          <p:cNvPr id="42" name="">
            <a:extLst xmlns:a="http://schemas.openxmlformats.org/drawingml/2006/main">
              <a:ext uri="{FF2B5EF4-FFF2-40B4-BE49-F238E27FC236}">
                <a16:creationId xmlns:a16="http://schemas.microsoft.com/office/drawing/2014/main" id="{646A9B63-33AE-47DA-BB66-003197E60CEF}"/>
              </a:ext>
            </a:extLst>
          </p:cNvPr>
          <p:cNvSpPr>
            <a:spLocks xmlns:a="http://schemas.openxmlformats.org/drawingml/2006/main" noGrp="1"/>
          </p:cNvSpPr>
          <p:nvPr/>
        </p:nvSpPr>
        <p:spPr>
          <a:xfrm xmlns:a="http://schemas.openxmlformats.org/drawingml/2006/main">
            <a:off x="5305425" y="3981450"/>
            <a:ext cx="6276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5B61C"/>
                </a:solidFill>
                <a:latin typeface="Arial"/>
                <a:ea typeface="Arial"/>
                <a:cs typeface="Arial"/>
              </a:defRPr>
            </a:pPr>
            <a:r>
              <a:rPr sz="1500" b="0">
                <a:solidFill>
                  <a:srgbClr val="F5B61C"/>
                </a:solidFill>
                <a:latin typeface="Arial"/>
                <a:ea typeface="Arial"/>
                <a:cs typeface="Arial"/>
              </a:rPr>
              <a:t>Semantic limits are harder to make unambiguous</a:t>
            </a:r>
          </a:p>
        </p:txBody>
      </p:sp>
      <p:sp>
        <p:nvSpPr>
          <p:cNvPr id="43" name="">
            <a:extLst xmlns:a="http://schemas.openxmlformats.org/drawingml/2006/main">
              <a:ext uri="{FF2B5EF4-FFF2-40B4-BE49-F238E27FC236}">
                <a16:creationId xmlns:a16="http://schemas.microsoft.com/office/drawing/2014/main" id="{56DB227C-784E-42F6-8136-A3CBF166C22A}"/>
              </a:ext>
            </a:extLst>
          </p:cNvPr>
          <p:cNvSpPr>
            <a:spLocks xmlns:a="http://schemas.openxmlformats.org/drawingml/2006/main" noGrp="1"/>
          </p:cNvSpPr>
          <p:nvPr/>
        </p:nvSpPr>
        <p:spPr>
          <a:xfrm xmlns:a="http://schemas.openxmlformats.org/drawingml/2006/main">
            <a:off x="5305425" y="4238625"/>
            <a:ext cx="62769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Schematic space, not a measured probability or distance</a:t>
            </a:r>
          </a:p>
        </p:txBody>
      </p:sp>
      <p:sp>
        <p:nvSpPr>
          <p:cNvPr id="44" name="">
            <a:extLst xmlns:a="http://schemas.openxmlformats.org/drawingml/2006/main">
              <a:ext uri="{FF2B5EF4-FFF2-40B4-BE49-F238E27FC236}">
                <a16:creationId xmlns:a16="http://schemas.microsoft.com/office/drawing/2014/main" id="{24ADA11A-2FF7-4FD4-A0A8-1CFF94B53156}"/>
              </a:ext>
            </a:extLst>
          </p:cNvPr>
          <p:cNvSpPr>
            <a:spLocks xmlns:a="http://schemas.openxmlformats.org/drawingml/2006/main" noGrp="1"/>
          </p:cNvSpPr>
          <p:nvPr/>
        </p:nvSpPr>
        <p:spPr>
          <a:xfrm xmlns:a="http://schemas.openxmlformats.org/drawingml/2006/main">
            <a:off x="609600" y="444817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ADB8C5"/>
                </a:solidFill>
                <a:latin typeface="Arial"/>
                <a:ea typeface="Arial"/>
                <a:cs typeface="Arial"/>
              </a:defRPr>
            </a:pPr>
            <a:r>
              <a:rPr sz="1200" b="0">
                <a:solidFill>
                  <a:srgbClr val="ADB8C5"/>
                </a:solidFill>
                <a:latin typeface="Arial"/>
                <a:ea typeface="Arial"/>
                <a:cs typeface="Arial"/>
              </a:rPr>
              <a:t>× Potential violations of the specified path</a:t>
            </a:r>
          </a:p>
        </p:txBody>
      </p:sp>
      <p:sp>
        <p:nvSpPr>
          <p:cNvPr id="45" name="">
            <a:extLst xmlns:a="http://schemas.openxmlformats.org/drawingml/2006/main">
              <a:ext uri="{FF2B5EF4-FFF2-40B4-BE49-F238E27FC236}">
                <a16:creationId xmlns:a16="http://schemas.microsoft.com/office/drawing/2014/main" id="{FB52EF49-292A-43DC-A271-BA3917DD71C1}"/>
              </a:ext>
            </a:extLst>
          </p:cNvPr>
          <p:cNvSpPr>
            <a:spLocks xmlns:a="http://schemas.openxmlformats.org/drawingml/2006/main" noGrp="1"/>
          </p:cNvSpPr>
          <p:nvPr/>
        </p:nvSpPr>
        <p:spPr>
          <a:xfrm xmlns:a="http://schemas.openxmlformats.org/drawingml/2006/main" flipH="0" flipV="0">
            <a:off x="609600" y="47053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46" name="">
            <a:extLst xmlns:a="http://schemas.openxmlformats.org/drawingml/2006/main">
              <a:ext uri="{FF2B5EF4-FFF2-40B4-BE49-F238E27FC236}">
                <a16:creationId xmlns:a16="http://schemas.microsoft.com/office/drawing/2014/main" id="{BA263ABB-7780-400C-B78D-43AC5B669D5D}"/>
              </a:ext>
            </a:extLst>
          </p:cNvPr>
          <p:cNvSpPr>
            <a:spLocks xmlns:a="http://schemas.openxmlformats.org/drawingml/2006/main" noGrp="1"/>
          </p:cNvSpPr>
          <p:nvPr/>
        </p:nvSpPr>
        <p:spPr>
          <a:xfrm xmlns:a="http://schemas.openxmlformats.org/drawingml/2006/main">
            <a:off x="609600" y="48101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5B61C"/>
                </a:solidFill>
                <a:latin typeface="Arial"/>
                <a:ea typeface="Arial"/>
                <a:cs typeface="Arial"/>
              </a:defRPr>
            </a:pPr>
            <a:r>
              <a:rPr sz="1650" b="1">
                <a:solidFill>
                  <a:srgbClr val="F5B61C"/>
                </a:solidFill>
                <a:latin typeface="Arial"/>
                <a:ea typeface="Arial"/>
                <a:cs typeface="Arial"/>
              </a:rPr>
              <a:t>MORE COMBINATIONS MAKE SPECIFICATION AND COVERAGE HARDER</a:t>
            </a:r>
          </a:p>
        </p:txBody>
      </p:sp>
      <p:sp>
        <p:nvSpPr>
          <p:cNvPr id="47" name="">
            <a:extLst xmlns:a="http://schemas.openxmlformats.org/drawingml/2006/main">
              <a:ext uri="{FF2B5EF4-FFF2-40B4-BE49-F238E27FC236}">
                <a16:creationId xmlns:a16="http://schemas.microsoft.com/office/drawing/2014/main" id="{4D2D7EE4-D051-49B7-976F-E82D4723C2F1}"/>
              </a:ext>
            </a:extLst>
          </p:cNvPr>
          <p:cNvSpPr>
            <a:spLocks xmlns:a="http://schemas.openxmlformats.org/drawingml/2006/main" noGrp="1"/>
          </p:cNvSpPr>
          <p:nvPr/>
        </p:nvSpPr>
        <p:spPr>
          <a:xfrm xmlns:a="http://schemas.openxmlformats.org/drawingml/2006/main">
            <a:off x="609600" y="51339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F4F7FA"/>
                </a:solidFill>
                <a:latin typeface="Arial"/>
                <a:ea typeface="Arial"/>
                <a:cs typeface="Arial"/>
              </a:defRPr>
            </a:pPr>
            <a:r>
              <a:rPr sz="1725" b="0">
                <a:solidFill>
                  <a:srgbClr val="F4F7FA"/>
                </a:solidFill>
                <a:latin typeface="Arial"/>
                <a:ea typeface="Arial"/>
                <a:cs typeface="Arial"/>
              </a:rPr>
              <a:t>Inputs × context × outputs create more ways to miss a requirement.</a:t>
            </a:r>
          </a:p>
        </p:txBody>
      </p:sp>
      <p:sp>
        <p:nvSpPr>
          <p:cNvPr id="48" name="">
            <a:extLst xmlns:a="http://schemas.openxmlformats.org/drawingml/2006/main">
              <a:ext uri="{FF2B5EF4-FFF2-40B4-BE49-F238E27FC236}">
                <a16:creationId xmlns:a16="http://schemas.microsoft.com/office/drawing/2014/main" id="{8EB3A568-D6FE-46F5-B17F-CE334AC7C17C}"/>
              </a:ext>
            </a:extLst>
          </p:cNvPr>
          <p:cNvSpPr>
            <a:spLocks xmlns:a="http://schemas.openxmlformats.org/drawingml/2006/main" noGrp="1"/>
          </p:cNvSpPr>
          <p:nvPr/>
        </p:nvSpPr>
        <p:spPr>
          <a:xfrm xmlns:a="http://schemas.openxmlformats.org/drawingml/2006/main">
            <a:off x="609600" y="544830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Known scenarios can pass while unseen combinations fail in production.</a:t>
            </a:r>
          </a:p>
        </p:txBody>
      </p:sp>
      <p:sp>
        <p:nvSpPr>
          <p:cNvPr id="49" name="">
            <a:extLst xmlns:a="http://schemas.openxmlformats.org/drawingml/2006/main">
              <a:ext uri="{FF2B5EF4-FFF2-40B4-BE49-F238E27FC236}">
                <a16:creationId xmlns:a16="http://schemas.microsoft.com/office/drawing/2014/main" id="{82CF06E4-ACC3-4D2B-AF8E-F0D17EBE2A74}"/>
              </a:ext>
            </a:extLst>
          </p:cNvPr>
          <p:cNvSpPr>
            <a:spLocks xmlns:a="http://schemas.openxmlformats.org/drawingml/2006/main" noGrp="1"/>
          </p:cNvSpPr>
          <p:nvPr/>
        </p:nvSpPr>
        <p:spPr>
          <a:xfrm xmlns:a="http://schemas.openxmlformats.org/drawingml/2006/main">
            <a:off x="609600" y="58102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28C7F7"/>
                </a:solidFill>
                <a:latin typeface="Arial"/>
                <a:ea typeface="Arial"/>
                <a:cs typeface="Arial"/>
              </a:defRPr>
            </a:pPr>
            <a:r>
              <a:rPr sz="1425" b="0">
                <a:solidFill>
                  <a:srgbClr val="28C7F7"/>
                </a:solidFill>
                <a:latin typeface="Arial"/>
                <a:ea typeface="Arial"/>
                <a:cs typeface="Arial"/>
              </a:rPr>
              <a:t>ISO/IEC 25059: quality model. ISO/IEC TS 25058: evaluation guidance.</a:t>
            </a:r>
          </a:p>
        </p:txBody>
      </p:sp>
      <p:sp>
        <p:nvSpPr>
          <p:cNvPr id="50" name="">
            <a:extLst xmlns:a="http://schemas.openxmlformats.org/drawingml/2006/main">
              <a:ext uri="{FF2B5EF4-FFF2-40B4-BE49-F238E27FC236}">
                <a16:creationId xmlns:a16="http://schemas.microsoft.com/office/drawing/2014/main" id="{4CB8C319-D726-479F-B9F3-5D5753D1C5CD}"/>
              </a:ext>
            </a:extLst>
          </p:cNvPr>
          <p:cNvSpPr>
            <a:spLocks xmlns:a="http://schemas.openxmlformats.org/drawingml/2006/main" noGrp="1"/>
          </p:cNvSpPr>
          <p:nvPr/>
        </p:nvSpPr>
        <p:spPr>
          <a:xfrm xmlns:a="http://schemas.openxmlformats.org/drawingml/2006/main">
            <a:off x="609600" y="60674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Teams still define semantic criteria, examples, counterexamples and prohibitions.</a:t>
            </a:r>
          </a:p>
        </p:txBody>
      </p:sp>
      <p:sp>
        <p:nvSpPr>
          <p:cNvPr id="51" name="">
            <a:extLst xmlns:a="http://schemas.openxmlformats.org/drawingml/2006/main">
              <a:ext uri="{FF2B5EF4-FFF2-40B4-BE49-F238E27FC236}">
                <a16:creationId xmlns:a16="http://schemas.microsoft.com/office/drawing/2014/main" id="{8F3E39D7-1809-473A-95BF-A5B22A21735D}"/>
              </a:ext>
            </a:extLst>
          </p:cNvPr>
          <p:cNvSpPr>
            <a:spLocks xmlns:a="http://schemas.openxmlformats.org/drawingml/2006/main" noGrp="1"/>
          </p:cNvSpPr>
          <p:nvPr/>
        </p:nvSpPr>
        <p:spPr>
          <a:xfrm xmlns:a="http://schemas.openxmlformats.org/drawingml/2006/main">
            <a:off x="609600" y="6381750"/>
            <a:ext cx="10648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Product / PO + BA: criteria. QA / Dev: checks. PM: decisions, experts and time.</a:t>
            </a:r>
          </a:p>
        </p:txBody>
      </p:sp>
    </p:spTree>
    <p:extLst>
      <p:ext uri="{BB962C8B-B14F-4D97-AF65-F5344CB8AC3E}">
        <p14:creationId xmlns:p14="http://schemas.microsoft.com/office/powerpoint/2010/main" val="84175384"/>
      </p:ext>
    </p:extLst>
  </p:cSld>
</p:sld>
</file>

<file path=ppt/slides/slide10.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CE2AA012-5D13-4276-AD36-1FD88D3E738B}"/>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One Green Test Proves Almost Nothing</a:t>
            </a:r>
          </a:p>
        </p:txBody>
      </p:sp>
      <p:sp>
        <p:nvSpPr>
          <p:cNvPr id="2" name="">
            <a:extLst xmlns:a="http://schemas.openxmlformats.org/drawingml/2006/main">
              <a:ext uri="{FF2B5EF4-FFF2-40B4-BE49-F238E27FC236}">
                <a16:creationId xmlns:a16="http://schemas.microsoft.com/office/drawing/2014/main" id="{741D4CFA-90FD-49F9-8672-00BF83F39AC2}"/>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B44CDA84-C5AC-467D-A881-1FF9F9448E99}"/>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DB862F21-6F29-4EE1-97E1-7F2A1B70FC75}"/>
              </a:ext>
            </a:extLst>
          </p:cNvPr>
          <p:cNvSpPr>
            <a:spLocks xmlns:a="http://schemas.openxmlformats.org/drawingml/2006/main" noGrp="1"/>
          </p:cNvSpPr>
          <p:nvPr/>
        </p:nvSpPr>
        <p:spPr>
          <a:xfrm xmlns:a="http://schemas.openxmlformats.org/drawingml/2006/main">
            <a:off x="609600" y="1676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QA + DOMAIN EXPERTS · DEVELOPERS · PRODUCT / PO · PROJECT MANAGER</a:t>
            </a:r>
          </a:p>
        </p:txBody>
      </p:sp>
      <p:sp>
        <p:nvSpPr>
          <p:cNvPr id="5" name="">
            <a:extLst xmlns:a="http://schemas.openxmlformats.org/drawingml/2006/main">
              <a:ext uri="{FF2B5EF4-FFF2-40B4-BE49-F238E27FC236}">
                <a16:creationId xmlns:a16="http://schemas.microsoft.com/office/drawing/2014/main" id="{90E5C2A0-EB78-4E83-A9A5-72A6A9188B95}"/>
              </a:ext>
            </a:extLst>
          </p:cNvPr>
          <p:cNvSpPr>
            <a:spLocks xmlns:a="http://schemas.openxmlformats.org/drawingml/2006/main" noGrp="1"/>
          </p:cNvSpPr>
          <p:nvPr/>
        </p:nvSpPr>
        <p:spPr>
          <a:xfrm xmlns:a="http://schemas.openxmlformats.org/drawingml/2006/main">
            <a:off x="609600" y="2105025"/>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F5B61C"/>
                </a:solidFill>
                <a:latin typeface="Arial"/>
                <a:ea typeface="Arial"/>
                <a:cs typeface="Arial"/>
              </a:defRPr>
            </a:pPr>
            <a:r>
              <a:rPr sz="1350" b="1">
                <a:solidFill>
                  <a:srgbClr val="F5B61C"/>
                </a:solidFill>
                <a:latin typeface="Arial"/>
                <a:ea typeface="Arial"/>
                <a:cs typeface="Arial"/>
              </a:rPr>
              <a:t>WHAT COUNTS AS A BUG</a:t>
            </a:r>
          </a:p>
        </p:txBody>
      </p:sp>
      <p:sp>
        <p:nvSpPr>
          <p:cNvPr id="6" name="">
            <a:extLst xmlns:a="http://schemas.openxmlformats.org/drawingml/2006/main">
              <a:ext uri="{FF2B5EF4-FFF2-40B4-BE49-F238E27FC236}">
                <a16:creationId xmlns:a16="http://schemas.microsoft.com/office/drawing/2014/main" id="{C07CC6E0-C42C-4CC9-AFDD-FCAFEE25D229}"/>
              </a:ext>
            </a:extLst>
          </p:cNvPr>
          <p:cNvSpPr>
            <a:spLocks xmlns:a="http://schemas.openxmlformats.org/drawingml/2006/main" noGrp="1"/>
          </p:cNvSpPr>
          <p:nvPr/>
        </p:nvSpPr>
        <p:spPr>
          <a:xfrm xmlns:a="http://schemas.openxmlformats.org/drawingml/2006/main">
            <a:off x="609600" y="2390775"/>
            <a:ext cx="447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4F7FA"/>
                </a:solidFill>
                <a:latin typeface="Arial"/>
                <a:ea typeface="Arial"/>
                <a:cs typeface="Arial"/>
              </a:defRPr>
            </a:pPr>
            <a:r>
              <a:rPr sz="2100" b="1">
                <a:solidFill>
                  <a:srgbClr val="F4F7FA"/>
                </a:solidFill>
                <a:latin typeface="Arial"/>
                <a:ea typeface="Arial"/>
                <a:cs typeface="Arial"/>
              </a:rPr>
              <a:t>System behavior violates</a:t>
            </a:r>
          </a:p>
          <a:p xmlns:a="http://schemas.openxmlformats.org/drawingml/2006/main">
            <a:pPr algn="l">
              <a:defRPr sz="2100" b="1">
                <a:solidFill>
                  <a:srgbClr val="F4F7FA"/>
                </a:solidFill>
                <a:latin typeface="Arial"/>
                <a:ea typeface="Arial"/>
                <a:cs typeface="Arial"/>
              </a:defRPr>
            </a:pPr>
            <a:r>
              <a:rPr sz="2100" b="1">
                <a:solidFill>
                  <a:srgbClr val="F4F7FA"/>
                </a:solidFill>
                <a:latin typeface="Arial"/>
                <a:ea typeface="Arial"/>
                <a:cs typeface="Arial"/>
              </a:rPr>
              <a:t>an approved requirement.</a:t>
            </a:r>
          </a:p>
        </p:txBody>
      </p:sp>
      <p:sp>
        <p:nvSpPr>
          <p:cNvPr id="7" name="">
            <a:extLst xmlns:a="http://schemas.openxmlformats.org/drawingml/2006/main">
              <a:ext uri="{FF2B5EF4-FFF2-40B4-BE49-F238E27FC236}">
                <a16:creationId xmlns:a16="http://schemas.microsoft.com/office/drawing/2014/main" id="{334ECFB9-900A-4D13-B760-281F0C31322F}"/>
              </a:ext>
            </a:extLst>
          </p:cNvPr>
          <p:cNvSpPr>
            <a:spLocks xmlns:a="http://schemas.openxmlformats.org/drawingml/2006/main" noGrp="1"/>
          </p:cNvSpPr>
          <p:nvPr/>
        </p:nvSpPr>
        <p:spPr>
          <a:xfrm xmlns:a="http://schemas.openxmlformats.org/drawingml/2006/main">
            <a:off x="609600" y="3105150"/>
            <a:ext cx="461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IT assistant: wrong recovery steps</a:t>
            </a:r>
          </a:p>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or another user’s private data.</a:t>
            </a:r>
          </a:p>
        </p:txBody>
      </p:sp>
      <p:sp>
        <p:nvSpPr>
          <p:cNvPr id="8" name="">
            <a:extLst xmlns:a="http://schemas.openxmlformats.org/drawingml/2006/main">
              <a:ext uri="{FF2B5EF4-FFF2-40B4-BE49-F238E27FC236}">
                <a16:creationId xmlns:a16="http://schemas.microsoft.com/office/drawing/2014/main" id="{8DC16856-CF2F-4E13-B537-94C33A772602}"/>
              </a:ext>
            </a:extLst>
          </p:cNvPr>
          <p:cNvSpPr>
            <a:spLocks xmlns:a="http://schemas.openxmlformats.org/drawingml/2006/main" noGrp="1"/>
          </p:cNvSpPr>
          <p:nvPr/>
        </p:nvSpPr>
        <p:spPr>
          <a:xfrm xmlns:a="http://schemas.openxmlformats.org/drawingml/2006/main">
            <a:off x="609600" y="3657600"/>
            <a:ext cx="4619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The code may stay unchanged while behavior changes.</a:t>
            </a:r>
          </a:p>
        </p:txBody>
      </p:sp>
      <p:sp>
        <p:nvSpPr>
          <p:cNvPr id="9" name="">
            <a:extLst xmlns:a="http://schemas.openxmlformats.org/drawingml/2006/main">
              <a:ext uri="{FF2B5EF4-FFF2-40B4-BE49-F238E27FC236}">
                <a16:creationId xmlns:a16="http://schemas.microsoft.com/office/drawing/2014/main" id="{93A21487-D18D-4402-81C8-E10A80627D51}"/>
              </a:ext>
            </a:extLst>
          </p:cNvPr>
          <p:cNvSpPr>
            <a:spLocks xmlns:a="http://schemas.openxmlformats.org/drawingml/2006/main" noGrp="1"/>
          </p:cNvSpPr>
          <p:nvPr/>
        </p:nvSpPr>
        <p:spPr>
          <a:xfrm xmlns:a="http://schemas.openxmlformats.org/drawingml/2006/main">
            <a:off x="6705600" y="2105025"/>
            <a:ext cx="3771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57CB8F"/>
                </a:solidFill>
                <a:latin typeface="Arial"/>
                <a:ea typeface="Arial"/>
                <a:cs typeface="Arial"/>
              </a:defRPr>
            </a:pPr>
            <a:r>
              <a:rPr sz="1350" b="1">
                <a:solidFill>
                  <a:srgbClr val="57CB8F"/>
                </a:solidFill>
                <a:latin typeface="Arial"/>
                <a:ea typeface="Arial"/>
                <a:cs typeface="Arial"/>
              </a:rPr>
              <a:t>APPROVED BUSINESS TOLERANCES</a:t>
            </a:r>
          </a:p>
        </p:txBody>
      </p:sp>
      <p:sp>
        <p:nvSpPr>
          <p:cNvPr id="10" name="">
            <a:extLst xmlns:a="http://schemas.openxmlformats.org/drawingml/2006/main">
              <a:ext uri="{FF2B5EF4-FFF2-40B4-BE49-F238E27FC236}">
                <a16:creationId xmlns:a16="http://schemas.microsoft.com/office/drawing/2014/main" id="{9E972AB0-5452-4AF2-9E11-2BC7A835F7F5}"/>
              </a:ext>
            </a:extLst>
          </p:cNvPr>
          <p:cNvSpPr>
            <a:spLocks xmlns:a="http://schemas.openxmlformats.org/drawingml/2006/main" noGrp="1"/>
          </p:cNvSpPr>
          <p:nvPr/>
        </p:nvSpPr>
        <p:spPr>
          <a:xfrm xmlns:a="http://schemas.openxmlformats.org/drawingml/2006/main">
            <a:off x="7639050" y="2409825"/>
            <a:ext cx="2200275" cy="1276350"/>
          </a:xfrm>
          <a:prstGeom xmlns:a="http://schemas.openxmlformats.org/drawingml/2006/main" prst="rect">
            <a:avLst/>
          </a:prstGeom>
          <a:solidFill xmlns:a="http://schemas.openxmlformats.org/drawingml/2006/main">
            <a:srgbClr val="132A2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AC0D0C0-9319-4ABA-ACE9-3332DE52C78B}"/>
              </a:ext>
            </a:extLst>
          </p:cNvPr>
          <p:cNvSpPr>
            <a:spLocks xmlns:a="http://schemas.openxmlformats.org/drawingml/2006/main" noGrp="1"/>
          </p:cNvSpPr>
          <p:nvPr/>
        </p:nvSpPr>
        <p:spPr>
          <a:xfrm xmlns:a="http://schemas.openxmlformats.org/drawingml/2006/main">
            <a:off x="6496050" y="3543300"/>
            <a:ext cx="219075" cy="142875"/>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12" name="">
            <a:extLst xmlns:a="http://schemas.openxmlformats.org/drawingml/2006/main">
              <a:ext uri="{FF2B5EF4-FFF2-40B4-BE49-F238E27FC236}">
                <a16:creationId xmlns:a16="http://schemas.microsoft.com/office/drawing/2014/main" id="{ED21C1C9-00D8-4B29-967D-69396A522ACA}"/>
              </a:ext>
            </a:extLst>
          </p:cNvPr>
          <p:cNvSpPr>
            <a:spLocks xmlns:a="http://schemas.openxmlformats.org/drawingml/2006/main" noGrp="1"/>
          </p:cNvSpPr>
          <p:nvPr/>
        </p:nvSpPr>
        <p:spPr>
          <a:xfrm xmlns:a="http://schemas.openxmlformats.org/drawingml/2006/main">
            <a:off x="6800850" y="3467100"/>
            <a:ext cx="219075" cy="219075"/>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13" name="">
            <a:extLst xmlns:a="http://schemas.openxmlformats.org/drawingml/2006/main">
              <a:ext uri="{FF2B5EF4-FFF2-40B4-BE49-F238E27FC236}">
                <a16:creationId xmlns:a16="http://schemas.microsoft.com/office/drawing/2014/main" id="{48D6FE59-0C8B-46E7-A476-CB4258FF6455}"/>
              </a:ext>
            </a:extLst>
          </p:cNvPr>
          <p:cNvSpPr>
            <a:spLocks xmlns:a="http://schemas.openxmlformats.org/drawingml/2006/main" noGrp="1"/>
          </p:cNvSpPr>
          <p:nvPr/>
        </p:nvSpPr>
        <p:spPr>
          <a:xfrm xmlns:a="http://schemas.openxmlformats.org/drawingml/2006/main">
            <a:off x="7105650" y="3343275"/>
            <a:ext cx="219075" cy="342900"/>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14" name="">
            <a:extLst xmlns:a="http://schemas.openxmlformats.org/drawingml/2006/main">
              <a:ext uri="{FF2B5EF4-FFF2-40B4-BE49-F238E27FC236}">
                <a16:creationId xmlns:a16="http://schemas.microsoft.com/office/drawing/2014/main" id="{1981AE3F-D38F-438B-8F09-B60F79778A4A}"/>
              </a:ext>
            </a:extLst>
          </p:cNvPr>
          <p:cNvSpPr>
            <a:spLocks xmlns:a="http://schemas.openxmlformats.org/drawingml/2006/main" noGrp="1"/>
          </p:cNvSpPr>
          <p:nvPr/>
        </p:nvSpPr>
        <p:spPr>
          <a:xfrm xmlns:a="http://schemas.openxmlformats.org/drawingml/2006/main">
            <a:off x="7410450" y="3190875"/>
            <a:ext cx="219075" cy="495300"/>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15" name="">
            <a:extLst xmlns:a="http://schemas.openxmlformats.org/drawingml/2006/main">
              <a:ext uri="{FF2B5EF4-FFF2-40B4-BE49-F238E27FC236}">
                <a16:creationId xmlns:a16="http://schemas.microsoft.com/office/drawing/2014/main" id="{E9E8D40D-98C4-49B5-AB06-D148257AB4E3}"/>
              </a:ext>
            </a:extLst>
          </p:cNvPr>
          <p:cNvSpPr>
            <a:spLocks xmlns:a="http://schemas.openxmlformats.org/drawingml/2006/main" noGrp="1"/>
          </p:cNvSpPr>
          <p:nvPr/>
        </p:nvSpPr>
        <p:spPr>
          <a:xfrm xmlns:a="http://schemas.openxmlformats.org/drawingml/2006/main">
            <a:off x="7715250" y="3000375"/>
            <a:ext cx="219075" cy="685800"/>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16" name="">
            <a:extLst xmlns:a="http://schemas.openxmlformats.org/drawingml/2006/main">
              <a:ext uri="{FF2B5EF4-FFF2-40B4-BE49-F238E27FC236}">
                <a16:creationId xmlns:a16="http://schemas.microsoft.com/office/drawing/2014/main" id="{F1F6691D-9CC5-4FFE-B94B-F828AABC368B}"/>
              </a:ext>
            </a:extLst>
          </p:cNvPr>
          <p:cNvSpPr>
            <a:spLocks xmlns:a="http://schemas.openxmlformats.org/drawingml/2006/main" noGrp="1"/>
          </p:cNvSpPr>
          <p:nvPr/>
        </p:nvSpPr>
        <p:spPr>
          <a:xfrm xmlns:a="http://schemas.openxmlformats.org/drawingml/2006/main">
            <a:off x="8020050" y="2752725"/>
            <a:ext cx="219075" cy="933450"/>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17" name="">
            <a:extLst xmlns:a="http://schemas.openxmlformats.org/drawingml/2006/main">
              <a:ext uri="{FF2B5EF4-FFF2-40B4-BE49-F238E27FC236}">
                <a16:creationId xmlns:a16="http://schemas.microsoft.com/office/drawing/2014/main" id="{E9651285-33E0-4856-9F61-0CB5570DAB66}"/>
              </a:ext>
            </a:extLst>
          </p:cNvPr>
          <p:cNvSpPr>
            <a:spLocks xmlns:a="http://schemas.openxmlformats.org/drawingml/2006/main" noGrp="1"/>
          </p:cNvSpPr>
          <p:nvPr/>
        </p:nvSpPr>
        <p:spPr>
          <a:xfrm xmlns:a="http://schemas.openxmlformats.org/drawingml/2006/main">
            <a:off x="8324850" y="2533650"/>
            <a:ext cx="219075" cy="1152525"/>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18" name="">
            <a:extLst xmlns:a="http://schemas.openxmlformats.org/drawingml/2006/main">
              <a:ext uri="{FF2B5EF4-FFF2-40B4-BE49-F238E27FC236}">
                <a16:creationId xmlns:a16="http://schemas.microsoft.com/office/drawing/2014/main" id="{20D06E46-F9CD-40DF-8FA2-37B22B48297F}"/>
              </a:ext>
            </a:extLst>
          </p:cNvPr>
          <p:cNvSpPr>
            <a:spLocks xmlns:a="http://schemas.openxmlformats.org/drawingml/2006/main" noGrp="1"/>
          </p:cNvSpPr>
          <p:nvPr/>
        </p:nvSpPr>
        <p:spPr>
          <a:xfrm xmlns:a="http://schemas.openxmlformats.org/drawingml/2006/main">
            <a:off x="8629650" y="2705100"/>
            <a:ext cx="219075" cy="981075"/>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19" name="">
            <a:extLst xmlns:a="http://schemas.openxmlformats.org/drawingml/2006/main">
              <a:ext uri="{FF2B5EF4-FFF2-40B4-BE49-F238E27FC236}">
                <a16:creationId xmlns:a16="http://schemas.microsoft.com/office/drawing/2014/main" id="{34D9015C-FFA9-4B4D-A933-214C458A32E2}"/>
              </a:ext>
            </a:extLst>
          </p:cNvPr>
          <p:cNvSpPr>
            <a:spLocks xmlns:a="http://schemas.openxmlformats.org/drawingml/2006/main" noGrp="1"/>
          </p:cNvSpPr>
          <p:nvPr/>
        </p:nvSpPr>
        <p:spPr>
          <a:xfrm xmlns:a="http://schemas.openxmlformats.org/drawingml/2006/main">
            <a:off x="8934450" y="2952750"/>
            <a:ext cx="219075" cy="733425"/>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20" name="">
            <a:extLst xmlns:a="http://schemas.openxmlformats.org/drawingml/2006/main">
              <a:ext uri="{FF2B5EF4-FFF2-40B4-BE49-F238E27FC236}">
                <a16:creationId xmlns:a16="http://schemas.microsoft.com/office/drawing/2014/main" id="{6DB29103-A92D-4C39-94EF-A1A316ACCEF1}"/>
              </a:ext>
            </a:extLst>
          </p:cNvPr>
          <p:cNvSpPr>
            <a:spLocks xmlns:a="http://schemas.openxmlformats.org/drawingml/2006/main" noGrp="1"/>
          </p:cNvSpPr>
          <p:nvPr/>
        </p:nvSpPr>
        <p:spPr>
          <a:xfrm xmlns:a="http://schemas.openxmlformats.org/drawingml/2006/main">
            <a:off x="9239250" y="3171825"/>
            <a:ext cx="219075" cy="514350"/>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21" name="">
            <a:extLst xmlns:a="http://schemas.openxmlformats.org/drawingml/2006/main">
              <a:ext uri="{FF2B5EF4-FFF2-40B4-BE49-F238E27FC236}">
                <a16:creationId xmlns:a16="http://schemas.microsoft.com/office/drawing/2014/main" id="{08C859EC-8B2D-4E7B-B1EC-8022BACE8DB8}"/>
              </a:ext>
            </a:extLst>
          </p:cNvPr>
          <p:cNvSpPr>
            <a:spLocks xmlns:a="http://schemas.openxmlformats.org/drawingml/2006/main" noGrp="1"/>
          </p:cNvSpPr>
          <p:nvPr/>
        </p:nvSpPr>
        <p:spPr>
          <a:xfrm xmlns:a="http://schemas.openxmlformats.org/drawingml/2006/main">
            <a:off x="9544050" y="3352800"/>
            <a:ext cx="219075" cy="333375"/>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22" name="">
            <a:extLst xmlns:a="http://schemas.openxmlformats.org/drawingml/2006/main">
              <a:ext uri="{FF2B5EF4-FFF2-40B4-BE49-F238E27FC236}">
                <a16:creationId xmlns:a16="http://schemas.microsoft.com/office/drawing/2014/main" id="{F9313C0B-3F81-450A-8DB9-B66045A097A0}"/>
              </a:ext>
            </a:extLst>
          </p:cNvPr>
          <p:cNvSpPr>
            <a:spLocks xmlns:a="http://schemas.openxmlformats.org/drawingml/2006/main" noGrp="1"/>
          </p:cNvSpPr>
          <p:nvPr/>
        </p:nvSpPr>
        <p:spPr>
          <a:xfrm xmlns:a="http://schemas.openxmlformats.org/drawingml/2006/main">
            <a:off x="9848850" y="3457575"/>
            <a:ext cx="219075" cy="228600"/>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23" name="">
            <a:extLst xmlns:a="http://schemas.openxmlformats.org/drawingml/2006/main">
              <a:ext uri="{FF2B5EF4-FFF2-40B4-BE49-F238E27FC236}">
                <a16:creationId xmlns:a16="http://schemas.microsoft.com/office/drawing/2014/main" id="{11637524-60DB-45D2-9C4D-4A5B3EDDF67B}"/>
              </a:ext>
            </a:extLst>
          </p:cNvPr>
          <p:cNvSpPr>
            <a:spLocks xmlns:a="http://schemas.openxmlformats.org/drawingml/2006/main" noGrp="1"/>
          </p:cNvSpPr>
          <p:nvPr/>
        </p:nvSpPr>
        <p:spPr>
          <a:xfrm xmlns:a="http://schemas.openxmlformats.org/drawingml/2006/main">
            <a:off x="10153650" y="3543300"/>
            <a:ext cx="219075" cy="142875"/>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24" name="">
            <a:extLst xmlns:a="http://schemas.openxmlformats.org/drawingml/2006/main">
              <a:ext uri="{FF2B5EF4-FFF2-40B4-BE49-F238E27FC236}">
                <a16:creationId xmlns:a16="http://schemas.microsoft.com/office/drawing/2014/main" id="{C81C4CE4-982B-4215-B53A-EBE05EE297FB}"/>
              </a:ext>
            </a:extLst>
          </p:cNvPr>
          <p:cNvSpPr>
            <a:spLocks xmlns:a="http://schemas.openxmlformats.org/drawingml/2006/main" noGrp="1"/>
          </p:cNvSpPr>
          <p:nvPr/>
        </p:nvSpPr>
        <p:spPr>
          <a:xfrm xmlns:a="http://schemas.openxmlformats.org/drawingml/2006/main" flipH="0" flipV="0">
            <a:off x="7639050" y="2390775"/>
            <a:ext cx="0" cy="1304925"/>
          </a:xfrm>
          <a:prstGeom xmlns:a="http://schemas.openxmlformats.org/drawingml/2006/main" prst="line">
            <a:avLst/>
          </a:prstGeom>
          <a:noFill xmlns:a="http://schemas.openxmlformats.org/drawingml/2006/main"/>
          <a:ln xmlns:a="http://schemas.openxmlformats.org/drawingml/2006/main" w="19050">
            <a:solidFill>
              <a:srgbClr val="57CB8F"/>
            </a:solidFill>
            <a:prstDash val="solid"/>
          </a:ln>
        </p:spPr>
      </p:sp>
      <p:sp>
        <p:nvSpPr>
          <p:cNvPr id="25" name="">
            <a:extLst xmlns:a="http://schemas.openxmlformats.org/drawingml/2006/main">
              <a:ext uri="{FF2B5EF4-FFF2-40B4-BE49-F238E27FC236}">
                <a16:creationId xmlns:a16="http://schemas.microsoft.com/office/drawing/2014/main" id="{CE56DE9E-6802-4608-8487-B29EC34CD21C}"/>
              </a:ext>
            </a:extLst>
          </p:cNvPr>
          <p:cNvSpPr>
            <a:spLocks xmlns:a="http://schemas.openxmlformats.org/drawingml/2006/main" noGrp="1"/>
          </p:cNvSpPr>
          <p:nvPr/>
        </p:nvSpPr>
        <p:spPr>
          <a:xfrm xmlns:a="http://schemas.openxmlformats.org/drawingml/2006/main" flipH="0" flipV="0">
            <a:off x="9839325" y="2390775"/>
            <a:ext cx="0" cy="1304925"/>
          </a:xfrm>
          <a:prstGeom xmlns:a="http://schemas.openxmlformats.org/drawingml/2006/main" prst="line">
            <a:avLst/>
          </a:prstGeom>
          <a:noFill xmlns:a="http://schemas.openxmlformats.org/drawingml/2006/main"/>
          <a:ln xmlns:a="http://schemas.openxmlformats.org/drawingml/2006/main" w="19050">
            <a:solidFill>
              <a:srgbClr val="57CB8F"/>
            </a:solidFill>
            <a:prstDash val="solid"/>
          </a:ln>
        </p:spPr>
      </p:sp>
      <p:sp>
        <p:nvSpPr>
          <p:cNvPr id="26" name="">
            <a:extLst xmlns:a="http://schemas.openxmlformats.org/drawingml/2006/main">
              <a:ext uri="{FF2B5EF4-FFF2-40B4-BE49-F238E27FC236}">
                <a16:creationId xmlns:a16="http://schemas.microsoft.com/office/drawing/2014/main" id="{4203FEC1-9320-4AD6-A59A-3D4D2E14324F}"/>
              </a:ext>
            </a:extLst>
          </p:cNvPr>
          <p:cNvSpPr>
            <a:spLocks xmlns:a="http://schemas.openxmlformats.org/drawingml/2006/main" noGrp="1"/>
          </p:cNvSpPr>
          <p:nvPr/>
        </p:nvSpPr>
        <p:spPr>
          <a:xfrm xmlns:a="http://schemas.openxmlformats.org/drawingml/2006/main" flipH="0" flipV="0">
            <a:off x="5695950" y="3705225"/>
            <a:ext cx="58864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7" name="">
            <a:extLst xmlns:a="http://schemas.openxmlformats.org/drawingml/2006/main">
              <a:ext uri="{FF2B5EF4-FFF2-40B4-BE49-F238E27FC236}">
                <a16:creationId xmlns:a16="http://schemas.microsoft.com/office/drawing/2014/main" id="{C0EA633E-81AA-4861-90C4-08302795CD7C}"/>
              </a:ext>
            </a:extLst>
          </p:cNvPr>
          <p:cNvSpPr>
            <a:spLocks xmlns:a="http://schemas.openxmlformats.org/drawingml/2006/main" noGrp="1"/>
          </p:cNvSpPr>
          <p:nvPr/>
        </p:nvSpPr>
        <p:spPr>
          <a:xfrm xmlns:a="http://schemas.openxmlformats.org/drawingml/2006/main" flipH="0" flipV="1">
            <a:off x="10306050" y="3219450"/>
            <a:ext cx="266700" cy="304800"/>
          </a:xfrm>
          <a:prstGeom xmlns:a="http://schemas.openxmlformats.org/drawingml/2006/main" prst="line">
            <a:avLst/>
          </a:prstGeom>
          <a:noFill xmlns:a="http://schemas.openxmlformats.org/drawingml/2006/main"/>
          <a:ln xmlns:a="http://schemas.openxmlformats.org/drawingml/2006/main" w="19050">
            <a:solidFill>
              <a:srgbClr val="FF6B75"/>
            </a:solidFill>
            <a:prstDash val="solid"/>
          </a:ln>
        </p:spPr>
      </p:sp>
      <p:sp>
        <p:nvSpPr>
          <p:cNvPr id="28" name="">
            <a:extLst xmlns:a="http://schemas.openxmlformats.org/drawingml/2006/main">
              <a:ext uri="{FF2B5EF4-FFF2-40B4-BE49-F238E27FC236}">
                <a16:creationId xmlns:a16="http://schemas.microsoft.com/office/drawing/2014/main" id="{8493B4A5-8185-4EB4-A010-31889AECA7B9}"/>
              </a:ext>
            </a:extLst>
          </p:cNvPr>
          <p:cNvSpPr>
            <a:spLocks xmlns:a="http://schemas.openxmlformats.org/drawingml/2006/main" noGrp="1"/>
          </p:cNvSpPr>
          <p:nvPr/>
        </p:nvSpPr>
        <p:spPr>
          <a:xfrm xmlns:a="http://schemas.openxmlformats.org/drawingml/2006/main">
            <a:off x="10629900" y="2743200"/>
            <a:ext cx="952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FF6B75"/>
                </a:solidFill>
                <a:latin typeface="Arial"/>
                <a:ea typeface="Arial"/>
                <a:cs typeface="Arial"/>
              </a:defRPr>
            </a:pPr>
            <a:r>
              <a:rPr sz="1350" b="0">
                <a:solidFill>
                  <a:srgbClr val="FF6B75"/>
                </a:solidFill>
                <a:latin typeface="Arial"/>
                <a:ea typeface="Arial"/>
                <a:cs typeface="Arial"/>
              </a:rPr>
              <a:t>Bug:</a:t>
            </a:r>
          </a:p>
          <a:p xmlns:a="http://schemas.openxmlformats.org/drawingml/2006/main">
            <a:pPr algn="l">
              <a:defRPr sz="1350" b="0">
                <a:solidFill>
                  <a:srgbClr val="FF6B75"/>
                </a:solidFill>
                <a:latin typeface="Arial"/>
                <a:ea typeface="Arial"/>
                <a:cs typeface="Arial"/>
              </a:defRPr>
            </a:pPr>
            <a:r>
              <a:rPr sz="1350" b="0">
                <a:solidFill>
                  <a:srgbClr val="FF6B75"/>
                </a:solidFill>
                <a:latin typeface="Arial"/>
                <a:ea typeface="Arial"/>
                <a:cs typeface="Arial"/>
              </a:rPr>
              <a:t>contract</a:t>
            </a:r>
          </a:p>
          <a:p xmlns:a="http://schemas.openxmlformats.org/drawingml/2006/main">
            <a:pPr algn="l">
              <a:defRPr sz="1350" b="0">
                <a:solidFill>
                  <a:srgbClr val="FF6B75"/>
                </a:solidFill>
                <a:latin typeface="Arial"/>
                <a:ea typeface="Arial"/>
                <a:cs typeface="Arial"/>
              </a:defRPr>
            </a:pPr>
            <a:r>
              <a:rPr sz="1350" b="0">
                <a:solidFill>
                  <a:srgbClr val="FF6B75"/>
                </a:solidFill>
                <a:latin typeface="Arial"/>
                <a:ea typeface="Arial"/>
                <a:cs typeface="Arial"/>
              </a:rPr>
              <a:t>violation</a:t>
            </a:r>
          </a:p>
        </p:txBody>
      </p:sp>
      <p:sp>
        <p:nvSpPr>
          <p:cNvPr id="29" name="">
            <a:extLst xmlns:a="http://schemas.openxmlformats.org/drawingml/2006/main">
              <a:ext uri="{FF2B5EF4-FFF2-40B4-BE49-F238E27FC236}">
                <a16:creationId xmlns:a16="http://schemas.microsoft.com/office/drawing/2014/main" id="{612F153F-3CE2-4756-886D-47DDBB35E720}"/>
              </a:ext>
            </a:extLst>
          </p:cNvPr>
          <p:cNvSpPr>
            <a:spLocks xmlns:a="http://schemas.openxmlformats.org/drawingml/2006/main" noGrp="1"/>
          </p:cNvSpPr>
          <p:nvPr/>
        </p:nvSpPr>
        <p:spPr>
          <a:xfrm xmlns:a="http://schemas.openxmlformats.org/drawingml/2006/main">
            <a:off x="5657850" y="374332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F6B75"/>
                </a:solidFill>
                <a:latin typeface="Arial"/>
                <a:ea typeface="Arial"/>
                <a:cs typeface="Arial"/>
              </a:defRPr>
            </a:pPr>
            <a:r>
              <a:rPr sz="1275" b="0">
                <a:solidFill>
                  <a:srgbClr val="FF6B75"/>
                </a:solidFill>
                <a:latin typeface="Arial"/>
                <a:ea typeface="Arial"/>
                <a:cs typeface="Arial"/>
              </a:rPr>
              <a:t>Outside the contract</a:t>
            </a:r>
          </a:p>
        </p:txBody>
      </p:sp>
      <p:sp>
        <p:nvSpPr>
          <p:cNvPr id="30" name="">
            <a:extLst xmlns:a="http://schemas.openxmlformats.org/drawingml/2006/main">
              <a:ext uri="{FF2B5EF4-FFF2-40B4-BE49-F238E27FC236}">
                <a16:creationId xmlns:a16="http://schemas.microsoft.com/office/drawing/2014/main" id="{78C5B85F-30E8-4E5B-A3F2-9E0B72DA9F6D}"/>
              </a:ext>
            </a:extLst>
          </p:cNvPr>
          <p:cNvSpPr>
            <a:spLocks xmlns:a="http://schemas.openxmlformats.org/drawingml/2006/main" noGrp="1"/>
          </p:cNvSpPr>
          <p:nvPr/>
        </p:nvSpPr>
        <p:spPr>
          <a:xfrm xmlns:a="http://schemas.openxmlformats.org/drawingml/2006/main">
            <a:off x="7715250" y="3743325"/>
            <a:ext cx="2019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57CB8F"/>
                </a:solidFill>
                <a:latin typeface="Arial"/>
                <a:ea typeface="Arial"/>
                <a:cs typeface="Arial"/>
              </a:defRPr>
            </a:pPr>
            <a:r>
              <a:rPr sz="1425" b="1">
                <a:solidFill>
                  <a:srgbClr val="57CB8F"/>
                </a:solidFill>
                <a:latin typeface="Arial"/>
                <a:ea typeface="Arial"/>
                <a:cs typeface="Arial"/>
              </a:rPr>
              <a:t>Allowed variation</a:t>
            </a:r>
          </a:p>
        </p:txBody>
      </p:sp>
      <p:sp>
        <p:nvSpPr>
          <p:cNvPr id="31" name="">
            <a:extLst xmlns:a="http://schemas.openxmlformats.org/drawingml/2006/main">
              <a:ext uri="{FF2B5EF4-FFF2-40B4-BE49-F238E27FC236}">
                <a16:creationId xmlns:a16="http://schemas.microsoft.com/office/drawing/2014/main" id="{1ABF4651-FF8D-4364-AF14-F5CE54830D93}"/>
              </a:ext>
            </a:extLst>
          </p:cNvPr>
          <p:cNvSpPr>
            <a:spLocks xmlns:a="http://schemas.openxmlformats.org/drawingml/2006/main" noGrp="1"/>
          </p:cNvSpPr>
          <p:nvPr/>
        </p:nvSpPr>
        <p:spPr>
          <a:xfrm xmlns:a="http://schemas.openxmlformats.org/drawingml/2006/main">
            <a:off x="9877425" y="3743325"/>
            <a:ext cx="1704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F6B75"/>
                </a:solidFill>
                <a:latin typeface="Arial"/>
                <a:ea typeface="Arial"/>
                <a:cs typeface="Arial"/>
              </a:defRPr>
            </a:pPr>
            <a:r>
              <a:rPr sz="1275" b="0">
                <a:solidFill>
                  <a:srgbClr val="FF6B75"/>
                </a:solidFill>
                <a:latin typeface="Arial"/>
                <a:ea typeface="Arial"/>
                <a:cs typeface="Arial"/>
              </a:rPr>
              <a:t>Outside the contract</a:t>
            </a:r>
          </a:p>
        </p:txBody>
      </p:sp>
      <p:sp>
        <p:nvSpPr>
          <p:cNvPr id="32" name="">
            <a:extLst xmlns:a="http://schemas.openxmlformats.org/drawingml/2006/main">
              <a:ext uri="{FF2B5EF4-FFF2-40B4-BE49-F238E27FC236}">
                <a16:creationId xmlns:a16="http://schemas.microsoft.com/office/drawing/2014/main" id="{7E71C7D3-E967-4978-AC06-45DFC4315ABD}"/>
              </a:ext>
            </a:extLst>
          </p:cNvPr>
          <p:cNvSpPr>
            <a:spLocks xmlns:a="http://schemas.openxmlformats.org/drawingml/2006/main" noGrp="1"/>
          </p:cNvSpPr>
          <p:nvPr/>
        </p:nvSpPr>
        <p:spPr>
          <a:xfrm xmlns:a="http://schemas.openxmlformats.org/drawingml/2006/main">
            <a:off x="5657850" y="3990975"/>
            <a:ext cx="5924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ADB8C5"/>
                </a:solidFill>
                <a:latin typeface="Arial"/>
                <a:ea typeface="Arial"/>
                <a:cs typeface="Arial"/>
              </a:defRPr>
            </a:pPr>
            <a:r>
              <a:rPr sz="1200" b="0">
                <a:solidFill>
                  <a:srgbClr val="ADB8C5"/>
                </a:solidFill>
                <a:latin typeface="Arial"/>
                <a:ea typeface="Arial"/>
                <a:cs typeface="Arial"/>
              </a:rPr>
              <a:t>Schematic projection, not measured data. Limits are product-specific.</a:t>
            </a:r>
          </a:p>
        </p:txBody>
      </p:sp>
      <p:sp>
        <p:nvSpPr>
          <p:cNvPr id="33" name="">
            <a:extLst xmlns:a="http://schemas.openxmlformats.org/drawingml/2006/main">
              <a:ext uri="{FF2B5EF4-FFF2-40B4-BE49-F238E27FC236}">
                <a16:creationId xmlns:a16="http://schemas.microsoft.com/office/drawing/2014/main" id="{FF1BD36B-E101-4215-B8D9-697289CF1B31}"/>
              </a:ext>
            </a:extLst>
          </p:cNvPr>
          <p:cNvSpPr>
            <a:spLocks xmlns:a="http://schemas.openxmlformats.org/drawingml/2006/main" noGrp="1"/>
          </p:cNvSpPr>
          <p:nvPr/>
        </p:nvSpPr>
        <p:spPr>
          <a:xfrm xmlns:a="http://schemas.openxmlformats.org/drawingml/2006/main" flipH="0" flipV="0">
            <a:off x="609600" y="429577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4" name="">
            <a:extLst xmlns:a="http://schemas.openxmlformats.org/drawingml/2006/main">
              <a:ext uri="{FF2B5EF4-FFF2-40B4-BE49-F238E27FC236}">
                <a16:creationId xmlns:a16="http://schemas.microsoft.com/office/drawing/2014/main" id="{106390D5-4007-449B-B0AE-8C1499DBB715}"/>
              </a:ext>
            </a:extLst>
          </p:cNvPr>
          <p:cNvSpPr>
            <a:spLocks xmlns:a="http://schemas.openxmlformats.org/drawingml/2006/main" noGrp="1"/>
          </p:cNvSpPr>
          <p:nvPr/>
        </p:nvSpPr>
        <p:spPr>
          <a:xfrm xmlns:a="http://schemas.openxmlformats.org/drawingml/2006/main">
            <a:off x="609600" y="43434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ILLUSTRATIVE INDEPENDENT SAMPLE · n = 200</a:t>
            </a:r>
          </a:p>
        </p:txBody>
      </p:sp>
      <p:graphicFrame>
        <p:nvGraphicFramePr>
          <p:cNvPr id="83" name="Chart"/>
          <p:cNvGraphicFramePr/>
          <p:nvPr/>
        </p:nvGraphicFramePr>
        <p:xfrm>
          <a:off xmlns:a="http://schemas.openxmlformats.org/drawingml/2006/main" x="609600" y="4800600"/>
          <a:ext xmlns:a="http://schemas.openxmlformats.org/drawingml/2006/main" cx="5143500" cy="1038225"/>
        </p:xfrm>
        <a:graphic xmlns:a="http://schemas.openxmlformats.org/drawingml/2006/main">
          <a:graphicData uri="http://schemas.openxmlformats.org/drawingml/2006/chart">
            <c:chart xmlns:r="http://schemas.openxmlformats.org/officeDocument/2006/relationships" xmlns:c="http://schemas.openxmlformats.org/drawingml/2006/chart" r:id="R453f2a10e4824eca"/>
          </a:graphicData>
        </a:graphic>
      </p:graphicFrame>
      <p:sp>
        <p:nvSpPr>
          <p:cNvPr id="36" name="">
            <a:extLst xmlns:a="http://schemas.openxmlformats.org/drawingml/2006/main">
              <a:ext uri="{FF2B5EF4-FFF2-40B4-BE49-F238E27FC236}">
                <a16:creationId xmlns:a16="http://schemas.microsoft.com/office/drawing/2014/main" id="{D64AEF20-35E7-4B26-AFC1-FEFB59663A19}"/>
              </a:ext>
            </a:extLst>
          </p:cNvPr>
          <p:cNvSpPr>
            <a:spLocks xmlns:a="http://schemas.openxmlformats.org/drawingml/2006/main" noGrp="1"/>
          </p:cNvSpPr>
          <p:nvPr/>
        </p:nvSpPr>
        <p:spPr>
          <a:xfrm xmlns:a="http://schemas.openxmlformats.org/drawingml/2006/main">
            <a:off x="1095375" y="461010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a:solidFill>
                  <a:srgbClr val="F4F7FA"/>
                </a:solidFill>
                <a:latin typeface="Arial"/>
                <a:ea typeface="Arial"/>
                <a:cs typeface="Arial"/>
              </a:defRPr>
            </a:pPr>
            <a:r>
              <a:rPr sz="1200" b="1">
                <a:solidFill>
                  <a:srgbClr val="F4F7FA"/>
                </a:solidFill>
                <a:latin typeface="Arial"/>
                <a:ea typeface="Arial"/>
                <a:cs typeface="Arial"/>
              </a:rPr>
              <a:t>196 (98%)</a:t>
            </a:r>
          </a:p>
        </p:txBody>
      </p:sp>
      <p:sp>
        <p:nvSpPr>
          <p:cNvPr id="37" name="">
            <a:extLst xmlns:a="http://schemas.openxmlformats.org/drawingml/2006/main">
              <a:ext uri="{FF2B5EF4-FFF2-40B4-BE49-F238E27FC236}">
                <a16:creationId xmlns:a16="http://schemas.microsoft.com/office/drawing/2014/main" id="{52D3C545-C233-4D63-BBBE-1AA571A3A096}"/>
              </a:ext>
            </a:extLst>
          </p:cNvPr>
          <p:cNvSpPr>
            <a:spLocks xmlns:a="http://schemas.openxmlformats.org/drawingml/2006/main" noGrp="1"/>
          </p:cNvSpPr>
          <p:nvPr/>
        </p:nvSpPr>
        <p:spPr>
          <a:xfrm xmlns:a="http://schemas.openxmlformats.org/drawingml/2006/main">
            <a:off x="2657475" y="52482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a:solidFill>
                  <a:srgbClr val="F4F7FA"/>
                </a:solidFill>
                <a:latin typeface="Arial"/>
                <a:ea typeface="Arial"/>
                <a:cs typeface="Arial"/>
              </a:defRPr>
            </a:pPr>
            <a:r>
              <a:rPr sz="1200" b="1">
                <a:solidFill>
                  <a:srgbClr val="F4F7FA"/>
                </a:solidFill>
                <a:latin typeface="Arial"/>
                <a:ea typeface="Arial"/>
                <a:cs typeface="Arial"/>
              </a:rPr>
              <a:t>3 (1.5%)</a:t>
            </a:r>
          </a:p>
        </p:txBody>
      </p:sp>
      <p:sp>
        <p:nvSpPr>
          <p:cNvPr id="38" name="">
            <a:extLst xmlns:a="http://schemas.openxmlformats.org/drawingml/2006/main">
              <a:ext uri="{FF2B5EF4-FFF2-40B4-BE49-F238E27FC236}">
                <a16:creationId xmlns:a16="http://schemas.microsoft.com/office/drawing/2014/main" id="{B2ED36E2-F1EC-4F2F-9349-B4E8EC76A86C}"/>
              </a:ext>
            </a:extLst>
          </p:cNvPr>
          <p:cNvSpPr>
            <a:spLocks xmlns:a="http://schemas.openxmlformats.org/drawingml/2006/main" noGrp="1"/>
          </p:cNvSpPr>
          <p:nvPr/>
        </p:nvSpPr>
        <p:spPr>
          <a:xfrm xmlns:a="http://schemas.openxmlformats.org/drawingml/2006/main">
            <a:off x="4219575" y="52482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a:solidFill>
                  <a:srgbClr val="F4F7FA"/>
                </a:solidFill>
                <a:latin typeface="Arial"/>
                <a:ea typeface="Arial"/>
                <a:cs typeface="Arial"/>
              </a:defRPr>
            </a:pPr>
            <a:r>
              <a:rPr sz="1200" b="1">
                <a:solidFill>
                  <a:srgbClr val="F4F7FA"/>
                </a:solidFill>
                <a:latin typeface="Arial"/>
                <a:ea typeface="Arial"/>
                <a:cs typeface="Arial"/>
              </a:rPr>
              <a:t>1 (0.5%)</a:t>
            </a:r>
          </a:p>
        </p:txBody>
      </p:sp>
      <p:sp>
        <p:nvSpPr>
          <p:cNvPr id="39" name="">
            <a:extLst xmlns:a="http://schemas.openxmlformats.org/drawingml/2006/main">
              <a:ext uri="{FF2B5EF4-FFF2-40B4-BE49-F238E27FC236}">
                <a16:creationId xmlns:a16="http://schemas.microsoft.com/office/drawing/2014/main" id="{D5D80437-583B-401A-AC1E-0574DD14D91F}"/>
              </a:ext>
            </a:extLst>
          </p:cNvPr>
          <p:cNvSpPr>
            <a:spLocks xmlns:a="http://schemas.openxmlformats.org/drawingml/2006/main" noGrp="1"/>
          </p:cNvSpPr>
          <p:nvPr/>
        </p:nvSpPr>
        <p:spPr>
          <a:xfrm xmlns:a="http://schemas.openxmlformats.org/drawingml/2006/main" flipH="0" flipV="0">
            <a:off x="5953125" y="4391025"/>
            <a:ext cx="0" cy="13716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40" name="">
            <a:extLst xmlns:a="http://schemas.openxmlformats.org/drawingml/2006/main">
              <a:ext uri="{FF2B5EF4-FFF2-40B4-BE49-F238E27FC236}">
                <a16:creationId xmlns:a16="http://schemas.microsoft.com/office/drawing/2014/main" id="{C2D40787-99CA-447D-8616-DEA6BF294CBD}"/>
              </a:ext>
            </a:extLst>
          </p:cNvPr>
          <p:cNvSpPr>
            <a:spLocks xmlns:a="http://schemas.openxmlformats.org/drawingml/2006/main" noGrp="1"/>
          </p:cNvSpPr>
          <p:nvPr/>
        </p:nvSpPr>
        <p:spPr>
          <a:xfrm xmlns:a="http://schemas.openxmlformats.org/drawingml/2006/main">
            <a:off x="6286500" y="4343400"/>
            <a:ext cx="2324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4F7FA"/>
                </a:solidFill>
                <a:latin typeface="Arial"/>
                <a:ea typeface="Arial"/>
                <a:cs typeface="Arial"/>
              </a:defRPr>
            </a:pPr>
            <a:r>
              <a:rPr sz="2325" b="1">
                <a:solidFill>
                  <a:srgbClr val="F4F7FA"/>
                </a:solidFill>
                <a:latin typeface="Arial"/>
                <a:ea typeface="Arial"/>
                <a:cs typeface="Arial"/>
              </a:rPr>
              <a:t>4 / 200 = 2%</a:t>
            </a:r>
          </a:p>
        </p:txBody>
      </p:sp>
      <p:sp>
        <p:nvSpPr>
          <p:cNvPr id="41" name="">
            <a:extLst xmlns:a="http://schemas.openxmlformats.org/drawingml/2006/main">
              <a:ext uri="{FF2B5EF4-FFF2-40B4-BE49-F238E27FC236}">
                <a16:creationId xmlns:a16="http://schemas.microsoft.com/office/drawing/2014/main" id="{666EA8C8-F1DF-469D-A197-EEF6D9D3F76E}"/>
              </a:ext>
            </a:extLst>
          </p:cNvPr>
          <p:cNvSpPr>
            <a:spLocks xmlns:a="http://schemas.openxmlformats.org/drawingml/2006/main" noGrp="1"/>
          </p:cNvSpPr>
          <p:nvPr/>
        </p:nvSpPr>
        <p:spPr>
          <a:xfrm xmlns:a="http://schemas.openxmlformats.org/drawingml/2006/main">
            <a:off x="8658225" y="4410075"/>
            <a:ext cx="2924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Any contract violation</a:t>
            </a:r>
          </a:p>
        </p:txBody>
      </p:sp>
      <p:sp>
        <p:nvSpPr>
          <p:cNvPr id="42" name="">
            <a:extLst xmlns:a="http://schemas.openxmlformats.org/drawingml/2006/main">
              <a:ext uri="{FF2B5EF4-FFF2-40B4-BE49-F238E27FC236}">
                <a16:creationId xmlns:a16="http://schemas.microsoft.com/office/drawing/2014/main" id="{0E0ECD67-6937-474A-B261-9B53AAB1CFF1}"/>
              </a:ext>
            </a:extLst>
          </p:cNvPr>
          <p:cNvSpPr>
            <a:spLocks xmlns:a="http://schemas.openxmlformats.org/drawingml/2006/main" noGrp="1"/>
          </p:cNvSpPr>
          <p:nvPr/>
        </p:nvSpPr>
        <p:spPr>
          <a:xfrm xmlns:a="http://schemas.openxmlformats.org/drawingml/2006/main">
            <a:off x="6286500" y="4733925"/>
            <a:ext cx="5295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28C7F7"/>
                </a:solidFill>
                <a:latin typeface="Arial"/>
                <a:ea typeface="Arial"/>
                <a:cs typeface="Arial"/>
              </a:defRPr>
            </a:pPr>
            <a:r>
              <a:rPr sz="1650" b="0">
                <a:solidFill>
                  <a:srgbClr val="28C7F7"/>
                </a:solidFill>
                <a:latin typeface="Arial"/>
                <a:ea typeface="Arial"/>
                <a:cs typeface="Arial"/>
              </a:rPr>
              <a:t>95% Wilson interval ≈ 0.8%–5.0%</a:t>
            </a:r>
          </a:p>
        </p:txBody>
      </p:sp>
      <p:sp>
        <p:nvSpPr>
          <p:cNvPr id="43" name="">
            <a:extLst xmlns:a="http://schemas.openxmlformats.org/drawingml/2006/main">
              <a:ext uri="{FF2B5EF4-FFF2-40B4-BE49-F238E27FC236}">
                <a16:creationId xmlns:a16="http://schemas.microsoft.com/office/drawing/2014/main" id="{2A7AD43A-1F5E-46DB-B46B-E3B78AC548E8}"/>
              </a:ext>
            </a:extLst>
          </p:cNvPr>
          <p:cNvSpPr>
            <a:spLocks xmlns:a="http://schemas.openxmlformats.org/drawingml/2006/main" noGrp="1"/>
          </p:cNvSpPr>
          <p:nvPr/>
        </p:nvSpPr>
        <p:spPr>
          <a:xfrm xmlns:a="http://schemas.openxmlformats.org/drawingml/2006/main">
            <a:off x="6286500" y="5038725"/>
            <a:ext cx="5295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3 incorrect instructions → rework</a:t>
            </a:r>
          </a:p>
        </p:txBody>
      </p:sp>
      <p:sp>
        <p:nvSpPr>
          <p:cNvPr id="44" name="">
            <a:extLst xmlns:a="http://schemas.openxmlformats.org/drawingml/2006/main">
              <a:ext uri="{FF2B5EF4-FFF2-40B4-BE49-F238E27FC236}">
                <a16:creationId xmlns:a16="http://schemas.microsoft.com/office/drawing/2014/main" id="{3F657399-F94B-4A6A-9F30-1F2FC1334F61}"/>
              </a:ext>
            </a:extLst>
          </p:cNvPr>
          <p:cNvSpPr>
            <a:spLocks xmlns:a="http://schemas.openxmlformats.org/drawingml/2006/main" noGrp="1"/>
          </p:cNvSpPr>
          <p:nvPr/>
        </p:nvSpPr>
        <p:spPr>
          <a:xfrm xmlns:a="http://schemas.openxmlformats.org/drawingml/2006/main">
            <a:off x="6286500" y="5295900"/>
            <a:ext cx="5295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F6B75"/>
                </a:solidFill>
                <a:latin typeface="Arial"/>
                <a:ea typeface="Arial"/>
                <a:cs typeface="Arial"/>
              </a:defRPr>
            </a:pPr>
            <a:r>
              <a:rPr sz="1500" b="0">
                <a:solidFill>
                  <a:srgbClr val="FF6B75"/>
                </a:solidFill>
                <a:latin typeface="Arial"/>
                <a:ea typeface="Arial"/>
                <a:cs typeface="Arial"/>
              </a:rPr>
              <a:t>1 privacy leak → critical breach</a:t>
            </a:r>
          </a:p>
        </p:txBody>
      </p:sp>
      <p:sp>
        <p:nvSpPr>
          <p:cNvPr id="45" name="">
            <a:extLst xmlns:a="http://schemas.openxmlformats.org/drawingml/2006/main">
              <a:ext uri="{FF2B5EF4-FFF2-40B4-BE49-F238E27FC236}">
                <a16:creationId xmlns:a16="http://schemas.microsoft.com/office/drawing/2014/main" id="{9D48ED73-FCD2-4EFD-BA62-7640270E3397}"/>
              </a:ext>
            </a:extLst>
          </p:cNvPr>
          <p:cNvSpPr>
            <a:spLocks xmlns:a="http://schemas.openxmlformats.org/drawingml/2006/main" noGrp="1"/>
          </p:cNvSpPr>
          <p:nvPr/>
        </p:nvSpPr>
        <p:spPr>
          <a:xfrm xmlns:a="http://schemas.openxmlformats.org/drawingml/2006/main">
            <a:off x="6286500" y="5562600"/>
            <a:ext cx="5295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F6B75"/>
                </a:solidFill>
                <a:latin typeface="Arial"/>
                <a:ea typeface="Arial"/>
                <a:cs typeface="Arial"/>
              </a:defRPr>
            </a:pPr>
            <a:r>
              <a:rPr sz="1725" b="1">
                <a:solidFill>
                  <a:srgbClr val="FF6B75"/>
                </a:solidFill>
                <a:latin typeface="Arial"/>
                <a:ea typeface="Arial"/>
                <a:cs typeface="Arial"/>
              </a:rPr>
              <a:t>Critical breach → BLOCK RELEASE</a:t>
            </a:r>
          </a:p>
        </p:txBody>
      </p:sp>
      <p:sp>
        <p:nvSpPr>
          <p:cNvPr id="46" name="">
            <a:extLst xmlns:a="http://schemas.openxmlformats.org/drawingml/2006/main">
              <a:ext uri="{FF2B5EF4-FFF2-40B4-BE49-F238E27FC236}">
                <a16:creationId xmlns:a16="http://schemas.microsoft.com/office/drawing/2014/main" id="{4104CEC0-C62D-4808-B858-3A4ED8613DBE}"/>
              </a:ext>
            </a:extLst>
          </p:cNvPr>
          <p:cNvSpPr>
            <a:spLocks xmlns:a="http://schemas.openxmlformats.org/drawingml/2006/main" noGrp="1"/>
          </p:cNvSpPr>
          <p:nvPr/>
        </p:nvSpPr>
        <p:spPr>
          <a:xfrm xmlns:a="http://schemas.openxmlformats.org/drawingml/2006/main">
            <a:off x="609600" y="5915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Golden Set: probe known scenarios. Representative sample: estimate error rates.</a:t>
            </a:r>
          </a:p>
        </p:txBody>
      </p:sp>
      <p:sp>
        <p:nvSpPr>
          <p:cNvPr id="47" name="">
            <a:extLst xmlns:a="http://schemas.openxmlformats.org/drawingml/2006/main">
              <a:ext uri="{FF2B5EF4-FFF2-40B4-BE49-F238E27FC236}">
                <a16:creationId xmlns:a16="http://schemas.microsoft.com/office/drawing/2014/main" id="{83BB0B0F-E271-43B9-A98B-5F38D76DF74B}"/>
              </a:ext>
            </a:extLst>
          </p:cNvPr>
          <p:cNvSpPr>
            <a:spLocks xmlns:a="http://schemas.openxmlformats.org/drawingml/2006/main" noGrp="1"/>
          </p:cNvSpPr>
          <p:nvPr/>
        </p:nvSpPr>
        <p:spPr>
          <a:xfrm xmlns:a="http://schemas.openxmlformats.org/drawingml/2006/main">
            <a:off x="609600" y="62007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4F7FA"/>
                </a:solidFill>
                <a:latin typeface="Arial"/>
                <a:ea typeface="Arial"/>
                <a:cs typeface="Arial"/>
              </a:defRPr>
            </a:pPr>
            <a:r>
              <a:rPr sz="1425" b="0">
                <a:solidFill>
                  <a:srgbClr val="F4F7FA"/>
                </a:solidFill>
                <a:latin typeface="Arial"/>
                <a:ea typeface="Arial"/>
                <a:cs typeface="Arial"/>
              </a:rPr>
              <a:t>QA + domain experts calibrate scoring. Eval Gates compare evidence with release criteria.</a:t>
            </a:r>
          </a:p>
        </p:txBody>
      </p:sp>
      <p:sp>
        <p:nvSpPr>
          <p:cNvPr id="48" name="">
            <a:extLst xmlns:a="http://schemas.openxmlformats.org/drawingml/2006/main">
              <a:ext uri="{FF2B5EF4-FFF2-40B4-BE49-F238E27FC236}">
                <a16:creationId xmlns:a16="http://schemas.microsoft.com/office/drawing/2014/main" id="{F6D57848-381E-4215-BF48-D7FF5FAE4AB8}"/>
              </a:ext>
            </a:extLst>
          </p:cNvPr>
          <p:cNvSpPr>
            <a:spLocks xmlns:a="http://schemas.openxmlformats.org/drawingml/2006/main" noGrp="1"/>
          </p:cNvSpPr>
          <p:nvPr/>
        </p:nvSpPr>
        <p:spPr>
          <a:xfrm xmlns:a="http://schemas.openxmlformats.org/drawingml/2006/main">
            <a:off x="609600" y="6486525"/>
            <a:ext cx="10648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A low average error rate does not excuse a prohibited disclosure.</a:t>
            </a:r>
          </a:p>
        </p:txBody>
      </p:sp>
    </p:spTree>
    <p:extLst>
      <p:ext uri="{BB962C8B-B14F-4D97-AF65-F5344CB8AC3E}">
        <p14:creationId xmlns:p14="http://schemas.microsoft.com/office/powerpoint/2010/main" val="379878265"/>
      </p:ext>
    </p:extLst>
  </p:cSld>
</p:sld>
</file>

<file path=ppt/slides/slide11.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C5CBA9-930C-4CBF-B2FF-032889E15A21}"/>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DoR / DoD Become Risk Contracts</a:t>
            </a:r>
          </a:p>
        </p:txBody>
      </p:sp>
      <p:sp>
        <p:nvSpPr>
          <p:cNvPr id="2" name="">
            <a:extLst xmlns:a="http://schemas.openxmlformats.org/drawingml/2006/main">
              <a:ext uri="{FF2B5EF4-FFF2-40B4-BE49-F238E27FC236}">
                <a16:creationId xmlns:a16="http://schemas.microsoft.com/office/drawing/2014/main" id="{7C9B564F-30EF-4C98-ADBB-A55B7A9E033A}"/>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0B181375-ADEA-466C-8708-BC9058A9CC7C}"/>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EA7F2A98-ACE5-4643-AAED-CA11E84F3D38}"/>
              </a:ext>
            </a:extLst>
          </p:cNvPr>
          <p:cNvSpPr>
            <a:spLocks xmlns:a="http://schemas.openxmlformats.org/drawingml/2006/main" noGrp="1"/>
          </p:cNvSpPr>
          <p:nvPr/>
        </p:nvSpPr>
        <p:spPr>
          <a:xfrm xmlns:a="http://schemas.openxmlformats.org/drawingml/2006/main">
            <a:off x="609600" y="1676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PRODUCT / PO + BA · DEVELOPERS + QA · PROJECT MANAGER · OPERATIONS</a:t>
            </a:r>
          </a:p>
        </p:txBody>
      </p:sp>
      <p:sp>
        <p:nvSpPr>
          <p:cNvPr id="5" name="">
            <a:extLst xmlns:a="http://schemas.openxmlformats.org/drawingml/2006/main">
              <a:ext uri="{FF2B5EF4-FFF2-40B4-BE49-F238E27FC236}">
                <a16:creationId xmlns:a16="http://schemas.microsoft.com/office/drawing/2014/main" id="{A47987C2-37F1-4EFC-BF1B-C2D331AE47A4}"/>
              </a:ext>
            </a:extLst>
          </p:cNvPr>
          <p:cNvSpPr>
            <a:spLocks xmlns:a="http://schemas.openxmlformats.org/drawingml/2006/main" noGrp="1"/>
          </p:cNvSpPr>
          <p:nvPr/>
        </p:nvSpPr>
        <p:spPr>
          <a:xfrm xmlns:a="http://schemas.openxmlformats.org/drawingml/2006/main">
            <a:off x="609600" y="20288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Thinking Systems add behavioral limits, cost envelopes and statistical evidence to delivery contracts.</a:t>
            </a:r>
          </a:p>
        </p:txBody>
      </p:sp>
      <p:graphicFrame>
        <p:nvGraphicFramePr>
          <p:cNvPr id="14" name=""/>
          <p:cNvGraphicFramePr/>
          <p:nvPr/>
        </p:nvGraphicFramePr>
        <p:xfrm>
          <a:off xmlns:a="http://schemas.openxmlformats.org/drawingml/2006/main" x="609600" y="2409825"/>
          <a:ext xmlns:a="http://schemas.openxmlformats.org/drawingml/2006/main" cx="10972800" cy="3276600"/>
        </p:xfrm>
        <a:graphic xmlns:a="http://schemas.openxmlformats.org/drawingml/2006/main">
          <a:graphicData uri="http://schemas.openxmlformats.org/drawingml/2006/table">
            <a:tbl>
              <a:tblPr/>
              <a:tblGrid>
                <a:gridCol w="1381125"/>
                <a:gridCol w="4000500"/>
                <a:gridCol w="5591175"/>
              </a:tblGrid>
              <a:tr h="381000">
                <a:tc>
                  <a:txBody>
                    <a:bodyPr lIns="171450" tIns="66675" rIns="171450" bIns="66675">
                      <a:noAutofit/>
                    </a:bodyPr>
                    <a:lstStyle/>
                    <a:p>
                      <a:r>
                        <a:rPr sz="1575" b="1">
                          <a:solidFill>
                            <a:srgbClr val="F4F7FA"/>
                          </a:solidFill>
                          <a:latin typeface="Arial"/>
                          <a:ea typeface="Arial"/>
                          <a:cs typeface="Arial"/>
                        </a:rPr>
                        <a:t>CONTRACT</a:t>
                      </a:r>
                    </a:p>
                  </a:txBody>
                  <a:tcPr marL="91440" marR="91440" marT="45720" marB="45720" anchor="ctr">
                    <a:solidFill>
                      <a:srgbClr val="1A2734"/>
                    </a:solidFill>
                  </a:tcPr>
                </a:tc>
                <a:tc>
                  <a:txBody>
                    <a:bodyPr lIns="171450" tIns="66675" rIns="171450" bIns="66675">
                      <a:noAutofit/>
                    </a:bodyPr>
                    <a:lstStyle/>
                    <a:p>
                      <a:r>
                        <a:rPr sz="1575" b="1">
                          <a:solidFill>
                            <a:srgbClr val="F4F7FA"/>
                          </a:solidFill>
                          <a:latin typeface="Arial"/>
                          <a:ea typeface="Arial"/>
                          <a:cs typeface="Arial"/>
                        </a:rPr>
                        <a:t>TRADITIONAL DoR / DoD</a:t>
                      </a:r>
                    </a:p>
                  </a:txBody>
                  <a:tcPr marL="91440" marR="91440" marT="45720" marB="45720" anchor="ctr">
                    <a:solidFill>
                      <a:srgbClr val="1A2734"/>
                    </a:solidFill>
                  </a:tcPr>
                </a:tc>
                <a:tc>
                  <a:txBody>
                    <a:bodyPr lIns="171450" tIns="66675" rIns="171450" bIns="66675">
                      <a:noAutofit/>
                    </a:bodyPr>
                    <a:lstStyle/>
                    <a:p>
                      <a:r>
                        <a:rPr sz="1575" b="1">
                          <a:solidFill>
                            <a:srgbClr val="28C7F7"/>
                          </a:solidFill>
                          <a:latin typeface="Arial"/>
                          <a:ea typeface="Arial"/>
                          <a:cs typeface="Arial"/>
                        </a:rPr>
                        <a:t>ADDED FOR THINKING SYSTEMS</a:t>
                      </a:r>
                    </a:p>
                  </a:txBody>
                  <a:tcPr marL="91440" marR="91440" marT="45720" marB="45720" anchor="ctr">
                    <a:solidFill>
                      <a:srgbClr val="1A2734"/>
                    </a:solidFill>
                  </a:tcPr>
                </a:tc>
              </a:tr>
              <a:tr h="971550">
                <a:tc>
                  <a:txBody>
                    <a:bodyPr lIns="171450" tIns="66675" rIns="171450" bIns="66675">
                      <a:noAutofit/>
                    </a:bodyPr>
                    <a:lstStyle/>
                    <a:p>
                      <a:r>
                        <a:rPr sz="1500" b="1">
                          <a:solidFill>
                            <a:srgbClr val="F4F7FA"/>
                          </a:solidFill>
                          <a:latin typeface="Arial"/>
                          <a:ea typeface="Arial"/>
                          <a:cs typeface="Arial"/>
                        </a:rPr>
                        <a:t>DoR</a:t>
                      </a:r>
                    </a:p>
                    <a:p>
                      <a:r>
                        <a:rPr sz="1500" b="1">
                          <a:solidFill>
                            <a:srgbClr val="F4F7FA"/>
                          </a:solidFill>
                          <a:latin typeface="Arial"/>
                          <a:ea typeface="Arial"/>
                          <a:cs typeface="Arial"/>
                        </a:rPr>
                        <a:t>READY</a:t>
                      </a:r>
                    </a:p>
                  </a:txBody>
                  <a:tcPr marL="91440" marR="91440" marT="45720" marB="45720" anchor="ctr">
                    <a:solidFill>
                      <a:srgbClr val="0B0F14"/>
                    </a:solidFill>
                  </a:tcPr>
                </a:tc>
                <a:tc>
                  <a:txBody>
                    <a:bodyPr lIns="171450" tIns="66675" rIns="171450" bIns="66675">
                      <a:noAutofit/>
                    </a:bodyPr>
                    <a:lstStyle/>
                    <a:p>
                      <a:r>
                        <a:rPr sz="1500" b="0">
                          <a:solidFill>
                            <a:srgbClr val="F4F7FA"/>
                          </a:solidFill>
                          <a:latin typeface="Arial"/>
                          <a:ea typeface="Arial"/>
                          <a:cs typeface="Arial"/>
                        </a:rPr>
                        <a:t>Specified behavior + acceptance criteria</a:t>
                      </a:r>
                    </a:p>
                    <a:p>
                      <a:r>
                        <a:rPr sz="1500" b="0">
                          <a:solidFill>
                            <a:srgbClr val="F4F7FA"/>
                          </a:solidFill>
                          <a:latin typeface="Arial"/>
                          <a:ea typeface="Arial"/>
                          <a:cs typeface="Arial"/>
                        </a:rPr>
                        <a:t>Dependencies and feasibility</a:t>
                      </a:r>
                    </a:p>
                    <a:p>
                      <a:r>
                        <a:rPr sz="1500" b="0">
                          <a:solidFill>
                            <a:srgbClr val="F4F7FA"/>
                          </a:solidFill>
                          <a:latin typeface="Arial"/>
                          <a:ea typeface="Arial"/>
                          <a:cs typeface="Arial"/>
                        </a:rPr>
                        <a:t>Test approach and operating limits</a:t>
                      </a:r>
                    </a:p>
                  </a:txBody>
                  <a:tcPr marL="91440" marR="91440" marT="45720" marB="45720" anchor="ctr">
                    <a:solidFill>
                      <a:srgbClr val="0B0F14"/>
                    </a:solidFill>
                  </a:tcPr>
                </a:tc>
                <a:tc>
                  <a:txBody>
                    <a:bodyPr lIns="171450" tIns="66675" rIns="171450" bIns="66675">
                      <a:noAutofit/>
                    </a:bodyPr>
                    <a:lstStyle/>
                    <a:p>
                      <a:r>
                        <a:rPr sz="1500" b="0">
                          <a:solidFill>
                            <a:srgbClr val="28C7F7"/>
                          </a:solidFill>
                          <a:latin typeface="Arial"/>
                          <a:ea typeface="Arial"/>
                          <a:cs typeface="Arial"/>
                        </a:rPr>
                        <a:t>Business tolerances + prohibited outcomes</a:t>
                      </a:r>
                    </a:p>
                    <a:p>
                      <a:r>
                        <a:rPr sz="1500" b="0">
                          <a:solidFill>
                            <a:srgbClr val="28C7F7"/>
                          </a:solidFill>
                          <a:latin typeface="Arial"/>
                          <a:ea typeface="Arial"/>
                          <a:cs typeface="Arial"/>
                        </a:rPr>
                        <a:t>Golden Set, sampling and control / HITL plan</a:t>
                      </a:r>
                    </a:p>
                    <a:p>
                      <a:r>
                        <a:rPr sz="1500" b="0">
                          <a:solidFill>
                            <a:srgbClr val="28C7F7"/>
                          </a:solidFill>
                          <a:latin typeface="Arial"/>
                          <a:ea typeface="Arial"/>
                          <a:cs typeface="Arial"/>
                        </a:rPr>
                        <a:t>Cost, latency and response-capacity budget</a:t>
                      </a:r>
                    </a:p>
                  </a:txBody>
                  <a:tcPr marL="91440" marR="91440" marT="45720" marB="45720" anchor="ctr">
                    <a:solidFill>
                      <a:srgbClr val="0B0F14"/>
                    </a:solidFill>
                  </a:tcPr>
                </a:tc>
              </a:tr>
              <a:tr h="971550">
                <a:tc>
                  <a:txBody>
                    <a:bodyPr lIns="171450" tIns="66675" rIns="171450" bIns="66675">
                      <a:noAutofit/>
                    </a:bodyPr>
                    <a:lstStyle/>
                    <a:p>
                      <a:r>
                        <a:rPr sz="1500" b="1">
                          <a:solidFill>
                            <a:srgbClr val="F4F7FA"/>
                          </a:solidFill>
                          <a:latin typeface="Arial"/>
                          <a:ea typeface="Arial"/>
                          <a:cs typeface="Arial"/>
                        </a:rPr>
                        <a:t>DoD</a:t>
                      </a:r>
                    </a:p>
                    <a:p>
                      <a:r>
                        <a:rPr sz="1500" b="1">
                          <a:solidFill>
                            <a:srgbClr val="F4F7FA"/>
                          </a:solidFill>
                          <a:latin typeface="Arial"/>
                          <a:ea typeface="Arial"/>
                          <a:cs typeface="Arial"/>
                        </a:rPr>
                        <a:t>DONE</a:t>
                      </a:r>
                    </a:p>
                  </a:txBody>
                  <a:tcPr marL="91440" marR="91440" marT="45720" marB="45720" anchor="ctr">
                    <a:solidFill>
                      <a:srgbClr val="0B0F14"/>
                    </a:solidFill>
                  </a:tcPr>
                </a:tc>
                <a:tc>
                  <a:txBody>
                    <a:bodyPr lIns="171450" tIns="66675" rIns="171450" bIns="66675">
                      <a:noAutofit/>
                    </a:bodyPr>
                    <a:lstStyle/>
                    <a:p>
                      <a:r>
                        <a:rPr sz="1500" b="0">
                          <a:solidFill>
                            <a:srgbClr val="F4F7FA"/>
                          </a:solidFill>
                          <a:latin typeface="Arial"/>
                          <a:ea typeface="Arial"/>
                          <a:cs typeface="Arial"/>
                        </a:rPr>
                        <a:t>Implementation reviewed</a:t>
                      </a:r>
                    </a:p>
                    <a:p>
                      <a:r>
                        <a:rPr sz="1500" b="0">
                          <a:solidFill>
                            <a:srgbClr val="F4F7FA"/>
                          </a:solidFill>
                          <a:latin typeface="Arial"/>
                          <a:ea typeface="Arial"/>
                          <a:cs typeface="Arial"/>
                        </a:rPr>
                        <a:t>Required tests + acceptance checks pass</a:t>
                      </a:r>
                    </a:p>
                    <a:p>
                      <a:r>
                        <a:rPr sz="1500" b="0">
                          <a:solidFill>
                            <a:srgbClr val="F4F7FA"/>
                          </a:solidFill>
                          <a:latin typeface="Arial"/>
                          <a:ea typeface="Arial"/>
                          <a:cs typeface="Arial"/>
                        </a:rPr>
                        <a:t>Operational handover complete</a:t>
                      </a:r>
                    </a:p>
                  </a:txBody>
                  <a:tcPr marL="91440" marR="91440" marT="45720" marB="45720" anchor="ctr">
                    <a:solidFill>
                      <a:srgbClr val="0B0F14"/>
                    </a:solidFill>
                  </a:tcPr>
                </a:tc>
                <a:tc>
                  <a:txBody>
                    <a:bodyPr lIns="171450" tIns="66675" rIns="171450" bIns="66675">
                      <a:noAutofit/>
                    </a:bodyPr>
                    <a:lstStyle/>
                    <a:p>
                      <a:r>
                        <a:rPr sz="1500" b="0">
                          <a:solidFill>
                            <a:srgbClr val="28C7F7"/>
                          </a:solidFill>
                          <a:latin typeface="Arial"/>
                          <a:ea typeface="Arial"/>
                          <a:cs typeface="Arial"/>
                        </a:rPr>
                        <a:t>Eval Gates meet approved criteria</a:t>
                      </a:r>
                    </a:p>
                    <a:p>
                      <a:r>
                        <a:rPr sz="1500" b="0">
                          <a:solidFill>
                            <a:srgbClr val="28C7F7"/>
                          </a:solidFill>
                          <a:latin typeface="Arial"/>
                          <a:ea typeface="Arial"/>
                          <a:cs typeface="Arial"/>
                        </a:rPr>
                        <a:t>Coverage + uncertainty documented</a:t>
                      </a:r>
                    </a:p>
                    <a:p>
                      <a:r>
                        <a:rPr sz="1500" b="0">
                          <a:solidFill>
                            <a:srgbClr val="28C7F7"/>
                          </a:solidFill>
                          <a:latin typeface="Arial"/>
                          <a:ea typeface="Arial"/>
                          <a:cs typeface="Arial"/>
                        </a:rPr>
                        <a:t>Controls / human fallback tested within budget</a:t>
                      </a:r>
                    </a:p>
                  </a:txBody>
                  <a:tcPr marL="91440" marR="91440" marT="45720" marB="45720" anchor="ctr">
                    <a:solidFill>
                      <a:srgbClr val="0B0F14"/>
                    </a:solidFill>
                  </a:tcPr>
                </a:tc>
              </a:tr>
              <a:tr h="952500">
                <a:tc>
                  <a:txBody>
                    <a:bodyPr lIns="171450" tIns="66675" rIns="171450" bIns="66675">
                      <a:noAutofit/>
                    </a:bodyPr>
                    <a:lstStyle/>
                    <a:p>
                      <a:r>
                        <a:rPr sz="1500" b="1">
                          <a:solidFill>
                            <a:srgbClr val="F4F7FA"/>
                          </a:solidFill>
                          <a:latin typeface="Arial"/>
                          <a:ea typeface="Arial"/>
                          <a:cs typeface="Arial"/>
                        </a:rPr>
                        <a:t>RELEASE</a:t>
                      </a:r>
                    </a:p>
                  </a:txBody>
                  <a:tcPr marL="91440" marR="91440" marT="45720" marB="45720" anchor="ctr">
                    <a:solidFill>
                      <a:srgbClr val="0B0F14"/>
                    </a:solidFill>
                  </a:tcPr>
                </a:tc>
                <a:tc>
                  <a:txBody>
                    <a:bodyPr lIns="171450" tIns="66675" rIns="171450" bIns="66675">
                      <a:noAutofit/>
                    </a:bodyPr>
                    <a:lstStyle/>
                    <a:p>
                      <a:r>
                        <a:rPr sz="1500" b="0">
                          <a:solidFill>
                            <a:srgbClr val="F4F7FA"/>
                          </a:solidFill>
                          <a:latin typeface="Arial"/>
                          <a:ea typeface="Arial"/>
                          <a:cs typeface="Arial"/>
                        </a:rPr>
                        <a:t>Decision against agreed criteria</a:t>
                      </a:r>
                    </a:p>
                    <a:p>
                      <a:r>
                        <a:rPr sz="1500" b="0">
                          <a:solidFill>
                            <a:srgbClr val="F4F7FA"/>
                          </a:solidFill>
                          <a:latin typeface="Arial"/>
                          <a:ea typeface="Arial"/>
                          <a:cs typeface="Arial"/>
                        </a:rPr>
                        <a:t>Operational owner accepts the handover</a:t>
                      </a:r>
                    </a:p>
                  </a:txBody>
                  <a:tcPr marL="91440" marR="91440" marT="45720" marB="45720" anchor="ctr">
                    <a:solidFill>
                      <a:srgbClr val="0B0F14"/>
                    </a:solidFill>
                  </a:tcPr>
                </a:tc>
                <a:tc>
                  <a:txBody>
                    <a:bodyPr lIns="171450" tIns="66675" rIns="171450" bIns="66675">
                      <a:noAutofit/>
                    </a:bodyPr>
                    <a:lstStyle/>
                    <a:p>
                      <a:r>
                        <a:rPr sz="1500" b="0">
                          <a:solidFill>
                            <a:srgbClr val="28C7F7"/>
                          </a:solidFill>
                          <a:latin typeface="Arial"/>
                          <a:ea typeface="Arial"/>
                          <a:cs typeface="Arial"/>
                        </a:rPr>
                        <a:t>Error bounds + residual risk accepted</a:t>
                      </a:r>
                    </a:p>
                    <a:p>
                      <a:r>
                        <a:rPr sz="1500" b="0">
                          <a:solidFill>
                            <a:srgbClr val="28C7F7"/>
                          </a:solidFill>
                          <a:latin typeface="Arial"/>
                          <a:ea typeface="Arial"/>
                          <a:cs typeface="Arial"/>
                        </a:rPr>
                        <a:t>Monitoring, response and rollback ready</a:t>
                      </a:r>
                    </a:p>
                    <a:p>
                      <a:r>
                        <a:rPr sz="1500" b="0">
                          <a:solidFill>
                            <a:srgbClr val="28C7F7"/>
                          </a:solidFill>
                          <a:latin typeface="Arial"/>
                          <a:ea typeface="Arial"/>
                          <a:cs typeface="Arial"/>
                        </a:rPr>
                        <a:t>Incidents update regression / gates / monitors</a:t>
                      </a:r>
                    </a:p>
                  </a:txBody>
                  <a:tcPr marL="91440" marR="91440" marT="45720" marB="45720" anchor="ctr">
                    <a:solidFill>
                      <a:srgbClr val="0B0F14"/>
                    </a:solidFill>
                  </a:tcPr>
                </a:tc>
              </a:tr>
            </a:tbl>
          </a:graphicData>
        </a:graphic>
      </p:graphicFrame>
      <p:sp>
        <p:nvSpPr>
          <p:cNvPr id="7" name="">
            <a:extLst xmlns:a="http://schemas.openxmlformats.org/drawingml/2006/main">
              <a:ext uri="{FF2B5EF4-FFF2-40B4-BE49-F238E27FC236}">
                <a16:creationId xmlns:a16="http://schemas.microsoft.com/office/drawing/2014/main" id="{A2FD24B7-10D8-4E2D-BC7D-3BFA6A87C5D6}"/>
              </a:ext>
            </a:extLst>
          </p:cNvPr>
          <p:cNvSpPr>
            <a:spLocks xmlns:a="http://schemas.openxmlformats.org/drawingml/2006/main" noGrp="1"/>
          </p:cNvSpPr>
          <p:nvPr/>
        </p:nvSpPr>
        <p:spPr>
          <a:xfrm xmlns:a="http://schemas.openxmlformats.org/drawingml/2006/main">
            <a:off x="609600" y="581025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DoR is a team practice. DoD is a quality commitment. Release is an authorized decision.</a:t>
            </a:r>
          </a:p>
        </p:txBody>
      </p:sp>
      <p:sp>
        <p:nvSpPr>
          <p:cNvPr id="8" name="">
            <a:extLst xmlns:a="http://schemas.openxmlformats.org/drawingml/2006/main">
              <a:ext uri="{FF2B5EF4-FFF2-40B4-BE49-F238E27FC236}">
                <a16:creationId xmlns:a16="http://schemas.microsoft.com/office/drawing/2014/main" id="{A9FE886E-E8D3-4162-84AD-2BEE46CF6CD0}"/>
              </a:ext>
            </a:extLst>
          </p:cNvPr>
          <p:cNvSpPr>
            <a:spLocks xmlns:a="http://schemas.openxmlformats.org/drawingml/2006/main" noGrp="1"/>
          </p:cNvSpPr>
          <p:nvPr/>
        </p:nvSpPr>
        <p:spPr>
          <a:xfrm xmlns:a="http://schemas.openxmlformats.org/drawingml/2006/main">
            <a:off x="609600" y="61912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4F7FA"/>
                </a:solidFill>
                <a:latin typeface="Arial"/>
                <a:ea typeface="Arial"/>
                <a:cs typeface="Arial"/>
              </a:defRPr>
            </a:pPr>
            <a:r>
              <a:rPr sz="1875" b="1">
                <a:solidFill>
                  <a:srgbClr val="F4F7FA"/>
                </a:solidFill>
                <a:latin typeface="Arial"/>
                <a:ea typeface="Arial"/>
                <a:cs typeface="Arial"/>
              </a:rPr>
              <a:t>Beyond a green run: measured behavior within approved limits,</a:t>
            </a:r>
          </a:p>
          <a:p xmlns:a="http://schemas.openxmlformats.org/drawingml/2006/main">
            <a:pPr algn="l">
              <a:defRPr sz="1875" b="1">
                <a:solidFill>
                  <a:srgbClr val="F4F7FA"/>
                </a:solidFill>
                <a:latin typeface="Arial"/>
                <a:ea typeface="Arial"/>
                <a:cs typeface="Arial"/>
              </a:defRPr>
            </a:pPr>
            <a:r>
              <a:rPr sz="1875" b="1">
                <a:solidFill>
                  <a:srgbClr val="F4F7FA"/>
                </a:solidFill>
                <a:latin typeface="Arial"/>
                <a:ea typeface="Arial"/>
                <a:cs typeface="Arial"/>
              </a:rPr>
              <a:t>with a complete, operable control loop.</a:t>
            </a:r>
          </a:p>
        </p:txBody>
      </p:sp>
    </p:spTree>
    <p:extLst>
      <p:ext uri="{BB962C8B-B14F-4D97-AF65-F5344CB8AC3E}">
        <p14:creationId xmlns:p14="http://schemas.microsoft.com/office/powerpoint/2010/main" val="604113006"/>
      </p:ext>
    </p:extLst>
  </p:cSld>
</p:sld>
</file>

<file path=ppt/slides/slide12.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52" name=""/>
          <p:cNvCxnSpPr>
            <a:stCxn xmlns:a="http://schemas.openxmlformats.org/drawingml/2006/main" id="37" idx="1"/>
            <a:endCxn xmlns:a="http://schemas.openxmlformats.org/drawingml/2006/main" id="39" idx="3"/>
          </p:cNvCxnSpPr>
          <p:nvPr/>
        </p:nvCxnSpPr>
        <p:spPr>
          <a:xfrm xmlns:a="http://schemas.openxmlformats.org/drawingml/2006/main" flipH="1">
            <a:off x="8705850" y="4510088"/>
            <a:ext cx="533400" cy="0"/>
          </a:xfrm>
          <a:prstGeom xmlns:a="http://schemas.openxmlformats.org/drawingml/2006/main" prst="straightConnector1">
            <a:avLst/>
          </a:prstGeom>
          <a:ln xmlns:a="http://schemas.openxmlformats.org/drawingml/2006/main" w="21908">
            <a:solidFill>
              <a:srgbClr val="F5B61C"/>
            </a:solidFill>
            <a:prstDash val="solid"/>
            <a:tailEnd type="triangle" w="med" len="med"/>
          </a:ln>
        </p:spPr>
      </p:cxnSp>
      <p:cxnSp>
        <p:nvCxnSpPr>
          <p:cNvPr id="53" name=""/>
          <p:cNvCxnSpPr>
            <a:stCxn xmlns:a="http://schemas.openxmlformats.org/drawingml/2006/main" id="25" idx="2"/>
            <a:endCxn xmlns:a="http://schemas.openxmlformats.org/drawingml/2006/main" id="37" idx="0"/>
          </p:cNvCxnSpPr>
          <p:nvPr/>
        </p:nvCxnSpPr>
        <p:spPr>
          <a:xfrm xmlns:a="http://schemas.openxmlformats.org/drawingml/2006/main">
            <a:off x="10410825" y="3352800"/>
            <a:ext cx="0" cy="828675"/>
          </a:xfrm>
          <a:prstGeom xmlns:a="http://schemas.openxmlformats.org/drawingml/2006/main" prst="straightConnector1">
            <a:avLst/>
          </a:prstGeom>
          <a:ln xmlns:a="http://schemas.openxmlformats.org/drawingml/2006/main" w="21908">
            <a:solidFill>
              <a:srgbClr val="28C7F7"/>
            </a:solidFill>
            <a:prstDash val="solid"/>
            <a:tailEnd type="triangle" w="med" len="med"/>
          </a:ln>
        </p:spPr>
      </p:cxnSp>
      <p:cxnSp>
        <p:nvCxnSpPr>
          <p:cNvPr id="54" name=""/>
          <p:cNvCxnSpPr>
            <a:stCxn xmlns:a="http://schemas.openxmlformats.org/drawingml/2006/main" id="23" idx="3"/>
            <a:endCxn xmlns:a="http://schemas.openxmlformats.org/drawingml/2006/main" id="25" idx="1"/>
          </p:cNvCxnSpPr>
          <p:nvPr/>
        </p:nvCxnSpPr>
        <p:spPr>
          <a:xfrm xmlns:a="http://schemas.openxmlformats.org/drawingml/2006/main">
            <a:off x="8953500" y="3000375"/>
            <a:ext cx="28575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55" name=""/>
          <p:cNvCxnSpPr>
            <a:stCxn xmlns:a="http://schemas.openxmlformats.org/drawingml/2006/main" id="21" idx="3"/>
            <a:endCxn xmlns:a="http://schemas.openxmlformats.org/drawingml/2006/main" id="23" idx="1"/>
          </p:cNvCxnSpPr>
          <p:nvPr/>
        </p:nvCxnSpPr>
        <p:spPr>
          <a:xfrm xmlns:a="http://schemas.openxmlformats.org/drawingml/2006/main">
            <a:off x="6705600" y="3000375"/>
            <a:ext cx="28575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56" name=""/>
          <p:cNvCxnSpPr>
            <a:stCxn xmlns:a="http://schemas.openxmlformats.org/drawingml/2006/main" id="19" idx="3"/>
            <a:endCxn xmlns:a="http://schemas.openxmlformats.org/drawingml/2006/main" id="21" idx="1"/>
          </p:cNvCxnSpPr>
          <p:nvPr/>
        </p:nvCxnSpPr>
        <p:spPr>
          <a:xfrm xmlns:a="http://schemas.openxmlformats.org/drawingml/2006/main">
            <a:off x="4391025" y="3000375"/>
            <a:ext cx="28575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57" name=""/>
          <p:cNvCxnSpPr>
            <a:stCxn xmlns:a="http://schemas.openxmlformats.org/drawingml/2006/main" id="17" idx="3"/>
            <a:endCxn xmlns:a="http://schemas.openxmlformats.org/drawingml/2006/main" id="19" idx="1"/>
          </p:cNvCxnSpPr>
          <p:nvPr/>
        </p:nvCxnSpPr>
        <p:spPr>
          <a:xfrm xmlns:a="http://schemas.openxmlformats.org/drawingml/2006/main">
            <a:off x="2247900" y="3000375"/>
            <a:ext cx="28575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sp>
        <p:nvSpPr>
          <p:cNvPr id="58" name="">
            <a:extLst xmlns:a="http://schemas.openxmlformats.org/drawingml/2006/main">
              <a:ext uri="{FF2B5EF4-FFF2-40B4-BE49-F238E27FC236}">
                <a16:creationId xmlns:a16="http://schemas.microsoft.com/office/drawing/2014/main" id="{ECA36D07-6580-408C-9728-713DAA6A14B1}"/>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Production Needs a Control Loop</a:t>
            </a:r>
          </a:p>
        </p:txBody>
      </p:sp>
      <p:sp>
        <p:nvSpPr>
          <p:cNvPr id="2" name="">
            <a:extLst xmlns:a="http://schemas.openxmlformats.org/drawingml/2006/main">
              <a:ext uri="{FF2B5EF4-FFF2-40B4-BE49-F238E27FC236}">
                <a16:creationId xmlns:a16="http://schemas.microsoft.com/office/drawing/2014/main" id="{48160102-DE9C-419C-BB55-4775BC82B7B6}"/>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F73ADEA1-3275-43B4-828D-C90EB38BE290}"/>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5E24969C-70A7-4103-92F7-47E11DEC74D6}"/>
              </a:ext>
            </a:extLst>
          </p:cNvPr>
          <p:cNvSpPr>
            <a:spLocks xmlns:a="http://schemas.openxmlformats.org/drawingml/2006/main" noGrp="1"/>
          </p:cNvSpPr>
          <p:nvPr/>
        </p:nvSpPr>
        <p:spPr>
          <a:xfrm xmlns:a="http://schemas.openxmlformats.org/drawingml/2006/main">
            <a:off x="609600" y="11525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Validate control effectiveness. Telemetry alone does not establish correctness.</a:t>
            </a:r>
          </a:p>
        </p:txBody>
      </p:sp>
      <p:sp>
        <p:nvSpPr>
          <p:cNvPr id="5" name="">
            <a:extLst xmlns:a="http://schemas.openxmlformats.org/drawingml/2006/main">
              <a:ext uri="{FF2B5EF4-FFF2-40B4-BE49-F238E27FC236}">
                <a16:creationId xmlns:a16="http://schemas.microsoft.com/office/drawing/2014/main" id="{361F6340-3321-47C8-8F63-1E8A43E4684C}"/>
              </a:ext>
            </a:extLst>
          </p:cNvPr>
          <p:cNvSpPr>
            <a:spLocks xmlns:a="http://schemas.openxmlformats.org/drawingml/2006/main" noGrp="1"/>
          </p:cNvSpPr>
          <p:nvPr/>
        </p:nvSpPr>
        <p:spPr>
          <a:xfrm xmlns:a="http://schemas.openxmlformats.org/drawingml/2006/main">
            <a:off x="609600" y="1676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8C7F7"/>
                </a:solidFill>
                <a:latin typeface="Arial"/>
                <a:ea typeface="Arial"/>
                <a:cs typeface="Arial"/>
              </a:defRPr>
            </a:pPr>
            <a:r>
              <a:rPr sz="1575" b="1">
                <a:solidFill>
                  <a:srgbClr val="28C7F7"/>
                </a:solidFill>
                <a:latin typeface="Arial"/>
                <a:ea typeface="Arial"/>
                <a:cs typeface="Arial"/>
              </a:rPr>
              <a:t>ARCHITECT + DEV: implement · QA: verify · SERVICE OWNER: operate · PM: dependencies</a:t>
            </a:r>
          </a:p>
        </p:txBody>
      </p:sp>
      <p:sp>
        <p:nvSpPr>
          <p:cNvPr id="6" name="">
            <a:extLst xmlns:a="http://schemas.openxmlformats.org/drawingml/2006/main">
              <a:ext uri="{FF2B5EF4-FFF2-40B4-BE49-F238E27FC236}">
                <a16:creationId xmlns:a16="http://schemas.microsoft.com/office/drawing/2014/main" id="{20033E2A-E41E-4971-8762-AF2A872080EE}"/>
              </a:ext>
            </a:extLst>
          </p:cNvPr>
          <p:cNvSpPr>
            <a:spLocks xmlns:a="http://schemas.openxmlformats.org/drawingml/2006/main" noGrp="1"/>
          </p:cNvSpPr>
          <p:nvPr/>
        </p:nvSpPr>
        <p:spPr>
          <a:xfrm xmlns:a="http://schemas.openxmlformats.org/drawingml/2006/main">
            <a:off x="609600" y="20764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IT ASSISTANT: CONTROL BEFORE ACTION AND AFTER DEPLOYMENT</a:t>
            </a:r>
          </a:p>
        </p:txBody>
      </p:sp>
      <p:sp>
        <p:nvSpPr>
          <p:cNvPr id="7" name="">
            <a:extLst xmlns:a="http://schemas.openxmlformats.org/drawingml/2006/main">
              <a:ext uri="{FF2B5EF4-FFF2-40B4-BE49-F238E27FC236}">
                <a16:creationId xmlns:a16="http://schemas.microsoft.com/office/drawing/2014/main" id="{9680DD5A-7089-4073-BA25-70BC49D9673A}"/>
              </a:ext>
            </a:extLst>
          </p:cNvPr>
          <p:cNvSpPr>
            <a:spLocks xmlns:a="http://schemas.openxmlformats.org/drawingml/2006/main" noGrp="1"/>
          </p:cNvSpPr>
          <p:nvPr/>
        </p:nvSpPr>
        <p:spPr>
          <a:xfrm xmlns:a="http://schemas.openxmlformats.org/drawingml/2006/main">
            <a:off x="457200" y="2476500"/>
            <a:ext cx="5233988" cy="2033588"/>
          </a:xfrm>
          <a:custGeom xmlns:a="http://schemas.openxmlformats.org/drawingml/2006/main">
            <a:pathLst>
              <a:path w="5233988" h="2033588">
                <a:moveTo>
                  <a:pt x="152400" y="2033588"/>
                </a:moveTo>
                <a:lnTo>
                  <a:pt x="0" y="2033588"/>
                </a:lnTo>
                <a:lnTo>
                  <a:pt x="0" y="0"/>
                </a:lnTo>
                <a:lnTo>
                  <a:pt x="5233988" y="0"/>
                </a:lnTo>
                <a:lnTo>
                  <a:pt x="5233988" y="171450"/>
                </a:lnTo>
              </a:path>
            </a:pathLst>
          </a:custGeom>
          <a:noFill xmlns:a="http://schemas.openxmlformats.org/drawingml/2006/main"/>
          <a:ln xmlns:a="http://schemas.openxmlformats.org/drawingml/2006/main" w="19050">
            <a:solidFill>
              <a:srgbClr val="ADB8C5"/>
            </a:solidFill>
            <a:prstDash val="solid"/>
          </a:ln>
        </p:spPr>
      </p:sp>
      <p:sp>
        <p:nvSpPr>
          <p:cNvPr id="8" name="">
            <a:extLst xmlns:a="http://schemas.openxmlformats.org/drawingml/2006/main">
              <a:ext uri="{FF2B5EF4-FFF2-40B4-BE49-F238E27FC236}">
                <a16:creationId xmlns:a16="http://schemas.microsoft.com/office/drawing/2014/main" id="{D4D74EBC-E193-4F07-AC11-1A14D137C50D}"/>
              </a:ext>
            </a:extLst>
          </p:cNvPr>
          <p:cNvSpPr>
            <a:spLocks xmlns:a="http://schemas.openxmlformats.org/drawingml/2006/main" noGrp="1"/>
          </p:cNvSpPr>
          <p:nvPr/>
        </p:nvSpPr>
        <p:spPr>
          <a:xfrm xmlns:a="http://schemas.openxmlformats.org/drawingml/2006/main">
            <a:off x="5672138" y="2600325"/>
            <a:ext cx="38100" cy="47625"/>
          </a:xfrm>
          <a:custGeom xmlns:a="http://schemas.openxmlformats.org/drawingml/2006/main">
            <a:pathLst>
              <a:path w="38100" h="47625">
                <a:moveTo>
                  <a:pt x="19050" y="47625"/>
                </a:moveTo>
                <a:lnTo>
                  <a:pt x="0" y="0"/>
                </a:lnTo>
                <a:lnTo>
                  <a:pt x="38100" y="0"/>
                </a:lnTo>
                <a:close/>
              </a:path>
            </a:pathLst>
          </a:custGeom>
          <a:solidFill xmlns:a="http://schemas.openxmlformats.org/drawingml/2006/main">
            <a:srgbClr val="ADB8C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1E26D8D-2933-4429-9C02-FCF19F7C46B0}"/>
              </a:ext>
            </a:extLst>
          </p:cNvPr>
          <p:cNvSpPr>
            <a:spLocks xmlns:a="http://schemas.openxmlformats.org/drawingml/2006/main" noGrp="1"/>
          </p:cNvSpPr>
          <p:nvPr/>
        </p:nvSpPr>
        <p:spPr>
          <a:xfrm xmlns:a="http://schemas.openxmlformats.org/drawingml/2006/main">
            <a:off x="4657725" y="3352800"/>
            <a:ext cx="1033463" cy="828675"/>
          </a:xfrm>
          <a:custGeom xmlns:a="http://schemas.openxmlformats.org/drawingml/2006/main">
            <a:pathLst>
              <a:path w="1033463" h="828675">
                <a:moveTo>
                  <a:pt x="1033463" y="0"/>
                </a:moveTo>
                <a:lnTo>
                  <a:pt x="1033463" y="285750"/>
                </a:lnTo>
                <a:lnTo>
                  <a:pt x="0" y="285750"/>
                </a:lnTo>
                <a:lnTo>
                  <a:pt x="0" y="828675"/>
                </a:lnTo>
              </a:path>
            </a:pathLst>
          </a:custGeom>
          <a:noFill xmlns:a="http://schemas.openxmlformats.org/drawingml/2006/main"/>
          <a:ln xmlns:a="http://schemas.openxmlformats.org/drawingml/2006/main" w="19050">
            <a:solidFill>
              <a:srgbClr val="F5B61C"/>
            </a:solidFill>
            <a:prstDash val="solid"/>
          </a:ln>
        </p:spPr>
      </p:sp>
      <p:sp>
        <p:nvSpPr>
          <p:cNvPr id="10" name="">
            <a:extLst xmlns:a="http://schemas.openxmlformats.org/drawingml/2006/main">
              <a:ext uri="{FF2B5EF4-FFF2-40B4-BE49-F238E27FC236}">
                <a16:creationId xmlns:a16="http://schemas.microsoft.com/office/drawing/2014/main" id="{588197D6-DF42-466A-A0B0-6C93C5B0FBE1}"/>
              </a:ext>
            </a:extLst>
          </p:cNvPr>
          <p:cNvSpPr>
            <a:spLocks xmlns:a="http://schemas.openxmlformats.org/drawingml/2006/main" noGrp="1"/>
          </p:cNvSpPr>
          <p:nvPr/>
        </p:nvSpPr>
        <p:spPr>
          <a:xfrm xmlns:a="http://schemas.openxmlformats.org/drawingml/2006/main">
            <a:off x="4638675" y="4133850"/>
            <a:ext cx="38100" cy="47625"/>
          </a:xfrm>
          <a:custGeom xmlns:a="http://schemas.openxmlformats.org/drawingml/2006/main">
            <a:pathLst>
              <a:path w="38100" h="47625">
                <a:moveTo>
                  <a:pt x="19050" y="47625"/>
                </a:moveTo>
                <a:lnTo>
                  <a:pt x="0" y="0"/>
                </a:lnTo>
                <a:lnTo>
                  <a:pt x="38100" y="0"/>
                </a:lnTo>
                <a:close/>
              </a:path>
            </a:pathLst>
          </a:custGeom>
          <a:solidFill xmlns:a="http://schemas.openxmlformats.org/drawingml/2006/main">
            <a:srgbClr val="F5B61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5E8E3D-E4D6-4DFB-9F19-DB90B4635260}"/>
              </a:ext>
            </a:extLst>
          </p:cNvPr>
          <p:cNvSpPr>
            <a:spLocks xmlns:a="http://schemas.openxmlformats.org/drawingml/2006/main" noGrp="1"/>
          </p:cNvSpPr>
          <p:nvPr/>
        </p:nvSpPr>
        <p:spPr>
          <a:xfrm xmlns:a="http://schemas.openxmlformats.org/drawingml/2006/main">
            <a:off x="3462338" y="3352800"/>
            <a:ext cx="1195388" cy="828675"/>
          </a:xfrm>
          <a:custGeom xmlns:a="http://schemas.openxmlformats.org/drawingml/2006/main">
            <a:pathLst>
              <a:path w="1195388" h="828675">
                <a:moveTo>
                  <a:pt x="0" y="0"/>
                </a:moveTo>
                <a:lnTo>
                  <a:pt x="0" y="485775"/>
                </a:lnTo>
                <a:lnTo>
                  <a:pt x="1195388" y="485775"/>
                </a:lnTo>
                <a:lnTo>
                  <a:pt x="1195388" y="828675"/>
                </a:lnTo>
              </a:path>
            </a:pathLst>
          </a:custGeom>
          <a:noFill xmlns:a="http://schemas.openxmlformats.org/drawingml/2006/main"/>
          <a:ln xmlns:a="http://schemas.openxmlformats.org/drawingml/2006/main" w="19050">
            <a:solidFill>
              <a:srgbClr val="F5B61C"/>
            </a:solidFill>
            <a:prstDash val="solid"/>
          </a:ln>
        </p:spPr>
      </p:sp>
      <p:sp>
        <p:nvSpPr>
          <p:cNvPr id="12" name="">
            <a:extLst xmlns:a="http://schemas.openxmlformats.org/drawingml/2006/main">
              <a:ext uri="{FF2B5EF4-FFF2-40B4-BE49-F238E27FC236}">
                <a16:creationId xmlns:a16="http://schemas.microsoft.com/office/drawing/2014/main" id="{DF86F5B6-9E29-4D1D-AFF6-6D2DD88A8C84}"/>
              </a:ext>
            </a:extLst>
          </p:cNvPr>
          <p:cNvSpPr>
            <a:spLocks xmlns:a="http://schemas.openxmlformats.org/drawingml/2006/main" noGrp="1"/>
          </p:cNvSpPr>
          <p:nvPr/>
        </p:nvSpPr>
        <p:spPr>
          <a:xfrm xmlns:a="http://schemas.openxmlformats.org/drawingml/2006/main">
            <a:off x="4638675" y="4133850"/>
            <a:ext cx="38100" cy="47625"/>
          </a:xfrm>
          <a:custGeom xmlns:a="http://schemas.openxmlformats.org/drawingml/2006/main">
            <a:pathLst>
              <a:path w="38100" h="47625">
                <a:moveTo>
                  <a:pt x="19050" y="47625"/>
                </a:moveTo>
                <a:lnTo>
                  <a:pt x="0" y="0"/>
                </a:lnTo>
                <a:lnTo>
                  <a:pt x="38100" y="0"/>
                </a:lnTo>
                <a:close/>
              </a:path>
            </a:pathLst>
          </a:custGeom>
          <a:solidFill xmlns:a="http://schemas.openxmlformats.org/drawingml/2006/main">
            <a:srgbClr val="F5B61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7038968-D9CB-4838-BE9B-73C7B8E9FD9E}"/>
              </a:ext>
            </a:extLst>
          </p:cNvPr>
          <p:cNvSpPr>
            <a:spLocks xmlns:a="http://schemas.openxmlformats.org/drawingml/2006/main" noGrp="1"/>
          </p:cNvSpPr>
          <p:nvPr/>
        </p:nvSpPr>
        <p:spPr>
          <a:xfrm xmlns:a="http://schemas.openxmlformats.org/drawingml/2006/main">
            <a:off x="7534275" y="3352800"/>
            <a:ext cx="438150" cy="828675"/>
          </a:xfrm>
          <a:custGeom xmlns:a="http://schemas.openxmlformats.org/drawingml/2006/main">
            <a:pathLst>
              <a:path w="438150" h="828675">
                <a:moveTo>
                  <a:pt x="0" y="828675"/>
                </a:moveTo>
                <a:lnTo>
                  <a:pt x="0" y="571500"/>
                </a:lnTo>
                <a:lnTo>
                  <a:pt x="438150" y="571500"/>
                </a:lnTo>
                <a:lnTo>
                  <a:pt x="438150" y="0"/>
                </a:lnTo>
              </a:path>
            </a:pathLst>
          </a:custGeom>
          <a:noFill xmlns:a="http://schemas.openxmlformats.org/drawingml/2006/main"/>
          <a:ln xmlns:a="http://schemas.openxmlformats.org/drawingml/2006/main" w="19050">
            <a:solidFill>
              <a:srgbClr val="F5B61C"/>
            </a:solidFill>
            <a:prstDash val="solid"/>
          </a:ln>
        </p:spPr>
      </p:sp>
      <p:sp>
        <p:nvSpPr>
          <p:cNvPr id="14" name="">
            <a:extLst xmlns:a="http://schemas.openxmlformats.org/drawingml/2006/main">
              <a:ext uri="{FF2B5EF4-FFF2-40B4-BE49-F238E27FC236}">
                <a16:creationId xmlns:a16="http://schemas.microsoft.com/office/drawing/2014/main" id="{353403E0-8554-4C4D-B75D-2494DD8DA549}"/>
              </a:ext>
            </a:extLst>
          </p:cNvPr>
          <p:cNvSpPr>
            <a:spLocks xmlns:a="http://schemas.openxmlformats.org/drawingml/2006/main" noGrp="1"/>
          </p:cNvSpPr>
          <p:nvPr/>
        </p:nvSpPr>
        <p:spPr>
          <a:xfrm xmlns:a="http://schemas.openxmlformats.org/drawingml/2006/main">
            <a:off x="7953375" y="3352800"/>
            <a:ext cx="38100" cy="47625"/>
          </a:xfrm>
          <a:custGeom xmlns:a="http://schemas.openxmlformats.org/drawingml/2006/main">
            <a:pathLst>
              <a:path w="38100" h="47625">
                <a:moveTo>
                  <a:pt x="19050" y="0"/>
                </a:moveTo>
                <a:lnTo>
                  <a:pt x="38100" y="47625"/>
                </a:lnTo>
                <a:lnTo>
                  <a:pt x="0" y="47625"/>
                </a:lnTo>
                <a:close/>
              </a:path>
            </a:pathLst>
          </a:custGeom>
          <a:solidFill xmlns:a="http://schemas.openxmlformats.org/drawingml/2006/main">
            <a:srgbClr val="F5B61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EE6728-9E8D-4B89-9E26-874D0821BA11}"/>
              </a:ext>
            </a:extLst>
          </p:cNvPr>
          <p:cNvSpPr>
            <a:spLocks xmlns:a="http://schemas.openxmlformats.org/drawingml/2006/main" noGrp="1"/>
          </p:cNvSpPr>
          <p:nvPr/>
        </p:nvSpPr>
        <p:spPr>
          <a:xfrm xmlns:a="http://schemas.openxmlformats.org/drawingml/2006/main">
            <a:off x="5829300" y="3000375"/>
            <a:ext cx="5886450" cy="1914525"/>
          </a:xfrm>
          <a:custGeom xmlns:a="http://schemas.openxmlformats.org/drawingml/2006/main">
            <a:pathLst>
              <a:path w="5886450" h="1914525">
                <a:moveTo>
                  <a:pt x="0" y="1509713"/>
                </a:moveTo>
                <a:lnTo>
                  <a:pt x="247650" y="1509713"/>
                </a:lnTo>
                <a:lnTo>
                  <a:pt x="247650" y="1914525"/>
                </a:lnTo>
                <a:lnTo>
                  <a:pt x="5886450" y="1914525"/>
                </a:lnTo>
                <a:lnTo>
                  <a:pt x="5886450" y="0"/>
                </a:lnTo>
                <a:lnTo>
                  <a:pt x="5753100" y="0"/>
                </a:lnTo>
              </a:path>
            </a:pathLst>
          </a:custGeom>
          <a:noFill xmlns:a="http://schemas.openxmlformats.org/drawingml/2006/main"/>
          <a:ln xmlns:a="http://schemas.openxmlformats.org/drawingml/2006/main" w="16193">
            <a:solidFill>
              <a:srgbClr val="28C7F7"/>
            </a:solidFill>
            <a:prstDash val="dash"/>
          </a:ln>
        </p:spPr>
      </p:sp>
      <p:sp>
        <p:nvSpPr>
          <p:cNvPr id="16" name="">
            <a:extLst xmlns:a="http://schemas.openxmlformats.org/drawingml/2006/main">
              <a:ext uri="{FF2B5EF4-FFF2-40B4-BE49-F238E27FC236}">
                <a16:creationId xmlns:a16="http://schemas.microsoft.com/office/drawing/2014/main" id="{A5EEFCA0-3E65-46C4-B18F-4B8F7A5D97A9}"/>
              </a:ext>
            </a:extLst>
          </p:cNvPr>
          <p:cNvSpPr>
            <a:spLocks xmlns:a="http://schemas.openxmlformats.org/drawingml/2006/main" noGrp="1"/>
          </p:cNvSpPr>
          <p:nvPr/>
        </p:nvSpPr>
        <p:spPr>
          <a:xfrm xmlns:a="http://schemas.openxmlformats.org/drawingml/2006/main">
            <a:off x="11582400" y="2981325"/>
            <a:ext cx="47625" cy="38100"/>
          </a:xfrm>
          <a:custGeom xmlns:a="http://schemas.openxmlformats.org/drawingml/2006/main">
            <a:pathLst>
              <a:path w="47625" h="38100">
                <a:moveTo>
                  <a:pt x="0" y="19050"/>
                </a:moveTo>
                <a:lnTo>
                  <a:pt x="47625" y="0"/>
                </a:lnTo>
                <a:lnTo>
                  <a:pt x="47625" y="38100"/>
                </a:lnTo>
                <a:close/>
              </a:path>
            </a:pathLst>
          </a:custGeom>
          <a:solidFill xmlns:a="http://schemas.openxmlformats.org/drawingml/2006/main">
            <a:srgbClr val="28C7F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95CC401-F4F5-451A-AACA-166DD44F8AD1}"/>
              </a:ext>
            </a:extLst>
          </p:cNvPr>
          <p:cNvSpPr>
            <a:spLocks xmlns:a="http://schemas.openxmlformats.org/drawingml/2006/main" noGrp="1"/>
          </p:cNvSpPr>
          <p:nvPr/>
        </p:nvSpPr>
        <p:spPr>
          <a:xfrm xmlns:a="http://schemas.openxmlformats.org/drawingml/2006/main">
            <a:off x="609600" y="2647950"/>
            <a:ext cx="1638300" cy="70485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8" name="">
            <a:extLst xmlns:a="http://schemas.openxmlformats.org/drawingml/2006/main">
              <a:ext uri="{FF2B5EF4-FFF2-40B4-BE49-F238E27FC236}">
                <a16:creationId xmlns:a16="http://schemas.microsoft.com/office/drawing/2014/main" id="{C08594D2-1D80-449E-ACD9-C874A78AD400}"/>
              </a:ext>
            </a:extLst>
          </p:cNvPr>
          <p:cNvSpPr>
            <a:spLocks xmlns:a="http://schemas.openxmlformats.org/drawingml/2006/main" noGrp="1"/>
          </p:cNvSpPr>
          <p:nvPr/>
        </p:nvSpPr>
        <p:spPr>
          <a:xfrm xmlns:a="http://schemas.openxmlformats.org/drawingml/2006/main">
            <a:off x="723900" y="2724150"/>
            <a:ext cx="140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Model</a:t>
            </a:r>
          </a:p>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proposal</a:t>
            </a:r>
          </a:p>
        </p:txBody>
      </p:sp>
      <p:sp>
        <p:nvSpPr>
          <p:cNvPr id="19" name="">
            <a:extLst xmlns:a="http://schemas.openxmlformats.org/drawingml/2006/main">
              <a:ext uri="{FF2B5EF4-FFF2-40B4-BE49-F238E27FC236}">
                <a16:creationId xmlns:a16="http://schemas.microsoft.com/office/drawing/2014/main" id="{B0BCF35A-7B4C-44D3-9B21-A741B3587FFE}"/>
              </a:ext>
            </a:extLst>
          </p:cNvPr>
          <p:cNvSpPr>
            <a:spLocks xmlns:a="http://schemas.openxmlformats.org/drawingml/2006/main" noGrp="1"/>
          </p:cNvSpPr>
          <p:nvPr/>
        </p:nvSpPr>
        <p:spPr>
          <a:xfrm xmlns:a="http://schemas.openxmlformats.org/drawingml/2006/main">
            <a:off x="2533650" y="2647950"/>
            <a:ext cx="1857375" cy="70485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20" name="">
            <a:extLst xmlns:a="http://schemas.openxmlformats.org/drawingml/2006/main">
              <a:ext uri="{FF2B5EF4-FFF2-40B4-BE49-F238E27FC236}">
                <a16:creationId xmlns:a16="http://schemas.microsoft.com/office/drawing/2014/main" id="{FD5F5064-8EE0-4A3E-9686-BB8C499CD584}"/>
              </a:ext>
            </a:extLst>
          </p:cNvPr>
          <p:cNvSpPr>
            <a:spLocks xmlns:a="http://schemas.openxmlformats.org/drawingml/2006/main" noGrp="1"/>
          </p:cNvSpPr>
          <p:nvPr/>
        </p:nvSpPr>
        <p:spPr>
          <a:xfrm xmlns:a="http://schemas.openxmlformats.org/drawingml/2006/main">
            <a:off x="2628900" y="2695575"/>
            <a:ext cx="1666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Semantic check</a:t>
            </a:r>
          </a:p>
          <a:p xmlns:a="http://schemas.openxmlformats.org/drawingml/2006/main">
            <a:pPr algn="ctr">
              <a:defRPr sz="1500" b="1">
                <a:solidFill>
                  <a:srgbClr val="F4F7FA"/>
                </a:solidFill>
                <a:latin typeface="Arial"/>
                <a:ea typeface="Arial"/>
                <a:cs typeface="Arial"/>
              </a:defRPr>
            </a:pPr>
            <a:r>
              <a:rPr sz="1350" b="1">
                <a:solidFill>
                  <a:srgbClr val="F4F7FA"/>
                </a:solidFill>
                <a:latin typeface="Arial"/>
                <a:ea typeface="Arial"/>
                <a:cs typeface="Arial"/>
              </a:rPr>
              <a:t>against criteria</a:t>
            </a:r>
          </a:p>
          <a:p xmlns:a="http://schemas.openxmlformats.org/drawingml/2006/main">
            <a:pPr algn="ctr">
              <a:defRPr sz="1500" b="1">
                <a:solidFill>
                  <a:srgbClr val="F4F7FA"/>
                </a:solidFill>
                <a:latin typeface="Arial"/>
                <a:ea typeface="Arial"/>
                <a:cs typeface="Arial"/>
              </a:defRPr>
            </a:pPr>
            <a:r>
              <a:rPr sz="1200" b="0">
                <a:solidFill>
                  <a:srgbClr val="ADB8C5"/>
                </a:solidFill>
                <a:latin typeface="Arial"/>
                <a:ea typeface="Arial"/>
                <a:cs typeface="Arial"/>
              </a:rPr>
              <a:t>(fallible)</a:t>
            </a:r>
          </a:p>
        </p:txBody>
      </p:sp>
      <p:sp>
        <p:nvSpPr>
          <p:cNvPr id="21" name="">
            <a:extLst xmlns:a="http://schemas.openxmlformats.org/drawingml/2006/main">
              <a:ext uri="{FF2B5EF4-FFF2-40B4-BE49-F238E27FC236}">
                <a16:creationId xmlns:a16="http://schemas.microsoft.com/office/drawing/2014/main" id="{8260888C-A6B7-43AE-9161-02CB471B2C32}"/>
              </a:ext>
            </a:extLst>
          </p:cNvPr>
          <p:cNvSpPr>
            <a:spLocks xmlns:a="http://schemas.openxmlformats.org/drawingml/2006/main" noGrp="1"/>
          </p:cNvSpPr>
          <p:nvPr/>
        </p:nvSpPr>
        <p:spPr>
          <a:xfrm xmlns:a="http://schemas.openxmlformats.org/drawingml/2006/main">
            <a:off x="4676775" y="2647950"/>
            <a:ext cx="2028825" cy="70485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22" name="">
            <a:extLst xmlns:a="http://schemas.openxmlformats.org/drawingml/2006/main">
              <a:ext uri="{FF2B5EF4-FFF2-40B4-BE49-F238E27FC236}">
                <a16:creationId xmlns:a16="http://schemas.microsoft.com/office/drawing/2014/main" id="{CA38270F-3CA2-4F87-B4AD-2A22600ABA8F}"/>
              </a:ext>
            </a:extLst>
          </p:cNvPr>
          <p:cNvSpPr>
            <a:spLocks xmlns:a="http://schemas.openxmlformats.org/drawingml/2006/main" noGrp="1"/>
          </p:cNvSpPr>
          <p:nvPr/>
        </p:nvSpPr>
        <p:spPr>
          <a:xfrm xmlns:a="http://schemas.openxmlformats.org/drawingml/2006/main">
            <a:off x="4791075" y="2724150"/>
            <a:ext cx="1800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Check permissions</a:t>
            </a:r>
          </a:p>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 required approval</a:t>
            </a:r>
          </a:p>
        </p:txBody>
      </p:sp>
      <p:sp>
        <p:nvSpPr>
          <p:cNvPr id="23" name="">
            <a:extLst xmlns:a="http://schemas.openxmlformats.org/drawingml/2006/main">
              <a:ext uri="{FF2B5EF4-FFF2-40B4-BE49-F238E27FC236}">
                <a16:creationId xmlns:a16="http://schemas.microsoft.com/office/drawing/2014/main" id="{FF3F7AC0-5091-463B-A370-81AA756167CE}"/>
              </a:ext>
            </a:extLst>
          </p:cNvPr>
          <p:cNvSpPr>
            <a:spLocks xmlns:a="http://schemas.openxmlformats.org/drawingml/2006/main" noGrp="1"/>
          </p:cNvSpPr>
          <p:nvPr/>
        </p:nvSpPr>
        <p:spPr>
          <a:xfrm xmlns:a="http://schemas.openxmlformats.org/drawingml/2006/main">
            <a:off x="6991350" y="2647950"/>
            <a:ext cx="1962150" cy="70485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24" name="">
            <a:extLst xmlns:a="http://schemas.openxmlformats.org/drawingml/2006/main">
              <a:ext uri="{FF2B5EF4-FFF2-40B4-BE49-F238E27FC236}">
                <a16:creationId xmlns:a16="http://schemas.microsoft.com/office/drawing/2014/main" id="{C425A202-CE4D-44DB-B22E-BDAACCBECCB1}"/>
              </a:ext>
            </a:extLst>
          </p:cNvPr>
          <p:cNvSpPr>
            <a:spLocks xmlns:a="http://schemas.openxmlformats.org/drawingml/2006/main" noGrp="1"/>
          </p:cNvSpPr>
          <p:nvPr/>
        </p:nvSpPr>
        <p:spPr>
          <a:xfrm xmlns:a="http://schemas.openxmlformats.org/drawingml/2006/main">
            <a:off x="7086600" y="2724150"/>
            <a:ext cx="177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Deliver / execute</a:t>
            </a:r>
          </a:p>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allowed result</a:t>
            </a:r>
          </a:p>
        </p:txBody>
      </p:sp>
      <p:sp>
        <p:nvSpPr>
          <p:cNvPr id="25" name="">
            <a:extLst xmlns:a="http://schemas.openxmlformats.org/drawingml/2006/main">
              <a:ext uri="{FF2B5EF4-FFF2-40B4-BE49-F238E27FC236}">
                <a16:creationId xmlns:a16="http://schemas.microsoft.com/office/drawing/2014/main" id="{2959CB14-5198-406F-936B-0CE5AC6AE1DD}"/>
              </a:ext>
            </a:extLst>
          </p:cNvPr>
          <p:cNvSpPr>
            <a:spLocks xmlns:a="http://schemas.openxmlformats.org/drawingml/2006/main" noGrp="1"/>
          </p:cNvSpPr>
          <p:nvPr/>
        </p:nvSpPr>
        <p:spPr>
          <a:xfrm xmlns:a="http://schemas.openxmlformats.org/drawingml/2006/main">
            <a:off x="9239250" y="2647950"/>
            <a:ext cx="2343150" cy="70485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26" name="">
            <a:extLst xmlns:a="http://schemas.openxmlformats.org/drawingml/2006/main">
              <a:ext uri="{FF2B5EF4-FFF2-40B4-BE49-F238E27FC236}">
                <a16:creationId xmlns:a16="http://schemas.microsoft.com/office/drawing/2014/main" id="{04CC258C-AC4E-42D4-9F17-DC3C73A326C2}"/>
              </a:ext>
            </a:extLst>
          </p:cNvPr>
          <p:cNvSpPr>
            <a:spLocks xmlns:a="http://schemas.openxmlformats.org/drawingml/2006/main" noGrp="1"/>
          </p:cNvSpPr>
          <p:nvPr/>
        </p:nvSpPr>
        <p:spPr>
          <a:xfrm xmlns:a="http://schemas.openxmlformats.org/drawingml/2006/main">
            <a:off x="9353550" y="2724150"/>
            <a:ext cx="2114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Observe all paths</a:t>
            </a:r>
          </a:p>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 control health</a:t>
            </a:r>
          </a:p>
        </p:txBody>
      </p:sp>
      <p:sp>
        <p:nvSpPr>
          <p:cNvPr id="31" name="">
            <a:extLst xmlns:a="http://schemas.openxmlformats.org/drawingml/2006/main">
              <a:ext uri="{FF2B5EF4-FFF2-40B4-BE49-F238E27FC236}">
                <a16:creationId xmlns:a16="http://schemas.microsoft.com/office/drawing/2014/main" id="{53F7C771-9BCC-4663-A342-55394DA9FF7F}"/>
              </a:ext>
            </a:extLst>
          </p:cNvPr>
          <p:cNvSpPr>
            <a:spLocks xmlns:a="http://schemas.openxmlformats.org/drawingml/2006/main" noGrp="1"/>
          </p:cNvSpPr>
          <p:nvPr/>
        </p:nvSpPr>
        <p:spPr>
          <a:xfrm xmlns:a="http://schemas.openxmlformats.org/drawingml/2006/main">
            <a:off x="609600" y="4181475"/>
            <a:ext cx="2343150" cy="657225"/>
          </a:xfrm>
          <a:prstGeom xmlns:a="http://schemas.openxmlformats.org/drawingml/2006/main" prst="rect">
            <a:avLst/>
          </a:prstGeom>
          <a:solidFill xmlns:a="http://schemas.openxmlformats.org/drawingml/2006/main">
            <a:srgbClr val="141C26"/>
          </a:solidFill>
          <a:ln xmlns:a="http://schemas.openxmlformats.org/drawingml/2006/main" w="14288">
            <a:solidFill>
              <a:srgbClr val="ADB8C5"/>
            </a:solidFill>
            <a:prstDash val="solid"/>
          </a:ln>
        </p:spPr>
      </p:sp>
      <p:sp>
        <p:nvSpPr>
          <p:cNvPr id="32" name="">
            <a:extLst xmlns:a="http://schemas.openxmlformats.org/drawingml/2006/main">
              <a:ext uri="{FF2B5EF4-FFF2-40B4-BE49-F238E27FC236}">
                <a16:creationId xmlns:a16="http://schemas.microsoft.com/office/drawing/2014/main" id="{97D1907B-0F2B-423A-8DEA-21F021A3B437}"/>
              </a:ext>
            </a:extLst>
          </p:cNvPr>
          <p:cNvSpPr>
            <a:spLocks xmlns:a="http://schemas.openxmlformats.org/drawingml/2006/main" noGrp="1"/>
          </p:cNvSpPr>
          <p:nvPr/>
        </p:nvSpPr>
        <p:spPr>
          <a:xfrm xmlns:a="http://schemas.openxmlformats.org/drawingml/2006/main">
            <a:off x="723900" y="4257675"/>
            <a:ext cx="2114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Human authority</a:t>
            </a:r>
          </a:p>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when required</a:t>
            </a:r>
          </a:p>
        </p:txBody>
      </p:sp>
      <p:sp>
        <p:nvSpPr>
          <p:cNvPr id="33" name="">
            <a:extLst xmlns:a="http://schemas.openxmlformats.org/drawingml/2006/main">
              <a:ext uri="{FF2B5EF4-FFF2-40B4-BE49-F238E27FC236}">
                <a16:creationId xmlns:a16="http://schemas.microsoft.com/office/drawing/2014/main" id="{72A8325A-D9A6-4263-94CC-AEFC048314D1}"/>
              </a:ext>
            </a:extLst>
          </p:cNvPr>
          <p:cNvSpPr>
            <a:spLocks xmlns:a="http://schemas.openxmlformats.org/drawingml/2006/main" noGrp="1"/>
          </p:cNvSpPr>
          <p:nvPr/>
        </p:nvSpPr>
        <p:spPr>
          <a:xfrm xmlns:a="http://schemas.openxmlformats.org/drawingml/2006/main">
            <a:off x="609600" y="4886325"/>
            <a:ext cx="2343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Evidence, decision rights,</a:t>
            </a:r>
          </a:p>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competence, time and capacity</a:t>
            </a:r>
          </a:p>
        </p:txBody>
      </p:sp>
      <p:sp>
        <p:nvSpPr>
          <p:cNvPr id="34" name="">
            <a:extLst xmlns:a="http://schemas.openxmlformats.org/drawingml/2006/main">
              <a:ext uri="{FF2B5EF4-FFF2-40B4-BE49-F238E27FC236}">
                <a16:creationId xmlns:a16="http://schemas.microsoft.com/office/drawing/2014/main" id="{6A06332A-C360-46F6-A741-63D0D8A32041}"/>
              </a:ext>
            </a:extLst>
          </p:cNvPr>
          <p:cNvSpPr>
            <a:spLocks xmlns:a="http://schemas.openxmlformats.org/drawingml/2006/main" noGrp="1"/>
          </p:cNvSpPr>
          <p:nvPr/>
        </p:nvSpPr>
        <p:spPr>
          <a:xfrm xmlns:a="http://schemas.openxmlformats.org/drawingml/2006/main">
            <a:off x="3486150" y="4181475"/>
            <a:ext cx="2343150" cy="657225"/>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35" name="">
            <a:extLst xmlns:a="http://schemas.openxmlformats.org/drawingml/2006/main">
              <a:ext uri="{FF2B5EF4-FFF2-40B4-BE49-F238E27FC236}">
                <a16:creationId xmlns:a16="http://schemas.microsoft.com/office/drawing/2014/main" id="{7E23C44A-5F14-42C1-84FC-47256A36EFCF}"/>
              </a:ext>
            </a:extLst>
          </p:cNvPr>
          <p:cNvSpPr>
            <a:spLocks xmlns:a="http://schemas.openxmlformats.org/drawingml/2006/main" noGrp="1"/>
          </p:cNvSpPr>
          <p:nvPr/>
        </p:nvSpPr>
        <p:spPr>
          <a:xfrm xmlns:a="http://schemas.openxmlformats.org/drawingml/2006/main">
            <a:off x="3600450" y="4257675"/>
            <a:ext cx="2114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Deny / safe fallback</a:t>
            </a:r>
          </a:p>
        </p:txBody>
      </p:sp>
      <p:sp>
        <p:nvSpPr>
          <p:cNvPr id="36" name="">
            <a:extLst xmlns:a="http://schemas.openxmlformats.org/drawingml/2006/main">
              <a:ext uri="{FF2B5EF4-FFF2-40B4-BE49-F238E27FC236}">
                <a16:creationId xmlns:a16="http://schemas.microsoft.com/office/drawing/2014/main" id="{D5C0A306-7177-46CC-8243-E461AC299B1C}"/>
              </a:ext>
            </a:extLst>
          </p:cNvPr>
          <p:cNvSpPr>
            <a:spLocks xmlns:a="http://schemas.openxmlformats.org/drawingml/2006/main" noGrp="1"/>
          </p:cNvSpPr>
          <p:nvPr/>
        </p:nvSpPr>
        <p:spPr>
          <a:xfrm xmlns:a="http://schemas.openxmlformats.org/drawingml/2006/main">
            <a:off x="4791075" y="3695700"/>
            <a:ext cx="1495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F5B61C"/>
                </a:solidFill>
                <a:latin typeface="Arial"/>
                <a:ea typeface="Arial"/>
                <a:cs typeface="Arial"/>
              </a:defRPr>
            </a:pPr>
            <a:r>
              <a:rPr sz="1200" b="0">
                <a:solidFill>
                  <a:srgbClr val="F5B61C"/>
                </a:solidFill>
                <a:latin typeface="Arial"/>
                <a:ea typeface="Arial"/>
                <a:cs typeface="Arial"/>
              </a:rPr>
              <a:t>Rejected / denied</a:t>
            </a:r>
          </a:p>
          <a:p xmlns:a="http://schemas.openxmlformats.org/drawingml/2006/main">
            <a:pPr algn="l">
              <a:defRPr sz="1200" b="0">
                <a:solidFill>
                  <a:srgbClr val="F5B61C"/>
                </a:solidFill>
                <a:latin typeface="Arial"/>
                <a:ea typeface="Arial"/>
                <a:cs typeface="Arial"/>
              </a:defRPr>
            </a:pPr>
            <a:r>
              <a:rPr sz="1200" b="0">
                <a:solidFill>
                  <a:srgbClr val="F5B61C"/>
                </a:solidFill>
                <a:latin typeface="Arial"/>
                <a:ea typeface="Arial"/>
                <a:cs typeface="Arial"/>
              </a:rPr>
              <a:t>or unavailable</a:t>
            </a:r>
          </a:p>
        </p:txBody>
      </p:sp>
      <p:sp>
        <p:nvSpPr>
          <p:cNvPr id="37" name="">
            <a:extLst xmlns:a="http://schemas.openxmlformats.org/drawingml/2006/main">
              <a:ext uri="{FF2B5EF4-FFF2-40B4-BE49-F238E27FC236}">
                <a16:creationId xmlns:a16="http://schemas.microsoft.com/office/drawing/2014/main" id="{7AEBA66A-0152-47FA-B647-54A77D81ABD8}"/>
              </a:ext>
            </a:extLst>
          </p:cNvPr>
          <p:cNvSpPr>
            <a:spLocks xmlns:a="http://schemas.openxmlformats.org/drawingml/2006/main" noGrp="1"/>
          </p:cNvSpPr>
          <p:nvPr/>
        </p:nvSpPr>
        <p:spPr>
          <a:xfrm xmlns:a="http://schemas.openxmlformats.org/drawingml/2006/main">
            <a:off x="9239250" y="4181475"/>
            <a:ext cx="2343150" cy="657225"/>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38" name="">
            <a:extLst xmlns:a="http://schemas.openxmlformats.org/drawingml/2006/main">
              <a:ext uri="{FF2B5EF4-FFF2-40B4-BE49-F238E27FC236}">
                <a16:creationId xmlns:a16="http://schemas.microsoft.com/office/drawing/2014/main" id="{4C01ADCE-6153-4C42-AA1F-F741DE355820}"/>
              </a:ext>
            </a:extLst>
          </p:cNvPr>
          <p:cNvSpPr>
            <a:spLocks xmlns:a="http://schemas.openxmlformats.org/drawingml/2006/main" noGrp="1"/>
          </p:cNvSpPr>
          <p:nvPr/>
        </p:nvSpPr>
        <p:spPr>
          <a:xfrm xmlns:a="http://schemas.openxmlformats.org/drawingml/2006/main">
            <a:off x="9353550" y="4257675"/>
            <a:ext cx="2114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Compare with limits</a:t>
            </a:r>
          </a:p>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Authorize correction</a:t>
            </a:r>
          </a:p>
        </p:txBody>
      </p:sp>
      <p:sp>
        <p:nvSpPr>
          <p:cNvPr id="39" name="">
            <a:extLst xmlns:a="http://schemas.openxmlformats.org/drawingml/2006/main">
              <a:ext uri="{FF2B5EF4-FFF2-40B4-BE49-F238E27FC236}">
                <a16:creationId xmlns:a16="http://schemas.microsoft.com/office/drawing/2014/main" id="{5ACFEEF2-2905-4FA4-A485-81B500EA7976}"/>
              </a:ext>
            </a:extLst>
          </p:cNvPr>
          <p:cNvSpPr>
            <a:spLocks xmlns:a="http://schemas.openxmlformats.org/drawingml/2006/main" noGrp="1"/>
          </p:cNvSpPr>
          <p:nvPr/>
        </p:nvSpPr>
        <p:spPr>
          <a:xfrm xmlns:a="http://schemas.openxmlformats.org/drawingml/2006/main">
            <a:off x="6362700" y="4181475"/>
            <a:ext cx="2343150" cy="657225"/>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40" name="">
            <a:extLst xmlns:a="http://schemas.openxmlformats.org/drawingml/2006/main">
              <a:ext uri="{FF2B5EF4-FFF2-40B4-BE49-F238E27FC236}">
                <a16:creationId xmlns:a16="http://schemas.microsoft.com/office/drawing/2014/main" id="{DFD9468A-0F57-46F0-B842-35DC38FA0850}"/>
              </a:ext>
            </a:extLst>
          </p:cNvPr>
          <p:cNvSpPr>
            <a:spLocks xmlns:a="http://schemas.openxmlformats.org/drawingml/2006/main" noGrp="1"/>
          </p:cNvSpPr>
          <p:nvPr/>
        </p:nvSpPr>
        <p:spPr>
          <a:xfrm xmlns:a="http://schemas.openxmlformats.org/drawingml/2006/main">
            <a:off x="6477000" y="4257675"/>
            <a:ext cx="2114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Stop / narrow</a:t>
            </a:r>
          </a:p>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Disable tools</a:t>
            </a:r>
          </a:p>
        </p:txBody>
      </p:sp>
      <p:sp>
        <p:nvSpPr>
          <p:cNvPr id="43" name="">
            <a:extLst xmlns:a="http://schemas.openxmlformats.org/drawingml/2006/main">
              <a:ext uri="{FF2B5EF4-FFF2-40B4-BE49-F238E27FC236}">
                <a16:creationId xmlns:a16="http://schemas.microsoft.com/office/drawing/2014/main" id="{F8E54E47-A7D5-43AF-987F-3E6176367731}"/>
              </a:ext>
            </a:extLst>
          </p:cNvPr>
          <p:cNvSpPr>
            <a:spLocks xmlns:a="http://schemas.openxmlformats.org/drawingml/2006/main" noGrp="1"/>
          </p:cNvSpPr>
          <p:nvPr/>
        </p:nvSpPr>
        <p:spPr>
          <a:xfrm xmlns:a="http://schemas.openxmlformats.org/drawingml/2006/main">
            <a:off x="3314700" y="4972050"/>
            <a:ext cx="826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Check access before disclosure. Feedback cannot undo an irreversible effect.</a:t>
            </a:r>
          </a:p>
        </p:txBody>
      </p:sp>
      <p:sp>
        <p:nvSpPr>
          <p:cNvPr id="44" name="">
            <a:extLst xmlns:a="http://schemas.openxmlformats.org/drawingml/2006/main">
              <a:ext uri="{FF2B5EF4-FFF2-40B4-BE49-F238E27FC236}">
                <a16:creationId xmlns:a16="http://schemas.microsoft.com/office/drawing/2014/main" id="{2881E5CF-6BB5-410E-9567-D66ACDE22330}"/>
              </a:ext>
            </a:extLst>
          </p:cNvPr>
          <p:cNvSpPr>
            <a:spLocks xmlns:a="http://schemas.openxmlformats.org/drawingml/2006/main" noGrp="1"/>
          </p:cNvSpPr>
          <p:nvPr/>
        </p:nvSpPr>
        <p:spPr>
          <a:xfrm xmlns:a="http://schemas.openxmlformats.org/drawingml/2006/main" flipH="0" flipV="0">
            <a:off x="609600" y="54102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45" name="">
            <a:extLst xmlns:a="http://schemas.openxmlformats.org/drawingml/2006/main">
              <a:ext uri="{FF2B5EF4-FFF2-40B4-BE49-F238E27FC236}">
                <a16:creationId xmlns:a16="http://schemas.microsoft.com/office/drawing/2014/main" id="{89A30CFC-C568-4036-B8B0-A380A8F4CDDC}"/>
              </a:ext>
            </a:extLst>
          </p:cNvPr>
          <p:cNvSpPr>
            <a:spLocks xmlns:a="http://schemas.openxmlformats.org/drawingml/2006/main" noGrp="1"/>
          </p:cNvSpPr>
          <p:nvPr/>
        </p:nvSpPr>
        <p:spPr>
          <a:xfrm xmlns:a="http://schemas.openxmlformats.org/drawingml/2006/main">
            <a:off x="609600" y="55054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LATENCY &amp; PEOPLE</a:t>
            </a:r>
          </a:p>
        </p:txBody>
      </p:sp>
      <p:sp>
        <p:nvSpPr>
          <p:cNvPr id="46" name="">
            <a:extLst xmlns:a="http://schemas.openxmlformats.org/drawingml/2006/main">
              <a:ext uri="{FF2B5EF4-FFF2-40B4-BE49-F238E27FC236}">
                <a16:creationId xmlns:a16="http://schemas.microsoft.com/office/drawing/2014/main" id="{8F9B6298-DA45-405E-9ADA-952F2EA9A686}"/>
              </a:ext>
            </a:extLst>
          </p:cNvPr>
          <p:cNvSpPr>
            <a:spLocks xmlns:a="http://schemas.openxmlformats.org/drawingml/2006/main" noGrp="1"/>
          </p:cNvSpPr>
          <p:nvPr/>
        </p:nvSpPr>
        <p:spPr>
          <a:xfrm xmlns:a="http://schemas.openxmlformats.org/drawingml/2006/main">
            <a:off x="609600" y="57816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Can control act before consequence?</a:t>
            </a:r>
          </a:p>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Is human capacity real?</a:t>
            </a:r>
          </a:p>
        </p:txBody>
      </p:sp>
      <p:sp>
        <p:nvSpPr>
          <p:cNvPr id="47" name="">
            <a:extLst xmlns:a="http://schemas.openxmlformats.org/drawingml/2006/main">
              <a:ext uri="{FF2B5EF4-FFF2-40B4-BE49-F238E27FC236}">
                <a16:creationId xmlns:a16="http://schemas.microsoft.com/office/drawing/2014/main" id="{0AA5A0E5-31FE-4990-AD1B-FD110F39629D}"/>
              </a:ext>
            </a:extLst>
          </p:cNvPr>
          <p:cNvSpPr>
            <a:spLocks xmlns:a="http://schemas.openxmlformats.org/drawingml/2006/main" noGrp="1"/>
          </p:cNvSpPr>
          <p:nvPr/>
        </p:nvSpPr>
        <p:spPr>
          <a:xfrm xmlns:a="http://schemas.openxmlformats.org/drawingml/2006/main">
            <a:off x="4381500" y="55054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FULL CONTROL COST</a:t>
            </a:r>
          </a:p>
        </p:txBody>
      </p:sp>
      <p:sp>
        <p:nvSpPr>
          <p:cNvPr id="48" name="">
            <a:extLst xmlns:a="http://schemas.openxmlformats.org/drawingml/2006/main">
              <a:ext uri="{FF2B5EF4-FFF2-40B4-BE49-F238E27FC236}">
                <a16:creationId xmlns:a16="http://schemas.microsoft.com/office/drawing/2014/main" id="{43202220-171C-4191-8D7B-226CF707F877}"/>
              </a:ext>
            </a:extLst>
          </p:cNvPr>
          <p:cNvSpPr>
            <a:spLocks xmlns:a="http://schemas.openxmlformats.org/drawingml/2006/main" noGrp="1"/>
          </p:cNvSpPr>
          <p:nvPr/>
        </p:nvSpPr>
        <p:spPr>
          <a:xfrm xmlns:a="http://schemas.openxmlformats.org/drawingml/2006/main">
            <a:off x="4381500" y="57816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Tokens, evaluations, retries</a:t>
            </a:r>
          </a:p>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and human review.</a:t>
            </a:r>
          </a:p>
        </p:txBody>
      </p:sp>
      <p:sp>
        <p:nvSpPr>
          <p:cNvPr id="49" name="">
            <a:extLst xmlns:a="http://schemas.openxmlformats.org/drawingml/2006/main">
              <a:ext uri="{FF2B5EF4-FFF2-40B4-BE49-F238E27FC236}">
                <a16:creationId xmlns:a16="http://schemas.microsoft.com/office/drawing/2014/main" id="{F4A209BE-F4C3-4003-A5CD-56B52A3C57A2}"/>
              </a:ext>
            </a:extLst>
          </p:cNvPr>
          <p:cNvSpPr>
            <a:spLocks xmlns:a="http://schemas.openxmlformats.org/drawingml/2006/main" noGrp="1"/>
          </p:cNvSpPr>
          <p:nvPr/>
        </p:nvSpPr>
        <p:spPr>
          <a:xfrm xmlns:a="http://schemas.openxmlformats.org/drawingml/2006/main">
            <a:off x="8153400" y="55054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EXTERNAL CHANGE</a:t>
            </a:r>
          </a:p>
        </p:txBody>
      </p:sp>
      <p:sp>
        <p:nvSpPr>
          <p:cNvPr id="50" name="">
            <a:extLst xmlns:a="http://schemas.openxmlformats.org/drawingml/2006/main">
              <a:ext uri="{FF2B5EF4-FFF2-40B4-BE49-F238E27FC236}">
                <a16:creationId xmlns:a16="http://schemas.microsoft.com/office/drawing/2014/main" id="{47E1A177-A241-4491-ABE9-6DCC175378D9}"/>
              </a:ext>
            </a:extLst>
          </p:cNvPr>
          <p:cNvSpPr>
            <a:spLocks xmlns:a="http://schemas.openxmlformats.org/drawingml/2006/main" noGrp="1"/>
          </p:cNvSpPr>
          <p:nvPr/>
        </p:nvSpPr>
        <p:spPr>
          <a:xfrm xmlns:a="http://schemas.openxmlformats.org/drawingml/2006/main">
            <a:off x="8153400" y="57816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Model, routing and provider</a:t>
            </a:r>
          </a:p>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assumptions can change.</a:t>
            </a:r>
          </a:p>
        </p:txBody>
      </p:sp>
      <p:sp>
        <p:nvSpPr>
          <p:cNvPr id="51" name="">
            <a:extLst xmlns:a="http://schemas.openxmlformats.org/drawingml/2006/main">
              <a:ext uri="{FF2B5EF4-FFF2-40B4-BE49-F238E27FC236}">
                <a16:creationId xmlns:a16="http://schemas.microsoft.com/office/drawing/2014/main" id="{39135E7B-E209-45AB-AA0B-A9D56C894F1A}"/>
              </a:ext>
            </a:extLst>
          </p:cNvPr>
          <p:cNvSpPr>
            <a:spLocks xmlns:a="http://schemas.openxmlformats.org/drawingml/2006/main" noGrp="1"/>
          </p:cNvSpPr>
          <p:nvPr/>
        </p:nvSpPr>
        <p:spPr>
          <a:xfrm xmlns:a="http://schemas.openxmlformats.org/drawingml/2006/main">
            <a:off x="609600" y="6419850"/>
            <a:ext cx="1064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F6B75"/>
                </a:solidFill>
                <a:latin typeface="Arial"/>
                <a:ea typeface="Arial"/>
                <a:cs typeface="Arial"/>
              </a:defRPr>
            </a:pPr>
            <a:r>
              <a:rPr sz="1725" b="1">
                <a:solidFill>
                  <a:srgbClr val="FF6B75"/>
                </a:solidFill>
                <a:latin typeface="Arial"/>
                <a:ea typeface="Arial"/>
                <a:cs typeface="Arial"/>
              </a:rPr>
              <a:t>No reliable, operable control path? Narrow, redesign or reject this AI path.</a:t>
            </a:r>
          </a:p>
        </p:txBody>
      </p:sp>
    </p:spTree>
    <p:extLst>
      <p:ext uri="{BB962C8B-B14F-4D97-AF65-F5344CB8AC3E}">
        <p14:creationId xmlns:p14="http://schemas.microsoft.com/office/powerpoint/2010/main" val="160127350"/>
      </p:ext>
    </p:extLst>
  </p:cSld>
</p:sld>
</file>

<file path=ppt/slides/slide13.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19" name=""/>
          <p:cNvCxnSpPr>
            <a:stCxn xmlns:a="http://schemas.openxmlformats.org/drawingml/2006/main" id="12" idx="3"/>
            <a:endCxn xmlns:a="http://schemas.openxmlformats.org/drawingml/2006/main" id="14" idx="1"/>
          </p:cNvCxnSpPr>
          <p:nvPr/>
        </p:nvCxnSpPr>
        <p:spPr>
          <a:xfrm xmlns:a="http://schemas.openxmlformats.org/drawingml/2006/main">
            <a:off x="7677150" y="5995988"/>
            <a:ext cx="742950" cy="0"/>
          </a:xfrm>
          <a:prstGeom xmlns:a="http://schemas.openxmlformats.org/drawingml/2006/main" prst="straightConnector1">
            <a:avLst/>
          </a:prstGeom>
          <a:ln xmlns:a="http://schemas.openxmlformats.org/drawingml/2006/main" w="21908">
            <a:solidFill>
              <a:srgbClr val="FF6B75"/>
            </a:solidFill>
            <a:prstDash val="solid"/>
            <a:tailEnd type="triangle" w="med" len="med"/>
          </a:ln>
        </p:spPr>
      </p:cxnSp>
      <p:cxnSp>
        <p:nvCxnSpPr>
          <p:cNvPr id="20" name=""/>
          <p:cNvCxnSpPr>
            <a:stCxn xmlns:a="http://schemas.openxmlformats.org/drawingml/2006/main" id="10" idx="3"/>
            <a:endCxn xmlns:a="http://schemas.openxmlformats.org/drawingml/2006/main" id="12" idx="1"/>
          </p:cNvCxnSpPr>
          <p:nvPr/>
        </p:nvCxnSpPr>
        <p:spPr>
          <a:xfrm xmlns:a="http://schemas.openxmlformats.org/drawingml/2006/main">
            <a:off x="3771900" y="5995988"/>
            <a:ext cx="742950" cy="0"/>
          </a:xfrm>
          <a:prstGeom xmlns:a="http://schemas.openxmlformats.org/drawingml/2006/main" prst="straightConnector1">
            <a:avLst/>
          </a:prstGeom>
          <a:ln xmlns:a="http://schemas.openxmlformats.org/drawingml/2006/main" w="21908">
            <a:solidFill>
              <a:srgbClr val="ADB8C5"/>
            </a:solidFill>
            <a:prstDash val="solid"/>
            <a:tailEnd type="triangle" w="med" len="med"/>
          </a:ln>
        </p:spPr>
      </p:cxnSp>
      <p:sp>
        <p:nvSpPr>
          <p:cNvPr id="21" name="">
            <a:extLst xmlns:a="http://schemas.openxmlformats.org/drawingml/2006/main">
              <a:ext uri="{FF2B5EF4-FFF2-40B4-BE49-F238E27FC236}">
                <a16:creationId xmlns:a16="http://schemas.microsoft.com/office/drawing/2014/main" id="{2720E16E-5206-425E-832C-A8C4234D5D00}"/>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Roles Move With the System</a:t>
            </a:r>
          </a:p>
        </p:txBody>
      </p:sp>
      <p:sp>
        <p:nvSpPr>
          <p:cNvPr id="2" name="">
            <a:extLst xmlns:a="http://schemas.openxmlformats.org/drawingml/2006/main">
              <a:ext uri="{FF2B5EF4-FFF2-40B4-BE49-F238E27FC236}">
                <a16:creationId xmlns:a16="http://schemas.microsoft.com/office/drawing/2014/main" id="{A991CC0F-1310-4BB5-9DF9-E64858A6E5D3}"/>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6861AAF6-9D19-4B70-9B33-0C49BA276ADC}"/>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7D42E2A4-3D81-42D3-8E40-CEEFE3DEBD21}"/>
              </a:ext>
            </a:extLst>
          </p:cNvPr>
          <p:cNvSpPr>
            <a:spLocks xmlns:a="http://schemas.openxmlformats.org/drawingml/2006/main" noGrp="1"/>
          </p:cNvSpPr>
          <p:nvPr/>
        </p:nvSpPr>
        <p:spPr>
          <a:xfrm xmlns:a="http://schemas.openxmlformats.org/drawingml/2006/main">
            <a:off x="609600" y="1676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PROJECT MANAGER · Product / PO · BA · QA · Dev · Architect · Operations</a:t>
            </a:r>
          </a:p>
        </p:txBody>
      </p:sp>
      <p:sp>
        <p:nvSpPr>
          <p:cNvPr id="5" name="">
            <a:extLst xmlns:a="http://schemas.openxmlformats.org/drawingml/2006/main">
              <a:ext uri="{FF2B5EF4-FFF2-40B4-BE49-F238E27FC236}">
                <a16:creationId xmlns:a16="http://schemas.microsoft.com/office/drawing/2014/main" id="{B379BC23-EAEE-4C6B-AB3F-D364262C81EC}"/>
              </a:ext>
            </a:extLst>
          </p:cNvPr>
          <p:cNvSpPr>
            <a:spLocks xmlns:a="http://schemas.openxmlformats.org/drawingml/2006/main" noGrp="1"/>
          </p:cNvSpPr>
          <p:nvPr/>
        </p:nvSpPr>
        <p:spPr>
          <a:xfrm xmlns:a="http://schemas.openxmlformats.org/drawingml/2006/main">
            <a:off x="609600" y="20383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F4F7FA"/>
                </a:solidFill>
                <a:latin typeface="Arial"/>
                <a:ea typeface="Arial"/>
                <a:cs typeface="Arial"/>
              </a:defRPr>
            </a:pPr>
            <a:r>
              <a:rPr sz="2025" b="1">
                <a:solidFill>
                  <a:srgbClr val="F4F7FA"/>
                </a:solidFill>
                <a:latin typeface="Arial"/>
                <a:ea typeface="Arial"/>
                <a:cs typeface="Arial"/>
              </a:rPr>
              <a:t>Two shifts change the delivery system, its roles and operating model.</a:t>
            </a:r>
          </a:p>
        </p:txBody>
      </p:sp>
      <p:graphicFrame>
        <p:nvGraphicFramePr>
          <p:cNvPr id="26" name=""/>
          <p:cNvGraphicFramePr/>
          <p:nvPr/>
        </p:nvGraphicFramePr>
        <p:xfrm>
          <a:off xmlns:a="http://schemas.openxmlformats.org/drawingml/2006/main" x="609600" y="2590800"/>
          <a:ext xmlns:a="http://schemas.openxmlformats.org/drawingml/2006/main" cx="10972800" cy="1847850"/>
        </p:xfrm>
        <a:graphic xmlns:a="http://schemas.openxmlformats.org/drawingml/2006/main">
          <a:graphicData uri="http://schemas.openxmlformats.org/drawingml/2006/table">
            <a:tbl>
              <a:tblPr/>
              <a:tblGrid>
                <a:gridCol w="1562100"/>
                <a:gridCol w="4705350"/>
                <a:gridCol w="4705350"/>
              </a:tblGrid>
              <a:tr h="361950">
                <a:tc>
                  <a:txBody>
                    <a:bodyPr lIns="171450" tIns="66675" rIns="171450" bIns="66675">
                      <a:noAutofit/>
                    </a:bodyPr>
                    <a:lstStyle/>
                    <a:p>
                      <a:r>
                        <a:rPr sz="1575" b="1">
                          <a:solidFill>
                            <a:srgbClr val="F4F7FA"/>
                          </a:solidFill>
                          <a:latin typeface="Arial"/>
                          <a:ea typeface="Arial"/>
                          <a:cs typeface="Arial"/>
                        </a:rPr>
                        <a:t>SHIFT</a:t>
                      </a:r>
                    </a:p>
                  </a:txBody>
                  <a:tcPr marL="91440" marR="91440" marT="45720" marB="45720" anchor="ctr">
                    <a:solidFill>
                      <a:srgbClr val="1A2734"/>
                    </a:solidFill>
                  </a:tcPr>
                </a:tc>
                <a:tc>
                  <a:txBody>
                    <a:bodyPr lIns="171450" tIns="66675" rIns="171450" bIns="66675">
                      <a:noAutofit/>
                    </a:bodyPr>
                    <a:lstStyle/>
                    <a:p>
                      <a:r>
                        <a:rPr sz="1575" b="1">
                          <a:solidFill>
                            <a:srgbClr val="F4F7FA"/>
                          </a:solidFill>
                          <a:latin typeface="Arial"/>
                          <a:ea typeface="Arial"/>
                          <a:cs typeface="Arial"/>
                        </a:rPr>
                        <a:t>HOW WE BUILD</a:t>
                      </a:r>
                    </a:p>
                  </a:txBody>
                  <a:tcPr marL="91440" marR="91440" marT="45720" marB="45720" anchor="ctr">
                    <a:solidFill>
                      <a:srgbClr val="1A2734"/>
                    </a:solidFill>
                  </a:tcPr>
                </a:tc>
                <a:tc>
                  <a:txBody>
                    <a:bodyPr lIns="171450" tIns="66675" rIns="171450" bIns="66675">
                      <a:noAutofit/>
                    </a:bodyPr>
                    <a:lstStyle/>
                    <a:p>
                      <a:r>
                        <a:rPr sz="1575" b="1">
                          <a:solidFill>
                            <a:srgbClr val="28C7F7"/>
                          </a:solidFill>
                          <a:latin typeface="Arial"/>
                          <a:ea typeface="Arial"/>
                          <a:cs typeface="Arial"/>
                        </a:rPr>
                        <a:t>WHAT WE BUILD</a:t>
                      </a:r>
                    </a:p>
                  </a:txBody>
                  <a:tcPr marL="91440" marR="91440" marT="45720" marB="45720" anchor="ctr">
                    <a:solidFill>
                      <a:srgbClr val="1A2734"/>
                    </a:solidFill>
                  </a:tcPr>
                </a:tc>
              </a:tr>
              <a:tr h="742950">
                <a:tc>
                  <a:txBody>
                    <a:bodyPr lIns="171450" tIns="66675" rIns="171450" bIns="66675">
                      <a:noAutofit/>
                    </a:bodyPr>
                    <a:lstStyle/>
                    <a:p>
                      <a:r>
                        <a:rPr sz="1575" b="1">
                          <a:solidFill>
                            <a:srgbClr val="F4F7FA"/>
                          </a:solidFill>
                          <a:latin typeface="Arial"/>
                          <a:ea typeface="Arial"/>
                          <a:cs typeface="Arial"/>
                        </a:rPr>
                        <a:t>New balance</a:t>
                      </a:r>
                    </a:p>
                  </a:txBody>
                  <a:tcPr marL="91440" marR="91440" marT="45720" marB="45720" anchor="ctr">
                    <a:solidFill>
                      <a:srgbClr val="0B0F14"/>
                    </a:solidFill>
                  </a:tcPr>
                </a:tc>
                <a:tc>
                  <a:txBody>
                    <a:bodyPr lIns="171450" tIns="66675" rIns="171450" bIns="66675">
                      <a:noAutofit/>
                    </a:bodyPr>
                    <a:lstStyle/>
                    <a:p>
                      <a:r>
                        <a:rPr sz="1575" b="0">
                          <a:solidFill>
                            <a:srgbClr val="F4F7FA"/>
                          </a:solidFill>
                          <a:latin typeface="Arial"/>
                          <a:ea typeface="Arial"/>
                          <a:cs typeface="Arial"/>
                        </a:rPr>
                        <a:t>Faster generation shifts bottlenecks</a:t>
                      </a:r>
                    </a:p>
                    <a:p>
                      <a:r>
                        <a:rPr sz="1575" b="0">
                          <a:solidFill>
                            <a:srgbClr val="F4F7FA"/>
                          </a:solidFill>
                          <a:latin typeface="Arial"/>
                          <a:ea typeface="Arial"/>
                          <a:cs typeface="Arial"/>
                        </a:rPr>
                        <a:t>Review, integration and team understanding</a:t>
                      </a:r>
                    </a:p>
                  </a:txBody>
                  <a:tcPr marL="91440" marR="91440" marT="45720" marB="45720" anchor="ctr">
                    <a:solidFill>
                      <a:srgbClr val="0B0F14"/>
                    </a:solidFill>
                  </a:tcPr>
                </a:tc>
                <a:tc>
                  <a:txBody>
                    <a:bodyPr lIns="171450" tIns="66675" rIns="171450" bIns="66675">
                      <a:noAutofit/>
                    </a:bodyPr>
                    <a:lstStyle/>
                    <a:p>
                      <a:r>
                        <a:rPr sz="1575" b="0">
                          <a:solidFill>
                            <a:srgbClr val="28C7F7"/>
                          </a:solidFill>
                          <a:latin typeface="Arial"/>
                          <a:ea typeface="Arial"/>
                          <a:cs typeface="Arial"/>
                        </a:rPr>
                        <a:t>Probabilistic behavior enters the product</a:t>
                      </a:r>
                    </a:p>
                    <a:p>
                      <a:r>
                        <a:rPr sz="1575" b="0">
                          <a:solidFill>
                            <a:srgbClr val="28C7F7"/>
                          </a:solidFill>
                          <a:latin typeface="Arial"/>
                          <a:ea typeface="Arial"/>
                          <a:cs typeface="Arial"/>
                        </a:rPr>
                        <a:t>Evaluation, control and incident feedback</a:t>
                      </a:r>
                    </a:p>
                  </a:txBody>
                  <a:tcPr marL="91440" marR="91440" marT="45720" marB="45720" anchor="ctr">
                    <a:solidFill>
                      <a:srgbClr val="0B0F14"/>
                    </a:solidFill>
                  </a:tcPr>
                </a:tc>
              </a:tr>
              <a:tr h="742950">
                <a:tc>
                  <a:txBody>
                    <a:bodyPr lIns="171450" tIns="66675" rIns="171450" bIns="66675">
                      <a:noAutofit/>
                    </a:bodyPr>
                    <a:lstStyle/>
                    <a:p>
                      <a:r>
                        <a:rPr sz="1575" b="1">
                          <a:solidFill>
                            <a:srgbClr val="F4F7FA"/>
                          </a:solidFill>
                          <a:latin typeface="Arial"/>
                          <a:ea typeface="Arial"/>
                          <a:cs typeface="Arial"/>
                        </a:rPr>
                        <a:t>New work</a:t>
                      </a:r>
                    </a:p>
                  </a:txBody>
                  <a:tcPr marL="91440" marR="91440" marT="45720" marB="45720" anchor="ctr">
                    <a:solidFill>
                      <a:srgbClr val="0B0F14"/>
                    </a:solidFill>
                  </a:tcPr>
                </a:tc>
                <a:tc>
                  <a:txBody>
                    <a:bodyPr lIns="171450" tIns="66675" rIns="171450" bIns="66675">
                      <a:noAutofit/>
                    </a:bodyPr>
                    <a:lstStyle/>
                    <a:p>
                      <a:r>
                        <a:rPr sz="1575" b="0">
                          <a:solidFill>
                            <a:srgbClr val="F4F7FA"/>
                          </a:solidFill>
                          <a:latin typeface="Arial"/>
                          <a:ea typeface="Arial"/>
                          <a:cs typeface="Arial"/>
                        </a:rPr>
                        <a:t>Rebalance capacity, review and learning</a:t>
                      </a:r>
                    </a:p>
                    <a:p>
                      <a:r>
                        <a:rPr sz="1575" b="0">
                          <a:solidFill>
                            <a:srgbClr val="F4F7FA"/>
                          </a:solidFill>
                          <a:latin typeface="Arial"/>
                          <a:ea typeface="Arial"/>
                          <a:cs typeface="Arial"/>
                        </a:rPr>
                        <a:t>Protect ownership and recovery capability</a:t>
                      </a:r>
                    </a:p>
                  </a:txBody>
                  <a:tcPr marL="91440" marR="91440" marT="45720" marB="45720" anchor="ctr">
                    <a:solidFill>
                      <a:srgbClr val="0B0F14"/>
                    </a:solidFill>
                  </a:tcPr>
                </a:tc>
                <a:tc>
                  <a:txBody>
                    <a:bodyPr lIns="171450" tIns="66675" rIns="171450" bIns="66675">
                      <a:noAutofit/>
                    </a:bodyPr>
                    <a:lstStyle/>
                    <a:p>
                      <a:r>
                        <a:rPr sz="1575" b="0">
                          <a:solidFill>
                            <a:srgbClr val="28C7F7"/>
                          </a:solidFill>
                          <a:latin typeface="Arial"/>
                          <a:ea typeface="Arial"/>
                          <a:cs typeface="Arial"/>
                        </a:rPr>
                        <a:t>Assign evaluation and response ownership</a:t>
                      </a:r>
                    </a:p>
                    <a:p>
                      <a:r>
                        <a:rPr sz="1575" b="0">
                          <a:solidFill>
                            <a:srgbClr val="28C7F7"/>
                          </a:solidFill>
                          <a:latin typeface="Arial"/>
                          <a:ea typeface="Arial"/>
                          <a:cs typeface="Arial"/>
                        </a:rPr>
                        <a:t>Plan for model changes and human capacity</a:t>
                      </a:r>
                    </a:p>
                  </a:txBody>
                  <a:tcPr marL="91440" marR="91440" marT="45720" marB="45720" anchor="ctr">
                    <a:solidFill>
                      <a:srgbClr val="0B0F14"/>
                    </a:solidFill>
                  </a:tcPr>
                </a:tc>
              </a:tr>
            </a:tbl>
          </a:graphicData>
        </a:graphic>
      </p:graphicFrame>
      <p:sp>
        <p:nvSpPr>
          <p:cNvPr id="7" name="">
            <a:extLst xmlns:a="http://schemas.openxmlformats.org/drawingml/2006/main">
              <a:ext uri="{FF2B5EF4-FFF2-40B4-BE49-F238E27FC236}">
                <a16:creationId xmlns:a16="http://schemas.microsoft.com/office/drawing/2014/main" id="{554F3A34-393E-42CF-8A7C-E05F540A7CA2}"/>
              </a:ext>
            </a:extLst>
          </p:cNvPr>
          <p:cNvSpPr>
            <a:spLocks xmlns:a="http://schemas.openxmlformats.org/drawingml/2006/main" noGrp="1"/>
          </p:cNvSpPr>
          <p:nvPr/>
        </p:nvSpPr>
        <p:spPr>
          <a:xfrm xmlns:a="http://schemas.openxmlformats.org/drawingml/2006/main">
            <a:off x="609600" y="46101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8C7F7"/>
                </a:solidFill>
                <a:latin typeface="Arial"/>
                <a:ea typeface="Arial"/>
                <a:cs typeface="Arial"/>
              </a:defRPr>
            </a:pPr>
            <a:r>
              <a:rPr sz="1575" b="1">
                <a:solidFill>
                  <a:srgbClr val="28C7F7"/>
                </a:solidFill>
                <a:latin typeface="Arial"/>
                <a:ea typeface="Arial"/>
                <a:cs typeface="Arial"/>
              </a:rPr>
              <a:t>PM RESPONSIBILITY: KEEP THE OPERATING MODEL FIT FOR DELIVERY</a:t>
            </a:r>
          </a:p>
        </p:txBody>
      </p:sp>
      <p:sp>
        <p:nvSpPr>
          <p:cNvPr id="8" name="">
            <a:extLst xmlns:a="http://schemas.openxmlformats.org/drawingml/2006/main">
              <a:ext uri="{FF2B5EF4-FFF2-40B4-BE49-F238E27FC236}">
                <a16:creationId xmlns:a16="http://schemas.microsoft.com/office/drawing/2014/main" id="{68B754B3-0F65-4175-BD84-3222742B8274}"/>
              </a:ext>
            </a:extLst>
          </p:cNvPr>
          <p:cNvSpPr>
            <a:spLocks xmlns:a="http://schemas.openxmlformats.org/drawingml/2006/main" noGrp="1"/>
          </p:cNvSpPr>
          <p:nvPr/>
        </p:nvSpPr>
        <p:spPr>
          <a:xfrm xmlns:a="http://schemas.openxmlformats.org/drawingml/2006/main">
            <a:off x="609600" y="4962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F4F7FA"/>
                </a:solidFill>
                <a:latin typeface="Arial"/>
                <a:ea typeface="Arial"/>
                <a:cs typeface="Arial"/>
              </a:defRPr>
            </a:pPr>
            <a:r>
              <a:rPr sz="1725" b="0">
                <a:solidFill>
                  <a:srgbClr val="F4F7FA"/>
                </a:solidFill>
                <a:latin typeface="Arial"/>
                <a:ea typeface="Arial"/>
                <a:cs typeface="Arial"/>
              </a:rPr>
              <a:t>Track bottlenecks and dependencies. Time-box material unknowns before promising production capability.</a:t>
            </a:r>
          </a:p>
        </p:txBody>
      </p:sp>
      <p:sp>
        <p:nvSpPr>
          <p:cNvPr id="9" name="">
            <a:extLst xmlns:a="http://schemas.openxmlformats.org/drawingml/2006/main">
              <a:ext uri="{FF2B5EF4-FFF2-40B4-BE49-F238E27FC236}">
                <a16:creationId xmlns:a16="http://schemas.microsoft.com/office/drawing/2014/main" id="{9132021E-C4F4-42EC-9334-9A2701922C82}"/>
              </a:ext>
            </a:extLst>
          </p:cNvPr>
          <p:cNvSpPr>
            <a:spLocks xmlns:a="http://schemas.openxmlformats.org/drawingml/2006/main" noGrp="1"/>
          </p:cNvSpPr>
          <p:nvPr/>
        </p:nvSpPr>
        <p:spPr>
          <a:xfrm xmlns:a="http://schemas.openxmlformats.org/drawingml/2006/main">
            <a:off x="609600" y="54197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F5B61C"/>
                </a:solidFill>
                <a:latin typeface="Arial"/>
                <a:ea typeface="Arial"/>
                <a:cs typeface="Arial"/>
              </a:defRPr>
            </a:pPr>
            <a:r>
              <a:rPr sz="1350" b="1">
                <a:solidFill>
                  <a:srgbClr val="F5B61C"/>
                </a:solidFill>
                <a:latin typeface="Arial"/>
                <a:ea typeface="Arial"/>
                <a:cs typeface="Arial"/>
              </a:rPr>
              <a:t>ONE EXAMPLE OF A NEW DEPENDENCY: EXPERTISE</a:t>
            </a:r>
          </a:p>
        </p:txBody>
      </p:sp>
      <p:sp>
        <p:nvSpPr>
          <p:cNvPr id="10" name="">
            <a:extLst xmlns:a="http://schemas.openxmlformats.org/drawingml/2006/main">
              <a:ext uri="{FF2B5EF4-FFF2-40B4-BE49-F238E27FC236}">
                <a16:creationId xmlns:a16="http://schemas.microsoft.com/office/drawing/2014/main" id="{9A70A7DC-85E9-4C5E-8BA7-EE0BEC8012B1}"/>
              </a:ext>
            </a:extLst>
          </p:cNvPr>
          <p:cNvSpPr>
            <a:spLocks xmlns:a="http://schemas.openxmlformats.org/drawingml/2006/main" noGrp="1"/>
          </p:cNvSpPr>
          <p:nvPr/>
        </p:nvSpPr>
        <p:spPr>
          <a:xfrm xmlns:a="http://schemas.openxmlformats.org/drawingml/2006/main">
            <a:off x="609600" y="5734050"/>
            <a:ext cx="3162300" cy="523875"/>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1" name="">
            <a:extLst xmlns:a="http://schemas.openxmlformats.org/drawingml/2006/main">
              <a:ext uri="{FF2B5EF4-FFF2-40B4-BE49-F238E27FC236}">
                <a16:creationId xmlns:a16="http://schemas.microsoft.com/office/drawing/2014/main" id="{74ABEE95-AF53-45B6-B6EF-DEA65262DBC2}"/>
              </a:ext>
            </a:extLst>
          </p:cNvPr>
          <p:cNvSpPr>
            <a:spLocks xmlns:a="http://schemas.openxmlformats.org/drawingml/2006/main" noGrp="1"/>
          </p:cNvSpPr>
          <p:nvPr/>
        </p:nvSpPr>
        <p:spPr>
          <a:xfrm xmlns:a="http://schemas.openxmlformats.org/drawingml/2006/main">
            <a:off x="723900" y="5810250"/>
            <a:ext cx="2933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AI adds code in a language</a:t>
            </a:r>
          </a:p>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the team does not know</a:t>
            </a:r>
          </a:p>
        </p:txBody>
      </p:sp>
      <p:sp>
        <p:nvSpPr>
          <p:cNvPr id="12" name="">
            <a:extLst xmlns:a="http://schemas.openxmlformats.org/drawingml/2006/main">
              <a:ext uri="{FF2B5EF4-FFF2-40B4-BE49-F238E27FC236}">
                <a16:creationId xmlns:a16="http://schemas.microsoft.com/office/drawing/2014/main" id="{BAFBB309-BA41-4563-A0B5-F1F12EBE03C0}"/>
              </a:ext>
            </a:extLst>
          </p:cNvPr>
          <p:cNvSpPr>
            <a:spLocks xmlns:a="http://schemas.openxmlformats.org/drawingml/2006/main" noGrp="1"/>
          </p:cNvSpPr>
          <p:nvPr/>
        </p:nvSpPr>
        <p:spPr>
          <a:xfrm xmlns:a="http://schemas.openxmlformats.org/drawingml/2006/main">
            <a:off x="4514850" y="5734050"/>
            <a:ext cx="3162300" cy="523875"/>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3" name="">
            <a:extLst xmlns:a="http://schemas.openxmlformats.org/drawingml/2006/main">
              <a:ext uri="{FF2B5EF4-FFF2-40B4-BE49-F238E27FC236}">
                <a16:creationId xmlns:a16="http://schemas.microsoft.com/office/drawing/2014/main" id="{A859F9BD-CBE3-4CEA-846C-881C849341E0}"/>
              </a:ext>
            </a:extLst>
          </p:cNvPr>
          <p:cNvSpPr>
            <a:spLocks xmlns:a="http://schemas.openxmlformats.org/drawingml/2006/main" noGrp="1"/>
          </p:cNvSpPr>
          <p:nvPr/>
        </p:nvSpPr>
        <p:spPr>
          <a:xfrm xmlns:a="http://schemas.openxmlformats.org/drawingml/2006/main">
            <a:off x="4629150" y="5810250"/>
            <a:ext cx="2933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The component becomes</a:t>
            </a:r>
          </a:p>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a critical dependency</a:t>
            </a:r>
          </a:p>
        </p:txBody>
      </p:sp>
      <p:sp>
        <p:nvSpPr>
          <p:cNvPr id="14" name="">
            <a:extLst xmlns:a="http://schemas.openxmlformats.org/drawingml/2006/main">
              <a:ext uri="{FF2B5EF4-FFF2-40B4-BE49-F238E27FC236}">
                <a16:creationId xmlns:a16="http://schemas.microsoft.com/office/drawing/2014/main" id="{773E3511-7E2F-4BD9-A628-A668CA6C1556}"/>
              </a:ext>
            </a:extLst>
          </p:cNvPr>
          <p:cNvSpPr>
            <a:spLocks xmlns:a="http://schemas.openxmlformats.org/drawingml/2006/main" noGrp="1"/>
          </p:cNvSpPr>
          <p:nvPr/>
        </p:nvSpPr>
        <p:spPr>
          <a:xfrm xmlns:a="http://schemas.openxmlformats.org/drawingml/2006/main">
            <a:off x="8420100" y="5734050"/>
            <a:ext cx="3162300" cy="523875"/>
          </a:xfrm>
          <a:prstGeom xmlns:a="http://schemas.openxmlformats.org/drawingml/2006/main" prst="rect">
            <a:avLst/>
          </a:prstGeom>
          <a:solidFill xmlns:a="http://schemas.openxmlformats.org/drawingml/2006/main">
            <a:srgbClr val="141C26"/>
          </a:solidFill>
          <a:ln xmlns:a="http://schemas.openxmlformats.org/drawingml/2006/main" w="14288">
            <a:solidFill>
              <a:srgbClr val="FF6B75"/>
            </a:solidFill>
            <a:prstDash val="solid"/>
          </a:ln>
        </p:spPr>
      </p:sp>
      <p:sp>
        <p:nvSpPr>
          <p:cNvPr id="15" name="">
            <a:extLst xmlns:a="http://schemas.openxmlformats.org/drawingml/2006/main">
              <a:ext uri="{FF2B5EF4-FFF2-40B4-BE49-F238E27FC236}">
                <a16:creationId xmlns:a16="http://schemas.microsoft.com/office/drawing/2014/main" id="{1B57BC7B-8D85-4BE8-9BE6-408A72CC76CA}"/>
              </a:ext>
            </a:extLst>
          </p:cNvPr>
          <p:cNvSpPr>
            <a:spLocks xmlns:a="http://schemas.openxmlformats.org/drawingml/2006/main" noGrp="1"/>
          </p:cNvSpPr>
          <p:nvPr/>
        </p:nvSpPr>
        <p:spPr>
          <a:xfrm xmlns:a="http://schemas.openxmlformats.org/drawingml/2006/main">
            <a:off x="8534400" y="5810250"/>
            <a:ext cx="2933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A review and recovery gap</a:t>
            </a:r>
          </a:p>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now threatens delivery</a:t>
            </a:r>
          </a:p>
        </p:txBody>
      </p:sp>
      <p:sp>
        <p:nvSpPr>
          <p:cNvPr id="18" name="">
            <a:extLst xmlns:a="http://schemas.openxmlformats.org/drawingml/2006/main">
              <a:ext uri="{FF2B5EF4-FFF2-40B4-BE49-F238E27FC236}">
                <a16:creationId xmlns:a16="http://schemas.microsoft.com/office/drawing/2014/main" id="{D6B73BEF-4E1B-403C-87D4-878FAE463400}"/>
              </a:ext>
            </a:extLst>
          </p:cNvPr>
          <p:cNvSpPr>
            <a:spLocks xmlns:a="http://schemas.openxmlformats.org/drawingml/2006/main" noGrp="1"/>
          </p:cNvSpPr>
          <p:nvPr/>
        </p:nvSpPr>
        <p:spPr>
          <a:xfrm xmlns:a="http://schemas.openxmlformats.org/drawingml/2006/main">
            <a:off x="609600" y="6410325"/>
            <a:ext cx="10648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Required decisions, evidence and capabilities belong in the delivery dependency plan.</a:t>
            </a:r>
          </a:p>
        </p:txBody>
      </p:sp>
    </p:spTree>
    <p:extLst>
      <p:ext uri="{BB962C8B-B14F-4D97-AF65-F5344CB8AC3E}">
        <p14:creationId xmlns:p14="http://schemas.microsoft.com/office/powerpoint/2010/main" val="1582643430"/>
      </p:ext>
    </p:extLst>
  </p:cSld>
</p:sld>
</file>

<file path=ppt/slides/slide14.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43" name=""/>
          <p:cNvCxnSpPr>
            <a:stCxn xmlns:a="http://schemas.openxmlformats.org/drawingml/2006/main" id="16" idx="0"/>
            <a:endCxn xmlns:a="http://schemas.openxmlformats.org/drawingml/2006/main" id="10" idx="2"/>
          </p:cNvCxnSpPr>
          <p:nvPr/>
        </p:nvCxnSpPr>
        <p:spPr>
          <a:xfrm xmlns:a="http://schemas.openxmlformats.org/drawingml/2006/main" flipV="1">
            <a:off x="6505575" y="2562225"/>
            <a:ext cx="0" cy="1104900"/>
          </a:xfrm>
          <a:prstGeom xmlns:a="http://schemas.openxmlformats.org/drawingml/2006/main" prst="straightConnector1">
            <a:avLst/>
          </a:prstGeom>
          <a:ln xmlns:a="http://schemas.openxmlformats.org/drawingml/2006/main" w="21908">
            <a:solidFill>
              <a:srgbClr val="F5B61C"/>
            </a:solidFill>
            <a:prstDash val="solid"/>
            <a:tailEnd type="triangle" w="med" len="med"/>
          </a:ln>
        </p:spPr>
      </p:cxnSp>
      <p:cxnSp>
        <p:nvCxnSpPr>
          <p:cNvPr id="44" name=""/>
          <p:cNvCxnSpPr>
            <a:stCxn xmlns:a="http://schemas.openxmlformats.org/drawingml/2006/main" id="14" idx="1"/>
            <a:endCxn xmlns:a="http://schemas.openxmlformats.org/drawingml/2006/main" id="16" idx="3"/>
          </p:cNvCxnSpPr>
          <p:nvPr/>
        </p:nvCxnSpPr>
        <p:spPr>
          <a:xfrm xmlns:a="http://schemas.openxmlformats.org/drawingml/2006/main" flipH="1">
            <a:off x="7600950" y="3952875"/>
            <a:ext cx="1695450" cy="0"/>
          </a:xfrm>
          <a:prstGeom xmlns:a="http://schemas.openxmlformats.org/drawingml/2006/main" prst="straightConnector1">
            <a:avLst/>
          </a:prstGeom>
          <a:ln xmlns:a="http://schemas.openxmlformats.org/drawingml/2006/main" w="21908">
            <a:solidFill>
              <a:srgbClr val="F5B61C"/>
            </a:solidFill>
            <a:prstDash val="solid"/>
            <a:tailEnd type="triangle" w="med" len="med"/>
          </a:ln>
        </p:spPr>
      </p:cxnSp>
      <p:cxnSp>
        <p:nvCxnSpPr>
          <p:cNvPr id="45" name=""/>
          <p:cNvCxnSpPr>
            <a:stCxn xmlns:a="http://schemas.openxmlformats.org/drawingml/2006/main" id="12" idx="2"/>
            <a:endCxn xmlns:a="http://schemas.openxmlformats.org/drawingml/2006/main" id="14" idx="0"/>
          </p:cNvCxnSpPr>
          <p:nvPr/>
        </p:nvCxnSpPr>
        <p:spPr>
          <a:xfrm xmlns:a="http://schemas.openxmlformats.org/drawingml/2006/main">
            <a:off x="10391775" y="2562225"/>
            <a:ext cx="0" cy="1104900"/>
          </a:xfrm>
          <a:prstGeom xmlns:a="http://schemas.openxmlformats.org/drawingml/2006/main" prst="straightConnector1">
            <a:avLst/>
          </a:prstGeom>
          <a:ln xmlns:a="http://schemas.openxmlformats.org/drawingml/2006/main" w="21908">
            <a:solidFill>
              <a:srgbClr val="28C7F7"/>
            </a:solidFill>
            <a:prstDash val="solid"/>
            <a:tailEnd type="triangle" w="med" len="med"/>
          </a:ln>
        </p:spPr>
      </p:cxnSp>
      <p:cxnSp>
        <p:nvCxnSpPr>
          <p:cNvPr id="46" name=""/>
          <p:cNvCxnSpPr>
            <a:stCxn xmlns:a="http://schemas.openxmlformats.org/drawingml/2006/main" id="10" idx="3"/>
            <a:endCxn xmlns:a="http://schemas.openxmlformats.org/drawingml/2006/main" id="12" idx="1"/>
          </p:cNvCxnSpPr>
          <p:nvPr/>
        </p:nvCxnSpPr>
        <p:spPr>
          <a:xfrm xmlns:a="http://schemas.openxmlformats.org/drawingml/2006/main">
            <a:off x="7600950" y="2276475"/>
            <a:ext cx="1695450" cy="0"/>
          </a:xfrm>
          <a:prstGeom xmlns:a="http://schemas.openxmlformats.org/drawingml/2006/main" prst="straightConnector1">
            <a:avLst/>
          </a:prstGeom>
          <a:ln xmlns:a="http://schemas.openxmlformats.org/drawingml/2006/main" w="21908">
            <a:solidFill>
              <a:srgbClr val="28C7F7"/>
            </a:solidFill>
            <a:prstDash val="solid"/>
            <a:tailEnd type="triangle" w="med" len="med"/>
          </a:ln>
        </p:spPr>
      </p:cxnSp>
      <p:sp>
        <p:nvSpPr>
          <p:cNvPr id="47" name="">
            <a:extLst xmlns:a="http://schemas.openxmlformats.org/drawingml/2006/main">
              <a:ext uri="{FF2B5EF4-FFF2-40B4-BE49-F238E27FC236}">
                <a16:creationId xmlns:a16="http://schemas.microsoft.com/office/drawing/2014/main" id="{16D4C641-856B-4B9D-B9FD-31D002F7A276}"/>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Engineering Rigor Moves —</a:t>
            </a:r>
          </a:p>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It Doesn’t Disappear</a:t>
            </a:r>
          </a:p>
        </p:txBody>
      </p:sp>
      <p:sp>
        <p:nvSpPr>
          <p:cNvPr id="2" name="">
            <a:extLst xmlns:a="http://schemas.openxmlformats.org/drawingml/2006/main">
              <a:ext uri="{FF2B5EF4-FFF2-40B4-BE49-F238E27FC236}">
                <a16:creationId xmlns:a16="http://schemas.microsoft.com/office/drawing/2014/main" id="{7DDEFB61-8A73-4771-9B3E-E9C4DE9F9D6A}"/>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102B31AD-1042-4B09-8451-E684F0CAC9AF}"/>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B84A3DC0-897A-4BBA-84B7-9F048F7CA202}"/>
              </a:ext>
            </a:extLst>
          </p:cNvPr>
          <p:cNvSpPr>
            <a:spLocks xmlns:a="http://schemas.openxmlformats.org/drawingml/2006/main" noGrp="1"/>
          </p:cNvSpPr>
          <p:nvPr/>
        </p:nvSpPr>
        <p:spPr>
          <a:xfrm xmlns:a="http://schemas.openxmlformats.org/drawingml/2006/main">
            <a:off x="609600" y="1857375"/>
            <a:ext cx="417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DB8C5"/>
                </a:solidFill>
                <a:latin typeface="Arial"/>
                <a:ea typeface="Arial"/>
                <a:cs typeface="Arial"/>
              </a:defRPr>
            </a:pPr>
            <a:r>
              <a:rPr sz="1575" b="1">
                <a:solidFill>
                  <a:srgbClr val="ADB8C5"/>
                </a:solidFill>
                <a:latin typeface="Arial"/>
                <a:ea typeface="Arial"/>
                <a:cs typeface="Arial"/>
              </a:rPr>
              <a:t>DELIVERY STILL RUNS</a:t>
            </a:r>
          </a:p>
        </p:txBody>
      </p:sp>
      <p:sp>
        <p:nvSpPr>
          <p:cNvPr id="5" name="">
            <a:extLst xmlns:a="http://schemas.openxmlformats.org/drawingml/2006/main">
              <a:ext uri="{FF2B5EF4-FFF2-40B4-BE49-F238E27FC236}">
                <a16:creationId xmlns:a16="http://schemas.microsoft.com/office/drawing/2014/main" id="{DD6BB690-0231-482C-9266-FE82149D3408}"/>
              </a:ext>
            </a:extLst>
          </p:cNvPr>
          <p:cNvSpPr>
            <a:spLocks xmlns:a="http://schemas.openxmlformats.org/drawingml/2006/main" noGrp="1"/>
          </p:cNvSpPr>
          <p:nvPr/>
        </p:nvSpPr>
        <p:spPr>
          <a:xfrm xmlns:a="http://schemas.openxmlformats.org/drawingml/2006/main">
            <a:off x="609600" y="2238375"/>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4F7FA"/>
                </a:solidFill>
                <a:latin typeface="Arial"/>
                <a:ea typeface="Arial"/>
                <a:cs typeface="Arial"/>
              </a:defRPr>
            </a:pPr>
            <a:r>
              <a:rPr sz="1875" b="1">
                <a:solidFill>
                  <a:srgbClr val="F4F7FA"/>
                </a:solidFill>
                <a:latin typeface="Arial"/>
                <a:ea typeface="Arial"/>
                <a:cs typeface="Arial"/>
              </a:rPr>
              <a:t>Plan → Build → Verify → Ship</a:t>
            </a:r>
          </a:p>
        </p:txBody>
      </p:sp>
      <p:sp>
        <p:nvSpPr>
          <p:cNvPr id="6" name="">
            <a:extLst xmlns:a="http://schemas.openxmlformats.org/drawingml/2006/main">
              <a:ext uri="{FF2B5EF4-FFF2-40B4-BE49-F238E27FC236}">
                <a16:creationId xmlns:a16="http://schemas.microsoft.com/office/drawing/2014/main" id="{136D535A-0F77-46A2-B410-B2CF28BE3240}"/>
              </a:ext>
            </a:extLst>
          </p:cNvPr>
          <p:cNvSpPr>
            <a:spLocks xmlns:a="http://schemas.openxmlformats.org/drawingml/2006/main" noGrp="1"/>
          </p:cNvSpPr>
          <p:nvPr/>
        </p:nvSpPr>
        <p:spPr>
          <a:xfrm xmlns:a="http://schemas.openxmlformats.org/drawingml/2006/main">
            <a:off x="609600" y="2619375"/>
            <a:ext cx="4171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Delivery commitments and</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operational ownership.</a:t>
            </a:r>
          </a:p>
        </p:txBody>
      </p:sp>
      <p:sp>
        <p:nvSpPr>
          <p:cNvPr id="7" name="">
            <a:extLst xmlns:a="http://schemas.openxmlformats.org/drawingml/2006/main">
              <a:ext uri="{FF2B5EF4-FFF2-40B4-BE49-F238E27FC236}">
                <a16:creationId xmlns:a16="http://schemas.microsoft.com/office/drawing/2014/main" id="{DE43F2D6-1A5A-4C70-9E0B-5EE61715A813}"/>
              </a:ext>
            </a:extLst>
          </p:cNvPr>
          <p:cNvSpPr>
            <a:spLocks xmlns:a="http://schemas.openxmlformats.org/drawingml/2006/main" noGrp="1"/>
          </p:cNvSpPr>
          <p:nvPr/>
        </p:nvSpPr>
        <p:spPr>
          <a:xfrm xmlns:a="http://schemas.openxmlformats.org/drawingml/2006/main">
            <a:off x="609600" y="3371850"/>
            <a:ext cx="417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8C7F7"/>
                </a:solidFill>
                <a:latin typeface="Arial"/>
                <a:ea typeface="Arial"/>
                <a:cs typeface="Arial"/>
              </a:defRPr>
            </a:pPr>
            <a:r>
              <a:rPr sz="1575" b="1">
                <a:solidFill>
                  <a:srgbClr val="28C7F7"/>
                </a:solidFill>
                <a:latin typeface="Arial"/>
                <a:ea typeface="Arial"/>
                <a:cs typeface="Arial"/>
              </a:rPr>
              <a:t>THE LABORATORY STAYS OPEN</a:t>
            </a:r>
          </a:p>
        </p:txBody>
      </p:sp>
      <p:sp>
        <p:nvSpPr>
          <p:cNvPr id="8" name="">
            <a:extLst xmlns:a="http://schemas.openxmlformats.org/drawingml/2006/main">
              <a:ext uri="{FF2B5EF4-FFF2-40B4-BE49-F238E27FC236}">
                <a16:creationId xmlns:a16="http://schemas.microsoft.com/office/drawing/2014/main" id="{D4293997-3276-4AAE-A494-8FB6899394F1}"/>
              </a:ext>
            </a:extLst>
          </p:cNvPr>
          <p:cNvSpPr>
            <a:spLocks xmlns:a="http://schemas.openxmlformats.org/drawingml/2006/main" noGrp="1"/>
          </p:cNvSpPr>
          <p:nvPr/>
        </p:nvSpPr>
        <p:spPr>
          <a:xfrm xmlns:a="http://schemas.openxmlformats.org/drawingml/2006/main">
            <a:off x="609600" y="3743325"/>
            <a:ext cx="4171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F4F7FA"/>
                </a:solidFill>
                <a:latin typeface="Arial"/>
                <a:ea typeface="Arial"/>
                <a:cs typeface="Arial"/>
              </a:defRPr>
            </a:pPr>
            <a:r>
              <a:rPr sz="1725" b="0">
                <a:solidFill>
                  <a:srgbClr val="F4F7FA"/>
                </a:solidFill>
                <a:latin typeface="Arial"/>
                <a:ea typeface="Arial"/>
                <a:cs typeface="Arial"/>
              </a:rPr>
              <a:t>Re-evaluate after material changes</a:t>
            </a:r>
          </a:p>
          <a:p xmlns:a="http://schemas.openxmlformats.org/drawingml/2006/main">
            <a:pPr algn="l">
              <a:defRPr sz="1725" b="0">
                <a:solidFill>
                  <a:srgbClr val="F4F7FA"/>
                </a:solidFill>
                <a:latin typeface="Arial"/>
                <a:ea typeface="Arial"/>
                <a:cs typeface="Arial"/>
              </a:defRPr>
            </a:pPr>
            <a:r>
              <a:rPr sz="1725" b="0">
                <a:solidFill>
                  <a:srgbClr val="F4F7FA"/>
                </a:solidFill>
                <a:latin typeface="Arial"/>
                <a:ea typeface="Arial"/>
                <a:cs typeface="Arial"/>
              </a:rPr>
              <a:t>in model, data or authority.</a:t>
            </a:r>
          </a:p>
        </p:txBody>
      </p:sp>
      <p:sp>
        <p:nvSpPr>
          <p:cNvPr id="9" name="">
            <a:extLst xmlns:a="http://schemas.openxmlformats.org/drawingml/2006/main">
              <a:ext uri="{FF2B5EF4-FFF2-40B4-BE49-F238E27FC236}">
                <a16:creationId xmlns:a16="http://schemas.microsoft.com/office/drawing/2014/main" id="{8190596D-7C13-4F88-9C4D-CBCDE5373C2E}"/>
              </a:ext>
            </a:extLst>
          </p:cNvPr>
          <p:cNvSpPr>
            <a:spLocks xmlns:a="http://schemas.openxmlformats.org/drawingml/2006/main" noGrp="1"/>
          </p:cNvSpPr>
          <p:nvPr/>
        </p:nvSpPr>
        <p:spPr>
          <a:xfrm xmlns:a="http://schemas.openxmlformats.org/drawingml/2006/main" flipH="0" flipV="0">
            <a:off x="5048250" y="1895475"/>
            <a:ext cx="0" cy="2371725"/>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0" name="">
            <a:extLst xmlns:a="http://schemas.openxmlformats.org/drawingml/2006/main">
              <a:ext uri="{FF2B5EF4-FFF2-40B4-BE49-F238E27FC236}">
                <a16:creationId xmlns:a16="http://schemas.microsoft.com/office/drawing/2014/main" id="{575E9BC8-F856-4AD7-AB7E-7F87E7F9BF04}"/>
              </a:ext>
            </a:extLst>
          </p:cNvPr>
          <p:cNvSpPr>
            <a:spLocks xmlns:a="http://schemas.openxmlformats.org/drawingml/2006/main" noGrp="1"/>
          </p:cNvSpPr>
          <p:nvPr/>
        </p:nvSpPr>
        <p:spPr>
          <a:xfrm xmlns:a="http://schemas.openxmlformats.org/drawingml/2006/main">
            <a:off x="5410200" y="1990725"/>
            <a:ext cx="2190750" cy="5715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1" name="">
            <a:extLst xmlns:a="http://schemas.openxmlformats.org/drawingml/2006/main">
              <a:ext uri="{FF2B5EF4-FFF2-40B4-BE49-F238E27FC236}">
                <a16:creationId xmlns:a16="http://schemas.microsoft.com/office/drawing/2014/main" id="{CBC0EEA9-A93F-45DF-80E8-37395C75A4F7}"/>
              </a:ext>
            </a:extLst>
          </p:cNvPr>
          <p:cNvSpPr>
            <a:spLocks xmlns:a="http://schemas.openxmlformats.org/drawingml/2006/main" noGrp="1"/>
          </p:cNvSpPr>
          <p:nvPr/>
        </p:nvSpPr>
        <p:spPr>
          <a:xfrm xmlns:a="http://schemas.openxmlformats.org/drawingml/2006/main">
            <a:off x="5524500" y="206692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Hypothesis</a:t>
            </a:r>
          </a:p>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 approved limits</a:t>
            </a:r>
          </a:p>
        </p:txBody>
      </p:sp>
      <p:sp>
        <p:nvSpPr>
          <p:cNvPr id="12" name="">
            <a:extLst xmlns:a="http://schemas.openxmlformats.org/drawingml/2006/main">
              <a:ext uri="{FF2B5EF4-FFF2-40B4-BE49-F238E27FC236}">
                <a16:creationId xmlns:a16="http://schemas.microsoft.com/office/drawing/2014/main" id="{0420086A-1285-4D78-9332-C4CCE71B0FD1}"/>
              </a:ext>
            </a:extLst>
          </p:cNvPr>
          <p:cNvSpPr>
            <a:spLocks xmlns:a="http://schemas.openxmlformats.org/drawingml/2006/main" noGrp="1"/>
          </p:cNvSpPr>
          <p:nvPr/>
        </p:nvSpPr>
        <p:spPr>
          <a:xfrm xmlns:a="http://schemas.openxmlformats.org/drawingml/2006/main">
            <a:off x="9296400" y="1990725"/>
            <a:ext cx="2190750" cy="5715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3" name="">
            <a:extLst xmlns:a="http://schemas.openxmlformats.org/drawingml/2006/main">
              <a:ext uri="{FF2B5EF4-FFF2-40B4-BE49-F238E27FC236}">
                <a16:creationId xmlns:a16="http://schemas.microsoft.com/office/drawing/2014/main" id="{38C79E55-8C98-4DB0-B16F-B968F7886553}"/>
              </a:ext>
            </a:extLst>
          </p:cNvPr>
          <p:cNvSpPr>
            <a:spLocks xmlns:a="http://schemas.openxmlformats.org/drawingml/2006/main" noGrp="1"/>
          </p:cNvSpPr>
          <p:nvPr/>
        </p:nvSpPr>
        <p:spPr>
          <a:xfrm xmlns:a="http://schemas.openxmlformats.org/drawingml/2006/main">
            <a:off x="9410700" y="206692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Bounded</a:t>
            </a:r>
          </a:p>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experiment</a:t>
            </a:r>
          </a:p>
        </p:txBody>
      </p:sp>
      <p:sp>
        <p:nvSpPr>
          <p:cNvPr id="14" name="">
            <a:extLst xmlns:a="http://schemas.openxmlformats.org/drawingml/2006/main">
              <a:ext uri="{FF2B5EF4-FFF2-40B4-BE49-F238E27FC236}">
                <a16:creationId xmlns:a16="http://schemas.microsoft.com/office/drawing/2014/main" id="{8030DF62-52A3-4D1C-9ED9-05510FC3821E}"/>
              </a:ext>
            </a:extLst>
          </p:cNvPr>
          <p:cNvSpPr>
            <a:spLocks xmlns:a="http://schemas.openxmlformats.org/drawingml/2006/main" noGrp="1"/>
          </p:cNvSpPr>
          <p:nvPr/>
        </p:nvSpPr>
        <p:spPr>
          <a:xfrm xmlns:a="http://schemas.openxmlformats.org/drawingml/2006/main">
            <a:off x="9296400" y="3667125"/>
            <a:ext cx="2190750" cy="5715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15" name="">
            <a:extLst xmlns:a="http://schemas.openxmlformats.org/drawingml/2006/main">
              <a:ext uri="{FF2B5EF4-FFF2-40B4-BE49-F238E27FC236}">
                <a16:creationId xmlns:a16="http://schemas.microsoft.com/office/drawing/2014/main" id="{0CC1A73A-F833-42B7-A874-F9B1D800673E}"/>
              </a:ext>
            </a:extLst>
          </p:cNvPr>
          <p:cNvSpPr>
            <a:spLocks xmlns:a="http://schemas.openxmlformats.org/drawingml/2006/main" noGrp="1"/>
          </p:cNvSpPr>
          <p:nvPr/>
        </p:nvSpPr>
        <p:spPr>
          <a:xfrm xmlns:a="http://schemas.openxmlformats.org/drawingml/2006/main">
            <a:off x="9410700" y="374332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Measure</a:t>
            </a:r>
          </a:p>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 compare</a:t>
            </a:r>
          </a:p>
        </p:txBody>
      </p:sp>
      <p:sp>
        <p:nvSpPr>
          <p:cNvPr id="16" name="">
            <a:extLst xmlns:a="http://schemas.openxmlformats.org/drawingml/2006/main">
              <a:ext uri="{FF2B5EF4-FFF2-40B4-BE49-F238E27FC236}">
                <a16:creationId xmlns:a16="http://schemas.microsoft.com/office/drawing/2014/main" id="{0D974FB8-1603-4390-A434-257D41E38549}"/>
              </a:ext>
            </a:extLst>
          </p:cNvPr>
          <p:cNvSpPr>
            <a:spLocks xmlns:a="http://schemas.openxmlformats.org/drawingml/2006/main" noGrp="1"/>
          </p:cNvSpPr>
          <p:nvPr/>
        </p:nvSpPr>
        <p:spPr>
          <a:xfrm xmlns:a="http://schemas.openxmlformats.org/drawingml/2006/main">
            <a:off x="5410200" y="3667125"/>
            <a:ext cx="2190750" cy="5715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17" name="">
            <a:extLst xmlns:a="http://schemas.openxmlformats.org/drawingml/2006/main">
              <a:ext uri="{FF2B5EF4-FFF2-40B4-BE49-F238E27FC236}">
                <a16:creationId xmlns:a16="http://schemas.microsoft.com/office/drawing/2014/main" id="{4690C95E-F438-415C-BE78-861B2847C8E1}"/>
              </a:ext>
            </a:extLst>
          </p:cNvPr>
          <p:cNvSpPr>
            <a:spLocks xmlns:a="http://schemas.openxmlformats.org/drawingml/2006/main" noGrp="1"/>
          </p:cNvSpPr>
          <p:nvPr/>
        </p:nvSpPr>
        <p:spPr>
          <a:xfrm xmlns:a="http://schemas.openxmlformats.org/drawingml/2006/main">
            <a:off x="5524500" y="374332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Decide</a:t>
            </a:r>
          </a:p>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 adapt</a:t>
            </a:r>
          </a:p>
        </p:txBody>
      </p:sp>
      <p:sp>
        <p:nvSpPr>
          <p:cNvPr id="22" name="">
            <a:extLst xmlns:a="http://schemas.openxmlformats.org/drawingml/2006/main">
              <a:ext uri="{FF2B5EF4-FFF2-40B4-BE49-F238E27FC236}">
                <a16:creationId xmlns:a16="http://schemas.microsoft.com/office/drawing/2014/main" id="{E7B341B6-2427-42D2-BAC0-B3C35BD49106}"/>
              </a:ext>
            </a:extLst>
          </p:cNvPr>
          <p:cNvSpPr>
            <a:spLocks xmlns:a="http://schemas.openxmlformats.org/drawingml/2006/main" noGrp="1"/>
          </p:cNvSpPr>
          <p:nvPr/>
        </p:nvSpPr>
        <p:spPr>
          <a:xfrm xmlns:a="http://schemas.openxmlformats.org/drawingml/2006/main">
            <a:off x="5924550" y="2790825"/>
            <a:ext cx="5010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a:solidFill>
                  <a:srgbClr val="F4F7FA"/>
                </a:solidFill>
                <a:latin typeface="Arial"/>
                <a:ea typeface="Arial"/>
                <a:cs typeface="Arial"/>
              </a:defRPr>
            </a:pPr>
            <a:r>
              <a:rPr sz="1800" b="1">
                <a:solidFill>
                  <a:srgbClr val="F4F7FA"/>
                </a:solidFill>
                <a:latin typeface="Arial"/>
                <a:ea typeface="Arial"/>
                <a:cs typeface="Arial"/>
              </a:rPr>
              <a:t>Production outcomes</a:t>
            </a:r>
          </a:p>
          <a:p xmlns:a="http://schemas.openxmlformats.org/drawingml/2006/main">
            <a:pPr algn="ctr">
              <a:defRPr sz="1800" b="1">
                <a:solidFill>
                  <a:srgbClr val="F4F7FA"/>
                </a:solidFill>
                <a:latin typeface="Arial"/>
                <a:ea typeface="Arial"/>
                <a:cs typeface="Arial"/>
              </a:defRPr>
            </a:pPr>
            <a:r>
              <a:rPr sz="1800" b="1">
                <a:solidFill>
                  <a:srgbClr val="F4F7FA"/>
                </a:solidFill>
                <a:latin typeface="Arial"/>
                <a:ea typeface="Arial"/>
                <a:cs typeface="Arial"/>
              </a:rPr>
              <a:t>and incidents feed back</a:t>
            </a:r>
          </a:p>
        </p:txBody>
      </p:sp>
      <p:sp>
        <p:nvSpPr>
          <p:cNvPr id="23" name="">
            <a:extLst xmlns:a="http://schemas.openxmlformats.org/drawingml/2006/main">
              <a:ext uri="{FF2B5EF4-FFF2-40B4-BE49-F238E27FC236}">
                <a16:creationId xmlns:a16="http://schemas.microsoft.com/office/drawing/2014/main" id="{8B849349-1615-4204-B4E5-827B866C6D48}"/>
              </a:ext>
            </a:extLst>
          </p:cNvPr>
          <p:cNvSpPr>
            <a:spLocks xmlns:a="http://schemas.openxmlformats.org/drawingml/2006/main" noGrp="1"/>
          </p:cNvSpPr>
          <p:nvPr/>
        </p:nvSpPr>
        <p:spPr>
          <a:xfrm xmlns:a="http://schemas.openxmlformats.org/drawingml/2006/main" flipH="0" flipV="0">
            <a:off x="609600" y="442912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4" name="">
            <a:extLst xmlns:a="http://schemas.openxmlformats.org/drawingml/2006/main">
              <a:ext uri="{FF2B5EF4-FFF2-40B4-BE49-F238E27FC236}">
                <a16:creationId xmlns:a16="http://schemas.microsoft.com/office/drawing/2014/main" id="{E2FB0A0F-B5AD-4A07-B259-EAB8D6EE41CF}"/>
              </a:ext>
            </a:extLst>
          </p:cNvPr>
          <p:cNvSpPr>
            <a:spLocks xmlns:a="http://schemas.openxmlformats.org/drawingml/2006/main" noGrp="1"/>
          </p:cNvSpPr>
          <p:nvPr/>
        </p:nvSpPr>
        <p:spPr>
          <a:xfrm xmlns:a="http://schemas.openxmlformats.org/drawingml/2006/main">
            <a:off x="609600" y="452437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EXISTING TEAM CADENCE · Project Manager coordinates decisions</a:t>
            </a:r>
          </a:p>
        </p:txBody>
      </p:sp>
      <p:sp>
        <p:nvSpPr>
          <p:cNvPr id="25" name="">
            <a:extLst xmlns:a="http://schemas.openxmlformats.org/drawingml/2006/main">
              <a:ext uri="{FF2B5EF4-FFF2-40B4-BE49-F238E27FC236}">
                <a16:creationId xmlns:a16="http://schemas.microsoft.com/office/drawing/2014/main" id="{F96D5A72-CEA3-480B-A30B-37DCAA961B51}"/>
              </a:ext>
            </a:extLst>
          </p:cNvPr>
          <p:cNvSpPr>
            <a:spLocks xmlns:a="http://schemas.openxmlformats.org/drawingml/2006/main" noGrp="1"/>
          </p:cNvSpPr>
          <p:nvPr/>
        </p:nvSpPr>
        <p:spPr>
          <a:xfrm xmlns:a="http://schemas.openxmlformats.org/drawingml/2006/main">
            <a:off x="609600" y="4848225"/>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4F7FA"/>
                </a:solidFill>
                <a:latin typeface="Arial"/>
                <a:ea typeface="Arial"/>
                <a:cs typeface="Arial"/>
              </a:defRPr>
            </a:pPr>
            <a:r>
              <a:rPr sz="1425" b="1">
                <a:solidFill>
                  <a:srgbClr val="F4F7FA"/>
                </a:solidFill>
                <a:latin typeface="Arial"/>
                <a:ea typeface="Arial"/>
                <a:cs typeface="Arial"/>
              </a:rPr>
              <a:t>PLANNING</a:t>
            </a:r>
          </a:p>
        </p:txBody>
      </p:sp>
      <p:sp>
        <p:nvSpPr>
          <p:cNvPr id="26" name="">
            <a:extLst xmlns:a="http://schemas.openxmlformats.org/drawingml/2006/main">
              <a:ext uri="{FF2B5EF4-FFF2-40B4-BE49-F238E27FC236}">
                <a16:creationId xmlns:a16="http://schemas.microsoft.com/office/drawing/2014/main" id="{F7C63610-C7EA-41CA-B8AA-232BE27D143E}"/>
              </a:ext>
            </a:extLst>
          </p:cNvPr>
          <p:cNvSpPr>
            <a:spLocks xmlns:a="http://schemas.openxmlformats.org/drawingml/2006/main" noGrp="1"/>
          </p:cNvSpPr>
          <p:nvPr/>
        </p:nvSpPr>
        <p:spPr>
          <a:xfrm xmlns:a="http://schemas.openxmlformats.org/drawingml/2006/main">
            <a:off x="609600" y="51435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Product / PO + BA + team</a:t>
            </a:r>
          </a:p>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Value, limits + evidence</a:t>
            </a:r>
          </a:p>
        </p:txBody>
      </p:sp>
      <p:sp>
        <p:nvSpPr>
          <p:cNvPr id="27" name="">
            <a:extLst xmlns:a="http://schemas.openxmlformats.org/drawingml/2006/main">
              <a:ext uri="{FF2B5EF4-FFF2-40B4-BE49-F238E27FC236}">
                <a16:creationId xmlns:a16="http://schemas.microsoft.com/office/drawing/2014/main" id="{E11AC4C2-DC84-4EF8-BF08-60AC26D284CD}"/>
              </a:ext>
            </a:extLst>
          </p:cNvPr>
          <p:cNvSpPr>
            <a:spLocks xmlns:a="http://schemas.openxmlformats.org/drawingml/2006/main" noGrp="1"/>
          </p:cNvSpPr>
          <p:nvPr/>
        </p:nvSpPr>
        <p:spPr>
          <a:xfrm xmlns:a="http://schemas.openxmlformats.org/drawingml/2006/main">
            <a:off x="2857500" y="48482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4F7FA"/>
                </a:solidFill>
                <a:latin typeface="Arial"/>
                <a:ea typeface="Arial"/>
                <a:cs typeface="Arial"/>
              </a:defRPr>
            </a:pPr>
            <a:r>
              <a:rPr sz="1425" b="1">
                <a:solidFill>
                  <a:srgbClr val="F4F7FA"/>
                </a:solidFill>
                <a:latin typeface="Arial"/>
                <a:ea typeface="Arial"/>
                <a:cs typeface="Arial"/>
              </a:rPr>
              <a:t>DAILY WORK</a:t>
            </a:r>
          </a:p>
        </p:txBody>
      </p:sp>
      <p:sp>
        <p:nvSpPr>
          <p:cNvPr id="28" name="">
            <a:extLst xmlns:a="http://schemas.openxmlformats.org/drawingml/2006/main">
              <a:ext uri="{FF2B5EF4-FFF2-40B4-BE49-F238E27FC236}">
                <a16:creationId xmlns:a16="http://schemas.microsoft.com/office/drawing/2014/main" id="{5499DA95-C96C-4DCE-B370-284D8CDC6510}"/>
              </a:ext>
            </a:extLst>
          </p:cNvPr>
          <p:cNvSpPr>
            <a:spLocks xmlns:a="http://schemas.openxmlformats.org/drawingml/2006/main" noGrp="1"/>
          </p:cNvSpPr>
          <p:nvPr/>
        </p:nvSpPr>
        <p:spPr>
          <a:xfrm xmlns:a="http://schemas.openxmlformats.org/drawingml/2006/main">
            <a:off x="2857500" y="5143500"/>
            <a:ext cx="2038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Dev + QA + Architect</a:t>
            </a:r>
          </a:p>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Build, evaluate, close gaps</a:t>
            </a:r>
          </a:p>
        </p:txBody>
      </p:sp>
      <p:sp>
        <p:nvSpPr>
          <p:cNvPr id="29" name="">
            <a:extLst xmlns:a="http://schemas.openxmlformats.org/drawingml/2006/main">
              <a:ext uri="{FF2B5EF4-FFF2-40B4-BE49-F238E27FC236}">
                <a16:creationId xmlns:a16="http://schemas.microsoft.com/office/drawing/2014/main" id="{5D24C85B-6FFF-4CEC-B90F-5141BE586CE7}"/>
              </a:ext>
            </a:extLst>
          </p:cNvPr>
          <p:cNvSpPr>
            <a:spLocks xmlns:a="http://schemas.openxmlformats.org/drawingml/2006/main" noGrp="1"/>
          </p:cNvSpPr>
          <p:nvPr/>
        </p:nvSpPr>
        <p:spPr>
          <a:xfrm xmlns:a="http://schemas.openxmlformats.org/drawingml/2006/main">
            <a:off x="4953000" y="48482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4F7FA"/>
                </a:solidFill>
                <a:latin typeface="Arial"/>
                <a:ea typeface="Arial"/>
                <a:cs typeface="Arial"/>
              </a:defRPr>
            </a:pPr>
            <a:r>
              <a:rPr sz="1425" b="1">
                <a:solidFill>
                  <a:srgbClr val="F4F7FA"/>
                </a:solidFill>
                <a:latin typeface="Arial"/>
                <a:ea typeface="Arial"/>
                <a:cs typeface="Arial"/>
              </a:rPr>
              <a:t>REVIEW EVIDENCE</a:t>
            </a:r>
          </a:p>
        </p:txBody>
      </p:sp>
      <p:sp>
        <p:nvSpPr>
          <p:cNvPr id="30" name="">
            <a:extLst xmlns:a="http://schemas.openxmlformats.org/drawingml/2006/main">
              <a:ext uri="{FF2B5EF4-FFF2-40B4-BE49-F238E27FC236}">
                <a16:creationId xmlns:a16="http://schemas.microsoft.com/office/drawing/2014/main" id="{2228EC1D-777E-458A-A46B-949EDFA42311}"/>
              </a:ext>
            </a:extLst>
          </p:cNvPr>
          <p:cNvSpPr>
            <a:spLocks xmlns:a="http://schemas.openxmlformats.org/drawingml/2006/main" noGrp="1"/>
          </p:cNvSpPr>
          <p:nvPr/>
        </p:nvSpPr>
        <p:spPr>
          <a:xfrm xmlns:a="http://schemas.openxmlformats.org/drawingml/2006/main">
            <a:off x="4953000" y="5143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Product / PO + team</a:t>
            </a:r>
          </a:p>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Evidence + uncertainty</a:t>
            </a:r>
          </a:p>
        </p:txBody>
      </p:sp>
      <p:sp>
        <p:nvSpPr>
          <p:cNvPr id="31" name="">
            <a:extLst xmlns:a="http://schemas.openxmlformats.org/drawingml/2006/main">
              <a:ext uri="{FF2B5EF4-FFF2-40B4-BE49-F238E27FC236}">
                <a16:creationId xmlns:a16="http://schemas.microsoft.com/office/drawing/2014/main" id="{57357417-952A-4EE3-9F1A-50E5C7C159A2}"/>
              </a:ext>
            </a:extLst>
          </p:cNvPr>
          <p:cNvSpPr>
            <a:spLocks xmlns:a="http://schemas.openxmlformats.org/drawingml/2006/main" noGrp="1"/>
          </p:cNvSpPr>
          <p:nvPr/>
        </p:nvSpPr>
        <p:spPr>
          <a:xfrm xmlns:a="http://schemas.openxmlformats.org/drawingml/2006/main">
            <a:off x="9525000" y="4848225"/>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4F7FA"/>
                </a:solidFill>
                <a:latin typeface="Arial"/>
                <a:ea typeface="Arial"/>
                <a:cs typeface="Arial"/>
              </a:defRPr>
            </a:pPr>
            <a:r>
              <a:rPr sz="1425" b="1">
                <a:solidFill>
                  <a:srgbClr val="F4F7FA"/>
                </a:solidFill>
                <a:latin typeface="Arial"/>
                <a:ea typeface="Arial"/>
                <a:cs typeface="Arial"/>
              </a:rPr>
              <a:t>AFTER RELEASE</a:t>
            </a:r>
          </a:p>
        </p:txBody>
      </p:sp>
      <p:sp>
        <p:nvSpPr>
          <p:cNvPr id="32" name="">
            <a:extLst xmlns:a="http://schemas.openxmlformats.org/drawingml/2006/main">
              <a:ext uri="{FF2B5EF4-FFF2-40B4-BE49-F238E27FC236}">
                <a16:creationId xmlns:a16="http://schemas.microsoft.com/office/drawing/2014/main" id="{A89EB006-AF31-4C7B-82A9-A5903164701F}"/>
              </a:ext>
            </a:extLst>
          </p:cNvPr>
          <p:cNvSpPr>
            <a:spLocks xmlns:a="http://schemas.openxmlformats.org/drawingml/2006/main" noGrp="1"/>
          </p:cNvSpPr>
          <p:nvPr/>
        </p:nvSpPr>
        <p:spPr>
          <a:xfrm xmlns:a="http://schemas.openxmlformats.org/drawingml/2006/main">
            <a:off x="9525000" y="51435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Service owner + responders</a:t>
            </a:r>
          </a:p>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Monitor, recover + learn</a:t>
            </a:r>
          </a:p>
        </p:txBody>
      </p:sp>
      <p:sp>
        <p:nvSpPr>
          <p:cNvPr id="33" name="">
            <a:extLst xmlns:a="http://schemas.openxmlformats.org/drawingml/2006/main">
              <a:ext uri="{FF2B5EF4-FFF2-40B4-BE49-F238E27FC236}">
                <a16:creationId xmlns:a16="http://schemas.microsoft.com/office/drawing/2014/main" id="{ABC5FD93-8491-4A0F-A488-F8D721F48D39}"/>
              </a:ext>
            </a:extLst>
          </p:cNvPr>
          <p:cNvSpPr>
            <a:spLocks xmlns:a="http://schemas.openxmlformats.org/drawingml/2006/main" noGrp="1"/>
          </p:cNvSpPr>
          <p:nvPr/>
        </p:nvSpPr>
        <p:spPr>
          <a:xfrm xmlns:a="http://schemas.openxmlformats.org/drawingml/2006/main">
            <a:off x="7277100" y="4829175"/>
            <a:ext cx="2076450" cy="78105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34" name="">
            <a:extLst xmlns:a="http://schemas.openxmlformats.org/drawingml/2006/main">
              <a:ext uri="{FF2B5EF4-FFF2-40B4-BE49-F238E27FC236}">
                <a16:creationId xmlns:a16="http://schemas.microsoft.com/office/drawing/2014/main" id="{7A2651CF-BD4D-4902-AADA-A9BE37900A9F}"/>
              </a:ext>
            </a:extLst>
          </p:cNvPr>
          <p:cNvSpPr>
            <a:spLocks xmlns:a="http://schemas.openxmlformats.org/drawingml/2006/main" noGrp="1"/>
          </p:cNvSpPr>
          <p:nvPr/>
        </p:nvSpPr>
        <p:spPr>
          <a:xfrm xmlns:a="http://schemas.openxmlformats.org/drawingml/2006/main">
            <a:off x="7372350" y="4886325"/>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1">
                <a:solidFill>
                  <a:srgbClr val="F5B61C"/>
                </a:solidFill>
                <a:latin typeface="Arial"/>
                <a:ea typeface="Arial"/>
                <a:cs typeface="Arial"/>
              </a:defRPr>
            </a:pPr>
            <a:r>
              <a:rPr sz="1275" b="1">
                <a:solidFill>
                  <a:srgbClr val="F5B61C"/>
                </a:solidFill>
                <a:latin typeface="Arial"/>
                <a:ea typeface="Arial"/>
                <a:cs typeface="Arial"/>
              </a:rPr>
              <a:t>AUTHORIZED RELEASE</a:t>
            </a:r>
          </a:p>
        </p:txBody>
      </p:sp>
      <p:sp>
        <p:nvSpPr>
          <p:cNvPr id="35" name="">
            <a:extLst xmlns:a="http://schemas.openxmlformats.org/drawingml/2006/main">
              <a:ext uri="{FF2B5EF4-FFF2-40B4-BE49-F238E27FC236}">
                <a16:creationId xmlns:a16="http://schemas.microsoft.com/office/drawing/2014/main" id="{DDB63495-71AC-4D16-ADC6-BD106275DC8E}"/>
              </a:ext>
            </a:extLst>
          </p:cNvPr>
          <p:cNvSpPr>
            <a:spLocks xmlns:a="http://schemas.openxmlformats.org/drawingml/2006/main" noGrp="1"/>
          </p:cNvSpPr>
          <p:nvPr/>
        </p:nvSpPr>
        <p:spPr>
          <a:xfrm xmlns:a="http://schemas.openxmlformats.org/drawingml/2006/main">
            <a:off x="7372350" y="5162550"/>
            <a:ext cx="1885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4F7FA"/>
                </a:solidFill>
                <a:latin typeface="Arial"/>
                <a:ea typeface="Arial"/>
                <a:cs typeface="Arial"/>
              </a:defRPr>
            </a:pPr>
            <a:r>
              <a:rPr sz="1275" b="0">
                <a:solidFill>
                  <a:srgbClr val="F4F7FA"/>
                </a:solidFill>
                <a:latin typeface="Arial"/>
                <a:ea typeface="Arial"/>
                <a:cs typeface="Arial"/>
              </a:rPr>
              <a:t>Release / risk owner</a:t>
            </a:r>
          </a:p>
          <a:p xmlns:a="http://schemas.openxmlformats.org/drawingml/2006/main">
            <a:pPr algn="ctr">
              <a:defRPr sz="1275" b="0">
                <a:solidFill>
                  <a:srgbClr val="F4F7FA"/>
                </a:solidFill>
                <a:latin typeface="Arial"/>
                <a:ea typeface="Arial"/>
                <a:cs typeface="Arial"/>
              </a:defRPr>
            </a:pPr>
            <a:r>
              <a:rPr sz="1275" b="0">
                <a:solidFill>
                  <a:srgbClr val="F4F7FA"/>
                </a:solidFill>
                <a:latin typeface="Arial"/>
                <a:ea typeface="Arial"/>
                <a:cs typeface="Arial"/>
              </a:rPr>
              <a:t>Scope + residual risk</a:t>
            </a:r>
          </a:p>
        </p:txBody>
      </p:sp>
      <p:sp>
        <p:nvSpPr>
          <p:cNvPr id="36" name="">
            <a:extLst xmlns:a="http://schemas.openxmlformats.org/drawingml/2006/main">
              <a:ext uri="{FF2B5EF4-FFF2-40B4-BE49-F238E27FC236}">
                <a16:creationId xmlns:a16="http://schemas.microsoft.com/office/drawing/2014/main" id="{7B563398-8897-4D2C-8CF8-2C9126942B8D}"/>
              </a:ext>
            </a:extLst>
          </p:cNvPr>
          <p:cNvSpPr>
            <a:spLocks xmlns:a="http://schemas.openxmlformats.org/drawingml/2006/main" noGrp="1"/>
          </p:cNvSpPr>
          <p:nvPr/>
        </p:nvSpPr>
        <p:spPr>
          <a:xfrm xmlns:a="http://schemas.openxmlformats.org/drawingml/2006/main" flipH="0" flipV="0">
            <a:off x="609600" y="570547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7" name="">
            <a:extLst xmlns:a="http://schemas.openxmlformats.org/drawingml/2006/main">
              <a:ext uri="{FF2B5EF4-FFF2-40B4-BE49-F238E27FC236}">
                <a16:creationId xmlns:a16="http://schemas.microsoft.com/office/drawing/2014/main" id="{A6CAA25A-A106-4CA3-916B-C0837C310965}"/>
              </a:ext>
            </a:extLst>
          </p:cNvPr>
          <p:cNvSpPr>
            <a:spLocks xmlns:a="http://schemas.openxmlformats.org/drawingml/2006/main" noGrp="1"/>
          </p:cNvSpPr>
          <p:nvPr/>
        </p:nvSpPr>
        <p:spPr>
          <a:xfrm xmlns:a="http://schemas.openxmlformats.org/drawingml/2006/main">
            <a:off x="609600" y="5772150"/>
            <a:ext cx="3495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HOW: AI-assisted SDLC</a:t>
            </a:r>
          </a:p>
        </p:txBody>
      </p:sp>
      <p:sp>
        <p:nvSpPr>
          <p:cNvPr id="38" name="">
            <a:extLst xmlns:a="http://schemas.openxmlformats.org/drawingml/2006/main">
              <a:ext uri="{FF2B5EF4-FFF2-40B4-BE49-F238E27FC236}">
                <a16:creationId xmlns:a16="http://schemas.microsoft.com/office/drawing/2014/main" id="{04E5BA03-CD47-4ADE-B3C2-02B47E91D0D4}"/>
              </a:ext>
            </a:extLst>
          </p:cNvPr>
          <p:cNvSpPr>
            <a:spLocks xmlns:a="http://schemas.openxmlformats.org/drawingml/2006/main" noGrp="1"/>
          </p:cNvSpPr>
          <p:nvPr/>
        </p:nvSpPr>
        <p:spPr>
          <a:xfrm xmlns:a="http://schemas.openxmlformats.org/drawingml/2006/main">
            <a:off x="4200525" y="5772150"/>
            <a:ext cx="7381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Review throughput, rework and team understanding.</a:t>
            </a:r>
          </a:p>
        </p:txBody>
      </p:sp>
      <p:sp>
        <p:nvSpPr>
          <p:cNvPr id="39" name="">
            <a:extLst xmlns:a="http://schemas.openxmlformats.org/drawingml/2006/main">
              <a:ext uri="{FF2B5EF4-FFF2-40B4-BE49-F238E27FC236}">
                <a16:creationId xmlns:a16="http://schemas.microsoft.com/office/drawing/2014/main" id="{0EFD40D1-C6FC-424D-BA20-82A6E550AA51}"/>
              </a:ext>
            </a:extLst>
          </p:cNvPr>
          <p:cNvSpPr>
            <a:spLocks xmlns:a="http://schemas.openxmlformats.org/drawingml/2006/main" noGrp="1"/>
          </p:cNvSpPr>
          <p:nvPr/>
        </p:nvSpPr>
        <p:spPr>
          <a:xfrm xmlns:a="http://schemas.openxmlformats.org/drawingml/2006/main">
            <a:off x="609600" y="6010275"/>
            <a:ext cx="3495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5B61C"/>
                </a:solidFill>
                <a:latin typeface="Arial"/>
                <a:ea typeface="Arial"/>
                <a:cs typeface="Arial"/>
              </a:defRPr>
            </a:pPr>
            <a:r>
              <a:rPr sz="1425" b="1">
                <a:solidFill>
                  <a:srgbClr val="F5B61C"/>
                </a:solidFill>
                <a:latin typeface="Arial"/>
                <a:ea typeface="Arial"/>
                <a:cs typeface="Arial"/>
              </a:rPr>
              <a:t>WHAT: Thinking Systems</a:t>
            </a:r>
          </a:p>
        </p:txBody>
      </p:sp>
      <p:sp>
        <p:nvSpPr>
          <p:cNvPr id="40" name="">
            <a:extLst xmlns:a="http://schemas.openxmlformats.org/drawingml/2006/main">
              <a:ext uri="{FF2B5EF4-FFF2-40B4-BE49-F238E27FC236}">
                <a16:creationId xmlns:a16="http://schemas.microsoft.com/office/drawing/2014/main" id="{DC67BECA-69D9-4C89-96F7-372F09F563D0}"/>
              </a:ext>
            </a:extLst>
          </p:cNvPr>
          <p:cNvSpPr>
            <a:spLocks xmlns:a="http://schemas.openxmlformats.org/drawingml/2006/main" noGrp="1"/>
          </p:cNvSpPr>
          <p:nvPr/>
        </p:nvSpPr>
        <p:spPr>
          <a:xfrm xmlns:a="http://schemas.openxmlformats.org/drawingml/2006/main">
            <a:off x="4200525" y="6010275"/>
            <a:ext cx="7381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Useful outcomes, failure impact and full operating cost.</a:t>
            </a:r>
          </a:p>
        </p:txBody>
      </p:sp>
      <p:sp>
        <p:nvSpPr>
          <p:cNvPr id="41" name="">
            <a:extLst xmlns:a="http://schemas.openxmlformats.org/drawingml/2006/main">
              <a:ext uri="{FF2B5EF4-FFF2-40B4-BE49-F238E27FC236}">
                <a16:creationId xmlns:a16="http://schemas.microsoft.com/office/drawing/2014/main" id="{6A08260D-4505-47A6-927D-9822756D9567}"/>
              </a:ext>
            </a:extLst>
          </p:cNvPr>
          <p:cNvSpPr>
            <a:spLocks xmlns:a="http://schemas.openxmlformats.org/drawingml/2006/main" noGrp="1"/>
          </p:cNvSpPr>
          <p:nvPr/>
        </p:nvSpPr>
        <p:spPr>
          <a:xfrm xmlns:a="http://schemas.openxmlformats.org/drawingml/2006/main">
            <a:off x="609600" y="6267450"/>
            <a:ext cx="10648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Start with one workflow: approved limits, evidence, owners and a rehearsed fallback.</a:t>
            </a:r>
          </a:p>
        </p:txBody>
      </p:sp>
      <p:sp>
        <p:nvSpPr>
          <p:cNvPr id="42" name="">
            <a:extLst xmlns:a="http://schemas.openxmlformats.org/drawingml/2006/main">
              <a:ext uri="{FF2B5EF4-FFF2-40B4-BE49-F238E27FC236}">
                <a16:creationId xmlns:a16="http://schemas.microsoft.com/office/drawing/2014/main" id="{40AA6DFF-5139-4E86-8D8E-276999270967}"/>
              </a:ext>
            </a:extLst>
          </p:cNvPr>
          <p:cNvSpPr>
            <a:spLocks xmlns:a="http://schemas.openxmlformats.org/drawingml/2006/main" noGrp="1"/>
          </p:cNvSpPr>
          <p:nvPr/>
        </p:nvSpPr>
        <p:spPr>
          <a:xfrm xmlns:a="http://schemas.openxmlformats.org/drawingml/2006/main">
            <a:off x="609600" y="6515100"/>
            <a:ext cx="10648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4F7FA"/>
                </a:solidFill>
                <a:latin typeface="Arial"/>
                <a:ea typeface="Arial"/>
                <a:cs typeface="Arial"/>
              </a:defRPr>
            </a:pPr>
            <a:r>
              <a:rPr sz="1875" b="1">
                <a:solidFill>
                  <a:srgbClr val="F4F7FA"/>
                </a:solidFill>
                <a:latin typeface="Arial"/>
                <a:ea typeface="Arial"/>
                <a:cs typeface="Arial"/>
              </a:rPr>
              <a:t>More capability still requires engineering responsibility.</a:t>
            </a:r>
          </a:p>
        </p:txBody>
      </p:sp>
    </p:spTree>
    <p:extLst>
      <p:ext uri="{BB962C8B-B14F-4D97-AF65-F5344CB8AC3E}">
        <p14:creationId xmlns:p14="http://schemas.microsoft.com/office/powerpoint/2010/main" val="1175132963"/>
      </p:ext>
    </p:extLst>
  </p:cSld>
</p:sld>
</file>

<file path=ppt/slides/slide15.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6119ED2-3FEB-42D3-B530-6BA50D50D32E}"/>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Continue the Conversation</a:t>
            </a:r>
          </a:p>
        </p:txBody>
      </p:sp>
      <p:sp>
        <p:nvSpPr>
          <p:cNvPr id="2" name="">
            <a:extLst xmlns:a="http://schemas.openxmlformats.org/drawingml/2006/main">
              <a:ext uri="{FF2B5EF4-FFF2-40B4-BE49-F238E27FC236}">
                <a16:creationId xmlns:a16="http://schemas.microsoft.com/office/drawing/2014/main" id="{ED5A554B-C0EB-43DA-AEF7-6801DF199A85}"/>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662E24C8-4EB0-44A6-AB5B-3DCD73659D4C}"/>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8E6D5E0A-CEE9-4A3D-85B4-E4034D6E3C6E}"/>
              </a:ext>
            </a:extLst>
          </p:cNvPr>
          <p:cNvSpPr>
            <a:spLocks xmlns:a="http://schemas.openxmlformats.org/drawingml/2006/main" noGrp="1"/>
          </p:cNvSpPr>
          <p:nvPr/>
        </p:nvSpPr>
        <p:spPr>
          <a:xfrm xmlns:a="http://schemas.openxmlformats.org/drawingml/2006/main">
            <a:off x="6400800" y="1809750"/>
            <a:ext cx="5181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WHAT WE BUILD</a:t>
            </a:r>
          </a:p>
        </p:txBody>
      </p:sp>
      <p:sp>
        <p:nvSpPr>
          <p:cNvPr id="5" name="">
            <a:extLst xmlns:a="http://schemas.openxmlformats.org/drawingml/2006/main">
              <a:ext uri="{FF2B5EF4-FFF2-40B4-BE49-F238E27FC236}">
                <a16:creationId xmlns:a16="http://schemas.microsoft.com/office/drawing/2014/main" id="{7B9421F5-EA6D-42B0-9206-56767EB7EA1E}"/>
              </a:ext>
            </a:extLst>
          </p:cNvPr>
          <p:cNvSpPr>
            <a:spLocks xmlns:a="http://schemas.openxmlformats.org/drawingml/2006/main" noGrp="1"/>
          </p:cNvSpPr>
          <p:nvPr/>
        </p:nvSpPr>
        <p:spPr>
          <a:xfrm xmlns:a="http://schemas.openxmlformats.org/drawingml/2006/main">
            <a:off x="6400800" y="2257425"/>
            <a:ext cx="518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F5B61C"/>
                </a:solidFill>
                <a:latin typeface="Arial"/>
                <a:ea typeface="Arial"/>
                <a:cs typeface="Arial"/>
              </a:defRPr>
            </a:pPr>
            <a:r>
              <a:rPr sz="2175" b="1">
                <a:solidFill>
                  <a:srgbClr val="F5B61C"/>
                </a:solidFill>
                <a:latin typeface="Arial"/>
                <a:ea typeface="Arial"/>
                <a:cs typeface="Arial"/>
              </a:rPr>
              <a:t>Uncertainty Architecture</a:t>
            </a:r>
          </a:p>
        </p:txBody>
      </p:sp>
      <p:sp>
        <p:nvSpPr>
          <p:cNvPr id="6" name="">
            <a:extLst xmlns:a="http://schemas.openxmlformats.org/drawingml/2006/main">
              <a:ext uri="{FF2B5EF4-FFF2-40B4-BE49-F238E27FC236}">
                <a16:creationId xmlns:a16="http://schemas.microsoft.com/office/drawing/2014/main" id="{AC3B98A8-0DEE-43C3-895C-2B6E948AD8F2}"/>
              </a:ext>
            </a:extLst>
          </p:cNvPr>
          <p:cNvSpPr>
            <a:spLocks xmlns:a="http://schemas.openxmlformats.org/drawingml/2006/main" noGrp="1"/>
          </p:cNvSpPr>
          <p:nvPr/>
        </p:nvSpPr>
        <p:spPr>
          <a:xfrm xmlns:a="http://schemas.openxmlformats.org/drawingml/2006/main">
            <a:off x="6400800" y="2676525"/>
            <a:ext cx="5181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a:solidFill>
                  <a:srgbClr val="F4F7FA"/>
                </a:solidFill>
                <a:latin typeface="Arial"/>
                <a:ea typeface="Arial"/>
                <a:cs typeface="Arial"/>
              </a:defRPr>
            </a:pPr>
            <a:r>
              <a:rPr sz="1725" b="0">
                <a:solidFill>
                  <a:srgbClr val="F4F7FA"/>
                </a:solidFill>
                <a:latin typeface="Arial"/>
                <a:ea typeface="Arial"/>
                <a:cs typeface="Arial"/>
              </a:rPr>
              <a:t>Designing and governing</a:t>
            </a:r>
          </a:p>
          <a:p xmlns:a="http://schemas.openxmlformats.org/drawingml/2006/main">
            <a:pPr algn="ctr">
              <a:defRPr sz="1725" b="0">
                <a:solidFill>
                  <a:srgbClr val="F4F7FA"/>
                </a:solidFill>
                <a:latin typeface="Arial"/>
                <a:ea typeface="Arial"/>
                <a:cs typeface="Arial"/>
              </a:defRPr>
            </a:pPr>
            <a:r>
              <a:rPr sz="1725" b="0">
                <a:solidFill>
                  <a:srgbClr val="F4F7FA"/>
                </a:solidFill>
                <a:latin typeface="Arial"/>
                <a:ea typeface="Arial"/>
                <a:cs typeface="Arial"/>
              </a:rPr>
              <a:t>Thinking Systems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0e071b309794530"/>
          <a:stretch xmlns:a="http://schemas.openxmlformats.org/drawingml/2006/main"/>
        </p:blipFill>
        <p:spPr>
          <a:xfrm xmlns:a="http://schemas.openxmlformats.org/drawingml/2006/main">
            <a:off x="7962900" y="3333750"/>
            <a:ext cx="2057400" cy="2057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BAC4099-368E-4D94-8486-58DF0B8DAB9E}"/>
              </a:ext>
            </a:extLst>
          </p:cNvPr>
          <p:cNvSpPr>
            <a:spLocks xmlns:a="http://schemas.openxmlformats.org/drawingml/2006/main" noGrp="1"/>
          </p:cNvSpPr>
          <p:nvPr/>
        </p:nvSpPr>
        <p:spPr>
          <a:xfrm xmlns:a="http://schemas.openxmlformats.org/drawingml/2006/main">
            <a:off x="6400800" y="5514975"/>
            <a:ext cx="5181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ADB8C5"/>
                </a:solidFill>
                <a:latin typeface="Arial"/>
                <a:ea typeface="Arial"/>
                <a:cs typeface="Arial"/>
              </a:defRPr>
            </a:pPr>
            <a:r>
              <a:rPr sz="1350" b="0">
                <a:solidFill>
                  <a:srgbClr val="ADB8C5"/>
                </a:solidFill>
                <a:latin typeface="Arial"/>
                <a:ea typeface="Arial"/>
                <a:cs typeface="Arial"/>
                <a:hlinkClick xmlns:r="http://schemas.openxmlformats.org/officeDocument/2006/relationships" r:id="Rf1f89aa43b224a61"/>
              </a:rPr>
              <a:t>github.com/UncertaintyArchitectureGroup/</a:t>
            </a:r>
          </a:p>
        </p:txBody>
      </p:sp>
      <p:sp>
        <p:nvSpPr>
          <p:cNvPr id="9" name="">
            <a:extLst xmlns:a="http://schemas.openxmlformats.org/drawingml/2006/main">
              <a:ext uri="{FF2B5EF4-FFF2-40B4-BE49-F238E27FC236}">
                <a16:creationId xmlns:a16="http://schemas.microsoft.com/office/drawing/2014/main" id="{D5589D01-AEB9-4E41-B42F-6DDF5ECFC31A}"/>
              </a:ext>
            </a:extLst>
          </p:cNvPr>
          <p:cNvSpPr>
            <a:spLocks xmlns:a="http://schemas.openxmlformats.org/drawingml/2006/main" noGrp="1"/>
          </p:cNvSpPr>
          <p:nvPr/>
        </p:nvSpPr>
        <p:spPr>
          <a:xfrm xmlns:a="http://schemas.openxmlformats.org/drawingml/2006/main">
            <a:off x="6400800" y="5791200"/>
            <a:ext cx="518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5B61C"/>
                </a:solidFill>
                <a:latin typeface="Arial"/>
                <a:ea typeface="Arial"/>
                <a:cs typeface="Arial"/>
              </a:defRPr>
            </a:pPr>
            <a:r>
              <a:rPr sz="1650" b="1">
                <a:solidFill>
                  <a:srgbClr val="F5B61C"/>
                </a:solidFill>
                <a:latin typeface="Arial"/>
                <a:ea typeface="Arial"/>
                <a:cs typeface="Arial"/>
                <a:hlinkClick xmlns:r="http://schemas.openxmlformats.org/officeDocument/2006/relationships" r:id="R0cb4232a2dbf467f"/>
              </a:rPr>
              <a:t>uncertainty-architecture</a:t>
            </a:r>
          </a:p>
        </p:txBody>
      </p:sp>
      <p:sp>
        <p:nvSpPr>
          <p:cNvPr id="10" name="">
            <a:extLst xmlns:a="http://schemas.openxmlformats.org/drawingml/2006/main">
              <a:ext uri="{FF2B5EF4-FFF2-40B4-BE49-F238E27FC236}">
                <a16:creationId xmlns:a16="http://schemas.microsoft.com/office/drawing/2014/main" id="{90830647-DE18-418A-88A3-F6465DB1128E}"/>
              </a:ext>
            </a:extLst>
          </p:cNvPr>
          <p:cNvSpPr>
            <a:spLocks xmlns:a="http://schemas.openxmlformats.org/drawingml/2006/main" noGrp="1"/>
          </p:cNvSpPr>
          <p:nvPr/>
        </p:nvSpPr>
        <p:spPr>
          <a:xfrm xmlns:a="http://schemas.openxmlformats.org/drawingml/2006/main">
            <a:off x="609600" y="1809750"/>
            <a:ext cx="5181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28C7F7"/>
                </a:solidFill>
                <a:latin typeface="Arial"/>
                <a:ea typeface="Arial"/>
                <a:cs typeface="Arial"/>
              </a:defRPr>
            </a:pPr>
            <a:r>
              <a:rPr sz="1575" b="1">
                <a:solidFill>
                  <a:srgbClr val="28C7F7"/>
                </a:solidFill>
                <a:latin typeface="Arial"/>
                <a:ea typeface="Arial"/>
                <a:cs typeface="Arial"/>
              </a:rPr>
              <a:t>HOW WE BUILD</a:t>
            </a:r>
          </a:p>
        </p:txBody>
      </p:sp>
      <p:sp>
        <p:nvSpPr>
          <p:cNvPr id="11" name="">
            <a:extLst xmlns:a="http://schemas.openxmlformats.org/drawingml/2006/main">
              <a:ext uri="{FF2B5EF4-FFF2-40B4-BE49-F238E27FC236}">
                <a16:creationId xmlns:a16="http://schemas.microsoft.com/office/drawing/2014/main" id="{89C08C47-746F-4706-B908-DCC8B49C2507}"/>
              </a:ext>
            </a:extLst>
          </p:cNvPr>
          <p:cNvSpPr>
            <a:spLocks xmlns:a="http://schemas.openxmlformats.org/drawingml/2006/main" noGrp="1"/>
          </p:cNvSpPr>
          <p:nvPr/>
        </p:nvSpPr>
        <p:spPr>
          <a:xfrm xmlns:a="http://schemas.openxmlformats.org/drawingml/2006/main">
            <a:off x="609600" y="2257425"/>
            <a:ext cx="518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28C7F7"/>
                </a:solidFill>
                <a:latin typeface="Arial"/>
                <a:ea typeface="Arial"/>
                <a:cs typeface="Arial"/>
              </a:defRPr>
            </a:pPr>
            <a:r>
              <a:rPr sz="2175" b="1">
                <a:solidFill>
                  <a:srgbClr val="28C7F7"/>
                </a:solidFill>
                <a:latin typeface="Arial"/>
                <a:ea typeface="Arial"/>
                <a:cs typeface="Arial"/>
              </a:rPr>
              <a:t>The Subprime Code Crisis</a:t>
            </a:r>
          </a:p>
        </p:txBody>
      </p:sp>
      <p:sp>
        <p:nvSpPr>
          <p:cNvPr id="12" name="">
            <a:extLst xmlns:a="http://schemas.openxmlformats.org/drawingml/2006/main">
              <a:ext uri="{FF2B5EF4-FFF2-40B4-BE49-F238E27FC236}">
                <a16:creationId xmlns:a16="http://schemas.microsoft.com/office/drawing/2014/main" id="{787CCDF6-18FD-4BDF-99B4-9B2B348DC80D}"/>
              </a:ext>
            </a:extLst>
          </p:cNvPr>
          <p:cNvSpPr>
            <a:spLocks xmlns:a="http://schemas.openxmlformats.org/drawingml/2006/main" noGrp="1"/>
          </p:cNvSpPr>
          <p:nvPr/>
        </p:nvSpPr>
        <p:spPr>
          <a:xfrm xmlns:a="http://schemas.openxmlformats.org/drawingml/2006/main">
            <a:off x="609600" y="2676525"/>
            <a:ext cx="5181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a:solidFill>
                  <a:srgbClr val="F4F7FA"/>
                </a:solidFill>
                <a:latin typeface="Arial"/>
                <a:ea typeface="Arial"/>
                <a:cs typeface="Arial"/>
              </a:defRPr>
            </a:pPr>
            <a:r>
              <a:rPr sz="1725" b="0">
                <a:solidFill>
                  <a:srgbClr val="F4F7FA"/>
                </a:solidFill>
                <a:latin typeface="Arial"/>
                <a:ea typeface="Arial"/>
                <a:cs typeface="Arial"/>
              </a:rPr>
              <a:t>AI-assisted delivery, understanding</a:t>
            </a:r>
          </a:p>
          <a:p xmlns:a="http://schemas.openxmlformats.org/drawingml/2006/main">
            <a:pPr algn="ctr">
              <a:defRPr sz="1725" b="0">
                <a:solidFill>
                  <a:srgbClr val="F4F7FA"/>
                </a:solidFill>
                <a:latin typeface="Arial"/>
                <a:ea typeface="Arial"/>
                <a:cs typeface="Arial"/>
              </a:defRPr>
            </a:pPr>
            <a:r>
              <a:rPr sz="1725" b="0">
                <a:solidFill>
                  <a:srgbClr val="F4F7FA"/>
                </a:solidFill>
                <a:latin typeface="Arial"/>
                <a:ea typeface="Arial"/>
                <a:cs typeface="Arial"/>
              </a:rPr>
              <a:t>and long-term ownership</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7ee99641e074be5"/>
          <a:stretch xmlns:a="http://schemas.openxmlformats.org/drawingml/2006/main"/>
        </p:blipFill>
        <p:spPr>
          <a:xfrm xmlns:a="http://schemas.openxmlformats.org/drawingml/2006/main">
            <a:off x="2171700" y="3333750"/>
            <a:ext cx="2057400" cy="20574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D605B198-2771-429E-88EB-498BA90CA7D2}"/>
              </a:ext>
            </a:extLst>
          </p:cNvPr>
          <p:cNvSpPr>
            <a:spLocks xmlns:a="http://schemas.openxmlformats.org/drawingml/2006/main" noGrp="1"/>
          </p:cNvSpPr>
          <p:nvPr/>
        </p:nvSpPr>
        <p:spPr>
          <a:xfrm xmlns:a="http://schemas.openxmlformats.org/drawingml/2006/main">
            <a:off x="609600" y="5514975"/>
            <a:ext cx="5181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ADB8C5"/>
                </a:solidFill>
                <a:latin typeface="Arial"/>
                <a:ea typeface="Arial"/>
                <a:cs typeface="Arial"/>
              </a:defRPr>
            </a:pPr>
            <a:r>
              <a:rPr sz="1350" b="0">
                <a:solidFill>
                  <a:srgbClr val="ADB8C5"/>
                </a:solidFill>
                <a:latin typeface="Arial"/>
                <a:ea typeface="Arial"/>
                <a:cs typeface="Arial"/>
                <a:hlinkClick xmlns:r="http://schemas.openxmlformats.org/officeDocument/2006/relationships" r:id="Rb3d6c167f91f4b5d"/>
              </a:rPr>
              <a:t>github.com/UncertaintyArchitectureGroup/</a:t>
            </a:r>
          </a:p>
        </p:txBody>
      </p:sp>
      <p:sp>
        <p:nvSpPr>
          <p:cNvPr id="15" name="">
            <a:extLst xmlns:a="http://schemas.openxmlformats.org/drawingml/2006/main">
              <a:ext uri="{FF2B5EF4-FFF2-40B4-BE49-F238E27FC236}">
                <a16:creationId xmlns:a16="http://schemas.microsoft.com/office/drawing/2014/main" id="{B2117A08-C5C1-4E56-A930-68650B10BB64}"/>
              </a:ext>
            </a:extLst>
          </p:cNvPr>
          <p:cNvSpPr>
            <a:spLocks xmlns:a="http://schemas.openxmlformats.org/drawingml/2006/main" noGrp="1"/>
          </p:cNvSpPr>
          <p:nvPr/>
        </p:nvSpPr>
        <p:spPr>
          <a:xfrm xmlns:a="http://schemas.openxmlformats.org/drawingml/2006/main">
            <a:off x="609600" y="5791200"/>
            <a:ext cx="518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28C7F7"/>
                </a:solidFill>
                <a:latin typeface="Arial"/>
                <a:ea typeface="Arial"/>
                <a:cs typeface="Arial"/>
              </a:defRPr>
            </a:pPr>
            <a:r>
              <a:rPr sz="1650" b="1">
                <a:solidFill>
                  <a:srgbClr val="28C7F7"/>
                </a:solidFill>
                <a:latin typeface="Arial"/>
                <a:ea typeface="Arial"/>
                <a:cs typeface="Arial"/>
                <a:hlinkClick xmlns:r="http://schemas.openxmlformats.org/officeDocument/2006/relationships" r:id="Rf827061a85a34841"/>
              </a:rPr>
              <a:t>The-Subprime-Code-Crisis</a:t>
            </a:r>
          </a:p>
        </p:txBody>
      </p:sp>
      <p:sp>
        <p:nvSpPr>
          <p:cNvPr id="16" name="">
            <a:extLst xmlns:a="http://schemas.openxmlformats.org/drawingml/2006/main">
              <a:ext uri="{FF2B5EF4-FFF2-40B4-BE49-F238E27FC236}">
                <a16:creationId xmlns:a16="http://schemas.microsoft.com/office/drawing/2014/main" id="{93B0A770-F623-41C5-84B0-930BF5D909CD}"/>
              </a:ext>
            </a:extLst>
          </p:cNvPr>
          <p:cNvSpPr>
            <a:spLocks xmlns:a="http://schemas.openxmlformats.org/drawingml/2006/main" noGrp="1"/>
          </p:cNvSpPr>
          <p:nvPr/>
        </p:nvSpPr>
        <p:spPr>
          <a:xfrm xmlns:a="http://schemas.openxmlformats.org/drawingml/2006/main" flipH="0" flipV="0">
            <a:off x="6096000" y="2257425"/>
            <a:ext cx="0" cy="3800475"/>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7" name="">
            <a:extLst xmlns:a="http://schemas.openxmlformats.org/drawingml/2006/main">
              <a:ext uri="{FF2B5EF4-FFF2-40B4-BE49-F238E27FC236}">
                <a16:creationId xmlns:a16="http://schemas.microsoft.com/office/drawing/2014/main" id="{C34D149A-73FA-457F-869B-95324530F11C}"/>
              </a:ext>
            </a:extLst>
          </p:cNvPr>
          <p:cNvSpPr>
            <a:spLocks xmlns:a="http://schemas.openxmlformats.org/drawingml/2006/main" noGrp="1"/>
          </p:cNvSpPr>
          <p:nvPr/>
        </p:nvSpPr>
        <p:spPr>
          <a:xfrm xmlns:a="http://schemas.openxmlformats.org/drawingml/2006/main" flipH="0" flipV="0">
            <a:off x="609600" y="621982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8" name="">
            <a:extLst xmlns:a="http://schemas.openxmlformats.org/drawingml/2006/main">
              <a:ext uri="{FF2B5EF4-FFF2-40B4-BE49-F238E27FC236}">
                <a16:creationId xmlns:a16="http://schemas.microsoft.com/office/drawing/2014/main" id="{69700764-0957-44A6-88B4-CEFD0FBA99B5}"/>
              </a:ext>
            </a:extLst>
          </p:cNvPr>
          <p:cNvSpPr>
            <a:spLocks xmlns:a="http://schemas.openxmlformats.org/drawingml/2006/main" noGrp="1"/>
          </p:cNvSpPr>
          <p:nvPr/>
        </p:nvSpPr>
        <p:spPr>
          <a:xfrm xmlns:a="http://schemas.openxmlformats.org/drawingml/2006/main">
            <a:off x="609600" y="6353175"/>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Vitalii Oborskyi</a:t>
            </a:r>
          </a:p>
        </p:txBody>
      </p:sp>
      <p:sp>
        <p:nvSpPr>
          <p:cNvPr id="19" name="">
            <a:extLst xmlns:a="http://schemas.openxmlformats.org/drawingml/2006/main">
              <a:ext uri="{FF2B5EF4-FFF2-40B4-BE49-F238E27FC236}">
                <a16:creationId xmlns:a16="http://schemas.microsoft.com/office/drawing/2014/main" id="{871AE956-013E-4B2C-8F2B-E8DBAEE0ADCD}"/>
              </a:ext>
            </a:extLst>
          </p:cNvPr>
          <p:cNvSpPr>
            <a:spLocks xmlns:a="http://schemas.openxmlformats.org/drawingml/2006/main" noGrp="1"/>
          </p:cNvSpPr>
          <p:nvPr/>
        </p:nvSpPr>
        <p:spPr>
          <a:xfrm xmlns:a="http://schemas.openxmlformats.org/drawingml/2006/main">
            <a:off x="3000375" y="6353175"/>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28C7F7"/>
                </a:solidFill>
                <a:latin typeface="Arial"/>
                <a:ea typeface="Arial"/>
                <a:cs typeface="Arial"/>
              </a:defRPr>
            </a:pPr>
            <a:r>
              <a:rPr sz="1350" b="0">
                <a:solidFill>
                  <a:srgbClr val="28C7F7"/>
                </a:solidFill>
                <a:latin typeface="Arial"/>
                <a:ea typeface="Arial"/>
                <a:cs typeface="Arial"/>
                <a:hlinkClick xmlns:r="http://schemas.openxmlformats.org/officeDocument/2006/relationships" r:id="R4dbbd2d3dc374171"/>
              </a:rPr>
              <a:t>oborskyivitalii@gmail.com</a:t>
            </a:r>
          </a:p>
        </p:txBody>
      </p:sp>
      <p:sp>
        <p:nvSpPr>
          <p:cNvPr id="20" name="">
            <a:extLst xmlns:a="http://schemas.openxmlformats.org/drawingml/2006/main">
              <a:ext uri="{FF2B5EF4-FFF2-40B4-BE49-F238E27FC236}">
                <a16:creationId xmlns:a16="http://schemas.microsoft.com/office/drawing/2014/main" id="{A640F011-41D5-48A4-B7CE-B9B64E67D2CD}"/>
              </a:ext>
            </a:extLst>
          </p:cNvPr>
          <p:cNvSpPr>
            <a:spLocks xmlns:a="http://schemas.openxmlformats.org/drawingml/2006/main" noGrp="1"/>
          </p:cNvSpPr>
          <p:nvPr/>
        </p:nvSpPr>
        <p:spPr>
          <a:xfrm xmlns:a="http://schemas.openxmlformats.org/drawingml/2006/main">
            <a:off x="6438900" y="6353175"/>
            <a:ext cx="4552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28C7F7"/>
                </a:solidFill>
                <a:latin typeface="Arial"/>
                <a:ea typeface="Arial"/>
                <a:cs typeface="Arial"/>
              </a:defRPr>
            </a:pPr>
            <a:r>
              <a:rPr sz="1275" b="0">
                <a:solidFill>
                  <a:srgbClr val="28C7F7"/>
                </a:solidFill>
                <a:latin typeface="Arial"/>
                <a:ea typeface="Arial"/>
                <a:cs typeface="Arial"/>
                <a:hlinkClick xmlns:r="http://schemas.openxmlformats.org/officeDocument/2006/relationships" r:id="R45f12a51f4cf4665"/>
              </a:rPr>
              <a:t>https://www.linkedin.com/in/vitaliioborskyi/</a:t>
            </a:r>
          </a:p>
        </p:txBody>
      </p:sp>
    </p:spTree>
    <p:extLst>
      <p:ext uri="{BB962C8B-B14F-4D97-AF65-F5344CB8AC3E}">
        <p14:creationId xmlns:p14="http://schemas.microsoft.com/office/powerpoint/2010/main" val="10488535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2026-10-01T10:59:36.7510000Z</dcterms:created>
  <dcterms:modified xsi:type="dcterms:W3CDTF">2026-10-01T10:59:36.7510000Z</dcterms:modified>
</coreProperties>
</file>