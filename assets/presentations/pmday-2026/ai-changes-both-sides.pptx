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fntdata" ContentType="application/x-fontdata"/>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f6d9b79c35d4cf2" /><Relationship Type="http://schemas.openxmlformats.org/officeDocument/2006/relationships/extended-properties" Target="/docProps/app.xml" Id="Rb5e2902ee27540cc" /><Relationship Type="http://schemas.openxmlformats.org/officeDocument/2006/relationships/officeDocument" Target="/ppt/presentation.xml" Id="Rb874418f060745c9" /></Relationships>
</file>

<file path=ppt/presentation.xml><?xml version="1.0" encoding="utf-8"?>
<p:presentation xmlns:p="http://schemas.openxmlformats.org/presentationml/2006/main" xmlns:r="http://schemas.openxmlformats.org/officeDocument/2006/relationships" embedTrueTypeFonts="1" saveSubsetFonts="0">
  <p:sldMasterIdLst>
    <p:sldMasterId id="2147483648" r:id="Rfdcb9ee7896c4237"/>
  </p:sldMasterIdLst>
  <p:notesMasterIdLst>
    <p:notesMasterId r:id="Rc8ea57c4871c444d"/>
  </p:notesMasterIdLst>
  <p:sldIdLst>
    <p:sldId id="256" r:id="Rf5adcd47a0a14bcb"/>
    <p:sldId id="257" r:id="R22465a291ce441bc"/>
    <p:sldId id="258" r:id="R54e9ddb0b04d4479"/>
    <p:sldId id="259" r:id="R82f5e9bc4bd34d83"/>
    <p:sldId id="260" r:id="R644dd115f96841df"/>
    <p:sldId id="261" r:id="Rcf9544d11d0b4d4b"/>
    <p:sldId id="262" r:id="R967c2346a4244444"/>
    <p:sldId id="263" r:id="Rd8193ba3661d4462"/>
    <p:sldId id="264" r:id="R3e81328f6fc54587"/>
    <p:sldId id="265" r:id="R2a0811633db9433d"/>
    <p:sldId id="266" r:id="Rf8fae3e60e664044"/>
    <p:sldId id="267" r:id="Rbb0b09c3d6214181"/>
    <p:sldId id="268" r:id="R3b6ec15628494196"/>
    <p:sldId id="269" r:id="Ree03ea6431644011"/>
  </p:sldIdLst>
  <p:sldSz cx="12192000" cy="6858000"/>
  <p:notesSz cx="6858000" cy="9144000"/>
  <p:embeddedFontLst>
    <p:embeddedFont>
      <p:font typeface="Roboto"/>
      <p:regular r:id="rIdRobotoRegular"/>
      <p:bold r:id="rIdRobotoBol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87b1de31481a4363" /><Relationship Type="http://schemas.openxmlformats.org/officeDocument/2006/relationships/slideMaster" Target="/ppt/slideMasters/slideMaster1.xml" Id="Rfdcb9ee7896c4237" /><Relationship Type="http://schemas.openxmlformats.org/officeDocument/2006/relationships/notesMaster" Target="/ppt/notesMasters/notesMaster1.xml" Id="Rc8ea57c4871c444d" /><Relationship Type="http://schemas.openxmlformats.org/officeDocument/2006/relationships/presProps" Target="/ppt/presProps.xml" Id="R8aaaffb66d6d47a8" /><Relationship Type="http://schemas.openxmlformats.org/officeDocument/2006/relationships/tableStyles" Target="/ppt/tableStyles.xml" Id="R0017ee18e4d1427e" /><Relationship Type="http://schemas.openxmlformats.org/officeDocument/2006/relationships/slide" Target="/ppt/slides/slide1.xml" Id="Rf5adcd47a0a14bcb" /><Relationship Type="http://schemas.openxmlformats.org/officeDocument/2006/relationships/slide" Target="/ppt/slides/slide2.xml" Id="R22465a291ce441bc" /><Relationship Type="http://schemas.openxmlformats.org/officeDocument/2006/relationships/slide" Target="/ppt/slides/slide3.xml" Id="R54e9ddb0b04d4479" /><Relationship Type="http://schemas.openxmlformats.org/officeDocument/2006/relationships/slide" Target="/ppt/slides/slide4.xml" Id="R82f5e9bc4bd34d83" /><Relationship Type="http://schemas.openxmlformats.org/officeDocument/2006/relationships/slide" Target="/ppt/slides/slide5.xml" Id="R644dd115f96841df" /><Relationship Type="http://schemas.openxmlformats.org/officeDocument/2006/relationships/slide" Target="/ppt/slides/slide6.xml" Id="Rcf9544d11d0b4d4b" /><Relationship Type="http://schemas.openxmlformats.org/officeDocument/2006/relationships/slide" Target="/ppt/slides/slide7.xml" Id="R967c2346a4244444" /><Relationship Type="http://schemas.openxmlformats.org/officeDocument/2006/relationships/slide" Target="/ppt/slides/slide8.xml" Id="Rd8193ba3661d4462" /><Relationship Type="http://schemas.openxmlformats.org/officeDocument/2006/relationships/slide" Target="/ppt/slides/slide9.xml" Id="R3e81328f6fc54587" /><Relationship Type="http://schemas.openxmlformats.org/officeDocument/2006/relationships/slide" Target="/ppt/slides/slide10.xml" Id="R2a0811633db9433d" /><Relationship Type="http://schemas.openxmlformats.org/officeDocument/2006/relationships/slide" Target="/ppt/slides/slide11.xml" Id="Rf8fae3e60e664044" /><Relationship Type="http://schemas.openxmlformats.org/officeDocument/2006/relationships/slide" Target="/ppt/slides/slide12.xml" Id="Rbb0b09c3d6214181" /><Relationship Type="http://schemas.openxmlformats.org/officeDocument/2006/relationships/slide" Target="/ppt/slides/slide13.xml" Id="R3b6ec15628494196" /><Relationship Type="http://schemas.openxmlformats.org/officeDocument/2006/relationships/slide" Target="/ppt/slides/slide14.xml" Id="Ree03ea6431644011" /><Relationship Id="rIdRobotoRegular" Type="http://schemas.openxmlformats.org/officeDocument/2006/relationships/font" Target="fonts/Roboto-Regular.fntdata" /><Relationship Id="rIdRobotoBold" Type="http://schemas.openxmlformats.org/officeDocument/2006/relationships/font" Target="fonts/Roboto-Bold.fntdat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60154763c649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19f5c73b2c4308" /><Relationship Type="http://schemas.openxmlformats.org/officeDocument/2006/relationships/notesMaster" Target="/ppt/notesMasters/notesMaster1.xml" Id="R441a6744a2924c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22a3c6d0094f5f" /><Relationship Type="http://schemas.openxmlformats.org/officeDocument/2006/relationships/notesMaster" Target="/ppt/notesMasters/notesMaster1.xml" Id="R3e100ca8a39d4e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26592ac70f41f7" /><Relationship Type="http://schemas.openxmlformats.org/officeDocument/2006/relationships/notesMaster" Target="/ppt/notesMasters/notesMaster1.xml" Id="R51be2d77a2fe46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9a80d10fed4519" /><Relationship Type="http://schemas.openxmlformats.org/officeDocument/2006/relationships/notesMaster" Target="/ppt/notesMasters/notesMaster1.xml" Id="R89b45b6be81549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ec92dc8e2d4d45" /><Relationship Type="http://schemas.openxmlformats.org/officeDocument/2006/relationships/notesMaster" Target="/ppt/notesMasters/notesMaster1.xml" Id="R108c896b17ff45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c35b2878554e02" /><Relationship Type="http://schemas.openxmlformats.org/officeDocument/2006/relationships/notesMaster" Target="/ppt/notesMasters/notesMaster1.xml" Id="Ra7053b7597754c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073cc19ad140af" /><Relationship Type="http://schemas.openxmlformats.org/officeDocument/2006/relationships/notesMaster" Target="/ppt/notesMasters/notesMaster1.xml" Id="R448273df510f46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e8d4caeb64415f" /><Relationship Type="http://schemas.openxmlformats.org/officeDocument/2006/relationships/notesMaster" Target="/ppt/notesMasters/notesMaster1.xml" Id="R03df9c6fbf9c4a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aae7e2efc844fd" /><Relationship Type="http://schemas.openxmlformats.org/officeDocument/2006/relationships/notesMaster" Target="/ppt/notesMasters/notesMaster1.xml" Id="R7d474519bdba41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d22e3aeb564d6c" /><Relationship Type="http://schemas.openxmlformats.org/officeDocument/2006/relationships/notesMaster" Target="/ppt/notesMasters/notesMaster1.xml" Id="Rf42fe285916b4b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a53510dece4fe1" /><Relationship Type="http://schemas.openxmlformats.org/officeDocument/2006/relationships/notesMaster" Target="/ppt/notesMasters/notesMaster1.xml" Id="R18a2ee8df5ca4ec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dad66d7b1447b4" /><Relationship Type="http://schemas.openxmlformats.org/officeDocument/2006/relationships/notesMaster" Target="/ppt/notesMasters/notesMaster1.xml" Id="R9910a769c20c49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2622ff00de4ae7" /><Relationship Type="http://schemas.openxmlformats.org/officeDocument/2006/relationships/notesMaster" Target="/ppt/notesMasters/notesMaster1.xml" Id="Rc7d992563217472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9c97b3e8954dcf" /><Relationship Type="http://schemas.openxmlformats.org/officeDocument/2006/relationships/notesMaster" Target="/ppt/notesMasters/notesMaster1.xml" Id="R4ab5aafdc6f341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3e81f4d2f549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9ea36271484fe0" /><Relationship Type="http://schemas.openxmlformats.org/officeDocument/2006/relationships/slideLayout" Target="/ppt/slideLayouts/slideLayout1.xml" Id="Ra81427a03d2f40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1427a03d2f40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8a29b352d034441" /><Relationship Type="http://schemas.openxmlformats.org/officeDocument/2006/relationships/image" Target="/ppt/media/image.png" Id="R063c4ff176204e71" /><Relationship Type="http://schemas.openxmlformats.org/officeDocument/2006/relationships/notesSlide" Target="/ppt/notesSlides/notesSlide1.xml" Id="Rb375d988cfd142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04a9cf230ed46e9" /><Relationship Type="http://schemas.openxmlformats.org/officeDocument/2006/relationships/notesSlide" Target="/ppt/notesSlides/notesSlide2.xml" Id="Rcf5e7f5cfcfe4b3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da5bf714bc4b5c" /><Relationship Type="http://schemas.openxmlformats.org/officeDocument/2006/relationships/notesSlide" Target="/ppt/notesSlides/notesSlide3.xml" Id="Rde54a01a4a3d41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839334a4e634e62" /><Relationship Type="http://schemas.openxmlformats.org/officeDocument/2006/relationships/notesSlide" Target="/ppt/notesSlides/notesSlide4.xml" Id="Rc92741c81b1c41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e4f517ce3b44dd1" /><Relationship Type="http://schemas.openxmlformats.org/officeDocument/2006/relationships/notesSlide" Target="/ppt/notesSlides/notesSlide5.xml" Id="R6d63204d69b24f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40ca8710a4f4dad" /><Relationship Type="http://schemas.openxmlformats.org/officeDocument/2006/relationships/notesSlide" Target="/ppt/notesSlides/notesSlide6.xml" Id="R9e8a9de7277c40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cdeba8e26bd4140" /><Relationship Type="http://schemas.openxmlformats.org/officeDocument/2006/relationships/notesSlide" Target="/ppt/notesSlides/notesSlide7.xml" Id="R40a8a739736747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b283ef517ac441c" /><Relationship Type="http://schemas.openxmlformats.org/officeDocument/2006/relationships/notesSlide" Target="/ppt/notesSlides/notesSlide8.xml" Id="Rbcf9eed16d2c44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dabbf482d14492" /><Relationship Type="http://schemas.openxmlformats.org/officeDocument/2006/relationships/notesSlide" Target="/ppt/notesSlides/notesSlide9.xml" Id="R429ace3511a64a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92a4e2e4947407a" /><Relationship Type="http://schemas.openxmlformats.org/officeDocument/2006/relationships/chart" Target="/ppt/slides/charts/chart1.xml" Id="R3211feed631d48db" /><Relationship Type="http://schemas.openxmlformats.org/officeDocument/2006/relationships/notesSlide" Target="/ppt/notesSlides/notesSlide10.xml" Id="Re34f4fa351f44d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53c4422cbc545d4" /><Relationship Type="http://schemas.openxmlformats.org/officeDocument/2006/relationships/notesSlide" Target="/ppt/notesSlides/notesSlide11.xml" Id="R5bb06484dc5e455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bac67a792d6431d" /><Relationship Type="http://schemas.openxmlformats.org/officeDocument/2006/relationships/notesSlide" Target="/ppt/notesSlides/notesSlide12.xml" Id="R237d9af2491649f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60ca1a0824d4f66" /><Relationship Type="http://schemas.openxmlformats.org/officeDocument/2006/relationships/notesSlide" Target="/ppt/notesSlides/notesSlide13.xml" Id="Rcdde369ee97f4d9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49f3ee6368947b1" /><Relationship Type="http://schemas.openxmlformats.org/officeDocument/2006/relationships/notesSlide" Target="/ppt/notesSlides/notesSlide14.xml" Id="R6b77f90411154fe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75" b="1">
                        <a:solidFill>
                          <a:srgbClr val="F4F7FA"/>
                        </a:solidFill>
                        <a:latin typeface="Roboto"/>
                        <a:ea typeface="Roboto"/>
                        <a:cs typeface="Roboto"/>
                      </a:rPr>
                      <a:t>196 (98%)</a:t>
                    </a:r>
                  </a:p>
                </c:rich>
              </c:tx>
              <c:txPr>
                <a:bodyPr xmlns:a="http://schemas.openxmlformats.org/drawingml/2006/main" anchorCtr="1"/>
                <a:lstStyle xmlns:a="http://schemas.openxmlformats.org/drawingml/2006/main"/>
                <a:p xmlns:a="http://schemas.openxmlformats.org/drawingml/2006/main">
                  <a:pPr>
                    <a:defRPr sz="1275" b="1">
                      <a:solidFill>
                        <a:srgbClr val="F4F7FA"/>
                      </a:solidFill>
                      <a:latin typeface="Roboto"/>
                      <a:ea typeface="Roboto"/>
                      <a:cs typeface="Roboto"/>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75" b="1">
                        <a:solidFill>
                          <a:srgbClr val="F4F7FA"/>
                        </a:solidFill>
                        <a:latin typeface="Roboto"/>
                        <a:ea typeface="Roboto"/>
                        <a:cs typeface="Roboto"/>
                      </a:rPr>
                      <a:t>3 (1.5%)</a:t>
                    </a:r>
                  </a:p>
                </c:rich>
              </c:tx>
              <c:txPr>
                <a:bodyPr xmlns:a="http://schemas.openxmlformats.org/drawingml/2006/main" anchorCtr="1"/>
                <a:lstStyle xmlns:a="http://schemas.openxmlformats.org/drawingml/2006/main"/>
                <a:p xmlns:a="http://schemas.openxmlformats.org/drawingml/2006/main">
                  <a:pPr>
                    <a:defRPr sz="1275" b="1">
                      <a:solidFill>
                        <a:srgbClr val="F4F7FA"/>
                      </a:solidFill>
                      <a:latin typeface="Roboto"/>
                      <a:ea typeface="Roboto"/>
                      <a:cs typeface="Roboto"/>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75" b="1">
                        <a:solidFill>
                          <a:srgbClr val="F4F7FA"/>
                        </a:solidFill>
                        <a:latin typeface="Roboto"/>
                        <a:ea typeface="Roboto"/>
                        <a:cs typeface="Roboto"/>
                      </a:rPr>
                      <a:t>1 (0.5%)</a:t>
                    </a:r>
                  </a:p>
                </c:rich>
              </c:tx>
              <c:txPr>
                <a:bodyPr xmlns:a="http://schemas.openxmlformats.org/drawingml/2006/main" anchorCtr="1"/>
                <a:lstStyle xmlns:a="http://schemas.openxmlformats.org/drawingml/2006/main"/>
                <a:p xmlns:a="http://schemas.openxmlformats.org/drawingml/2006/main">
                  <a:pPr>
                    <a:defRPr sz="1275" b="1">
                      <a:solidFill>
                        <a:srgbClr val="F4F7FA"/>
                      </a:solidFill>
                      <a:latin typeface="Roboto"/>
                      <a:ea typeface="Roboto"/>
                      <a:cs typeface="Roboto"/>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75" b="1">
                  <a:solidFill>
                    <a:srgbClr val="F4F7FA"/>
                  </a:solidFill>
                  <a:latin typeface="Roboto"/>
                  <a:ea typeface="Roboto"/>
                  <a:cs typeface="Roboto"/>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75">
                <a:solidFill>
                  <a:srgbClr val="ADB8C5"/>
                </a:solidFill>
                <a:latin typeface="Roboto"/>
                <a:ea typeface="Roboto"/>
                <a:cs typeface="Roboto"/>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Roboto"/>
                <a:ea typeface="Roboto"/>
                <a:cs typeface="Roboto"/>
              </a:defRPr>
            </a:pPr>
          </a:p>
        </c:txPr>
        <c:crossAx val="48650112"/>
        <c:crossBetween val="between"/>
        <c:majorUnit val="5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0F3CC44-2206-4978-8DE4-05A72051E64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01</a:t>
            </a:r>
          </a:p>
        </p:txBody>
      </p:sp>
      <p:sp>
        <p:nvSpPr>
          <p:cNvPr id="2" name="">
            <a:extLst xmlns:a="http://schemas.openxmlformats.org/drawingml/2006/main">
              <a:ext uri="{FF2B5EF4-FFF2-40B4-BE49-F238E27FC236}">
                <a16:creationId xmlns:a16="http://schemas.microsoft.com/office/drawing/2014/main" id="{694DAADF-EF9D-4506-9813-D1FE1F732A9F}"/>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AI Changes Both Sides</a:t>
            </a:r>
          </a:p>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of Software Engineering</a:t>
            </a:r>
          </a:p>
        </p:txBody>
      </p:sp>
      <p:sp>
        <p:nvSpPr>
          <p:cNvPr id="3" name="">
            <a:extLst xmlns:a="http://schemas.openxmlformats.org/drawingml/2006/main">
              <a:ext uri="{FF2B5EF4-FFF2-40B4-BE49-F238E27FC236}">
                <a16:creationId xmlns:a16="http://schemas.microsoft.com/office/drawing/2014/main" id="{F916C73D-CADA-4CE0-ADBC-69074599C454}"/>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Roboto"/>
                <a:ea typeface="Roboto"/>
                <a:cs typeface="Roboto"/>
              </a:defRPr>
            </a:pPr>
            <a:r>
              <a:rPr sz="2025" b="0">
                <a:solidFill>
                  <a:srgbClr val="ADB8C5"/>
                </a:solidFill>
                <a:latin typeface="Roboto"/>
                <a:ea typeface="Roboto"/>
                <a:cs typeface="Roboto"/>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63c4ff176204e71"/>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7C91C7E-A9FF-4A79-9F95-43FFFB075EE1}"/>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WE BUILD</a:t>
            </a:r>
          </a:p>
        </p:txBody>
      </p:sp>
      <p:sp>
        <p:nvSpPr>
          <p:cNvPr id="6" name="">
            <a:extLst xmlns:a="http://schemas.openxmlformats.org/drawingml/2006/main">
              <a:ext uri="{FF2B5EF4-FFF2-40B4-BE49-F238E27FC236}">
                <a16:creationId xmlns:a16="http://schemas.microsoft.com/office/drawing/2014/main" id="{0E11D32E-D64D-4646-89D2-F3B3083E0295}"/>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helps a developer write software.</a:t>
            </a:r>
          </a:p>
        </p:txBody>
      </p:sp>
      <p:sp>
        <p:nvSpPr>
          <p:cNvPr id="7" name="">
            <a:extLst xmlns:a="http://schemas.openxmlformats.org/drawingml/2006/main">
              <a:ext uri="{FF2B5EF4-FFF2-40B4-BE49-F238E27FC236}">
                <a16:creationId xmlns:a16="http://schemas.microsoft.com/office/drawing/2014/main" id="{59D379CE-FE92-4847-83EA-5A708A2FFD30}"/>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WHAT WE BUILD</a:t>
            </a:r>
          </a:p>
        </p:txBody>
      </p:sp>
      <p:sp>
        <p:nvSpPr>
          <p:cNvPr id="8" name="">
            <a:extLst xmlns:a="http://schemas.openxmlformats.org/drawingml/2006/main">
              <a:ext uri="{FF2B5EF4-FFF2-40B4-BE49-F238E27FC236}">
                <a16:creationId xmlns:a16="http://schemas.microsoft.com/office/drawing/2014/main" id="{91DC73BE-F732-4FBF-A808-3B79C3B0A453}"/>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interprets a user’s request at runtime.</a:t>
            </a:r>
          </a:p>
        </p:txBody>
      </p:sp>
      <p:sp>
        <p:nvSpPr>
          <p:cNvPr id="9" name="">
            <a:extLst xmlns:a="http://schemas.openxmlformats.org/drawingml/2006/main">
              <a:ext uri="{FF2B5EF4-FFF2-40B4-BE49-F238E27FC236}">
                <a16:creationId xmlns:a16="http://schemas.microsoft.com/office/drawing/2014/main" id="{ECBEDA38-0931-4741-B42B-9D6D6204469B}"/>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Vitalii Oborskyi · PMDay</a:t>
            </a:r>
          </a:p>
        </p:txBody>
      </p:sp>
    </p:spTree>
    <p:extLst>
      <p:ext uri="{BB962C8B-B14F-4D97-AF65-F5344CB8AC3E}">
        <p14:creationId xmlns:p14="http://schemas.microsoft.com/office/powerpoint/2010/main" val="282193042"/>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D199710-A3F1-42C9-92FA-D4EAD681381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This Is a Real Phase Transition</a:t>
            </a:r>
          </a:p>
        </p:txBody>
      </p:sp>
      <p:sp>
        <p:nvSpPr>
          <p:cNvPr id="2" name="">
            <a:extLst xmlns:a="http://schemas.openxmlformats.org/drawingml/2006/main">
              <a:ext uri="{FF2B5EF4-FFF2-40B4-BE49-F238E27FC236}">
                <a16:creationId xmlns:a16="http://schemas.microsoft.com/office/drawing/2014/main" id="{F2694931-823D-4EF5-8FD9-C948BADD4C0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C5BC63A-D1BC-4404-A0A9-4B3D4C4C16D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02</a:t>
            </a:r>
          </a:p>
        </p:txBody>
      </p:sp>
      <p:sp>
        <p:nvSpPr>
          <p:cNvPr id="4" name="">
            <a:extLst xmlns:a="http://schemas.openxmlformats.org/drawingml/2006/main">
              <a:ext uri="{FF2B5EF4-FFF2-40B4-BE49-F238E27FC236}">
                <a16:creationId xmlns:a16="http://schemas.microsoft.com/office/drawing/2014/main" id="{377AA21D-9269-4D32-84BF-6DE383196CB5}"/>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1BF0F61A-CDDA-416D-B973-CCF0E986DA98}"/>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Writing</a:t>
            </a:r>
          </a:p>
        </p:txBody>
      </p:sp>
      <p:sp>
        <p:nvSpPr>
          <p:cNvPr id="6" name="">
            <a:extLst xmlns:a="http://schemas.openxmlformats.org/drawingml/2006/main">
              <a:ext uri="{FF2B5EF4-FFF2-40B4-BE49-F238E27FC236}">
                <a16:creationId xmlns:a16="http://schemas.microsoft.com/office/drawing/2014/main" id="{A6A95BCC-F416-4D42-9C83-773A84C1FE60}"/>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Memory</a:t>
            </a:r>
          </a:p>
        </p:txBody>
      </p:sp>
      <p:sp>
        <p:nvSpPr>
          <p:cNvPr id="7" name="">
            <a:extLst xmlns:a="http://schemas.openxmlformats.org/drawingml/2006/main">
              <a:ext uri="{FF2B5EF4-FFF2-40B4-BE49-F238E27FC236}">
                <a16:creationId xmlns:a16="http://schemas.microsoft.com/office/drawing/2014/main" id="{12C62479-86B0-4715-907B-30C48B7D4D14}"/>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Records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can retrieve</a:t>
            </a:r>
          </a:p>
        </p:txBody>
      </p:sp>
      <p:sp>
        <p:nvSpPr>
          <p:cNvPr id="8" name="">
            <a:extLst xmlns:a="http://schemas.openxmlformats.org/drawingml/2006/main">
              <a:ext uri="{FF2B5EF4-FFF2-40B4-BE49-F238E27FC236}">
                <a16:creationId xmlns:a16="http://schemas.microsoft.com/office/drawing/2014/main" id="{F1F6CC77-DC6E-45B4-938B-7F0782701B4D}"/>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02FB3A88-F718-4002-B2D7-9ADDC6C392CD}"/>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Computers</a:t>
            </a:r>
          </a:p>
        </p:txBody>
      </p:sp>
      <p:sp>
        <p:nvSpPr>
          <p:cNvPr id="10" name="">
            <a:extLst xmlns:a="http://schemas.openxmlformats.org/drawingml/2006/main">
              <a:ext uri="{FF2B5EF4-FFF2-40B4-BE49-F238E27FC236}">
                <a16:creationId xmlns:a16="http://schemas.microsoft.com/office/drawing/2014/main" id="{C9C78289-8428-485A-9884-E5455E5C4A09}"/>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Calculation</a:t>
            </a:r>
          </a:p>
        </p:txBody>
      </p:sp>
      <p:sp>
        <p:nvSpPr>
          <p:cNvPr id="11" name="">
            <a:extLst xmlns:a="http://schemas.openxmlformats.org/drawingml/2006/main">
              <a:ext uri="{FF2B5EF4-FFF2-40B4-BE49-F238E27FC236}">
                <a16:creationId xmlns:a16="http://schemas.microsoft.com/office/drawing/2014/main" id="{C4A46D56-0D6F-4EEA-A7DE-D01AC1F98DA3}"/>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Rules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explicitly encode</a:t>
            </a:r>
          </a:p>
        </p:txBody>
      </p:sp>
      <p:sp>
        <p:nvSpPr>
          <p:cNvPr id="12" name="">
            <a:extLst xmlns:a="http://schemas.openxmlformats.org/drawingml/2006/main">
              <a:ext uri="{FF2B5EF4-FFF2-40B4-BE49-F238E27FC236}">
                <a16:creationId xmlns:a16="http://schemas.microsoft.com/office/drawing/2014/main" id="{D15D3C2E-366E-42C2-B40A-194D30B290F3}"/>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E53054B1-89B4-4775-85C3-941A35988C09}"/>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Large Models</a:t>
            </a:r>
          </a:p>
        </p:txBody>
      </p:sp>
      <p:sp>
        <p:nvSpPr>
          <p:cNvPr id="14" name="">
            <a:extLst xmlns:a="http://schemas.openxmlformats.org/drawingml/2006/main">
              <a:ext uri="{FF2B5EF4-FFF2-40B4-BE49-F238E27FC236}">
                <a16:creationId xmlns:a16="http://schemas.microsoft.com/office/drawing/2014/main" id="{3801130E-9535-475C-A02F-BBB0B7BF2E41}"/>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Externalized</a:t>
            </a:r>
          </a:p>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Cognition</a:t>
            </a:r>
          </a:p>
        </p:txBody>
      </p:sp>
      <p:sp>
        <p:nvSpPr>
          <p:cNvPr id="15" name="">
            <a:extLst xmlns:a="http://schemas.openxmlformats.org/drawingml/2006/main">
              <a:ext uri="{FF2B5EF4-FFF2-40B4-BE49-F238E27FC236}">
                <a16:creationId xmlns:a16="http://schemas.microsoft.com/office/drawing/2014/main" id="{4CC7B6B9-76F1-49FA-9B84-D59D5F4B9520}"/>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Judgment shaped</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143431A1-85CA-49B3-A519-68AFC1C80E6D}"/>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EB965B2E-58D6-4133-AE35-559C2D7F41D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37920680-3CEA-414A-A281-29994063DF4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We design the environment in which behavior is generated at runtime.</a:t>
            </a:r>
          </a:p>
        </p:txBody>
      </p:sp>
    </p:spTree>
    <p:extLst>
      <p:ext uri="{BB962C8B-B14F-4D97-AF65-F5344CB8AC3E}">
        <p14:creationId xmlns:p14="http://schemas.microsoft.com/office/powerpoint/2010/main" val="11078934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89707A3D-591E-48ED-9B99-B4F9EC1F239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Accelerated a Step. Not the System.</a:t>
            </a:r>
          </a:p>
        </p:txBody>
      </p:sp>
      <p:sp>
        <p:nvSpPr>
          <p:cNvPr id="2" name="">
            <a:extLst xmlns:a="http://schemas.openxmlformats.org/drawingml/2006/main">
              <a:ext uri="{FF2B5EF4-FFF2-40B4-BE49-F238E27FC236}">
                <a16:creationId xmlns:a16="http://schemas.microsoft.com/office/drawing/2014/main" id="{B4E141A4-4088-4F9D-95E6-DDEC314B7A3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FA32022-BBA5-4A06-9B37-F1A1D549D41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03</a:t>
            </a:r>
          </a:p>
        </p:txBody>
      </p:sp>
      <p:sp>
        <p:nvSpPr>
          <p:cNvPr id="4" name="">
            <a:extLst xmlns:a="http://schemas.openxmlformats.org/drawingml/2006/main">
              <a:ext uri="{FF2B5EF4-FFF2-40B4-BE49-F238E27FC236}">
                <a16:creationId xmlns:a16="http://schemas.microsoft.com/office/drawing/2014/main" id="{A3C3FF46-47F3-4C0F-822A-E90BFD2AB21B}"/>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B070A10B-51D1-4DB6-8871-F7358589C268}"/>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EC577646-B372-4887-93D0-971ED6DF9326}"/>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Intent</a:t>
            </a:r>
          </a:p>
        </p:txBody>
      </p:sp>
      <p:sp>
        <p:nvSpPr>
          <p:cNvPr id="7" name="">
            <a:extLst xmlns:a="http://schemas.openxmlformats.org/drawingml/2006/main">
              <a:ext uri="{FF2B5EF4-FFF2-40B4-BE49-F238E27FC236}">
                <a16:creationId xmlns:a16="http://schemas.microsoft.com/office/drawing/2014/main" id="{05E7FCD2-63DA-4A6F-BC4C-6451CF437395}"/>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61FAFE54-30DB-496A-BD75-BA19F5C13388}"/>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Design</a:t>
            </a:r>
          </a:p>
        </p:txBody>
      </p:sp>
      <p:sp>
        <p:nvSpPr>
          <p:cNvPr id="9" name="">
            <a:extLst xmlns:a="http://schemas.openxmlformats.org/drawingml/2006/main">
              <a:ext uri="{FF2B5EF4-FFF2-40B4-BE49-F238E27FC236}">
                <a16:creationId xmlns:a16="http://schemas.microsoft.com/office/drawing/2014/main" id="{8B92720B-1916-47D5-8804-D230CC818FA5}"/>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36124121-39C2-4738-9D29-318259F48945}"/>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Code</a:t>
            </a:r>
          </a:p>
        </p:txBody>
      </p:sp>
      <p:sp>
        <p:nvSpPr>
          <p:cNvPr id="11" name="">
            <a:extLst xmlns:a="http://schemas.openxmlformats.org/drawingml/2006/main">
              <a:ext uri="{FF2B5EF4-FFF2-40B4-BE49-F238E27FC236}">
                <a16:creationId xmlns:a16="http://schemas.microsoft.com/office/drawing/2014/main" id="{A3653A57-DA9A-41D3-BE69-165C763243CF}"/>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400CD374-E482-4E07-83AC-565251036C2E}"/>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Review</a:t>
            </a:r>
          </a:p>
        </p:txBody>
      </p:sp>
      <p:sp>
        <p:nvSpPr>
          <p:cNvPr id="13" name="">
            <a:extLst xmlns:a="http://schemas.openxmlformats.org/drawingml/2006/main">
              <a:ext uri="{FF2B5EF4-FFF2-40B4-BE49-F238E27FC236}">
                <a16:creationId xmlns:a16="http://schemas.microsoft.com/office/drawing/2014/main" id="{CFF216A7-B296-4D04-A6D0-7D0662258528}"/>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B38E97A2-6E2A-4A0C-881E-25B76703E146}"/>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Test</a:t>
            </a:r>
          </a:p>
        </p:txBody>
      </p:sp>
      <p:sp>
        <p:nvSpPr>
          <p:cNvPr id="15" name="">
            <a:extLst xmlns:a="http://schemas.openxmlformats.org/drawingml/2006/main">
              <a:ext uri="{FF2B5EF4-FFF2-40B4-BE49-F238E27FC236}">
                <a16:creationId xmlns:a16="http://schemas.microsoft.com/office/drawing/2014/main" id="{F6EC5F35-9B9A-493D-9830-EE482038DEF7}"/>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D6D5470D-D9F5-4FB3-B9A3-C7AFED1D2CF7}"/>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Integrate</a:t>
            </a:r>
          </a:p>
        </p:txBody>
      </p:sp>
      <p:sp>
        <p:nvSpPr>
          <p:cNvPr id="17" name="">
            <a:extLst xmlns:a="http://schemas.openxmlformats.org/drawingml/2006/main">
              <a:ext uri="{FF2B5EF4-FFF2-40B4-BE49-F238E27FC236}">
                <a16:creationId xmlns:a16="http://schemas.microsoft.com/office/drawing/2014/main" id="{75DF3E79-3571-41E5-A4C5-9818179EBD66}"/>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3B998084-44DD-4EF4-833B-91CA3A21D8D4}"/>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Deploy</a:t>
            </a:r>
          </a:p>
        </p:txBody>
      </p:sp>
      <p:sp>
        <p:nvSpPr>
          <p:cNvPr id="19" name="">
            <a:extLst xmlns:a="http://schemas.openxmlformats.org/drawingml/2006/main">
              <a:ext uri="{FF2B5EF4-FFF2-40B4-BE49-F238E27FC236}">
                <a16:creationId xmlns:a16="http://schemas.microsoft.com/office/drawing/2014/main" id="{2BCC33F2-27CD-4025-B9CA-AC1311563722}"/>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1FABE763-797F-4E89-BFDD-EEDBA306D72A}"/>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Operate</a:t>
            </a:r>
          </a:p>
        </p:txBody>
      </p:sp>
      <p:sp>
        <p:nvSpPr>
          <p:cNvPr id="21" name="">
            <a:extLst xmlns:a="http://schemas.openxmlformats.org/drawingml/2006/main">
              <a:ext uri="{FF2B5EF4-FFF2-40B4-BE49-F238E27FC236}">
                <a16:creationId xmlns:a16="http://schemas.microsoft.com/office/drawing/2014/main" id="{4E76B98C-9DF6-41CF-A510-8DAF4C7431E0}"/>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0163AD93-0AD6-4B7C-8E8A-7FBBC79B4FD5}"/>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70FB75FA-8ACA-4D92-985F-3AC0C722658D}"/>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51FE68DA-A570-461C-866E-911B09771821}"/>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0AF1D87B-71A5-4059-8285-A1E1757902A8}"/>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60ADA602-22A1-4853-980C-1C31A0C4A1C9}"/>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7DF9FDE6-B549-4F19-A520-F3584BCBCABA}"/>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AA54C7FD-04F8-402B-98FF-0E2EE6069C8F}"/>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29" name="">
            <a:extLst xmlns:a="http://schemas.openxmlformats.org/drawingml/2006/main">
              <a:ext uri="{FF2B5EF4-FFF2-40B4-BE49-F238E27FC236}">
                <a16:creationId xmlns:a16="http://schemas.microsoft.com/office/drawing/2014/main" id="{550B8758-A514-4A79-A434-64CD7B32B9D6}"/>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0" name="">
            <a:extLst xmlns:a="http://schemas.openxmlformats.org/drawingml/2006/main">
              <a:ext uri="{FF2B5EF4-FFF2-40B4-BE49-F238E27FC236}">
                <a16:creationId xmlns:a16="http://schemas.microsoft.com/office/drawing/2014/main" id="{1684B066-7396-41C3-A87B-33757176FB94}"/>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1" name="">
            <a:extLst xmlns:a="http://schemas.openxmlformats.org/drawingml/2006/main">
              <a:ext uri="{FF2B5EF4-FFF2-40B4-BE49-F238E27FC236}">
                <a16:creationId xmlns:a16="http://schemas.microsoft.com/office/drawing/2014/main" id="{F28A0DC5-21CF-4013-96BF-B97B217A2841}"/>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2" name="">
            <a:extLst xmlns:a="http://schemas.openxmlformats.org/drawingml/2006/main">
              <a:ext uri="{FF2B5EF4-FFF2-40B4-BE49-F238E27FC236}">
                <a16:creationId xmlns:a16="http://schemas.microsoft.com/office/drawing/2014/main" id="{A42D0474-AF29-4D84-93F4-8E4400F40FD6}"/>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3" name="">
            <a:extLst xmlns:a="http://schemas.openxmlformats.org/drawingml/2006/main">
              <a:ext uri="{FF2B5EF4-FFF2-40B4-BE49-F238E27FC236}">
                <a16:creationId xmlns:a16="http://schemas.microsoft.com/office/drawing/2014/main" id="{AC0D5AB6-27C9-4FC0-A1D7-97754B4D5E78}"/>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4" name="">
            <a:extLst xmlns:a="http://schemas.openxmlformats.org/drawingml/2006/main">
              <a:ext uri="{FF2B5EF4-FFF2-40B4-BE49-F238E27FC236}">
                <a16:creationId xmlns:a16="http://schemas.microsoft.com/office/drawing/2014/main" id="{6A4F6BF3-6260-4CA1-89B5-AC06508CEFA4}"/>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5" name="">
            <a:extLst xmlns:a="http://schemas.openxmlformats.org/drawingml/2006/main">
              <a:ext uri="{FF2B5EF4-FFF2-40B4-BE49-F238E27FC236}">
                <a16:creationId xmlns:a16="http://schemas.microsoft.com/office/drawing/2014/main" id="{478792F2-A09B-484C-B6A1-33647044B71E}"/>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6EC64F96-7998-4FC8-93B4-E8B2F53B13B8}"/>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Code</a:t>
            </a:r>
          </a:p>
        </p:txBody>
      </p:sp>
      <p:sp>
        <p:nvSpPr>
          <p:cNvPr id="37" name="">
            <a:extLst xmlns:a="http://schemas.openxmlformats.org/drawingml/2006/main">
              <a:ext uri="{FF2B5EF4-FFF2-40B4-BE49-F238E27FC236}">
                <a16:creationId xmlns:a16="http://schemas.microsoft.com/office/drawing/2014/main" id="{4F6160FF-A2EF-4309-ACAD-3415C70563FD}"/>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Review</a:t>
            </a:r>
          </a:p>
        </p:txBody>
      </p:sp>
      <p:sp>
        <p:nvSpPr>
          <p:cNvPr id="38" name="">
            <a:extLst xmlns:a="http://schemas.openxmlformats.org/drawingml/2006/main">
              <a:ext uri="{FF2B5EF4-FFF2-40B4-BE49-F238E27FC236}">
                <a16:creationId xmlns:a16="http://schemas.microsoft.com/office/drawing/2014/main" id="{0D3D7F86-ED5D-4C09-BE0F-5209106A17AD}"/>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Integrate</a:t>
            </a:r>
          </a:p>
        </p:txBody>
      </p:sp>
      <p:sp>
        <p:nvSpPr>
          <p:cNvPr id="39" name="">
            <a:extLst xmlns:a="http://schemas.openxmlformats.org/drawingml/2006/main">
              <a:ext uri="{FF2B5EF4-FFF2-40B4-BE49-F238E27FC236}">
                <a16:creationId xmlns:a16="http://schemas.microsoft.com/office/drawing/2014/main" id="{D34D3DE9-775E-4756-951E-03CA69EFABD6}"/>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Roboto"/>
                <a:ea typeface="Roboto"/>
                <a:cs typeface="Roboto"/>
              </a:defRPr>
            </a:pPr>
            <a:r>
              <a:rPr sz="1500" b="1">
                <a:solidFill>
                  <a:srgbClr val="ADB8C5"/>
                </a:solidFill>
                <a:latin typeface="Roboto"/>
                <a:ea typeface="Roboto"/>
                <a:cs typeface="Roboto"/>
              </a:rPr>
              <a:t>BACKLOG</a:t>
            </a:r>
          </a:p>
        </p:txBody>
      </p:sp>
      <p:sp>
        <p:nvSpPr>
          <p:cNvPr id="40" name="">
            <a:extLst xmlns:a="http://schemas.openxmlformats.org/drawingml/2006/main">
              <a:ext uri="{FF2B5EF4-FFF2-40B4-BE49-F238E27FC236}">
                <a16:creationId xmlns:a16="http://schemas.microsoft.com/office/drawing/2014/main" id="{87D092A1-2E07-421F-A135-690B6FF1CA38}"/>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Roboto"/>
                <a:ea typeface="Roboto"/>
                <a:cs typeface="Roboto"/>
              </a:defRPr>
            </a:pPr>
            <a:r>
              <a:rPr sz="1650" b="1">
                <a:solidFill>
                  <a:srgbClr val="ADB8C5"/>
                </a:solidFill>
                <a:latin typeface="Roboto"/>
                <a:ea typeface="Roboto"/>
                <a:cs typeface="Roboto"/>
              </a:rPr>
              <a:t>BEFORE</a:t>
            </a:r>
          </a:p>
        </p:txBody>
      </p:sp>
      <p:sp>
        <p:nvSpPr>
          <p:cNvPr id="41" name="">
            <a:extLst xmlns:a="http://schemas.openxmlformats.org/drawingml/2006/main">
              <a:ext uri="{FF2B5EF4-FFF2-40B4-BE49-F238E27FC236}">
                <a16:creationId xmlns:a16="http://schemas.microsoft.com/office/drawing/2014/main" id="{5E84BA72-12EC-44C8-801F-6D79D05CC5A3}"/>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Balanced flow</a:t>
            </a:r>
          </a:p>
        </p:txBody>
      </p:sp>
      <p:sp>
        <p:nvSpPr>
          <p:cNvPr id="42" name="">
            <a:extLst xmlns:a="http://schemas.openxmlformats.org/drawingml/2006/main">
              <a:ext uri="{FF2B5EF4-FFF2-40B4-BE49-F238E27FC236}">
                <a16:creationId xmlns:a16="http://schemas.microsoft.com/office/drawing/2014/main" id="{924474DC-14BD-42A5-994A-7B118DD23C3F}"/>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86AD240E-598C-4043-AADF-BA2A59D3B32D}"/>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4" name="">
            <a:extLst xmlns:a="http://schemas.openxmlformats.org/drawingml/2006/main">
              <a:ext uri="{FF2B5EF4-FFF2-40B4-BE49-F238E27FC236}">
                <a16:creationId xmlns:a16="http://schemas.microsoft.com/office/drawing/2014/main" id="{719DC9EF-06F8-4EF7-AC46-0116ADC3FE2C}"/>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24A8C8C3-9B44-4F40-A038-802F53754138}"/>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6" name="">
            <a:extLst xmlns:a="http://schemas.openxmlformats.org/drawingml/2006/main">
              <a:ext uri="{FF2B5EF4-FFF2-40B4-BE49-F238E27FC236}">
                <a16:creationId xmlns:a16="http://schemas.microsoft.com/office/drawing/2014/main" id="{41E3DD77-D305-4E13-9E4B-01478526FDF7}"/>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83E57A01-60B6-42E0-9BCA-9068EEDCC716}"/>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8" name="">
            <a:extLst xmlns:a="http://schemas.openxmlformats.org/drawingml/2006/main">
              <a:ext uri="{FF2B5EF4-FFF2-40B4-BE49-F238E27FC236}">
                <a16:creationId xmlns:a16="http://schemas.microsoft.com/office/drawing/2014/main" id="{89D8BC9E-0799-4C92-BFB1-22A797BD19C7}"/>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8169B088-92BA-4BAC-A1ED-F85EC0437F1F}"/>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A627782B-3E3C-4C3C-9E20-DB21AAC585A7}"/>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Roboto"/>
                <a:ea typeface="Roboto"/>
                <a:cs typeface="Roboto"/>
              </a:defRPr>
            </a:pPr>
            <a:r>
              <a:rPr sz="2925" b="1">
                <a:solidFill>
                  <a:srgbClr val="ADB8C5"/>
                </a:solidFill>
                <a:latin typeface="Roboto"/>
                <a:ea typeface="Roboto"/>
                <a:cs typeface="Roboto"/>
              </a:rPr>
              <a:t>0</a:t>
            </a:r>
          </a:p>
        </p:txBody>
      </p:sp>
      <p:sp>
        <p:nvSpPr>
          <p:cNvPr id="51" name="">
            <a:extLst xmlns:a="http://schemas.openxmlformats.org/drawingml/2006/main">
              <a:ext uri="{FF2B5EF4-FFF2-40B4-BE49-F238E27FC236}">
                <a16:creationId xmlns:a16="http://schemas.microsoft.com/office/drawing/2014/main" id="{363670B4-8EC4-47E1-8BC8-7A4218EFF9C1}"/>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no accumulation</a:t>
            </a:r>
          </a:p>
        </p:txBody>
      </p:sp>
      <p:sp>
        <p:nvSpPr>
          <p:cNvPr id="52" name="">
            <a:extLst xmlns:a="http://schemas.openxmlformats.org/drawingml/2006/main">
              <a:ext uri="{FF2B5EF4-FFF2-40B4-BE49-F238E27FC236}">
                <a16:creationId xmlns:a16="http://schemas.microsoft.com/office/drawing/2014/main" id="{CCEB988B-7180-4FD6-BC1C-D749DDCCE126}"/>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AFTER AI</a:t>
            </a:r>
          </a:p>
        </p:txBody>
      </p:sp>
      <p:sp>
        <p:nvSpPr>
          <p:cNvPr id="53" name="">
            <a:extLst xmlns:a="http://schemas.openxmlformats.org/drawingml/2006/main">
              <a:ext uri="{FF2B5EF4-FFF2-40B4-BE49-F238E27FC236}">
                <a16:creationId xmlns:a16="http://schemas.microsoft.com/office/drawing/2014/main" id="{4A279AF4-E690-4EAC-922F-A2EBC098280B}"/>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Other stages have</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not sped up</a:t>
            </a:r>
          </a:p>
        </p:txBody>
      </p:sp>
      <p:sp>
        <p:nvSpPr>
          <p:cNvPr id="54" name="">
            <a:extLst xmlns:a="http://schemas.openxmlformats.org/drawingml/2006/main">
              <a:ext uri="{FF2B5EF4-FFF2-40B4-BE49-F238E27FC236}">
                <a16:creationId xmlns:a16="http://schemas.microsoft.com/office/drawing/2014/main" id="{9E7CF200-F64B-4206-870F-9595E01E0D58}"/>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61874CAA-05E3-49DD-B762-492C3E136950}"/>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Roboto"/>
                <a:ea typeface="Roboto"/>
                <a:cs typeface="Roboto"/>
              </a:defRPr>
            </a:pPr>
            <a:r>
              <a:rPr sz="2700" b="1">
                <a:solidFill>
                  <a:srgbClr val="28C7F7"/>
                </a:solidFill>
                <a:latin typeface="Roboto"/>
                <a:ea typeface="Roboto"/>
                <a:cs typeface="Roboto"/>
              </a:rPr>
              <a:t>100</a:t>
            </a:r>
          </a:p>
        </p:txBody>
      </p:sp>
      <p:sp>
        <p:nvSpPr>
          <p:cNvPr id="56" name="">
            <a:extLst xmlns:a="http://schemas.openxmlformats.org/drawingml/2006/main">
              <a:ext uri="{FF2B5EF4-FFF2-40B4-BE49-F238E27FC236}">
                <a16:creationId xmlns:a16="http://schemas.microsoft.com/office/drawing/2014/main" id="{E244CCD4-A06D-4379-8248-6B69112D252A}"/>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989958B7-D7AE-4A45-BE6B-9C4C17A176FA}"/>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58" name="">
            <a:extLst xmlns:a="http://schemas.openxmlformats.org/drawingml/2006/main">
              <a:ext uri="{FF2B5EF4-FFF2-40B4-BE49-F238E27FC236}">
                <a16:creationId xmlns:a16="http://schemas.microsoft.com/office/drawing/2014/main" id="{D3857724-A91C-4E58-8EAC-59CF43C7BA9D}"/>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325DFFEE-3DDF-4DF7-A941-7EDAA451B107}"/>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60" name="">
            <a:extLst xmlns:a="http://schemas.openxmlformats.org/drawingml/2006/main">
              <a:ext uri="{FF2B5EF4-FFF2-40B4-BE49-F238E27FC236}">
                <a16:creationId xmlns:a16="http://schemas.microsoft.com/office/drawing/2014/main" id="{E3E60AAE-B190-4FA1-8B71-058CB1CF6655}"/>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44823E4B-D65E-405A-9607-3966E827F1D5}"/>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0192CB81-CA7C-4CE1-83A6-829DC8CD5635}"/>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Roboto"/>
                <a:ea typeface="Roboto"/>
                <a:cs typeface="Roboto"/>
              </a:defRPr>
            </a:pPr>
            <a:r>
              <a:rPr sz="2925" b="1">
                <a:solidFill>
                  <a:srgbClr val="F5B61C"/>
                </a:solidFill>
                <a:latin typeface="Roboto"/>
                <a:ea typeface="Roboto"/>
                <a:cs typeface="Roboto"/>
              </a:rPr>
              <a:t>+92</a:t>
            </a:r>
          </a:p>
        </p:txBody>
      </p:sp>
      <p:sp>
        <p:nvSpPr>
          <p:cNvPr id="63" name="">
            <a:extLst xmlns:a="http://schemas.openxmlformats.org/drawingml/2006/main">
              <a:ext uri="{FF2B5EF4-FFF2-40B4-BE49-F238E27FC236}">
                <a16:creationId xmlns:a16="http://schemas.microsoft.com/office/drawing/2014/main" id="{0563B098-4B46-4EC8-9814-5F8AAB4BF240}"/>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unfinished / week</a:t>
            </a:r>
          </a:p>
        </p:txBody>
      </p:sp>
      <p:sp>
        <p:nvSpPr>
          <p:cNvPr id="64" name="">
            <a:extLst xmlns:a="http://schemas.openxmlformats.org/drawingml/2006/main">
              <a:ext uri="{FF2B5EF4-FFF2-40B4-BE49-F238E27FC236}">
                <a16:creationId xmlns:a16="http://schemas.microsoft.com/office/drawing/2014/main" id="{DA65430D-C60C-43F4-A0AE-85806E96A8F0}"/>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E0A23427-A72E-4CE0-8F8C-88E01BA36263}"/>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THEORY OF CONSTRAINTS</a:t>
            </a:r>
          </a:p>
        </p:txBody>
      </p:sp>
      <p:sp>
        <p:nvSpPr>
          <p:cNvPr id="66" name="">
            <a:extLst xmlns:a="http://schemas.openxmlformats.org/drawingml/2006/main">
              <a:ext uri="{FF2B5EF4-FFF2-40B4-BE49-F238E27FC236}">
                <a16:creationId xmlns:a16="http://schemas.microsoft.com/office/drawing/2014/main" id="{2E6125FF-3FE8-43A7-9D7A-939CCD5BA468}"/>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54BAF62D-8B21-4555-A334-A224F01F1068}"/>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Roboto"/>
                <a:ea typeface="Roboto"/>
                <a:cs typeface="Roboto"/>
              </a:defRPr>
            </a:pPr>
            <a:r>
              <a:rPr sz="1350" b="0">
                <a:solidFill>
                  <a:srgbClr val="ADB8C5"/>
                </a:solidFill>
                <a:latin typeface="Roboto"/>
                <a:ea typeface="Roboto"/>
                <a:cs typeface="Roboto"/>
              </a:rPr>
              <a:t>Push system: no WIP limit, no discarded work.</a:t>
            </a:r>
          </a:p>
        </p:txBody>
      </p:sp>
    </p:spTree>
    <p:extLst>
      <p:ext uri="{BB962C8B-B14F-4D97-AF65-F5344CB8AC3E}">
        <p14:creationId xmlns:p14="http://schemas.microsoft.com/office/powerpoint/2010/main" val="75260708"/>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647F4D9D-725C-4FE4-A4A9-ACCD5B399CA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Evidence Is Already Messy</a:t>
            </a:r>
          </a:p>
        </p:txBody>
      </p:sp>
      <p:sp>
        <p:nvSpPr>
          <p:cNvPr id="2" name="">
            <a:extLst xmlns:a="http://schemas.openxmlformats.org/drawingml/2006/main">
              <a:ext uri="{FF2B5EF4-FFF2-40B4-BE49-F238E27FC236}">
                <a16:creationId xmlns:a16="http://schemas.microsoft.com/office/drawing/2014/main" id="{4E0A90E8-D1A1-4A39-B1E6-434CEACF71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32C07F8-683E-4952-A43A-9D3972E36D7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04</a:t>
            </a:r>
          </a:p>
        </p:txBody>
      </p:sp>
      <p:sp>
        <p:nvSpPr>
          <p:cNvPr id="4" name="">
            <a:extLst xmlns:a="http://schemas.openxmlformats.org/drawingml/2006/main">
              <a:ext uri="{FF2B5EF4-FFF2-40B4-BE49-F238E27FC236}">
                <a16:creationId xmlns:a16="http://schemas.microsoft.com/office/drawing/2014/main" id="{68D634B0-6B5E-49FB-9E29-B9413F3D9244}"/>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E694841F-91FE-40A2-BC73-0261BE9ECF44}"/>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NBER · SEP 2026 REVISION</a:t>
            </a:r>
          </a:p>
        </p:txBody>
      </p:sp>
      <p:sp>
        <p:nvSpPr>
          <p:cNvPr id="6" name="">
            <a:extLst xmlns:a="http://schemas.openxmlformats.org/drawingml/2006/main">
              <a:ext uri="{FF2B5EF4-FFF2-40B4-BE49-F238E27FC236}">
                <a16:creationId xmlns:a16="http://schemas.microsoft.com/office/drawing/2014/main" id="{9251CD25-4151-4227-8057-464451DD21A6}"/>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25.5×</a:t>
            </a:r>
          </a:p>
        </p:txBody>
      </p:sp>
      <p:sp>
        <p:nvSpPr>
          <p:cNvPr id="7" name="">
            <a:extLst xmlns:a="http://schemas.openxmlformats.org/drawingml/2006/main">
              <a:ext uri="{FF2B5EF4-FFF2-40B4-BE49-F238E27FC236}">
                <a16:creationId xmlns:a16="http://schemas.microsoft.com/office/drawing/2014/main" id="{9A199F01-433A-432A-A1F7-4883D47DFAC0}"/>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changed LOC</a:t>
            </a:r>
          </a:p>
        </p:txBody>
      </p:sp>
      <p:sp>
        <p:nvSpPr>
          <p:cNvPr id="8" name="">
            <a:extLst xmlns:a="http://schemas.openxmlformats.org/drawingml/2006/main">
              <a:ext uri="{FF2B5EF4-FFF2-40B4-BE49-F238E27FC236}">
                <a16:creationId xmlns:a16="http://schemas.microsoft.com/office/drawing/2014/main" id="{B5A133D5-FF8B-411E-9194-C1E12876D7B3}"/>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3.4×</a:t>
            </a:r>
          </a:p>
        </p:txBody>
      </p:sp>
      <p:sp>
        <p:nvSpPr>
          <p:cNvPr id="9" name="">
            <a:extLst xmlns:a="http://schemas.openxmlformats.org/drawingml/2006/main">
              <a:ext uri="{FF2B5EF4-FFF2-40B4-BE49-F238E27FC236}">
                <a16:creationId xmlns:a16="http://schemas.microsoft.com/office/drawing/2014/main" id="{F609B767-28E1-427E-9CE4-FDBF64604A24}"/>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commits</a:t>
            </a:r>
          </a:p>
        </p:txBody>
      </p:sp>
      <p:sp>
        <p:nvSpPr>
          <p:cNvPr id="10" name="">
            <a:extLst xmlns:a="http://schemas.openxmlformats.org/drawingml/2006/main">
              <a:ext uri="{FF2B5EF4-FFF2-40B4-BE49-F238E27FC236}">
                <a16:creationId xmlns:a16="http://schemas.microsoft.com/office/drawing/2014/main" id="{2AAC0068-B699-4108-8406-83106AC72ADB}"/>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1.3×</a:t>
            </a:r>
          </a:p>
        </p:txBody>
      </p:sp>
      <p:sp>
        <p:nvSpPr>
          <p:cNvPr id="11" name="">
            <a:extLst xmlns:a="http://schemas.openxmlformats.org/drawingml/2006/main">
              <a:ext uri="{FF2B5EF4-FFF2-40B4-BE49-F238E27FC236}">
                <a16:creationId xmlns:a16="http://schemas.microsoft.com/office/drawing/2014/main" id="{7324C8C7-E0EF-473D-9FA6-4E3CEE190FC3}"/>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releases</a:t>
            </a:r>
          </a:p>
        </p:txBody>
      </p:sp>
      <p:sp>
        <p:nvSpPr>
          <p:cNvPr id="12" name="">
            <a:extLst xmlns:a="http://schemas.openxmlformats.org/drawingml/2006/main">
              <a:ext uri="{FF2B5EF4-FFF2-40B4-BE49-F238E27FC236}">
                <a16:creationId xmlns:a16="http://schemas.microsoft.com/office/drawing/2014/main" id="{4E15B3E0-265C-4FE1-A958-657243E96CF3}"/>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Cumulative across three tool generations</a:t>
            </a:r>
          </a:p>
        </p:txBody>
      </p:sp>
      <p:sp>
        <p:nvSpPr>
          <p:cNvPr id="13" name="">
            <a:extLst xmlns:a="http://schemas.openxmlformats.org/drawingml/2006/main">
              <a:ext uri="{FF2B5EF4-FFF2-40B4-BE49-F238E27FC236}">
                <a16:creationId xmlns:a16="http://schemas.microsoft.com/office/drawing/2014/main" id="{7F71B6BB-905F-422C-9A06-19C2D932D1A4}"/>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Fig. 1 rounded; LOC = additions + deletions.</a:t>
            </a:r>
          </a:p>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Async release effect not estimated.</a:t>
            </a:r>
          </a:p>
        </p:txBody>
      </p:sp>
      <p:sp>
        <p:nvSpPr>
          <p:cNvPr id="14" name="">
            <a:extLst xmlns:a="http://schemas.openxmlformats.org/drawingml/2006/main">
              <a:ext uri="{FF2B5EF4-FFF2-40B4-BE49-F238E27FC236}">
                <a16:creationId xmlns:a16="http://schemas.microsoft.com/office/drawing/2014/main" id="{375F530C-F5E7-4A9B-8ECF-30D3B29D1ADB}"/>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More apps. Usage does not</a:t>
            </a:r>
          </a:p>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keep pace with new releases.</a:t>
            </a:r>
          </a:p>
        </p:txBody>
      </p:sp>
      <p:sp>
        <p:nvSpPr>
          <p:cNvPr id="15" name="">
            <a:extLst xmlns:a="http://schemas.openxmlformats.org/drawingml/2006/main">
              <a:ext uri="{FF2B5EF4-FFF2-40B4-BE49-F238E27FC236}">
                <a16:creationId xmlns:a16="http://schemas.microsoft.com/office/drawing/2014/main" id="{DEBDCB89-99F9-4437-AE1E-A5C6365E9A47}"/>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iOS: &lt;10 ratings</a:t>
            </a:r>
          </a:p>
        </p:txBody>
      </p:sp>
      <p:sp>
        <p:nvSpPr>
          <p:cNvPr id="16" name="">
            <a:extLst xmlns:a="http://schemas.openxmlformats.org/drawingml/2006/main">
              <a:ext uri="{FF2B5EF4-FFF2-40B4-BE49-F238E27FC236}">
                <a16:creationId xmlns:a16="http://schemas.microsoft.com/office/drawing/2014/main" id="{3312886A-E7C2-4F3D-B9B5-CA633A9464A1}"/>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≈78% → 87%</a:t>
            </a:r>
          </a:p>
        </p:txBody>
      </p:sp>
      <p:sp>
        <p:nvSpPr>
          <p:cNvPr id="17" name="">
            <a:extLst xmlns:a="http://schemas.openxmlformats.org/drawingml/2006/main">
              <a:ext uri="{FF2B5EF4-FFF2-40B4-BE49-F238E27FC236}">
                <a16:creationId xmlns:a16="http://schemas.microsoft.com/office/drawing/2014/main" id="{89BADC7B-4BD4-446A-BD59-022734776BE1}"/>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Chrome: &lt;10 downloads</a:t>
            </a:r>
          </a:p>
        </p:txBody>
      </p:sp>
      <p:sp>
        <p:nvSpPr>
          <p:cNvPr id="18" name="">
            <a:extLst xmlns:a="http://schemas.openxmlformats.org/drawingml/2006/main">
              <a:ext uri="{FF2B5EF4-FFF2-40B4-BE49-F238E27FC236}">
                <a16:creationId xmlns:a16="http://schemas.microsoft.com/office/drawing/2014/main" id="{EBC02011-F726-4278-87CB-D4861C869066}"/>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19% → 33%</a:t>
            </a:r>
          </a:p>
        </p:txBody>
      </p:sp>
      <p:sp>
        <p:nvSpPr>
          <p:cNvPr id="19" name="">
            <a:extLst xmlns:a="http://schemas.openxmlformats.org/drawingml/2006/main">
              <a:ext uri="{FF2B5EF4-FFF2-40B4-BE49-F238E27FC236}">
                <a16:creationId xmlns:a16="http://schemas.microsoft.com/office/drawing/2014/main" id="{BF3426D2-CA13-4D36-B9F3-AD1404C9342A}"/>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Jan 2025 → Apr 2026; first 3 months.</a:t>
            </a:r>
          </a:p>
        </p:txBody>
      </p:sp>
      <p:sp>
        <p:nvSpPr>
          <p:cNvPr id="20" name="">
            <a:extLst xmlns:a="http://schemas.openxmlformats.org/drawingml/2006/main">
              <a:ext uri="{FF2B5EF4-FFF2-40B4-BE49-F238E27FC236}">
                <a16:creationId xmlns:a16="http://schemas.microsoft.com/office/drawing/2014/main" id="{B4DC2510-2E5C-475A-A199-5E24C278D48F}"/>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DORA · 2025</a:t>
            </a:r>
          </a:p>
        </p:txBody>
      </p:sp>
      <p:sp>
        <p:nvSpPr>
          <p:cNvPr id="21" name="">
            <a:extLst xmlns:a="http://schemas.openxmlformats.org/drawingml/2006/main">
              <a:ext uri="{FF2B5EF4-FFF2-40B4-BE49-F238E27FC236}">
                <a16:creationId xmlns:a16="http://schemas.microsoft.com/office/drawing/2014/main" id="{13D0779B-A964-4784-A379-2691056D45A6}"/>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Higher throughput</a:t>
            </a:r>
          </a:p>
        </p:txBody>
      </p:sp>
      <p:sp>
        <p:nvSpPr>
          <p:cNvPr id="22" name="">
            <a:extLst xmlns:a="http://schemas.openxmlformats.org/drawingml/2006/main">
              <a:ext uri="{FF2B5EF4-FFF2-40B4-BE49-F238E27FC236}">
                <a16:creationId xmlns:a16="http://schemas.microsoft.com/office/drawing/2014/main" id="{169A71CB-3007-4188-BB0C-069A8670392E}"/>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Lower delivery stability</a:t>
            </a:r>
          </a:p>
        </p:txBody>
      </p:sp>
      <p:sp>
        <p:nvSpPr>
          <p:cNvPr id="23" name="">
            <a:extLst xmlns:a="http://schemas.openxmlformats.org/drawingml/2006/main">
              <a:ext uri="{FF2B5EF4-FFF2-40B4-BE49-F238E27FC236}">
                <a16:creationId xmlns:a16="http://schemas.microsoft.com/office/drawing/2014/main" id="{72BA7BCB-43FD-4D75-9838-8BB4939029BD}"/>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Roboto"/>
                <a:ea typeface="Roboto"/>
                <a:cs typeface="Roboto"/>
              </a:defRPr>
            </a:pPr>
            <a:r>
              <a:rPr sz="1425" b="0">
                <a:solidFill>
                  <a:srgbClr val="F5B61C"/>
                </a:solidFill>
                <a:latin typeface="Roboto"/>
                <a:ea typeface="Roboto"/>
                <a:cs typeface="Roboto"/>
              </a:rPr>
              <a:t>≈ +0.10 SD instability per +1 SD AI adoption</a:t>
            </a:r>
          </a:p>
        </p:txBody>
      </p:sp>
      <p:sp>
        <p:nvSpPr>
          <p:cNvPr id="24" name="">
            <a:extLst xmlns:a="http://schemas.openxmlformats.org/drawingml/2006/main">
              <a:ext uri="{FF2B5EF4-FFF2-40B4-BE49-F238E27FC236}">
                <a16:creationId xmlns:a16="http://schemas.microsoft.com/office/drawing/2014/main" id="{6CC3BEC3-ED8E-4FA3-A176-2321CA3C5FBF}"/>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89% credible interval ≈ +0.07 to +0.13</a:t>
            </a:r>
          </a:p>
        </p:txBody>
      </p:sp>
      <p:sp>
        <p:nvSpPr>
          <p:cNvPr id="25" name="">
            <a:extLst xmlns:a="http://schemas.openxmlformats.org/drawingml/2006/main">
              <a:ext uri="{FF2B5EF4-FFF2-40B4-BE49-F238E27FC236}">
                <a16:creationId xmlns:a16="http://schemas.microsoft.com/office/drawing/2014/main" id="{6416B4C7-1BD2-4B58-A18F-D72D93426985}"/>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Survey model, rounded reading of Fig. 28.</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SD = standard deviation, not a failure percentage.</a:t>
            </a:r>
          </a:p>
        </p:txBody>
      </p:sp>
      <p:sp>
        <p:nvSpPr>
          <p:cNvPr id="26" name="">
            <a:extLst xmlns:a="http://schemas.openxmlformats.org/drawingml/2006/main">
              <a:ext uri="{FF2B5EF4-FFF2-40B4-BE49-F238E27FC236}">
                <a16:creationId xmlns:a16="http://schemas.microsoft.com/office/drawing/2014/main" id="{575E5DC8-ACF2-401E-9791-2590FC7D2328}"/>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63D1FD5B-E6E3-49FC-8264-B39080422F6C}"/>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85B83C26-A309-48A4-A783-97B114686CDA}"/>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GITCLEAR · 2023 → 2026 YTD*</a:t>
            </a:r>
          </a:p>
        </p:txBody>
      </p:sp>
      <p:sp>
        <p:nvSpPr>
          <p:cNvPr id="29" name="">
            <a:extLst xmlns:a="http://schemas.openxmlformats.org/drawingml/2006/main">
              <a:ext uri="{FF2B5EF4-FFF2-40B4-BE49-F238E27FC236}">
                <a16:creationId xmlns:a16="http://schemas.microsoft.com/office/drawing/2014/main" id="{D96B84B9-78EA-41A4-83DF-AE47CF674688}"/>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Moved-code share</a:t>
            </a:r>
          </a:p>
        </p:txBody>
      </p:sp>
      <p:sp>
        <p:nvSpPr>
          <p:cNvPr id="30" name="">
            <a:extLst xmlns:a="http://schemas.openxmlformats.org/drawingml/2006/main">
              <a:ext uri="{FF2B5EF4-FFF2-40B4-BE49-F238E27FC236}">
                <a16:creationId xmlns:a16="http://schemas.microsoft.com/office/drawing/2014/main" id="{24BCA73E-49A0-4ED4-8599-7A4070D60CF8}"/>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13% → 3.8%</a:t>
            </a:r>
          </a:p>
        </p:txBody>
      </p:sp>
      <p:sp>
        <p:nvSpPr>
          <p:cNvPr id="31" name="">
            <a:extLst xmlns:a="http://schemas.openxmlformats.org/drawingml/2006/main">
              <a:ext uri="{FF2B5EF4-FFF2-40B4-BE49-F238E27FC236}">
                <a16:creationId xmlns:a16="http://schemas.microsoft.com/office/drawing/2014/main" id="{625CB69D-C4B6-44A4-8357-7A9BA904510A}"/>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Moved / changed lines: −9.2 pp (−70.8%). Refactoring proxy.</a:t>
            </a:r>
          </a:p>
        </p:txBody>
      </p:sp>
      <p:sp>
        <p:nvSpPr>
          <p:cNvPr id="32" name="">
            <a:extLst xmlns:a="http://schemas.openxmlformats.org/drawingml/2006/main">
              <a:ext uri="{FF2B5EF4-FFF2-40B4-BE49-F238E27FC236}">
                <a16:creationId xmlns:a16="http://schemas.microsoft.com/office/drawing/2014/main" id="{8D5C101C-275C-46AD-AC91-74BCEF9655A4}"/>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Calls / 1k changed lines</a:t>
            </a:r>
          </a:p>
        </p:txBody>
      </p:sp>
      <p:sp>
        <p:nvSpPr>
          <p:cNvPr id="33" name="">
            <a:extLst xmlns:a="http://schemas.openxmlformats.org/drawingml/2006/main">
              <a:ext uri="{FF2B5EF4-FFF2-40B4-BE49-F238E27FC236}">
                <a16:creationId xmlns:a16="http://schemas.microsoft.com/office/drawing/2014/main" id="{AC509E85-950E-4951-856B-9DC622A6BC29}"/>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343 → 223</a:t>
            </a:r>
          </a:p>
        </p:txBody>
      </p:sp>
      <p:sp>
        <p:nvSpPr>
          <p:cNvPr id="34" name="">
            <a:extLst xmlns:a="http://schemas.openxmlformats.org/drawingml/2006/main">
              <a:ext uri="{FF2B5EF4-FFF2-40B4-BE49-F238E27FC236}">
                <a16:creationId xmlns:a16="http://schemas.microsoft.com/office/drawing/2014/main" id="{CCEA33D5-4217-4F1D-AC47-B816B1F24FEE}"/>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Other-function calls: −120 (≈−35%). Connectivity proxy.</a:t>
            </a:r>
          </a:p>
        </p:txBody>
      </p:sp>
      <p:sp>
        <p:nvSpPr>
          <p:cNvPr id="35" name="">
            <a:extLst xmlns:a="http://schemas.openxmlformats.org/drawingml/2006/main">
              <a:ext uri="{FF2B5EF4-FFF2-40B4-BE49-F238E27FC236}">
                <a16:creationId xmlns:a16="http://schemas.microsoft.com/office/drawing/2014/main" id="{5873E5F4-F3DB-4DDA-AFFE-A526100A6ED1}"/>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Roboto"/>
                <a:ea typeface="Roboto"/>
                <a:cs typeface="Roboto"/>
              </a:defRPr>
            </a:pPr>
            <a:r>
              <a:rPr sz="1425" b="0">
                <a:solidFill>
                  <a:srgbClr val="F4F7FA"/>
                </a:solidFill>
                <a:latin typeface="Roboto"/>
                <a:ea typeface="Roboto"/>
                <a:cs typeface="Roboto"/>
              </a:rPr>
              <a:t>Duplicated blocks ≈+81%   ·   Two-week churn +15%*</a:t>
            </a:r>
          </a:p>
        </p:txBody>
      </p:sp>
      <p:sp>
        <p:nvSpPr>
          <p:cNvPr id="36" name="">
            <a:extLst xmlns:a="http://schemas.openxmlformats.org/drawingml/2006/main">
              <a:ext uri="{FF2B5EF4-FFF2-40B4-BE49-F238E27FC236}">
                <a16:creationId xmlns:a16="http://schemas.microsoft.com/office/drawing/2014/main" id="{3AB4D426-CB9F-40D9-95EA-B73499207F00}"/>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Roboto"/>
                <a:ea typeface="Roboto"/>
                <a:cs typeface="Roboto"/>
              </a:defRPr>
            </a:pPr>
            <a:r>
              <a:rPr sz="1275" b="0">
                <a:solidFill>
                  <a:srgbClr val="F5B61C"/>
                </a:solidFill>
                <a:latin typeface="Roboto"/>
                <a:ea typeface="Roboto"/>
                <a:cs typeface="Roboto"/>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F04499E7-AE85-44D7-BF26-A367329FC117}"/>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25F40C28-DE15-4DFD-AAB2-B1AC67FED8A6}"/>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METR · MAY 2026</a:t>
            </a:r>
          </a:p>
        </p:txBody>
      </p:sp>
      <p:sp>
        <p:nvSpPr>
          <p:cNvPr id="39" name="">
            <a:extLst xmlns:a="http://schemas.openxmlformats.org/drawingml/2006/main">
              <a:ext uri="{FF2B5EF4-FFF2-40B4-BE49-F238E27FC236}">
                <a16:creationId xmlns:a16="http://schemas.microsoft.com/office/drawing/2014/main" id="{4CECBBCE-5E68-4C94-9A26-F290BA5F358C}"/>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Roboto"/>
                <a:ea typeface="Roboto"/>
                <a:cs typeface="Roboto"/>
              </a:defRPr>
            </a:pPr>
            <a:r>
              <a:rPr sz="1725" b="1">
                <a:solidFill>
                  <a:srgbClr val="F4F7FA"/>
                </a:solidFill>
                <a:latin typeface="Roboto"/>
                <a:ea typeface="Roboto"/>
                <a:cs typeface="Roboto"/>
              </a:rPr>
              <a:t>1.4–2× work value</a:t>
            </a:r>
          </a:p>
        </p:txBody>
      </p:sp>
      <p:sp>
        <p:nvSpPr>
          <p:cNvPr id="40" name="">
            <a:extLst xmlns:a="http://schemas.openxmlformats.org/drawingml/2006/main">
              <a:ext uri="{FF2B5EF4-FFF2-40B4-BE49-F238E27FC236}">
                <a16:creationId xmlns:a16="http://schemas.microsoft.com/office/drawing/2014/main" id="{9819CC44-C9D5-41AF-98C2-4669900967F0}"/>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Medians across 3 questions; self-reported, not causal.</a:t>
            </a:r>
          </a:p>
        </p:txBody>
      </p:sp>
      <p:sp>
        <p:nvSpPr>
          <p:cNvPr id="41" name="">
            <a:extLst xmlns:a="http://schemas.openxmlformats.org/drawingml/2006/main">
              <a:ext uri="{FF2B5EF4-FFF2-40B4-BE49-F238E27FC236}">
                <a16:creationId xmlns:a16="http://schemas.microsoft.com/office/drawing/2014/main" id="{B16C8F1F-210F-4598-930A-D6FA95CDB475}"/>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AGARWAL · JAN 2026</a:t>
            </a:r>
          </a:p>
        </p:txBody>
      </p:sp>
      <p:sp>
        <p:nvSpPr>
          <p:cNvPr id="42" name="">
            <a:extLst xmlns:a="http://schemas.openxmlformats.org/drawingml/2006/main">
              <a:ext uri="{FF2B5EF4-FFF2-40B4-BE49-F238E27FC236}">
                <a16:creationId xmlns:a16="http://schemas.microsoft.com/office/drawing/2014/main" id="{96AE3BC4-DA9B-4B0C-9384-4BF2C687FE9D}"/>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Roboto"/>
                <a:ea typeface="Roboto"/>
                <a:cs typeface="Roboto"/>
              </a:defRPr>
            </a:pPr>
            <a:r>
              <a:rPr sz="1575" b="1">
                <a:solidFill>
                  <a:srgbClr val="F4F7FA"/>
                </a:solidFill>
                <a:latin typeface="Roboto"/>
                <a:ea typeface="Roboto"/>
                <a:cs typeface="Roboto"/>
              </a:rPr>
              <a:t>+34.85% / +42.87%</a:t>
            </a:r>
          </a:p>
        </p:txBody>
      </p:sp>
      <p:sp>
        <p:nvSpPr>
          <p:cNvPr id="43" name="">
            <a:extLst xmlns:a="http://schemas.openxmlformats.org/drawingml/2006/main">
              <a:ext uri="{FF2B5EF4-FFF2-40B4-BE49-F238E27FC236}">
                <a16:creationId xmlns:a16="http://schemas.microsoft.com/office/drawing/2014/main" id="{0BCD2646-17DC-40E8-87F7-A5C8ED7E964D}"/>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Complexity: Agent-first / IDE-first. Xu: workload shifts.</a:t>
            </a:r>
          </a:p>
        </p:txBody>
      </p:sp>
      <p:sp>
        <p:nvSpPr>
          <p:cNvPr id="44" name="">
            <a:extLst xmlns:a="http://schemas.openxmlformats.org/drawingml/2006/main">
              <a:ext uri="{FF2B5EF4-FFF2-40B4-BE49-F238E27FC236}">
                <a16:creationId xmlns:a16="http://schemas.microsoft.com/office/drawing/2014/main" id="{5A7A73E9-4F5C-4347-AA43-2CEFA352CC39}"/>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Roboto"/>
                <a:ea typeface="Roboto"/>
                <a:cs typeface="Roboto"/>
              </a:defRPr>
            </a:pPr>
            <a:r>
              <a:rPr sz="1500" b="1">
                <a:solidFill>
                  <a:srgbClr val="F4F7FA"/>
                </a:solidFill>
                <a:latin typeface="Roboto"/>
                <a:ea typeface="Roboto"/>
                <a:cs typeface="Roboto"/>
              </a:rPr>
              <a:t>Code activity, delivery and user value are different outcomes.</a:t>
            </a:r>
          </a:p>
        </p:txBody>
      </p:sp>
    </p:spTree>
    <p:extLst>
      <p:ext uri="{BB962C8B-B14F-4D97-AF65-F5344CB8AC3E}">
        <p14:creationId xmlns:p14="http://schemas.microsoft.com/office/powerpoint/2010/main" val="217902108"/>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E3084F-44C8-46FF-8046-ECF1F8E8CF9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New Scarcity Is Human Comprehension</a:t>
            </a:r>
          </a:p>
        </p:txBody>
      </p:sp>
      <p:sp>
        <p:nvSpPr>
          <p:cNvPr id="2" name="">
            <a:extLst xmlns:a="http://schemas.openxmlformats.org/drawingml/2006/main">
              <a:ext uri="{FF2B5EF4-FFF2-40B4-BE49-F238E27FC236}">
                <a16:creationId xmlns:a16="http://schemas.microsoft.com/office/drawing/2014/main" id="{219B7024-1FE6-4E43-AA16-3040B6BACD6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9481D04-0E19-448E-82CE-5CC52A31A68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05</a:t>
            </a:r>
          </a:p>
        </p:txBody>
      </p:sp>
      <p:sp>
        <p:nvSpPr>
          <p:cNvPr id="4" name="">
            <a:extLst xmlns:a="http://schemas.openxmlformats.org/drawingml/2006/main">
              <a:ext uri="{FF2B5EF4-FFF2-40B4-BE49-F238E27FC236}">
                <a16:creationId xmlns:a16="http://schemas.microsoft.com/office/drawing/2014/main" id="{D84A7862-5946-4BE1-AC9C-955C0B27C0C5}"/>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F5F06D5F-8528-4841-B6BE-4803A042236B}"/>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14C2C506-735B-4AC0-9459-FCC9A898F041}"/>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4D98E2D3-0352-4B5C-889A-876B22F85AFE}"/>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038B3187-1C01-4B2E-B0B8-2A42BDFF3274}"/>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Roboto"/>
                <a:ea typeface="Roboto"/>
                <a:cs typeface="Roboto"/>
              </a:defRPr>
            </a:pPr>
            <a:r>
              <a:rPr sz="1875" b="1">
                <a:solidFill>
                  <a:srgbClr val="28C7F7"/>
                </a:solidFill>
                <a:latin typeface="Roboto"/>
                <a:ea typeface="Roboto"/>
                <a:cs typeface="Roboto"/>
              </a:rPr>
              <a:t>Machine generation capacity</a:t>
            </a:r>
          </a:p>
        </p:txBody>
      </p:sp>
      <p:sp>
        <p:nvSpPr>
          <p:cNvPr id="9" name="">
            <a:extLst xmlns:a="http://schemas.openxmlformats.org/drawingml/2006/main">
              <a:ext uri="{FF2B5EF4-FFF2-40B4-BE49-F238E27FC236}">
                <a16:creationId xmlns:a16="http://schemas.microsoft.com/office/drawing/2014/main" id="{15648BF9-9157-4477-8FF7-E9EC9F19248A}"/>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Roboto"/>
                <a:ea typeface="Roboto"/>
                <a:cs typeface="Roboto"/>
              </a:defRPr>
            </a:pPr>
            <a:r>
              <a:rPr sz="1725" b="0">
                <a:solidFill>
                  <a:srgbClr val="F5B61C"/>
                </a:solidFill>
                <a:latin typeface="Roboto"/>
                <a:ea typeface="Roboto"/>
                <a:cs typeface="Roboto"/>
              </a:rPr>
              <a:t>Human comprehension capacity</a:t>
            </a:r>
          </a:p>
        </p:txBody>
      </p:sp>
      <p:sp>
        <p:nvSpPr>
          <p:cNvPr id="10" name="">
            <a:extLst xmlns:a="http://schemas.openxmlformats.org/drawingml/2006/main">
              <a:ext uri="{FF2B5EF4-FFF2-40B4-BE49-F238E27FC236}">
                <a16:creationId xmlns:a16="http://schemas.microsoft.com/office/drawing/2014/main" id="{AAEB13EE-F946-48F6-87D5-6A5D791C207C}"/>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Potential</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comprehension gap</a:t>
            </a:r>
          </a:p>
        </p:txBody>
      </p:sp>
      <p:sp>
        <p:nvSpPr>
          <p:cNvPr id="11" name="">
            <a:extLst xmlns:a="http://schemas.openxmlformats.org/drawingml/2006/main">
              <a:ext uri="{FF2B5EF4-FFF2-40B4-BE49-F238E27FC236}">
                <a16:creationId xmlns:a16="http://schemas.microsoft.com/office/drawing/2014/main" id="{C5C1E080-49FC-4269-AFB1-A6073A6727DA}"/>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Adoption / time</a:t>
            </a:r>
          </a:p>
        </p:txBody>
      </p:sp>
      <p:sp>
        <p:nvSpPr>
          <p:cNvPr id="12" name="">
            <a:extLst xmlns:a="http://schemas.openxmlformats.org/drawingml/2006/main">
              <a:ext uri="{FF2B5EF4-FFF2-40B4-BE49-F238E27FC236}">
                <a16:creationId xmlns:a16="http://schemas.microsoft.com/office/drawing/2014/main" id="{9CF63304-22B3-444B-8B8F-10BF7BA72FAD}"/>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we generate faster?</a:t>
            </a:r>
          </a:p>
        </p:txBody>
      </p:sp>
      <p:sp>
        <p:nvSpPr>
          <p:cNvPr id="13" name="">
            <a:extLst xmlns:a="http://schemas.openxmlformats.org/drawingml/2006/main">
              <a:ext uri="{FF2B5EF4-FFF2-40B4-BE49-F238E27FC236}">
                <a16:creationId xmlns:a16="http://schemas.microsoft.com/office/drawing/2014/main" id="{5D2E44A5-8FA9-49C4-8648-4318CDA07F2D}"/>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Roboto"/>
                <a:ea typeface="Roboto"/>
                <a:cs typeface="Roboto"/>
              </a:defRPr>
            </a:pPr>
            <a:r>
              <a:rPr sz="2100" b="1">
                <a:solidFill>
                  <a:srgbClr val="28C7F7"/>
                </a:solidFill>
                <a:latin typeface="Roboto"/>
                <a:ea typeface="Roboto"/>
                <a:cs typeface="Roboto"/>
              </a:rPr>
              <a:t>YES</a:t>
            </a:r>
          </a:p>
        </p:txBody>
      </p:sp>
      <p:sp>
        <p:nvSpPr>
          <p:cNvPr id="14" name="">
            <a:extLst xmlns:a="http://schemas.openxmlformats.org/drawingml/2006/main">
              <a:ext uri="{FF2B5EF4-FFF2-40B4-BE49-F238E27FC236}">
                <a16:creationId xmlns:a16="http://schemas.microsoft.com/office/drawing/2014/main" id="{DD20F6D4-8477-4943-B6CC-15E3DB31037A}"/>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review keep pace?</a:t>
            </a:r>
          </a:p>
        </p:txBody>
      </p:sp>
      <p:sp>
        <p:nvSpPr>
          <p:cNvPr id="15" name="">
            <a:extLst xmlns:a="http://schemas.openxmlformats.org/drawingml/2006/main">
              <a:ext uri="{FF2B5EF4-FFF2-40B4-BE49-F238E27FC236}">
                <a16:creationId xmlns:a16="http://schemas.microsoft.com/office/drawing/2014/main" id="{A97ABA20-0CB3-4EB1-8E34-A7C87D0118C8}"/>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Roboto"/>
                <a:ea typeface="Roboto"/>
                <a:cs typeface="Roboto"/>
              </a:defRPr>
            </a:pPr>
            <a:r>
              <a:rPr sz="2100" b="1">
                <a:solidFill>
                  <a:srgbClr val="F5B61C"/>
                </a:solidFill>
                <a:latin typeface="Roboto"/>
                <a:ea typeface="Roboto"/>
                <a:cs typeface="Roboto"/>
              </a:rPr>
              <a:t>NOT AT THIS RATE</a:t>
            </a:r>
          </a:p>
        </p:txBody>
      </p:sp>
      <p:sp>
        <p:nvSpPr>
          <p:cNvPr id="16" name="">
            <a:extLst xmlns:a="http://schemas.openxmlformats.org/drawingml/2006/main">
              <a:ext uri="{FF2B5EF4-FFF2-40B4-BE49-F238E27FC236}">
                <a16:creationId xmlns:a16="http://schemas.microsoft.com/office/drawing/2014/main" id="{B33CAC12-776B-490B-9DFE-058711F7527D}"/>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Will we understand it</a:t>
            </a:r>
          </a:p>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in 5 years?</a:t>
            </a:r>
          </a:p>
        </p:txBody>
      </p:sp>
      <p:sp>
        <p:nvSpPr>
          <p:cNvPr id="17" name="">
            <a:extLst xmlns:a="http://schemas.openxmlformats.org/drawingml/2006/main">
              <a:ext uri="{FF2B5EF4-FFF2-40B4-BE49-F238E27FC236}">
                <a16:creationId xmlns:a16="http://schemas.microsoft.com/office/drawing/2014/main" id="{512CD922-119E-44CD-8151-E997307960C1}"/>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Roboto"/>
                <a:ea typeface="Roboto"/>
                <a:cs typeface="Roboto"/>
              </a:defRPr>
            </a:pPr>
            <a:r>
              <a:rPr sz="3075" b="1">
                <a:solidFill>
                  <a:srgbClr val="F5B61C"/>
                </a:solidFill>
                <a:latin typeface="Roboto"/>
                <a:ea typeface="Roboto"/>
                <a:cs typeface="Roboto"/>
              </a:rPr>
              <a:t>?</a:t>
            </a:r>
          </a:p>
        </p:txBody>
      </p:sp>
      <p:sp>
        <p:nvSpPr>
          <p:cNvPr id="18" name="">
            <a:extLst xmlns:a="http://schemas.openxmlformats.org/drawingml/2006/main">
              <a:ext uri="{FF2B5EF4-FFF2-40B4-BE49-F238E27FC236}">
                <a16:creationId xmlns:a16="http://schemas.microsoft.com/office/drawing/2014/main" id="{81E73B4D-6E86-4BEB-A7EC-D76812685229}"/>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7165DBE1-DEBC-491E-A594-EEA1A212F08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8D68169B-ACCE-4A39-8D6E-59970989140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Generation scales differently from comprehension.</a:t>
            </a:r>
          </a:p>
        </p:txBody>
      </p:sp>
    </p:spTree>
    <p:extLst>
      <p:ext uri="{BB962C8B-B14F-4D97-AF65-F5344CB8AC3E}">
        <p14:creationId xmlns:p14="http://schemas.microsoft.com/office/powerpoint/2010/main" val="2091287271"/>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4108898-32E2-4F44-9C8E-ADD6A595B4D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Team Is the Last Line of Defense</a:t>
            </a:r>
          </a:p>
        </p:txBody>
      </p:sp>
      <p:sp>
        <p:nvSpPr>
          <p:cNvPr id="2" name="">
            <a:extLst xmlns:a="http://schemas.openxmlformats.org/drawingml/2006/main">
              <a:ext uri="{FF2B5EF4-FFF2-40B4-BE49-F238E27FC236}">
                <a16:creationId xmlns:a16="http://schemas.microsoft.com/office/drawing/2014/main" id="{B58AB9B2-B29F-4CF7-9425-2F61C4B37D0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7715E46-5B6C-473F-B522-19D4D6EAD73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06</a:t>
            </a:r>
          </a:p>
        </p:txBody>
      </p:sp>
      <p:sp>
        <p:nvSpPr>
          <p:cNvPr id="4" name="">
            <a:extLst xmlns:a="http://schemas.openxmlformats.org/drawingml/2006/main">
              <a:ext uri="{FF2B5EF4-FFF2-40B4-BE49-F238E27FC236}">
                <a16:creationId xmlns:a16="http://schemas.microsoft.com/office/drawing/2014/main" id="{E0706684-D11A-49DF-8248-B84B309842D7}"/>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Roboto"/>
                <a:ea typeface="Roboto"/>
                <a:cs typeface="Roboto"/>
              </a:defRPr>
            </a:pPr>
            <a:r>
              <a:rPr sz="2175" b="1">
                <a:solidFill>
                  <a:srgbClr val="F4F7FA"/>
                </a:solidFill>
                <a:latin typeface="Roboto"/>
                <a:ea typeface="Roboto"/>
                <a:cs typeface="Roboto"/>
              </a:rPr>
              <a:t>AI code generators are technical systems with limits.</a:t>
            </a:r>
          </a:p>
        </p:txBody>
      </p:sp>
      <p:sp>
        <p:nvSpPr>
          <p:cNvPr id="5" name="">
            <a:extLst xmlns:a="http://schemas.openxmlformats.org/drawingml/2006/main">
              <a:ext uri="{FF2B5EF4-FFF2-40B4-BE49-F238E27FC236}">
                <a16:creationId xmlns:a16="http://schemas.microsoft.com/office/drawing/2014/main" id="{9052A9B3-2B74-4BC1-A42D-A0FCF6E12E3A}"/>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21A999C6-7641-4BB5-9867-D99F37352013}"/>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EB161B12-F42F-412B-A097-04B613BCB925}"/>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incident</a:t>
            </a:r>
          </a:p>
        </p:txBody>
      </p:sp>
      <p:sp>
        <p:nvSpPr>
          <p:cNvPr id="8" name="">
            <a:extLst xmlns:a="http://schemas.openxmlformats.org/drawingml/2006/main">
              <a:ext uri="{FF2B5EF4-FFF2-40B4-BE49-F238E27FC236}">
                <a16:creationId xmlns:a16="http://schemas.microsoft.com/office/drawing/2014/main" id="{C7EC8FE3-C1AE-49CC-8A1D-40A472494B00}"/>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Contain impact.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Roll back or use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fallback where safe.</a:t>
            </a:r>
          </a:p>
        </p:txBody>
      </p:sp>
      <p:sp>
        <p:nvSpPr>
          <p:cNvPr id="9" name="">
            <a:extLst xmlns:a="http://schemas.openxmlformats.org/drawingml/2006/main">
              <a:ext uri="{FF2B5EF4-FFF2-40B4-BE49-F238E27FC236}">
                <a16:creationId xmlns:a16="http://schemas.microsoft.com/office/drawing/2014/main" id="{295554C5-6A66-45B5-8785-004914FF12F5}"/>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CD12170F-C1C2-409A-8CAA-62C13C94D29A}"/>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AI cannot</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recover</a:t>
            </a:r>
          </a:p>
        </p:txBody>
      </p:sp>
      <p:sp>
        <p:nvSpPr>
          <p:cNvPr id="11" name="">
            <a:extLst xmlns:a="http://schemas.openxmlformats.org/drawingml/2006/main">
              <a:ext uri="{FF2B5EF4-FFF2-40B4-BE49-F238E27FC236}">
                <a16:creationId xmlns:a16="http://schemas.microsoft.com/office/drawing/2014/main" id="{614E3AF2-492E-4E4C-B1EE-CFFF30E7CB25}"/>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Stop at the agreed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retry limit. Preserve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traces and changes.</a:t>
            </a:r>
          </a:p>
        </p:txBody>
      </p:sp>
      <p:sp>
        <p:nvSpPr>
          <p:cNvPr id="12" name="">
            <a:extLst xmlns:a="http://schemas.openxmlformats.org/drawingml/2006/main">
              <a:ext uri="{FF2B5EF4-FFF2-40B4-BE49-F238E27FC236}">
                <a16:creationId xmlns:a16="http://schemas.microsoft.com/office/drawing/2014/main" id="{06D7F6E9-0047-4B24-A7B7-EA68A2237293}"/>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547AD57-5725-47D4-BDAE-159F69C72D2F}"/>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Team diagnoses</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&amp; proposes fix</a:t>
            </a:r>
          </a:p>
        </p:txBody>
      </p:sp>
      <p:sp>
        <p:nvSpPr>
          <p:cNvPr id="14" name="">
            <a:extLst xmlns:a="http://schemas.openxmlformats.org/drawingml/2006/main">
              <a:ext uri="{FF2B5EF4-FFF2-40B4-BE49-F238E27FC236}">
                <a16:creationId xmlns:a16="http://schemas.microsoft.com/office/drawing/2014/main" id="{DC9A6074-B302-4886-BD14-4922D8DF2C72}"/>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Reconstruct intent,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dependencies and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system invariants.</a:t>
            </a:r>
          </a:p>
        </p:txBody>
      </p:sp>
      <p:sp>
        <p:nvSpPr>
          <p:cNvPr id="15" name="">
            <a:extLst xmlns:a="http://schemas.openxmlformats.org/drawingml/2006/main">
              <a:ext uri="{FF2B5EF4-FFF2-40B4-BE49-F238E27FC236}">
                <a16:creationId xmlns:a16="http://schemas.microsoft.com/office/drawing/2014/main" id="{A0BD9B1D-2F33-4901-BB4C-1F4F3E37BDD4}"/>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14C331F6-7920-4A5A-ADB3-B7E5F084B1EE}"/>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Validate fix</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and restore</a:t>
            </a:r>
          </a:p>
        </p:txBody>
      </p:sp>
      <p:sp>
        <p:nvSpPr>
          <p:cNvPr id="17" name="">
            <a:extLst xmlns:a="http://schemas.openxmlformats.org/drawingml/2006/main">
              <a:ext uri="{FF2B5EF4-FFF2-40B4-BE49-F238E27FC236}">
                <a16:creationId xmlns:a16="http://schemas.microsoft.com/office/drawing/2014/main" id="{A92D629A-21D9-487A-A735-C92BE8C86025}"/>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Test the repair.</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Restore under incident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9B8FA0AC-E614-409A-88F3-DEE4C33B6B8F}"/>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70618908-6537-4352-9D3F-9AE4B971A1D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4C3270BF-EFEA-48BB-9499-BCC2D862C60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If AI cannot recover the system, the team still must.</a:t>
            </a:r>
          </a:p>
        </p:txBody>
      </p:sp>
    </p:spTree>
    <p:extLst>
      <p:ext uri="{BB962C8B-B14F-4D97-AF65-F5344CB8AC3E}">
        <p14:creationId xmlns:p14="http://schemas.microsoft.com/office/powerpoint/2010/main" val="1823060537"/>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BECBC4B-CB26-41FF-8726-7C499AD3126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Are Searching for a New</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SDLC Equilibrium</a:t>
            </a:r>
          </a:p>
        </p:txBody>
      </p:sp>
      <p:sp>
        <p:nvSpPr>
          <p:cNvPr id="2" name="">
            <a:extLst xmlns:a="http://schemas.openxmlformats.org/drawingml/2006/main">
              <a:ext uri="{FF2B5EF4-FFF2-40B4-BE49-F238E27FC236}">
                <a16:creationId xmlns:a16="http://schemas.microsoft.com/office/drawing/2014/main" id="{8509E736-4918-4D03-9E56-7011B368483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D245AAD-7D78-43D0-850F-DC88E30B127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07</a:t>
            </a:r>
          </a:p>
        </p:txBody>
      </p:sp>
      <p:sp>
        <p:nvSpPr>
          <p:cNvPr id="4" name="">
            <a:extLst xmlns:a="http://schemas.openxmlformats.org/drawingml/2006/main">
              <a:ext uri="{FF2B5EF4-FFF2-40B4-BE49-F238E27FC236}">
                <a16:creationId xmlns:a16="http://schemas.microsoft.com/office/drawing/2014/main" id="{2971B8E3-C63A-482D-A89B-DA555D969329}"/>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OLD EQUILIBRIUM</a:t>
            </a:r>
          </a:p>
        </p:txBody>
      </p:sp>
      <p:sp>
        <p:nvSpPr>
          <p:cNvPr id="5" name="">
            <a:extLst xmlns:a="http://schemas.openxmlformats.org/drawingml/2006/main">
              <a:ext uri="{FF2B5EF4-FFF2-40B4-BE49-F238E27FC236}">
                <a16:creationId xmlns:a16="http://schemas.microsoft.com/office/drawing/2014/main" id="{A81EE517-435D-4BF2-A838-B3F6F5680E9F}"/>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Human-led flow</a:t>
            </a:r>
          </a:p>
        </p:txBody>
      </p:sp>
      <p:sp>
        <p:nvSpPr>
          <p:cNvPr id="6" name="">
            <a:extLst xmlns:a="http://schemas.openxmlformats.org/drawingml/2006/main">
              <a:ext uri="{FF2B5EF4-FFF2-40B4-BE49-F238E27FC236}">
                <a16:creationId xmlns:a16="http://schemas.microsoft.com/office/drawing/2014/main" id="{5F0A6042-55CB-49AD-B531-2D1AC1133817}"/>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TODAY</a:t>
            </a:r>
          </a:p>
        </p:txBody>
      </p:sp>
      <p:sp>
        <p:nvSpPr>
          <p:cNvPr id="7" name="">
            <a:extLst xmlns:a="http://schemas.openxmlformats.org/drawingml/2006/main">
              <a:ext uri="{FF2B5EF4-FFF2-40B4-BE49-F238E27FC236}">
                <a16:creationId xmlns:a16="http://schemas.microsoft.com/office/drawing/2014/main" id="{3595757B-EA33-4856-9565-34847AE253D9}"/>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Generation outpaces review</a:t>
            </a:r>
          </a:p>
        </p:txBody>
      </p:sp>
      <p:sp>
        <p:nvSpPr>
          <p:cNvPr id="8" name="">
            <a:extLst xmlns:a="http://schemas.openxmlformats.org/drawingml/2006/main">
              <a:ext uri="{FF2B5EF4-FFF2-40B4-BE49-F238E27FC236}">
                <a16:creationId xmlns:a16="http://schemas.microsoft.com/office/drawing/2014/main" id="{DA8181AF-D53B-4A69-8E44-D45DAC7D9BF8}"/>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NEW EQUILIBRIUM</a:t>
            </a:r>
          </a:p>
        </p:txBody>
      </p:sp>
      <p:sp>
        <p:nvSpPr>
          <p:cNvPr id="9" name="">
            <a:extLst xmlns:a="http://schemas.openxmlformats.org/drawingml/2006/main">
              <a:ext uri="{FF2B5EF4-FFF2-40B4-BE49-F238E27FC236}">
                <a16:creationId xmlns:a16="http://schemas.microsoft.com/office/drawing/2014/main" id="{BF2EB73D-815E-40BC-8309-AA271B622EBE}"/>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Roboto"/>
                <a:ea typeface="Roboto"/>
                <a:cs typeface="Roboto"/>
              </a:defRPr>
            </a:pPr>
            <a:r>
              <a:rPr sz="1650" b="0">
                <a:solidFill>
                  <a:srgbClr val="F5B61C"/>
                </a:solidFill>
                <a:latin typeface="Roboto"/>
                <a:ea typeface="Roboto"/>
                <a:cs typeface="Roboto"/>
              </a:rPr>
              <a:t>Sustainable flow?</a:t>
            </a:r>
          </a:p>
        </p:txBody>
      </p:sp>
      <p:sp>
        <p:nvSpPr>
          <p:cNvPr id="10" name="">
            <a:extLst xmlns:a="http://schemas.openxmlformats.org/drawingml/2006/main">
              <a:ext uri="{FF2B5EF4-FFF2-40B4-BE49-F238E27FC236}">
                <a16:creationId xmlns:a16="http://schemas.microsoft.com/office/drawing/2014/main" id="{C3873F6B-5C9F-4243-AF49-6B7412C33852}"/>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A9FDF12A-CA41-4D66-A215-1BEC3D198CF0}"/>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WATCH</a:t>
            </a:r>
          </a:p>
        </p:txBody>
      </p:sp>
      <p:sp>
        <p:nvSpPr>
          <p:cNvPr id="12" name="">
            <a:extLst xmlns:a="http://schemas.openxmlformats.org/drawingml/2006/main">
              <a:ext uri="{FF2B5EF4-FFF2-40B4-BE49-F238E27FC236}">
                <a16:creationId xmlns:a16="http://schemas.microsoft.com/office/drawing/2014/main" id="{1D0343C7-10A7-4225-8B46-0FAD162FC129}"/>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Flow pressure</a:t>
            </a:r>
          </a:p>
        </p:txBody>
      </p:sp>
      <p:sp>
        <p:nvSpPr>
          <p:cNvPr id="13" name="">
            <a:extLst xmlns:a="http://schemas.openxmlformats.org/drawingml/2006/main">
              <a:ext uri="{FF2B5EF4-FFF2-40B4-BE49-F238E27FC236}">
                <a16:creationId xmlns:a16="http://schemas.microsoft.com/office/drawing/2014/main" id="{7BCC228D-7799-405E-9E72-008160836D77}"/>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age, batch size and WIP</a:t>
            </a:r>
          </a:p>
        </p:txBody>
      </p:sp>
      <p:sp>
        <p:nvSpPr>
          <p:cNvPr id="14" name="">
            <a:extLst xmlns:a="http://schemas.openxmlformats.org/drawingml/2006/main">
              <a:ext uri="{FF2B5EF4-FFF2-40B4-BE49-F238E27FC236}">
                <a16:creationId xmlns:a16="http://schemas.microsoft.com/office/drawing/2014/main" id="{1A2B27A1-336C-4D14-9733-F598E4B7D715}"/>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Rework and structure</a:t>
            </a:r>
          </a:p>
        </p:txBody>
      </p:sp>
      <p:sp>
        <p:nvSpPr>
          <p:cNvPr id="15" name="">
            <a:extLst xmlns:a="http://schemas.openxmlformats.org/drawingml/2006/main">
              <a:ext uri="{FF2B5EF4-FFF2-40B4-BE49-F238E27FC236}">
                <a16:creationId xmlns:a16="http://schemas.microsoft.com/office/drawing/2014/main" id="{D45E7A04-DC5C-4AF6-B63D-892EFC3CCB4C}"/>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Churn, duplication, reuse, complexity</a:t>
            </a:r>
          </a:p>
        </p:txBody>
      </p:sp>
      <p:sp>
        <p:nvSpPr>
          <p:cNvPr id="16" name="">
            <a:extLst xmlns:a="http://schemas.openxmlformats.org/drawingml/2006/main">
              <a:ext uri="{FF2B5EF4-FFF2-40B4-BE49-F238E27FC236}">
                <a16:creationId xmlns:a16="http://schemas.microsoft.com/office/drawing/2014/main" id="{2D72B6B4-2C41-4983-BE67-7CD3A3D2C317}"/>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Ownership gaps</a:t>
            </a:r>
          </a:p>
        </p:txBody>
      </p:sp>
      <p:sp>
        <p:nvSpPr>
          <p:cNvPr id="17" name="">
            <a:extLst xmlns:a="http://schemas.openxmlformats.org/drawingml/2006/main">
              <a:ext uri="{FF2B5EF4-FFF2-40B4-BE49-F238E27FC236}">
                <a16:creationId xmlns:a16="http://schemas.microsoft.com/office/drawing/2014/main" id="{080AC5D3-E88D-47FE-A1F5-F50F674A303F}"/>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Unowned changes and stale docs</a:t>
            </a:r>
          </a:p>
        </p:txBody>
      </p:sp>
      <p:sp>
        <p:nvSpPr>
          <p:cNvPr id="18" name="">
            <a:extLst xmlns:a="http://schemas.openxmlformats.org/drawingml/2006/main">
              <a:ext uri="{FF2B5EF4-FFF2-40B4-BE49-F238E27FC236}">
                <a16:creationId xmlns:a16="http://schemas.microsoft.com/office/drawing/2014/main" id="{2446A6B8-319D-44FF-8014-998028FFAE06}"/>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Recovery readiness</a:t>
            </a:r>
          </a:p>
        </p:txBody>
      </p:sp>
      <p:sp>
        <p:nvSpPr>
          <p:cNvPr id="19" name="">
            <a:extLst xmlns:a="http://schemas.openxmlformats.org/drawingml/2006/main">
              <a:ext uri="{FF2B5EF4-FFF2-40B4-BE49-F238E27FC236}">
                <a16:creationId xmlns:a16="http://schemas.microsoft.com/office/drawing/2014/main" id="{72D3F65B-11A9-43B3-9BA6-0B0C56FF8CED}"/>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Unaided diagnosis and restore time</a:t>
            </a:r>
          </a:p>
        </p:txBody>
      </p:sp>
      <p:sp>
        <p:nvSpPr>
          <p:cNvPr id="20" name="">
            <a:extLst xmlns:a="http://schemas.openxmlformats.org/drawingml/2006/main">
              <a:ext uri="{FF2B5EF4-FFF2-40B4-BE49-F238E27FC236}">
                <a16:creationId xmlns:a16="http://schemas.microsoft.com/office/drawing/2014/main" id="{3D9B2E42-3CC4-4BA5-A5DA-0800564C361D}"/>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EXPLORE</a:t>
            </a:r>
          </a:p>
        </p:txBody>
      </p:sp>
      <p:sp>
        <p:nvSpPr>
          <p:cNvPr id="21" name="">
            <a:extLst xmlns:a="http://schemas.openxmlformats.org/drawingml/2006/main">
              <a:ext uri="{FF2B5EF4-FFF2-40B4-BE49-F238E27FC236}">
                <a16:creationId xmlns:a16="http://schemas.microsoft.com/office/drawing/2014/main" id="{52A13B80-C9FF-4B4C-93AA-97CD6A78B926}"/>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Small batches and WIP limits</a:t>
            </a:r>
          </a:p>
        </p:txBody>
      </p:sp>
      <p:sp>
        <p:nvSpPr>
          <p:cNvPr id="22" name="">
            <a:extLst xmlns:a="http://schemas.openxmlformats.org/drawingml/2006/main">
              <a:ext uri="{FF2B5EF4-FFF2-40B4-BE49-F238E27FC236}">
                <a16:creationId xmlns:a16="http://schemas.microsoft.com/office/drawing/2014/main" id="{8B6107F3-92BA-4999-A8D7-448541EA406D}"/>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Keep intake within review capacity</a:t>
            </a:r>
          </a:p>
        </p:txBody>
      </p:sp>
      <p:sp>
        <p:nvSpPr>
          <p:cNvPr id="23" name="">
            <a:extLst xmlns:a="http://schemas.openxmlformats.org/drawingml/2006/main">
              <a:ext uri="{FF2B5EF4-FFF2-40B4-BE49-F238E27FC236}">
                <a16:creationId xmlns:a16="http://schemas.microsoft.com/office/drawing/2014/main" id="{2182DF6A-E7BF-4FAF-BE6B-A7EC9FDDD465}"/>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Specs and living architecture</a:t>
            </a:r>
          </a:p>
        </p:txBody>
      </p:sp>
      <p:sp>
        <p:nvSpPr>
          <p:cNvPr id="24" name="">
            <a:extLst xmlns:a="http://schemas.openxmlformats.org/drawingml/2006/main">
              <a:ext uri="{FF2B5EF4-FFF2-40B4-BE49-F238E27FC236}">
                <a16:creationId xmlns:a16="http://schemas.microsoft.com/office/drawing/2014/main" id="{1F6C08C9-CEEE-4399-ABB1-E11A9E609D9B}"/>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code and docs together</a:t>
            </a:r>
          </a:p>
        </p:txBody>
      </p:sp>
      <p:sp>
        <p:nvSpPr>
          <p:cNvPr id="25" name="">
            <a:extLst xmlns:a="http://schemas.openxmlformats.org/drawingml/2006/main">
              <a:ext uri="{FF2B5EF4-FFF2-40B4-BE49-F238E27FC236}">
                <a16:creationId xmlns:a16="http://schemas.microsoft.com/office/drawing/2014/main" id="{8B0FB9D3-1930-43C2-9EE3-2CD7B423C3C3}"/>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Repository intelligence</a:t>
            </a:r>
          </a:p>
        </p:txBody>
      </p:sp>
      <p:sp>
        <p:nvSpPr>
          <p:cNvPr id="26" name="">
            <a:extLst xmlns:a="http://schemas.openxmlformats.org/drawingml/2006/main">
              <a:ext uri="{FF2B5EF4-FFF2-40B4-BE49-F238E27FC236}">
                <a16:creationId xmlns:a16="http://schemas.microsoft.com/office/drawing/2014/main" id="{2BC09BA4-F4EA-4E53-A852-E8AECF44CC88}"/>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Trace dependencies and owners</a:t>
            </a:r>
          </a:p>
        </p:txBody>
      </p:sp>
      <p:sp>
        <p:nvSpPr>
          <p:cNvPr id="27" name="">
            <a:extLst xmlns:a="http://schemas.openxmlformats.org/drawingml/2006/main">
              <a:ext uri="{FF2B5EF4-FFF2-40B4-BE49-F238E27FC236}">
                <a16:creationId xmlns:a16="http://schemas.microsoft.com/office/drawing/2014/main" id="{327C416C-7F67-4154-B9F0-F97A933DB5FE}"/>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Human recovery drills</a:t>
            </a:r>
          </a:p>
        </p:txBody>
      </p:sp>
      <p:sp>
        <p:nvSpPr>
          <p:cNvPr id="28" name="">
            <a:extLst xmlns:a="http://schemas.openxmlformats.org/drawingml/2006/main">
              <a:ext uri="{FF2B5EF4-FFF2-40B4-BE49-F238E27FC236}">
                <a16:creationId xmlns:a16="http://schemas.microsoft.com/office/drawing/2014/main" id="{4BA08703-C46B-4264-A3DC-5229E040B990}"/>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Diagnose and fix without the agent</a:t>
            </a:r>
          </a:p>
        </p:txBody>
      </p:sp>
      <p:sp>
        <p:nvSpPr>
          <p:cNvPr id="29" name="">
            <a:extLst xmlns:a="http://schemas.openxmlformats.org/drawingml/2006/main">
              <a:ext uri="{FF2B5EF4-FFF2-40B4-BE49-F238E27FC236}">
                <a16:creationId xmlns:a16="http://schemas.microsoft.com/office/drawing/2014/main" id="{B2AD054E-F4E0-48E6-8800-FD6D84B9943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F7782D31-D756-462F-82BE-63B763EBFB42}"/>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1AA8AB1A-2D9B-449A-851C-7C337619B173}"/>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Measure delivery and recovery. Next: AI inside the product.</a:t>
            </a:r>
          </a:p>
        </p:txBody>
      </p:sp>
    </p:spTree>
    <p:extLst>
      <p:ext uri="{BB962C8B-B14F-4D97-AF65-F5344CB8AC3E}">
        <p14:creationId xmlns:p14="http://schemas.microsoft.com/office/powerpoint/2010/main" val="1088254113"/>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105F01B-DA63-49CE-A316-9D6D857B030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When Software Starts Thinking</a:t>
            </a:r>
          </a:p>
        </p:txBody>
      </p:sp>
      <p:sp>
        <p:nvSpPr>
          <p:cNvPr id="2" name="">
            <a:extLst xmlns:a="http://schemas.openxmlformats.org/drawingml/2006/main">
              <a:ext uri="{FF2B5EF4-FFF2-40B4-BE49-F238E27FC236}">
                <a16:creationId xmlns:a16="http://schemas.microsoft.com/office/drawing/2014/main" id="{2414296E-00FF-4DA0-BE4E-B8447C07CCE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FFC03E6-E848-4343-A006-B6AA960594E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08</a:t>
            </a:r>
          </a:p>
        </p:txBody>
      </p:sp>
      <p:sp>
        <p:nvSpPr>
          <p:cNvPr id="4" name="">
            <a:extLst xmlns:a="http://schemas.openxmlformats.org/drawingml/2006/main">
              <a:ext uri="{FF2B5EF4-FFF2-40B4-BE49-F238E27FC236}">
                <a16:creationId xmlns:a16="http://schemas.microsoft.com/office/drawing/2014/main" id="{5A20134B-CEA6-489C-90BC-CED3E3F18B91}"/>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Roboto"/>
                <a:ea typeface="Roboto"/>
                <a:cs typeface="Roboto"/>
              </a:defRPr>
            </a:pPr>
            <a:r>
              <a:rPr sz="1725" b="1">
                <a:solidFill>
                  <a:srgbClr val="28C7F7"/>
                </a:solidFill>
                <a:latin typeface="Roboto"/>
                <a:ea typeface="Roboto"/>
                <a:cs typeface="Roboto"/>
              </a:rPr>
              <a:t>THINKING SYSTEMS</a:t>
            </a:r>
          </a:p>
        </p:txBody>
      </p:sp>
      <p:sp>
        <p:nvSpPr>
          <p:cNvPr id="5" name="">
            <a:extLst xmlns:a="http://schemas.openxmlformats.org/drawingml/2006/main">
              <a:ext uri="{FF2B5EF4-FFF2-40B4-BE49-F238E27FC236}">
                <a16:creationId xmlns:a16="http://schemas.microsoft.com/office/drawing/2014/main" id="{FC11E502-A68F-43E6-9206-2305BDE94D6B}"/>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Roboto"/>
                <a:ea typeface="Roboto"/>
                <a:cs typeface="Roboto"/>
              </a:defRPr>
            </a:pPr>
            <a:r>
              <a:rPr sz="2400" b="1">
                <a:solidFill>
                  <a:srgbClr val="F4F7FA"/>
                </a:solidFill>
                <a:latin typeface="Roboto"/>
                <a:ea typeface="Roboto"/>
                <a:cs typeface="Roboto"/>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438E7824-82C4-41ED-8BB2-786889AC6CCF}"/>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1.0</a:t>
            </a:r>
          </a:p>
        </p:txBody>
      </p:sp>
      <p:sp>
        <p:nvSpPr>
          <p:cNvPr id="7" name="">
            <a:extLst xmlns:a="http://schemas.openxmlformats.org/drawingml/2006/main">
              <a:ext uri="{FF2B5EF4-FFF2-40B4-BE49-F238E27FC236}">
                <a16:creationId xmlns:a16="http://schemas.microsoft.com/office/drawing/2014/main" id="{88BEB7FC-DCD2-42AF-A227-C257BF824EB3}"/>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Roboto"/>
                <a:ea typeface="Roboto"/>
                <a:cs typeface="Roboto"/>
              </a:defRPr>
            </a:pPr>
            <a:r>
              <a:rPr sz="4425" b="1">
                <a:solidFill>
                  <a:srgbClr val="28C7F7"/>
                </a:solidFill>
                <a:latin typeface="Roboto"/>
                <a:ea typeface="Roboto"/>
                <a:cs typeface="Roboto"/>
              </a:rPr>
              <a:t>y = f(x)</a:t>
            </a:r>
          </a:p>
        </p:txBody>
      </p:sp>
      <p:sp>
        <p:nvSpPr>
          <p:cNvPr id="8" name="">
            <a:extLst xmlns:a="http://schemas.openxmlformats.org/drawingml/2006/main">
              <a:ext uri="{FF2B5EF4-FFF2-40B4-BE49-F238E27FC236}">
                <a16:creationId xmlns:a16="http://schemas.microsoft.com/office/drawing/2014/main" id="{A1E7B38D-B2E1-451C-9206-E91B323BEDBB}"/>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with Model Judgment</a:t>
            </a:r>
          </a:p>
        </p:txBody>
      </p:sp>
      <p:sp>
        <p:nvSpPr>
          <p:cNvPr id="9" name="">
            <a:extLst xmlns:a="http://schemas.openxmlformats.org/drawingml/2006/main">
              <a:ext uri="{FF2B5EF4-FFF2-40B4-BE49-F238E27FC236}">
                <a16:creationId xmlns:a16="http://schemas.microsoft.com/office/drawing/2014/main" id="{23D50CEB-DC45-4CC3-ACF0-CA9E39242731}"/>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Roboto"/>
                <a:ea typeface="Roboto"/>
                <a:cs typeface="Roboto"/>
              </a:defRPr>
            </a:pPr>
            <a:r>
              <a:rPr sz="4425" b="1">
                <a:solidFill>
                  <a:srgbClr val="F5B61C"/>
                </a:solidFill>
                <a:latin typeface="Roboto"/>
                <a:ea typeface="Roboto"/>
                <a:cs typeface="Roboto"/>
              </a:rPr>
              <a:t>y ~ P(y | x)</a:t>
            </a:r>
          </a:p>
        </p:txBody>
      </p:sp>
      <p:sp>
        <p:nvSpPr>
          <p:cNvPr id="10" name="">
            <a:extLst xmlns:a="http://schemas.openxmlformats.org/drawingml/2006/main">
              <a:ext uri="{FF2B5EF4-FFF2-40B4-BE49-F238E27FC236}">
                <a16:creationId xmlns:a16="http://schemas.microsoft.com/office/drawing/2014/main" id="{DD774565-8D97-4FFA-8DB9-134CA1E2C17E}"/>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73444A3F-C2E3-46CB-B3DC-129DC4A08D4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49917F71-8501-4F40-8DB1-090D3188208A}"/>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Engineer the useful region of behavior.</a:t>
            </a:r>
          </a:p>
        </p:txBody>
      </p:sp>
    </p:spTree>
    <p:extLst>
      <p:ext uri="{BB962C8B-B14F-4D97-AF65-F5344CB8AC3E}">
        <p14:creationId xmlns:p14="http://schemas.microsoft.com/office/powerpoint/2010/main" val="196661112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00177D2D-F2C2-452A-8D87-E8C2AEBAF66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Requirements Become Boundaries</a:t>
            </a:r>
          </a:p>
        </p:txBody>
      </p:sp>
      <p:sp>
        <p:nvSpPr>
          <p:cNvPr id="2" name="">
            <a:extLst xmlns:a="http://schemas.openxmlformats.org/drawingml/2006/main">
              <a:ext uri="{FF2B5EF4-FFF2-40B4-BE49-F238E27FC236}">
                <a16:creationId xmlns:a16="http://schemas.microsoft.com/office/drawing/2014/main" id="{312D3FA5-14DF-4FF7-88E5-C8ED5FD2CA0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24B9B19-B3D6-4345-9F2F-DAA071A0EAB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09</a:t>
            </a:r>
          </a:p>
        </p:txBody>
      </p:sp>
      <p:sp>
        <p:nvSpPr>
          <p:cNvPr id="4" name="">
            <a:extLst xmlns:a="http://schemas.openxmlformats.org/drawingml/2006/main">
              <a:ext uri="{FF2B5EF4-FFF2-40B4-BE49-F238E27FC236}">
                <a16:creationId xmlns:a16="http://schemas.microsoft.com/office/drawing/2014/main" id="{FDA10AAB-F080-47E9-A623-6953E258A37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PRODUCT MANAGER + BA · agree what acceptable behavior means</a:t>
            </a:r>
          </a:p>
        </p:txBody>
      </p:sp>
      <p:sp>
        <p:nvSpPr>
          <p:cNvPr id="5" name="">
            <a:extLst xmlns:a="http://schemas.openxmlformats.org/drawingml/2006/main">
              <a:ext uri="{FF2B5EF4-FFF2-40B4-BE49-F238E27FC236}">
                <a16:creationId xmlns:a16="http://schemas.microsoft.com/office/drawing/2014/main" id="{0D4818FB-9FCF-4754-B734-4B8884D9BFCC}"/>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D7F30719-6DDD-46F8-B7A1-970ACFC0F2F5}"/>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SPECIFIED FLOW · STILL REQUIRED</a:t>
            </a:r>
          </a:p>
        </p:txBody>
      </p:sp>
      <p:sp>
        <p:nvSpPr>
          <p:cNvPr id="7" name="">
            <a:extLst xmlns:a="http://schemas.openxmlformats.org/drawingml/2006/main">
              <a:ext uri="{FF2B5EF4-FFF2-40B4-BE49-F238E27FC236}">
                <a16:creationId xmlns:a16="http://schemas.microsoft.com/office/drawing/2014/main" id="{2D7FE723-83BC-40BB-A029-54C7ABAE8E74}"/>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FF41354B-BF80-49D3-8E9A-B2452D51BF6F}"/>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Button A</a:t>
            </a:r>
          </a:p>
        </p:txBody>
      </p:sp>
      <p:sp>
        <p:nvSpPr>
          <p:cNvPr id="9" name="">
            <a:extLst xmlns:a="http://schemas.openxmlformats.org/drawingml/2006/main">
              <a:ext uri="{FF2B5EF4-FFF2-40B4-BE49-F238E27FC236}">
                <a16:creationId xmlns:a16="http://schemas.microsoft.com/office/drawing/2014/main" id="{5D68186F-BD55-4C9C-B73E-C4D855D92C78}"/>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8E015922-34C7-4417-8E7B-0D9BC0CEFDC5}"/>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Window B</a:t>
            </a:r>
          </a:p>
        </p:txBody>
      </p:sp>
      <p:cxnSp>
        <p:nvCxnSpPr>
          <p:cNvPr id="4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4F47A930-9C27-41AE-A343-737B1FEF0818}"/>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Exact states, permissions</a:t>
            </a:r>
          </a:p>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and transitions.</a:t>
            </a:r>
          </a:p>
        </p:txBody>
      </p:sp>
      <p:sp>
        <p:nvSpPr>
          <p:cNvPr id="13" name="">
            <a:extLst xmlns:a="http://schemas.openxmlformats.org/drawingml/2006/main">
              <a:ext uri="{FF2B5EF4-FFF2-40B4-BE49-F238E27FC236}">
                <a16:creationId xmlns:a16="http://schemas.microsoft.com/office/drawing/2014/main" id="{33C610F8-65A5-4B01-8CDE-D750C4D054CA}"/>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Product + BA: examples and rubric.</a:t>
            </a:r>
          </a:p>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Project Manager: stakeholder decisions.</a:t>
            </a:r>
          </a:p>
        </p:txBody>
      </p:sp>
      <p:sp>
        <p:nvSpPr>
          <p:cNvPr id="14" name="">
            <a:extLst xmlns:a="http://schemas.openxmlformats.org/drawingml/2006/main">
              <a:ext uri="{FF2B5EF4-FFF2-40B4-BE49-F238E27FC236}">
                <a16:creationId xmlns:a16="http://schemas.microsoft.com/office/drawing/2014/main" id="{8C9ED2FF-4601-41C8-89C2-BD2CA9A48C99}"/>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ACCEPTABLE BEHAVIOR REGION</a:t>
            </a:r>
          </a:p>
        </p:txBody>
      </p:sp>
      <p:sp>
        <p:nvSpPr>
          <p:cNvPr id="15" name="">
            <a:extLst xmlns:a="http://schemas.openxmlformats.org/drawingml/2006/main">
              <a:ext uri="{FF2B5EF4-FFF2-40B4-BE49-F238E27FC236}">
                <a16:creationId xmlns:a16="http://schemas.microsoft.com/office/drawing/2014/main" id="{9FFCDE24-AFDE-44EE-A906-D68DE65CB90E}"/>
              </a:ext>
            </a:extLst>
          </p:cNvPr>
          <p:cNvSpPr>
            <a:spLocks xmlns:a="http://schemas.openxmlformats.org/drawingml/2006/main" noGrp="1"/>
          </p:cNvSpPr>
          <p:nvPr/>
        </p:nvSpPr>
        <p:spPr>
          <a:xfrm xmlns:a="http://schemas.openxmlformats.org/drawingml/2006/main">
            <a:off x="5105400" y="2400300"/>
            <a:ext cx="647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Many valid outputs inside the same agreed limits</a:t>
            </a:r>
          </a:p>
        </p:txBody>
      </p:sp>
      <p:sp>
        <p:nvSpPr>
          <p:cNvPr id="16" name="">
            <a:extLst xmlns:a="http://schemas.openxmlformats.org/drawingml/2006/main">
              <a:ext uri="{FF2B5EF4-FFF2-40B4-BE49-F238E27FC236}">
                <a16:creationId xmlns:a16="http://schemas.microsoft.com/office/drawing/2014/main" id="{75F8CCD6-085D-46BD-AAFA-AA396A8AA134}"/>
              </a:ext>
            </a:extLst>
          </p:cNvPr>
          <p:cNvSpPr>
            <a:spLocks xmlns:a="http://schemas.openxmlformats.org/drawingml/2006/main" noGrp="1"/>
          </p:cNvSpPr>
          <p:nvPr/>
        </p:nvSpPr>
        <p:spPr>
          <a:xfrm xmlns:a="http://schemas.openxmlformats.org/drawingml/2006/main">
            <a:off x="5219700" y="2686050"/>
            <a:ext cx="6248400" cy="895350"/>
          </a:xfrm>
          <a:prstGeom xmlns:a="http://schemas.openxmlformats.org/drawingml/2006/main" prst="rect">
            <a:avLst/>
          </a:prstGeom>
          <a:solidFill xmlns:a="http://schemas.openxmlformats.org/drawingml/2006/main">
            <a:srgbClr val="10212C"/>
          </a:solidFill>
          <a:ln xmlns:a="http://schemas.openxmlformats.org/drawingml/2006/main" w="19050">
            <a:solidFill>
              <a:srgbClr val="28C7F7"/>
            </a:solidFill>
            <a:prstDash val="solid"/>
          </a:ln>
        </p:spPr>
      </p:sp>
      <p:sp>
        <p:nvSpPr>
          <p:cNvPr id="17" name="">
            <a:extLst xmlns:a="http://schemas.openxmlformats.org/drawingml/2006/main">
              <a:ext uri="{FF2B5EF4-FFF2-40B4-BE49-F238E27FC236}">
                <a16:creationId xmlns:a16="http://schemas.microsoft.com/office/drawing/2014/main" id="{D00EE93C-1D78-4A24-A9A0-3FDC576E3431}"/>
              </a:ext>
            </a:extLst>
          </p:cNvPr>
          <p:cNvSpPr>
            <a:spLocks xmlns:a="http://schemas.openxmlformats.org/drawingml/2006/main" noGrp="1"/>
          </p:cNvSpPr>
          <p:nvPr/>
        </p:nvSpPr>
        <p:spPr>
          <a:xfrm xmlns:a="http://schemas.openxmlformats.org/drawingml/2006/main">
            <a:off x="5372100" y="2771775"/>
            <a:ext cx="723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Roboto"/>
                <a:ea typeface="Roboto"/>
                <a:cs typeface="Roboto"/>
              </a:defRPr>
            </a:pPr>
            <a:r>
              <a:rPr sz="1350" b="1">
                <a:solidFill>
                  <a:srgbClr val="28C7F7"/>
                </a:solidFill>
                <a:latin typeface="Roboto"/>
                <a:ea typeface="Roboto"/>
                <a:cs typeface="Roboto"/>
              </a:rPr>
              <a:t>ALLOW</a:t>
            </a:r>
          </a:p>
        </p:txBody>
      </p:sp>
      <p:sp>
        <p:nvSpPr>
          <p:cNvPr id="18" name="">
            <a:extLst xmlns:a="http://schemas.openxmlformats.org/drawingml/2006/main">
              <a:ext uri="{FF2B5EF4-FFF2-40B4-BE49-F238E27FC236}">
                <a16:creationId xmlns:a16="http://schemas.microsoft.com/office/drawing/2014/main" id="{8CC2455F-000B-42FC-AFC2-1F1FB94A5379}"/>
              </a:ext>
            </a:extLst>
          </p:cNvPr>
          <p:cNvSpPr>
            <a:spLocks xmlns:a="http://schemas.openxmlformats.org/drawingml/2006/main" noGrp="1"/>
          </p:cNvSpPr>
          <p:nvPr/>
        </p:nvSpPr>
        <p:spPr>
          <a:xfrm xmlns:a="http://schemas.openxmlformats.org/drawingml/2006/main">
            <a:off x="6210300" y="2771775"/>
            <a:ext cx="5124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Explain an approved support article.</a:t>
            </a:r>
          </a:p>
        </p:txBody>
      </p:sp>
      <p:sp>
        <p:nvSpPr>
          <p:cNvPr id="19" name="">
            <a:extLst xmlns:a="http://schemas.openxmlformats.org/drawingml/2006/main">
              <a:ext uri="{FF2B5EF4-FFF2-40B4-BE49-F238E27FC236}">
                <a16:creationId xmlns:a16="http://schemas.microsoft.com/office/drawing/2014/main" id="{F534DA25-6BA4-4E3F-8B52-9E550F5AD316}"/>
              </a:ext>
            </a:extLst>
          </p:cNvPr>
          <p:cNvSpPr>
            <a:spLocks xmlns:a="http://schemas.openxmlformats.org/drawingml/2006/main" noGrp="1"/>
          </p:cNvSpPr>
          <p:nvPr/>
        </p:nvSpPr>
        <p:spPr>
          <a:xfrm xmlns:a="http://schemas.openxmlformats.org/drawingml/2006/main">
            <a:off x="5410200" y="3248025"/>
            <a:ext cx="85725" cy="85725"/>
          </a:xfrm>
          <a:prstGeom xmlns:a="http://schemas.openxmlformats.org/drawingml/2006/main" prst="ellipse">
            <a:avLst/>
          </a:prstGeom>
          <a:solidFill xmlns:a="http://schemas.openxmlformats.org/drawingml/2006/main">
            <a:srgbClr val="28C7F7"/>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ABC69EA-602E-4C08-A876-BC116C74F5AE}"/>
              </a:ext>
            </a:extLst>
          </p:cNvPr>
          <p:cNvSpPr>
            <a:spLocks xmlns:a="http://schemas.openxmlformats.org/drawingml/2006/main" noGrp="1"/>
          </p:cNvSpPr>
          <p:nvPr/>
        </p:nvSpPr>
        <p:spPr>
          <a:xfrm xmlns:a="http://schemas.openxmlformats.org/drawingml/2006/main">
            <a:off x="5581650" y="3143250"/>
            <a:ext cx="2714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Roboto"/>
                <a:ea typeface="Roboto"/>
                <a:cs typeface="Roboto"/>
              </a:defRPr>
            </a:pPr>
            <a:r>
              <a:rPr sz="1425" b="0">
                <a:solidFill>
                  <a:srgbClr val="28C7F7"/>
                </a:solidFill>
                <a:latin typeface="Roboto"/>
                <a:ea typeface="Roboto"/>
                <a:cs typeface="Roboto"/>
              </a:rPr>
              <a:t>Short explanation</a:t>
            </a:r>
          </a:p>
        </p:txBody>
      </p:sp>
      <p:sp>
        <p:nvSpPr>
          <p:cNvPr id="21" name="">
            <a:extLst xmlns:a="http://schemas.openxmlformats.org/drawingml/2006/main">
              <a:ext uri="{FF2B5EF4-FFF2-40B4-BE49-F238E27FC236}">
                <a16:creationId xmlns:a16="http://schemas.microsoft.com/office/drawing/2014/main" id="{7FF660B8-2340-4925-B7EE-EB4F263E2ABA}"/>
              </a:ext>
            </a:extLst>
          </p:cNvPr>
          <p:cNvSpPr>
            <a:spLocks xmlns:a="http://schemas.openxmlformats.org/drawingml/2006/main" noGrp="1"/>
          </p:cNvSpPr>
          <p:nvPr/>
        </p:nvSpPr>
        <p:spPr>
          <a:xfrm xmlns:a="http://schemas.openxmlformats.org/drawingml/2006/main">
            <a:off x="8382000" y="3248025"/>
            <a:ext cx="85725" cy="85725"/>
          </a:xfrm>
          <a:prstGeom xmlns:a="http://schemas.openxmlformats.org/drawingml/2006/main" prst="ellipse">
            <a:avLst/>
          </a:prstGeom>
          <a:solidFill xmlns:a="http://schemas.openxmlformats.org/drawingml/2006/main">
            <a:srgbClr val="28C7F7"/>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7DF654C-4CA3-4473-9B12-0C7DF77917F8}"/>
              </a:ext>
            </a:extLst>
          </p:cNvPr>
          <p:cNvSpPr>
            <a:spLocks xmlns:a="http://schemas.openxmlformats.org/drawingml/2006/main" noGrp="1"/>
          </p:cNvSpPr>
          <p:nvPr/>
        </p:nvSpPr>
        <p:spPr>
          <a:xfrm xmlns:a="http://schemas.openxmlformats.org/drawingml/2006/main">
            <a:off x="8553450" y="3143250"/>
            <a:ext cx="2714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Roboto"/>
                <a:ea typeface="Roboto"/>
                <a:cs typeface="Roboto"/>
              </a:defRPr>
            </a:pPr>
            <a:r>
              <a:rPr sz="1425" b="0">
                <a:solidFill>
                  <a:srgbClr val="28C7F7"/>
                </a:solidFill>
                <a:latin typeface="Roboto"/>
                <a:ea typeface="Roboto"/>
                <a:cs typeface="Roboto"/>
              </a:rPr>
              <a:t>Detailed explanation</a:t>
            </a:r>
          </a:p>
        </p:txBody>
      </p:sp>
      <p:sp>
        <p:nvSpPr>
          <p:cNvPr id="23" name="">
            <a:extLst xmlns:a="http://schemas.openxmlformats.org/drawingml/2006/main">
              <a:ext uri="{FF2B5EF4-FFF2-40B4-BE49-F238E27FC236}">
                <a16:creationId xmlns:a16="http://schemas.microsoft.com/office/drawing/2014/main" id="{4BDF07EB-36F3-4414-985E-672F0FE9588F}"/>
              </a:ext>
            </a:extLst>
          </p:cNvPr>
          <p:cNvSpPr>
            <a:spLocks xmlns:a="http://schemas.openxmlformats.org/drawingml/2006/main" noGrp="1"/>
          </p:cNvSpPr>
          <p:nvPr/>
        </p:nvSpPr>
        <p:spPr>
          <a:xfrm xmlns:a="http://schemas.openxmlformats.org/drawingml/2006/main" flipH="0" flipV="0">
            <a:off x="5219700" y="3638550"/>
            <a:ext cx="624840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24" name="">
            <a:extLst xmlns:a="http://schemas.openxmlformats.org/drawingml/2006/main">
              <a:ext uri="{FF2B5EF4-FFF2-40B4-BE49-F238E27FC236}">
                <a16:creationId xmlns:a16="http://schemas.microsoft.com/office/drawing/2014/main" id="{D6A93900-8A66-46C8-AF6E-17062EC7B37E}"/>
              </a:ext>
            </a:extLst>
          </p:cNvPr>
          <p:cNvSpPr>
            <a:spLocks xmlns:a="http://schemas.openxmlformats.org/drawingml/2006/main" noGrp="1"/>
          </p:cNvSpPr>
          <p:nvPr/>
        </p:nvSpPr>
        <p:spPr>
          <a:xfrm xmlns:a="http://schemas.openxmlformats.org/drawingml/2006/main">
            <a:off x="5219700" y="3686175"/>
            <a:ext cx="8858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Roboto"/>
                <a:ea typeface="Roboto"/>
                <a:cs typeface="Roboto"/>
              </a:defRPr>
            </a:pPr>
            <a:r>
              <a:rPr sz="1350" b="1">
                <a:solidFill>
                  <a:srgbClr val="F5B61C"/>
                </a:solidFill>
                <a:latin typeface="Roboto"/>
                <a:ea typeface="Roboto"/>
                <a:cs typeface="Roboto"/>
              </a:rPr>
              <a:t>CLARIFY</a:t>
            </a:r>
          </a:p>
        </p:txBody>
      </p:sp>
      <p:sp>
        <p:nvSpPr>
          <p:cNvPr id="25" name="">
            <a:extLst xmlns:a="http://schemas.openxmlformats.org/drawingml/2006/main">
              <a:ext uri="{FF2B5EF4-FFF2-40B4-BE49-F238E27FC236}">
                <a16:creationId xmlns:a16="http://schemas.microsoft.com/office/drawing/2014/main" id="{34B8B7F5-5324-462C-AB27-897CF62D82B2}"/>
              </a:ext>
            </a:extLst>
          </p:cNvPr>
          <p:cNvSpPr>
            <a:spLocks xmlns:a="http://schemas.openxmlformats.org/drawingml/2006/main" noGrp="1"/>
          </p:cNvSpPr>
          <p:nvPr/>
        </p:nvSpPr>
        <p:spPr>
          <a:xfrm xmlns:a="http://schemas.openxmlformats.org/drawingml/2006/main">
            <a:off x="6210300" y="3686175"/>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Missing context? Ask before advising.</a:t>
            </a:r>
          </a:p>
        </p:txBody>
      </p:sp>
      <p:sp>
        <p:nvSpPr>
          <p:cNvPr id="26" name="">
            <a:extLst xmlns:a="http://schemas.openxmlformats.org/drawingml/2006/main">
              <a:ext uri="{FF2B5EF4-FFF2-40B4-BE49-F238E27FC236}">
                <a16:creationId xmlns:a16="http://schemas.microsoft.com/office/drawing/2014/main" id="{5A4114C1-D0B5-4253-880D-B1EC31F27B50}"/>
              </a:ext>
            </a:extLst>
          </p:cNvPr>
          <p:cNvSpPr>
            <a:spLocks xmlns:a="http://schemas.openxmlformats.org/drawingml/2006/main" noGrp="1"/>
          </p:cNvSpPr>
          <p:nvPr/>
        </p:nvSpPr>
        <p:spPr>
          <a:xfrm xmlns:a="http://schemas.openxmlformats.org/drawingml/2006/main">
            <a:off x="5219700" y="3971925"/>
            <a:ext cx="8858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F6B75"/>
                </a:solidFill>
                <a:latin typeface="Roboto"/>
                <a:ea typeface="Roboto"/>
                <a:cs typeface="Roboto"/>
              </a:defRPr>
            </a:pPr>
            <a:r>
              <a:rPr sz="1350" b="1">
                <a:solidFill>
                  <a:srgbClr val="FF6B75"/>
                </a:solidFill>
                <a:latin typeface="Roboto"/>
                <a:ea typeface="Roboto"/>
                <a:cs typeface="Roboto"/>
              </a:rPr>
              <a:t>PROHIBIT</a:t>
            </a:r>
          </a:p>
        </p:txBody>
      </p:sp>
      <p:sp>
        <p:nvSpPr>
          <p:cNvPr id="27" name="">
            <a:extLst xmlns:a="http://schemas.openxmlformats.org/drawingml/2006/main">
              <a:ext uri="{FF2B5EF4-FFF2-40B4-BE49-F238E27FC236}">
                <a16:creationId xmlns:a16="http://schemas.microsoft.com/office/drawing/2014/main" id="{215D0559-16FD-42C9-B8DC-020056A32DBE}"/>
              </a:ext>
            </a:extLst>
          </p:cNvPr>
          <p:cNvSpPr>
            <a:spLocks xmlns:a="http://schemas.openxmlformats.org/drawingml/2006/main" noGrp="1"/>
          </p:cNvSpPr>
          <p:nvPr/>
        </p:nvSpPr>
        <p:spPr>
          <a:xfrm xmlns:a="http://schemas.openxmlformats.org/drawingml/2006/main">
            <a:off x="6210300" y="3971925"/>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Invent steps, expose data, bypass approval.</a:t>
            </a:r>
          </a:p>
        </p:txBody>
      </p:sp>
      <p:sp>
        <p:nvSpPr>
          <p:cNvPr id="28" name="">
            <a:extLst xmlns:a="http://schemas.openxmlformats.org/drawingml/2006/main">
              <a:ext uri="{FF2B5EF4-FFF2-40B4-BE49-F238E27FC236}">
                <a16:creationId xmlns:a16="http://schemas.microsoft.com/office/drawing/2014/main" id="{0BC0F546-F175-416E-A0D8-B5143E9920C7}"/>
              </a:ext>
            </a:extLst>
          </p:cNvPr>
          <p:cNvSpPr>
            <a:spLocks xmlns:a="http://schemas.openxmlformats.org/drawingml/2006/main" noGrp="1"/>
          </p:cNvSpPr>
          <p:nvPr/>
        </p:nvSpPr>
        <p:spPr>
          <a:xfrm xmlns:a="http://schemas.openxmlformats.org/drawingml/2006/main" flipH="0" flipV="0">
            <a:off x="609600" y="4324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9" name="">
            <a:extLst xmlns:a="http://schemas.openxmlformats.org/drawingml/2006/main">
              <a:ext uri="{FF2B5EF4-FFF2-40B4-BE49-F238E27FC236}">
                <a16:creationId xmlns:a16="http://schemas.microsoft.com/office/drawing/2014/main" id="{1C0CF48D-7973-4ABC-9B32-6AF732AD0B02}"/>
              </a:ext>
            </a:extLst>
          </p:cNvPr>
          <p:cNvSpPr>
            <a:spLocks xmlns:a="http://schemas.openxmlformats.org/drawingml/2006/main" noGrp="1"/>
          </p:cNvSpPr>
          <p:nvPr/>
        </p:nvSpPr>
        <p:spPr>
          <a:xfrm xmlns:a="http://schemas.openxmlformats.org/drawingml/2006/main">
            <a:off x="609600" y="44100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5B61C"/>
                </a:solidFill>
                <a:latin typeface="Roboto"/>
                <a:ea typeface="Roboto"/>
                <a:cs typeface="Roboto"/>
              </a:defRPr>
            </a:pPr>
            <a:r>
              <a:rPr sz="1575" b="1">
                <a:solidFill>
                  <a:srgbClr val="F5B61C"/>
                </a:solidFill>
                <a:latin typeface="Roboto"/>
                <a:ea typeface="Roboto"/>
                <a:cs typeface="Roboto"/>
              </a:rPr>
              <a:t>BUSINESS TOLERANCE CONTRACT</a:t>
            </a:r>
          </a:p>
        </p:txBody>
      </p:sp>
      <p:sp>
        <p:nvSpPr>
          <p:cNvPr id="30" name="">
            <a:extLst xmlns:a="http://schemas.openxmlformats.org/drawingml/2006/main">
              <a:ext uri="{FF2B5EF4-FFF2-40B4-BE49-F238E27FC236}">
                <a16:creationId xmlns:a16="http://schemas.microsoft.com/office/drawing/2014/main" id="{AC29EF98-A043-447E-9EA4-384F48A9B803}"/>
              </a:ext>
            </a:extLst>
          </p:cNvPr>
          <p:cNvSpPr>
            <a:spLocks xmlns:a="http://schemas.openxmlformats.org/drawingml/2006/main" noGrp="1"/>
          </p:cNvSpPr>
          <p:nvPr/>
        </p:nvSpPr>
        <p:spPr>
          <a:xfrm xmlns:a="http://schemas.openxmlformats.org/drawingml/2006/main">
            <a:off x="609600" y="47625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Allowed variation: wording</a:t>
            </a:r>
          </a:p>
        </p:txBody>
      </p:sp>
      <p:sp>
        <p:nvSpPr>
          <p:cNvPr id="31" name="">
            <a:extLst xmlns:a="http://schemas.openxmlformats.org/drawingml/2006/main">
              <a:ext uri="{FF2B5EF4-FFF2-40B4-BE49-F238E27FC236}">
                <a16:creationId xmlns:a16="http://schemas.microsoft.com/office/drawing/2014/main" id="{DEC29DED-FAD6-448E-9A86-38560D01579E}"/>
              </a:ext>
            </a:extLst>
          </p:cNvPr>
          <p:cNvSpPr>
            <a:spLocks xmlns:a="http://schemas.openxmlformats.org/drawingml/2006/main" noGrp="1"/>
          </p:cNvSpPr>
          <p:nvPr/>
        </p:nvSpPr>
        <p:spPr>
          <a:xfrm xmlns:a="http://schemas.openxmlformats.org/drawingml/2006/main">
            <a:off x="6286500" y="47625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Required meaning: approved steps</a:t>
            </a:r>
          </a:p>
        </p:txBody>
      </p:sp>
      <p:sp>
        <p:nvSpPr>
          <p:cNvPr id="32" name="">
            <a:extLst xmlns:a="http://schemas.openxmlformats.org/drawingml/2006/main">
              <a:ext uri="{FF2B5EF4-FFF2-40B4-BE49-F238E27FC236}">
                <a16:creationId xmlns:a16="http://schemas.microsoft.com/office/drawing/2014/main" id="{1F3231FC-C12B-4823-A225-18DB7CD666B7}"/>
              </a:ext>
            </a:extLst>
          </p:cNvPr>
          <p:cNvSpPr>
            <a:spLocks xmlns:a="http://schemas.openxmlformats.org/drawingml/2006/main" noGrp="1"/>
          </p:cNvSpPr>
          <p:nvPr/>
        </p:nvSpPr>
        <p:spPr>
          <a:xfrm xmlns:a="http://schemas.openxmlformats.org/drawingml/2006/main">
            <a:off x="609600" y="50577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Limits: rework, cost and latency</a:t>
            </a:r>
          </a:p>
        </p:txBody>
      </p:sp>
      <p:sp>
        <p:nvSpPr>
          <p:cNvPr id="33" name="">
            <a:extLst xmlns:a="http://schemas.openxmlformats.org/drawingml/2006/main">
              <a:ext uri="{FF2B5EF4-FFF2-40B4-BE49-F238E27FC236}">
                <a16:creationId xmlns:a16="http://schemas.microsoft.com/office/drawing/2014/main" id="{A066B0E9-D7F0-4292-BD79-E90EDBBDE931}"/>
              </a:ext>
            </a:extLst>
          </p:cNvPr>
          <p:cNvSpPr>
            <a:spLocks xmlns:a="http://schemas.openxmlformats.org/drawingml/2006/main" noGrp="1"/>
          </p:cNvSpPr>
          <p:nvPr/>
        </p:nvSpPr>
        <p:spPr>
          <a:xfrm xmlns:a="http://schemas.openxmlformats.org/drawingml/2006/main">
            <a:off x="6286500" y="50577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Escalation: owner + fallback</a:t>
            </a:r>
          </a:p>
        </p:txBody>
      </p:sp>
      <p:sp>
        <p:nvSpPr>
          <p:cNvPr id="34" name="">
            <a:extLst xmlns:a="http://schemas.openxmlformats.org/drawingml/2006/main">
              <a:ext uri="{FF2B5EF4-FFF2-40B4-BE49-F238E27FC236}">
                <a16:creationId xmlns:a16="http://schemas.microsoft.com/office/drawing/2014/main" id="{CADFDFAD-B32D-4A0E-8C3C-137D5D1BA2B5}"/>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A prompt influences behavior. Examples and acceptance rules define the contract.</a:t>
            </a:r>
          </a:p>
        </p:txBody>
      </p:sp>
      <p:sp>
        <p:nvSpPr>
          <p:cNvPr id="35" name="">
            <a:extLst xmlns:a="http://schemas.openxmlformats.org/drawingml/2006/main">
              <a:ext uri="{FF2B5EF4-FFF2-40B4-BE49-F238E27FC236}">
                <a16:creationId xmlns:a16="http://schemas.microsoft.com/office/drawing/2014/main" id="{86D7F201-B950-4930-8354-238AAD006204}"/>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Shared quality vocabulary exists. Product-specific semantic limits still need agreement.</a:t>
            </a:r>
          </a:p>
        </p:txBody>
      </p:sp>
      <p:sp>
        <p:nvSpPr>
          <p:cNvPr id="36" name="">
            <a:extLst xmlns:a="http://schemas.openxmlformats.org/drawingml/2006/main">
              <a:ext uri="{FF2B5EF4-FFF2-40B4-BE49-F238E27FC236}">
                <a16:creationId xmlns:a16="http://schemas.microsoft.com/office/drawing/2014/main" id="{4A0AC3B6-B099-4A34-94DF-7169E8488B65}"/>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Starting points: ISO/IEC 25059 · NIST AI RMF · CheckList (ACL 2020)</a:t>
            </a:r>
          </a:p>
        </p:txBody>
      </p:sp>
      <p:sp>
        <p:nvSpPr>
          <p:cNvPr id="37" name="">
            <a:extLst xmlns:a="http://schemas.openxmlformats.org/drawingml/2006/main">
              <a:ext uri="{FF2B5EF4-FFF2-40B4-BE49-F238E27FC236}">
                <a16:creationId xmlns:a16="http://schemas.microsoft.com/office/drawing/2014/main" id="{CCCE14D0-9554-4D4E-AAEC-192E555F6A46}"/>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Business scenarios → examples + counterexamples → acceptance rules</a:t>
            </a:r>
          </a:p>
        </p:txBody>
      </p:sp>
    </p:spTree>
    <p:extLst>
      <p:ext uri="{BB962C8B-B14F-4D97-AF65-F5344CB8AC3E}">
        <p14:creationId xmlns:p14="http://schemas.microsoft.com/office/powerpoint/2010/main" val="1339591411"/>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E1CC2A5-8243-4235-8B67-E424368717C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One Green Test Proves Almost Nothing</a:t>
            </a:r>
          </a:p>
        </p:txBody>
      </p:sp>
      <p:sp>
        <p:nvSpPr>
          <p:cNvPr id="2" name="">
            <a:extLst xmlns:a="http://schemas.openxmlformats.org/drawingml/2006/main">
              <a:ext uri="{FF2B5EF4-FFF2-40B4-BE49-F238E27FC236}">
                <a16:creationId xmlns:a16="http://schemas.microsoft.com/office/drawing/2014/main" id="{F0543D30-F52C-4A94-97C2-E06916C13EE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139AE07-F75E-4AF5-9D26-D9C22652C51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10</a:t>
            </a:r>
          </a:p>
        </p:txBody>
      </p:sp>
      <p:sp>
        <p:nvSpPr>
          <p:cNvPr id="4" name="">
            <a:extLst xmlns:a="http://schemas.openxmlformats.org/drawingml/2006/main">
              <a:ext uri="{FF2B5EF4-FFF2-40B4-BE49-F238E27FC236}">
                <a16:creationId xmlns:a16="http://schemas.microsoft.com/office/drawing/2014/main" id="{F4AA6AD0-3FDC-4887-965C-71C5A8243C5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A812FEB6-C50B-465D-8DC0-AEE209407F6F}"/>
              </a:ext>
            </a:extLst>
          </p:cNvPr>
          <p:cNvSpPr>
            <a:spLocks xmlns:a="http://schemas.openxmlformats.org/drawingml/2006/main" noGrp="1"/>
          </p:cNvSpPr>
          <p:nvPr/>
        </p:nvSpPr>
        <p:spPr>
          <a:xfrm xmlns:a="http://schemas.openxmlformats.org/drawingml/2006/main">
            <a:off x="609600" y="2076450"/>
            <a:ext cx="5143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OUTPUT FREQUENCY</a:t>
            </a:r>
          </a:p>
        </p:txBody>
      </p:sp>
      <p:graphicFrame>
        <p:nvGraphicFramePr>
          <p:cNvPr id="32" name="Chart"/>
          <p:cNvGraphicFramePr/>
          <p:nvPr/>
        </p:nvGraphicFramePr>
        <p:xfrm>
          <a:off xmlns:a="http://schemas.openxmlformats.org/drawingml/2006/main" x="609600" y="2371725"/>
          <a:ext xmlns:a="http://schemas.openxmlformats.org/drawingml/2006/main" cx="5143500" cy="2076450"/>
        </p:xfrm>
        <a:graphic xmlns:a="http://schemas.openxmlformats.org/drawingml/2006/main">
          <a:graphicData uri="http://schemas.openxmlformats.org/drawingml/2006/chart">
            <c:chart xmlns:r="http://schemas.openxmlformats.org/officeDocument/2006/relationships" xmlns:c="http://schemas.openxmlformats.org/drawingml/2006/chart" r:id="R3211feed631d48db"/>
          </a:graphicData>
        </a:graphic>
      </p:graphicFrame>
      <p:sp>
        <p:nvSpPr>
          <p:cNvPr id="7" name="">
            <a:extLst xmlns:a="http://schemas.openxmlformats.org/drawingml/2006/main">
              <a:ext uri="{FF2B5EF4-FFF2-40B4-BE49-F238E27FC236}">
                <a16:creationId xmlns:a16="http://schemas.microsoft.com/office/drawing/2014/main" id="{65D23D23-5989-405C-A7D7-1D533FD697BF}"/>
              </a:ext>
            </a:extLst>
          </p:cNvPr>
          <p:cNvSpPr>
            <a:spLocks xmlns:a="http://schemas.openxmlformats.org/drawingml/2006/main" noGrp="1"/>
          </p:cNvSpPr>
          <p:nvPr/>
        </p:nvSpPr>
        <p:spPr>
          <a:xfrm xmlns:a="http://schemas.openxmlformats.org/drawingml/2006/main">
            <a:off x="609600" y="4457700"/>
            <a:ext cx="514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Count in the sample (n = 200)</a:t>
            </a:r>
          </a:p>
        </p:txBody>
      </p:sp>
      <p:sp>
        <p:nvSpPr>
          <p:cNvPr id="8" name="">
            <a:extLst xmlns:a="http://schemas.openxmlformats.org/drawingml/2006/main">
              <a:ext uri="{FF2B5EF4-FFF2-40B4-BE49-F238E27FC236}">
                <a16:creationId xmlns:a16="http://schemas.microsoft.com/office/drawing/2014/main" id="{FA0B35B9-C253-4A6E-AD1B-44004B14959E}"/>
              </a:ext>
            </a:extLst>
          </p:cNvPr>
          <p:cNvSpPr>
            <a:spLocks xmlns:a="http://schemas.openxmlformats.org/drawingml/2006/main" noGrp="1"/>
          </p:cNvSpPr>
          <p:nvPr/>
        </p:nvSpPr>
        <p:spPr>
          <a:xfrm xmlns:a="http://schemas.openxmlformats.org/drawingml/2006/main" flipH="0" flipV="0">
            <a:off x="5953125" y="2076450"/>
            <a:ext cx="0" cy="25241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9" name="">
            <a:extLst xmlns:a="http://schemas.openxmlformats.org/drawingml/2006/main">
              <a:ext uri="{FF2B5EF4-FFF2-40B4-BE49-F238E27FC236}">
                <a16:creationId xmlns:a16="http://schemas.microsoft.com/office/drawing/2014/main" id="{87DB2F4A-BB9E-45A2-A793-FCD29B59F499}"/>
              </a:ext>
            </a:extLst>
          </p:cNvPr>
          <p:cNvSpPr>
            <a:spLocks xmlns:a="http://schemas.openxmlformats.org/drawingml/2006/main" noGrp="1"/>
          </p:cNvSpPr>
          <p:nvPr/>
        </p:nvSpPr>
        <p:spPr>
          <a:xfrm xmlns:a="http://schemas.openxmlformats.org/drawingml/2006/main">
            <a:off x="6286500" y="2076450"/>
            <a:ext cx="5295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FREQUENCY + CONSEQUENCES</a:t>
            </a:r>
          </a:p>
        </p:txBody>
      </p:sp>
      <p:sp>
        <p:nvSpPr>
          <p:cNvPr id="10" name="">
            <a:extLst xmlns:a="http://schemas.openxmlformats.org/drawingml/2006/main">
              <a:ext uri="{FF2B5EF4-FFF2-40B4-BE49-F238E27FC236}">
                <a16:creationId xmlns:a16="http://schemas.microsoft.com/office/drawing/2014/main" id="{F71EF2F6-9629-4279-B4D6-E0DEED76A177}"/>
              </a:ext>
            </a:extLst>
          </p:cNvPr>
          <p:cNvSpPr>
            <a:spLocks xmlns:a="http://schemas.openxmlformats.org/drawingml/2006/main" noGrp="1"/>
          </p:cNvSpPr>
          <p:nvPr/>
        </p:nvSpPr>
        <p:spPr>
          <a:xfrm xmlns:a="http://schemas.openxmlformats.org/drawingml/2006/main">
            <a:off x="6286500" y="2409825"/>
            <a:ext cx="5295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F4F7FA"/>
                </a:solidFill>
                <a:latin typeface="Roboto"/>
                <a:ea typeface="Roboto"/>
                <a:cs typeface="Roboto"/>
              </a:defRPr>
            </a:pPr>
            <a:r>
              <a:rPr sz="2925" b="1">
                <a:solidFill>
                  <a:srgbClr val="F4F7FA"/>
                </a:solidFill>
                <a:latin typeface="Roboto"/>
                <a:ea typeface="Roboto"/>
                <a:cs typeface="Roboto"/>
              </a:rPr>
              <a:t>4 / 200 = 2%</a:t>
            </a:r>
          </a:p>
        </p:txBody>
      </p:sp>
      <p:sp>
        <p:nvSpPr>
          <p:cNvPr id="11" name="">
            <a:extLst xmlns:a="http://schemas.openxmlformats.org/drawingml/2006/main">
              <a:ext uri="{FF2B5EF4-FFF2-40B4-BE49-F238E27FC236}">
                <a16:creationId xmlns:a16="http://schemas.microsoft.com/office/drawing/2014/main" id="{71F9063B-2EFF-48C6-81CC-4504B8CCE492}"/>
              </a:ext>
            </a:extLst>
          </p:cNvPr>
          <p:cNvSpPr>
            <a:spLocks xmlns:a="http://schemas.openxmlformats.org/drawingml/2006/main" noGrp="1"/>
          </p:cNvSpPr>
          <p:nvPr/>
        </p:nvSpPr>
        <p:spPr>
          <a:xfrm xmlns:a="http://schemas.openxmlformats.org/drawingml/2006/main">
            <a:off x="6286500" y="28670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Observed unacceptable outputs</a:t>
            </a:r>
          </a:p>
        </p:txBody>
      </p:sp>
      <p:sp>
        <p:nvSpPr>
          <p:cNvPr id="12" name="">
            <a:extLst xmlns:a="http://schemas.openxmlformats.org/drawingml/2006/main">
              <a:ext uri="{FF2B5EF4-FFF2-40B4-BE49-F238E27FC236}">
                <a16:creationId xmlns:a16="http://schemas.microsoft.com/office/drawing/2014/main" id="{F17D728D-8330-4C45-AB41-859C4D3B222D}"/>
              </a:ext>
            </a:extLst>
          </p:cNvPr>
          <p:cNvSpPr>
            <a:spLocks xmlns:a="http://schemas.openxmlformats.org/drawingml/2006/main" noGrp="1"/>
          </p:cNvSpPr>
          <p:nvPr/>
        </p:nvSpPr>
        <p:spPr>
          <a:xfrm xmlns:a="http://schemas.openxmlformats.org/drawingml/2006/main">
            <a:off x="6286500" y="31337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95% Wilson interval ≈ 0.8%–5.0%</a:t>
            </a:r>
          </a:p>
        </p:txBody>
      </p:sp>
      <p:sp>
        <p:nvSpPr>
          <p:cNvPr id="13" name="">
            <a:extLst xmlns:a="http://schemas.openxmlformats.org/drawingml/2006/main">
              <a:ext uri="{FF2B5EF4-FFF2-40B4-BE49-F238E27FC236}">
                <a16:creationId xmlns:a16="http://schemas.microsoft.com/office/drawing/2014/main" id="{9E01E1E5-054A-4455-A448-63C17E241B76}"/>
              </a:ext>
            </a:extLst>
          </p:cNvPr>
          <p:cNvSpPr>
            <a:spLocks xmlns:a="http://schemas.openxmlformats.org/drawingml/2006/main" noGrp="1"/>
          </p:cNvSpPr>
          <p:nvPr/>
        </p:nvSpPr>
        <p:spPr>
          <a:xfrm xmlns:a="http://schemas.openxmlformats.org/drawingml/2006/main">
            <a:off x="6286500" y="3495675"/>
            <a:ext cx="5295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3 incorrect instructions → rework</a:t>
            </a:r>
          </a:p>
        </p:txBody>
      </p:sp>
      <p:sp>
        <p:nvSpPr>
          <p:cNvPr id="14" name="">
            <a:extLst xmlns:a="http://schemas.openxmlformats.org/drawingml/2006/main">
              <a:ext uri="{FF2B5EF4-FFF2-40B4-BE49-F238E27FC236}">
                <a16:creationId xmlns:a16="http://schemas.microsoft.com/office/drawing/2014/main" id="{21CEE742-FA74-4FD5-93CF-6DF055732470}"/>
              </a:ext>
            </a:extLst>
          </p:cNvPr>
          <p:cNvSpPr>
            <a:spLocks xmlns:a="http://schemas.openxmlformats.org/drawingml/2006/main" noGrp="1"/>
          </p:cNvSpPr>
          <p:nvPr/>
        </p:nvSpPr>
        <p:spPr>
          <a:xfrm xmlns:a="http://schemas.openxmlformats.org/drawingml/2006/main">
            <a:off x="6286500" y="3838575"/>
            <a:ext cx="5295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F6B75"/>
                </a:solidFill>
                <a:latin typeface="Roboto"/>
                <a:ea typeface="Roboto"/>
                <a:cs typeface="Roboto"/>
              </a:defRPr>
            </a:pPr>
            <a:r>
              <a:rPr sz="1800" b="0">
                <a:solidFill>
                  <a:srgbClr val="FF6B75"/>
                </a:solidFill>
                <a:latin typeface="Roboto"/>
                <a:ea typeface="Roboto"/>
                <a:cs typeface="Roboto"/>
              </a:rPr>
              <a:t>1 privacy leak → critical breach</a:t>
            </a:r>
          </a:p>
        </p:txBody>
      </p:sp>
      <p:sp>
        <p:nvSpPr>
          <p:cNvPr id="15" name="">
            <a:extLst xmlns:a="http://schemas.openxmlformats.org/drawingml/2006/main">
              <a:ext uri="{FF2B5EF4-FFF2-40B4-BE49-F238E27FC236}">
                <a16:creationId xmlns:a16="http://schemas.microsoft.com/office/drawing/2014/main" id="{E3D9B472-271C-4946-B70F-13628D7F0093}"/>
              </a:ext>
            </a:extLst>
          </p:cNvPr>
          <p:cNvSpPr>
            <a:spLocks xmlns:a="http://schemas.openxmlformats.org/drawingml/2006/main" noGrp="1"/>
          </p:cNvSpPr>
          <p:nvPr/>
        </p:nvSpPr>
        <p:spPr>
          <a:xfrm xmlns:a="http://schemas.openxmlformats.org/drawingml/2006/main">
            <a:off x="6286500" y="4210050"/>
            <a:ext cx="529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F6B75"/>
                </a:solidFill>
                <a:latin typeface="Roboto"/>
                <a:ea typeface="Roboto"/>
                <a:cs typeface="Roboto"/>
              </a:defRPr>
            </a:pPr>
            <a:r>
              <a:rPr sz="1875" b="1">
                <a:solidFill>
                  <a:srgbClr val="FF6B75"/>
                </a:solidFill>
                <a:latin typeface="Roboto"/>
                <a:ea typeface="Roboto"/>
                <a:cs typeface="Roboto"/>
              </a:rPr>
              <a:t>Critical breach → BLOCK RELEASE</a:t>
            </a:r>
          </a:p>
        </p:txBody>
      </p:sp>
      <p:sp>
        <p:nvSpPr>
          <p:cNvPr id="16" name="">
            <a:extLst xmlns:a="http://schemas.openxmlformats.org/drawingml/2006/main">
              <a:ext uri="{FF2B5EF4-FFF2-40B4-BE49-F238E27FC236}">
                <a16:creationId xmlns:a16="http://schemas.microsoft.com/office/drawing/2014/main" id="{9A65024B-8ACB-4CC0-A463-865829E6968B}"/>
              </a:ext>
            </a:extLst>
          </p:cNvPr>
          <p:cNvSpPr>
            <a:spLocks xmlns:a="http://schemas.openxmlformats.org/drawingml/2006/main" noGrp="1"/>
          </p:cNvSpPr>
          <p:nvPr/>
        </p:nvSpPr>
        <p:spPr>
          <a:xfrm xmlns:a="http://schemas.openxmlformats.org/drawingml/2006/main">
            <a:off x="609600" y="47625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Illustrative independent sample, grouped by outcome. No production guarantee.</a:t>
            </a:r>
          </a:p>
        </p:txBody>
      </p:sp>
      <p:sp>
        <p:nvSpPr>
          <p:cNvPr id="17" name="">
            <a:extLst xmlns:a="http://schemas.openxmlformats.org/drawingml/2006/main">
              <a:ext uri="{FF2B5EF4-FFF2-40B4-BE49-F238E27FC236}">
                <a16:creationId xmlns:a16="http://schemas.microsoft.com/office/drawing/2014/main" id="{05A336B1-129A-401B-97C9-933C9D451391}"/>
              </a:ext>
            </a:extLst>
          </p:cNvPr>
          <p:cNvSpPr>
            <a:spLocks xmlns:a="http://schemas.openxmlformats.org/drawingml/2006/main" noGrp="1"/>
          </p:cNvSpPr>
          <p:nvPr/>
        </p:nvSpPr>
        <p:spPr>
          <a:xfrm xmlns:a="http://schemas.openxmlformats.org/drawingml/2006/main">
            <a:off x="609600" y="50577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Golden Set: routine, edge and adversarial cases. Eval Gate: compare versions against agreed limits.</a:t>
            </a:r>
          </a:p>
        </p:txBody>
      </p:sp>
      <p:sp>
        <p:nvSpPr>
          <p:cNvPr id="18" name="">
            <a:extLst xmlns:a="http://schemas.openxmlformats.org/drawingml/2006/main">
              <a:ext uri="{FF2B5EF4-FFF2-40B4-BE49-F238E27FC236}">
                <a16:creationId xmlns:a16="http://schemas.microsoft.com/office/drawing/2014/main" id="{01DE462C-D565-4F88-8C04-455F6F30DE74}"/>
              </a:ext>
            </a:extLst>
          </p:cNvPr>
          <p:cNvSpPr>
            <a:spLocks xmlns:a="http://schemas.openxmlformats.org/drawingml/2006/main" noGrp="1"/>
          </p:cNvSpPr>
          <p:nvPr/>
        </p:nvSpPr>
        <p:spPr>
          <a:xfrm xmlns:a="http://schemas.openxmlformats.org/drawingml/2006/main">
            <a:off x="609600" y="53530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QA calibrates the evaluator with domain experts. Incidents become new regression cases.</a:t>
            </a:r>
          </a:p>
        </p:txBody>
      </p:sp>
      <p:sp>
        <p:nvSpPr>
          <p:cNvPr id="19" name="">
            <a:extLst xmlns:a="http://schemas.openxmlformats.org/drawingml/2006/main">
              <a:ext uri="{FF2B5EF4-FFF2-40B4-BE49-F238E27FC236}">
                <a16:creationId xmlns:a16="http://schemas.microsoft.com/office/drawing/2014/main" id="{25B7F26D-1942-4585-83C2-45FEEAD2ACB5}"/>
              </a:ext>
            </a:extLst>
          </p:cNvPr>
          <p:cNvSpPr>
            <a:spLocks xmlns:a="http://schemas.openxmlformats.org/drawingml/2006/main" noGrp="1"/>
          </p:cNvSpPr>
          <p:nvPr/>
        </p:nvSpPr>
        <p:spPr>
          <a:xfrm xmlns:a="http://schemas.openxmlformats.org/drawingml/2006/main">
            <a:off x="609600" y="565785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Roboto"/>
                <a:ea typeface="Roboto"/>
                <a:cs typeface="Roboto"/>
              </a:defRPr>
            </a:pPr>
            <a:r>
              <a:rPr sz="1500" b="1">
                <a:solidFill>
                  <a:srgbClr val="F4F7FA"/>
                </a:solidFill>
                <a:latin typeface="Roboto"/>
                <a:ea typeface="Roboto"/>
                <a:cs typeface="Roboto"/>
              </a:rPr>
              <a:t>Ask the business: “How much rework is tolerable? Which harm must be prevented?”</a:t>
            </a:r>
          </a:p>
        </p:txBody>
      </p:sp>
      <p:sp>
        <p:nvSpPr>
          <p:cNvPr id="20" name="">
            <a:extLst xmlns:a="http://schemas.openxmlformats.org/drawingml/2006/main">
              <a:ext uri="{FF2B5EF4-FFF2-40B4-BE49-F238E27FC236}">
                <a16:creationId xmlns:a16="http://schemas.microsoft.com/office/drawing/2014/main" id="{7148D8E6-0008-42B2-9C74-A51BA6B1BB68}"/>
              </a:ext>
            </a:extLst>
          </p:cNvPr>
          <p:cNvSpPr>
            <a:spLocks xmlns:a="http://schemas.openxmlformats.org/drawingml/2006/main" noGrp="1"/>
          </p:cNvSpPr>
          <p:nvPr/>
        </p:nvSpPr>
        <p:spPr>
          <a:xfrm xmlns:a="http://schemas.openxmlformats.org/drawingml/2006/main">
            <a:off x="609600" y="5981700"/>
            <a:ext cx="3524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1">
                <a:solidFill>
                  <a:srgbClr val="28C7F7"/>
                </a:solidFill>
                <a:latin typeface="Roboto"/>
                <a:ea typeface="Roboto"/>
                <a:cs typeface="Roboto"/>
              </a:defRPr>
            </a:pPr>
            <a:r>
              <a:rPr sz="1200" b="1">
                <a:solidFill>
                  <a:srgbClr val="28C7F7"/>
                </a:solidFill>
                <a:latin typeface="Roboto"/>
                <a:ea typeface="Roboto"/>
                <a:cs typeface="Roboto"/>
              </a:rPr>
              <a:t>PRODUCT + BA</a:t>
            </a:r>
          </a:p>
        </p:txBody>
      </p:sp>
      <p:sp>
        <p:nvSpPr>
          <p:cNvPr id="21" name="">
            <a:extLst xmlns:a="http://schemas.openxmlformats.org/drawingml/2006/main">
              <a:ext uri="{FF2B5EF4-FFF2-40B4-BE49-F238E27FC236}">
                <a16:creationId xmlns:a16="http://schemas.microsoft.com/office/drawing/2014/main" id="{DCBF179B-02B7-4CCE-9CD8-30A8F80E4AC9}"/>
              </a:ext>
            </a:extLst>
          </p:cNvPr>
          <p:cNvSpPr>
            <a:spLocks xmlns:a="http://schemas.openxmlformats.org/drawingml/2006/main" noGrp="1"/>
          </p:cNvSpPr>
          <p:nvPr/>
        </p:nvSpPr>
        <p:spPr>
          <a:xfrm xmlns:a="http://schemas.openxmlformats.org/drawingml/2006/main">
            <a:off x="609600" y="6200775"/>
            <a:ext cx="3524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Elicit impact; agree acceptance</a:t>
            </a:r>
          </a:p>
        </p:txBody>
      </p:sp>
      <p:sp>
        <p:nvSpPr>
          <p:cNvPr id="22" name="">
            <a:extLst xmlns:a="http://schemas.openxmlformats.org/drawingml/2006/main">
              <a:ext uri="{FF2B5EF4-FFF2-40B4-BE49-F238E27FC236}">
                <a16:creationId xmlns:a16="http://schemas.microsoft.com/office/drawing/2014/main" id="{FA0C95E0-3D17-48CB-AF33-7ECA2A26714F}"/>
              </a:ext>
            </a:extLst>
          </p:cNvPr>
          <p:cNvSpPr>
            <a:spLocks xmlns:a="http://schemas.openxmlformats.org/drawingml/2006/main" noGrp="1"/>
          </p:cNvSpPr>
          <p:nvPr/>
        </p:nvSpPr>
        <p:spPr>
          <a:xfrm xmlns:a="http://schemas.openxmlformats.org/drawingml/2006/main">
            <a:off x="4391025" y="5981700"/>
            <a:ext cx="3524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1">
                <a:solidFill>
                  <a:srgbClr val="28C7F7"/>
                </a:solidFill>
                <a:latin typeface="Roboto"/>
                <a:ea typeface="Roboto"/>
                <a:cs typeface="Roboto"/>
              </a:defRPr>
            </a:pPr>
            <a:r>
              <a:rPr sz="1200" b="1">
                <a:solidFill>
                  <a:srgbClr val="28C7F7"/>
                </a:solidFill>
                <a:latin typeface="Roboto"/>
                <a:ea typeface="Roboto"/>
                <a:cs typeface="Roboto"/>
              </a:rPr>
              <a:t>QA + DEVELOPERS</a:t>
            </a:r>
          </a:p>
        </p:txBody>
      </p:sp>
      <p:sp>
        <p:nvSpPr>
          <p:cNvPr id="23" name="">
            <a:extLst xmlns:a="http://schemas.openxmlformats.org/drawingml/2006/main">
              <a:ext uri="{FF2B5EF4-FFF2-40B4-BE49-F238E27FC236}">
                <a16:creationId xmlns:a16="http://schemas.microsoft.com/office/drawing/2014/main" id="{E5E67822-47E5-4238-83D1-6CB32890EAD6}"/>
              </a:ext>
            </a:extLst>
          </p:cNvPr>
          <p:cNvSpPr>
            <a:spLocks xmlns:a="http://schemas.openxmlformats.org/drawingml/2006/main" noGrp="1"/>
          </p:cNvSpPr>
          <p:nvPr/>
        </p:nvSpPr>
        <p:spPr>
          <a:xfrm xmlns:a="http://schemas.openxmlformats.org/drawingml/2006/main">
            <a:off x="4391025" y="6200775"/>
            <a:ext cx="3524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Sample, calibrate, compare versions</a:t>
            </a:r>
          </a:p>
        </p:txBody>
      </p:sp>
      <p:sp>
        <p:nvSpPr>
          <p:cNvPr id="24" name="">
            <a:extLst xmlns:a="http://schemas.openxmlformats.org/drawingml/2006/main">
              <a:ext uri="{FF2B5EF4-FFF2-40B4-BE49-F238E27FC236}">
                <a16:creationId xmlns:a16="http://schemas.microsoft.com/office/drawing/2014/main" id="{6A400060-0537-4F41-991E-A4CAD5C78B24}"/>
              </a:ext>
            </a:extLst>
          </p:cNvPr>
          <p:cNvSpPr>
            <a:spLocks xmlns:a="http://schemas.openxmlformats.org/drawingml/2006/main" noGrp="1"/>
          </p:cNvSpPr>
          <p:nvPr/>
        </p:nvSpPr>
        <p:spPr>
          <a:xfrm xmlns:a="http://schemas.openxmlformats.org/drawingml/2006/main">
            <a:off x="8172450" y="5981700"/>
            <a:ext cx="3524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1">
                <a:solidFill>
                  <a:srgbClr val="F5B61C"/>
                </a:solidFill>
                <a:latin typeface="Roboto"/>
                <a:ea typeface="Roboto"/>
                <a:cs typeface="Roboto"/>
              </a:defRPr>
            </a:pPr>
            <a:r>
              <a:rPr sz="1200" b="1">
                <a:solidFill>
                  <a:srgbClr val="F5B61C"/>
                </a:solidFill>
                <a:latin typeface="Roboto"/>
                <a:ea typeface="Roboto"/>
                <a:cs typeface="Roboto"/>
              </a:rPr>
              <a:t>RISK / RELEASE OWNER</a:t>
            </a:r>
          </a:p>
        </p:txBody>
      </p:sp>
      <p:sp>
        <p:nvSpPr>
          <p:cNvPr id="25" name="">
            <a:extLst xmlns:a="http://schemas.openxmlformats.org/drawingml/2006/main">
              <a:ext uri="{FF2B5EF4-FFF2-40B4-BE49-F238E27FC236}">
                <a16:creationId xmlns:a16="http://schemas.microsoft.com/office/drawing/2014/main" id="{7E6678A8-5810-47C4-A0D9-2D28ED983684}"/>
              </a:ext>
            </a:extLst>
          </p:cNvPr>
          <p:cNvSpPr>
            <a:spLocks xmlns:a="http://schemas.openxmlformats.org/drawingml/2006/main" noGrp="1"/>
          </p:cNvSpPr>
          <p:nvPr/>
        </p:nvSpPr>
        <p:spPr>
          <a:xfrm xmlns:a="http://schemas.openxmlformats.org/drawingml/2006/main">
            <a:off x="8172450" y="6200775"/>
            <a:ext cx="3524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Decide acceptability for this scope</a:t>
            </a:r>
          </a:p>
        </p:txBody>
      </p:sp>
      <p:sp>
        <p:nvSpPr>
          <p:cNvPr id="26" name="">
            <a:extLst xmlns:a="http://schemas.openxmlformats.org/drawingml/2006/main">
              <a:ext uri="{FF2B5EF4-FFF2-40B4-BE49-F238E27FC236}">
                <a16:creationId xmlns:a16="http://schemas.microsoft.com/office/drawing/2014/main" id="{CB584E73-367C-4396-B689-953F7DA1A56A}"/>
              </a:ext>
            </a:extLst>
          </p:cNvPr>
          <p:cNvSpPr>
            <a:spLocks xmlns:a="http://schemas.openxmlformats.org/drawingml/2006/main" noGrp="1"/>
          </p:cNvSpPr>
          <p:nvPr/>
        </p:nvSpPr>
        <p:spPr>
          <a:xfrm xmlns:a="http://schemas.openxmlformats.org/drawingml/2006/main">
            <a:off x="609600" y="6505575"/>
            <a:ext cx="10648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Roboto"/>
                <a:ea typeface="Roboto"/>
                <a:cs typeface="Roboto"/>
              </a:defRPr>
            </a:pPr>
            <a:r>
              <a:rPr sz="1650" b="1">
                <a:solidFill>
                  <a:srgbClr val="F4F7FA"/>
                </a:solidFill>
                <a:latin typeface="Roboto"/>
                <a:ea typeface="Roboto"/>
                <a:cs typeface="Roboto"/>
              </a:rPr>
              <a:t>Statistics estimate frequency. Business authority decides acceptable consequences.</a:t>
            </a:r>
          </a:p>
        </p:txBody>
      </p:sp>
    </p:spTree>
    <p:extLst>
      <p:ext uri="{BB962C8B-B14F-4D97-AF65-F5344CB8AC3E}">
        <p14:creationId xmlns:p14="http://schemas.microsoft.com/office/powerpoint/2010/main" val="693035303"/>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1CE0A1-9FA7-41A6-9440-DBED635C862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DoR / DoD Become Risk Contracts</a:t>
            </a:r>
          </a:p>
        </p:txBody>
      </p:sp>
      <p:sp>
        <p:nvSpPr>
          <p:cNvPr id="2" name="">
            <a:extLst xmlns:a="http://schemas.openxmlformats.org/drawingml/2006/main">
              <a:ext uri="{FF2B5EF4-FFF2-40B4-BE49-F238E27FC236}">
                <a16:creationId xmlns:a16="http://schemas.microsoft.com/office/drawing/2014/main" id="{253736F6-22C6-4493-AAD7-C42A59290E2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5A2668A-80BF-4396-8471-F2EE30B7763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11</a:t>
            </a:r>
          </a:p>
        </p:txBody>
      </p:sp>
      <p:sp>
        <p:nvSpPr>
          <p:cNvPr id="4" name="">
            <a:extLst xmlns:a="http://schemas.openxmlformats.org/drawingml/2006/main">
              <a:ext uri="{FF2B5EF4-FFF2-40B4-BE49-F238E27FC236}">
                <a16:creationId xmlns:a16="http://schemas.microsoft.com/office/drawing/2014/main" id="{1E75D794-EAD3-4007-823F-7C9BD8605699}"/>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DEVELOPERS · deliver a reproducible evidence and recovery package</a:t>
            </a:r>
          </a:p>
        </p:txBody>
      </p:sp>
      <p:sp>
        <p:nvSpPr>
          <p:cNvPr id="5" name="">
            <a:extLst xmlns:a="http://schemas.openxmlformats.org/drawingml/2006/main">
              <a:ext uri="{FF2B5EF4-FFF2-40B4-BE49-F238E27FC236}">
                <a16:creationId xmlns:a16="http://schemas.microsoft.com/office/drawing/2014/main" id="{A1D4BA13-6C78-4A66-8D8D-346FAF5179E9}"/>
              </a:ext>
            </a:extLst>
          </p:cNvPr>
          <p:cNvSpPr>
            <a:spLocks xmlns:a="http://schemas.openxmlformats.org/drawingml/2006/main" noGrp="1"/>
          </p:cNvSpPr>
          <p:nvPr/>
        </p:nvSpPr>
        <p:spPr>
          <a:xfrm xmlns:a="http://schemas.openxmlformats.org/drawingml/2006/main">
            <a:off x="609600" y="20383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Behavior changes with prompts, models or retrieval, even when application code stays the same.</a:t>
            </a:r>
          </a:p>
        </p:txBody>
      </p:sp>
      <p:graphicFrame>
        <p:nvGraphicFramePr>
          <p:cNvPr id="15" name=""/>
          <p:cNvGraphicFramePr/>
          <p:nvPr/>
        </p:nvGraphicFramePr>
        <p:xfrm>
          <a:off xmlns:a="http://schemas.openxmlformats.org/drawingml/2006/main" x="609600" y="2371725"/>
          <a:ext xmlns:a="http://schemas.openxmlformats.org/drawingml/2006/main" cx="10972800" cy="3352800"/>
        </p:xfrm>
        <a:graphic xmlns:a="http://schemas.openxmlformats.org/drawingml/2006/main">
          <a:graphicData uri="http://schemas.openxmlformats.org/drawingml/2006/table">
            <a:tbl>
              <a:tblPr/>
              <a:tblGrid>
                <a:gridCol w="1095375"/>
                <a:gridCol w="2257425"/>
                <a:gridCol w="4762500"/>
                <a:gridCol w="2857500"/>
              </a:tblGrid>
              <a:tr h="381000">
                <a:tc>
                  <a:txBody>
                    <a:bodyPr lIns="171450" tIns="38100" rIns="171450" bIns="38100">
                      <a:noAutofit/>
                    </a:bodyPr>
                    <a:lstStyle/>
                    <a:p>
                      <a:r>
                        <a:rPr sz="1575" b="1">
                          <a:solidFill>
                            <a:srgbClr val="F4F7FA"/>
                          </a:solidFill>
                          <a:latin typeface="Roboto"/>
                          <a:ea typeface="Roboto"/>
                          <a:cs typeface="Roboto"/>
                        </a:rPr>
                        <a:t>GATE</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Roboto"/>
                          <a:ea typeface="Roboto"/>
                          <a:cs typeface="Roboto"/>
                        </a:rPr>
                        <a:t>STILL REQUIRED</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Roboto"/>
                          <a:ea typeface="Roboto"/>
                          <a:cs typeface="Roboto"/>
                        </a:rPr>
                        <a:t>ADDED FOR MODEL BEHAVIOR</a:t>
                      </a:r>
                    </a:p>
                  </a:txBody>
                  <a:tcPr marL="91440" marR="91440" marT="45720" marB="45720" anchor="ctr">
                    <a:solidFill>
                      <a:srgbClr val="1A2734"/>
                    </a:solidFill>
                  </a:tcPr>
                </a:tc>
                <a:tc>
                  <a:txBody>
                    <a:bodyPr lIns="171450" tIns="38100" rIns="171450" bIns="38100">
                      <a:noAutofit/>
                    </a:bodyPr>
                    <a:lstStyle/>
                    <a:p>
                      <a:r>
                        <a:rPr sz="1575" b="1">
                          <a:solidFill>
                            <a:srgbClr val="28C7F7"/>
                          </a:solidFill>
                          <a:latin typeface="Roboto"/>
                          <a:ea typeface="Roboto"/>
                          <a:cs typeface="Roboto"/>
                        </a:rPr>
                        <a:t>DECISION / OWNER</a:t>
                      </a:r>
                    </a:p>
                  </a:txBody>
                  <a:tcPr marL="91440" marR="91440" marT="45720" marB="45720" anchor="ctr">
                    <a:solidFill>
                      <a:srgbClr val="1A2734"/>
                    </a:solidFill>
                  </a:tcPr>
                </a:tc>
              </a:tr>
              <a:tr h="971550">
                <a:tc>
                  <a:txBody>
                    <a:bodyPr lIns="171450" tIns="38100" rIns="171450" bIns="38100">
                      <a:noAutofit/>
                    </a:bodyPr>
                    <a:lstStyle/>
                    <a:p>
                      <a:r>
                        <a:rPr sz="1425" b="1">
                          <a:solidFill>
                            <a:srgbClr val="F4F7FA"/>
                          </a:solidFill>
                          <a:latin typeface="Roboto"/>
                          <a:ea typeface="Roboto"/>
                          <a:cs typeface="Roboto"/>
                        </a:rPr>
                        <a:t>READY</a:t>
                      </a:r>
                    </a:p>
                    <a:p>
                      <a:r>
                        <a:rPr sz="1425" b="1">
                          <a:solidFill>
                            <a:srgbClr val="F4F7FA"/>
                          </a:solidFill>
                          <a:latin typeface="Roboto"/>
                          <a:ea typeface="Roboto"/>
                          <a:cs typeface="Roboto"/>
                        </a:rPr>
                        <a:t>DoR</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Story + acceptance criteria</a:t>
                      </a:r>
                    </a:p>
                    <a:p>
                      <a:r>
                        <a:rPr sz="1425" b="0">
                          <a:solidFill>
                            <a:srgbClr val="F4F7FA"/>
                          </a:solidFill>
                          <a:latin typeface="Roboto"/>
                          <a:ea typeface="Roboto"/>
                          <a:cs typeface="Roboto"/>
                        </a:rPr>
                        <a:t>Dependencies understood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Tolerances + evaluation plan</a:t>
                      </a:r>
                    </a:p>
                    <a:p>
                      <a:r>
                        <a:rPr sz="1425" b="0">
                          <a:solidFill>
                            <a:srgbClr val="F4F7FA"/>
                          </a:solidFill>
                          <a:latin typeface="Roboto"/>
                          <a:ea typeface="Roboto"/>
                          <a:cs typeface="Roboto"/>
                        </a:rPr>
                        <a:t>Complete control design, including people</a:t>
                      </a:r>
                    </a:p>
                    <a:p>
                      <a:r>
                        <a:rPr sz="1425" b="0">
                          <a:solidFill>
                            <a:srgbClr val="F4F7FA"/>
                          </a:solidFill>
                          <a:latin typeface="Roboto"/>
                          <a:ea typeface="Roboto"/>
                          <a:cs typeface="Roboto"/>
                        </a:rPr>
                        <a:t>Owners, authority and fallback</a:t>
                      </a:r>
                    </a:p>
                    <a:p>
                      <a:r>
                        <a:rPr sz="1425" b="0">
                          <a:solidFill>
                            <a:srgbClr val="F4F7FA"/>
                          </a:solidFill>
                          <a:latin typeface="Roboto"/>
                          <a:ea typeface="Roboto"/>
                          <a:cs typeface="Roboto"/>
                        </a:rPr>
                        <a:t>Capacity, quality, cost, latency budgets</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Product / BA + Architect</a:t>
                      </a:r>
                    </a:p>
                    <a:p>
                      <a:r>
                        <a:rPr sz="1425" b="0">
                          <a:solidFill>
                            <a:srgbClr val="28C7F7"/>
                          </a:solidFill>
                          <a:latin typeface="Roboto"/>
                          <a:ea typeface="Roboto"/>
                          <a:cs typeface="Roboto"/>
                        </a:rPr>
                        <a:t>PM resolves dependencies</a:t>
                      </a:r>
                    </a:p>
                  </a:txBody>
                  <a:tcPr marL="91440" marR="91440" marT="45720" marB="45720" anchor="ctr">
                    <a:solidFill>
                      <a:srgbClr val="0B0F14"/>
                    </a:solidFill>
                  </a:tcPr>
                </a:tc>
              </a:tr>
              <a:tr h="971550">
                <a:tc>
                  <a:txBody>
                    <a:bodyPr lIns="171450" tIns="38100" rIns="171450" bIns="38100">
                      <a:noAutofit/>
                    </a:bodyPr>
                    <a:lstStyle/>
                    <a:p>
                      <a:r>
                        <a:rPr sz="1425" b="1">
                          <a:solidFill>
                            <a:srgbClr val="F4F7FA"/>
                          </a:solidFill>
                          <a:latin typeface="Roboto"/>
                          <a:ea typeface="Roboto"/>
                          <a:cs typeface="Roboto"/>
                        </a:rPr>
                        <a:t>DONE</a:t>
                      </a:r>
                    </a:p>
                    <a:p>
                      <a:r>
                        <a:rPr sz="1425" b="1">
                          <a:solidFill>
                            <a:srgbClr val="F4F7FA"/>
                          </a:solidFill>
                          <a:latin typeface="Roboto"/>
                          <a:ea typeface="Roboto"/>
                          <a:cs typeface="Roboto"/>
                        </a:rPr>
                        <a:t>DoD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Code review + tests</a:t>
                      </a:r>
                    </a:p>
                    <a:p>
                      <a:r>
                        <a:rPr sz="1425" b="0">
                          <a:solidFill>
                            <a:srgbClr val="F4F7FA"/>
                          </a:solidFill>
                          <a:latin typeface="Roboto"/>
                          <a:ea typeface="Roboto"/>
                          <a:cs typeface="Roboto"/>
                        </a:rPr>
                        <a:t>Acceptance verified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Versioned model / prompt / data</a:t>
                      </a:r>
                    </a:p>
                    <a:p>
                      <a:r>
                        <a:rPr sz="1425" b="0">
                          <a:solidFill>
                            <a:srgbClr val="F4F7FA"/>
                          </a:solidFill>
                          <a:latin typeface="Roboto"/>
                          <a:ea typeface="Roboto"/>
                          <a:cs typeface="Roboto"/>
                        </a:rPr>
                        <a:t>Calibrated evals + coverage limits</a:t>
                      </a:r>
                    </a:p>
                    <a:p>
                      <a:r>
                        <a:rPr sz="1425" b="0">
                          <a:solidFill>
                            <a:srgbClr val="F4F7FA"/>
                          </a:solidFill>
                          <a:latin typeface="Roboto"/>
                          <a:ea typeface="Roboto"/>
                          <a:cs typeface="Roboto"/>
                        </a:rPr>
                        <a:t>Working controls + human rehearsal</a:t>
                      </a:r>
                    </a:p>
                    <a:p>
                      <a:r>
                        <a:rPr sz="1425" b="0">
                          <a:solidFill>
                            <a:srgbClr val="F4F7FA"/>
                          </a:solidFill>
                          <a:latin typeface="Roboto"/>
                          <a:ea typeface="Roboto"/>
                          <a:cs typeface="Roboto"/>
                        </a:rPr>
                        <a:t>Recovery, bypass and failure evidence</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Developer + QA verify</a:t>
                      </a:r>
                    </a:p>
                    <a:p>
                      <a:r>
                        <a:rPr sz="1425" b="0">
                          <a:solidFill>
                            <a:srgbClr val="28C7F7"/>
                          </a:solidFill>
                          <a:latin typeface="Roboto"/>
                          <a:ea typeface="Roboto"/>
                          <a:cs typeface="Roboto"/>
                        </a:rPr>
                        <a:t>Done does not authorize release</a:t>
                      </a:r>
                    </a:p>
                  </a:txBody>
                  <a:tcPr marL="91440" marR="91440" marT="45720" marB="45720" anchor="ctr">
                    <a:solidFill>
                      <a:srgbClr val="0B0F14"/>
                    </a:solidFill>
                  </a:tcPr>
                </a:tc>
              </a:tr>
              <a:tr h="1028700">
                <a:tc>
                  <a:txBody>
                    <a:bodyPr lIns="171450" tIns="38100" rIns="171450" bIns="38100">
                      <a:noAutofit/>
                    </a:bodyPr>
                    <a:lstStyle/>
                    <a:p>
                      <a:r>
                        <a:rPr sz="1425" b="1">
                          <a:solidFill>
                            <a:srgbClr val="F4F7FA"/>
                          </a:solidFill>
                          <a:latin typeface="Roboto"/>
                          <a:ea typeface="Roboto"/>
                          <a:cs typeface="Roboto"/>
                        </a:rPr>
                        <a:t>RELEASE</a:t>
                      </a:r>
                    </a:p>
                    <a:p>
                      <a:r>
                        <a:rPr sz="1425" b="1">
                          <a:solidFill>
                            <a:srgbClr val="F4F7FA"/>
                          </a:solidFill>
                          <a:latin typeface="Roboto"/>
                          <a:ea typeface="Roboto"/>
                          <a:cs typeface="Roboto"/>
                        </a:rPr>
                        <a:t>OPERATE</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Release approval</a:t>
                      </a:r>
                    </a:p>
                    <a:p>
                      <a:r>
                        <a:rPr sz="1425" b="0">
                          <a:solidFill>
                            <a:srgbClr val="F4F7FA"/>
                          </a:solidFill>
                          <a:latin typeface="Roboto"/>
                          <a:ea typeface="Roboto"/>
                          <a:cs typeface="Roboto"/>
                        </a:rPr>
                        <a:t>Deployment + operations</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Scoped approval + live monitoring</a:t>
                      </a:r>
                    </a:p>
                    <a:p>
                      <a:r>
                        <a:rPr sz="1425" b="0">
                          <a:solidFill>
                            <a:srgbClr val="F4F7FA"/>
                          </a:solidFill>
                          <a:latin typeface="Roboto"/>
                          <a:ea typeface="Roboto"/>
                          <a:cs typeface="Roboto"/>
                        </a:rPr>
                        <a:t>Ready responders + stop triggers</a:t>
                      </a:r>
                    </a:p>
                    <a:p>
                      <a:r>
                        <a:rPr sz="1425" b="0">
                          <a:solidFill>
                            <a:srgbClr val="F4F7FA"/>
                          </a:solidFill>
                          <a:latin typeface="Roboto"/>
                          <a:ea typeface="Roboto"/>
                          <a:cs typeface="Roboto"/>
                        </a:rPr>
                        <a:t>Production incidents revise regression,</a:t>
                      </a:r>
                    </a:p>
                    <a:p>
                      <a:r>
                        <a:rPr sz="1425" b="0">
                          <a:solidFill>
                            <a:srgbClr val="F4F7FA"/>
                          </a:solidFill>
                          <a:latin typeface="Roboto"/>
                          <a:ea typeface="Roboto"/>
                          <a:cs typeface="Roboto"/>
                        </a:rPr>
                        <a:t>Eval Gates and monitoring rules</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Authorized owner accepts scope</a:t>
                      </a:r>
                    </a:p>
                    <a:p>
                      <a:r>
                        <a:rPr sz="1425" b="0">
                          <a:solidFill>
                            <a:srgbClr val="28C7F7"/>
                          </a:solidFill>
                          <a:latin typeface="Roboto"/>
                          <a:ea typeface="Roboto"/>
                          <a:cs typeface="Roboto"/>
                        </a:rPr>
                        <a:t>Or narrows, defers, rejects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E5C7162F-C24C-45BA-AE99-6A52D072AE2D}"/>
              </a:ext>
            </a:extLst>
          </p:cNvPr>
          <p:cNvSpPr>
            <a:spLocks xmlns:a="http://schemas.openxmlformats.org/drawingml/2006/main" noGrp="1"/>
          </p:cNvSpPr>
          <p:nvPr/>
        </p:nvSpPr>
        <p:spPr>
          <a:xfrm xmlns:a="http://schemas.openxmlformats.org/drawingml/2006/main">
            <a:off x="609600" y="58007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Valid JSON can still contain an incorrect instruction.</a:t>
            </a:r>
          </a:p>
        </p:txBody>
      </p:sp>
      <p:sp>
        <p:nvSpPr>
          <p:cNvPr id="8" name="">
            <a:extLst xmlns:a="http://schemas.openxmlformats.org/drawingml/2006/main">
              <a:ext uri="{FF2B5EF4-FFF2-40B4-BE49-F238E27FC236}">
                <a16:creationId xmlns:a16="http://schemas.microsoft.com/office/drawing/2014/main" id="{061F8EC8-E2E8-4657-8EF2-E58EF3E7451A}"/>
              </a:ext>
            </a:extLst>
          </p:cNvPr>
          <p:cNvSpPr>
            <a:spLocks xmlns:a="http://schemas.openxmlformats.org/drawingml/2006/main" noGrp="1"/>
          </p:cNvSpPr>
          <p:nvPr/>
        </p:nvSpPr>
        <p:spPr>
          <a:xfrm xmlns:a="http://schemas.openxmlformats.org/drawingml/2006/main">
            <a:off x="609600" y="60960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IT assistant: approved sources → traceable build → restricted rollout + manual fallback.</a:t>
            </a:r>
          </a:p>
        </p:txBody>
      </p:sp>
      <p:sp>
        <p:nvSpPr>
          <p:cNvPr id="9" name="">
            <a:extLst xmlns:a="http://schemas.openxmlformats.org/drawingml/2006/main">
              <a:ext uri="{FF2B5EF4-FFF2-40B4-BE49-F238E27FC236}">
                <a16:creationId xmlns:a16="http://schemas.microsoft.com/office/drawing/2014/main" id="{76C2877B-2640-4727-9374-51D23CE2BDF5}"/>
              </a:ext>
            </a:extLst>
          </p:cNvPr>
          <p:cNvSpPr>
            <a:spLocks xmlns:a="http://schemas.openxmlformats.org/drawingml/2006/main" noGrp="1"/>
          </p:cNvSpPr>
          <p:nvPr/>
        </p:nvSpPr>
        <p:spPr>
          <a:xfrm xmlns:a="http://schemas.openxmlformats.org/drawingml/2006/main">
            <a:off x="609600" y="64293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“Done” is an evidence package. Release is a separate, scoped decision.</a:t>
            </a:r>
          </a:p>
        </p:txBody>
      </p:sp>
    </p:spTree>
    <p:extLst>
      <p:ext uri="{BB962C8B-B14F-4D97-AF65-F5344CB8AC3E}">
        <p14:creationId xmlns:p14="http://schemas.microsoft.com/office/powerpoint/2010/main" val="1938495017"/>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D48AF7FB-82D6-4A48-9801-B42A7B81094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Production Needs a Control Loop</a:t>
            </a:r>
          </a:p>
        </p:txBody>
      </p:sp>
      <p:sp>
        <p:nvSpPr>
          <p:cNvPr id="2" name="">
            <a:extLst xmlns:a="http://schemas.openxmlformats.org/drawingml/2006/main">
              <a:ext uri="{FF2B5EF4-FFF2-40B4-BE49-F238E27FC236}">
                <a16:creationId xmlns:a16="http://schemas.microsoft.com/office/drawing/2014/main" id="{9AA3F471-E52A-43C8-A541-9C6A6F2D450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CAD244B-9C31-4EB5-B9FB-A166B5D96C2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12</a:t>
            </a:r>
          </a:p>
        </p:txBody>
      </p:sp>
      <p:sp>
        <p:nvSpPr>
          <p:cNvPr id="4" name="">
            <a:extLst xmlns:a="http://schemas.openxmlformats.org/drawingml/2006/main">
              <a:ext uri="{FF2B5EF4-FFF2-40B4-BE49-F238E27FC236}">
                <a16:creationId xmlns:a16="http://schemas.microsoft.com/office/drawing/2014/main" id="{C5C831AF-2540-486E-BB4E-9CAD5B49A6A7}"/>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ARCHITECT · make boundaries and corrective actions operational</a:t>
            </a:r>
          </a:p>
        </p:txBody>
      </p:sp>
      <p:sp>
        <p:nvSpPr>
          <p:cNvPr id="5" name="">
            <a:extLst xmlns:a="http://schemas.openxmlformats.org/drawingml/2006/main">
              <a:ext uri="{FF2B5EF4-FFF2-40B4-BE49-F238E27FC236}">
                <a16:creationId xmlns:a16="http://schemas.microsoft.com/office/drawing/2014/main" id="{57E0E1A3-258B-47CF-AD4D-CF30BA57C519}"/>
              </a:ext>
            </a:extLst>
          </p:cNvPr>
          <p:cNvSpPr>
            <a:spLocks xmlns:a="http://schemas.openxmlformats.org/drawingml/2006/main" noGrp="1"/>
          </p:cNvSpPr>
          <p:nvPr/>
        </p:nvSpPr>
        <p:spPr>
          <a:xfrm xmlns:a="http://schemas.openxmlformats.org/drawingml/2006/main">
            <a:off x="609600" y="205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Allowlist + required approval; deny when the gate is unavailable.</a:t>
            </a:r>
          </a:p>
        </p:txBody>
      </p:sp>
      <p:sp>
        <p:nvSpPr>
          <p:cNvPr id="6" name="">
            <a:extLst xmlns:a="http://schemas.openxmlformats.org/drawingml/2006/main">
              <a:ext uri="{FF2B5EF4-FFF2-40B4-BE49-F238E27FC236}">
                <a16:creationId xmlns:a16="http://schemas.microsoft.com/office/drawing/2014/main" id="{38DEFC53-7FE4-4472-9E59-2C88DCF6BADA}"/>
              </a:ext>
            </a:extLst>
          </p:cNvPr>
          <p:cNvSpPr>
            <a:spLocks xmlns:a="http://schemas.openxmlformats.org/drawingml/2006/main" noGrp="1"/>
          </p:cNvSpPr>
          <p:nvPr/>
        </p:nvSpPr>
        <p:spPr>
          <a:xfrm xmlns:a="http://schemas.openxmlformats.org/drawingml/2006/main">
            <a:off x="609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906C3155-1ED9-48F9-9046-4B95C83D94C9}"/>
              </a:ext>
            </a:extLst>
          </p:cNvPr>
          <p:cNvSpPr>
            <a:spLocks xmlns:a="http://schemas.openxmlformats.org/drawingml/2006/main" noGrp="1"/>
          </p:cNvSpPr>
          <p:nvPr/>
        </p:nvSpPr>
        <p:spPr>
          <a:xfrm xmlns:a="http://schemas.openxmlformats.org/drawingml/2006/main">
            <a:off x="723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Approved context</a:t>
            </a:r>
          </a:p>
        </p:txBody>
      </p:sp>
      <p:sp>
        <p:nvSpPr>
          <p:cNvPr id="8" name="">
            <a:extLst xmlns:a="http://schemas.openxmlformats.org/drawingml/2006/main">
              <a:ext uri="{FF2B5EF4-FFF2-40B4-BE49-F238E27FC236}">
                <a16:creationId xmlns:a16="http://schemas.microsoft.com/office/drawing/2014/main" id="{3A49371F-EF51-471F-958B-EEB8B269FCE8}"/>
              </a:ext>
            </a:extLst>
          </p:cNvPr>
          <p:cNvSpPr>
            <a:spLocks xmlns:a="http://schemas.openxmlformats.org/drawingml/2006/main" noGrp="1"/>
          </p:cNvSpPr>
          <p:nvPr/>
        </p:nvSpPr>
        <p:spPr>
          <a:xfrm xmlns:a="http://schemas.openxmlformats.org/drawingml/2006/main">
            <a:off x="3467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FF0B0750-3907-4453-A5D0-7D141037EF45}"/>
              </a:ext>
            </a:extLst>
          </p:cNvPr>
          <p:cNvSpPr>
            <a:spLocks xmlns:a="http://schemas.openxmlformats.org/drawingml/2006/main" noGrp="1"/>
          </p:cNvSpPr>
          <p:nvPr/>
        </p:nvSpPr>
        <p:spPr>
          <a:xfrm xmlns:a="http://schemas.openxmlformats.org/drawingml/2006/main">
            <a:off x="3581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Model proposal</a:t>
            </a:r>
          </a:p>
        </p:txBody>
      </p:sp>
      <p:sp>
        <p:nvSpPr>
          <p:cNvPr id="10" name="">
            <a:extLst xmlns:a="http://schemas.openxmlformats.org/drawingml/2006/main">
              <a:ext uri="{FF2B5EF4-FFF2-40B4-BE49-F238E27FC236}">
                <a16:creationId xmlns:a16="http://schemas.microsoft.com/office/drawing/2014/main" id="{EE604B93-59C3-43D5-BB32-5375F1D713D9}"/>
              </a:ext>
            </a:extLst>
          </p:cNvPr>
          <p:cNvSpPr>
            <a:spLocks xmlns:a="http://schemas.openxmlformats.org/drawingml/2006/main" noGrp="1"/>
          </p:cNvSpPr>
          <p:nvPr/>
        </p:nvSpPr>
        <p:spPr>
          <a:xfrm xmlns:a="http://schemas.openxmlformats.org/drawingml/2006/main">
            <a:off x="6324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245C6CCA-3C20-4574-AB2B-BC6E592C028B}"/>
              </a:ext>
            </a:extLst>
          </p:cNvPr>
          <p:cNvSpPr>
            <a:spLocks xmlns:a="http://schemas.openxmlformats.org/drawingml/2006/main" noGrp="1"/>
          </p:cNvSpPr>
          <p:nvPr/>
        </p:nvSpPr>
        <p:spPr>
          <a:xfrm xmlns:a="http://schemas.openxmlformats.org/drawingml/2006/main">
            <a:off x="6438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Permission gate</a:t>
            </a:r>
          </a:p>
        </p:txBody>
      </p:sp>
      <p:sp>
        <p:nvSpPr>
          <p:cNvPr id="12" name="">
            <a:extLst xmlns:a="http://schemas.openxmlformats.org/drawingml/2006/main">
              <a:ext uri="{FF2B5EF4-FFF2-40B4-BE49-F238E27FC236}">
                <a16:creationId xmlns:a16="http://schemas.microsoft.com/office/drawing/2014/main" id="{9E216377-5D41-433C-A33B-ACE962E817A8}"/>
              </a:ext>
            </a:extLst>
          </p:cNvPr>
          <p:cNvSpPr>
            <a:spLocks xmlns:a="http://schemas.openxmlformats.org/drawingml/2006/main" noGrp="1"/>
          </p:cNvSpPr>
          <p:nvPr/>
        </p:nvSpPr>
        <p:spPr>
          <a:xfrm xmlns:a="http://schemas.openxmlformats.org/drawingml/2006/main">
            <a:off x="9182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59C495A9-E40A-4C67-BF11-865ED1BB87B1}"/>
              </a:ext>
            </a:extLst>
          </p:cNvPr>
          <p:cNvSpPr>
            <a:spLocks xmlns:a="http://schemas.openxmlformats.org/drawingml/2006/main" noGrp="1"/>
          </p:cNvSpPr>
          <p:nvPr/>
        </p:nvSpPr>
        <p:spPr>
          <a:xfrm xmlns:a="http://schemas.openxmlformats.org/drawingml/2006/main">
            <a:off x="9296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Support tool</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3009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674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24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9FEADD40-B454-47A1-9978-BC7CFB4C6CD4}"/>
              </a:ext>
            </a:extLst>
          </p:cNvPr>
          <p:cNvSpPr>
            <a:spLocks xmlns:a="http://schemas.openxmlformats.org/drawingml/2006/main" noGrp="1"/>
          </p:cNvSpPr>
          <p:nvPr/>
        </p:nvSpPr>
        <p:spPr>
          <a:xfrm xmlns:a="http://schemas.openxmlformats.org/drawingml/2006/main">
            <a:off x="609600" y="3381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Roboto"/>
                <a:ea typeface="Roboto"/>
                <a:cs typeface="Roboto"/>
              </a:defRPr>
            </a:pPr>
            <a:r>
              <a:rPr sz="1350" b="1">
                <a:solidFill>
                  <a:srgbClr val="28C7F7"/>
                </a:solidFill>
                <a:latin typeface="Roboto"/>
                <a:ea typeface="Roboto"/>
                <a:cs typeface="Roboto"/>
              </a:rPr>
              <a:t>SOURCES OF UNCERTAINTY</a:t>
            </a:r>
          </a:p>
        </p:txBody>
      </p:sp>
      <p:sp>
        <p:nvSpPr>
          <p:cNvPr id="18" name="">
            <a:extLst xmlns:a="http://schemas.openxmlformats.org/drawingml/2006/main">
              <a:ext uri="{FF2B5EF4-FFF2-40B4-BE49-F238E27FC236}">
                <a16:creationId xmlns:a16="http://schemas.microsoft.com/office/drawing/2014/main" id="{F622B6A7-4DD3-4D5A-96C9-3B1A55AA3095}"/>
              </a:ext>
            </a:extLst>
          </p:cNvPr>
          <p:cNvSpPr>
            <a:spLocks xmlns:a="http://schemas.openxmlformats.org/drawingml/2006/main" noGrp="1"/>
          </p:cNvSpPr>
          <p:nvPr/>
        </p:nvSpPr>
        <p:spPr>
          <a:xfrm xmlns:a="http://schemas.openxmlformats.org/drawingml/2006/main">
            <a:off x="609600" y="38385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Token prices + control cost</a:t>
            </a:r>
          </a:p>
        </p:txBody>
      </p:sp>
      <p:sp>
        <p:nvSpPr>
          <p:cNvPr id="19" name="">
            <a:extLst xmlns:a="http://schemas.openxmlformats.org/drawingml/2006/main">
              <a:ext uri="{FF2B5EF4-FFF2-40B4-BE49-F238E27FC236}">
                <a16:creationId xmlns:a16="http://schemas.microsoft.com/office/drawing/2014/main" id="{C56347C0-EAD0-489B-B647-4926B23BC9B1}"/>
              </a:ext>
            </a:extLst>
          </p:cNvPr>
          <p:cNvSpPr>
            <a:spLocks xmlns:a="http://schemas.openxmlformats.org/drawingml/2006/main" noGrp="1"/>
          </p:cNvSpPr>
          <p:nvPr/>
        </p:nvSpPr>
        <p:spPr>
          <a:xfrm xmlns:a="http://schemas.openxmlformats.org/drawingml/2006/main">
            <a:off x="609600" y="41338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Opaque provider changes</a:t>
            </a:r>
          </a:p>
        </p:txBody>
      </p:sp>
      <p:sp>
        <p:nvSpPr>
          <p:cNvPr id="20" name="">
            <a:extLst xmlns:a="http://schemas.openxmlformats.org/drawingml/2006/main">
              <a:ext uri="{FF2B5EF4-FFF2-40B4-BE49-F238E27FC236}">
                <a16:creationId xmlns:a16="http://schemas.microsoft.com/office/drawing/2014/main" id="{3D8D3176-C44E-4324-9F36-E3F485520A4C}"/>
              </a:ext>
            </a:extLst>
          </p:cNvPr>
          <p:cNvSpPr>
            <a:spLocks xmlns:a="http://schemas.openxmlformats.org/drawingml/2006/main" noGrp="1"/>
          </p:cNvSpPr>
          <p:nvPr/>
        </p:nvSpPr>
        <p:spPr>
          <a:xfrm xmlns:a="http://schemas.openxmlformats.org/drawingml/2006/main">
            <a:off x="609600" y="44291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Latency + fallible evaluators</a:t>
            </a:r>
          </a:p>
        </p:txBody>
      </p:sp>
      <p:sp>
        <p:nvSpPr>
          <p:cNvPr id="21" name="">
            <a:extLst xmlns:a="http://schemas.openxmlformats.org/drawingml/2006/main">
              <a:ext uri="{FF2B5EF4-FFF2-40B4-BE49-F238E27FC236}">
                <a16:creationId xmlns:a16="http://schemas.microsoft.com/office/drawing/2014/main" id="{CBF90422-E2D5-4573-945B-7F57C2753F58}"/>
              </a:ext>
            </a:extLst>
          </p:cNvPr>
          <p:cNvSpPr>
            <a:spLocks xmlns:a="http://schemas.openxmlformats.org/drawingml/2006/main" noGrp="1"/>
          </p:cNvSpPr>
          <p:nvPr/>
        </p:nvSpPr>
        <p:spPr>
          <a:xfrm xmlns:a="http://schemas.openxmlformats.org/drawingml/2006/main">
            <a:off x="6324600" y="3543300"/>
            <a:ext cx="2400300" cy="3619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22" name="">
            <a:extLst xmlns:a="http://schemas.openxmlformats.org/drawingml/2006/main">
              <a:ext uri="{FF2B5EF4-FFF2-40B4-BE49-F238E27FC236}">
                <a16:creationId xmlns:a16="http://schemas.microsoft.com/office/drawing/2014/main" id="{7989B3E5-6726-47E1-B594-BC72AD9B6322}"/>
              </a:ext>
            </a:extLst>
          </p:cNvPr>
          <p:cNvSpPr>
            <a:spLocks xmlns:a="http://schemas.openxmlformats.org/drawingml/2006/main" noGrp="1"/>
          </p:cNvSpPr>
          <p:nvPr/>
        </p:nvSpPr>
        <p:spPr>
          <a:xfrm xmlns:a="http://schemas.openxmlformats.org/drawingml/2006/main">
            <a:off x="6438900" y="3619500"/>
            <a:ext cx="2171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Approved limits</a:t>
            </a:r>
          </a:p>
        </p:txBody>
      </p:sp>
      <p:sp>
        <p:nvSpPr>
          <p:cNvPr id="23" name="">
            <a:extLst xmlns:a="http://schemas.openxmlformats.org/drawingml/2006/main">
              <a:ext uri="{FF2B5EF4-FFF2-40B4-BE49-F238E27FC236}">
                <a16:creationId xmlns:a16="http://schemas.microsoft.com/office/drawing/2014/main" id="{547AA986-F768-4956-9FBE-525D067D68ED}"/>
              </a:ext>
            </a:extLst>
          </p:cNvPr>
          <p:cNvSpPr>
            <a:spLocks xmlns:a="http://schemas.openxmlformats.org/drawingml/2006/main" noGrp="1"/>
          </p:cNvSpPr>
          <p:nvPr/>
        </p:nvSpPr>
        <p:spPr>
          <a:xfrm xmlns:a="http://schemas.openxmlformats.org/drawingml/2006/main">
            <a:off x="91821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4" name="">
            <a:extLst xmlns:a="http://schemas.openxmlformats.org/drawingml/2006/main">
              <a:ext uri="{FF2B5EF4-FFF2-40B4-BE49-F238E27FC236}">
                <a16:creationId xmlns:a16="http://schemas.microsoft.com/office/drawing/2014/main" id="{494406DE-6225-4792-8219-99E79EF643C3}"/>
              </a:ext>
            </a:extLst>
          </p:cNvPr>
          <p:cNvSpPr>
            <a:spLocks xmlns:a="http://schemas.openxmlformats.org/drawingml/2006/main" noGrp="1"/>
          </p:cNvSpPr>
          <p:nvPr/>
        </p:nvSpPr>
        <p:spPr>
          <a:xfrm xmlns:a="http://schemas.openxmlformats.org/drawingml/2006/main">
            <a:off x="92964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Observe</a:t>
            </a:r>
          </a:p>
        </p:txBody>
      </p:sp>
      <p:sp>
        <p:nvSpPr>
          <p:cNvPr id="25" name="">
            <a:extLst xmlns:a="http://schemas.openxmlformats.org/drawingml/2006/main">
              <a:ext uri="{FF2B5EF4-FFF2-40B4-BE49-F238E27FC236}">
                <a16:creationId xmlns:a16="http://schemas.microsoft.com/office/drawing/2014/main" id="{C5C4FD00-EBFF-40CC-A751-1D6B0B52CBD4}"/>
              </a:ext>
            </a:extLst>
          </p:cNvPr>
          <p:cNvSpPr>
            <a:spLocks xmlns:a="http://schemas.openxmlformats.org/drawingml/2006/main" noGrp="1"/>
          </p:cNvSpPr>
          <p:nvPr/>
        </p:nvSpPr>
        <p:spPr>
          <a:xfrm xmlns:a="http://schemas.openxmlformats.org/drawingml/2006/main">
            <a:off x="63246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C6550093-B831-4780-8B12-A0FEA02EF4C2}"/>
              </a:ext>
            </a:extLst>
          </p:cNvPr>
          <p:cNvSpPr>
            <a:spLocks xmlns:a="http://schemas.openxmlformats.org/drawingml/2006/main" noGrp="1"/>
          </p:cNvSpPr>
          <p:nvPr/>
        </p:nvSpPr>
        <p:spPr>
          <a:xfrm xmlns:a="http://schemas.openxmlformats.org/drawingml/2006/main">
            <a:off x="64389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Roboto"/>
                <a:ea typeface="Roboto"/>
                <a:cs typeface="Roboto"/>
              </a:defRPr>
            </a:pPr>
            <a:r>
              <a:rPr sz="1500" b="1">
                <a:solidFill>
                  <a:srgbClr val="F4F7FA"/>
                </a:solidFill>
                <a:latin typeface="Roboto"/>
                <a:ea typeface="Roboto"/>
                <a:cs typeface="Roboto"/>
              </a:rPr>
              <a:t>Decide / authorize</a:t>
            </a:r>
          </a:p>
          <a:p xmlns:a="http://schemas.openxmlformats.org/drawingml/2006/main">
            <a:pPr algn="ctr">
              <a:defRPr sz="1500" b="1">
                <a:solidFill>
                  <a:srgbClr val="F4F7FA"/>
                </a:solidFill>
                <a:latin typeface="Roboto"/>
                <a:ea typeface="Roboto"/>
                <a:cs typeface="Roboto"/>
              </a:defRPr>
            </a:pPr>
            <a:r>
              <a:rPr sz="1500" b="1">
                <a:solidFill>
                  <a:srgbClr val="F4F7FA"/>
                </a:solidFill>
                <a:latin typeface="Roboto"/>
                <a:ea typeface="Roboto"/>
                <a:cs typeface="Roboto"/>
              </a:rPr>
              <a:t>software + people</a:t>
            </a:r>
          </a:p>
        </p:txBody>
      </p:sp>
      <p:sp>
        <p:nvSpPr>
          <p:cNvPr id="27" name="">
            <a:extLst xmlns:a="http://schemas.openxmlformats.org/drawingml/2006/main">
              <a:ext uri="{FF2B5EF4-FFF2-40B4-BE49-F238E27FC236}">
                <a16:creationId xmlns:a16="http://schemas.microsoft.com/office/drawing/2014/main" id="{2CD4A77F-2896-412F-A1F4-80297FE2B84D}"/>
              </a:ext>
            </a:extLst>
          </p:cNvPr>
          <p:cNvSpPr>
            <a:spLocks xmlns:a="http://schemas.openxmlformats.org/drawingml/2006/main" noGrp="1"/>
          </p:cNvSpPr>
          <p:nvPr/>
        </p:nvSpPr>
        <p:spPr>
          <a:xfrm xmlns:a="http://schemas.openxmlformats.org/drawingml/2006/main">
            <a:off x="34671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88FCB5FF-13DF-447B-A2ED-8BB4FA5117C3}"/>
              </a:ext>
            </a:extLst>
          </p:cNvPr>
          <p:cNvSpPr>
            <a:spLocks xmlns:a="http://schemas.openxmlformats.org/drawingml/2006/main" noGrp="1"/>
          </p:cNvSpPr>
          <p:nvPr/>
        </p:nvSpPr>
        <p:spPr>
          <a:xfrm xmlns:a="http://schemas.openxmlformats.org/drawingml/2006/main">
            <a:off x="35814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Apply correction</a:t>
            </a:r>
          </a:p>
        </p:txBody>
      </p:sp>
      <p:cxnSp>
        <p:nvCxnSpPr>
          <p:cNvPr id="68" name=""/>
          <p:cNvCxnSpPr>
            <a:stCxn xmlns:a="http://schemas.openxmlformats.org/drawingml/2006/main" id="12" idx="2"/>
            <a:endCxn xmlns:a="http://schemas.openxmlformats.org/drawingml/2006/main" id="23" idx="0"/>
          </p:cNvCxnSpPr>
          <p:nvPr/>
        </p:nvCxnSpPr>
        <p:spPr>
          <a:xfrm xmlns:a="http://schemas.openxmlformats.org/drawingml/2006/main">
            <a:off x="10382250" y="3143250"/>
            <a:ext cx="0" cy="9906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3" idx="1"/>
            <a:endCxn xmlns:a="http://schemas.openxmlformats.org/drawingml/2006/main" id="25" idx="3"/>
          </p:cNvCxnSpPr>
          <p:nvPr/>
        </p:nvCxnSpPr>
        <p:spPr>
          <a:xfrm xmlns:a="http://schemas.openxmlformats.org/drawingml/2006/main" flipH="1">
            <a:off x="8724900" y="4476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1" idx="2"/>
            <a:endCxn xmlns:a="http://schemas.openxmlformats.org/drawingml/2006/main" id="25" idx="0"/>
          </p:cNvCxnSpPr>
          <p:nvPr/>
        </p:nvCxnSpPr>
        <p:spPr>
          <a:xfrm xmlns:a="http://schemas.openxmlformats.org/drawingml/2006/main">
            <a:off x="7524750" y="3905250"/>
            <a:ext cx="0" cy="22860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1" name=""/>
          <p:cNvCxnSpPr>
            <a:stCxn xmlns:a="http://schemas.openxmlformats.org/drawingml/2006/main" id="25" idx="1"/>
            <a:endCxn xmlns:a="http://schemas.openxmlformats.org/drawingml/2006/main" id="27" idx="3"/>
          </p:cNvCxnSpPr>
          <p:nvPr/>
        </p:nvCxnSpPr>
        <p:spPr>
          <a:xfrm xmlns:a="http://schemas.openxmlformats.org/drawingml/2006/main" flipH="1">
            <a:off x="5867400" y="4476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2" name=""/>
          <p:cNvCxnSpPr>
            <a:stCxn xmlns:a="http://schemas.openxmlformats.org/drawingml/2006/main" id="27" idx="0"/>
            <a:endCxn xmlns:a="http://schemas.openxmlformats.org/drawingml/2006/main" id="8" idx="2"/>
          </p:cNvCxnSpPr>
          <p:nvPr/>
        </p:nvCxnSpPr>
        <p:spPr>
          <a:xfrm xmlns:a="http://schemas.openxmlformats.org/drawingml/2006/main" flipV="1">
            <a:off x="4667250" y="3143250"/>
            <a:ext cx="0" cy="9906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74B68485-7867-4E03-9CC6-D0650097F7D5}"/>
              </a:ext>
            </a:extLst>
          </p:cNvPr>
          <p:cNvSpPr>
            <a:spLocks xmlns:a="http://schemas.openxmlformats.org/drawingml/2006/main" noGrp="1"/>
          </p:cNvSpPr>
          <p:nvPr/>
        </p:nvSpPr>
        <p:spPr>
          <a:xfrm xmlns:a="http://schemas.openxmlformats.org/drawingml/2006/main">
            <a:off x="609600" y="49625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HUMAN IN THE LOOP IS AN ARCHITECTURAL DEPENDENCY</a:t>
            </a:r>
          </a:p>
        </p:txBody>
      </p:sp>
      <p:sp>
        <p:nvSpPr>
          <p:cNvPr id="35" name="">
            <a:extLst xmlns:a="http://schemas.openxmlformats.org/drawingml/2006/main">
              <a:ext uri="{FF2B5EF4-FFF2-40B4-BE49-F238E27FC236}">
                <a16:creationId xmlns:a16="http://schemas.microsoft.com/office/drawing/2014/main" id="{8C7522F5-C119-4E08-9E81-016163DA4A7B}"/>
              </a:ext>
            </a:extLst>
          </p:cNvPr>
          <p:cNvSpPr>
            <a:spLocks xmlns:a="http://schemas.openxmlformats.org/drawingml/2006/main" noGrp="1"/>
          </p:cNvSpPr>
          <p:nvPr/>
        </p:nvSpPr>
        <p:spPr>
          <a:xfrm xmlns:a="http://schemas.openxmlformats.org/drawingml/2006/main">
            <a:off x="609600" y="52482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Owner + authority + context + response time + peak capacity + backup</a:t>
            </a:r>
          </a:p>
        </p:txBody>
      </p:sp>
      <p:sp>
        <p:nvSpPr>
          <p:cNvPr id="36" name="">
            <a:extLst xmlns:a="http://schemas.openxmlformats.org/drawingml/2006/main">
              <a:ext uri="{FF2B5EF4-FFF2-40B4-BE49-F238E27FC236}">
                <a16:creationId xmlns:a16="http://schemas.microsoft.com/office/drawing/2014/main" id="{F9032E0A-1EC6-4ADA-94B6-3EF82B36C5D6}"/>
              </a:ext>
            </a:extLst>
          </p:cNvPr>
          <p:cNvSpPr>
            <a:spLocks xmlns:a="http://schemas.openxmlformats.org/drawingml/2006/main" noGrp="1"/>
          </p:cNvSpPr>
          <p:nvPr/>
        </p:nvSpPr>
        <p:spPr>
          <a:xfrm xmlns:a="http://schemas.openxmlformats.org/drawingml/2006/main">
            <a:off x="609600" y="55435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Rollback / disable tool / manual fallback · inside delegated authority</a:t>
            </a:r>
          </a:p>
        </p:txBody>
      </p:sp>
      <p:sp>
        <p:nvSpPr>
          <p:cNvPr id="37" name="">
            <a:extLst xmlns:a="http://schemas.openxmlformats.org/drawingml/2006/main">
              <a:ext uri="{FF2B5EF4-FFF2-40B4-BE49-F238E27FC236}">
                <a16:creationId xmlns:a16="http://schemas.microsoft.com/office/drawing/2014/main" id="{58349ACF-5C6C-402A-A16C-5CE15BB2F97D}"/>
              </a:ext>
            </a:extLst>
          </p:cNvPr>
          <p:cNvSpPr>
            <a:spLocks xmlns:a="http://schemas.openxmlformats.org/drawingml/2006/main" noGrp="1"/>
          </p:cNvSpPr>
          <p:nvPr/>
        </p:nvSpPr>
        <p:spPr>
          <a:xfrm xmlns:a="http://schemas.openxmlformats.org/drawingml/2006/main">
            <a:off x="609600" y="58578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Unknown load: a bounded, authorized trial needs working controls and stop limits.</a:t>
            </a:r>
          </a:p>
        </p:txBody>
      </p:sp>
      <p:sp>
        <p:nvSpPr>
          <p:cNvPr id="38" name="">
            <a:extLst xmlns:a="http://schemas.openxmlformats.org/drawingml/2006/main">
              <a:ext uri="{FF2B5EF4-FFF2-40B4-BE49-F238E27FC236}">
                <a16:creationId xmlns:a16="http://schemas.microsoft.com/office/drawing/2014/main" id="{D79023B0-1F73-45F0-90E0-687E9D898529}"/>
              </a:ext>
            </a:extLst>
          </p:cNvPr>
          <p:cNvSpPr>
            <a:spLocks xmlns:a="http://schemas.openxmlformats.org/drawingml/2006/main" noGrp="1"/>
          </p:cNvSpPr>
          <p:nvPr/>
        </p:nvSpPr>
        <p:spPr>
          <a:xfrm xmlns:a="http://schemas.openxmlformats.org/drawingml/2006/main">
            <a:off x="609600" y="61245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Roboto"/>
                <a:ea typeface="Roboto"/>
                <a:cs typeface="Roboto"/>
              </a:defRPr>
            </a:pPr>
            <a:r>
              <a:rPr sz="1500" b="0">
                <a:solidFill>
                  <a:srgbClr val="F5B61C"/>
                </a:solidFill>
                <a:latin typeface="Roboto"/>
                <a:ea typeface="Roboto"/>
                <a:cs typeface="Roboto"/>
              </a:rPr>
              <a:t>Canary limits exposure. If the control path is missing, block the AI path.</a:t>
            </a:r>
          </a:p>
        </p:txBody>
      </p:sp>
      <p:sp>
        <p:nvSpPr>
          <p:cNvPr id="39" name="">
            <a:extLst xmlns:a="http://schemas.openxmlformats.org/drawingml/2006/main">
              <a:ext uri="{FF2B5EF4-FFF2-40B4-BE49-F238E27FC236}">
                <a16:creationId xmlns:a16="http://schemas.microsoft.com/office/drawing/2014/main" id="{42AB0288-85BF-4DA7-960F-B0D9C82CB0B0}"/>
              </a:ext>
            </a:extLst>
          </p:cNvPr>
          <p:cNvSpPr>
            <a:spLocks xmlns:a="http://schemas.openxmlformats.org/drawingml/2006/main" noGrp="1"/>
          </p:cNvSpPr>
          <p:nvPr/>
        </p:nvSpPr>
        <p:spPr>
          <a:xfrm xmlns:a="http://schemas.openxmlformats.org/drawingml/2006/main">
            <a:off x="609600" y="645795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Production readiness requires a complete, operable control path.</a:t>
            </a:r>
          </a:p>
        </p:txBody>
      </p:sp>
    </p:spTree>
    <p:extLst>
      <p:ext uri="{BB962C8B-B14F-4D97-AF65-F5344CB8AC3E}">
        <p14:creationId xmlns:p14="http://schemas.microsoft.com/office/powerpoint/2010/main" val="83595438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3778FA-7B46-43E9-90F1-83556A7DFA7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Roles Move With the System</a:t>
            </a:r>
          </a:p>
        </p:txBody>
      </p:sp>
      <p:sp>
        <p:nvSpPr>
          <p:cNvPr id="2" name="">
            <a:extLst xmlns:a="http://schemas.openxmlformats.org/drawingml/2006/main">
              <a:ext uri="{FF2B5EF4-FFF2-40B4-BE49-F238E27FC236}">
                <a16:creationId xmlns:a16="http://schemas.microsoft.com/office/drawing/2014/main" id="{CB8BC0ED-A276-4898-BC94-2A55E1F3258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AD1DF9E-4041-4C0F-A29A-515215E8006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13</a:t>
            </a:r>
          </a:p>
        </p:txBody>
      </p:sp>
      <p:sp>
        <p:nvSpPr>
          <p:cNvPr id="4" name="">
            <a:extLst xmlns:a="http://schemas.openxmlformats.org/drawingml/2006/main">
              <a:ext uri="{FF2B5EF4-FFF2-40B4-BE49-F238E27FC236}">
                <a16:creationId xmlns:a16="http://schemas.microsoft.com/office/drawing/2014/main" id="{7B9D85A7-631F-4F83-A799-E928BD9FEA6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PROJECT MANAGER · the scope of management expands</a:t>
            </a:r>
          </a:p>
        </p:txBody>
      </p:sp>
      <p:sp>
        <p:nvSpPr>
          <p:cNvPr id="5" name="">
            <a:extLst xmlns:a="http://schemas.openxmlformats.org/drawingml/2006/main">
              <a:ext uri="{FF2B5EF4-FFF2-40B4-BE49-F238E27FC236}">
                <a16:creationId xmlns:a16="http://schemas.microsoft.com/office/drawing/2014/main" id="{849F5B5F-88A2-4260-8AA8-D28C03F8FD36}"/>
              </a:ext>
            </a:extLst>
          </p:cNvPr>
          <p:cNvSpPr>
            <a:spLocks xmlns:a="http://schemas.openxmlformats.org/drawingml/2006/main" noGrp="1"/>
          </p:cNvSpPr>
          <p:nvPr/>
        </p:nvSpPr>
        <p:spPr>
          <a:xfrm xmlns:a="http://schemas.openxmlformats.org/drawingml/2006/main">
            <a:off x="609600" y="2057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Project management theory still matters: scope, schedule, cost, risk and stakeholders.</a:t>
            </a:r>
          </a:p>
        </p:txBody>
      </p:sp>
      <p:sp>
        <p:nvSpPr>
          <p:cNvPr id="6" name="">
            <a:extLst xmlns:a="http://schemas.openxmlformats.org/drawingml/2006/main">
              <a:ext uri="{FF2B5EF4-FFF2-40B4-BE49-F238E27FC236}">
                <a16:creationId xmlns:a16="http://schemas.microsoft.com/office/drawing/2014/main" id="{00B99C28-0674-4857-8713-B73B3CFA0A44}"/>
              </a:ext>
            </a:extLst>
          </p:cNvPr>
          <p:cNvSpPr>
            <a:spLocks xmlns:a="http://schemas.openxmlformats.org/drawingml/2006/main" noGrp="1"/>
          </p:cNvSpPr>
          <p:nvPr/>
        </p:nvSpPr>
        <p:spPr>
          <a:xfrm xmlns:a="http://schemas.openxmlformats.org/drawingml/2006/main">
            <a:off x="609600" y="2419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THREE OVERLAPPING HORIZONS</a:t>
            </a:r>
          </a:p>
        </p:txBody>
      </p:sp>
      <p:graphicFrame>
        <p:nvGraphicFramePr>
          <p:cNvPr id="17" name=""/>
          <p:cNvGraphicFramePr/>
          <p:nvPr/>
        </p:nvGraphicFramePr>
        <p:xfrm>
          <a:off xmlns:a="http://schemas.openxmlformats.org/drawingml/2006/main" x="609600" y="2752725"/>
          <a:ext xmlns:a="http://schemas.openxmlformats.org/drawingml/2006/main" cx="10972800" cy="2952750"/>
        </p:xfrm>
        <a:graphic xmlns:a="http://schemas.openxmlformats.org/drawingml/2006/main">
          <a:graphicData uri="http://schemas.openxmlformats.org/drawingml/2006/table">
            <a:tbl>
              <a:tblPr/>
              <a:tblGrid>
                <a:gridCol w="2009775"/>
                <a:gridCol w="4667250"/>
                <a:gridCol w="4295775"/>
              </a:tblGrid>
              <a:tr h="381000">
                <a:tc>
                  <a:txBody>
                    <a:bodyPr lIns="171450" tIns="57150" rIns="171450" bIns="57150">
                      <a:noAutofit/>
                    </a:bodyPr>
                    <a:lstStyle/>
                    <a:p>
                      <a:r>
                        <a:rPr sz="1575" b="1">
                          <a:solidFill>
                            <a:srgbClr val="F4F7FA"/>
                          </a:solidFill>
                          <a:latin typeface="Roboto"/>
                          <a:ea typeface="Roboto"/>
                          <a:cs typeface="Roboto"/>
                        </a:rPr>
                        <a:t>HORIZON</a:t>
                      </a:r>
                    </a:p>
                  </a:txBody>
                  <a:tcPr marL="91440" marR="91440" marT="45720" marB="45720" anchor="ctr">
                    <a:solidFill>
                      <a:srgbClr val="1A2734"/>
                    </a:solidFill>
                  </a:tcPr>
                </a:tc>
                <a:tc>
                  <a:txBody>
                    <a:bodyPr lIns="171450" tIns="57150" rIns="171450" bIns="57150">
                      <a:noAutofit/>
                    </a:bodyPr>
                    <a:lstStyle/>
                    <a:p>
                      <a:r>
                        <a:rPr sz="1575" b="1">
                          <a:solidFill>
                            <a:srgbClr val="F4F7FA"/>
                          </a:solidFill>
                          <a:latin typeface="Roboto"/>
                          <a:ea typeface="Roboto"/>
                          <a:cs typeface="Roboto"/>
                        </a:rPr>
                        <a:t>WHAT THE PM MUST UNDERSTAND</a:t>
                      </a:r>
                    </a:p>
                  </a:txBody>
                  <a:tcPr marL="91440" marR="91440" marT="45720" marB="45720" anchor="ctr">
                    <a:solidFill>
                      <a:srgbClr val="1A2734"/>
                    </a:solidFill>
                  </a:tcPr>
                </a:tc>
                <a:tc>
                  <a:txBody>
                    <a:bodyPr lIns="171450" tIns="57150" rIns="171450" bIns="57150">
                      <a:noAutofit/>
                    </a:bodyPr>
                    <a:lstStyle/>
                    <a:p>
                      <a:r>
                        <a:rPr sz="1575" b="1">
                          <a:solidFill>
                            <a:srgbClr val="28C7F7"/>
                          </a:solidFill>
                          <a:latin typeface="Roboto"/>
                          <a:ea typeface="Roboto"/>
                          <a:cs typeface="Roboto"/>
                        </a:rPr>
                        <a:t>WHAT THE PM WATCHES</a:t>
                      </a:r>
                    </a:p>
                  </a:txBody>
                  <a:tcPr marL="91440" marR="91440" marT="45720" marB="45720" anchor="ctr">
                    <a:solidFill>
                      <a:srgbClr val="1A2734"/>
                    </a:solidFill>
                  </a:tcPr>
                </a:tc>
              </a:tr>
              <a:tr h="857250">
                <a:tc>
                  <a:txBody>
                    <a:bodyPr lIns="171450" tIns="57150" rIns="171450" bIns="57150">
                      <a:noAutofit/>
                    </a:bodyPr>
                    <a:lstStyle/>
                    <a:p>
                      <a:r>
                        <a:rPr sz="1500" b="1">
                          <a:solidFill>
                            <a:srgbClr val="F4F7FA"/>
                          </a:solidFill>
                          <a:latin typeface="Roboto"/>
                          <a:ea typeface="Roboto"/>
                          <a:cs typeface="Roboto"/>
                        </a:rPr>
                        <a:t>AI-assisted SDLC</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Generation moves bottlenecks.</a:t>
                      </a:r>
                    </a:p>
                    <a:p>
                      <a:r>
                        <a:rPr sz="1500" b="0">
                          <a:solidFill>
                            <a:srgbClr val="F4F7FA"/>
                          </a:solidFill>
                          <a:latin typeface="Roboto"/>
                          <a:ea typeface="Roboto"/>
                          <a:cs typeface="Roboto"/>
                        </a:rPr>
                        <a:t>Rebalance review, QA and ownership.</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Lead time, review queues, rework,</a:t>
                      </a:r>
                    </a:p>
                    <a:p>
                      <a:r>
                        <a:rPr sz="1500" b="0">
                          <a:solidFill>
                            <a:srgbClr val="28C7F7"/>
                          </a:solidFill>
                          <a:latin typeface="Roboto"/>
                          <a:ea typeface="Roboto"/>
                          <a:cs typeface="Roboto"/>
                        </a:rPr>
                        <a:t>stability + retained understanding</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Roboto"/>
                          <a:ea typeface="Roboto"/>
                          <a:cs typeface="Roboto"/>
                        </a:rPr>
                        <a:t>Thinking Systems</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An added engineering discipline:</a:t>
                      </a:r>
                    </a:p>
                    <a:p>
                      <a:r>
                        <a:rPr sz="1500" b="0">
                          <a:solidFill>
                            <a:srgbClr val="F4F7FA"/>
                          </a:solidFill>
                          <a:latin typeface="Roboto"/>
                          <a:ea typeface="Roboto"/>
                          <a:cs typeface="Roboto"/>
                        </a:rPr>
                        <a:t>requirements, evals and control design.</a:t>
                      </a:r>
                    </a:p>
                    <a:p>
                      <a:r>
                        <a:rPr sz="1500" b="0">
                          <a:solidFill>
                            <a:srgbClr val="F4F7FA"/>
                          </a:solidFill>
                          <a:latin typeface="Roboto"/>
                          <a:ea typeface="Roboto"/>
                          <a:cs typeface="Roboto"/>
                        </a:rPr>
                        <a:t>People + authority are system dependencies.</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Outcome frequency + severity,</a:t>
                      </a:r>
                    </a:p>
                    <a:p>
                      <a:r>
                        <a:rPr sz="1500" b="0">
                          <a:solidFill>
                            <a:srgbClr val="28C7F7"/>
                          </a:solidFill>
                          <a:latin typeface="Roboto"/>
                          <a:ea typeface="Roboto"/>
                          <a:cs typeface="Roboto"/>
                        </a:rPr>
                        <a:t>cost / latency, human workload</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Roboto"/>
                          <a:ea typeface="Roboto"/>
                          <a:cs typeface="Roboto"/>
                        </a:rPr>
                        <a:t>Operating model</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Changed roles, evidence and decision rights.</a:t>
                      </a:r>
                    </a:p>
                    <a:p>
                      <a:r>
                        <a:rPr sz="1500" b="0">
                          <a:solidFill>
                            <a:srgbClr val="F4F7FA"/>
                          </a:solidFill>
                          <a:latin typeface="Roboto"/>
                          <a:ea typeface="Roboto"/>
                          <a:cs typeface="Roboto"/>
                        </a:rPr>
                        <a:t>Find gaps in process and team organization.</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Coverage, response time, control health,</a:t>
                      </a:r>
                    </a:p>
                    <a:p>
                      <a:r>
                        <a:rPr sz="1500" b="0">
                          <a:solidFill>
                            <a:srgbClr val="28C7F7"/>
                          </a:solidFill>
                          <a:latin typeface="Roboto"/>
                          <a:ea typeface="Roboto"/>
                          <a:cs typeface="Roboto"/>
                        </a:rPr>
                        <a:t>incidents + decisions to reassess</a:t>
                      </a:r>
                    </a:p>
                  </a:txBody>
                  <a:tcPr marL="91440" marR="91440" marT="45720" marB="45720" anchor="ctr">
                    <a:solidFill>
                      <a:srgbClr val="0B0F14"/>
                    </a:solidFill>
                  </a:tcPr>
                </a:tc>
              </a:tr>
            </a:tbl>
          </a:graphicData>
        </a:graphic>
      </p:graphicFrame>
      <p:sp>
        <p:nvSpPr>
          <p:cNvPr id="8" name="">
            <a:extLst xmlns:a="http://schemas.openxmlformats.org/drawingml/2006/main">
              <a:ext uri="{FF2B5EF4-FFF2-40B4-BE49-F238E27FC236}">
                <a16:creationId xmlns:a16="http://schemas.microsoft.com/office/drawing/2014/main" id="{FCAD0F04-5833-4724-AA51-FC200D20014B}"/>
              </a:ext>
            </a:extLst>
          </p:cNvPr>
          <p:cNvSpPr>
            <a:spLocks xmlns:a="http://schemas.openxmlformats.org/drawingml/2006/main" noGrp="1"/>
          </p:cNvSpPr>
          <p:nvPr/>
        </p:nvSpPr>
        <p:spPr>
          <a:xfrm xmlns:a="http://schemas.openxmlformats.org/drawingml/2006/main">
            <a:off x="609600" y="58388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Statistical literacy: question sampling, uncertainty, thresholds and the strength of evidence.</a:t>
            </a:r>
          </a:p>
        </p:txBody>
      </p:sp>
      <p:sp>
        <p:nvSpPr>
          <p:cNvPr id="9" name="">
            <a:extLst xmlns:a="http://schemas.openxmlformats.org/drawingml/2006/main">
              <a:ext uri="{FF2B5EF4-FFF2-40B4-BE49-F238E27FC236}">
                <a16:creationId xmlns:a16="http://schemas.microsoft.com/office/drawing/2014/main" id="{9D273F5C-55A9-4A1D-825A-E31B5A4C8155}"/>
              </a:ext>
            </a:extLst>
          </p:cNvPr>
          <p:cNvSpPr>
            <a:spLocks xmlns:a="http://schemas.openxmlformats.org/drawingml/2006/main" noGrp="1"/>
          </p:cNvSpPr>
          <p:nvPr/>
        </p:nvSpPr>
        <p:spPr>
          <a:xfrm xmlns:a="http://schemas.openxmlformats.org/drawingml/2006/main">
            <a:off x="609600" y="61626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Coordinate specialists and business owners. Make missing evidence and control capacity visible.</a:t>
            </a:r>
          </a:p>
        </p:txBody>
      </p:sp>
      <p:sp>
        <p:nvSpPr>
          <p:cNvPr id="10" name="">
            <a:extLst xmlns:a="http://schemas.openxmlformats.org/drawingml/2006/main">
              <a:ext uri="{FF2B5EF4-FFF2-40B4-BE49-F238E27FC236}">
                <a16:creationId xmlns:a16="http://schemas.microsoft.com/office/drawing/2014/main" id="{44A706B0-C407-45E3-BEBC-252900C2DDFD}"/>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Progress = working capability + reduced uncertainty + explicit decisions.</a:t>
            </a:r>
          </a:p>
        </p:txBody>
      </p:sp>
    </p:spTree>
    <p:extLst>
      <p:ext uri="{BB962C8B-B14F-4D97-AF65-F5344CB8AC3E}">
        <p14:creationId xmlns:p14="http://schemas.microsoft.com/office/powerpoint/2010/main" val="1257275408"/>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911022C-3B96-4CBC-8652-12721BC215A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Engineering Rigor Moves —</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It Doesn’t Disappear</a:t>
            </a:r>
          </a:p>
        </p:txBody>
      </p:sp>
      <p:sp>
        <p:nvSpPr>
          <p:cNvPr id="2" name="">
            <a:extLst xmlns:a="http://schemas.openxmlformats.org/drawingml/2006/main">
              <a:ext uri="{FF2B5EF4-FFF2-40B4-BE49-F238E27FC236}">
                <a16:creationId xmlns:a16="http://schemas.microsoft.com/office/drawing/2014/main" id="{BB9F5D31-1D38-418F-B385-C98AC02E505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DC0DA58-5762-4D33-B10B-89D948132B6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14</a:t>
            </a:r>
          </a:p>
        </p:txBody>
      </p:sp>
      <p:sp>
        <p:nvSpPr>
          <p:cNvPr id="4" name="">
            <a:extLst xmlns:a="http://schemas.openxmlformats.org/drawingml/2006/main">
              <a:ext uri="{FF2B5EF4-FFF2-40B4-BE49-F238E27FC236}">
                <a16:creationId xmlns:a16="http://schemas.microsoft.com/office/drawing/2014/main" id="{492F8A7F-7C1A-4E77-80F5-E644A7B7D8A3}"/>
              </a:ext>
            </a:extLst>
          </p:cNvPr>
          <p:cNvSpPr>
            <a:spLocks xmlns:a="http://schemas.openxmlformats.org/drawingml/2006/main" noGrp="1"/>
          </p:cNvSpPr>
          <p:nvPr/>
        </p:nvSpPr>
        <p:spPr>
          <a:xfrm xmlns:a="http://schemas.openxmlformats.org/drawingml/2006/main">
            <a:off x="609600" y="19431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DELIVERY CONTINUES</a:t>
            </a:r>
          </a:p>
        </p:txBody>
      </p:sp>
      <p:sp>
        <p:nvSpPr>
          <p:cNvPr id="5" name="">
            <a:extLst xmlns:a="http://schemas.openxmlformats.org/drawingml/2006/main">
              <a:ext uri="{FF2B5EF4-FFF2-40B4-BE49-F238E27FC236}">
                <a16:creationId xmlns:a16="http://schemas.microsoft.com/office/drawing/2014/main" id="{B61DF73B-FCA5-48BC-9C2C-5448FE954718}"/>
              </a:ext>
            </a:extLst>
          </p:cNvPr>
          <p:cNvSpPr>
            <a:spLocks xmlns:a="http://schemas.openxmlformats.org/drawingml/2006/main" noGrp="1"/>
          </p:cNvSpPr>
          <p:nvPr/>
        </p:nvSpPr>
        <p:spPr>
          <a:xfrm xmlns:a="http://schemas.openxmlformats.org/drawingml/2006/main">
            <a:off x="609600" y="23622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Plan → Build → Verify → Ship</a:t>
            </a:r>
          </a:p>
        </p:txBody>
      </p:sp>
      <p:sp>
        <p:nvSpPr>
          <p:cNvPr id="6" name="">
            <a:extLst xmlns:a="http://schemas.openxmlformats.org/drawingml/2006/main">
              <a:ext uri="{FF2B5EF4-FFF2-40B4-BE49-F238E27FC236}">
                <a16:creationId xmlns:a16="http://schemas.microsoft.com/office/drawing/2014/main" id="{D3100E8A-C509-4E2E-AF34-D47B6813672C}"/>
              </a:ext>
            </a:extLst>
          </p:cNvPr>
          <p:cNvSpPr>
            <a:spLocks xmlns:a="http://schemas.openxmlformats.org/drawingml/2006/main" noGrp="1"/>
          </p:cNvSpPr>
          <p:nvPr/>
        </p:nvSpPr>
        <p:spPr>
          <a:xfrm xmlns:a="http://schemas.openxmlformats.org/drawingml/2006/main">
            <a:off x="609600" y="28003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Scope, quality, cost and schedule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remain part of the job.</a:t>
            </a:r>
          </a:p>
        </p:txBody>
      </p:sp>
      <p:sp>
        <p:nvSpPr>
          <p:cNvPr id="7" name="">
            <a:extLst xmlns:a="http://schemas.openxmlformats.org/drawingml/2006/main">
              <a:ext uri="{FF2B5EF4-FFF2-40B4-BE49-F238E27FC236}">
                <a16:creationId xmlns:a16="http://schemas.microsoft.com/office/drawing/2014/main" id="{E85F774A-6757-43A7-B944-8CC475305E56}"/>
              </a:ext>
            </a:extLst>
          </p:cNvPr>
          <p:cNvSpPr>
            <a:spLocks xmlns:a="http://schemas.openxmlformats.org/drawingml/2006/main" noGrp="1"/>
          </p:cNvSpPr>
          <p:nvPr/>
        </p:nvSpPr>
        <p:spPr>
          <a:xfrm xmlns:a="http://schemas.openxmlformats.org/drawingml/2006/main">
            <a:off x="609600" y="37052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THE LABORATORY STAYS OPEN</a:t>
            </a:r>
          </a:p>
        </p:txBody>
      </p:sp>
      <p:sp>
        <p:nvSpPr>
          <p:cNvPr id="8" name="">
            <a:extLst xmlns:a="http://schemas.openxmlformats.org/drawingml/2006/main">
              <a:ext uri="{FF2B5EF4-FFF2-40B4-BE49-F238E27FC236}">
                <a16:creationId xmlns:a16="http://schemas.microsoft.com/office/drawing/2014/main" id="{FBC36FEB-126A-4BA9-83E5-2E725B0BFB6E}"/>
              </a:ext>
            </a:extLst>
          </p:cNvPr>
          <p:cNvSpPr>
            <a:spLocks xmlns:a="http://schemas.openxmlformats.org/drawingml/2006/main" noGrp="1"/>
          </p:cNvSpPr>
          <p:nvPr/>
        </p:nvSpPr>
        <p:spPr>
          <a:xfrm xmlns:a="http://schemas.openxmlformats.org/drawingml/2006/main">
            <a:off x="609600" y="4095750"/>
            <a:ext cx="4381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Evidence reopens assumptions.</a:t>
            </a:r>
          </a:p>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Release feeds the next experiment.</a:t>
            </a:r>
          </a:p>
        </p:txBody>
      </p:sp>
      <p:sp>
        <p:nvSpPr>
          <p:cNvPr id="9" name="">
            <a:extLst xmlns:a="http://schemas.openxmlformats.org/drawingml/2006/main">
              <a:ext uri="{FF2B5EF4-FFF2-40B4-BE49-F238E27FC236}">
                <a16:creationId xmlns:a16="http://schemas.microsoft.com/office/drawing/2014/main" id="{0A604693-C79D-4B49-9A60-8318827AAF62}"/>
              </a:ext>
            </a:extLst>
          </p:cNvPr>
          <p:cNvSpPr>
            <a:spLocks xmlns:a="http://schemas.openxmlformats.org/drawingml/2006/main" noGrp="1"/>
          </p:cNvSpPr>
          <p:nvPr/>
        </p:nvSpPr>
        <p:spPr>
          <a:xfrm xmlns:a="http://schemas.openxmlformats.org/drawingml/2006/main" flipH="0" flipV="0">
            <a:off x="5143500" y="1971675"/>
            <a:ext cx="0" cy="27051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E361FF64-AA24-4F1D-9491-1A745B36B2A8}"/>
              </a:ext>
            </a:extLst>
          </p:cNvPr>
          <p:cNvSpPr>
            <a:spLocks xmlns:a="http://schemas.openxmlformats.org/drawingml/2006/main" noGrp="1"/>
          </p:cNvSpPr>
          <p:nvPr/>
        </p:nvSpPr>
        <p:spPr>
          <a:xfrm xmlns:a="http://schemas.openxmlformats.org/drawingml/2006/main">
            <a:off x="55435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B14FCE75-2EF1-4591-88A8-9C5F3D48B399}"/>
              </a:ext>
            </a:extLst>
          </p:cNvPr>
          <p:cNvSpPr>
            <a:spLocks xmlns:a="http://schemas.openxmlformats.org/drawingml/2006/main" noGrp="1"/>
          </p:cNvSpPr>
          <p:nvPr/>
        </p:nvSpPr>
        <p:spPr>
          <a:xfrm xmlns:a="http://schemas.openxmlformats.org/drawingml/2006/main">
            <a:off x="56578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Hypothesize</a:t>
            </a:r>
          </a:p>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 bounded trial</a:t>
            </a:r>
          </a:p>
        </p:txBody>
      </p:sp>
      <p:sp>
        <p:nvSpPr>
          <p:cNvPr id="12" name="">
            <a:extLst xmlns:a="http://schemas.openxmlformats.org/drawingml/2006/main">
              <a:ext uri="{FF2B5EF4-FFF2-40B4-BE49-F238E27FC236}">
                <a16:creationId xmlns:a16="http://schemas.microsoft.com/office/drawing/2014/main" id="{C5E4CD75-EE2F-4C87-AC88-5EB2DE2E595B}"/>
              </a:ext>
            </a:extLst>
          </p:cNvPr>
          <p:cNvSpPr>
            <a:spLocks xmlns:a="http://schemas.openxmlformats.org/drawingml/2006/main" noGrp="1"/>
          </p:cNvSpPr>
          <p:nvPr/>
        </p:nvSpPr>
        <p:spPr>
          <a:xfrm xmlns:a="http://schemas.openxmlformats.org/drawingml/2006/main">
            <a:off x="90868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08A73596-094B-4B88-8412-24A5BC6A37A4}"/>
              </a:ext>
            </a:extLst>
          </p:cNvPr>
          <p:cNvSpPr>
            <a:spLocks xmlns:a="http://schemas.openxmlformats.org/drawingml/2006/main" noGrp="1"/>
          </p:cNvSpPr>
          <p:nvPr/>
        </p:nvSpPr>
        <p:spPr>
          <a:xfrm xmlns:a="http://schemas.openxmlformats.org/drawingml/2006/main">
            <a:off x="92011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Measure</a:t>
            </a:r>
          </a:p>
        </p:txBody>
      </p:sp>
      <p:sp>
        <p:nvSpPr>
          <p:cNvPr id="14" name="">
            <a:extLst xmlns:a="http://schemas.openxmlformats.org/drawingml/2006/main">
              <a:ext uri="{FF2B5EF4-FFF2-40B4-BE49-F238E27FC236}">
                <a16:creationId xmlns:a16="http://schemas.microsoft.com/office/drawing/2014/main" id="{2C7176D1-D68C-4605-9074-84ED9B2305D8}"/>
              </a:ext>
            </a:extLst>
          </p:cNvPr>
          <p:cNvSpPr>
            <a:spLocks xmlns:a="http://schemas.openxmlformats.org/drawingml/2006/main" noGrp="1"/>
          </p:cNvSpPr>
          <p:nvPr/>
        </p:nvSpPr>
        <p:spPr>
          <a:xfrm xmlns:a="http://schemas.openxmlformats.org/drawingml/2006/main">
            <a:off x="90868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35839E4D-9398-46C9-85A3-C348AE834961}"/>
              </a:ext>
            </a:extLst>
          </p:cNvPr>
          <p:cNvSpPr>
            <a:spLocks xmlns:a="http://schemas.openxmlformats.org/drawingml/2006/main" noGrp="1"/>
          </p:cNvSpPr>
          <p:nvPr/>
        </p:nvSpPr>
        <p:spPr>
          <a:xfrm xmlns:a="http://schemas.openxmlformats.org/drawingml/2006/main">
            <a:off x="92011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Decide</a:t>
            </a:r>
          </a:p>
        </p:txBody>
      </p:sp>
      <p:sp>
        <p:nvSpPr>
          <p:cNvPr id="16" name="">
            <a:extLst xmlns:a="http://schemas.openxmlformats.org/drawingml/2006/main">
              <a:ext uri="{FF2B5EF4-FFF2-40B4-BE49-F238E27FC236}">
                <a16:creationId xmlns:a16="http://schemas.microsoft.com/office/drawing/2014/main" id="{001E98BC-6522-4CB2-816B-EF6FFEA739D2}"/>
              </a:ext>
            </a:extLst>
          </p:cNvPr>
          <p:cNvSpPr>
            <a:spLocks xmlns:a="http://schemas.openxmlformats.org/drawingml/2006/main" noGrp="1"/>
          </p:cNvSpPr>
          <p:nvPr/>
        </p:nvSpPr>
        <p:spPr>
          <a:xfrm xmlns:a="http://schemas.openxmlformats.org/drawingml/2006/main">
            <a:off x="55435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084E094C-8502-4A0F-9921-3803DD1DFA9F}"/>
              </a:ext>
            </a:extLst>
          </p:cNvPr>
          <p:cNvSpPr>
            <a:spLocks xmlns:a="http://schemas.openxmlformats.org/drawingml/2006/main" noGrp="1"/>
          </p:cNvSpPr>
          <p:nvPr/>
        </p:nvSpPr>
        <p:spPr>
          <a:xfrm xmlns:a="http://schemas.openxmlformats.org/drawingml/2006/main">
            <a:off x="56578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Adapt</a:t>
            </a:r>
          </a:p>
        </p:txBody>
      </p: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848600" y="2419350"/>
            <a:ext cx="12382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7" name=""/>
          <p:cNvCxnSpPr>
            <a:stCxn xmlns:a="http://schemas.openxmlformats.org/drawingml/2006/main" id="12" idx="2"/>
            <a:endCxn xmlns:a="http://schemas.openxmlformats.org/drawingml/2006/main" id="14" idx="0"/>
          </p:cNvCxnSpPr>
          <p:nvPr/>
        </p:nvCxnSpPr>
        <p:spPr>
          <a:xfrm xmlns:a="http://schemas.openxmlformats.org/drawingml/2006/main">
            <a:off x="10239375" y="2743200"/>
            <a:ext cx="0" cy="12001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8" name=""/>
          <p:cNvCxnSpPr>
            <a:stCxn xmlns:a="http://schemas.openxmlformats.org/drawingml/2006/main" id="14" idx="1"/>
            <a:endCxn xmlns:a="http://schemas.openxmlformats.org/drawingml/2006/main" id="16" idx="3"/>
          </p:cNvCxnSpPr>
          <p:nvPr/>
        </p:nvCxnSpPr>
        <p:spPr>
          <a:xfrm xmlns:a="http://schemas.openxmlformats.org/drawingml/2006/main" flipH="1">
            <a:off x="7848600" y="4267200"/>
            <a:ext cx="12382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9" name=""/>
          <p:cNvCxnSpPr>
            <a:stCxn xmlns:a="http://schemas.openxmlformats.org/drawingml/2006/main" id="16" idx="0"/>
            <a:endCxn xmlns:a="http://schemas.openxmlformats.org/drawingml/2006/main" id="10" idx="2"/>
          </p:cNvCxnSpPr>
          <p:nvPr/>
        </p:nvCxnSpPr>
        <p:spPr>
          <a:xfrm xmlns:a="http://schemas.openxmlformats.org/drawingml/2006/main" flipV="1">
            <a:off x="6696075" y="2743200"/>
            <a:ext cx="0" cy="12001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D1160282-93D1-495F-B301-2F77F17DE761}"/>
              </a:ext>
            </a:extLst>
          </p:cNvPr>
          <p:cNvSpPr>
            <a:spLocks xmlns:a="http://schemas.openxmlformats.org/drawingml/2006/main" noGrp="1"/>
          </p:cNvSpPr>
          <p:nvPr/>
        </p:nvSpPr>
        <p:spPr>
          <a:xfrm xmlns:a="http://schemas.openxmlformats.org/drawingml/2006/main">
            <a:off x="6000750" y="3028950"/>
            <a:ext cx="4905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 evidence</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returns to the team</a:t>
            </a:r>
          </a:p>
        </p:txBody>
      </p:sp>
      <p:sp>
        <p:nvSpPr>
          <p:cNvPr id="23" name="">
            <a:extLst xmlns:a="http://schemas.openxmlformats.org/drawingml/2006/main">
              <a:ext uri="{FF2B5EF4-FFF2-40B4-BE49-F238E27FC236}">
                <a16:creationId xmlns:a16="http://schemas.microsoft.com/office/drawing/2014/main" id="{057B41F8-0F62-4B31-90C9-23CC55616FE2}"/>
              </a:ext>
            </a:extLst>
          </p:cNvPr>
          <p:cNvSpPr>
            <a:spLocks xmlns:a="http://schemas.openxmlformats.org/drawingml/2006/main" noGrp="1"/>
          </p:cNvSpPr>
          <p:nvPr/>
        </p:nvSpPr>
        <p:spPr>
          <a:xfrm xmlns:a="http://schemas.openxmlformats.org/drawingml/2006/main" flipH="0" flipV="0">
            <a:off x="609600" y="48863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7D96ED47-729B-4147-A55C-310A3538BCD8}"/>
              </a:ext>
            </a:extLst>
          </p:cNvPr>
          <p:cNvSpPr>
            <a:spLocks xmlns:a="http://schemas.openxmlformats.org/drawingml/2006/main" noGrp="1"/>
          </p:cNvSpPr>
          <p:nvPr/>
        </p:nvSpPr>
        <p:spPr>
          <a:xfrm xmlns:a="http://schemas.openxmlformats.org/drawingml/2006/main">
            <a:off x="609600" y="50101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HOW WE BUILD · while AI changes the SDLC</a:t>
            </a:r>
          </a:p>
        </p:txBody>
      </p:sp>
      <p:sp>
        <p:nvSpPr>
          <p:cNvPr id="25" name="">
            <a:extLst xmlns:a="http://schemas.openxmlformats.org/drawingml/2006/main">
              <a:ext uri="{FF2B5EF4-FFF2-40B4-BE49-F238E27FC236}">
                <a16:creationId xmlns:a16="http://schemas.microsoft.com/office/drawing/2014/main" id="{E83B2DB2-268D-45BD-B1BB-4BCCEA039034}"/>
              </a:ext>
            </a:extLst>
          </p:cNvPr>
          <p:cNvSpPr>
            <a:spLocks xmlns:a="http://schemas.openxmlformats.org/drawingml/2006/main" noGrp="1"/>
          </p:cNvSpPr>
          <p:nvPr/>
        </p:nvSpPr>
        <p:spPr>
          <a:xfrm xmlns:a="http://schemas.openxmlformats.org/drawingml/2006/main">
            <a:off x="609600" y="52863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Measure flow, rework, stability and the team’s retained understanding.</a:t>
            </a:r>
          </a:p>
        </p:txBody>
      </p:sp>
      <p:sp>
        <p:nvSpPr>
          <p:cNvPr id="26" name="">
            <a:extLst xmlns:a="http://schemas.openxmlformats.org/drawingml/2006/main">
              <a:ext uri="{FF2B5EF4-FFF2-40B4-BE49-F238E27FC236}">
                <a16:creationId xmlns:a16="http://schemas.microsoft.com/office/drawing/2014/main" id="{E15DD14C-A0AC-4829-B7F3-566250964C9E}"/>
              </a:ext>
            </a:extLst>
          </p:cNvPr>
          <p:cNvSpPr>
            <a:spLocks xmlns:a="http://schemas.openxmlformats.org/drawingml/2006/main" noGrp="1"/>
          </p:cNvSpPr>
          <p:nvPr/>
        </p:nvSpPr>
        <p:spPr>
          <a:xfrm xmlns:a="http://schemas.openxmlformats.org/drawingml/2006/main">
            <a:off x="609600" y="56388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Roboto"/>
                <a:ea typeface="Roboto"/>
                <a:cs typeface="Roboto"/>
              </a:defRPr>
            </a:pPr>
            <a:r>
              <a:rPr sz="1500" b="1">
                <a:solidFill>
                  <a:srgbClr val="F5B61C"/>
                </a:solidFill>
                <a:latin typeface="Roboto"/>
                <a:ea typeface="Roboto"/>
                <a:cs typeface="Roboto"/>
              </a:rPr>
              <a:t>WHAT WE BUILD · throughout Thinking Systems operation</a:t>
            </a:r>
          </a:p>
        </p:txBody>
      </p:sp>
      <p:sp>
        <p:nvSpPr>
          <p:cNvPr id="27" name="">
            <a:extLst xmlns:a="http://schemas.openxmlformats.org/drawingml/2006/main">
              <a:ext uri="{FF2B5EF4-FFF2-40B4-BE49-F238E27FC236}">
                <a16:creationId xmlns:a16="http://schemas.microsoft.com/office/drawing/2014/main" id="{DDC59BEB-5E8F-4835-8438-4AA7D85FCB80}"/>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Measure outcomes, control capacity and cost. Incidents revise tests and control rules.</a:t>
            </a:r>
          </a:p>
        </p:txBody>
      </p:sp>
      <p:sp>
        <p:nvSpPr>
          <p:cNvPr id="28" name="">
            <a:extLst xmlns:a="http://schemas.openxmlformats.org/drawingml/2006/main">
              <a:ext uri="{FF2B5EF4-FFF2-40B4-BE49-F238E27FC236}">
                <a16:creationId xmlns:a16="http://schemas.microsoft.com/office/drawing/2014/main" id="{AB9AA1B7-AD59-4B2D-B80B-34782537578F}"/>
              </a:ext>
            </a:extLst>
          </p:cNvPr>
          <p:cNvSpPr>
            <a:spLocks xmlns:a="http://schemas.openxmlformats.org/drawingml/2006/main" noGrp="1"/>
          </p:cNvSpPr>
          <p:nvPr/>
        </p:nvSpPr>
        <p:spPr>
          <a:xfrm xmlns:a="http://schemas.openxmlformats.org/drawingml/2006/main">
            <a:off x="609600" y="6410325"/>
            <a:ext cx="10648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The learning cycle continues after release. The team remains accountable.</a:t>
            </a:r>
          </a:p>
        </p:txBody>
      </p:sp>
    </p:spTree>
    <p:extLst>
      <p:ext uri="{BB962C8B-B14F-4D97-AF65-F5344CB8AC3E}">
        <p14:creationId xmlns:p14="http://schemas.microsoft.com/office/powerpoint/2010/main" val="17052608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2026-09-22T11:53:25.8390000Z</dcterms:created>
  <dcterms:modified xsi:type="dcterms:W3CDTF">2026-09-22T11:53:25.8390000Z</dcterms:modified>
</coreProperties>
</file>