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fntdata" ContentType="application/x-fontdata"/>
</Types>
</file>

<file path=_rels/.rels>&#65279;<?xml version="1.0" encoding="utf-8"?><Relationships xmlns="http://schemas.openxmlformats.org/package/2006/relationships"><Relationship Type="http://schemas.openxmlformats.org/package/2006/relationships/metadata/core-properties" Target="/docProps/core.xml" Id="R8613157652c74f09" /><Relationship Type="http://schemas.openxmlformats.org/officeDocument/2006/relationships/extended-properties" Target="/docProps/app.xml" Id="R2db8d06363fb4c23" /><Relationship Type="http://schemas.openxmlformats.org/officeDocument/2006/relationships/officeDocument" Target="/ppt/presentation.xml" Id="R4a9ecc1132c64fa1" /></Relationships>
</file>

<file path=ppt/presentation.xml><?xml version="1.0" encoding="utf-8"?>
<p:presentation xmlns:p="http://schemas.openxmlformats.org/presentationml/2006/main" xmlns:r="http://schemas.openxmlformats.org/officeDocument/2006/relationships" embedTrueTypeFonts="1" saveSubsetFonts="0">
  <p:sldMasterIdLst>
    <p:sldMasterId id="2147483648" r:id="R3eef2fa9813446d4"/>
  </p:sldMasterIdLst>
  <p:notesMasterIdLst>
    <p:notesMasterId r:id="R7ba17766cd4140e1"/>
  </p:notesMasterIdLst>
  <p:sldIdLst>
    <p:sldId id="256" r:id="R1fc5ceff0d214e9f"/>
    <p:sldId id="257" r:id="R4f26e664c9f642fe"/>
    <p:sldId id="258" r:id="R752e4a5b00d94569"/>
    <p:sldId id="259" r:id="Raf33ad7148034d5f"/>
    <p:sldId id="260" r:id="R1061c5a404704fa7"/>
    <p:sldId id="261" r:id="Rceb1ebe6c70845d9"/>
    <p:sldId id="262" r:id="Rdb0539ebbce346b6"/>
    <p:sldId id="263" r:id="R632700a7e1794bff"/>
    <p:sldId id="264" r:id="Rc89757a79a0f4424"/>
    <p:sldId id="265" r:id="R6e9d3855611c4e1f"/>
    <p:sldId id="266" r:id="Rba6c127794da48c4"/>
    <p:sldId id="267" r:id="R754bfb2a41574caf"/>
    <p:sldId id="268" r:id="Re40d839d12f54637"/>
    <p:sldId id="269" r:id="R7f07d1b462f84a01"/>
  </p:sldIdLst>
  <p:sldSz cx="12192000" cy="6858000"/>
  <p:notesSz cx="6858000" cy="9144000"/>
  <p:embeddedFontLst>
    <p:embeddedFont>
      <p:font typeface="Roboto"/>
      <p:regular r:id="rIdRobotoRegular"/>
      <p:bold r:id="rIdRobotoBold"/>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Relationships xmlns="http://schemas.openxmlformats.org/package/2006/relationships"><Relationship Type="http://schemas.openxmlformats.org/officeDocument/2006/relationships/theme" Target="/ppt/theme/theme1.xml" Id="R6a45489302f040bf" /><Relationship Type="http://schemas.openxmlformats.org/officeDocument/2006/relationships/slideMaster" Target="/ppt/slideMasters/slideMaster1.xml" Id="R3eef2fa9813446d4" /><Relationship Type="http://schemas.openxmlformats.org/officeDocument/2006/relationships/notesMaster" Target="/ppt/notesMasters/notesMaster1.xml" Id="R7ba17766cd4140e1" /><Relationship Type="http://schemas.openxmlformats.org/officeDocument/2006/relationships/presProps" Target="/ppt/presProps.xml" Id="R04bc4fc825844acd" /><Relationship Type="http://schemas.openxmlformats.org/officeDocument/2006/relationships/tableStyles" Target="/ppt/tableStyles.xml" Id="Re02763688a88436a" /><Relationship Type="http://schemas.openxmlformats.org/officeDocument/2006/relationships/slide" Target="/ppt/slides/slide1.xml" Id="R1fc5ceff0d214e9f" /><Relationship Type="http://schemas.openxmlformats.org/officeDocument/2006/relationships/slide" Target="/ppt/slides/slide2.xml" Id="R4f26e664c9f642fe" /><Relationship Type="http://schemas.openxmlformats.org/officeDocument/2006/relationships/slide" Target="/ppt/slides/slide3.xml" Id="R752e4a5b00d94569" /><Relationship Type="http://schemas.openxmlformats.org/officeDocument/2006/relationships/slide" Target="/ppt/slides/slide4.xml" Id="Raf33ad7148034d5f" /><Relationship Type="http://schemas.openxmlformats.org/officeDocument/2006/relationships/slide" Target="/ppt/slides/slide5.xml" Id="R1061c5a404704fa7" /><Relationship Type="http://schemas.openxmlformats.org/officeDocument/2006/relationships/slide" Target="/ppt/slides/slide6.xml" Id="Rceb1ebe6c70845d9" /><Relationship Type="http://schemas.openxmlformats.org/officeDocument/2006/relationships/slide" Target="/ppt/slides/slide7.xml" Id="Rdb0539ebbce346b6" /><Relationship Type="http://schemas.openxmlformats.org/officeDocument/2006/relationships/slide" Target="/ppt/slides/slide8.xml" Id="R632700a7e1794bff" /><Relationship Type="http://schemas.openxmlformats.org/officeDocument/2006/relationships/slide" Target="/ppt/slides/slide9.xml" Id="Rc89757a79a0f4424" /><Relationship Type="http://schemas.openxmlformats.org/officeDocument/2006/relationships/slide" Target="/ppt/slides/slide10.xml" Id="R6e9d3855611c4e1f" /><Relationship Type="http://schemas.openxmlformats.org/officeDocument/2006/relationships/slide" Target="/ppt/slides/slide11.xml" Id="Rba6c127794da48c4" /><Relationship Type="http://schemas.openxmlformats.org/officeDocument/2006/relationships/slide" Target="/ppt/slides/slide12.xml" Id="R754bfb2a41574caf" /><Relationship Type="http://schemas.openxmlformats.org/officeDocument/2006/relationships/slide" Target="/ppt/slides/slide13.xml" Id="Re40d839d12f54637" /><Relationship Type="http://schemas.openxmlformats.org/officeDocument/2006/relationships/slide" Target="/ppt/slides/slide14.xml" Id="R7f07d1b462f84a01" /><Relationship Id="rIdRobotoRegular" Type="http://schemas.openxmlformats.org/officeDocument/2006/relationships/font" Target="fonts/Roboto-Regular.fntdata" /><Relationship Id="rIdRobotoBold" Type="http://schemas.openxmlformats.org/officeDocument/2006/relationships/font" Target="fonts/Roboto-Bold.fntdat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7cbe57ac75c40d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b84184f147d4f66" /><Relationship Type="http://schemas.openxmlformats.org/officeDocument/2006/relationships/notesMaster" Target="/ppt/notesMasters/notesMaster1.xml" Id="R28a9fdebf1a64dd1" /></Relationships>
</file>

<file path=ppt/notesSlides/_rels/notesSlide2.xml.rels>&#65279;<?xml version="1.0" encoding="utf-8"?><Relationships xmlns="http://schemas.openxmlformats.org/package/2006/relationships"><Relationship Type="http://schemas.openxmlformats.org/officeDocument/2006/relationships/slide" Target="/ppt/slides/slide2.xml" Id="R416ab2ce723c4ae2" /><Relationship Type="http://schemas.openxmlformats.org/officeDocument/2006/relationships/notesMaster" Target="/ppt/notesMasters/notesMaster1.xml" Id="R472b7ab7a86e40c5" /></Relationships>
</file>

<file path=ppt/notesSlides/_rels/notesSlide3.xml.rels>&#65279;<?xml version="1.0" encoding="utf-8"?><Relationships xmlns="http://schemas.openxmlformats.org/package/2006/relationships"><Relationship Type="http://schemas.openxmlformats.org/officeDocument/2006/relationships/slide" Target="/ppt/slides/slide3.xml" Id="R5c78b6e5a72b42c4" /><Relationship Type="http://schemas.openxmlformats.org/officeDocument/2006/relationships/notesMaster" Target="/ppt/notesMasters/notesMaster1.xml" Id="R74ee69cfc53a410c"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76ad5880f04d0b" /><Relationship Type="http://schemas.openxmlformats.org/officeDocument/2006/relationships/notesMaster" Target="/ppt/notesMasters/notesMaster1.xml" Id="R7727ea0c87db4f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d9791a2d6f473c" /><Relationship Type="http://schemas.openxmlformats.org/officeDocument/2006/relationships/notesMaster" Target="/ppt/notesMasters/notesMaster1.xml" Id="R6393019bb3f4452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14c54c08b644b3a" /><Relationship Type="http://schemas.openxmlformats.org/officeDocument/2006/relationships/notesMaster" Target="/ppt/notesMasters/notesMaster1.xml" Id="R8022b25b7843458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dc8b9e047f4e02" /><Relationship Type="http://schemas.openxmlformats.org/officeDocument/2006/relationships/notesMaster" Target="/ppt/notesMasters/notesMaster1.xml" Id="Rc1c3c994324745e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717129c5c6743f5" /><Relationship Type="http://schemas.openxmlformats.org/officeDocument/2006/relationships/notesMaster" Target="/ppt/notesMasters/notesMaster1.xml" Id="Ra93695e0837c4d05" /></Relationships>
</file>

<file path=ppt/notesSlides/_rels/notesSlide9.xml.rels>&#65279;<?xml version="1.0" encoding="utf-8"?><Relationships xmlns="http://schemas.openxmlformats.org/package/2006/relationships"><Relationship Type="http://schemas.openxmlformats.org/officeDocument/2006/relationships/slide" Target="/ppt/slides/slide9.xml" Id="Rdd9da61f376249d1" /><Relationship Type="http://schemas.openxmlformats.org/officeDocument/2006/relationships/notesMaster" Target="/ppt/notesMasters/notesMaster1.xml" Id="R01ce48a9c3f7471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fdb62e38777496c" /><Relationship Type="http://schemas.openxmlformats.org/officeDocument/2006/relationships/notesMaster" Target="/ppt/notesMasters/notesMaster1.xml" Id="Red67cea69ca3454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af6a90d872441d1" /><Relationship Type="http://schemas.openxmlformats.org/officeDocument/2006/relationships/notesMaster" Target="/ppt/notesMasters/notesMaster1.xml" Id="R756d9ff59918450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f235d6b130e4571" /><Relationship Type="http://schemas.openxmlformats.org/officeDocument/2006/relationships/notesMaster" Target="/ppt/notesMasters/notesMaster1.xml" Id="R486327d697dc41b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86ae81076de41c3" /><Relationship Type="http://schemas.openxmlformats.org/officeDocument/2006/relationships/notesMaster" Target="/ppt/notesMasters/notesMaster1.xml" Id="R60f78e457609401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e10007bb3eb4c39" /><Relationship Type="http://schemas.openxmlformats.org/officeDocument/2006/relationships/notesMaster" Target="/ppt/notesMasters/notesMaster1.xml" Id="R3e757304c12945d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495052e03034d6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bd25c8422b64219" /><Relationship Type="http://schemas.openxmlformats.org/officeDocument/2006/relationships/slideLayout" Target="/ppt/slideLayouts/slideLayout1.xml" Id="Rc82c131ec7d847d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82c131ec7d847d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b35857cbd4d439a" /><Relationship Type="http://schemas.openxmlformats.org/officeDocument/2006/relationships/image" Target="/ppt/media/image.png" Id="R38f83b0b59fa4090" /><Relationship Type="http://schemas.openxmlformats.org/officeDocument/2006/relationships/notesSlide" Target="/ppt/notesSlides/notesSlide1.xml" Id="Rbcdf584674064a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457008ea79a477c" /><Relationship Type="http://schemas.openxmlformats.org/officeDocument/2006/relationships/notesSlide" Target="/ppt/notesSlides/notesSlide2.xml" Id="R72f200b2a56145b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21f50102b704cad" /><Relationship Type="http://schemas.openxmlformats.org/officeDocument/2006/relationships/notesSlide" Target="/ppt/notesSlides/notesSlide3.xml" Id="R8d8e991b31f74a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61bbffee6024498" /><Relationship Type="http://schemas.openxmlformats.org/officeDocument/2006/relationships/notesSlide" Target="/ppt/notesSlides/notesSlide4.xml" Id="R9349178eaf30415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b3b7728aa46484a" /><Relationship Type="http://schemas.openxmlformats.org/officeDocument/2006/relationships/notesSlide" Target="/ppt/notesSlides/notesSlide5.xml" Id="Ra0ad13fd2b60440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610dc5035ef4c6a" /><Relationship Type="http://schemas.openxmlformats.org/officeDocument/2006/relationships/notesSlide" Target="/ppt/notesSlides/notesSlide6.xml" Id="R0ac37c188186444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241c3874d324129" /><Relationship Type="http://schemas.openxmlformats.org/officeDocument/2006/relationships/notesSlide" Target="/ppt/notesSlides/notesSlide7.xml" Id="R40be0afed99f41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891b369d9fc4b61" /><Relationship Type="http://schemas.openxmlformats.org/officeDocument/2006/relationships/notesSlide" Target="/ppt/notesSlides/notesSlide8.xml" Id="Rdd30d88ecd634fd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6b84e5ac54a4a2a" /><Relationship Type="http://schemas.openxmlformats.org/officeDocument/2006/relationships/notesSlide" Target="/ppt/notesSlides/notesSlide9.xml" Id="Rd3396109ec69438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f86ea8d59c14417" /><Relationship Type="http://schemas.openxmlformats.org/officeDocument/2006/relationships/notesSlide" Target="/ppt/notesSlides/notesSlide10.xml" Id="R4a2bb1f7817d4ee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8b097fed4e64d73" /><Relationship Type="http://schemas.openxmlformats.org/officeDocument/2006/relationships/notesSlide" Target="/ppt/notesSlides/notesSlide11.xml" Id="R713a51607d154d2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b99e3f74b2d42cd" /><Relationship Type="http://schemas.openxmlformats.org/officeDocument/2006/relationships/notesSlide" Target="/ppt/notesSlides/notesSlide12.xml" Id="R9681038f3dcc4c5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5aefe464c884cdd" /><Relationship Type="http://schemas.openxmlformats.org/officeDocument/2006/relationships/notesSlide" Target="/ppt/notesSlides/notesSlide13.xml" Id="Rca7a5ad4ce284e5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66aa2caa08e4cc5" /><Relationship Type="http://schemas.openxmlformats.org/officeDocument/2006/relationships/notesSlide" Target="/ppt/notesSlides/notesSlide14.xml" Id="Ra90d64d6042e403a" /></Relationships>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72148C6-3476-4160-8601-A5F5F1488A2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01</a:t>
            </a:r>
          </a:p>
        </p:txBody>
      </p:sp>
      <p:sp>
        <p:nvSpPr>
          <p:cNvPr id="2" name="">
            <a:extLst xmlns:a="http://schemas.openxmlformats.org/drawingml/2006/main">
              <a:ext uri="{FF2B5EF4-FFF2-40B4-BE49-F238E27FC236}">
                <a16:creationId xmlns:a16="http://schemas.microsoft.com/office/drawing/2014/main" id="{3E73AE06-830B-432F-84D6-194943879B39}"/>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Roboto"/>
                <a:ea typeface="Roboto"/>
                <a:cs typeface="Roboto"/>
              </a:defRPr>
            </a:pPr>
            <a:r>
              <a:rPr sz="3450" b="1">
                <a:solidFill>
                  <a:srgbClr val="F4F7FA"/>
                </a:solidFill>
                <a:latin typeface="Roboto"/>
                <a:ea typeface="Roboto"/>
                <a:cs typeface="Roboto"/>
              </a:rPr>
              <a:t>AI Changes Both Sides</a:t>
            </a:r>
          </a:p>
          <a:p xmlns:a="http://schemas.openxmlformats.org/drawingml/2006/main">
            <a:pPr algn="l">
              <a:defRPr sz="3450" b="1">
                <a:solidFill>
                  <a:srgbClr val="F4F7FA"/>
                </a:solidFill>
                <a:latin typeface="Roboto"/>
                <a:ea typeface="Roboto"/>
                <a:cs typeface="Roboto"/>
              </a:defRPr>
            </a:pPr>
            <a:r>
              <a:rPr sz="3450" b="1">
                <a:solidFill>
                  <a:srgbClr val="F4F7FA"/>
                </a:solidFill>
                <a:latin typeface="Roboto"/>
                <a:ea typeface="Roboto"/>
                <a:cs typeface="Roboto"/>
              </a:rPr>
              <a:t>of Software Engineering</a:t>
            </a:r>
          </a:p>
        </p:txBody>
      </p:sp>
      <p:sp>
        <p:nvSpPr>
          <p:cNvPr id="3" name="">
            <a:extLst xmlns:a="http://schemas.openxmlformats.org/drawingml/2006/main">
              <a:ext uri="{FF2B5EF4-FFF2-40B4-BE49-F238E27FC236}">
                <a16:creationId xmlns:a16="http://schemas.microsoft.com/office/drawing/2014/main" id="{891C1594-7CB4-46C5-9063-BA95B043C7CA}"/>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Roboto"/>
                <a:ea typeface="Roboto"/>
                <a:cs typeface="Roboto"/>
              </a:defRPr>
            </a:pPr>
            <a:r>
              <a:rPr sz="2025" b="0">
                <a:solidFill>
                  <a:srgbClr val="ADB8C5"/>
                </a:solidFill>
                <a:latin typeface="Roboto"/>
                <a:ea typeface="Roboto"/>
                <a:cs typeface="Roboto"/>
              </a:rPr>
              <a:t>How we build software. And what software is.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8f83b0b59fa4090"/>
          <a:stretch xmlns:a="http://schemas.openxmlformats.org/drawingml/2006/main"/>
        </p:blipFill>
        <p:spPr>
          <a:xfrm xmlns:a="http://schemas.openxmlformats.org/drawingml/2006/main">
            <a:off x="914400" y="2201863"/>
            <a:ext cx="10363200" cy="3454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8F30661-B0F8-4F95-9E60-7B7C8E49BB7B}"/>
              </a:ext>
            </a:extLst>
          </p:cNvPr>
          <p:cNvSpPr>
            <a:spLocks xmlns:a="http://schemas.openxmlformats.org/drawingml/2006/main" noGrp="1"/>
          </p:cNvSpPr>
          <p:nvPr/>
        </p:nvSpPr>
        <p:spPr>
          <a:xfrm xmlns:a="http://schemas.openxmlformats.org/drawingml/2006/main">
            <a:off x="9144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HOW WE BUILD</a:t>
            </a:r>
          </a:p>
        </p:txBody>
      </p:sp>
      <p:sp>
        <p:nvSpPr>
          <p:cNvPr id="6" name="">
            <a:extLst xmlns:a="http://schemas.openxmlformats.org/drawingml/2006/main">
              <a:ext uri="{FF2B5EF4-FFF2-40B4-BE49-F238E27FC236}">
                <a16:creationId xmlns:a16="http://schemas.microsoft.com/office/drawing/2014/main" id="{9747F3D7-2630-4DE1-8307-31A7587082C7}"/>
              </a:ext>
            </a:extLst>
          </p:cNvPr>
          <p:cNvSpPr>
            <a:spLocks xmlns:a="http://schemas.openxmlformats.org/drawingml/2006/main" noGrp="1"/>
          </p:cNvSpPr>
          <p:nvPr/>
        </p:nvSpPr>
        <p:spPr>
          <a:xfrm xmlns:a="http://schemas.openxmlformats.org/drawingml/2006/main">
            <a:off x="9144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AI helps a developer write software.</a:t>
            </a:r>
          </a:p>
        </p:txBody>
      </p:sp>
      <p:sp>
        <p:nvSpPr>
          <p:cNvPr id="7" name="">
            <a:extLst xmlns:a="http://schemas.openxmlformats.org/drawingml/2006/main">
              <a:ext uri="{FF2B5EF4-FFF2-40B4-BE49-F238E27FC236}">
                <a16:creationId xmlns:a16="http://schemas.microsoft.com/office/drawing/2014/main" id="{0F37A60C-89D8-4063-936D-4DACCE10978D}"/>
              </a:ext>
            </a:extLst>
          </p:cNvPr>
          <p:cNvSpPr>
            <a:spLocks xmlns:a="http://schemas.openxmlformats.org/drawingml/2006/main" noGrp="1"/>
          </p:cNvSpPr>
          <p:nvPr/>
        </p:nvSpPr>
        <p:spPr>
          <a:xfrm xmlns:a="http://schemas.openxmlformats.org/drawingml/2006/main">
            <a:off x="64770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Roboto"/>
                <a:ea typeface="Roboto"/>
                <a:cs typeface="Roboto"/>
              </a:defRPr>
            </a:pPr>
            <a:r>
              <a:rPr sz="1650" b="1">
                <a:solidFill>
                  <a:srgbClr val="F5B61C"/>
                </a:solidFill>
                <a:latin typeface="Roboto"/>
                <a:ea typeface="Roboto"/>
                <a:cs typeface="Roboto"/>
              </a:rPr>
              <a:t>WHAT WE BUILD</a:t>
            </a:r>
          </a:p>
        </p:txBody>
      </p:sp>
      <p:sp>
        <p:nvSpPr>
          <p:cNvPr id="8" name="">
            <a:extLst xmlns:a="http://schemas.openxmlformats.org/drawingml/2006/main">
              <a:ext uri="{FF2B5EF4-FFF2-40B4-BE49-F238E27FC236}">
                <a16:creationId xmlns:a16="http://schemas.microsoft.com/office/drawing/2014/main" id="{4DABE831-9040-4B88-86DA-C1357DE1D9A3}"/>
              </a:ext>
            </a:extLst>
          </p:cNvPr>
          <p:cNvSpPr>
            <a:spLocks xmlns:a="http://schemas.openxmlformats.org/drawingml/2006/main" noGrp="1"/>
          </p:cNvSpPr>
          <p:nvPr/>
        </p:nvSpPr>
        <p:spPr>
          <a:xfrm xmlns:a="http://schemas.openxmlformats.org/drawingml/2006/main">
            <a:off x="64770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AI interprets a user’s request at runtime.</a:t>
            </a:r>
          </a:p>
        </p:txBody>
      </p:sp>
      <p:sp>
        <p:nvSpPr>
          <p:cNvPr id="9" name="">
            <a:extLst xmlns:a="http://schemas.openxmlformats.org/drawingml/2006/main">
              <a:ext uri="{FF2B5EF4-FFF2-40B4-BE49-F238E27FC236}">
                <a16:creationId xmlns:a16="http://schemas.microsoft.com/office/drawing/2014/main" id="{D8EE4586-9677-4E9F-9464-932AD21D0094}"/>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Vitalii Oborskyi · PMDay</a:t>
            </a:r>
          </a:p>
        </p:txBody>
      </p:sp>
    </p:spTree>
    <p:extLst>
      <p:ext uri="{BB962C8B-B14F-4D97-AF65-F5344CB8AC3E}">
        <p14:creationId xmlns:p14="http://schemas.microsoft.com/office/powerpoint/2010/main" val="12729308"/>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346B379-8CB4-4ACC-94BC-49C4D3E38CA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This Is a Real Phase Transition</a:t>
            </a:r>
          </a:p>
        </p:txBody>
      </p:sp>
      <p:sp>
        <p:nvSpPr>
          <p:cNvPr id="2" name="">
            <a:extLst xmlns:a="http://schemas.openxmlformats.org/drawingml/2006/main">
              <a:ext uri="{FF2B5EF4-FFF2-40B4-BE49-F238E27FC236}">
                <a16:creationId xmlns:a16="http://schemas.microsoft.com/office/drawing/2014/main" id="{8A5691D1-FF79-42B6-9E50-450F3E22F3A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69D3A62-5B5E-4357-BFAC-8D510252FF4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02</a:t>
            </a:r>
          </a:p>
        </p:txBody>
      </p:sp>
      <p:sp>
        <p:nvSpPr>
          <p:cNvPr id="4" name="">
            <a:extLst xmlns:a="http://schemas.openxmlformats.org/drawingml/2006/main">
              <a:ext uri="{FF2B5EF4-FFF2-40B4-BE49-F238E27FC236}">
                <a16:creationId xmlns:a16="http://schemas.microsoft.com/office/drawing/2014/main" id="{C745BBD3-7BA9-44E3-B236-C98C5EEDBFD8}"/>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4D697BA5-E389-4224-9BA8-7B059E005AB5}"/>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Writing</a:t>
            </a:r>
          </a:p>
        </p:txBody>
      </p:sp>
      <p:sp>
        <p:nvSpPr>
          <p:cNvPr id="6" name="">
            <a:extLst xmlns:a="http://schemas.openxmlformats.org/drawingml/2006/main">
              <a:ext uri="{FF2B5EF4-FFF2-40B4-BE49-F238E27FC236}">
                <a16:creationId xmlns:a16="http://schemas.microsoft.com/office/drawing/2014/main" id="{1550E23A-9C19-43F6-A3CA-0B357C17B697}"/>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Externalized</a:t>
            </a:r>
          </a:p>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Memory</a:t>
            </a:r>
          </a:p>
        </p:txBody>
      </p:sp>
      <p:sp>
        <p:nvSpPr>
          <p:cNvPr id="7" name="">
            <a:extLst xmlns:a="http://schemas.openxmlformats.org/drawingml/2006/main">
              <a:ext uri="{FF2B5EF4-FFF2-40B4-BE49-F238E27FC236}">
                <a16:creationId xmlns:a16="http://schemas.microsoft.com/office/drawing/2014/main" id="{CEF7BFAE-E81F-4733-84AE-7B6C6D7C7141}"/>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Records we</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can retrieve</a:t>
            </a:r>
          </a:p>
        </p:txBody>
      </p:sp>
      <p:sp>
        <p:nvSpPr>
          <p:cNvPr id="8" name="">
            <a:extLst xmlns:a="http://schemas.openxmlformats.org/drawingml/2006/main">
              <a:ext uri="{FF2B5EF4-FFF2-40B4-BE49-F238E27FC236}">
                <a16:creationId xmlns:a16="http://schemas.microsoft.com/office/drawing/2014/main" id="{F7900C3D-6DF7-4B61-82E1-218BB26C4721}"/>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12CAEC9E-04BC-41D9-8F5D-CA0CDCE7049B}"/>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Computers</a:t>
            </a:r>
          </a:p>
        </p:txBody>
      </p:sp>
      <p:sp>
        <p:nvSpPr>
          <p:cNvPr id="10" name="">
            <a:extLst xmlns:a="http://schemas.openxmlformats.org/drawingml/2006/main">
              <a:ext uri="{FF2B5EF4-FFF2-40B4-BE49-F238E27FC236}">
                <a16:creationId xmlns:a16="http://schemas.microsoft.com/office/drawing/2014/main" id="{4CC12AEB-0E8F-46D4-A9DB-2827B1F40D8F}"/>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Externalized</a:t>
            </a:r>
          </a:p>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Calculation</a:t>
            </a:r>
          </a:p>
        </p:txBody>
      </p:sp>
      <p:sp>
        <p:nvSpPr>
          <p:cNvPr id="11" name="">
            <a:extLst xmlns:a="http://schemas.openxmlformats.org/drawingml/2006/main">
              <a:ext uri="{FF2B5EF4-FFF2-40B4-BE49-F238E27FC236}">
                <a16:creationId xmlns:a16="http://schemas.microsoft.com/office/drawing/2014/main" id="{1CEC04F6-F007-4BE3-9772-44460D364C09}"/>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Rules we</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explicitly encode</a:t>
            </a:r>
          </a:p>
        </p:txBody>
      </p:sp>
      <p:sp>
        <p:nvSpPr>
          <p:cNvPr id="12" name="">
            <a:extLst xmlns:a="http://schemas.openxmlformats.org/drawingml/2006/main">
              <a:ext uri="{FF2B5EF4-FFF2-40B4-BE49-F238E27FC236}">
                <a16:creationId xmlns:a16="http://schemas.microsoft.com/office/drawing/2014/main" id="{6E972538-7E8B-4380-AF06-A4B8709B8DAC}"/>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F9BC968B-F0CA-4A75-AC82-EE4B20646B6B}"/>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Large Models</a:t>
            </a:r>
          </a:p>
        </p:txBody>
      </p:sp>
      <p:sp>
        <p:nvSpPr>
          <p:cNvPr id="14" name="">
            <a:extLst xmlns:a="http://schemas.openxmlformats.org/drawingml/2006/main">
              <a:ext uri="{FF2B5EF4-FFF2-40B4-BE49-F238E27FC236}">
                <a16:creationId xmlns:a16="http://schemas.microsoft.com/office/drawing/2014/main" id="{995157D7-7F79-43EB-A8E0-573E26017FB8}"/>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Externalized</a:t>
            </a:r>
          </a:p>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Cognition</a:t>
            </a:r>
          </a:p>
        </p:txBody>
      </p:sp>
      <p:sp>
        <p:nvSpPr>
          <p:cNvPr id="15" name="">
            <a:extLst xmlns:a="http://schemas.openxmlformats.org/drawingml/2006/main">
              <a:ext uri="{FF2B5EF4-FFF2-40B4-BE49-F238E27FC236}">
                <a16:creationId xmlns:a16="http://schemas.microsoft.com/office/drawing/2014/main" id="{4C882D8F-B9C3-492E-9BB3-38AEF40CA8F8}"/>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Judgment shaped</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F1071683-723B-4E8A-92D9-EBD1074DC233}"/>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A81BEFEF-F55F-4A98-8E01-6608A87B4F40}"/>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241D4754-8260-4B84-B4E0-2402BA1184A3}"/>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We design the environment in which behavior is generated at runtime.</a:t>
            </a:r>
          </a:p>
        </p:txBody>
      </p:sp>
    </p:spTree>
    <p:extLst>
      <p:ext uri="{BB962C8B-B14F-4D97-AF65-F5344CB8AC3E}">
        <p14:creationId xmlns:p14="http://schemas.microsoft.com/office/powerpoint/2010/main" val="1930427599"/>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73D9D096-5B94-4C6C-B7C6-E4DC31AED54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We Accelerated a Step. Not the System.</a:t>
            </a:r>
          </a:p>
        </p:txBody>
      </p:sp>
      <p:sp>
        <p:nvSpPr>
          <p:cNvPr id="2" name="">
            <a:extLst xmlns:a="http://schemas.openxmlformats.org/drawingml/2006/main">
              <a:ext uri="{FF2B5EF4-FFF2-40B4-BE49-F238E27FC236}">
                <a16:creationId xmlns:a16="http://schemas.microsoft.com/office/drawing/2014/main" id="{F919A5EE-A81C-4EE2-9B7D-C72C7EA9E1F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A12C945-4340-4B1A-9AB2-C3CF85414C7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03</a:t>
            </a:r>
          </a:p>
        </p:txBody>
      </p:sp>
      <p:sp>
        <p:nvSpPr>
          <p:cNvPr id="4" name="">
            <a:extLst xmlns:a="http://schemas.openxmlformats.org/drawingml/2006/main">
              <a:ext uri="{FF2B5EF4-FFF2-40B4-BE49-F238E27FC236}">
                <a16:creationId xmlns:a16="http://schemas.microsoft.com/office/drawing/2014/main" id="{A78331AC-5AF8-4252-AAF9-96A457B56FA3}"/>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31CAD963-E527-4777-B014-D250A20443C3}"/>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DED22396-0063-4EFE-B8CA-8E3EF13E5D6F}"/>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Intent</a:t>
            </a:r>
          </a:p>
        </p:txBody>
      </p:sp>
      <p:sp>
        <p:nvSpPr>
          <p:cNvPr id="7" name="">
            <a:extLst xmlns:a="http://schemas.openxmlformats.org/drawingml/2006/main">
              <a:ext uri="{FF2B5EF4-FFF2-40B4-BE49-F238E27FC236}">
                <a16:creationId xmlns:a16="http://schemas.microsoft.com/office/drawing/2014/main" id="{6374BDFE-CB86-4BC9-A839-0094C01ADACE}"/>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C078920A-604F-4DA8-B591-D424021841DA}"/>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Design</a:t>
            </a:r>
          </a:p>
        </p:txBody>
      </p:sp>
      <p:sp>
        <p:nvSpPr>
          <p:cNvPr id="9" name="">
            <a:extLst xmlns:a="http://schemas.openxmlformats.org/drawingml/2006/main">
              <a:ext uri="{FF2B5EF4-FFF2-40B4-BE49-F238E27FC236}">
                <a16:creationId xmlns:a16="http://schemas.microsoft.com/office/drawing/2014/main" id="{791CF66B-7F82-43CD-BA63-45A11432F816}"/>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113A7198-80D6-4C9C-9D50-D2B9A2FF4C91}"/>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Code</a:t>
            </a:r>
          </a:p>
        </p:txBody>
      </p:sp>
      <p:sp>
        <p:nvSpPr>
          <p:cNvPr id="11" name="">
            <a:extLst xmlns:a="http://schemas.openxmlformats.org/drawingml/2006/main">
              <a:ext uri="{FF2B5EF4-FFF2-40B4-BE49-F238E27FC236}">
                <a16:creationId xmlns:a16="http://schemas.microsoft.com/office/drawing/2014/main" id="{A09B293B-92ED-48AE-8C02-875F0AADDE9E}"/>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699A4167-C98F-4C8E-B074-7F5E27D22C11}"/>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Review</a:t>
            </a:r>
          </a:p>
        </p:txBody>
      </p:sp>
      <p:sp>
        <p:nvSpPr>
          <p:cNvPr id="13" name="">
            <a:extLst xmlns:a="http://schemas.openxmlformats.org/drawingml/2006/main">
              <a:ext uri="{FF2B5EF4-FFF2-40B4-BE49-F238E27FC236}">
                <a16:creationId xmlns:a16="http://schemas.microsoft.com/office/drawing/2014/main" id="{60107899-62B7-40A4-A5CB-A3B5218F924E}"/>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A1EAF439-40F3-4D86-B11A-01A8D4891C70}"/>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Test</a:t>
            </a:r>
          </a:p>
        </p:txBody>
      </p:sp>
      <p:sp>
        <p:nvSpPr>
          <p:cNvPr id="15" name="">
            <a:extLst xmlns:a="http://schemas.openxmlformats.org/drawingml/2006/main">
              <a:ext uri="{FF2B5EF4-FFF2-40B4-BE49-F238E27FC236}">
                <a16:creationId xmlns:a16="http://schemas.microsoft.com/office/drawing/2014/main" id="{3B72B3CF-12F0-40FC-8579-33E6F4F59FD3}"/>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4F358552-DD74-4259-8C72-DEBE172254D7}"/>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Roboto"/>
                <a:ea typeface="Roboto"/>
                <a:cs typeface="Roboto"/>
              </a:defRPr>
            </a:pPr>
            <a:r>
              <a:rPr sz="1350" b="1">
                <a:solidFill>
                  <a:srgbClr val="F4F7FA"/>
                </a:solidFill>
                <a:latin typeface="Roboto"/>
                <a:ea typeface="Roboto"/>
                <a:cs typeface="Roboto"/>
              </a:rPr>
              <a:t>Integrate</a:t>
            </a:r>
          </a:p>
        </p:txBody>
      </p:sp>
      <p:sp>
        <p:nvSpPr>
          <p:cNvPr id="17" name="">
            <a:extLst xmlns:a="http://schemas.openxmlformats.org/drawingml/2006/main">
              <a:ext uri="{FF2B5EF4-FFF2-40B4-BE49-F238E27FC236}">
                <a16:creationId xmlns:a16="http://schemas.microsoft.com/office/drawing/2014/main" id="{D53A631A-EE69-42B4-A17B-A3CBE5DD5DDB}"/>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7EFC55CA-5CB4-4A1D-85CF-70EFA0621E9D}"/>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Deploy</a:t>
            </a:r>
          </a:p>
        </p:txBody>
      </p:sp>
      <p:sp>
        <p:nvSpPr>
          <p:cNvPr id="19" name="">
            <a:extLst xmlns:a="http://schemas.openxmlformats.org/drawingml/2006/main">
              <a:ext uri="{FF2B5EF4-FFF2-40B4-BE49-F238E27FC236}">
                <a16:creationId xmlns:a16="http://schemas.microsoft.com/office/drawing/2014/main" id="{9DC41D5C-7DA3-44FF-9E62-0EADB8AA9813}"/>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B3DE83EE-5B4B-42AC-8BF4-C551D9570290}"/>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Operate</a:t>
            </a:r>
          </a:p>
        </p:txBody>
      </p:sp>
      <p:sp>
        <p:nvSpPr>
          <p:cNvPr id="21" name="">
            <a:extLst xmlns:a="http://schemas.openxmlformats.org/drawingml/2006/main">
              <a:ext uri="{FF2B5EF4-FFF2-40B4-BE49-F238E27FC236}">
                <a16:creationId xmlns:a16="http://schemas.microsoft.com/office/drawing/2014/main" id="{ACAD783A-D2A5-4772-A6D1-81B769728F62}"/>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65414BEC-01DB-439C-AC5D-A532521427E5}"/>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0857327C-B399-49C0-8B0A-98ABF82F0249}"/>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A9863E98-B601-4391-88DB-922611F9E157}"/>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CC3A1FA8-B60E-4850-981A-1CA91088519F}"/>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87496211-B884-4EB5-8F95-62192BCC1907}"/>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EBC8931C-10D9-408E-AC36-420691EE8730}"/>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72582C46-2C89-4015-963C-6F452801C081}"/>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29" name="">
            <a:extLst xmlns:a="http://schemas.openxmlformats.org/drawingml/2006/main">
              <a:ext uri="{FF2B5EF4-FFF2-40B4-BE49-F238E27FC236}">
                <a16:creationId xmlns:a16="http://schemas.microsoft.com/office/drawing/2014/main" id="{14F5A389-7379-4E76-BB01-25F800FED31F}"/>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0" name="">
            <a:extLst xmlns:a="http://schemas.openxmlformats.org/drawingml/2006/main">
              <a:ext uri="{FF2B5EF4-FFF2-40B4-BE49-F238E27FC236}">
                <a16:creationId xmlns:a16="http://schemas.microsoft.com/office/drawing/2014/main" id="{8F6C50DF-DEF1-478F-87C8-63B6C12BDE59}"/>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1" name="">
            <a:extLst xmlns:a="http://schemas.openxmlformats.org/drawingml/2006/main">
              <a:ext uri="{FF2B5EF4-FFF2-40B4-BE49-F238E27FC236}">
                <a16:creationId xmlns:a16="http://schemas.microsoft.com/office/drawing/2014/main" id="{A3E5347B-44A9-4313-B3BA-D01E10606BD4}"/>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2" name="">
            <a:extLst xmlns:a="http://schemas.openxmlformats.org/drawingml/2006/main">
              <a:ext uri="{FF2B5EF4-FFF2-40B4-BE49-F238E27FC236}">
                <a16:creationId xmlns:a16="http://schemas.microsoft.com/office/drawing/2014/main" id="{293B8AE2-60DF-44AA-8620-5C08E8B105A7}"/>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3" name="">
            <a:extLst xmlns:a="http://schemas.openxmlformats.org/drawingml/2006/main">
              <a:ext uri="{FF2B5EF4-FFF2-40B4-BE49-F238E27FC236}">
                <a16:creationId xmlns:a16="http://schemas.microsoft.com/office/drawing/2014/main" id="{C57EFDC7-54E8-4C67-8E6B-126BD540E752}"/>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4" name="">
            <a:extLst xmlns:a="http://schemas.openxmlformats.org/drawingml/2006/main">
              <a:ext uri="{FF2B5EF4-FFF2-40B4-BE49-F238E27FC236}">
                <a16:creationId xmlns:a16="http://schemas.microsoft.com/office/drawing/2014/main" id="{816856B4-CB84-4DC2-950B-0EB0B9DC3C6D}"/>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5" name="">
            <a:extLst xmlns:a="http://schemas.openxmlformats.org/drawingml/2006/main">
              <a:ext uri="{FF2B5EF4-FFF2-40B4-BE49-F238E27FC236}">
                <a16:creationId xmlns:a16="http://schemas.microsoft.com/office/drawing/2014/main" id="{6B64116F-4644-4382-9785-2074C2961455}"/>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F4F67C78-E645-40F5-9B5B-BBDE8DAD62C2}"/>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Code</a:t>
            </a:r>
          </a:p>
        </p:txBody>
      </p:sp>
      <p:sp>
        <p:nvSpPr>
          <p:cNvPr id="37" name="">
            <a:extLst xmlns:a="http://schemas.openxmlformats.org/drawingml/2006/main">
              <a:ext uri="{FF2B5EF4-FFF2-40B4-BE49-F238E27FC236}">
                <a16:creationId xmlns:a16="http://schemas.microsoft.com/office/drawing/2014/main" id="{3EB8A7C8-672F-4A04-AC37-6E820C2DF453}"/>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Review</a:t>
            </a:r>
          </a:p>
        </p:txBody>
      </p:sp>
      <p:sp>
        <p:nvSpPr>
          <p:cNvPr id="38" name="">
            <a:extLst xmlns:a="http://schemas.openxmlformats.org/drawingml/2006/main">
              <a:ext uri="{FF2B5EF4-FFF2-40B4-BE49-F238E27FC236}">
                <a16:creationId xmlns:a16="http://schemas.microsoft.com/office/drawing/2014/main" id="{5D08C5E9-AA9C-41A6-89C7-19DE15BE85EE}"/>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Integrate</a:t>
            </a:r>
          </a:p>
        </p:txBody>
      </p:sp>
      <p:sp>
        <p:nvSpPr>
          <p:cNvPr id="39" name="">
            <a:extLst xmlns:a="http://schemas.openxmlformats.org/drawingml/2006/main">
              <a:ext uri="{FF2B5EF4-FFF2-40B4-BE49-F238E27FC236}">
                <a16:creationId xmlns:a16="http://schemas.microsoft.com/office/drawing/2014/main" id="{E7806480-F275-43BD-94A4-A6F500363169}"/>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Roboto"/>
                <a:ea typeface="Roboto"/>
                <a:cs typeface="Roboto"/>
              </a:defRPr>
            </a:pPr>
            <a:r>
              <a:rPr sz="1500" b="1">
                <a:solidFill>
                  <a:srgbClr val="ADB8C5"/>
                </a:solidFill>
                <a:latin typeface="Roboto"/>
                <a:ea typeface="Roboto"/>
                <a:cs typeface="Roboto"/>
              </a:rPr>
              <a:t>BACKLOG</a:t>
            </a:r>
          </a:p>
        </p:txBody>
      </p:sp>
      <p:sp>
        <p:nvSpPr>
          <p:cNvPr id="40" name="">
            <a:extLst xmlns:a="http://schemas.openxmlformats.org/drawingml/2006/main">
              <a:ext uri="{FF2B5EF4-FFF2-40B4-BE49-F238E27FC236}">
                <a16:creationId xmlns:a16="http://schemas.microsoft.com/office/drawing/2014/main" id="{3928055F-7B56-4900-9313-4D01FEDA2D0D}"/>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Roboto"/>
                <a:ea typeface="Roboto"/>
                <a:cs typeface="Roboto"/>
              </a:defRPr>
            </a:pPr>
            <a:r>
              <a:rPr sz="1650" b="1">
                <a:solidFill>
                  <a:srgbClr val="ADB8C5"/>
                </a:solidFill>
                <a:latin typeface="Roboto"/>
                <a:ea typeface="Roboto"/>
                <a:cs typeface="Roboto"/>
              </a:rPr>
              <a:t>BEFORE</a:t>
            </a:r>
          </a:p>
        </p:txBody>
      </p:sp>
      <p:sp>
        <p:nvSpPr>
          <p:cNvPr id="41" name="">
            <a:extLst xmlns:a="http://schemas.openxmlformats.org/drawingml/2006/main">
              <a:ext uri="{FF2B5EF4-FFF2-40B4-BE49-F238E27FC236}">
                <a16:creationId xmlns:a16="http://schemas.microsoft.com/office/drawing/2014/main" id="{F443873F-95A8-4E29-BF2C-BCB3D65C13C2}"/>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Balanced flow</a:t>
            </a:r>
          </a:p>
        </p:txBody>
      </p:sp>
      <p:sp>
        <p:nvSpPr>
          <p:cNvPr id="42" name="">
            <a:extLst xmlns:a="http://schemas.openxmlformats.org/drawingml/2006/main">
              <a:ext uri="{FF2B5EF4-FFF2-40B4-BE49-F238E27FC236}">
                <a16:creationId xmlns:a16="http://schemas.microsoft.com/office/drawing/2014/main" id="{530BFEA2-79E6-4A8F-866E-FD8075EB651B}"/>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326A1F29-9F69-425E-9D91-E7FE8A549C3C}"/>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4" name="">
            <a:extLst xmlns:a="http://schemas.openxmlformats.org/drawingml/2006/main">
              <a:ext uri="{FF2B5EF4-FFF2-40B4-BE49-F238E27FC236}">
                <a16:creationId xmlns:a16="http://schemas.microsoft.com/office/drawing/2014/main" id="{4946647A-461A-48D5-A5A1-1C27619CF0C8}"/>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E1B28AA5-4A84-42E9-97BB-A7C8BA089310}"/>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6" name="">
            <a:extLst xmlns:a="http://schemas.openxmlformats.org/drawingml/2006/main">
              <a:ext uri="{FF2B5EF4-FFF2-40B4-BE49-F238E27FC236}">
                <a16:creationId xmlns:a16="http://schemas.microsoft.com/office/drawing/2014/main" id="{CCA145BC-43DE-44A9-970E-CA587750DB8A}"/>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AAFBC8E1-2A28-4D78-B499-3A99217EB600}"/>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8" name="">
            <a:extLst xmlns:a="http://schemas.openxmlformats.org/drawingml/2006/main">
              <a:ext uri="{FF2B5EF4-FFF2-40B4-BE49-F238E27FC236}">
                <a16:creationId xmlns:a16="http://schemas.microsoft.com/office/drawing/2014/main" id="{CA4A95A8-2134-4A04-81C0-81151CF2B25C}"/>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6FFB12F6-79FB-407B-9B36-8EA48DA41A02}"/>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0E9FEEA6-6E0C-45AF-9E19-0CD6A9531115}"/>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Roboto"/>
                <a:ea typeface="Roboto"/>
                <a:cs typeface="Roboto"/>
              </a:defRPr>
            </a:pPr>
            <a:r>
              <a:rPr sz="2925" b="1">
                <a:solidFill>
                  <a:srgbClr val="ADB8C5"/>
                </a:solidFill>
                <a:latin typeface="Roboto"/>
                <a:ea typeface="Roboto"/>
                <a:cs typeface="Roboto"/>
              </a:rPr>
              <a:t>0</a:t>
            </a:r>
          </a:p>
        </p:txBody>
      </p:sp>
      <p:sp>
        <p:nvSpPr>
          <p:cNvPr id="51" name="">
            <a:extLst xmlns:a="http://schemas.openxmlformats.org/drawingml/2006/main">
              <a:ext uri="{FF2B5EF4-FFF2-40B4-BE49-F238E27FC236}">
                <a16:creationId xmlns:a16="http://schemas.microsoft.com/office/drawing/2014/main" id="{A09698C7-B505-4E62-ABDF-214190AFEE8E}"/>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no accumulation</a:t>
            </a:r>
          </a:p>
        </p:txBody>
      </p:sp>
      <p:sp>
        <p:nvSpPr>
          <p:cNvPr id="52" name="">
            <a:extLst xmlns:a="http://schemas.openxmlformats.org/drawingml/2006/main">
              <a:ext uri="{FF2B5EF4-FFF2-40B4-BE49-F238E27FC236}">
                <a16:creationId xmlns:a16="http://schemas.microsoft.com/office/drawing/2014/main" id="{1E001984-425D-4D7E-8729-92E6F7CC2C95}"/>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AFTER AI</a:t>
            </a:r>
          </a:p>
        </p:txBody>
      </p:sp>
      <p:sp>
        <p:nvSpPr>
          <p:cNvPr id="53" name="">
            <a:extLst xmlns:a="http://schemas.openxmlformats.org/drawingml/2006/main">
              <a:ext uri="{FF2B5EF4-FFF2-40B4-BE49-F238E27FC236}">
                <a16:creationId xmlns:a16="http://schemas.microsoft.com/office/drawing/2014/main" id="{E9304899-9EBB-4FA7-98E6-C2B2EDFE9135}"/>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Other stages have</a:t>
            </a:r>
          </a:p>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not sped up</a:t>
            </a:r>
          </a:p>
        </p:txBody>
      </p:sp>
      <p:sp>
        <p:nvSpPr>
          <p:cNvPr id="54" name="">
            <a:extLst xmlns:a="http://schemas.openxmlformats.org/drawingml/2006/main">
              <a:ext uri="{FF2B5EF4-FFF2-40B4-BE49-F238E27FC236}">
                <a16:creationId xmlns:a16="http://schemas.microsoft.com/office/drawing/2014/main" id="{224308DF-C301-4B51-BCB2-B1F2901CF818}"/>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2A01D789-0946-4EC3-961B-B06039D4BA21}"/>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Roboto"/>
                <a:ea typeface="Roboto"/>
                <a:cs typeface="Roboto"/>
              </a:defRPr>
            </a:pPr>
            <a:r>
              <a:rPr sz="2700" b="1">
                <a:solidFill>
                  <a:srgbClr val="28C7F7"/>
                </a:solidFill>
                <a:latin typeface="Roboto"/>
                <a:ea typeface="Roboto"/>
                <a:cs typeface="Roboto"/>
              </a:rPr>
              <a:t>100</a:t>
            </a:r>
          </a:p>
        </p:txBody>
      </p:sp>
      <p:sp>
        <p:nvSpPr>
          <p:cNvPr id="56" name="">
            <a:extLst xmlns:a="http://schemas.openxmlformats.org/drawingml/2006/main">
              <a:ext uri="{FF2B5EF4-FFF2-40B4-BE49-F238E27FC236}">
                <a16:creationId xmlns:a16="http://schemas.microsoft.com/office/drawing/2014/main" id="{1809F3B4-FB22-4625-9210-071F4B957EE4}"/>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8E087A51-0681-4D28-8A12-5A6772107809}"/>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58" name="">
            <a:extLst xmlns:a="http://schemas.openxmlformats.org/drawingml/2006/main">
              <a:ext uri="{FF2B5EF4-FFF2-40B4-BE49-F238E27FC236}">
                <a16:creationId xmlns:a16="http://schemas.microsoft.com/office/drawing/2014/main" id="{E6188E39-B385-4765-968D-430CECBF4194}"/>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4663DCAA-353F-4D9A-8998-6C26C4ED6BA4}"/>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60" name="">
            <a:extLst xmlns:a="http://schemas.openxmlformats.org/drawingml/2006/main">
              <a:ext uri="{FF2B5EF4-FFF2-40B4-BE49-F238E27FC236}">
                <a16:creationId xmlns:a16="http://schemas.microsoft.com/office/drawing/2014/main" id="{DC4B89E6-F71C-477D-92BE-377A0C0C8700}"/>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69847D4D-2D69-4D4C-A552-8CF4D375D356}"/>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5E919E97-D32B-419A-95C2-43B44507C07A}"/>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Roboto"/>
                <a:ea typeface="Roboto"/>
                <a:cs typeface="Roboto"/>
              </a:defRPr>
            </a:pPr>
            <a:r>
              <a:rPr sz="2925" b="1">
                <a:solidFill>
                  <a:srgbClr val="F5B61C"/>
                </a:solidFill>
                <a:latin typeface="Roboto"/>
                <a:ea typeface="Roboto"/>
                <a:cs typeface="Roboto"/>
              </a:rPr>
              <a:t>+92</a:t>
            </a:r>
          </a:p>
        </p:txBody>
      </p:sp>
      <p:sp>
        <p:nvSpPr>
          <p:cNvPr id="63" name="">
            <a:extLst xmlns:a="http://schemas.openxmlformats.org/drawingml/2006/main">
              <a:ext uri="{FF2B5EF4-FFF2-40B4-BE49-F238E27FC236}">
                <a16:creationId xmlns:a16="http://schemas.microsoft.com/office/drawing/2014/main" id="{A199D9F0-1E0B-4CEF-AB1A-99FEC5FDA017}"/>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unfinished / week</a:t>
            </a:r>
          </a:p>
        </p:txBody>
      </p:sp>
      <p:sp>
        <p:nvSpPr>
          <p:cNvPr id="64" name="">
            <a:extLst xmlns:a="http://schemas.openxmlformats.org/drawingml/2006/main">
              <a:ext uri="{FF2B5EF4-FFF2-40B4-BE49-F238E27FC236}">
                <a16:creationId xmlns:a16="http://schemas.microsoft.com/office/drawing/2014/main" id="{7095FE84-9511-4778-A6FF-CBB4409D7BDB}"/>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9EF0FF78-8370-4F85-9714-73FD1020D38E}"/>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THEORY OF CONSTRAINTS</a:t>
            </a:r>
          </a:p>
        </p:txBody>
      </p:sp>
      <p:sp>
        <p:nvSpPr>
          <p:cNvPr id="66" name="">
            <a:extLst xmlns:a="http://schemas.openxmlformats.org/drawingml/2006/main">
              <a:ext uri="{FF2B5EF4-FFF2-40B4-BE49-F238E27FC236}">
                <a16:creationId xmlns:a16="http://schemas.microsoft.com/office/drawing/2014/main" id="{217E178A-123E-4026-8566-E9B0441B1B42}"/>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8EC2A353-6C6E-44A7-A671-A27F77FCD14C}"/>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Roboto"/>
                <a:ea typeface="Roboto"/>
                <a:cs typeface="Roboto"/>
              </a:defRPr>
            </a:pPr>
            <a:r>
              <a:rPr sz="1350" b="0">
                <a:solidFill>
                  <a:srgbClr val="ADB8C5"/>
                </a:solidFill>
                <a:latin typeface="Roboto"/>
                <a:ea typeface="Roboto"/>
                <a:cs typeface="Roboto"/>
              </a:rPr>
              <a:t>Push system: no WIP limit, no discarded work.</a:t>
            </a:r>
          </a:p>
        </p:txBody>
      </p:sp>
    </p:spTree>
    <p:extLst>
      <p:ext uri="{BB962C8B-B14F-4D97-AF65-F5344CB8AC3E}">
        <p14:creationId xmlns:p14="http://schemas.microsoft.com/office/powerpoint/2010/main" val="84199661"/>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359F458A-8BD5-45CF-BEDB-D789432CB35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Evidence Is Already Messy</a:t>
            </a:r>
          </a:p>
        </p:txBody>
      </p:sp>
      <p:sp>
        <p:nvSpPr>
          <p:cNvPr id="2" name="">
            <a:extLst xmlns:a="http://schemas.openxmlformats.org/drawingml/2006/main">
              <a:ext uri="{FF2B5EF4-FFF2-40B4-BE49-F238E27FC236}">
                <a16:creationId xmlns:a16="http://schemas.microsoft.com/office/drawing/2014/main" id="{610BE56E-FFDC-4E1C-AF5F-0FCF8E0A472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750B51E-ADA0-4A14-A44C-A867441D2AB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04</a:t>
            </a:r>
          </a:p>
        </p:txBody>
      </p:sp>
      <p:sp>
        <p:nvSpPr>
          <p:cNvPr id="4" name="">
            <a:extLst xmlns:a="http://schemas.openxmlformats.org/drawingml/2006/main">
              <a:ext uri="{FF2B5EF4-FFF2-40B4-BE49-F238E27FC236}">
                <a16:creationId xmlns:a16="http://schemas.microsoft.com/office/drawing/2014/main" id="{804B2DE0-EB32-4469-B783-A4169C7B1E96}"/>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291418DA-82BC-43D8-877F-9377841C0062}"/>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NBER · SEP 2026 REVISION</a:t>
            </a:r>
          </a:p>
        </p:txBody>
      </p:sp>
      <p:sp>
        <p:nvSpPr>
          <p:cNvPr id="6" name="">
            <a:extLst xmlns:a="http://schemas.openxmlformats.org/drawingml/2006/main">
              <a:ext uri="{FF2B5EF4-FFF2-40B4-BE49-F238E27FC236}">
                <a16:creationId xmlns:a16="http://schemas.microsoft.com/office/drawing/2014/main" id="{C5A140CF-E8A3-4A87-9934-AA3B17E41481}"/>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25.5×</a:t>
            </a:r>
          </a:p>
        </p:txBody>
      </p:sp>
      <p:sp>
        <p:nvSpPr>
          <p:cNvPr id="7" name="">
            <a:extLst xmlns:a="http://schemas.openxmlformats.org/drawingml/2006/main">
              <a:ext uri="{FF2B5EF4-FFF2-40B4-BE49-F238E27FC236}">
                <a16:creationId xmlns:a16="http://schemas.microsoft.com/office/drawing/2014/main" id="{046D8EA0-8304-4435-8634-82366343926E}"/>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changed LOC</a:t>
            </a:r>
          </a:p>
        </p:txBody>
      </p:sp>
      <p:sp>
        <p:nvSpPr>
          <p:cNvPr id="8" name="">
            <a:extLst xmlns:a="http://schemas.openxmlformats.org/drawingml/2006/main">
              <a:ext uri="{FF2B5EF4-FFF2-40B4-BE49-F238E27FC236}">
                <a16:creationId xmlns:a16="http://schemas.microsoft.com/office/drawing/2014/main" id="{08B045DB-F504-4C06-9984-EAEEFEB2008E}"/>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3.4×</a:t>
            </a:r>
          </a:p>
        </p:txBody>
      </p:sp>
      <p:sp>
        <p:nvSpPr>
          <p:cNvPr id="9" name="">
            <a:extLst xmlns:a="http://schemas.openxmlformats.org/drawingml/2006/main">
              <a:ext uri="{FF2B5EF4-FFF2-40B4-BE49-F238E27FC236}">
                <a16:creationId xmlns:a16="http://schemas.microsoft.com/office/drawing/2014/main" id="{C1BF8AF4-DD06-4F45-BED1-A946D8748AEA}"/>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commits</a:t>
            </a:r>
          </a:p>
        </p:txBody>
      </p:sp>
      <p:sp>
        <p:nvSpPr>
          <p:cNvPr id="10" name="">
            <a:extLst xmlns:a="http://schemas.openxmlformats.org/drawingml/2006/main">
              <a:ext uri="{FF2B5EF4-FFF2-40B4-BE49-F238E27FC236}">
                <a16:creationId xmlns:a16="http://schemas.microsoft.com/office/drawing/2014/main" id="{15FAC6B3-7F04-42B8-BBBD-FDDFB8CBC17E}"/>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1.3×</a:t>
            </a:r>
          </a:p>
        </p:txBody>
      </p:sp>
      <p:sp>
        <p:nvSpPr>
          <p:cNvPr id="11" name="">
            <a:extLst xmlns:a="http://schemas.openxmlformats.org/drawingml/2006/main">
              <a:ext uri="{FF2B5EF4-FFF2-40B4-BE49-F238E27FC236}">
                <a16:creationId xmlns:a16="http://schemas.microsoft.com/office/drawing/2014/main" id="{FEE30D8D-8A56-4072-AC4F-9F6EC0377E74}"/>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releases</a:t>
            </a:r>
          </a:p>
        </p:txBody>
      </p:sp>
      <p:sp>
        <p:nvSpPr>
          <p:cNvPr id="12" name="">
            <a:extLst xmlns:a="http://schemas.openxmlformats.org/drawingml/2006/main">
              <a:ext uri="{FF2B5EF4-FFF2-40B4-BE49-F238E27FC236}">
                <a16:creationId xmlns:a16="http://schemas.microsoft.com/office/drawing/2014/main" id="{6E6FE5A7-283B-4677-A77B-D65F7D06D950}"/>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Cumulative across three tool generations</a:t>
            </a:r>
          </a:p>
        </p:txBody>
      </p:sp>
      <p:sp>
        <p:nvSpPr>
          <p:cNvPr id="13" name="">
            <a:extLst xmlns:a="http://schemas.openxmlformats.org/drawingml/2006/main">
              <a:ext uri="{FF2B5EF4-FFF2-40B4-BE49-F238E27FC236}">
                <a16:creationId xmlns:a16="http://schemas.microsoft.com/office/drawing/2014/main" id="{91908112-C093-4858-92FF-C66CB5F999F7}"/>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Fig. 1 rounded; LOC = additions + deletions.</a:t>
            </a:r>
          </a:p>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Async release effect not estimated.</a:t>
            </a:r>
          </a:p>
        </p:txBody>
      </p:sp>
      <p:sp>
        <p:nvSpPr>
          <p:cNvPr id="14" name="">
            <a:extLst xmlns:a="http://schemas.openxmlformats.org/drawingml/2006/main">
              <a:ext uri="{FF2B5EF4-FFF2-40B4-BE49-F238E27FC236}">
                <a16:creationId xmlns:a16="http://schemas.microsoft.com/office/drawing/2014/main" id="{022ED6D9-592B-4580-8E58-E218E8865887}"/>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Roboto"/>
                <a:ea typeface="Roboto"/>
                <a:cs typeface="Roboto"/>
              </a:defRPr>
            </a:pPr>
            <a:r>
              <a:rPr sz="1800" b="1">
                <a:solidFill>
                  <a:srgbClr val="F4F7FA"/>
                </a:solidFill>
                <a:latin typeface="Roboto"/>
                <a:ea typeface="Roboto"/>
                <a:cs typeface="Roboto"/>
              </a:rPr>
              <a:t>More apps. Usage does not</a:t>
            </a:r>
          </a:p>
          <a:p xmlns:a="http://schemas.openxmlformats.org/drawingml/2006/main">
            <a:pPr algn="l">
              <a:defRPr sz="1800" b="1">
                <a:solidFill>
                  <a:srgbClr val="F4F7FA"/>
                </a:solidFill>
                <a:latin typeface="Roboto"/>
                <a:ea typeface="Roboto"/>
                <a:cs typeface="Roboto"/>
              </a:defRPr>
            </a:pPr>
            <a:r>
              <a:rPr sz="1800" b="1">
                <a:solidFill>
                  <a:srgbClr val="F4F7FA"/>
                </a:solidFill>
                <a:latin typeface="Roboto"/>
                <a:ea typeface="Roboto"/>
                <a:cs typeface="Roboto"/>
              </a:rPr>
              <a:t>keep pace with new releases.</a:t>
            </a:r>
          </a:p>
        </p:txBody>
      </p:sp>
      <p:sp>
        <p:nvSpPr>
          <p:cNvPr id="15" name="">
            <a:extLst xmlns:a="http://schemas.openxmlformats.org/drawingml/2006/main">
              <a:ext uri="{FF2B5EF4-FFF2-40B4-BE49-F238E27FC236}">
                <a16:creationId xmlns:a16="http://schemas.microsoft.com/office/drawing/2014/main" id="{DF586DBE-BBAC-421A-BE96-4A80B43CF18B}"/>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iOS: &lt;10 ratings</a:t>
            </a:r>
          </a:p>
        </p:txBody>
      </p:sp>
      <p:sp>
        <p:nvSpPr>
          <p:cNvPr id="16" name="">
            <a:extLst xmlns:a="http://schemas.openxmlformats.org/drawingml/2006/main">
              <a:ext uri="{FF2B5EF4-FFF2-40B4-BE49-F238E27FC236}">
                <a16:creationId xmlns:a16="http://schemas.microsoft.com/office/drawing/2014/main" id="{4D3C56E0-4795-46B1-951E-5D8AA405BAD6}"/>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Roboto"/>
                <a:ea typeface="Roboto"/>
                <a:cs typeface="Roboto"/>
              </a:defRPr>
            </a:pPr>
            <a:r>
              <a:rPr sz="1725" b="1">
                <a:solidFill>
                  <a:srgbClr val="F5B61C"/>
                </a:solidFill>
                <a:latin typeface="Roboto"/>
                <a:ea typeface="Roboto"/>
                <a:cs typeface="Roboto"/>
              </a:rPr>
              <a:t>≈78% → 87%</a:t>
            </a:r>
          </a:p>
        </p:txBody>
      </p:sp>
      <p:sp>
        <p:nvSpPr>
          <p:cNvPr id="17" name="">
            <a:extLst xmlns:a="http://schemas.openxmlformats.org/drawingml/2006/main">
              <a:ext uri="{FF2B5EF4-FFF2-40B4-BE49-F238E27FC236}">
                <a16:creationId xmlns:a16="http://schemas.microsoft.com/office/drawing/2014/main" id="{5C3CD09E-9484-4CD2-83FE-CBA89434F340}"/>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Chrome: &lt;10 downloads</a:t>
            </a:r>
          </a:p>
        </p:txBody>
      </p:sp>
      <p:sp>
        <p:nvSpPr>
          <p:cNvPr id="18" name="">
            <a:extLst xmlns:a="http://schemas.openxmlformats.org/drawingml/2006/main">
              <a:ext uri="{FF2B5EF4-FFF2-40B4-BE49-F238E27FC236}">
                <a16:creationId xmlns:a16="http://schemas.microsoft.com/office/drawing/2014/main" id="{FD762F46-ACAF-454C-A58E-03286F1DB221}"/>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Roboto"/>
                <a:ea typeface="Roboto"/>
                <a:cs typeface="Roboto"/>
              </a:defRPr>
            </a:pPr>
            <a:r>
              <a:rPr sz="1725" b="1">
                <a:solidFill>
                  <a:srgbClr val="F5B61C"/>
                </a:solidFill>
                <a:latin typeface="Roboto"/>
                <a:ea typeface="Roboto"/>
                <a:cs typeface="Roboto"/>
              </a:rPr>
              <a:t>19% → 33%</a:t>
            </a:r>
          </a:p>
        </p:txBody>
      </p:sp>
      <p:sp>
        <p:nvSpPr>
          <p:cNvPr id="19" name="">
            <a:extLst xmlns:a="http://schemas.openxmlformats.org/drawingml/2006/main">
              <a:ext uri="{FF2B5EF4-FFF2-40B4-BE49-F238E27FC236}">
                <a16:creationId xmlns:a16="http://schemas.microsoft.com/office/drawing/2014/main" id="{9B2D5798-494F-46E8-B6C1-724C1286C6A0}"/>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Jan 2025 → Apr 2026; first 3 months.</a:t>
            </a:r>
          </a:p>
        </p:txBody>
      </p:sp>
      <p:sp>
        <p:nvSpPr>
          <p:cNvPr id="20" name="">
            <a:extLst xmlns:a="http://schemas.openxmlformats.org/drawingml/2006/main">
              <a:ext uri="{FF2B5EF4-FFF2-40B4-BE49-F238E27FC236}">
                <a16:creationId xmlns:a16="http://schemas.microsoft.com/office/drawing/2014/main" id="{C45AB308-5EB5-4B0D-9E12-A0A4255DDA33}"/>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DORA · 2025</a:t>
            </a:r>
          </a:p>
        </p:txBody>
      </p:sp>
      <p:sp>
        <p:nvSpPr>
          <p:cNvPr id="21" name="">
            <a:extLst xmlns:a="http://schemas.openxmlformats.org/drawingml/2006/main">
              <a:ext uri="{FF2B5EF4-FFF2-40B4-BE49-F238E27FC236}">
                <a16:creationId xmlns:a16="http://schemas.microsoft.com/office/drawing/2014/main" id="{8841A669-D1DC-468F-A449-2E732F6BCE87}"/>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Roboto"/>
                <a:ea typeface="Roboto"/>
                <a:cs typeface="Roboto"/>
              </a:defRPr>
            </a:pPr>
            <a:r>
              <a:rPr sz="2025" b="1">
                <a:solidFill>
                  <a:srgbClr val="F4F7FA"/>
                </a:solidFill>
                <a:latin typeface="Roboto"/>
                <a:ea typeface="Roboto"/>
                <a:cs typeface="Roboto"/>
              </a:rPr>
              <a:t>Higher throughput</a:t>
            </a:r>
          </a:p>
        </p:txBody>
      </p:sp>
      <p:sp>
        <p:nvSpPr>
          <p:cNvPr id="22" name="">
            <a:extLst xmlns:a="http://schemas.openxmlformats.org/drawingml/2006/main">
              <a:ext uri="{FF2B5EF4-FFF2-40B4-BE49-F238E27FC236}">
                <a16:creationId xmlns:a16="http://schemas.microsoft.com/office/drawing/2014/main" id="{3FC2CF59-B241-4FDC-89DA-AF26767DFDFA}"/>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Lower delivery stability</a:t>
            </a:r>
          </a:p>
        </p:txBody>
      </p:sp>
      <p:sp>
        <p:nvSpPr>
          <p:cNvPr id="23" name="">
            <a:extLst xmlns:a="http://schemas.openxmlformats.org/drawingml/2006/main">
              <a:ext uri="{FF2B5EF4-FFF2-40B4-BE49-F238E27FC236}">
                <a16:creationId xmlns:a16="http://schemas.microsoft.com/office/drawing/2014/main" id="{1AF2E50E-6566-4C8B-9ADB-4AEFEC4A3B6B}"/>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Roboto"/>
                <a:ea typeface="Roboto"/>
                <a:cs typeface="Roboto"/>
              </a:defRPr>
            </a:pPr>
            <a:r>
              <a:rPr sz="1425" b="0">
                <a:solidFill>
                  <a:srgbClr val="F5B61C"/>
                </a:solidFill>
                <a:latin typeface="Roboto"/>
                <a:ea typeface="Roboto"/>
                <a:cs typeface="Roboto"/>
              </a:rPr>
              <a:t>≈ +0.10 SD instability per +1 SD AI adoption</a:t>
            </a:r>
          </a:p>
        </p:txBody>
      </p:sp>
      <p:sp>
        <p:nvSpPr>
          <p:cNvPr id="24" name="">
            <a:extLst xmlns:a="http://schemas.openxmlformats.org/drawingml/2006/main">
              <a:ext uri="{FF2B5EF4-FFF2-40B4-BE49-F238E27FC236}">
                <a16:creationId xmlns:a16="http://schemas.microsoft.com/office/drawing/2014/main" id="{B1E7E3ED-0DCC-4BE3-9300-71AF32ECDDD7}"/>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89% credible interval ≈ +0.07 to +0.13</a:t>
            </a:r>
          </a:p>
        </p:txBody>
      </p:sp>
      <p:sp>
        <p:nvSpPr>
          <p:cNvPr id="25" name="">
            <a:extLst xmlns:a="http://schemas.openxmlformats.org/drawingml/2006/main">
              <a:ext uri="{FF2B5EF4-FFF2-40B4-BE49-F238E27FC236}">
                <a16:creationId xmlns:a16="http://schemas.microsoft.com/office/drawing/2014/main" id="{435962A5-6442-4106-82AB-9259CC6F44BD}"/>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Survey model, rounded reading of Fig. 28.</a:t>
            </a:r>
          </a:p>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SD = standard deviation, not a failure percentage.</a:t>
            </a:r>
          </a:p>
        </p:txBody>
      </p:sp>
      <p:sp>
        <p:nvSpPr>
          <p:cNvPr id="26" name="">
            <a:extLst xmlns:a="http://schemas.openxmlformats.org/drawingml/2006/main">
              <a:ext uri="{FF2B5EF4-FFF2-40B4-BE49-F238E27FC236}">
                <a16:creationId xmlns:a16="http://schemas.microsoft.com/office/drawing/2014/main" id="{B2131EFD-905B-4520-8B30-1650211C4408}"/>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3A9AAA9C-26F3-4AD4-A3DF-6C325EC7A792}"/>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1843D5EC-A218-41B6-B187-A48D3D7492DC}"/>
              </a:ext>
            </a:extLst>
          </p:cNvPr>
          <p:cNvSpPr>
            <a:spLocks xmlns:a="http://schemas.openxmlformats.org/drawingml/2006/main" noGrp="1"/>
          </p:cNvSpPr>
          <p:nvPr/>
        </p:nvSpPr>
        <p:spPr>
          <a:xfrm xmlns:a="http://schemas.openxmlformats.org/drawingml/2006/main">
            <a:off x="5867400" y="42481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GITCLEAR · 2023 → 2026 YTD*</a:t>
            </a:r>
          </a:p>
        </p:txBody>
      </p:sp>
      <p:sp>
        <p:nvSpPr>
          <p:cNvPr id="29" name="">
            <a:extLst xmlns:a="http://schemas.openxmlformats.org/drawingml/2006/main">
              <a:ext uri="{FF2B5EF4-FFF2-40B4-BE49-F238E27FC236}">
                <a16:creationId xmlns:a16="http://schemas.microsoft.com/office/drawing/2014/main" id="{4757FFB1-2F78-4A15-B189-F95DD0115DAD}"/>
              </a:ext>
            </a:extLst>
          </p:cNvPr>
          <p:cNvSpPr>
            <a:spLocks xmlns:a="http://schemas.openxmlformats.org/drawingml/2006/main" noGrp="1"/>
          </p:cNvSpPr>
          <p:nvPr/>
        </p:nvSpPr>
        <p:spPr>
          <a:xfrm xmlns:a="http://schemas.openxmlformats.org/drawingml/2006/main">
            <a:off x="5867400" y="45434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Moved-code share</a:t>
            </a:r>
          </a:p>
        </p:txBody>
      </p:sp>
      <p:sp>
        <p:nvSpPr>
          <p:cNvPr id="30" name="">
            <a:extLst xmlns:a="http://schemas.openxmlformats.org/drawingml/2006/main">
              <a:ext uri="{FF2B5EF4-FFF2-40B4-BE49-F238E27FC236}">
                <a16:creationId xmlns:a16="http://schemas.microsoft.com/office/drawing/2014/main" id="{80384B91-66A2-4A9E-A799-91A01B30EC30}"/>
              </a:ext>
            </a:extLst>
          </p:cNvPr>
          <p:cNvSpPr>
            <a:spLocks xmlns:a="http://schemas.openxmlformats.org/drawingml/2006/main" noGrp="1"/>
          </p:cNvSpPr>
          <p:nvPr/>
        </p:nvSpPr>
        <p:spPr>
          <a:xfrm xmlns:a="http://schemas.openxmlformats.org/drawingml/2006/main">
            <a:off x="9591675" y="45434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Roboto"/>
                <a:ea typeface="Roboto"/>
                <a:cs typeface="Roboto"/>
              </a:defRPr>
            </a:pPr>
            <a:r>
              <a:rPr sz="1800" b="1">
                <a:solidFill>
                  <a:srgbClr val="F4F7FA"/>
                </a:solidFill>
                <a:latin typeface="Roboto"/>
                <a:ea typeface="Roboto"/>
                <a:cs typeface="Roboto"/>
              </a:rPr>
              <a:t>13% → 3.8%</a:t>
            </a:r>
          </a:p>
        </p:txBody>
      </p:sp>
      <p:sp>
        <p:nvSpPr>
          <p:cNvPr id="31" name="">
            <a:extLst xmlns:a="http://schemas.openxmlformats.org/drawingml/2006/main">
              <a:ext uri="{FF2B5EF4-FFF2-40B4-BE49-F238E27FC236}">
                <a16:creationId xmlns:a16="http://schemas.microsoft.com/office/drawing/2014/main" id="{5E3713FF-F14C-41DA-95C4-3408A6F21671}"/>
              </a:ext>
            </a:extLst>
          </p:cNvPr>
          <p:cNvSpPr>
            <a:spLocks xmlns:a="http://schemas.openxmlformats.org/drawingml/2006/main" noGrp="1"/>
          </p:cNvSpPr>
          <p:nvPr/>
        </p:nvSpPr>
        <p:spPr>
          <a:xfrm xmlns:a="http://schemas.openxmlformats.org/drawingml/2006/main">
            <a:off x="5867400" y="48006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Moved / changed lines: −9.2 pp (−70.8%). Refactoring proxy.</a:t>
            </a:r>
          </a:p>
        </p:txBody>
      </p:sp>
      <p:sp>
        <p:nvSpPr>
          <p:cNvPr id="32" name="">
            <a:extLst xmlns:a="http://schemas.openxmlformats.org/drawingml/2006/main">
              <a:ext uri="{FF2B5EF4-FFF2-40B4-BE49-F238E27FC236}">
                <a16:creationId xmlns:a16="http://schemas.microsoft.com/office/drawing/2014/main" id="{997A4BFC-ABE0-4D61-BAC1-728B3399B635}"/>
              </a:ext>
            </a:extLst>
          </p:cNvPr>
          <p:cNvSpPr>
            <a:spLocks xmlns:a="http://schemas.openxmlformats.org/drawingml/2006/main" noGrp="1"/>
          </p:cNvSpPr>
          <p:nvPr/>
        </p:nvSpPr>
        <p:spPr>
          <a:xfrm xmlns:a="http://schemas.openxmlformats.org/drawingml/2006/main">
            <a:off x="5867400" y="50006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Calls / 1k changed lines</a:t>
            </a:r>
          </a:p>
        </p:txBody>
      </p:sp>
      <p:sp>
        <p:nvSpPr>
          <p:cNvPr id="33" name="">
            <a:extLst xmlns:a="http://schemas.openxmlformats.org/drawingml/2006/main">
              <a:ext uri="{FF2B5EF4-FFF2-40B4-BE49-F238E27FC236}">
                <a16:creationId xmlns:a16="http://schemas.microsoft.com/office/drawing/2014/main" id="{2FE382C9-7802-4283-BA67-1A42990F6056}"/>
              </a:ext>
            </a:extLst>
          </p:cNvPr>
          <p:cNvSpPr>
            <a:spLocks xmlns:a="http://schemas.openxmlformats.org/drawingml/2006/main" noGrp="1"/>
          </p:cNvSpPr>
          <p:nvPr/>
        </p:nvSpPr>
        <p:spPr>
          <a:xfrm xmlns:a="http://schemas.openxmlformats.org/drawingml/2006/main">
            <a:off x="9591675" y="50006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Roboto"/>
                <a:ea typeface="Roboto"/>
                <a:cs typeface="Roboto"/>
              </a:defRPr>
            </a:pPr>
            <a:r>
              <a:rPr sz="1800" b="1">
                <a:solidFill>
                  <a:srgbClr val="F4F7FA"/>
                </a:solidFill>
                <a:latin typeface="Roboto"/>
                <a:ea typeface="Roboto"/>
                <a:cs typeface="Roboto"/>
              </a:rPr>
              <a:t>343 → 223</a:t>
            </a:r>
          </a:p>
        </p:txBody>
      </p:sp>
      <p:sp>
        <p:nvSpPr>
          <p:cNvPr id="34" name="">
            <a:extLst xmlns:a="http://schemas.openxmlformats.org/drawingml/2006/main">
              <a:ext uri="{FF2B5EF4-FFF2-40B4-BE49-F238E27FC236}">
                <a16:creationId xmlns:a16="http://schemas.microsoft.com/office/drawing/2014/main" id="{10C9ECFF-3A3F-4ED1-A9DD-1BEA2B08F148}"/>
              </a:ext>
            </a:extLst>
          </p:cNvPr>
          <p:cNvSpPr>
            <a:spLocks xmlns:a="http://schemas.openxmlformats.org/drawingml/2006/main" noGrp="1"/>
          </p:cNvSpPr>
          <p:nvPr/>
        </p:nvSpPr>
        <p:spPr>
          <a:xfrm xmlns:a="http://schemas.openxmlformats.org/drawingml/2006/main">
            <a:off x="5867400" y="52578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Other-function calls: −120 (≈−35%). Connectivity proxy.</a:t>
            </a:r>
          </a:p>
        </p:txBody>
      </p:sp>
      <p:sp>
        <p:nvSpPr>
          <p:cNvPr id="35" name="">
            <a:extLst xmlns:a="http://schemas.openxmlformats.org/drawingml/2006/main">
              <a:ext uri="{FF2B5EF4-FFF2-40B4-BE49-F238E27FC236}">
                <a16:creationId xmlns:a16="http://schemas.microsoft.com/office/drawing/2014/main" id="{9B241B95-EEE5-4123-A927-69174DD143B6}"/>
              </a:ext>
            </a:extLst>
          </p:cNvPr>
          <p:cNvSpPr>
            <a:spLocks xmlns:a="http://schemas.openxmlformats.org/drawingml/2006/main" noGrp="1"/>
          </p:cNvSpPr>
          <p:nvPr/>
        </p:nvSpPr>
        <p:spPr>
          <a:xfrm xmlns:a="http://schemas.openxmlformats.org/drawingml/2006/main">
            <a:off x="5867400" y="54673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Roboto"/>
                <a:ea typeface="Roboto"/>
                <a:cs typeface="Roboto"/>
              </a:defRPr>
            </a:pPr>
            <a:r>
              <a:rPr sz="1425" b="0">
                <a:solidFill>
                  <a:srgbClr val="F4F7FA"/>
                </a:solidFill>
                <a:latin typeface="Roboto"/>
                <a:ea typeface="Roboto"/>
                <a:cs typeface="Roboto"/>
              </a:rPr>
              <a:t>Duplicated blocks ≈+81%   ·   Two-week churn +15%*</a:t>
            </a:r>
          </a:p>
        </p:txBody>
      </p:sp>
      <p:sp>
        <p:nvSpPr>
          <p:cNvPr id="36" name="">
            <a:extLst xmlns:a="http://schemas.openxmlformats.org/drawingml/2006/main">
              <a:ext uri="{FF2B5EF4-FFF2-40B4-BE49-F238E27FC236}">
                <a16:creationId xmlns:a16="http://schemas.microsoft.com/office/drawing/2014/main" id="{1F1C9C64-B3C0-474F-AAA2-678722551CA9}"/>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Roboto"/>
                <a:ea typeface="Roboto"/>
                <a:cs typeface="Roboto"/>
              </a:defRPr>
            </a:pPr>
            <a:r>
              <a:rPr sz="1275" b="0">
                <a:solidFill>
                  <a:srgbClr val="F5B61C"/>
                </a:solidFill>
                <a:latin typeface="Roboto"/>
                <a:ea typeface="Roboto"/>
                <a:cs typeface="Roboto"/>
              </a:rPr>
              <a:t>Less restructuring / reuse? Signals, not a quality verdict.</a:t>
            </a:r>
          </a:p>
        </p:txBody>
      </p:sp>
      <p:sp>
        <p:nvSpPr>
          <p:cNvPr id="37" name="">
            <a:extLst xmlns:a="http://schemas.openxmlformats.org/drawingml/2006/main">
              <a:ext uri="{FF2B5EF4-FFF2-40B4-BE49-F238E27FC236}">
                <a16:creationId xmlns:a16="http://schemas.microsoft.com/office/drawing/2014/main" id="{DD81D68E-DC1E-420E-855B-F7DC4844E3C7}"/>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F53C7179-9E7A-46BC-B571-5242993681D9}"/>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METR · MAY 2026</a:t>
            </a:r>
          </a:p>
        </p:txBody>
      </p:sp>
      <p:sp>
        <p:nvSpPr>
          <p:cNvPr id="39" name="">
            <a:extLst xmlns:a="http://schemas.openxmlformats.org/drawingml/2006/main">
              <a:ext uri="{FF2B5EF4-FFF2-40B4-BE49-F238E27FC236}">
                <a16:creationId xmlns:a16="http://schemas.microsoft.com/office/drawing/2014/main" id="{270D6BD9-0490-4A10-B2B8-6C52FEE259B3}"/>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Roboto"/>
                <a:ea typeface="Roboto"/>
                <a:cs typeface="Roboto"/>
              </a:defRPr>
            </a:pPr>
            <a:r>
              <a:rPr sz="1725" b="1">
                <a:solidFill>
                  <a:srgbClr val="F4F7FA"/>
                </a:solidFill>
                <a:latin typeface="Roboto"/>
                <a:ea typeface="Roboto"/>
                <a:cs typeface="Roboto"/>
              </a:rPr>
              <a:t>1.4–2× work value</a:t>
            </a:r>
          </a:p>
        </p:txBody>
      </p:sp>
      <p:sp>
        <p:nvSpPr>
          <p:cNvPr id="40" name="">
            <a:extLst xmlns:a="http://schemas.openxmlformats.org/drawingml/2006/main">
              <a:ext uri="{FF2B5EF4-FFF2-40B4-BE49-F238E27FC236}">
                <a16:creationId xmlns:a16="http://schemas.microsoft.com/office/drawing/2014/main" id="{6063B28E-7CDF-4C62-BAE6-ABCBB008BF97}"/>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Medians across 3 questions; self-reported, not causal.</a:t>
            </a:r>
          </a:p>
        </p:txBody>
      </p:sp>
      <p:sp>
        <p:nvSpPr>
          <p:cNvPr id="41" name="">
            <a:extLst xmlns:a="http://schemas.openxmlformats.org/drawingml/2006/main">
              <a:ext uri="{FF2B5EF4-FFF2-40B4-BE49-F238E27FC236}">
                <a16:creationId xmlns:a16="http://schemas.microsoft.com/office/drawing/2014/main" id="{914CA1F8-566A-4F38-BB52-34FAD4A6CD34}"/>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AGARWAL · JAN 2026</a:t>
            </a:r>
          </a:p>
        </p:txBody>
      </p:sp>
      <p:sp>
        <p:nvSpPr>
          <p:cNvPr id="42" name="">
            <a:extLst xmlns:a="http://schemas.openxmlformats.org/drawingml/2006/main">
              <a:ext uri="{FF2B5EF4-FFF2-40B4-BE49-F238E27FC236}">
                <a16:creationId xmlns:a16="http://schemas.microsoft.com/office/drawing/2014/main" id="{BD58A200-F4D1-4DBA-85A9-A97359512241}"/>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Roboto"/>
                <a:ea typeface="Roboto"/>
                <a:cs typeface="Roboto"/>
              </a:defRPr>
            </a:pPr>
            <a:r>
              <a:rPr sz="1575" b="1">
                <a:solidFill>
                  <a:srgbClr val="F4F7FA"/>
                </a:solidFill>
                <a:latin typeface="Roboto"/>
                <a:ea typeface="Roboto"/>
                <a:cs typeface="Roboto"/>
              </a:rPr>
              <a:t>+34.85% / +42.87%</a:t>
            </a:r>
          </a:p>
        </p:txBody>
      </p:sp>
      <p:sp>
        <p:nvSpPr>
          <p:cNvPr id="43" name="">
            <a:extLst xmlns:a="http://schemas.openxmlformats.org/drawingml/2006/main">
              <a:ext uri="{FF2B5EF4-FFF2-40B4-BE49-F238E27FC236}">
                <a16:creationId xmlns:a16="http://schemas.microsoft.com/office/drawing/2014/main" id="{32D85CCA-FB7A-4F47-A12C-5E8FB2DA4C6F}"/>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Complexity: Agent-first / IDE-first. Xu: workload shifts.</a:t>
            </a:r>
          </a:p>
        </p:txBody>
      </p:sp>
      <p:sp>
        <p:nvSpPr>
          <p:cNvPr id="44" name="">
            <a:extLst xmlns:a="http://schemas.openxmlformats.org/drawingml/2006/main">
              <a:ext uri="{FF2B5EF4-FFF2-40B4-BE49-F238E27FC236}">
                <a16:creationId xmlns:a16="http://schemas.microsoft.com/office/drawing/2014/main" id="{BC0E71CA-3E28-490D-873D-949F3941AF65}"/>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Roboto"/>
                <a:ea typeface="Roboto"/>
                <a:cs typeface="Roboto"/>
              </a:defRPr>
            </a:pPr>
            <a:r>
              <a:rPr sz="1500" b="1">
                <a:solidFill>
                  <a:srgbClr val="F4F7FA"/>
                </a:solidFill>
                <a:latin typeface="Roboto"/>
                <a:ea typeface="Roboto"/>
                <a:cs typeface="Roboto"/>
              </a:rPr>
              <a:t>Code activity, delivery and user value are different outcomes.</a:t>
            </a:r>
          </a:p>
        </p:txBody>
      </p:sp>
    </p:spTree>
    <p:extLst>
      <p:ext uri="{BB962C8B-B14F-4D97-AF65-F5344CB8AC3E}">
        <p14:creationId xmlns:p14="http://schemas.microsoft.com/office/powerpoint/2010/main" val="329754571"/>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7B76289-B903-4F4B-A567-6E3F3953ACE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New Scarcity Is Human Comprehension</a:t>
            </a:r>
          </a:p>
        </p:txBody>
      </p:sp>
      <p:sp>
        <p:nvSpPr>
          <p:cNvPr id="2" name="">
            <a:extLst xmlns:a="http://schemas.openxmlformats.org/drawingml/2006/main">
              <a:ext uri="{FF2B5EF4-FFF2-40B4-BE49-F238E27FC236}">
                <a16:creationId xmlns:a16="http://schemas.microsoft.com/office/drawing/2014/main" id="{8ACA4598-B957-4EBE-BBA9-7E541E78DE2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088EEDC-CC9D-4CA8-A493-884F1EDE85F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05</a:t>
            </a:r>
          </a:p>
        </p:txBody>
      </p:sp>
      <p:sp>
        <p:nvSpPr>
          <p:cNvPr id="4" name="">
            <a:extLst xmlns:a="http://schemas.openxmlformats.org/drawingml/2006/main">
              <a:ext uri="{FF2B5EF4-FFF2-40B4-BE49-F238E27FC236}">
                <a16:creationId xmlns:a16="http://schemas.microsoft.com/office/drawing/2014/main" id="{6C5AC7D5-61B0-4186-80B3-2EA8EBCA42EC}"/>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21DE2C61-2119-4812-BC5B-8394E712F95A}"/>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9706EA53-796A-46E4-A007-94070B6A73CB}"/>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45108C15-43EB-4B74-8742-1F98FBF8705E}"/>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FF1A37A1-0552-40B1-A0B4-E17D97330ACA}"/>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Roboto"/>
                <a:ea typeface="Roboto"/>
                <a:cs typeface="Roboto"/>
              </a:defRPr>
            </a:pPr>
            <a:r>
              <a:rPr sz="1875" b="1">
                <a:solidFill>
                  <a:srgbClr val="28C7F7"/>
                </a:solidFill>
                <a:latin typeface="Roboto"/>
                <a:ea typeface="Roboto"/>
                <a:cs typeface="Roboto"/>
              </a:rPr>
              <a:t>Machine generation capacity</a:t>
            </a:r>
          </a:p>
        </p:txBody>
      </p:sp>
      <p:sp>
        <p:nvSpPr>
          <p:cNvPr id="9" name="">
            <a:extLst xmlns:a="http://schemas.openxmlformats.org/drawingml/2006/main">
              <a:ext uri="{FF2B5EF4-FFF2-40B4-BE49-F238E27FC236}">
                <a16:creationId xmlns:a16="http://schemas.microsoft.com/office/drawing/2014/main" id="{5D55F45B-0774-4DEF-9DB7-72F67115AAC0}"/>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Roboto"/>
                <a:ea typeface="Roboto"/>
                <a:cs typeface="Roboto"/>
              </a:defRPr>
            </a:pPr>
            <a:r>
              <a:rPr sz="1725" b="0">
                <a:solidFill>
                  <a:srgbClr val="F5B61C"/>
                </a:solidFill>
                <a:latin typeface="Roboto"/>
                <a:ea typeface="Roboto"/>
                <a:cs typeface="Roboto"/>
              </a:rPr>
              <a:t>Human comprehension capacity</a:t>
            </a:r>
          </a:p>
        </p:txBody>
      </p:sp>
      <p:sp>
        <p:nvSpPr>
          <p:cNvPr id="10" name="">
            <a:extLst xmlns:a="http://schemas.openxmlformats.org/drawingml/2006/main">
              <a:ext uri="{FF2B5EF4-FFF2-40B4-BE49-F238E27FC236}">
                <a16:creationId xmlns:a16="http://schemas.microsoft.com/office/drawing/2014/main" id="{D1A752C9-AB53-4944-A063-9982667E3E51}"/>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Potential</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comprehension gap</a:t>
            </a:r>
          </a:p>
        </p:txBody>
      </p:sp>
      <p:sp>
        <p:nvSpPr>
          <p:cNvPr id="11" name="">
            <a:extLst xmlns:a="http://schemas.openxmlformats.org/drawingml/2006/main">
              <a:ext uri="{FF2B5EF4-FFF2-40B4-BE49-F238E27FC236}">
                <a16:creationId xmlns:a16="http://schemas.microsoft.com/office/drawing/2014/main" id="{188A4A87-4A48-403D-A5A9-180D2E9408F2}"/>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Adoption / time</a:t>
            </a:r>
          </a:p>
        </p:txBody>
      </p:sp>
      <p:sp>
        <p:nvSpPr>
          <p:cNvPr id="12" name="">
            <a:extLst xmlns:a="http://schemas.openxmlformats.org/drawingml/2006/main">
              <a:ext uri="{FF2B5EF4-FFF2-40B4-BE49-F238E27FC236}">
                <a16:creationId xmlns:a16="http://schemas.microsoft.com/office/drawing/2014/main" id="{B84893D8-78D6-4226-B745-C3BAB7875B16}"/>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Can we generate faster?</a:t>
            </a:r>
          </a:p>
        </p:txBody>
      </p:sp>
      <p:sp>
        <p:nvSpPr>
          <p:cNvPr id="13" name="">
            <a:extLst xmlns:a="http://schemas.openxmlformats.org/drawingml/2006/main">
              <a:ext uri="{FF2B5EF4-FFF2-40B4-BE49-F238E27FC236}">
                <a16:creationId xmlns:a16="http://schemas.microsoft.com/office/drawing/2014/main" id="{BE07BF3A-0534-445E-AAFF-08C8CA00B213}"/>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Roboto"/>
                <a:ea typeface="Roboto"/>
                <a:cs typeface="Roboto"/>
              </a:defRPr>
            </a:pPr>
            <a:r>
              <a:rPr sz="2100" b="1">
                <a:solidFill>
                  <a:srgbClr val="28C7F7"/>
                </a:solidFill>
                <a:latin typeface="Roboto"/>
                <a:ea typeface="Roboto"/>
                <a:cs typeface="Roboto"/>
              </a:rPr>
              <a:t>YES</a:t>
            </a:r>
          </a:p>
        </p:txBody>
      </p:sp>
      <p:sp>
        <p:nvSpPr>
          <p:cNvPr id="14" name="">
            <a:extLst xmlns:a="http://schemas.openxmlformats.org/drawingml/2006/main">
              <a:ext uri="{FF2B5EF4-FFF2-40B4-BE49-F238E27FC236}">
                <a16:creationId xmlns:a16="http://schemas.microsoft.com/office/drawing/2014/main" id="{8B7122D8-0A48-4FAF-9DD7-D288CBF0224C}"/>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Can review keep pace?</a:t>
            </a:r>
          </a:p>
        </p:txBody>
      </p:sp>
      <p:sp>
        <p:nvSpPr>
          <p:cNvPr id="15" name="">
            <a:extLst xmlns:a="http://schemas.openxmlformats.org/drawingml/2006/main">
              <a:ext uri="{FF2B5EF4-FFF2-40B4-BE49-F238E27FC236}">
                <a16:creationId xmlns:a16="http://schemas.microsoft.com/office/drawing/2014/main" id="{9741A860-903B-4DB2-AD8B-B55A68A03000}"/>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Roboto"/>
                <a:ea typeface="Roboto"/>
                <a:cs typeface="Roboto"/>
              </a:defRPr>
            </a:pPr>
            <a:r>
              <a:rPr sz="2100" b="1">
                <a:solidFill>
                  <a:srgbClr val="F5B61C"/>
                </a:solidFill>
                <a:latin typeface="Roboto"/>
                <a:ea typeface="Roboto"/>
                <a:cs typeface="Roboto"/>
              </a:rPr>
              <a:t>NOT AT THIS RATE</a:t>
            </a:r>
          </a:p>
        </p:txBody>
      </p:sp>
      <p:sp>
        <p:nvSpPr>
          <p:cNvPr id="16" name="">
            <a:extLst xmlns:a="http://schemas.openxmlformats.org/drawingml/2006/main">
              <a:ext uri="{FF2B5EF4-FFF2-40B4-BE49-F238E27FC236}">
                <a16:creationId xmlns:a16="http://schemas.microsoft.com/office/drawing/2014/main" id="{D3E2E8F2-E315-44DE-9D68-640C5A718D69}"/>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Will we understand it</a:t>
            </a:r>
          </a:p>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in 5 years?</a:t>
            </a:r>
          </a:p>
        </p:txBody>
      </p:sp>
      <p:sp>
        <p:nvSpPr>
          <p:cNvPr id="17" name="">
            <a:extLst xmlns:a="http://schemas.openxmlformats.org/drawingml/2006/main">
              <a:ext uri="{FF2B5EF4-FFF2-40B4-BE49-F238E27FC236}">
                <a16:creationId xmlns:a16="http://schemas.microsoft.com/office/drawing/2014/main" id="{C473909A-D486-459E-B4F8-DA31A2984B2D}"/>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Roboto"/>
                <a:ea typeface="Roboto"/>
                <a:cs typeface="Roboto"/>
              </a:defRPr>
            </a:pPr>
            <a:r>
              <a:rPr sz="3075" b="1">
                <a:solidFill>
                  <a:srgbClr val="F5B61C"/>
                </a:solidFill>
                <a:latin typeface="Roboto"/>
                <a:ea typeface="Roboto"/>
                <a:cs typeface="Roboto"/>
              </a:rPr>
              <a:t>?</a:t>
            </a:r>
          </a:p>
        </p:txBody>
      </p:sp>
      <p:sp>
        <p:nvSpPr>
          <p:cNvPr id="18" name="">
            <a:extLst xmlns:a="http://schemas.openxmlformats.org/drawingml/2006/main">
              <a:ext uri="{FF2B5EF4-FFF2-40B4-BE49-F238E27FC236}">
                <a16:creationId xmlns:a16="http://schemas.microsoft.com/office/drawing/2014/main" id="{1B82E459-09F8-4D1E-87F1-92158F695CF4}"/>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E03CE6E1-2A0F-4D90-9B00-9EC4A9EC035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BFD06379-026C-41CF-BF36-4894768EFC49}"/>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Generation scales differently from comprehension.</a:t>
            </a:r>
          </a:p>
        </p:txBody>
      </p:sp>
    </p:spTree>
    <p:extLst>
      <p:ext uri="{BB962C8B-B14F-4D97-AF65-F5344CB8AC3E}">
        <p14:creationId xmlns:p14="http://schemas.microsoft.com/office/powerpoint/2010/main" val="1432547974"/>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6EC418C-8ED8-4E12-B4D7-1EAA110E71B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Team Is the Last Line of Defense</a:t>
            </a:r>
          </a:p>
        </p:txBody>
      </p:sp>
      <p:sp>
        <p:nvSpPr>
          <p:cNvPr id="2" name="">
            <a:extLst xmlns:a="http://schemas.openxmlformats.org/drawingml/2006/main">
              <a:ext uri="{FF2B5EF4-FFF2-40B4-BE49-F238E27FC236}">
                <a16:creationId xmlns:a16="http://schemas.microsoft.com/office/drawing/2014/main" id="{A8E7C870-A045-4BE0-A86A-A040ED5CD2E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0C97D8B-8680-4D10-BBE3-B8B350BF7FB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06</a:t>
            </a:r>
          </a:p>
        </p:txBody>
      </p:sp>
      <p:sp>
        <p:nvSpPr>
          <p:cNvPr id="4" name="">
            <a:extLst xmlns:a="http://schemas.openxmlformats.org/drawingml/2006/main">
              <a:ext uri="{FF2B5EF4-FFF2-40B4-BE49-F238E27FC236}">
                <a16:creationId xmlns:a16="http://schemas.microsoft.com/office/drawing/2014/main" id="{28B0E8D0-0630-43F9-9FCC-9C8E2038F45E}"/>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Roboto"/>
                <a:ea typeface="Roboto"/>
                <a:cs typeface="Roboto"/>
              </a:defRPr>
            </a:pPr>
            <a:r>
              <a:rPr sz="2175" b="1">
                <a:solidFill>
                  <a:srgbClr val="F4F7FA"/>
                </a:solidFill>
                <a:latin typeface="Roboto"/>
                <a:ea typeface="Roboto"/>
                <a:cs typeface="Roboto"/>
              </a:rPr>
              <a:t>AI code generators are technical systems with limits.</a:t>
            </a:r>
          </a:p>
        </p:txBody>
      </p:sp>
      <p:sp>
        <p:nvSpPr>
          <p:cNvPr id="5" name="">
            <a:extLst xmlns:a="http://schemas.openxmlformats.org/drawingml/2006/main">
              <a:ext uri="{FF2B5EF4-FFF2-40B4-BE49-F238E27FC236}">
                <a16:creationId xmlns:a16="http://schemas.microsoft.com/office/drawing/2014/main" id="{0FEAEE0E-FFF6-4DF1-A5EA-1BD80F1DBA52}"/>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491F092D-9802-4231-93AF-89F0EDCE4FB9}"/>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BF92C69A-FC79-4798-BECE-B9957BF4038D}"/>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Production</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incident</a:t>
            </a:r>
          </a:p>
        </p:txBody>
      </p:sp>
      <p:sp>
        <p:nvSpPr>
          <p:cNvPr id="8" name="">
            <a:extLst xmlns:a="http://schemas.openxmlformats.org/drawingml/2006/main">
              <a:ext uri="{FF2B5EF4-FFF2-40B4-BE49-F238E27FC236}">
                <a16:creationId xmlns:a16="http://schemas.microsoft.com/office/drawing/2014/main" id="{EF476DE9-5E6B-4D26-8474-7D9C86EABD53}"/>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Contain impact.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Roll back or use</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fallback where safe.</a:t>
            </a:r>
          </a:p>
        </p:txBody>
      </p:sp>
      <p:sp>
        <p:nvSpPr>
          <p:cNvPr id="9" name="">
            <a:extLst xmlns:a="http://schemas.openxmlformats.org/drawingml/2006/main">
              <a:ext uri="{FF2B5EF4-FFF2-40B4-BE49-F238E27FC236}">
                <a16:creationId xmlns:a16="http://schemas.microsoft.com/office/drawing/2014/main" id="{31C8B5EF-3562-4158-975A-43341B7F8A42}"/>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C6564FEE-BED3-43F7-9642-91F9ACA9A89D}"/>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AI cannot</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recover</a:t>
            </a:r>
          </a:p>
        </p:txBody>
      </p:sp>
      <p:sp>
        <p:nvSpPr>
          <p:cNvPr id="11" name="">
            <a:extLst xmlns:a="http://schemas.openxmlformats.org/drawingml/2006/main">
              <a:ext uri="{FF2B5EF4-FFF2-40B4-BE49-F238E27FC236}">
                <a16:creationId xmlns:a16="http://schemas.microsoft.com/office/drawing/2014/main" id="{58A27429-0834-4961-AD70-15B1DFF2ECE8}"/>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Stop at the agreed</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retry limit. Preserve</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traces and changes.</a:t>
            </a:r>
          </a:p>
        </p:txBody>
      </p:sp>
      <p:sp>
        <p:nvSpPr>
          <p:cNvPr id="12" name="">
            <a:extLst xmlns:a="http://schemas.openxmlformats.org/drawingml/2006/main">
              <a:ext uri="{FF2B5EF4-FFF2-40B4-BE49-F238E27FC236}">
                <a16:creationId xmlns:a16="http://schemas.microsoft.com/office/drawing/2014/main" id="{9E926987-84F7-4AEB-B661-C13DD46A2E26}"/>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9EEF0065-34AE-4957-AF06-CC471156C1D8}"/>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Team diagnoses</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&amp; proposes fix</a:t>
            </a:r>
          </a:p>
        </p:txBody>
      </p:sp>
      <p:sp>
        <p:nvSpPr>
          <p:cNvPr id="14" name="">
            <a:extLst xmlns:a="http://schemas.openxmlformats.org/drawingml/2006/main">
              <a:ext uri="{FF2B5EF4-FFF2-40B4-BE49-F238E27FC236}">
                <a16:creationId xmlns:a16="http://schemas.microsoft.com/office/drawing/2014/main" id="{4D33A3BE-5841-4C6C-9084-679B5E40CF34}"/>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Reconstruct intent,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dependencies and</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system invariants.</a:t>
            </a:r>
          </a:p>
        </p:txBody>
      </p:sp>
      <p:sp>
        <p:nvSpPr>
          <p:cNvPr id="15" name="">
            <a:extLst xmlns:a="http://schemas.openxmlformats.org/drawingml/2006/main">
              <a:ext uri="{FF2B5EF4-FFF2-40B4-BE49-F238E27FC236}">
                <a16:creationId xmlns:a16="http://schemas.microsoft.com/office/drawing/2014/main" id="{6C75C417-A957-4344-84D4-8BDC49359EA4}"/>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F245AEA8-AC26-4A3C-B505-7E52C463A5B7}"/>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Validate fix</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and restore</a:t>
            </a:r>
          </a:p>
        </p:txBody>
      </p:sp>
      <p:sp>
        <p:nvSpPr>
          <p:cNvPr id="17" name="">
            <a:extLst xmlns:a="http://schemas.openxmlformats.org/drawingml/2006/main">
              <a:ext uri="{FF2B5EF4-FFF2-40B4-BE49-F238E27FC236}">
                <a16:creationId xmlns:a16="http://schemas.microsoft.com/office/drawing/2014/main" id="{806882B1-F9C3-464E-9641-F42705CDA5EE}"/>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Test the repair.</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Restore under incident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91941C98-32FF-4297-8E15-4502D50CE1C3}"/>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ED28A5AE-96BB-48A8-B09C-FD58AAC321A7}"/>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8A9A22DE-5999-4D9C-89E1-1CD5087106BB}"/>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If AI cannot recover the system, the team still must.</a:t>
            </a:r>
          </a:p>
        </p:txBody>
      </p:sp>
    </p:spTree>
    <p:extLst>
      <p:ext uri="{BB962C8B-B14F-4D97-AF65-F5344CB8AC3E}">
        <p14:creationId xmlns:p14="http://schemas.microsoft.com/office/powerpoint/2010/main" val="418379964"/>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C2640CE-7582-452E-A88F-72E36107031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We Are Searching for a New</a:t>
            </a:r>
          </a:p>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SDLC Equilibrium</a:t>
            </a:r>
          </a:p>
        </p:txBody>
      </p:sp>
      <p:sp>
        <p:nvSpPr>
          <p:cNvPr id="2" name="">
            <a:extLst xmlns:a="http://schemas.openxmlformats.org/drawingml/2006/main">
              <a:ext uri="{FF2B5EF4-FFF2-40B4-BE49-F238E27FC236}">
                <a16:creationId xmlns:a16="http://schemas.microsoft.com/office/drawing/2014/main" id="{5AF272D1-5088-40DD-9C53-08A18414C98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BC8ED2D-9F15-4B89-A8DA-3F258BD770A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07</a:t>
            </a:r>
          </a:p>
        </p:txBody>
      </p:sp>
      <p:sp>
        <p:nvSpPr>
          <p:cNvPr id="4" name="">
            <a:extLst xmlns:a="http://schemas.openxmlformats.org/drawingml/2006/main">
              <a:ext uri="{FF2B5EF4-FFF2-40B4-BE49-F238E27FC236}">
                <a16:creationId xmlns:a16="http://schemas.microsoft.com/office/drawing/2014/main" id="{A1537015-EC26-4D9B-A88F-C7700658DA00}"/>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Roboto"/>
                <a:ea typeface="Roboto"/>
                <a:cs typeface="Roboto"/>
              </a:defRPr>
            </a:pPr>
            <a:r>
              <a:rPr sz="1575" b="1">
                <a:solidFill>
                  <a:srgbClr val="ADB8C5"/>
                </a:solidFill>
                <a:latin typeface="Roboto"/>
                <a:ea typeface="Roboto"/>
                <a:cs typeface="Roboto"/>
              </a:rPr>
              <a:t>OLD EQUILIBRIUM</a:t>
            </a:r>
          </a:p>
        </p:txBody>
      </p:sp>
      <p:sp>
        <p:nvSpPr>
          <p:cNvPr id="5" name="">
            <a:extLst xmlns:a="http://schemas.openxmlformats.org/drawingml/2006/main">
              <a:ext uri="{FF2B5EF4-FFF2-40B4-BE49-F238E27FC236}">
                <a16:creationId xmlns:a16="http://schemas.microsoft.com/office/drawing/2014/main" id="{14F41B56-185C-4FBB-BBCC-96A9FD6C1382}"/>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Human-led flow</a:t>
            </a:r>
          </a:p>
        </p:txBody>
      </p:sp>
      <p:sp>
        <p:nvSpPr>
          <p:cNvPr id="6" name="">
            <a:extLst xmlns:a="http://schemas.openxmlformats.org/drawingml/2006/main">
              <a:ext uri="{FF2B5EF4-FFF2-40B4-BE49-F238E27FC236}">
                <a16:creationId xmlns:a16="http://schemas.microsoft.com/office/drawing/2014/main" id="{A2E34272-BB6B-4988-B1AC-40C34D2A3AFD}"/>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TODAY</a:t>
            </a:r>
          </a:p>
        </p:txBody>
      </p:sp>
      <p:sp>
        <p:nvSpPr>
          <p:cNvPr id="7" name="">
            <a:extLst xmlns:a="http://schemas.openxmlformats.org/drawingml/2006/main">
              <a:ext uri="{FF2B5EF4-FFF2-40B4-BE49-F238E27FC236}">
                <a16:creationId xmlns:a16="http://schemas.microsoft.com/office/drawing/2014/main" id="{1E681936-8FAD-45C5-A5D7-28BC7069D138}"/>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Generation outpaces review</a:t>
            </a:r>
          </a:p>
        </p:txBody>
      </p:sp>
      <p:sp>
        <p:nvSpPr>
          <p:cNvPr id="8" name="">
            <a:extLst xmlns:a="http://schemas.openxmlformats.org/drawingml/2006/main">
              <a:ext uri="{FF2B5EF4-FFF2-40B4-BE49-F238E27FC236}">
                <a16:creationId xmlns:a16="http://schemas.microsoft.com/office/drawing/2014/main" id="{8775E16C-A897-4EF5-A030-4FCC8E1262C7}"/>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Roboto"/>
                <a:ea typeface="Roboto"/>
                <a:cs typeface="Roboto"/>
              </a:defRPr>
            </a:pPr>
            <a:r>
              <a:rPr sz="1575" b="1">
                <a:solidFill>
                  <a:srgbClr val="ADB8C5"/>
                </a:solidFill>
                <a:latin typeface="Roboto"/>
                <a:ea typeface="Roboto"/>
                <a:cs typeface="Roboto"/>
              </a:rPr>
              <a:t>NEW EQUILIBRIUM</a:t>
            </a:r>
          </a:p>
        </p:txBody>
      </p:sp>
      <p:sp>
        <p:nvSpPr>
          <p:cNvPr id="9" name="">
            <a:extLst xmlns:a="http://schemas.openxmlformats.org/drawingml/2006/main">
              <a:ext uri="{FF2B5EF4-FFF2-40B4-BE49-F238E27FC236}">
                <a16:creationId xmlns:a16="http://schemas.microsoft.com/office/drawing/2014/main" id="{4DBB2458-BCD5-4F03-84B4-9018DE954573}"/>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Roboto"/>
                <a:ea typeface="Roboto"/>
                <a:cs typeface="Roboto"/>
              </a:defRPr>
            </a:pPr>
            <a:r>
              <a:rPr sz="1650" b="0">
                <a:solidFill>
                  <a:srgbClr val="F5B61C"/>
                </a:solidFill>
                <a:latin typeface="Roboto"/>
                <a:ea typeface="Roboto"/>
                <a:cs typeface="Roboto"/>
              </a:rPr>
              <a:t>Sustainable flow?</a:t>
            </a:r>
          </a:p>
        </p:txBody>
      </p:sp>
      <p:sp>
        <p:nvSpPr>
          <p:cNvPr id="10" name="">
            <a:extLst xmlns:a="http://schemas.openxmlformats.org/drawingml/2006/main">
              <a:ext uri="{FF2B5EF4-FFF2-40B4-BE49-F238E27FC236}">
                <a16:creationId xmlns:a16="http://schemas.microsoft.com/office/drawing/2014/main" id="{59885F92-D187-4123-99AF-31C70E79015D}"/>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1960D365-090B-400D-AF0F-C80F015DB5EA}"/>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WATCH</a:t>
            </a:r>
          </a:p>
        </p:txBody>
      </p:sp>
      <p:sp>
        <p:nvSpPr>
          <p:cNvPr id="12" name="">
            <a:extLst xmlns:a="http://schemas.openxmlformats.org/drawingml/2006/main">
              <a:ext uri="{FF2B5EF4-FFF2-40B4-BE49-F238E27FC236}">
                <a16:creationId xmlns:a16="http://schemas.microsoft.com/office/drawing/2014/main" id="{34B535CC-825A-467C-8A69-802E7D9C6925}"/>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Flow pressure</a:t>
            </a:r>
          </a:p>
        </p:txBody>
      </p:sp>
      <p:sp>
        <p:nvSpPr>
          <p:cNvPr id="13" name="">
            <a:extLst xmlns:a="http://schemas.openxmlformats.org/drawingml/2006/main">
              <a:ext uri="{FF2B5EF4-FFF2-40B4-BE49-F238E27FC236}">
                <a16:creationId xmlns:a16="http://schemas.microsoft.com/office/drawing/2014/main" id="{BB8CAFAF-0974-4D7A-BAF0-42B45D995DFE}"/>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Review age, batch size and WIP</a:t>
            </a:r>
          </a:p>
        </p:txBody>
      </p:sp>
      <p:sp>
        <p:nvSpPr>
          <p:cNvPr id="14" name="">
            <a:extLst xmlns:a="http://schemas.openxmlformats.org/drawingml/2006/main">
              <a:ext uri="{FF2B5EF4-FFF2-40B4-BE49-F238E27FC236}">
                <a16:creationId xmlns:a16="http://schemas.microsoft.com/office/drawing/2014/main" id="{2D8E4715-7F2D-45EA-A15E-CAD126A963B8}"/>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Rework and structure</a:t>
            </a:r>
          </a:p>
        </p:txBody>
      </p:sp>
      <p:sp>
        <p:nvSpPr>
          <p:cNvPr id="15" name="">
            <a:extLst xmlns:a="http://schemas.openxmlformats.org/drawingml/2006/main">
              <a:ext uri="{FF2B5EF4-FFF2-40B4-BE49-F238E27FC236}">
                <a16:creationId xmlns:a16="http://schemas.microsoft.com/office/drawing/2014/main" id="{29EC5E00-AFBA-442D-ACE9-E1C069E08A14}"/>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Churn, duplication, reuse, complexity</a:t>
            </a:r>
          </a:p>
        </p:txBody>
      </p:sp>
      <p:sp>
        <p:nvSpPr>
          <p:cNvPr id="16" name="">
            <a:extLst xmlns:a="http://schemas.openxmlformats.org/drawingml/2006/main">
              <a:ext uri="{FF2B5EF4-FFF2-40B4-BE49-F238E27FC236}">
                <a16:creationId xmlns:a16="http://schemas.microsoft.com/office/drawing/2014/main" id="{77F9E7EA-D1A4-411B-8644-EA25C04D7157}"/>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Ownership gaps</a:t>
            </a:r>
          </a:p>
        </p:txBody>
      </p:sp>
      <p:sp>
        <p:nvSpPr>
          <p:cNvPr id="17" name="">
            <a:extLst xmlns:a="http://schemas.openxmlformats.org/drawingml/2006/main">
              <a:ext uri="{FF2B5EF4-FFF2-40B4-BE49-F238E27FC236}">
                <a16:creationId xmlns:a16="http://schemas.microsoft.com/office/drawing/2014/main" id="{3CD2219B-A32D-44A8-9416-8E1E96EF0593}"/>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Unowned changes and stale docs</a:t>
            </a:r>
          </a:p>
        </p:txBody>
      </p:sp>
      <p:sp>
        <p:nvSpPr>
          <p:cNvPr id="18" name="">
            <a:extLst xmlns:a="http://schemas.openxmlformats.org/drawingml/2006/main">
              <a:ext uri="{FF2B5EF4-FFF2-40B4-BE49-F238E27FC236}">
                <a16:creationId xmlns:a16="http://schemas.microsoft.com/office/drawing/2014/main" id="{DF992577-1AB0-4C76-AB93-7F8CC723F255}"/>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Recovery readiness</a:t>
            </a:r>
          </a:p>
        </p:txBody>
      </p:sp>
      <p:sp>
        <p:nvSpPr>
          <p:cNvPr id="19" name="">
            <a:extLst xmlns:a="http://schemas.openxmlformats.org/drawingml/2006/main">
              <a:ext uri="{FF2B5EF4-FFF2-40B4-BE49-F238E27FC236}">
                <a16:creationId xmlns:a16="http://schemas.microsoft.com/office/drawing/2014/main" id="{14ECC1A5-1B8C-4847-AB2F-C837F0822A8A}"/>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Unaided diagnosis and restore time</a:t>
            </a:r>
          </a:p>
        </p:txBody>
      </p:sp>
      <p:sp>
        <p:nvSpPr>
          <p:cNvPr id="20" name="">
            <a:extLst xmlns:a="http://schemas.openxmlformats.org/drawingml/2006/main">
              <a:ext uri="{FF2B5EF4-FFF2-40B4-BE49-F238E27FC236}">
                <a16:creationId xmlns:a16="http://schemas.microsoft.com/office/drawing/2014/main" id="{6EB2F579-AD6B-47D9-B67B-30C9FF1259CD}"/>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EXPLORE</a:t>
            </a:r>
          </a:p>
        </p:txBody>
      </p:sp>
      <p:sp>
        <p:nvSpPr>
          <p:cNvPr id="21" name="">
            <a:extLst xmlns:a="http://schemas.openxmlformats.org/drawingml/2006/main">
              <a:ext uri="{FF2B5EF4-FFF2-40B4-BE49-F238E27FC236}">
                <a16:creationId xmlns:a16="http://schemas.microsoft.com/office/drawing/2014/main" id="{437F569C-BDD7-408B-968F-FA3C7736E1DE}"/>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Small batches and WIP limits</a:t>
            </a:r>
          </a:p>
        </p:txBody>
      </p:sp>
      <p:sp>
        <p:nvSpPr>
          <p:cNvPr id="22" name="">
            <a:extLst xmlns:a="http://schemas.openxmlformats.org/drawingml/2006/main">
              <a:ext uri="{FF2B5EF4-FFF2-40B4-BE49-F238E27FC236}">
                <a16:creationId xmlns:a16="http://schemas.microsoft.com/office/drawing/2014/main" id="{8FC9C781-2B23-4E9D-8905-C15E871BEA57}"/>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Keep intake within review capacity</a:t>
            </a:r>
          </a:p>
        </p:txBody>
      </p:sp>
      <p:sp>
        <p:nvSpPr>
          <p:cNvPr id="23" name="">
            <a:extLst xmlns:a="http://schemas.openxmlformats.org/drawingml/2006/main">
              <a:ext uri="{FF2B5EF4-FFF2-40B4-BE49-F238E27FC236}">
                <a16:creationId xmlns:a16="http://schemas.microsoft.com/office/drawing/2014/main" id="{D7ED5381-4E1E-40BC-8B18-F95FF776ADEC}"/>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Specs and living architecture</a:t>
            </a:r>
          </a:p>
        </p:txBody>
      </p:sp>
      <p:sp>
        <p:nvSpPr>
          <p:cNvPr id="24" name="">
            <a:extLst xmlns:a="http://schemas.openxmlformats.org/drawingml/2006/main">
              <a:ext uri="{FF2B5EF4-FFF2-40B4-BE49-F238E27FC236}">
                <a16:creationId xmlns:a16="http://schemas.microsoft.com/office/drawing/2014/main" id="{9D126AD4-4808-47CE-AA2D-91CED9DCA4B4}"/>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Review code and docs together</a:t>
            </a:r>
          </a:p>
        </p:txBody>
      </p:sp>
      <p:sp>
        <p:nvSpPr>
          <p:cNvPr id="25" name="">
            <a:extLst xmlns:a="http://schemas.openxmlformats.org/drawingml/2006/main">
              <a:ext uri="{FF2B5EF4-FFF2-40B4-BE49-F238E27FC236}">
                <a16:creationId xmlns:a16="http://schemas.microsoft.com/office/drawing/2014/main" id="{292158BC-2F97-46DC-8F93-C69C2B40BA26}"/>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Repository intelligence</a:t>
            </a:r>
          </a:p>
        </p:txBody>
      </p:sp>
      <p:sp>
        <p:nvSpPr>
          <p:cNvPr id="26" name="">
            <a:extLst xmlns:a="http://schemas.openxmlformats.org/drawingml/2006/main">
              <a:ext uri="{FF2B5EF4-FFF2-40B4-BE49-F238E27FC236}">
                <a16:creationId xmlns:a16="http://schemas.microsoft.com/office/drawing/2014/main" id="{24C3FF52-0CF3-4E8C-BC78-17B45226DC38}"/>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Trace dependencies and owners</a:t>
            </a:r>
          </a:p>
        </p:txBody>
      </p:sp>
      <p:sp>
        <p:nvSpPr>
          <p:cNvPr id="27" name="">
            <a:extLst xmlns:a="http://schemas.openxmlformats.org/drawingml/2006/main">
              <a:ext uri="{FF2B5EF4-FFF2-40B4-BE49-F238E27FC236}">
                <a16:creationId xmlns:a16="http://schemas.microsoft.com/office/drawing/2014/main" id="{DCC4673A-9075-4FAB-9E4F-06992A01B2DE}"/>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Human recovery drills</a:t>
            </a:r>
          </a:p>
        </p:txBody>
      </p:sp>
      <p:sp>
        <p:nvSpPr>
          <p:cNvPr id="28" name="">
            <a:extLst xmlns:a="http://schemas.openxmlformats.org/drawingml/2006/main">
              <a:ext uri="{FF2B5EF4-FFF2-40B4-BE49-F238E27FC236}">
                <a16:creationId xmlns:a16="http://schemas.microsoft.com/office/drawing/2014/main" id="{560ACAEA-8616-4EF6-8106-963723EA8FF0}"/>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Diagnose and fix without the agent</a:t>
            </a:r>
          </a:p>
        </p:txBody>
      </p:sp>
      <p:sp>
        <p:nvSpPr>
          <p:cNvPr id="29" name="">
            <a:extLst xmlns:a="http://schemas.openxmlformats.org/drawingml/2006/main">
              <a:ext uri="{FF2B5EF4-FFF2-40B4-BE49-F238E27FC236}">
                <a16:creationId xmlns:a16="http://schemas.microsoft.com/office/drawing/2014/main" id="{CC52AA7E-244E-4F27-8110-2E714323584D}"/>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78CC3939-2516-475F-A0E2-F57156A4A7F1}"/>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A649BFA2-775D-455E-A210-F7CB545D871E}"/>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Roboto"/>
                <a:ea typeface="Roboto"/>
                <a:cs typeface="Roboto"/>
              </a:defRPr>
            </a:pPr>
            <a:r>
              <a:rPr sz="1725" b="0">
                <a:solidFill>
                  <a:srgbClr val="28C7F7"/>
                </a:solidFill>
                <a:latin typeface="Roboto"/>
                <a:ea typeface="Roboto"/>
                <a:cs typeface="Roboto"/>
              </a:rPr>
              <a:t>Measure delivery and recovery. Next: AI inside the product.</a:t>
            </a:r>
          </a:p>
        </p:txBody>
      </p:sp>
    </p:spTree>
    <p:extLst>
      <p:ext uri="{BB962C8B-B14F-4D97-AF65-F5344CB8AC3E}">
        <p14:creationId xmlns:p14="http://schemas.microsoft.com/office/powerpoint/2010/main" val="1832670528"/>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C70F759-30FF-4B0E-B0DC-BB68BB7A9E3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When Software Starts Thinking</a:t>
            </a:r>
          </a:p>
        </p:txBody>
      </p:sp>
      <p:sp>
        <p:nvSpPr>
          <p:cNvPr id="2" name="">
            <a:extLst xmlns:a="http://schemas.openxmlformats.org/drawingml/2006/main">
              <a:ext uri="{FF2B5EF4-FFF2-40B4-BE49-F238E27FC236}">
                <a16:creationId xmlns:a16="http://schemas.microsoft.com/office/drawing/2014/main" id="{9520F6DB-9D44-4AA6-BB73-0E0B3420CC8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2DEFA29-C489-41CC-8A9E-86900025FFF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08</a:t>
            </a:r>
          </a:p>
        </p:txBody>
      </p:sp>
      <p:sp>
        <p:nvSpPr>
          <p:cNvPr id="4" name="">
            <a:extLst xmlns:a="http://schemas.openxmlformats.org/drawingml/2006/main">
              <a:ext uri="{FF2B5EF4-FFF2-40B4-BE49-F238E27FC236}">
                <a16:creationId xmlns:a16="http://schemas.microsoft.com/office/drawing/2014/main" id="{0A49B783-3F78-420C-9BBF-C30C2EC28A8B}"/>
              </a:ext>
            </a:extLst>
          </p:cNvPr>
          <p:cNvSpPr>
            <a:spLocks xmlns:a="http://schemas.openxmlformats.org/drawingml/2006/main" noGrp="1"/>
          </p:cNvSpPr>
          <p:nvPr/>
        </p:nvSpPr>
        <p:spPr>
          <a:xfrm xmlns:a="http://schemas.openxmlformats.org/drawingml/2006/main">
            <a:off x="609600" y="19240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Roboto"/>
                <a:ea typeface="Roboto"/>
                <a:cs typeface="Roboto"/>
              </a:defRPr>
            </a:pPr>
            <a:r>
              <a:rPr sz="1725" b="1">
                <a:solidFill>
                  <a:srgbClr val="28C7F7"/>
                </a:solidFill>
                <a:latin typeface="Roboto"/>
                <a:ea typeface="Roboto"/>
                <a:cs typeface="Roboto"/>
              </a:rPr>
              <a:t>THINKING SYSTEMS</a:t>
            </a:r>
          </a:p>
        </p:txBody>
      </p:sp>
      <p:sp>
        <p:nvSpPr>
          <p:cNvPr id="5" name="">
            <a:extLst xmlns:a="http://schemas.openxmlformats.org/drawingml/2006/main">
              <a:ext uri="{FF2B5EF4-FFF2-40B4-BE49-F238E27FC236}">
                <a16:creationId xmlns:a16="http://schemas.microsoft.com/office/drawing/2014/main" id="{A509CB2C-03CD-4DBA-8D88-D7CD96278DAB}"/>
              </a:ext>
            </a:extLst>
          </p:cNvPr>
          <p:cNvSpPr>
            <a:spLocks xmlns:a="http://schemas.openxmlformats.org/drawingml/2006/main" noGrp="1"/>
          </p:cNvSpPr>
          <p:nvPr/>
        </p:nvSpPr>
        <p:spPr>
          <a:xfrm xmlns:a="http://schemas.openxmlformats.org/drawingml/2006/main">
            <a:off x="609600" y="2390775"/>
            <a:ext cx="1051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4F7FA"/>
                </a:solidFill>
                <a:latin typeface="Roboto"/>
                <a:ea typeface="Roboto"/>
                <a:cs typeface="Roboto"/>
              </a:defRPr>
            </a:pPr>
            <a:r>
              <a:rPr sz="2400" b="1">
                <a:solidFill>
                  <a:srgbClr val="F4F7FA"/>
                </a:solidFill>
                <a:latin typeface="Roboto"/>
                <a:ea typeface="Roboto"/>
                <a:cs typeface="Roboto"/>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E4FA125A-9311-4373-AA37-946647AA0D83}"/>
              </a:ext>
            </a:extLst>
          </p:cNvPr>
          <p:cNvSpPr>
            <a:spLocks xmlns:a="http://schemas.openxmlformats.org/drawingml/2006/main" noGrp="1"/>
          </p:cNvSpPr>
          <p:nvPr/>
        </p:nvSpPr>
        <p:spPr>
          <a:xfrm xmlns:a="http://schemas.openxmlformats.org/drawingml/2006/main">
            <a:off x="609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Roboto"/>
                <a:ea typeface="Roboto"/>
                <a:cs typeface="Roboto"/>
              </a:defRPr>
            </a:pPr>
            <a:r>
              <a:rPr sz="1800" b="0">
                <a:solidFill>
                  <a:srgbClr val="ADB8C5"/>
                </a:solidFill>
                <a:latin typeface="Roboto"/>
                <a:ea typeface="Roboto"/>
                <a:cs typeface="Roboto"/>
              </a:rPr>
              <a:t>Software 1.0</a:t>
            </a:r>
          </a:p>
        </p:txBody>
      </p:sp>
      <p:sp>
        <p:nvSpPr>
          <p:cNvPr id="7" name="">
            <a:extLst xmlns:a="http://schemas.openxmlformats.org/drawingml/2006/main">
              <a:ext uri="{FF2B5EF4-FFF2-40B4-BE49-F238E27FC236}">
                <a16:creationId xmlns:a16="http://schemas.microsoft.com/office/drawing/2014/main" id="{C8DC011D-47A9-4453-8AE2-DAA2014484B3}"/>
              </a:ext>
            </a:extLst>
          </p:cNvPr>
          <p:cNvSpPr>
            <a:spLocks xmlns:a="http://schemas.openxmlformats.org/drawingml/2006/main" noGrp="1"/>
          </p:cNvSpPr>
          <p:nvPr/>
        </p:nvSpPr>
        <p:spPr>
          <a:xfrm xmlns:a="http://schemas.openxmlformats.org/drawingml/2006/main">
            <a:off x="609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28C7F7"/>
                </a:solidFill>
                <a:latin typeface="Roboto"/>
                <a:ea typeface="Roboto"/>
                <a:cs typeface="Roboto"/>
              </a:defRPr>
            </a:pPr>
            <a:r>
              <a:rPr sz="4425" b="1">
                <a:solidFill>
                  <a:srgbClr val="28C7F7"/>
                </a:solidFill>
                <a:latin typeface="Roboto"/>
                <a:ea typeface="Roboto"/>
                <a:cs typeface="Roboto"/>
              </a:rPr>
              <a:t>y = f(x)</a:t>
            </a:r>
          </a:p>
        </p:txBody>
      </p:sp>
      <p:sp>
        <p:nvSpPr>
          <p:cNvPr id="8" name="">
            <a:extLst xmlns:a="http://schemas.openxmlformats.org/drawingml/2006/main">
              <a:ext uri="{FF2B5EF4-FFF2-40B4-BE49-F238E27FC236}">
                <a16:creationId xmlns:a16="http://schemas.microsoft.com/office/drawing/2014/main" id="{DCF922A9-E42E-48A3-B5E4-E9D82FFA9BAD}"/>
              </a:ext>
            </a:extLst>
          </p:cNvPr>
          <p:cNvSpPr>
            <a:spLocks xmlns:a="http://schemas.openxmlformats.org/drawingml/2006/main" noGrp="1"/>
          </p:cNvSpPr>
          <p:nvPr/>
        </p:nvSpPr>
        <p:spPr>
          <a:xfrm xmlns:a="http://schemas.openxmlformats.org/drawingml/2006/main">
            <a:off x="6324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Roboto"/>
                <a:ea typeface="Roboto"/>
                <a:cs typeface="Roboto"/>
              </a:defRPr>
            </a:pPr>
            <a:r>
              <a:rPr sz="1800" b="0">
                <a:solidFill>
                  <a:srgbClr val="ADB8C5"/>
                </a:solidFill>
                <a:latin typeface="Roboto"/>
                <a:ea typeface="Roboto"/>
                <a:cs typeface="Roboto"/>
              </a:rPr>
              <a:t>Software with Model Judgment</a:t>
            </a:r>
          </a:p>
        </p:txBody>
      </p:sp>
      <p:sp>
        <p:nvSpPr>
          <p:cNvPr id="9" name="">
            <a:extLst xmlns:a="http://schemas.openxmlformats.org/drawingml/2006/main">
              <a:ext uri="{FF2B5EF4-FFF2-40B4-BE49-F238E27FC236}">
                <a16:creationId xmlns:a16="http://schemas.microsoft.com/office/drawing/2014/main" id="{5B688214-5B8E-4EB6-90D1-BBC3E5740B21}"/>
              </a:ext>
            </a:extLst>
          </p:cNvPr>
          <p:cNvSpPr>
            <a:spLocks xmlns:a="http://schemas.openxmlformats.org/drawingml/2006/main" noGrp="1"/>
          </p:cNvSpPr>
          <p:nvPr/>
        </p:nvSpPr>
        <p:spPr>
          <a:xfrm xmlns:a="http://schemas.openxmlformats.org/drawingml/2006/main">
            <a:off x="6324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F5B61C"/>
                </a:solidFill>
                <a:latin typeface="Roboto"/>
                <a:ea typeface="Roboto"/>
                <a:cs typeface="Roboto"/>
              </a:defRPr>
            </a:pPr>
            <a:r>
              <a:rPr sz="4425" b="1">
                <a:solidFill>
                  <a:srgbClr val="F5B61C"/>
                </a:solidFill>
                <a:latin typeface="Roboto"/>
                <a:ea typeface="Roboto"/>
                <a:cs typeface="Roboto"/>
              </a:rPr>
              <a:t>y ~ P(y | x)</a:t>
            </a:r>
          </a:p>
        </p:txBody>
      </p:sp>
      <p:sp>
        <p:nvSpPr>
          <p:cNvPr id="10" name="">
            <a:extLst xmlns:a="http://schemas.openxmlformats.org/drawingml/2006/main">
              <a:ext uri="{FF2B5EF4-FFF2-40B4-BE49-F238E27FC236}">
                <a16:creationId xmlns:a16="http://schemas.microsoft.com/office/drawing/2014/main" id="{078C58EC-34F7-4469-92B1-4D5E30E9450B}"/>
              </a:ext>
            </a:extLst>
          </p:cNvPr>
          <p:cNvSpPr>
            <a:spLocks xmlns:a="http://schemas.openxmlformats.org/drawingml/2006/main" noGrp="1"/>
          </p:cNvSpPr>
          <p:nvPr/>
        </p:nvSpPr>
        <p:spPr>
          <a:xfrm xmlns:a="http://schemas.openxmlformats.org/drawingml/2006/main">
            <a:off x="609600" y="52768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Distribution also depends on context, model and configuration.</a:t>
            </a:r>
          </a:p>
        </p:txBody>
      </p:sp>
      <p:sp>
        <p:nvSpPr>
          <p:cNvPr id="11" name="">
            <a:extLst xmlns:a="http://schemas.openxmlformats.org/drawingml/2006/main">
              <a:ext uri="{FF2B5EF4-FFF2-40B4-BE49-F238E27FC236}">
                <a16:creationId xmlns:a16="http://schemas.microsoft.com/office/drawing/2014/main" id="{008417B4-080E-4639-86AA-85E45476850E}"/>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2A0D27C6-6A49-4FA3-99AC-37A2C229BB3B}"/>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Engineer the useful region of behavior.</a:t>
            </a:r>
          </a:p>
        </p:txBody>
      </p:sp>
    </p:spTree>
    <p:extLst>
      <p:ext uri="{BB962C8B-B14F-4D97-AF65-F5344CB8AC3E}">
        <p14:creationId xmlns:p14="http://schemas.microsoft.com/office/powerpoint/2010/main" val="1321814389"/>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B728F92-AEE8-4032-99E5-3C76D91D652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Requirements Become Boundaries</a:t>
            </a:r>
          </a:p>
        </p:txBody>
      </p:sp>
      <p:sp>
        <p:nvSpPr>
          <p:cNvPr id="2" name="">
            <a:extLst xmlns:a="http://schemas.openxmlformats.org/drawingml/2006/main">
              <a:ext uri="{FF2B5EF4-FFF2-40B4-BE49-F238E27FC236}">
                <a16:creationId xmlns:a16="http://schemas.microsoft.com/office/drawing/2014/main" id="{23E76E4B-3B1C-4065-8AA2-7CD0A0AD4B6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684F0C0-EA49-457C-B714-D097E994D68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09</a:t>
            </a:r>
          </a:p>
        </p:txBody>
      </p:sp>
      <p:sp>
        <p:nvSpPr>
          <p:cNvPr id="4" name="">
            <a:extLst xmlns:a="http://schemas.openxmlformats.org/drawingml/2006/main">
              <a:ext uri="{FF2B5EF4-FFF2-40B4-BE49-F238E27FC236}">
                <a16:creationId xmlns:a16="http://schemas.microsoft.com/office/drawing/2014/main" id="{034E2F50-712A-455D-8CDA-DC5879EA3848}"/>
              </a:ext>
            </a:extLst>
          </p:cNvPr>
          <p:cNvSpPr>
            <a:spLocks xmlns:a="http://schemas.openxmlformats.org/drawingml/2006/main" noGrp="1"/>
          </p:cNvSpPr>
          <p:nvPr/>
        </p:nvSpPr>
        <p:spPr>
          <a:xfrm xmlns:a="http://schemas.openxmlformats.org/drawingml/2006/main">
            <a:off x="609600" y="17526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PRODUCT MANAGER + BA · agree what acceptable behavior means</a:t>
            </a:r>
          </a:p>
        </p:txBody>
      </p:sp>
      <p:sp>
        <p:nvSpPr>
          <p:cNvPr id="5" name="">
            <a:extLst xmlns:a="http://schemas.openxmlformats.org/drawingml/2006/main">
              <a:ext uri="{FF2B5EF4-FFF2-40B4-BE49-F238E27FC236}">
                <a16:creationId xmlns:a16="http://schemas.microsoft.com/office/drawing/2014/main" id="{1401A792-044A-4770-95C8-7C909D4506B0}"/>
              </a:ext>
            </a:extLst>
          </p:cNvPr>
          <p:cNvSpPr>
            <a:spLocks xmlns:a="http://schemas.openxmlformats.org/drawingml/2006/main" noGrp="1"/>
          </p:cNvSpPr>
          <p:nvPr/>
        </p:nvSpPr>
        <p:spPr>
          <a:xfrm xmlns:a="http://schemas.openxmlformats.org/drawingml/2006/main" flipH="0" flipV="0">
            <a:off x="5010150" y="2228850"/>
            <a:ext cx="0" cy="233362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0FA43591-41BC-4B96-8CD7-ADA0B2360826}"/>
              </a:ext>
            </a:extLst>
          </p:cNvPr>
          <p:cNvSpPr>
            <a:spLocks xmlns:a="http://schemas.openxmlformats.org/drawingml/2006/main" noGrp="1"/>
          </p:cNvSpPr>
          <p:nvPr/>
        </p:nvSpPr>
        <p:spPr>
          <a:xfrm xmlns:a="http://schemas.openxmlformats.org/drawingml/2006/main">
            <a:off x="609600" y="2247900"/>
            <a:ext cx="417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Roboto"/>
                <a:ea typeface="Roboto"/>
                <a:cs typeface="Roboto"/>
              </a:defRPr>
            </a:pPr>
            <a:r>
              <a:rPr sz="1425" b="1">
                <a:solidFill>
                  <a:srgbClr val="ADB8C5"/>
                </a:solidFill>
                <a:latin typeface="Roboto"/>
                <a:ea typeface="Roboto"/>
                <a:cs typeface="Roboto"/>
              </a:rPr>
              <a:t>SPECIFIED FLOW · STILL REQUIRED</a:t>
            </a:r>
          </a:p>
        </p:txBody>
      </p:sp>
      <p:sp>
        <p:nvSpPr>
          <p:cNvPr id="7" name="">
            <a:extLst xmlns:a="http://schemas.openxmlformats.org/drawingml/2006/main">
              <a:ext uri="{FF2B5EF4-FFF2-40B4-BE49-F238E27FC236}">
                <a16:creationId xmlns:a16="http://schemas.microsoft.com/office/drawing/2014/main" id="{8D8A3287-186A-4B08-BAB2-279C068A5A9A}"/>
              </a:ext>
            </a:extLst>
          </p:cNvPr>
          <p:cNvSpPr>
            <a:spLocks xmlns:a="http://schemas.openxmlformats.org/drawingml/2006/main" noGrp="1"/>
          </p:cNvSpPr>
          <p:nvPr/>
        </p:nvSpPr>
        <p:spPr>
          <a:xfrm xmlns:a="http://schemas.openxmlformats.org/drawingml/2006/main">
            <a:off x="609600" y="2781300"/>
            <a:ext cx="1676400" cy="6286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0C6C492E-C35C-4C00-BEE8-F1ECA0AAA831}"/>
              </a:ext>
            </a:extLst>
          </p:cNvPr>
          <p:cNvSpPr>
            <a:spLocks xmlns:a="http://schemas.openxmlformats.org/drawingml/2006/main" noGrp="1"/>
          </p:cNvSpPr>
          <p:nvPr/>
        </p:nvSpPr>
        <p:spPr>
          <a:xfrm xmlns:a="http://schemas.openxmlformats.org/drawingml/2006/main">
            <a:off x="723900" y="2857500"/>
            <a:ext cx="1447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Roboto"/>
                <a:ea typeface="Roboto"/>
                <a:cs typeface="Roboto"/>
              </a:defRPr>
            </a:pPr>
            <a:r>
              <a:rPr sz="1950" b="1">
                <a:solidFill>
                  <a:srgbClr val="F4F7FA"/>
                </a:solidFill>
                <a:latin typeface="Roboto"/>
                <a:ea typeface="Roboto"/>
                <a:cs typeface="Roboto"/>
              </a:rPr>
              <a:t>Button A</a:t>
            </a:r>
          </a:p>
        </p:txBody>
      </p:sp>
      <p:sp>
        <p:nvSpPr>
          <p:cNvPr id="9" name="">
            <a:extLst xmlns:a="http://schemas.openxmlformats.org/drawingml/2006/main">
              <a:ext uri="{FF2B5EF4-FFF2-40B4-BE49-F238E27FC236}">
                <a16:creationId xmlns:a16="http://schemas.microsoft.com/office/drawing/2014/main" id="{82F4A0D9-EF59-4B49-B2C4-C9AF6DAF2720}"/>
              </a:ext>
            </a:extLst>
          </p:cNvPr>
          <p:cNvSpPr>
            <a:spLocks xmlns:a="http://schemas.openxmlformats.org/drawingml/2006/main" noGrp="1"/>
          </p:cNvSpPr>
          <p:nvPr/>
        </p:nvSpPr>
        <p:spPr>
          <a:xfrm xmlns:a="http://schemas.openxmlformats.org/drawingml/2006/main">
            <a:off x="2933700" y="2781300"/>
            <a:ext cx="1847850" cy="6286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E834EA46-3F15-48E1-9EC1-C61E94DC3EE5}"/>
              </a:ext>
            </a:extLst>
          </p:cNvPr>
          <p:cNvSpPr>
            <a:spLocks xmlns:a="http://schemas.openxmlformats.org/drawingml/2006/main" noGrp="1"/>
          </p:cNvSpPr>
          <p:nvPr/>
        </p:nvSpPr>
        <p:spPr>
          <a:xfrm xmlns:a="http://schemas.openxmlformats.org/drawingml/2006/main">
            <a:off x="3048000" y="2857500"/>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Roboto"/>
                <a:ea typeface="Roboto"/>
                <a:cs typeface="Roboto"/>
              </a:defRPr>
            </a:pPr>
            <a:r>
              <a:rPr sz="1950" b="1">
                <a:solidFill>
                  <a:srgbClr val="F4F7FA"/>
                </a:solidFill>
                <a:latin typeface="Roboto"/>
                <a:ea typeface="Roboto"/>
                <a:cs typeface="Roboto"/>
              </a:rPr>
              <a:t>Window B</a:t>
            </a:r>
          </a:p>
        </p:txBody>
      </p: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a:off x="2286000" y="3095625"/>
            <a:ext cx="647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E86A876A-DCBA-467F-80A2-7B52919F694D}"/>
              </a:ext>
            </a:extLst>
          </p:cNvPr>
          <p:cNvSpPr>
            <a:spLocks xmlns:a="http://schemas.openxmlformats.org/drawingml/2006/main" noGrp="1"/>
          </p:cNvSpPr>
          <p:nvPr/>
        </p:nvSpPr>
        <p:spPr>
          <a:xfrm xmlns:a="http://schemas.openxmlformats.org/drawingml/2006/main">
            <a:off x="609600" y="3619500"/>
            <a:ext cx="41719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F4F7FA"/>
                </a:solidFill>
                <a:latin typeface="Roboto"/>
                <a:ea typeface="Roboto"/>
                <a:cs typeface="Roboto"/>
              </a:defRPr>
            </a:pPr>
            <a:r>
              <a:rPr sz="2025" b="0">
                <a:solidFill>
                  <a:srgbClr val="F4F7FA"/>
                </a:solidFill>
                <a:latin typeface="Roboto"/>
                <a:ea typeface="Roboto"/>
                <a:cs typeface="Roboto"/>
              </a:rPr>
              <a:t>Exact states, permissions</a:t>
            </a:r>
          </a:p>
          <a:p xmlns:a="http://schemas.openxmlformats.org/drawingml/2006/main">
            <a:pPr algn="l">
              <a:defRPr sz="2025" b="0">
                <a:solidFill>
                  <a:srgbClr val="F4F7FA"/>
                </a:solidFill>
                <a:latin typeface="Roboto"/>
                <a:ea typeface="Roboto"/>
                <a:cs typeface="Roboto"/>
              </a:defRPr>
            </a:pPr>
            <a:r>
              <a:rPr sz="2025" b="0">
                <a:solidFill>
                  <a:srgbClr val="F4F7FA"/>
                </a:solidFill>
                <a:latin typeface="Roboto"/>
                <a:ea typeface="Roboto"/>
                <a:cs typeface="Roboto"/>
              </a:rPr>
              <a:t>and transitions.</a:t>
            </a:r>
          </a:p>
        </p:txBody>
      </p:sp>
      <p:sp>
        <p:nvSpPr>
          <p:cNvPr id="13" name="">
            <a:extLst xmlns:a="http://schemas.openxmlformats.org/drawingml/2006/main">
              <a:ext uri="{FF2B5EF4-FFF2-40B4-BE49-F238E27FC236}">
                <a16:creationId xmlns:a16="http://schemas.microsoft.com/office/drawing/2014/main" id="{297D28A1-C151-4BB6-936B-EB07601CF217}"/>
              </a:ext>
            </a:extLst>
          </p:cNvPr>
          <p:cNvSpPr>
            <a:spLocks xmlns:a="http://schemas.openxmlformats.org/drawingml/2006/main" noGrp="1"/>
          </p:cNvSpPr>
          <p:nvPr/>
        </p:nvSpPr>
        <p:spPr>
          <a:xfrm xmlns:a="http://schemas.openxmlformats.org/drawingml/2006/main">
            <a:off x="609600" y="4276725"/>
            <a:ext cx="4171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Product + BA: examples and rubric.</a:t>
            </a:r>
          </a:p>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Project Manager: stakeholder decisions.</a:t>
            </a:r>
          </a:p>
        </p:txBody>
      </p:sp>
      <p:sp>
        <p:nvSpPr>
          <p:cNvPr id="14" name="">
            <a:extLst xmlns:a="http://schemas.openxmlformats.org/drawingml/2006/main">
              <a:ext uri="{FF2B5EF4-FFF2-40B4-BE49-F238E27FC236}">
                <a16:creationId xmlns:a16="http://schemas.microsoft.com/office/drawing/2014/main" id="{2CB3B2BD-8BC2-4738-A341-2E341A391966}"/>
              </a:ext>
            </a:extLst>
          </p:cNvPr>
          <p:cNvSpPr>
            <a:spLocks xmlns:a="http://schemas.openxmlformats.org/drawingml/2006/main" noGrp="1"/>
          </p:cNvSpPr>
          <p:nvPr/>
        </p:nvSpPr>
        <p:spPr>
          <a:xfrm xmlns:a="http://schemas.openxmlformats.org/drawingml/2006/main">
            <a:off x="5295900" y="2247900"/>
            <a:ext cx="628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Roboto"/>
                <a:ea typeface="Roboto"/>
                <a:cs typeface="Roboto"/>
              </a:defRPr>
            </a:pPr>
            <a:r>
              <a:rPr sz="1425" b="1">
                <a:solidFill>
                  <a:srgbClr val="28C7F7"/>
                </a:solidFill>
                <a:latin typeface="Roboto"/>
                <a:ea typeface="Roboto"/>
                <a:cs typeface="Roboto"/>
              </a:rPr>
              <a:t>VARIABLE BEHAVIOR · ALSO REQUIRED</a:t>
            </a:r>
          </a:p>
        </p:txBody>
      </p:sp>
      <p:sp>
        <p:nvSpPr>
          <p:cNvPr id="15" name="">
            <a:extLst xmlns:a="http://schemas.openxmlformats.org/drawingml/2006/main">
              <a:ext uri="{FF2B5EF4-FFF2-40B4-BE49-F238E27FC236}">
                <a16:creationId xmlns:a16="http://schemas.microsoft.com/office/drawing/2014/main" id="{01B95713-BDEF-43F7-907C-F4C1265D772E}"/>
              </a:ext>
            </a:extLst>
          </p:cNvPr>
          <p:cNvSpPr>
            <a:spLocks xmlns:a="http://schemas.openxmlformats.org/drawingml/2006/main" noGrp="1"/>
          </p:cNvSpPr>
          <p:nvPr/>
        </p:nvSpPr>
        <p:spPr>
          <a:xfrm xmlns:a="http://schemas.openxmlformats.org/drawingml/2006/main" flipH="0" flipV="0">
            <a:off x="5295900" y="2724150"/>
            <a:ext cx="0" cy="51435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16" name="">
            <a:extLst xmlns:a="http://schemas.openxmlformats.org/drawingml/2006/main">
              <a:ext uri="{FF2B5EF4-FFF2-40B4-BE49-F238E27FC236}">
                <a16:creationId xmlns:a16="http://schemas.microsoft.com/office/drawing/2014/main" id="{55774801-0291-4DD9-BD50-B2E3EEB5FE2D}"/>
              </a:ext>
            </a:extLst>
          </p:cNvPr>
          <p:cNvSpPr>
            <a:spLocks xmlns:a="http://schemas.openxmlformats.org/drawingml/2006/main" noGrp="1"/>
          </p:cNvSpPr>
          <p:nvPr/>
        </p:nvSpPr>
        <p:spPr>
          <a:xfrm xmlns:a="http://schemas.openxmlformats.org/drawingml/2006/main">
            <a:off x="5467350" y="268605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ALLOW</a:t>
            </a:r>
          </a:p>
        </p:txBody>
      </p:sp>
      <p:sp>
        <p:nvSpPr>
          <p:cNvPr id="17" name="">
            <a:extLst xmlns:a="http://schemas.openxmlformats.org/drawingml/2006/main">
              <a:ext uri="{FF2B5EF4-FFF2-40B4-BE49-F238E27FC236}">
                <a16:creationId xmlns:a16="http://schemas.microsoft.com/office/drawing/2014/main" id="{44EE21CF-FEC2-4501-9589-8BBC132ADBAA}"/>
              </a:ext>
            </a:extLst>
          </p:cNvPr>
          <p:cNvSpPr>
            <a:spLocks xmlns:a="http://schemas.openxmlformats.org/drawingml/2006/main" noGrp="1"/>
          </p:cNvSpPr>
          <p:nvPr/>
        </p:nvSpPr>
        <p:spPr>
          <a:xfrm xmlns:a="http://schemas.openxmlformats.org/drawingml/2006/main">
            <a:off x="5467350" y="2971800"/>
            <a:ext cx="6115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Roboto"/>
                <a:ea typeface="Roboto"/>
                <a:cs typeface="Roboto"/>
              </a:defRPr>
            </a:pPr>
            <a:r>
              <a:rPr sz="1725" b="0">
                <a:solidFill>
                  <a:srgbClr val="F4F7FA"/>
                </a:solidFill>
                <a:latin typeface="Roboto"/>
                <a:ea typeface="Roboto"/>
                <a:cs typeface="Roboto"/>
              </a:rPr>
              <a:t>Explain an approved support article.</a:t>
            </a:r>
          </a:p>
        </p:txBody>
      </p:sp>
      <p:sp>
        <p:nvSpPr>
          <p:cNvPr id="18" name="">
            <a:extLst xmlns:a="http://schemas.openxmlformats.org/drawingml/2006/main">
              <a:ext uri="{FF2B5EF4-FFF2-40B4-BE49-F238E27FC236}">
                <a16:creationId xmlns:a16="http://schemas.microsoft.com/office/drawing/2014/main" id="{5E5718CC-EF41-4C7E-B8F8-FEE1E86101A7}"/>
              </a:ext>
            </a:extLst>
          </p:cNvPr>
          <p:cNvSpPr>
            <a:spLocks xmlns:a="http://schemas.openxmlformats.org/drawingml/2006/main" noGrp="1"/>
          </p:cNvSpPr>
          <p:nvPr/>
        </p:nvSpPr>
        <p:spPr>
          <a:xfrm xmlns:a="http://schemas.openxmlformats.org/drawingml/2006/main" flipH="0" flipV="0">
            <a:off x="5295900" y="3438525"/>
            <a:ext cx="0" cy="51435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9" name="">
            <a:extLst xmlns:a="http://schemas.openxmlformats.org/drawingml/2006/main">
              <a:ext uri="{FF2B5EF4-FFF2-40B4-BE49-F238E27FC236}">
                <a16:creationId xmlns:a16="http://schemas.microsoft.com/office/drawing/2014/main" id="{C2F6BE27-705A-4180-A5D3-44029EB03C2E}"/>
              </a:ext>
            </a:extLst>
          </p:cNvPr>
          <p:cNvSpPr>
            <a:spLocks xmlns:a="http://schemas.openxmlformats.org/drawingml/2006/main" noGrp="1"/>
          </p:cNvSpPr>
          <p:nvPr/>
        </p:nvSpPr>
        <p:spPr>
          <a:xfrm xmlns:a="http://schemas.openxmlformats.org/drawingml/2006/main">
            <a:off x="5467350" y="3400425"/>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Roboto"/>
                <a:ea typeface="Roboto"/>
                <a:cs typeface="Roboto"/>
              </a:defRPr>
            </a:pPr>
            <a:r>
              <a:rPr sz="1500" b="1">
                <a:solidFill>
                  <a:srgbClr val="F5B61C"/>
                </a:solidFill>
                <a:latin typeface="Roboto"/>
                <a:ea typeface="Roboto"/>
                <a:cs typeface="Roboto"/>
              </a:rPr>
              <a:t>CLARIFY</a:t>
            </a:r>
          </a:p>
        </p:txBody>
      </p:sp>
      <p:sp>
        <p:nvSpPr>
          <p:cNvPr id="20" name="">
            <a:extLst xmlns:a="http://schemas.openxmlformats.org/drawingml/2006/main">
              <a:ext uri="{FF2B5EF4-FFF2-40B4-BE49-F238E27FC236}">
                <a16:creationId xmlns:a16="http://schemas.microsoft.com/office/drawing/2014/main" id="{B38331C4-C184-446C-B6B0-5B806C483083}"/>
              </a:ext>
            </a:extLst>
          </p:cNvPr>
          <p:cNvSpPr>
            <a:spLocks xmlns:a="http://schemas.openxmlformats.org/drawingml/2006/main" noGrp="1"/>
          </p:cNvSpPr>
          <p:nvPr/>
        </p:nvSpPr>
        <p:spPr>
          <a:xfrm xmlns:a="http://schemas.openxmlformats.org/drawingml/2006/main">
            <a:off x="5467350" y="3686175"/>
            <a:ext cx="6115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Roboto"/>
                <a:ea typeface="Roboto"/>
                <a:cs typeface="Roboto"/>
              </a:defRPr>
            </a:pPr>
            <a:r>
              <a:rPr sz="1725" b="0">
                <a:solidFill>
                  <a:srgbClr val="F4F7FA"/>
                </a:solidFill>
                <a:latin typeface="Roboto"/>
                <a:ea typeface="Roboto"/>
                <a:cs typeface="Roboto"/>
              </a:rPr>
              <a:t>Missing context? Ask before advising.</a:t>
            </a:r>
          </a:p>
        </p:txBody>
      </p:sp>
      <p:sp>
        <p:nvSpPr>
          <p:cNvPr id="21" name="">
            <a:extLst xmlns:a="http://schemas.openxmlformats.org/drawingml/2006/main">
              <a:ext uri="{FF2B5EF4-FFF2-40B4-BE49-F238E27FC236}">
                <a16:creationId xmlns:a16="http://schemas.microsoft.com/office/drawing/2014/main" id="{6600F3C7-3B4A-43AB-9A29-C481C051004E}"/>
              </a:ext>
            </a:extLst>
          </p:cNvPr>
          <p:cNvSpPr>
            <a:spLocks xmlns:a="http://schemas.openxmlformats.org/drawingml/2006/main" noGrp="1"/>
          </p:cNvSpPr>
          <p:nvPr/>
        </p:nvSpPr>
        <p:spPr>
          <a:xfrm xmlns:a="http://schemas.openxmlformats.org/drawingml/2006/main" flipH="0" flipV="0">
            <a:off x="5295900" y="4152900"/>
            <a:ext cx="0" cy="514350"/>
          </a:xfrm>
          <a:prstGeom xmlns:a="http://schemas.openxmlformats.org/drawingml/2006/main" prst="line">
            <a:avLst/>
          </a:prstGeom>
          <a:noFill xmlns:a="http://schemas.openxmlformats.org/drawingml/2006/main"/>
          <a:ln xmlns:a="http://schemas.openxmlformats.org/drawingml/2006/main" w="38100">
            <a:solidFill>
              <a:srgbClr val="FF6B75"/>
            </a:solidFill>
            <a:prstDash val="solid"/>
          </a:ln>
        </p:spPr>
      </p:sp>
      <p:sp>
        <p:nvSpPr>
          <p:cNvPr id="22" name="">
            <a:extLst xmlns:a="http://schemas.openxmlformats.org/drawingml/2006/main">
              <a:ext uri="{FF2B5EF4-FFF2-40B4-BE49-F238E27FC236}">
                <a16:creationId xmlns:a16="http://schemas.microsoft.com/office/drawing/2014/main" id="{612FC08D-F5AD-4D12-ADA1-6F52B66D8F92}"/>
              </a:ext>
            </a:extLst>
          </p:cNvPr>
          <p:cNvSpPr>
            <a:spLocks xmlns:a="http://schemas.openxmlformats.org/drawingml/2006/main" noGrp="1"/>
          </p:cNvSpPr>
          <p:nvPr/>
        </p:nvSpPr>
        <p:spPr>
          <a:xfrm xmlns:a="http://schemas.openxmlformats.org/drawingml/2006/main">
            <a:off x="5467350" y="41148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F6B75"/>
                </a:solidFill>
                <a:latin typeface="Roboto"/>
                <a:ea typeface="Roboto"/>
                <a:cs typeface="Roboto"/>
              </a:defRPr>
            </a:pPr>
            <a:r>
              <a:rPr sz="1500" b="1">
                <a:solidFill>
                  <a:srgbClr val="FF6B75"/>
                </a:solidFill>
                <a:latin typeface="Roboto"/>
                <a:ea typeface="Roboto"/>
                <a:cs typeface="Roboto"/>
              </a:rPr>
              <a:t>PROHIBIT</a:t>
            </a:r>
          </a:p>
        </p:txBody>
      </p:sp>
      <p:sp>
        <p:nvSpPr>
          <p:cNvPr id="23" name="">
            <a:extLst xmlns:a="http://schemas.openxmlformats.org/drawingml/2006/main">
              <a:ext uri="{FF2B5EF4-FFF2-40B4-BE49-F238E27FC236}">
                <a16:creationId xmlns:a16="http://schemas.microsoft.com/office/drawing/2014/main" id="{FD52BF7B-B0CD-42F1-9296-829128C62193}"/>
              </a:ext>
            </a:extLst>
          </p:cNvPr>
          <p:cNvSpPr>
            <a:spLocks xmlns:a="http://schemas.openxmlformats.org/drawingml/2006/main" noGrp="1"/>
          </p:cNvSpPr>
          <p:nvPr/>
        </p:nvSpPr>
        <p:spPr>
          <a:xfrm xmlns:a="http://schemas.openxmlformats.org/drawingml/2006/main">
            <a:off x="5467350" y="4400550"/>
            <a:ext cx="6115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Roboto"/>
                <a:ea typeface="Roboto"/>
                <a:cs typeface="Roboto"/>
              </a:defRPr>
            </a:pPr>
            <a:r>
              <a:rPr sz="1725" b="0">
                <a:solidFill>
                  <a:srgbClr val="F4F7FA"/>
                </a:solidFill>
                <a:latin typeface="Roboto"/>
                <a:ea typeface="Roboto"/>
                <a:cs typeface="Roboto"/>
              </a:rPr>
              <a:t>Invent steps, expose data, bypass approval.</a:t>
            </a:r>
          </a:p>
        </p:txBody>
      </p:sp>
      <p:sp>
        <p:nvSpPr>
          <p:cNvPr id="24" name="">
            <a:extLst xmlns:a="http://schemas.openxmlformats.org/drawingml/2006/main">
              <a:ext uri="{FF2B5EF4-FFF2-40B4-BE49-F238E27FC236}">
                <a16:creationId xmlns:a16="http://schemas.microsoft.com/office/drawing/2014/main" id="{508AC19B-15E0-4CDC-AC46-180FB9AB5D35}"/>
              </a:ext>
            </a:extLst>
          </p:cNvPr>
          <p:cNvSpPr>
            <a:spLocks xmlns:a="http://schemas.openxmlformats.org/drawingml/2006/main" noGrp="1"/>
          </p:cNvSpPr>
          <p:nvPr/>
        </p:nvSpPr>
        <p:spPr>
          <a:xfrm xmlns:a="http://schemas.openxmlformats.org/drawingml/2006/main" flipH="0" flipV="0">
            <a:off x="609600" y="4953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10D251A1-0E12-42EF-ACDE-10E8B2E8233F}"/>
              </a:ext>
            </a:extLst>
          </p:cNvPr>
          <p:cNvSpPr>
            <a:spLocks xmlns:a="http://schemas.openxmlformats.org/drawingml/2006/main" noGrp="1"/>
          </p:cNvSpPr>
          <p:nvPr/>
        </p:nvSpPr>
        <p:spPr>
          <a:xfrm xmlns:a="http://schemas.openxmlformats.org/drawingml/2006/main">
            <a:off x="609600" y="5076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Roboto"/>
                <a:ea typeface="Roboto"/>
                <a:cs typeface="Roboto"/>
              </a:defRPr>
            </a:pPr>
            <a:r>
              <a:rPr sz="1725" b="0">
                <a:solidFill>
                  <a:srgbClr val="F4F7FA"/>
                </a:solidFill>
                <a:latin typeface="Roboto"/>
                <a:ea typeface="Roboto"/>
                <a:cs typeface="Roboto"/>
              </a:rPr>
              <a:t>Shared quality vocabulary exists. Product-specific semantic limits still need agreement.</a:t>
            </a:r>
          </a:p>
        </p:txBody>
      </p:sp>
      <p:sp>
        <p:nvSpPr>
          <p:cNvPr id="26" name="">
            <a:extLst xmlns:a="http://schemas.openxmlformats.org/drawingml/2006/main">
              <a:ext uri="{FF2B5EF4-FFF2-40B4-BE49-F238E27FC236}">
                <a16:creationId xmlns:a16="http://schemas.microsoft.com/office/drawing/2014/main" id="{21C911ED-251C-4A19-8B66-D578588EBAB8}"/>
              </a:ext>
            </a:extLst>
          </p:cNvPr>
          <p:cNvSpPr>
            <a:spLocks xmlns:a="http://schemas.openxmlformats.org/drawingml/2006/main" noGrp="1"/>
          </p:cNvSpPr>
          <p:nvPr/>
        </p:nvSpPr>
        <p:spPr>
          <a:xfrm xmlns:a="http://schemas.openxmlformats.org/drawingml/2006/main">
            <a:off x="609600" y="54483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Starting points: ISO/IEC 25059 · NIST AI RMF · CheckList (ACL 2020)</a:t>
            </a:r>
          </a:p>
        </p:txBody>
      </p:sp>
      <p:sp>
        <p:nvSpPr>
          <p:cNvPr id="27" name="">
            <a:extLst xmlns:a="http://schemas.openxmlformats.org/drawingml/2006/main">
              <a:ext uri="{FF2B5EF4-FFF2-40B4-BE49-F238E27FC236}">
                <a16:creationId xmlns:a16="http://schemas.microsoft.com/office/drawing/2014/main" id="{6536991D-3619-43DB-9868-9AB4D4BC79EF}"/>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E44E0BBC-C453-431B-B8AB-26390315ED70}"/>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Roboto"/>
                <a:ea typeface="Roboto"/>
                <a:cs typeface="Roboto"/>
              </a:defRPr>
            </a:pPr>
            <a:r>
              <a:rPr sz="2025" b="1">
                <a:solidFill>
                  <a:srgbClr val="F4F7FA"/>
                </a:solidFill>
                <a:latin typeface="Roboto"/>
                <a:ea typeface="Roboto"/>
                <a:cs typeface="Roboto"/>
              </a:rPr>
              <a:t>Business scenarios → examples + counterexamples → acceptance rules</a:t>
            </a:r>
          </a:p>
        </p:txBody>
      </p:sp>
    </p:spTree>
    <p:extLst>
      <p:ext uri="{BB962C8B-B14F-4D97-AF65-F5344CB8AC3E}">
        <p14:creationId xmlns:p14="http://schemas.microsoft.com/office/powerpoint/2010/main" val="1981166762"/>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920BBE26-737A-4633-81C8-3E71C7E246E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One Green Test Proves Almost Nothing</a:t>
            </a:r>
          </a:p>
        </p:txBody>
      </p:sp>
      <p:sp>
        <p:nvSpPr>
          <p:cNvPr id="2" name="">
            <a:extLst xmlns:a="http://schemas.openxmlformats.org/drawingml/2006/main">
              <a:ext uri="{FF2B5EF4-FFF2-40B4-BE49-F238E27FC236}">
                <a16:creationId xmlns:a16="http://schemas.microsoft.com/office/drawing/2014/main" id="{7B380591-E26E-4582-B5C1-FC69C0947D6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0232E73-4AE4-44FE-879B-090A436A67A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10</a:t>
            </a:r>
          </a:p>
        </p:txBody>
      </p:sp>
      <p:sp>
        <p:nvSpPr>
          <p:cNvPr id="4" name="">
            <a:extLst xmlns:a="http://schemas.openxmlformats.org/drawingml/2006/main">
              <a:ext uri="{FF2B5EF4-FFF2-40B4-BE49-F238E27FC236}">
                <a16:creationId xmlns:a16="http://schemas.microsoft.com/office/drawing/2014/main" id="{AB6BCFFA-6180-47BF-B4D1-D1CC2D65C346}"/>
              </a:ext>
            </a:extLst>
          </p:cNvPr>
          <p:cNvSpPr>
            <a:spLocks xmlns:a="http://schemas.openxmlformats.org/drawingml/2006/main" noGrp="1"/>
          </p:cNvSpPr>
          <p:nvPr/>
        </p:nvSpPr>
        <p:spPr>
          <a:xfrm xmlns:a="http://schemas.openxmlformats.org/drawingml/2006/main">
            <a:off x="609600" y="17526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QA + DEVELOPERS · estimate behavior, uncertainty and consequences</a:t>
            </a:r>
          </a:p>
        </p:txBody>
      </p:sp>
      <p:sp>
        <p:nvSpPr>
          <p:cNvPr id="5" name="">
            <a:extLst xmlns:a="http://schemas.openxmlformats.org/drawingml/2006/main">
              <a:ext uri="{FF2B5EF4-FFF2-40B4-BE49-F238E27FC236}">
                <a16:creationId xmlns:a16="http://schemas.microsoft.com/office/drawing/2014/main" id="{26D95E38-E2EC-4A34-82C7-850BF6E11B59}"/>
              </a:ext>
            </a:extLst>
          </p:cNvPr>
          <p:cNvSpPr>
            <a:spLocks xmlns:a="http://schemas.openxmlformats.org/drawingml/2006/main" noGrp="1"/>
          </p:cNvSpPr>
          <p:nvPr/>
        </p:nvSpPr>
        <p:spPr>
          <a:xfrm xmlns:a="http://schemas.openxmlformats.org/drawingml/2006/main" flipH="0" flipV="0">
            <a:off x="5934075" y="2209800"/>
            <a:ext cx="0" cy="20097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D68A2912-6E24-4FDD-A3BB-7D8EF05AA744}"/>
              </a:ext>
            </a:extLst>
          </p:cNvPr>
          <p:cNvSpPr>
            <a:spLocks xmlns:a="http://schemas.openxmlformats.org/drawingml/2006/main" noGrp="1"/>
          </p:cNvSpPr>
          <p:nvPr/>
        </p:nvSpPr>
        <p:spPr>
          <a:xfrm xmlns:a="http://schemas.openxmlformats.org/drawingml/2006/main">
            <a:off x="609600" y="2228850"/>
            <a:ext cx="5048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HOW OFTEN?</a:t>
            </a:r>
          </a:p>
        </p:txBody>
      </p:sp>
      <p:sp>
        <p:nvSpPr>
          <p:cNvPr id="7" name="">
            <a:extLst xmlns:a="http://schemas.openxmlformats.org/drawingml/2006/main">
              <a:ext uri="{FF2B5EF4-FFF2-40B4-BE49-F238E27FC236}">
                <a16:creationId xmlns:a16="http://schemas.microsoft.com/office/drawing/2014/main" id="{885B032F-D0F7-4D0A-8346-8C6D8D0BA21A}"/>
              </a:ext>
            </a:extLst>
          </p:cNvPr>
          <p:cNvSpPr>
            <a:spLocks xmlns:a="http://schemas.openxmlformats.org/drawingml/2006/main" noGrp="1"/>
          </p:cNvSpPr>
          <p:nvPr/>
        </p:nvSpPr>
        <p:spPr>
          <a:xfrm xmlns:a="http://schemas.openxmlformats.org/drawingml/2006/main">
            <a:off x="609600" y="2619375"/>
            <a:ext cx="5048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4 / 200 = 2%</a:t>
            </a:r>
          </a:p>
        </p:txBody>
      </p:sp>
      <p:sp>
        <p:nvSpPr>
          <p:cNvPr id="8" name="">
            <a:extLst xmlns:a="http://schemas.openxmlformats.org/drawingml/2006/main">
              <a:ext uri="{FF2B5EF4-FFF2-40B4-BE49-F238E27FC236}">
                <a16:creationId xmlns:a16="http://schemas.microsoft.com/office/drawing/2014/main" id="{B483B7DE-0B65-4590-8382-184A06729E3D}"/>
              </a:ext>
            </a:extLst>
          </p:cNvPr>
          <p:cNvSpPr>
            <a:spLocks xmlns:a="http://schemas.openxmlformats.org/drawingml/2006/main" noGrp="1"/>
          </p:cNvSpPr>
          <p:nvPr/>
        </p:nvSpPr>
        <p:spPr>
          <a:xfrm xmlns:a="http://schemas.openxmlformats.org/drawingml/2006/main">
            <a:off x="609600" y="3181350"/>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Observed unacceptable outputs</a:t>
            </a:r>
          </a:p>
        </p:txBody>
      </p:sp>
      <p:sp>
        <p:nvSpPr>
          <p:cNvPr id="9" name="">
            <a:extLst xmlns:a="http://schemas.openxmlformats.org/drawingml/2006/main">
              <a:ext uri="{FF2B5EF4-FFF2-40B4-BE49-F238E27FC236}">
                <a16:creationId xmlns:a16="http://schemas.microsoft.com/office/drawing/2014/main" id="{ECCF5736-A6BF-41BE-B14C-748ACD058C9D}"/>
              </a:ext>
            </a:extLst>
          </p:cNvPr>
          <p:cNvSpPr>
            <a:spLocks xmlns:a="http://schemas.openxmlformats.org/drawingml/2006/main" noGrp="1"/>
          </p:cNvSpPr>
          <p:nvPr/>
        </p:nvSpPr>
        <p:spPr>
          <a:xfrm xmlns:a="http://schemas.openxmlformats.org/drawingml/2006/main">
            <a:off x="609600" y="3562350"/>
            <a:ext cx="5048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Roboto"/>
                <a:ea typeface="Roboto"/>
                <a:cs typeface="Roboto"/>
              </a:defRPr>
            </a:pPr>
            <a:r>
              <a:rPr sz="1725" b="0">
                <a:solidFill>
                  <a:srgbClr val="28C7F7"/>
                </a:solidFill>
                <a:latin typeface="Roboto"/>
                <a:ea typeface="Roboto"/>
                <a:cs typeface="Roboto"/>
              </a:rPr>
              <a:t>95% Wilson interval ≈ 0.8%–5.0%</a:t>
            </a:r>
          </a:p>
        </p:txBody>
      </p:sp>
      <p:sp>
        <p:nvSpPr>
          <p:cNvPr id="10" name="">
            <a:extLst xmlns:a="http://schemas.openxmlformats.org/drawingml/2006/main">
              <a:ext uri="{FF2B5EF4-FFF2-40B4-BE49-F238E27FC236}">
                <a16:creationId xmlns:a16="http://schemas.microsoft.com/office/drawing/2014/main" id="{CBC486FB-FA10-419C-B46C-89D195F9DF57}"/>
              </a:ext>
            </a:extLst>
          </p:cNvPr>
          <p:cNvSpPr>
            <a:spLocks xmlns:a="http://schemas.openxmlformats.org/drawingml/2006/main" noGrp="1"/>
          </p:cNvSpPr>
          <p:nvPr/>
        </p:nvSpPr>
        <p:spPr>
          <a:xfrm xmlns:a="http://schemas.openxmlformats.org/drawingml/2006/main" flipH="0" flipV="0">
            <a:off x="895350" y="4038600"/>
            <a:ext cx="43815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1960CC00-C9B8-4312-ACA9-4779E3BF4C83}"/>
              </a:ext>
            </a:extLst>
          </p:cNvPr>
          <p:cNvSpPr>
            <a:spLocks xmlns:a="http://schemas.openxmlformats.org/drawingml/2006/main" noGrp="1"/>
          </p:cNvSpPr>
          <p:nvPr/>
        </p:nvSpPr>
        <p:spPr>
          <a:xfrm xmlns:a="http://schemas.openxmlformats.org/drawingml/2006/main" flipH="0" flipV="0">
            <a:off x="1465268" y="4038600"/>
            <a:ext cx="3102296" cy="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12" name="">
            <a:extLst xmlns:a="http://schemas.openxmlformats.org/drawingml/2006/main">
              <a:ext uri="{FF2B5EF4-FFF2-40B4-BE49-F238E27FC236}">
                <a16:creationId xmlns:a16="http://schemas.microsoft.com/office/drawing/2014/main" id="{2B5C8A58-0A22-40B6-819D-DE633480DD8E}"/>
              </a:ext>
            </a:extLst>
          </p:cNvPr>
          <p:cNvSpPr>
            <a:spLocks xmlns:a="http://schemas.openxmlformats.org/drawingml/2006/main" noGrp="1"/>
          </p:cNvSpPr>
          <p:nvPr/>
        </p:nvSpPr>
        <p:spPr>
          <a:xfrm xmlns:a="http://schemas.openxmlformats.org/drawingml/2006/main" flipH="0" flipV="0">
            <a:off x="1465268" y="3971925"/>
            <a:ext cx="0" cy="13335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13" name="">
            <a:extLst xmlns:a="http://schemas.openxmlformats.org/drawingml/2006/main">
              <a:ext uri="{FF2B5EF4-FFF2-40B4-BE49-F238E27FC236}">
                <a16:creationId xmlns:a16="http://schemas.microsoft.com/office/drawing/2014/main" id="{63F3FF0A-4BEB-4ACD-A60A-52CB7FD84D22}"/>
              </a:ext>
            </a:extLst>
          </p:cNvPr>
          <p:cNvSpPr>
            <a:spLocks xmlns:a="http://schemas.openxmlformats.org/drawingml/2006/main" noGrp="1"/>
          </p:cNvSpPr>
          <p:nvPr/>
        </p:nvSpPr>
        <p:spPr>
          <a:xfrm xmlns:a="http://schemas.openxmlformats.org/drawingml/2006/main" flipH="0" flipV="0">
            <a:off x="4567565" y="3971925"/>
            <a:ext cx="0" cy="13335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14" name="">
            <a:extLst xmlns:a="http://schemas.openxmlformats.org/drawingml/2006/main">
              <a:ext uri="{FF2B5EF4-FFF2-40B4-BE49-F238E27FC236}">
                <a16:creationId xmlns:a16="http://schemas.microsoft.com/office/drawing/2014/main" id="{907EBF31-83D2-4613-830C-F197BB729D6A}"/>
              </a:ext>
            </a:extLst>
          </p:cNvPr>
          <p:cNvSpPr>
            <a:spLocks xmlns:a="http://schemas.openxmlformats.org/drawingml/2006/main" noGrp="1"/>
          </p:cNvSpPr>
          <p:nvPr/>
        </p:nvSpPr>
        <p:spPr>
          <a:xfrm xmlns:a="http://schemas.openxmlformats.org/drawingml/2006/main">
            <a:off x="2308225" y="3990975"/>
            <a:ext cx="95250" cy="95250"/>
          </a:xfrm>
          <a:prstGeom xmlns:a="http://schemas.openxmlformats.org/drawingml/2006/main" prst="rect">
            <a:avLst/>
          </a:prstGeom>
          <a:solidFill xmlns:a="http://schemas.openxmlformats.org/drawingml/2006/main">
            <a:srgbClr val="F4F7FA"/>
          </a:solidFill>
          <a:ln xmlns:a="http://schemas.openxmlformats.org/drawingml/2006/main" w="14288">
            <a:solidFill>
              <a:srgbClr val="F4F7FA"/>
            </a:solidFill>
            <a:prstDash val="solid"/>
          </a:ln>
        </p:spPr>
      </p:sp>
      <p:sp>
        <p:nvSpPr>
          <p:cNvPr id="15" name="">
            <a:extLst xmlns:a="http://schemas.openxmlformats.org/drawingml/2006/main">
              <a:ext uri="{FF2B5EF4-FFF2-40B4-BE49-F238E27FC236}">
                <a16:creationId xmlns:a16="http://schemas.microsoft.com/office/drawing/2014/main" id="{AB1CC14E-6227-4ADC-BBB4-1988C1CA38BC}"/>
              </a:ext>
            </a:extLst>
          </p:cNvPr>
          <p:cNvSpPr>
            <a:spLocks xmlns:a="http://schemas.openxmlformats.org/drawingml/2006/main" noGrp="1"/>
          </p:cNvSpPr>
          <p:nvPr/>
        </p:nvSpPr>
        <p:spPr>
          <a:xfrm xmlns:a="http://schemas.openxmlformats.org/drawingml/2006/main">
            <a:off x="714375" y="41719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0%</a:t>
            </a:r>
          </a:p>
        </p:txBody>
      </p:sp>
      <p:sp>
        <p:nvSpPr>
          <p:cNvPr id="16" name="">
            <a:extLst xmlns:a="http://schemas.openxmlformats.org/drawingml/2006/main">
              <a:ext uri="{FF2B5EF4-FFF2-40B4-BE49-F238E27FC236}">
                <a16:creationId xmlns:a16="http://schemas.microsoft.com/office/drawing/2014/main" id="{EE00CA2E-EF2E-4BA8-AB7E-56033BC3A0BD}"/>
              </a:ext>
            </a:extLst>
          </p:cNvPr>
          <p:cNvSpPr>
            <a:spLocks xmlns:a="http://schemas.openxmlformats.org/drawingml/2006/main" noGrp="1"/>
          </p:cNvSpPr>
          <p:nvPr/>
        </p:nvSpPr>
        <p:spPr>
          <a:xfrm xmlns:a="http://schemas.openxmlformats.org/drawingml/2006/main">
            <a:off x="2174875" y="41719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2%</a:t>
            </a:r>
          </a:p>
        </p:txBody>
      </p:sp>
      <p:sp>
        <p:nvSpPr>
          <p:cNvPr id="17" name="">
            <a:extLst xmlns:a="http://schemas.openxmlformats.org/drawingml/2006/main">
              <a:ext uri="{FF2B5EF4-FFF2-40B4-BE49-F238E27FC236}">
                <a16:creationId xmlns:a16="http://schemas.microsoft.com/office/drawing/2014/main" id="{1A3CA624-A815-4859-9666-D1F0610A5B9D}"/>
              </a:ext>
            </a:extLst>
          </p:cNvPr>
          <p:cNvSpPr>
            <a:spLocks xmlns:a="http://schemas.openxmlformats.org/drawingml/2006/main" noGrp="1"/>
          </p:cNvSpPr>
          <p:nvPr/>
        </p:nvSpPr>
        <p:spPr>
          <a:xfrm xmlns:a="http://schemas.openxmlformats.org/drawingml/2006/main">
            <a:off x="3635375" y="41719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4%</a:t>
            </a:r>
          </a:p>
        </p:txBody>
      </p:sp>
      <p:sp>
        <p:nvSpPr>
          <p:cNvPr id="18" name="">
            <a:extLst xmlns:a="http://schemas.openxmlformats.org/drawingml/2006/main">
              <a:ext uri="{FF2B5EF4-FFF2-40B4-BE49-F238E27FC236}">
                <a16:creationId xmlns:a16="http://schemas.microsoft.com/office/drawing/2014/main" id="{412641CB-7E66-4B77-BC5B-FE5223F29A92}"/>
              </a:ext>
            </a:extLst>
          </p:cNvPr>
          <p:cNvSpPr>
            <a:spLocks xmlns:a="http://schemas.openxmlformats.org/drawingml/2006/main" noGrp="1"/>
          </p:cNvSpPr>
          <p:nvPr/>
        </p:nvSpPr>
        <p:spPr>
          <a:xfrm xmlns:a="http://schemas.openxmlformats.org/drawingml/2006/main">
            <a:off x="5095875" y="41719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6%</a:t>
            </a:r>
          </a:p>
        </p:txBody>
      </p:sp>
      <p:sp>
        <p:nvSpPr>
          <p:cNvPr id="19" name="">
            <a:extLst xmlns:a="http://schemas.openxmlformats.org/drawingml/2006/main">
              <a:ext uri="{FF2B5EF4-FFF2-40B4-BE49-F238E27FC236}">
                <a16:creationId xmlns:a16="http://schemas.microsoft.com/office/drawing/2014/main" id="{6F7A8876-6E5D-48FD-A61F-9286AC37A530}"/>
              </a:ext>
            </a:extLst>
          </p:cNvPr>
          <p:cNvSpPr>
            <a:spLocks xmlns:a="http://schemas.openxmlformats.org/drawingml/2006/main" noGrp="1"/>
          </p:cNvSpPr>
          <p:nvPr/>
        </p:nvSpPr>
        <p:spPr>
          <a:xfrm xmlns:a="http://schemas.openxmlformats.org/drawingml/2006/main">
            <a:off x="6286500" y="2228850"/>
            <a:ext cx="5295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Roboto"/>
                <a:ea typeface="Roboto"/>
                <a:cs typeface="Roboto"/>
              </a:defRPr>
            </a:pPr>
            <a:r>
              <a:rPr sz="1650" b="1">
                <a:solidFill>
                  <a:srgbClr val="F5B61C"/>
                </a:solidFill>
                <a:latin typeface="Roboto"/>
                <a:ea typeface="Roboto"/>
                <a:cs typeface="Roboto"/>
              </a:rPr>
              <a:t>HOW HARMFUL?</a:t>
            </a:r>
          </a:p>
        </p:txBody>
      </p:sp>
      <p:sp>
        <p:nvSpPr>
          <p:cNvPr id="20" name="">
            <a:extLst xmlns:a="http://schemas.openxmlformats.org/drawingml/2006/main">
              <a:ext uri="{FF2B5EF4-FFF2-40B4-BE49-F238E27FC236}">
                <a16:creationId xmlns:a16="http://schemas.microsoft.com/office/drawing/2014/main" id="{6B7B5244-8F0A-407B-B2E8-DE31B6F27B23}"/>
              </a:ext>
            </a:extLst>
          </p:cNvPr>
          <p:cNvSpPr>
            <a:spLocks xmlns:a="http://schemas.openxmlformats.org/drawingml/2006/main" noGrp="1"/>
          </p:cNvSpPr>
          <p:nvPr/>
        </p:nvSpPr>
        <p:spPr>
          <a:xfrm xmlns:a="http://schemas.openxmlformats.org/drawingml/2006/main">
            <a:off x="6286500" y="2676525"/>
            <a:ext cx="5295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Roboto"/>
                <a:ea typeface="Roboto"/>
                <a:cs typeface="Roboto"/>
              </a:defRPr>
            </a:pPr>
            <a:r>
              <a:rPr sz="1875" b="0">
                <a:solidFill>
                  <a:srgbClr val="F4F7FA"/>
                </a:solidFill>
                <a:latin typeface="Roboto"/>
                <a:ea typeface="Roboto"/>
                <a:cs typeface="Roboto"/>
              </a:rPr>
              <a:t>3 incorrect instructions → rework</a:t>
            </a:r>
          </a:p>
        </p:txBody>
      </p:sp>
      <p:sp>
        <p:nvSpPr>
          <p:cNvPr id="21" name="">
            <a:extLst xmlns:a="http://schemas.openxmlformats.org/drawingml/2006/main">
              <a:ext uri="{FF2B5EF4-FFF2-40B4-BE49-F238E27FC236}">
                <a16:creationId xmlns:a16="http://schemas.microsoft.com/office/drawing/2014/main" id="{595120E9-2347-4C26-B896-85A3986D2319}"/>
              </a:ext>
            </a:extLst>
          </p:cNvPr>
          <p:cNvSpPr>
            <a:spLocks xmlns:a="http://schemas.openxmlformats.org/drawingml/2006/main" noGrp="1"/>
          </p:cNvSpPr>
          <p:nvPr/>
        </p:nvSpPr>
        <p:spPr>
          <a:xfrm xmlns:a="http://schemas.openxmlformats.org/drawingml/2006/main">
            <a:off x="6286500" y="3152775"/>
            <a:ext cx="5295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F6B75"/>
                </a:solidFill>
                <a:latin typeface="Roboto"/>
                <a:ea typeface="Roboto"/>
                <a:cs typeface="Roboto"/>
              </a:defRPr>
            </a:pPr>
            <a:r>
              <a:rPr sz="1875" b="0">
                <a:solidFill>
                  <a:srgbClr val="FF6B75"/>
                </a:solidFill>
                <a:latin typeface="Roboto"/>
                <a:ea typeface="Roboto"/>
                <a:cs typeface="Roboto"/>
              </a:rPr>
              <a:t>1 privacy leak → critical breach</a:t>
            </a:r>
          </a:p>
        </p:txBody>
      </p:sp>
      <p:sp>
        <p:nvSpPr>
          <p:cNvPr id="22" name="">
            <a:extLst xmlns:a="http://schemas.openxmlformats.org/drawingml/2006/main">
              <a:ext uri="{FF2B5EF4-FFF2-40B4-BE49-F238E27FC236}">
                <a16:creationId xmlns:a16="http://schemas.microsoft.com/office/drawing/2014/main" id="{93080437-A04D-41C5-8772-73A4050EF0C0}"/>
              </a:ext>
            </a:extLst>
          </p:cNvPr>
          <p:cNvSpPr>
            <a:spLocks xmlns:a="http://schemas.openxmlformats.org/drawingml/2006/main" noGrp="1"/>
          </p:cNvSpPr>
          <p:nvPr/>
        </p:nvSpPr>
        <p:spPr>
          <a:xfrm xmlns:a="http://schemas.openxmlformats.org/drawingml/2006/main">
            <a:off x="6286500" y="3752850"/>
            <a:ext cx="5295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F6B75"/>
                </a:solidFill>
                <a:latin typeface="Roboto"/>
                <a:ea typeface="Roboto"/>
                <a:cs typeface="Roboto"/>
              </a:defRPr>
            </a:pPr>
            <a:r>
              <a:rPr sz="2025" b="1">
                <a:solidFill>
                  <a:srgbClr val="FF6B75"/>
                </a:solidFill>
                <a:latin typeface="Roboto"/>
                <a:ea typeface="Roboto"/>
                <a:cs typeface="Roboto"/>
              </a:rPr>
              <a:t>Critical breach → BLOCK RELEASE</a:t>
            </a:r>
          </a:p>
        </p:txBody>
      </p:sp>
      <p:sp>
        <p:nvSpPr>
          <p:cNvPr id="23" name="">
            <a:extLst xmlns:a="http://schemas.openxmlformats.org/drawingml/2006/main">
              <a:ext uri="{FF2B5EF4-FFF2-40B4-BE49-F238E27FC236}">
                <a16:creationId xmlns:a16="http://schemas.microsoft.com/office/drawing/2014/main" id="{9C9D5A6E-8127-4C99-9152-6B5780451E91}"/>
              </a:ext>
            </a:extLst>
          </p:cNvPr>
          <p:cNvSpPr>
            <a:spLocks xmlns:a="http://schemas.openxmlformats.org/drawingml/2006/main" noGrp="1"/>
          </p:cNvSpPr>
          <p:nvPr/>
        </p:nvSpPr>
        <p:spPr>
          <a:xfrm xmlns:a="http://schemas.openxmlformats.org/drawingml/2006/main">
            <a:off x="609600" y="45243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Illustrative independent sample; 196 / 200 acceptable. No production guarantee.</a:t>
            </a:r>
          </a:p>
        </p:txBody>
      </p:sp>
      <p:sp>
        <p:nvSpPr>
          <p:cNvPr id="24" name="">
            <a:extLst xmlns:a="http://schemas.openxmlformats.org/drawingml/2006/main">
              <a:ext uri="{FF2B5EF4-FFF2-40B4-BE49-F238E27FC236}">
                <a16:creationId xmlns:a16="http://schemas.microsoft.com/office/drawing/2014/main" id="{64F63D37-CFB2-4A52-B3B5-6FD12FFB3173}"/>
              </a:ext>
            </a:extLst>
          </p:cNvPr>
          <p:cNvSpPr>
            <a:spLocks xmlns:a="http://schemas.openxmlformats.org/drawingml/2006/main" noGrp="1"/>
          </p:cNvSpPr>
          <p:nvPr/>
        </p:nvSpPr>
        <p:spPr>
          <a:xfrm xmlns:a="http://schemas.openxmlformats.org/drawingml/2006/main">
            <a:off x="609600" y="487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Roboto"/>
                <a:ea typeface="Roboto"/>
                <a:cs typeface="Roboto"/>
              </a:defRPr>
            </a:pPr>
            <a:r>
              <a:rPr sz="1650" b="1">
                <a:solidFill>
                  <a:srgbClr val="F4F7FA"/>
                </a:solidFill>
                <a:latin typeface="Roboto"/>
                <a:ea typeface="Roboto"/>
                <a:cs typeface="Roboto"/>
              </a:rPr>
              <a:t>Ask the business: “How much rework is tolerable? Which harm must be prevented?”</a:t>
            </a:r>
          </a:p>
        </p:txBody>
      </p:sp>
      <p:sp>
        <p:nvSpPr>
          <p:cNvPr id="25" name="">
            <a:extLst xmlns:a="http://schemas.openxmlformats.org/drawingml/2006/main">
              <a:ext uri="{FF2B5EF4-FFF2-40B4-BE49-F238E27FC236}">
                <a16:creationId xmlns:a16="http://schemas.microsoft.com/office/drawing/2014/main" id="{5B20F363-94DC-4C6D-A4C7-07A5F3EC0556}"/>
              </a:ext>
            </a:extLst>
          </p:cNvPr>
          <p:cNvSpPr>
            <a:spLocks xmlns:a="http://schemas.openxmlformats.org/drawingml/2006/main" noGrp="1"/>
          </p:cNvSpPr>
          <p:nvPr/>
        </p:nvSpPr>
        <p:spPr>
          <a:xfrm xmlns:a="http://schemas.openxmlformats.org/drawingml/2006/main">
            <a:off x="609600" y="5229225"/>
            <a:ext cx="352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28C7F7"/>
                </a:solidFill>
                <a:latin typeface="Roboto"/>
                <a:ea typeface="Roboto"/>
                <a:cs typeface="Roboto"/>
              </a:defRPr>
            </a:pPr>
            <a:r>
              <a:rPr sz="1275" b="1">
                <a:solidFill>
                  <a:srgbClr val="28C7F7"/>
                </a:solidFill>
                <a:latin typeface="Roboto"/>
                <a:ea typeface="Roboto"/>
                <a:cs typeface="Roboto"/>
              </a:rPr>
              <a:t>PRODUCT + BA</a:t>
            </a:r>
          </a:p>
        </p:txBody>
      </p:sp>
      <p:sp>
        <p:nvSpPr>
          <p:cNvPr id="26" name="">
            <a:extLst xmlns:a="http://schemas.openxmlformats.org/drawingml/2006/main">
              <a:ext uri="{FF2B5EF4-FFF2-40B4-BE49-F238E27FC236}">
                <a16:creationId xmlns:a16="http://schemas.microsoft.com/office/drawing/2014/main" id="{29F5949C-09E9-44DB-95E1-C1F4E63C7269}"/>
              </a:ext>
            </a:extLst>
          </p:cNvPr>
          <p:cNvSpPr>
            <a:spLocks xmlns:a="http://schemas.openxmlformats.org/drawingml/2006/main" noGrp="1"/>
          </p:cNvSpPr>
          <p:nvPr/>
        </p:nvSpPr>
        <p:spPr>
          <a:xfrm xmlns:a="http://schemas.openxmlformats.org/drawingml/2006/main">
            <a:off x="609600" y="5467350"/>
            <a:ext cx="3524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Elicit impact; agree acceptance</a:t>
            </a:r>
          </a:p>
        </p:txBody>
      </p:sp>
      <p:sp>
        <p:nvSpPr>
          <p:cNvPr id="27" name="">
            <a:extLst xmlns:a="http://schemas.openxmlformats.org/drawingml/2006/main">
              <a:ext uri="{FF2B5EF4-FFF2-40B4-BE49-F238E27FC236}">
                <a16:creationId xmlns:a16="http://schemas.microsoft.com/office/drawing/2014/main" id="{BA0A8FA3-FF3A-4477-84B4-7DFE40F4549F}"/>
              </a:ext>
            </a:extLst>
          </p:cNvPr>
          <p:cNvSpPr>
            <a:spLocks xmlns:a="http://schemas.openxmlformats.org/drawingml/2006/main" noGrp="1"/>
          </p:cNvSpPr>
          <p:nvPr/>
        </p:nvSpPr>
        <p:spPr>
          <a:xfrm xmlns:a="http://schemas.openxmlformats.org/drawingml/2006/main">
            <a:off x="4391025" y="5229225"/>
            <a:ext cx="352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28C7F7"/>
                </a:solidFill>
                <a:latin typeface="Roboto"/>
                <a:ea typeface="Roboto"/>
                <a:cs typeface="Roboto"/>
              </a:defRPr>
            </a:pPr>
            <a:r>
              <a:rPr sz="1275" b="1">
                <a:solidFill>
                  <a:srgbClr val="28C7F7"/>
                </a:solidFill>
                <a:latin typeface="Roboto"/>
                <a:ea typeface="Roboto"/>
                <a:cs typeface="Roboto"/>
              </a:rPr>
              <a:t>QA + DEVELOPERS</a:t>
            </a:r>
          </a:p>
        </p:txBody>
      </p:sp>
      <p:sp>
        <p:nvSpPr>
          <p:cNvPr id="28" name="">
            <a:extLst xmlns:a="http://schemas.openxmlformats.org/drawingml/2006/main">
              <a:ext uri="{FF2B5EF4-FFF2-40B4-BE49-F238E27FC236}">
                <a16:creationId xmlns:a16="http://schemas.microsoft.com/office/drawing/2014/main" id="{529AF9DD-61E3-43E2-8DB9-4416660ACCFE}"/>
              </a:ext>
            </a:extLst>
          </p:cNvPr>
          <p:cNvSpPr>
            <a:spLocks xmlns:a="http://schemas.openxmlformats.org/drawingml/2006/main" noGrp="1"/>
          </p:cNvSpPr>
          <p:nvPr/>
        </p:nvSpPr>
        <p:spPr>
          <a:xfrm xmlns:a="http://schemas.openxmlformats.org/drawingml/2006/main">
            <a:off x="4391025" y="5467350"/>
            <a:ext cx="3524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Sample, calibrate, compare versions</a:t>
            </a:r>
          </a:p>
        </p:txBody>
      </p:sp>
      <p:sp>
        <p:nvSpPr>
          <p:cNvPr id="29" name="">
            <a:extLst xmlns:a="http://schemas.openxmlformats.org/drawingml/2006/main">
              <a:ext uri="{FF2B5EF4-FFF2-40B4-BE49-F238E27FC236}">
                <a16:creationId xmlns:a16="http://schemas.microsoft.com/office/drawing/2014/main" id="{E989ABAE-6184-4CAA-BD65-943646C59295}"/>
              </a:ext>
            </a:extLst>
          </p:cNvPr>
          <p:cNvSpPr>
            <a:spLocks xmlns:a="http://schemas.openxmlformats.org/drawingml/2006/main" noGrp="1"/>
          </p:cNvSpPr>
          <p:nvPr/>
        </p:nvSpPr>
        <p:spPr>
          <a:xfrm xmlns:a="http://schemas.openxmlformats.org/drawingml/2006/main">
            <a:off x="8172450" y="5229225"/>
            <a:ext cx="352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F5B61C"/>
                </a:solidFill>
                <a:latin typeface="Roboto"/>
                <a:ea typeface="Roboto"/>
                <a:cs typeface="Roboto"/>
              </a:defRPr>
            </a:pPr>
            <a:r>
              <a:rPr sz="1275" b="1">
                <a:solidFill>
                  <a:srgbClr val="F5B61C"/>
                </a:solidFill>
                <a:latin typeface="Roboto"/>
                <a:ea typeface="Roboto"/>
                <a:cs typeface="Roboto"/>
              </a:rPr>
              <a:t>RISK / RELEASE OWNER</a:t>
            </a:r>
          </a:p>
        </p:txBody>
      </p:sp>
      <p:sp>
        <p:nvSpPr>
          <p:cNvPr id="30" name="">
            <a:extLst xmlns:a="http://schemas.openxmlformats.org/drawingml/2006/main">
              <a:ext uri="{FF2B5EF4-FFF2-40B4-BE49-F238E27FC236}">
                <a16:creationId xmlns:a16="http://schemas.microsoft.com/office/drawing/2014/main" id="{0465D62E-B928-453E-83D4-FBB4E8EDC7FB}"/>
              </a:ext>
            </a:extLst>
          </p:cNvPr>
          <p:cNvSpPr>
            <a:spLocks xmlns:a="http://schemas.openxmlformats.org/drawingml/2006/main" noGrp="1"/>
          </p:cNvSpPr>
          <p:nvPr/>
        </p:nvSpPr>
        <p:spPr>
          <a:xfrm xmlns:a="http://schemas.openxmlformats.org/drawingml/2006/main">
            <a:off x="8172450" y="5467350"/>
            <a:ext cx="3524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Decide acceptability for this scope</a:t>
            </a:r>
          </a:p>
        </p:txBody>
      </p:sp>
      <p:sp>
        <p:nvSpPr>
          <p:cNvPr id="31" name="">
            <a:extLst xmlns:a="http://schemas.openxmlformats.org/drawingml/2006/main">
              <a:ext uri="{FF2B5EF4-FFF2-40B4-BE49-F238E27FC236}">
                <a16:creationId xmlns:a16="http://schemas.microsoft.com/office/drawing/2014/main" id="{C73F7618-8B92-4E3D-B597-A2F8D2DB161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A1EFBB2E-FE62-432C-8293-FA08FF53FBD0}"/>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Roboto"/>
                <a:ea typeface="Roboto"/>
                <a:cs typeface="Roboto"/>
              </a:defRPr>
            </a:pPr>
            <a:r>
              <a:rPr sz="1950" b="1">
                <a:solidFill>
                  <a:srgbClr val="F4F7FA"/>
                </a:solidFill>
                <a:latin typeface="Roboto"/>
                <a:ea typeface="Roboto"/>
                <a:cs typeface="Roboto"/>
              </a:rPr>
              <a:t>Statistics estimate frequency. Business authority decides acceptable consequences.</a:t>
            </a:r>
          </a:p>
        </p:txBody>
      </p:sp>
    </p:spTree>
    <p:extLst>
      <p:ext uri="{BB962C8B-B14F-4D97-AF65-F5344CB8AC3E}">
        <p14:creationId xmlns:p14="http://schemas.microsoft.com/office/powerpoint/2010/main" val="1531145158"/>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57EB3F-842C-46A2-BAB8-280434AB5D8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DoR / DoD Become Risk Contracts</a:t>
            </a:r>
          </a:p>
        </p:txBody>
      </p:sp>
      <p:sp>
        <p:nvSpPr>
          <p:cNvPr id="2" name="">
            <a:extLst xmlns:a="http://schemas.openxmlformats.org/drawingml/2006/main">
              <a:ext uri="{FF2B5EF4-FFF2-40B4-BE49-F238E27FC236}">
                <a16:creationId xmlns:a16="http://schemas.microsoft.com/office/drawing/2014/main" id="{F405D8CE-C15B-4C2F-9E82-715A3001101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9538DCF-9F76-421F-89FB-5285BC625EA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11</a:t>
            </a:r>
          </a:p>
        </p:txBody>
      </p:sp>
      <p:sp>
        <p:nvSpPr>
          <p:cNvPr id="4" name="">
            <a:extLst xmlns:a="http://schemas.openxmlformats.org/drawingml/2006/main">
              <a:ext uri="{FF2B5EF4-FFF2-40B4-BE49-F238E27FC236}">
                <a16:creationId xmlns:a16="http://schemas.microsoft.com/office/drawing/2014/main" id="{E4D3703C-74B8-4419-BC91-43E9DE9300EF}"/>
              </a:ext>
            </a:extLst>
          </p:cNvPr>
          <p:cNvSpPr>
            <a:spLocks xmlns:a="http://schemas.openxmlformats.org/drawingml/2006/main" noGrp="1"/>
          </p:cNvSpPr>
          <p:nvPr/>
        </p:nvSpPr>
        <p:spPr>
          <a:xfrm xmlns:a="http://schemas.openxmlformats.org/drawingml/2006/main">
            <a:off x="609600" y="17526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DEVELOPERS · deliver a reproducible evidence and recovery package</a:t>
            </a:r>
          </a:p>
        </p:txBody>
      </p:sp>
      <p:graphicFrame>
        <p:nvGraphicFramePr>
          <p:cNvPr id="13" name=""/>
          <p:cNvGraphicFramePr/>
          <p:nvPr/>
        </p:nvGraphicFramePr>
        <p:xfrm>
          <a:off xmlns:a="http://schemas.openxmlformats.org/drawingml/2006/main" x="609600" y="2276475"/>
          <a:ext xmlns:a="http://schemas.openxmlformats.org/drawingml/2006/main" cx="10972800" cy="2895600"/>
        </p:xfrm>
        <a:graphic xmlns:a="http://schemas.openxmlformats.org/drawingml/2006/main">
          <a:graphicData uri="http://schemas.openxmlformats.org/drawingml/2006/table">
            <a:tbl>
              <a:tblPr/>
              <a:tblGrid>
                <a:gridCol w="1466850"/>
                <a:gridCol w="4781550"/>
                <a:gridCol w="4724400"/>
              </a:tblGrid>
              <a:tr h="723900">
                <a:tc>
                  <a:txBody>
                    <a:bodyPr lIns="171450" tIns="76200" rIns="171450" bIns="76200">
                      <a:noAutofit/>
                    </a:bodyPr>
                    <a:lstStyle/>
                    <a:p>
                      <a:r>
                        <a:rPr sz="1575" b="1">
                          <a:solidFill>
                            <a:srgbClr val="F4F7FA"/>
                          </a:solidFill>
                          <a:latin typeface="Roboto"/>
                          <a:ea typeface="Roboto"/>
                          <a:cs typeface="Roboto"/>
                        </a:rPr>
                        <a:t>GATE</a:t>
                      </a:r>
                    </a:p>
                  </a:txBody>
                  <a:tcPr marL="91440" marR="91440" marT="45720" marB="45720" anchor="ctr">
                    <a:solidFill>
                      <a:srgbClr val="1A2734"/>
                    </a:solidFill>
                  </a:tcPr>
                </a:tc>
                <a:tc>
                  <a:txBody>
                    <a:bodyPr lIns="171450" tIns="76200" rIns="171450" bIns="76200">
                      <a:noAutofit/>
                    </a:bodyPr>
                    <a:lstStyle/>
                    <a:p>
                      <a:r>
                        <a:rPr sz="1575" b="1">
                          <a:solidFill>
                            <a:srgbClr val="F4F7FA"/>
                          </a:solidFill>
                          <a:latin typeface="Roboto"/>
                          <a:ea typeface="Roboto"/>
                          <a:cs typeface="Roboto"/>
                        </a:rPr>
                        <a:t>CONCRETE EVIDENCE</a:t>
                      </a:r>
                    </a:p>
                  </a:txBody>
                  <a:tcPr marL="91440" marR="91440" marT="45720" marB="45720" anchor="ctr">
                    <a:solidFill>
                      <a:srgbClr val="1A2734"/>
                    </a:solidFill>
                  </a:tcPr>
                </a:tc>
                <a:tc>
                  <a:txBody>
                    <a:bodyPr lIns="171450" tIns="76200" rIns="171450" bIns="76200">
                      <a:noAutofit/>
                    </a:bodyPr>
                    <a:lstStyle/>
                    <a:p>
                      <a:r>
                        <a:rPr sz="1575" b="1">
                          <a:solidFill>
                            <a:srgbClr val="28C7F7"/>
                          </a:solidFill>
                          <a:latin typeface="Roboto"/>
                          <a:ea typeface="Roboto"/>
                          <a:cs typeface="Roboto"/>
                        </a:rPr>
                        <a:t>DECISION / OWNER</a:t>
                      </a:r>
                    </a:p>
                  </a:txBody>
                  <a:tcPr marL="91440" marR="91440" marT="45720" marB="45720" anchor="ctr">
                    <a:solidFill>
                      <a:srgbClr val="1A2734"/>
                    </a:solidFill>
                  </a:tcPr>
                </a:tc>
              </a:tr>
              <a:tr h="723900">
                <a:tc>
                  <a:txBody>
                    <a:bodyPr lIns="171450" tIns="76200" rIns="171450" bIns="76200">
                      <a:noAutofit/>
                    </a:bodyPr>
                    <a:lstStyle/>
                    <a:p>
                      <a:r>
                        <a:rPr sz="1650" b="1">
                          <a:solidFill>
                            <a:srgbClr val="F4F7FA"/>
                          </a:solidFill>
                          <a:latin typeface="Roboto"/>
                          <a:ea typeface="Roboto"/>
                          <a:cs typeface="Roboto"/>
                        </a:rPr>
                        <a:t>READY</a:t>
                      </a:r>
                    </a:p>
                  </a:txBody>
                  <a:tcPr marL="91440" marR="91440" marT="45720" marB="45720" anchor="ctr">
                    <a:solidFill>
                      <a:srgbClr val="0B0F14"/>
                    </a:solidFill>
                  </a:tcPr>
                </a:tc>
                <a:tc>
                  <a:txBody>
                    <a:bodyPr lIns="171450" tIns="76200" rIns="171450" bIns="76200">
                      <a:noAutofit/>
                    </a:bodyPr>
                    <a:lstStyle/>
                    <a:p>
                      <a:r>
                        <a:rPr sz="1650" b="0">
                          <a:solidFill>
                            <a:srgbClr val="F4F7FA"/>
                          </a:solidFill>
                          <a:latin typeface="Roboto"/>
                          <a:ea typeface="Roboto"/>
                          <a:cs typeface="Roboto"/>
                        </a:rPr>
                        <a:t>Scope, rubric, evaluation plan</a:t>
                      </a:r>
                    </a:p>
                    <a:p>
                      <a:r>
                        <a:rPr sz="1650" b="0">
                          <a:solidFill>
                            <a:srgbClr val="F4F7FA"/>
                          </a:solidFill>
                          <a:latin typeface="Roboto"/>
                          <a:ea typeface="Roboto"/>
                          <a:cs typeface="Roboto"/>
                        </a:rPr>
                        <a:t>Fallback owner + dependencies</a:t>
                      </a:r>
                    </a:p>
                  </a:txBody>
                  <a:tcPr marL="91440" marR="91440" marT="45720" marB="45720" anchor="ctr">
                    <a:solidFill>
                      <a:srgbClr val="0B0F14"/>
                    </a:solidFill>
                  </a:tcPr>
                </a:tc>
                <a:tc>
                  <a:txBody>
                    <a:bodyPr lIns="171450" tIns="76200" rIns="171450" bIns="76200">
                      <a:noAutofit/>
                    </a:bodyPr>
                    <a:lstStyle/>
                    <a:p>
                      <a:r>
                        <a:rPr sz="1650" b="0">
                          <a:solidFill>
                            <a:srgbClr val="28C7F7"/>
                          </a:solidFill>
                          <a:latin typeface="Roboto"/>
                          <a:ea typeface="Roboto"/>
                          <a:cs typeface="Roboto"/>
                        </a:rPr>
                        <a:t>Product + BA agree criteria</a:t>
                      </a:r>
                    </a:p>
                    <a:p>
                      <a:r>
                        <a:rPr sz="1650" b="0">
                          <a:solidFill>
                            <a:srgbClr val="28C7F7"/>
                          </a:solidFill>
                          <a:latin typeface="Roboto"/>
                          <a:ea typeface="Roboto"/>
                          <a:cs typeface="Roboto"/>
                        </a:rPr>
                        <a:t>Project Manager clears blockers</a:t>
                      </a:r>
                    </a:p>
                  </a:txBody>
                  <a:tcPr marL="91440" marR="91440" marT="45720" marB="45720" anchor="ctr">
                    <a:solidFill>
                      <a:srgbClr val="0B0F14"/>
                    </a:solidFill>
                  </a:tcPr>
                </a:tc>
              </a:tr>
              <a:tr h="723900">
                <a:tc>
                  <a:txBody>
                    <a:bodyPr lIns="171450" tIns="76200" rIns="171450" bIns="76200">
                      <a:noAutofit/>
                    </a:bodyPr>
                    <a:lstStyle/>
                    <a:p>
                      <a:r>
                        <a:rPr sz="1650" b="1">
                          <a:solidFill>
                            <a:srgbClr val="F4F7FA"/>
                          </a:solidFill>
                          <a:latin typeface="Roboto"/>
                          <a:ea typeface="Roboto"/>
                          <a:cs typeface="Roboto"/>
                        </a:rPr>
                        <a:t>DONE</a:t>
                      </a:r>
                    </a:p>
                  </a:txBody>
                  <a:tcPr marL="91440" marR="91440" marT="45720" marB="45720" anchor="ctr">
                    <a:solidFill>
                      <a:srgbClr val="0B0F14"/>
                    </a:solidFill>
                  </a:tcPr>
                </a:tc>
                <a:tc>
                  <a:txBody>
                    <a:bodyPr lIns="171450" tIns="76200" rIns="171450" bIns="76200">
                      <a:noAutofit/>
                    </a:bodyPr>
                    <a:lstStyle/>
                    <a:p>
                      <a:r>
                        <a:rPr sz="1650" b="0">
                          <a:solidFill>
                            <a:srgbClr val="F4F7FA"/>
                          </a:solidFill>
                          <a:latin typeface="Roboto"/>
                          <a:ea typeface="Roboto"/>
                          <a:cs typeface="Roboto"/>
                        </a:rPr>
                        <a:t>Versioned model / prompt / data</a:t>
                      </a:r>
                    </a:p>
                    <a:p>
                      <a:r>
                        <a:rPr sz="1650" b="0">
                          <a:solidFill>
                            <a:srgbClr val="F4F7FA"/>
                          </a:solidFill>
                          <a:latin typeface="Roboto"/>
                          <a:ea typeface="Roboto"/>
                          <a:cs typeface="Roboto"/>
                        </a:rPr>
                        <a:t>Tests, evals, rollback rehearsal</a:t>
                      </a:r>
                    </a:p>
                  </a:txBody>
                  <a:tcPr marL="91440" marR="91440" marT="45720" marB="45720" anchor="ctr">
                    <a:solidFill>
                      <a:srgbClr val="0B0F14"/>
                    </a:solidFill>
                  </a:tcPr>
                </a:tc>
                <a:tc>
                  <a:txBody>
                    <a:bodyPr lIns="171450" tIns="76200" rIns="171450" bIns="76200">
                      <a:noAutofit/>
                    </a:bodyPr>
                    <a:lstStyle/>
                    <a:p>
                      <a:r>
                        <a:rPr sz="1650" b="0">
                          <a:solidFill>
                            <a:srgbClr val="28C7F7"/>
                          </a:solidFill>
                          <a:latin typeface="Roboto"/>
                          <a:ea typeface="Roboto"/>
                          <a:cs typeface="Roboto"/>
                        </a:rPr>
                        <a:t>Developer + QA verify the build</a:t>
                      </a:r>
                    </a:p>
                    <a:p>
                      <a:r>
                        <a:rPr sz="1650" b="0">
                          <a:solidFill>
                            <a:srgbClr val="28C7F7"/>
                          </a:solidFill>
                          <a:latin typeface="Roboto"/>
                          <a:ea typeface="Roboto"/>
                          <a:cs typeface="Roboto"/>
                        </a:rPr>
                        <a:t>Done does not authorize release</a:t>
                      </a:r>
                    </a:p>
                  </a:txBody>
                  <a:tcPr marL="91440" marR="91440" marT="45720" marB="45720" anchor="ctr">
                    <a:solidFill>
                      <a:srgbClr val="0B0F14"/>
                    </a:solidFill>
                  </a:tcPr>
                </a:tc>
              </a:tr>
              <a:tr h="723900">
                <a:tc>
                  <a:txBody>
                    <a:bodyPr lIns="171450" tIns="76200" rIns="171450" bIns="76200">
                      <a:noAutofit/>
                    </a:bodyPr>
                    <a:lstStyle/>
                    <a:p>
                      <a:r>
                        <a:rPr sz="1650" b="1">
                          <a:solidFill>
                            <a:srgbClr val="F4F7FA"/>
                          </a:solidFill>
                          <a:latin typeface="Roboto"/>
                          <a:ea typeface="Roboto"/>
                          <a:cs typeface="Roboto"/>
                        </a:rPr>
                        <a:t>RELEASE</a:t>
                      </a:r>
                    </a:p>
                  </a:txBody>
                  <a:tcPr marL="91440" marR="91440" marT="45720" marB="45720" anchor="ctr">
                    <a:solidFill>
                      <a:srgbClr val="0B0F14"/>
                    </a:solidFill>
                  </a:tcPr>
                </a:tc>
                <a:tc>
                  <a:txBody>
                    <a:bodyPr lIns="171450" tIns="76200" rIns="171450" bIns="76200">
                      <a:noAutofit/>
                    </a:bodyPr>
                    <a:lstStyle/>
                    <a:p>
                      <a:r>
                        <a:rPr sz="1650" b="0">
                          <a:solidFill>
                            <a:srgbClr val="F4F7FA"/>
                          </a:solidFill>
                          <a:latin typeface="Roboto"/>
                          <a:ea typeface="Roboto"/>
                          <a:cs typeface="Roboto"/>
                        </a:rPr>
                        <a:t>Population + tool permissions</a:t>
                      </a:r>
                    </a:p>
                    <a:p>
                      <a:r>
                        <a:rPr sz="1650" b="0">
                          <a:solidFill>
                            <a:srgbClr val="F4F7FA"/>
                          </a:solidFill>
                          <a:latin typeface="Roboto"/>
                          <a:ea typeface="Roboto"/>
                          <a:cs typeface="Roboto"/>
                        </a:rPr>
                        <a:t>Residual risk + stop triggers</a:t>
                      </a:r>
                    </a:p>
                  </a:txBody>
                  <a:tcPr marL="91440" marR="91440" marT="45720" marB="45720" anchor="ctr">
                    <a:solidFill>
                      <a:srgbClr val="0B0F14"/>
                    </a:solidFill>
                  </a:tcPr>
                </a:tc>
                <a:tc>
                  <a:txBody>
                    <a:bodyPr lIns="171450" tIns="76200" rIns="171450" bIns="76200">
                      <a:noAutofit/>
                    </a:bodyPr>
                    <a:lstStyle/>
                    <a:p>
                      <a:r>
                        <a:rPr sz="1650" b="0">
                          <a:solidFill>
                            <a:srgbClr val="28C7F7"/>
                          </a:solidFill>
                          <a:latin typeface="Roboto"/>
                          <a:ea typeface="Roboto"/>
                          <a:cs typeface="Roboto"/>
                        </a:rPr>
                        <a:t>Authorized owner accepts scope</a:t>
                      </a:r>
                    </a:p>
                    <a:p>
                      <a:r>
                        <a:rPr sz="1650" b="0">
                          <a:solidFill>
                            <a:srgbClr val="28C7F7"/>
                          </a:solidFill>
                          <a:latin typeface="Roboto"/>
                          <a:ea typeface="Roboto"/>
                          <a:cs typeface="Roboto"/>
                        </a:rPr>
                        <a:t>Or narrows, defers, rejects</a:t>
                      </a:r>
                    </a:p>
                  </a:txBody>
                  <a:tcPr marL="91440" marR="91440" marT="45720" marB="45720" anchor="ctr">
                    <a:solidFill>
                      <a:srgbClr val="0B0F14"/>
                    </a:solidFill>
                  </a:tcPr>
                </a:tc>
              </a:tr>
            </a:tbl>
          </a:graphicData>
        </a:graphic>
      </p:graphicFrame>
      <p:sp>
        <p:nvSpPr>
          <p:cNvPr id="6" name="">
            <a:extLst xmlns:a="http://schemas.openxmlformats.org/drawingml/2006/main">
              <a:ext uri="{FF2B5EF4-FFF2-40B4-BE49-F238E27FC236}">
                <a16:creationId xmlns:a16="http://schemas.microsoft.com/office/drawing/2014/main" id="{71334ECB-FB24-464B-8398-68C1384B5116}"/>
              </a:ext>
            </a:extLst>
          </p:cNvPr>
          <p:cNvSpPr>
            <a:spLocks xmlns:a="http://schemas.openxmlformats.org/drawingml/2006/main" noGrp="1"/>
          </p:cNvSpPr>
          <p:nvPr/>
        </p:nvSpPr>
        <p:spPr>
          <a:xfrm xmlns:a="http://schemas.openxmlformats.org/drawingml/2006/main">
            <a:off x="609600" y="53149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IT assistant: approved sources → traceable build → restricted rollout + manual fallback.</a:t>
            </a:r>
          </a:p>
        </p:txBody>
      </p:sp>
      <p:sp>
        <p:nvSpPr>
          <p:cNvPr id="7" name="">
            <a:extLst xmlns:a="http://schemas.openxmlformats.org/drawingml/2006/main">
              <a:ext uri="{FF2B5EF4-FFF2-40B4-BE49-F238E27FC236}">
                <a16:creationId xmlns:a16="http://schemas.microsoft.com/office/drawing/2014/main" id="{B87727A0-AD93-423D-A9AB-C758E1BE2B01}"/>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8" name="">
            <a:extLst xmlns:a="http://schemas.openxmlformats.org/drawingml/2006/main">
              <a:ext uri="{FF2B5EF4-FFF2-40B4-BE49-F238E27FC236}">
                <a16:creationId xmlns:a16="http://schemas.microsoft.com/office/drawing/2014/main" id="{EA1359AB-E667-42A1-AA46-F6741FCFDFFF}"/>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“Done” is an evidence package. Release is a separate, scoped decision.</a:t>
            </a:r>
          </a:p>
        </p:txBody>
      </p:sp>
    </p:spTree>
    <p:extLst>
      <p:ext uri="{BB962C8B-B14F-4D97-AF65-F5344CB8AC3E}">
        <p14:creationId xmlns:p14="http://schemas.microsoft.com/office/powerpoint/2010/main" val="1719985046"/>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897F75A6-AC42-4204-8A1E-FB3CB543588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Production Needs a Control Loop</a:t>
            </a:r>
          </a:p>
        </p:txBody>
      </p:sp>
      <p:sp>
        <p:nvSpPr>
          <p:cNvPr id="2" name="">
            <a:extLst xmlns:a="http://schemas.openxmlformats.org/drawingml/2006/main">
              <a:ext uri="{FF2B5EF4-FFF2-40B4-BE49-F238E27FC236}">
                <a16:creationId xmlns:a16="http://schemas.microsoft.com/office/drawing/2014/main" id="{D09A8E84-F68D-45E4-A039-02AB8AC687D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F65F5D1-0071-42DE-B4EA-651AD1324D5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12</a:t>
            </a:r>
          </a:p>
        </p:txBody>
      </p:sp>
      <p:sp>
        <p:nvSpPr>
          <p:cNvPr id="4" name="">
            <a:extLst xmlns:a="http://schemas.openxmlformats.org/drawingml/2006/main">
              <a:ext uri="{FF2B5EF4-FFF2-40B4-BE49-F238E27FC236}">
                <a16:creationId xmlns:a16="http://schemas.microsoft.com/office/drawing/2014/main" id="{F203CB6D-C1B5-448E-B428-669E18813975}"/>
              </a:ext>
            </a:extLst>
          </p:cNvPr>
          <p:cNvSpPr>
            <a:spLocks xmlns:a="http://schemas.openxmlformats.org/drawingml/2006/main" noGrp="1"/>
          </p:cNvSpPr>
          <p:nvPr/>
        </p:nvSpPr>
        <p:spPr>
          <a:xfrm xmlns:a="http://schemas.openxmlformats.org/drawingml/2006/main">
            <a:off x="609600" y="17526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ARCHITECT · make boundaries and corrective actions operational</a:t>
            </a:r>
          </a:p>
        </p:txBody>
      </p:sp>
      <p:sp>
        <p:nvSpPr>
          <p:cNvPr id="5" name="">
            <a:extLst xmlns:a="http://schemas.openxmlformats.org/drawingml/2006/main">
              <a:ext uri="{FF2B5EF4-FFF2-40B4-BE49-F238E27FC236}">
                <a16:creationId xmlns:a16="http://schemas.microsoft.com/office/drawing/2014/main" id="{79A439BE-776C-4E4E-A9A7-862669814D14}"/>
              </a:ext>
            </a:extLst>
          </p:cNvPr>
          <p:cNvSpPr>
            <a:spLocks xmlns:a="http://schemas.openxmlformats.org/drawingml/2006/main" noGrp="1"/>
          </p:cNvSpPr>
          <p:nvPr/>
        </p:nvSpPr>
        <p:spPr>
          <a:xfrm xmlns:a="http://schemas.openxmlformats.org/drawingml/2006/main">
            <a:off x="609600" y="2466975"/>
            <a:ext cx="2400300" cy="7429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6" name="">
            <a:extLst xmlns:a="http://schemas.openxmlformats.org/drawingml/2006/main">
              <a:ext uri="{FF2B5EF4-FFF2-40B4-BE49-F238E27FC236}">
                <a16:creationId xmlns:a16="http://schemas.microsoft.com/office/drawing/2014/main" id="{E430757B-5011-451E-A164-17D477966AD7}"/>
              </a:ext>
            </a:extLst>
          </p:cNvPr>
          <p:cNvSpPr>
            <a:spLocks xmlns:a="http://schemas.openxmlformats.org/drawingml/2006/main" noGrp="1"/>
          </p:cNvSpPr>
          <p:nvPr/>
        </p:nvSpPr>
        <p:spPr>
          <a:xfrm xmlns:a="http://schemas.openxmlformats.org/drawingml/2006/main">
            <a:off x="723900" y="2543175"/>
            <a:ext cx="2171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Approved context</a:t>
            </a:r>
          </a:p>
        </p:txBody>
      </p:sp>
      <p:sp>
        <p:nvSpPr>
          <p:cNvPr id="7" name="">
            <a:extLst xmlns:a="http://schemas.openxmlformats.org/drawingml/2006/main">
              <a:ext uri="{FF2B5EF4-FFF2-40B4-BE49-F238E27FC236}">
                <a16:creationId xmlns:a16="http://schemas.microsoft.com/office/drawing/2014/main" id="{87743F06-7FE0-41D4-A02C-2ABC047FBDED}"/>
              </a:ext>
            </a:extLst>
          </p:cNvPr>
          <p:cNvSpPr>
            <a:spLocks xmlns:a="http://schemas.openxmlformats.org/drawingml/2006/main" noGrp="1"/>
          </p:cNvSpPr>
          <p:nvPr/>
        </p:nvSpPr>
        <p:spPr>
          <a:xfrm xmlns:a="http://schemas.openxmlformats.org/drawingml/2006/main">
            <a:off x="3467100" y="2466975"/>
            <a:ext cx="2400300" cy="7429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8" name="">
            <a:extLst xmlns:a="http://schemas.openxmlformats.org/drawingml/2006/main">
              <a:ext uri="{FF2B5EF4-FFF2-40B4-BE49-F238E27FC236}">
                <a16:creationId xmlns:a16="http://schemas.microsoft.com/office/drawing/2014/main" id="{4F2645F5-EBEE-4A1C-AFCB-4DE91AE79D12}"/>
              </a:ext>
            </a:extLst>
          </p:cNvPr>
          <p:cNvSpPr>
            <a:spLocks xmlns:a="http://schemas.openxmlformats.org/drawingml/2006/main" noGrp="1"/>
          </p:cNvSpPr>
          <p:nvPr/>
        </p:nvSpPr>
        <p:spPr>
          <a:xfrm xmlns:a="http://schemas.openxmlformats.org/drawingml/2006/main">
            <a:off x="3581400" y="2543175"/>
            <a:ext cx="2171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Model proposal</a:t>
            </a:r>
          </a:p>
        </p:txBody>
      </p:sp>
      <p:sp>
        <p:nvSpPr>
          <p:cNvPr id="9" name="">
            <a:extLst xmlns:a="http://schemas.openxmlformats.org/drawingml/2006/main">
              <a:ext uri="{FF2B5EF4-FFF2-40B4-BE49-F238E27FC236}">
                <a16:creationId xmlns:a16="http://schemas.microsoft.com/office/drawing/2014/main" id="{14EE02E6-6943-4BED-A3E0-882B060577C2}"/>
              </a:ext>
            </a:extLst>
          </p:cNvPr>
          <p:cNvSpPr>
            <a:spLocks xmlns:a="http://schemas.openxmlformats.org/drawingml/2006/main" noGrp="1"/>
          </p:cNvSpPr>
          <p:nvPr/>
        </p:nvSpPr>
        <p:spPr>
          <a:xfrm xmlns:a="http://schemas.openxmlformats.org/drawingml/2006/main">
            <a:off x="6324600" y="2466975"/>
            <a:ext cx="2400300" cy="7429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0" name="">
            <a:extLst xmlns:a="http://schemas.openxmlformats.org/drawingml/2006/main">
              <a:ext uri="{FF2B5EF4-FFF2-40B4-BE49-F238E27FC236}">
                <a16:creationId xmlns:a16="http://schemas.microsoft.com/office/drawing/2014/main" id="{1EBFCCBB-3083-4DB7-ABA2-19FF9FD5D990}"/>
              </a:ext>
            </a:extLst>
          </p:cNvPr>
          <p:cNvSpPr>
            <a:spLocks xmlns:a="http://schemas.openxmlformats.org/drawingml/2006/main" noGrp="1"/>
          </p:cNvSpPr>
          <p:nvPr/>
        </p:nvSpPr>
        <p:spPr>
          <a:xfrm xmlns:a="http://schemas.openxmlformats.org/drawingml/2006/main">
            <a:off x="6438900" y="2543175"/>
            <a:ext cx="2171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Permission gate</a:t>
            </a:r>
          </a:p>
        </p:txBody>
      </p:sp>
      <p:sp>
        <p:nvSpPr>
          <p:cNvPr id="11" name="">
            <a:extLst xmlns:a="http://schemas.openxmlformats.org/drawingml/2006/main">
              <a:ext uri="{FF2B5EF4-FFF2-40B4-BE49-F238E27FC236}">
                <a16:creationId xmlns:a16="http://schemas.microsoft.com/office/drawing/2014/main" id="{D501A6A2-E5FC-463C-B731-B7BE45FBD4BE}"/>
              </a:ext>
            </a:extLst>
          </p:cNvPr>
          <p:cNvSpPr>
            <a:spLocks xmlns:a="http://schemas.openxmlformats.org/drawingml/2006/main" noGrp="1"/>
          </p:cNvSpPr>
          <p:nvPr/>
        </p:nvSpPr>
        <p:spPr>
          <a:xfrm xmlns:a="http://schemas.openxmlformats.org/drawingml/2006/main">
            <a:off x="9182100" y="2466975"/>
            <a:ext cx="2400300" cy="7429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2" name="">
            <a:extLst xmlns:a="http://schemas.openxmlformats.org/drawingml/2006/main">
              <a:ext uri="{FF2B5EF4-FFF2-40B4-BE49-F238E27FC236}">
                <a16:creationId xmlns:a16="http://schemas.microsoft.com/office/drawing/2014/main" id="{CC9733EA-EB5C-461A-9D5B-5749351F1BD6}"/>
              </a:ext>
            </a:extLst>
          </p:cNvPr>
          <p:cNvSpPr>
            <a:spLocks xmlns:a="http://schemas.openxmlformats.org/drawingml/2006/main" noGrp="1"/>
          </p:cNvSpPr>
          <p:nvPr/>
        </p:nvSpPr>
        <p:spPr>
          <a:xfrm xmlns:a="http://schemas.openxmlformats.org/drawingml/2006/main">
            <a:off x="9296400" y="2543175"/>
            <a:ext cx="2171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Support tool</a:t>
            </a:r>
          </a:p>
        </p:txBody>
      </p:sp>
      <p:cxnSp>
        <p:nvCxnSpPr>
          <p:cNvPr id="46" name=""/>
          <p:cNvCxnSpPr>
            <a:stCxn xmlns:a="http://schemas.openxmlformats.org/drawingml/2006/main" id="5" idx="3"/>
            <a:endCxn xmlns:a="http://schemas.openxmlformats.org/drawingml/2006/main" id="7" idx="1"/>
          </p:cNvCxnSpPr>
          <p:nvPr/>
        </p:nvCxnSpPr>
        <p:spPr>
          <a:xfrm xmlns:a="http://schemas.openxmlformats.org/drawingml/2006/main">
            <a:off x="3009900" y="28384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7" name=""/>
          <p:cNvCxnSpPr>
            <a:stCxn xmlns:a="http://schemas.openxmlformats.org/drawingml/2006/main" id="7" idx="3"/>
            <a:endCxn xmlns:a="http://schemas.openxmlformats.org/drawingml/2006/main" id="9" idx="1"/>
          </p:cNvCxnSpPr>
          <p:nvPr/>
        </p:nvCxnSpPr>
        <p:spPr>
          <a:xfrm xmlns:a="http://schemas.openxmlformats.org/drawingml/2006/main">
            <a:off x="5867400" y="28384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8" name=""/>
          <p:cNvCxnSpPr>
            <a:stCxn xmlns:a="http://schemas.openxmlformats.org/drawingml/2006/main" id="9" idx="3"/>
            <a:endCxn xmlns:a="http://schemas.openxmlformats.org/drawingml/2006/main" id="11" idx="1"/>
          </p:cNvCxnSpPr>
          <p:nvPr/>
        </p:nvCxnSpPr>
        <p:spPr>
          <a:xfrm xmlns:a="http://schemas.openxmlformats.org/drawingml/2006/main">
            <a:off x="8724900" y="28384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3609706A-7CC5-40C7-99DB-EC68DF4BB62A}"/>
              </a:ext>
            </a:extLst>
          </p:cNvPr>
          <p:cNvSpPr>
            <a:spLocks xmlns:a="http://schemas.openxmlformats.org/drawingml/2006/main" noGrp="1"/>
          </p:cNvSpPr>
          <p:nvPr/>
        </p:nvSpPr>
        <p:spPr>
          <a:xfrm xmlns:a="http://schemas.openxmlformats.org/drawingml/2006/main">
            <a:off x="609600" y="211455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Allowlist + required approval; deny when the gate is unavailable.</a:t>
            </a:r>
          </a:p>
        </p:txBody>
      </p:sp>
      <p:sp>
        <p:nvSpPr>
          <p:cNvPr id="17" name="">
            <a:extLst xmlns:a="http://schemas.openxmlformats.org/drawingml/2006/main">
              <a:ext uri="{FF2B5EF4-FFF2-40B4-BE49-F238E27FC236}">
                <a16:creationId xmlns:a16="http://schemas.microsoft.com/office/drawing/2014/main" id="{14218C54-BDA0-4F62-A409-6E0898F5C4E4}"/>
              </a:ext>
            </a:extLst>
          </p:cNvPr>
          <p:cNvSpPr>
            <a:spLocks xmlns:a="http://schemas.openxmlformats.org/drawingml/2006/main" noGrp="1"/>
          </p:cNvSpPr>
          <p:nvPr/>
        </p:nvSpPr>
        <p:spPr>
          <a:xfrm xmlns:a="http://schemas.openxmlformats.org/drawingml/2006/main">
            <a:off x="6324600" y="3781425"/>
            <a:ext cx="2400300" cy="409575"/>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8" name="">
            <a:extLst xmlns:a="http://schemas.openxmlformats.org/drawingml/2006/main">
              <a:ext uri="{FF2B5EF4-FFF2-40B4-BE49-F238E27FC236}">
                <a16:creationId xmlns:a16="http://schemas.microsoft.com/office/drawing/2014/main" id="{A1575A20-3B4E-4CCC-8AB2-FD9620DCA9BE}"/>
              </a:ext>
            </a:extLst>
          </p:cNvPr>
          <p:cNvSpPr>
            <a:spLocks xmlns:a="http://schemas.openxmlformats.org/drawingml/2006/main" noGrp="1"/>
          </p:cNvSpPr>
          <p:nvPr/>
        </p:nvSpPr>
        <p:spPr>
          <a:xfrm xmlns:a="http://schemas.openxmlformats.org/drawingml/2006/main">
            <a:off x="6438900" y="3857625"/>
            <a:ext cx="2171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Roboto"/>
                <a:ea typeface="Roboto"/>
                <a:cs typeface="Roboto"/>
              </a:defRPr>
            </a:pPr>
            <a:r>
              <a:rPr sz="1350" b="1">
                <a:solidFill>
                  <a:srgbClr val="F4F7FA"/>
                </a:solidFill>
                <a:latin typeface="Roboto"/>
                <a:ea typeface="Roboto"/>
                <a:cs typeface="Roboto"/>
              </a:rPr>
              <a:t>Approved limits</a:t>
            </a:r>
          </a:p>
        </p:txBody>
      </p:sp>
      <p:sp>
        <p:nvSpPr>
          <p:cNvPr id="19" name="">
            <a:extLst xmlns:a="http://schemas.openxmlformats.org/drawingml/2006/main">
              <a:ext uri="{FF2B5EF4-FFF2-40B4-BE49-F238E27FC236}">
                <a16:creationId xmlns:a16="http://schemas.microsoft.com/office/drawing/2014/main" id="{2CFA7870-F98C-4FCC-A6D3-C3DCE19D5EAE}"/>
              </a:ext>
            </a:extLst>
          </p:cNvPr>
          <p:cNvSpPr>
            <a:spLocks xmlns:a="http://schemas.openxmlformats.org/drawingml/2006/main" noGrp="1"/>
          </p:cNvSpPr>
          <p:nvPr/>
        </p:nvSpPr>
        <p:spPr>
          <a:xfrm xmlns:a="http://schemas.openxmlformats.org/drawingml/2006/main">
            <a:off x="9182100" y="4524375"/>
            <a:ext cx="24003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20" name="">
            <a:extLst xmlns:a="http://schemas.openxmlformats.org/drawingml/2006/main">
              <a:ext uri="{FF2B5EF4-FFF2-40B4-BE49-F238E27FC236}">
                <a16:creationId xmlns:a16="http://schemas.microsoft.com/office/drawing/2014/main" id="{3F2A35BE-9F72-4C06-9793-87129B7C37C2}"/>
              </a:ext>
            </a:extLst>
          </p:cNvPr>
          <p:cNvSpPr>
            <a:spLocks xmlns:a="http://schemas.openxmlformats.org/drawingml/2006/main" noGrp="1"/>
          </p:cNvSpPr>
          <p:nvPr/>
        </p:nvSpPr>
        <p:spPr>
          <a:xfrm xmlns:a="http://schemas.openxmlformats.org/drawingml/2006/main">
            <a:off x="9296400" y="4600575"/>
            <a:ext cx="2171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Observe</a:t>
            </a:r>
          </a:p>
        </p:txBody>
      </p:sp>
      <p:sp>
        <p:nvSpPr>
          <p:cNvPr id="21" name="">
            <a:extLst xmlns:a="http://schemas.openxmlformats.org/drawingml/2006/main">
              <a:ext uri="{FF2B5EF4-FFF2-40B4-BE49-F238E27FC236}">
                <a16:creationId xmlns:a16="http://schemas.microsoft.com/office/drawing/2014/main" id="{5D045F09-516F-4D9D-AEED-B1310C105712}"/>
              </a:ext>
            </a:extLst>
          </p:cNvPr>
          <p:cNvSpPr>
            <a:spLocks xmlns:a="http://schemas.openxmlformats.org/drawingml/2006/main" noGrp="1"/>
          </p:cNvSpPr>
          <p:nvPr/>
        </p:nvSpPr>
        <p:spPr>
          <a:xfrm xmlns:a="http://schemas.openxmlformats.org/drawingml/2006/main">
            <a:off x="6324600" y="4524375"/>
            <a:ext cx="24003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2" name="">
            <a:extLst xmlns:a="http://schemas.openxmlformats.org/drawingml/2006/main">
              <a:ext uri="{FF2B5EF4-FFF2-40B4-BE49-F238E27FC236}">
                <a16:creationId xmlns:a16="http://schemas.microsoft.com/office/drawing/2014/main" id="{4CE6033E-8054-40EB-9FFA-9C773D4110D8}"/>
              </a:ext>
            </a:extLst>
          </p:cNvPr>
          <p:cNvSpPr>
            <a:spLocks xmlns:a="http://schemas.openxmlformats.org/drawingml/2006/main" noGrp="1"/>
          </p:cNvSpPr>
          <p:nvPr/>
        </p:nvSpPr>
        <p:spPr>
          <a:xfrm xmlns:a="http://schemas.openxmlformats.org/drawingml/2006/main">
            <a:off x="6438900" y="4600575"/>
            <a:ext cx="2171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1">
                <a:solidFill>
                  <a:srgbClr val="F4F7FA"/>
                </a:solidFill>
                <a:latin typeface="Roboto"/>
                <a:ea typeface="Roboto"/>
                <a:cs typeface="Roboto"/>
              </a:defRPr>
            </a:pPr>
            <a:r>
              <a:rPr sz="1725" b="1">
                <a:solidFill>
                  <a:srgbClr val="F4F7FA"/>
                </a:solidFill>
                <a:latin typeface="Roboto"/>
                <a:ea typeface="Roboto"/>
                <a:cs typeface="Roboto"/>
              </a:rPr>
              <a:t>Compare / authorize</a:t>
            </a:r>
          </a:p>
        </p:txBody>
      </p:sp>
      <p:sp>
        <p:nvSpPr>
          <p:cNvPr id="23" name="">
            <a:extLst xmlns:a="http://schemas.openxmlformats.org/drawingml/2006/main">
              <a:ext uri="{FF2B5EF4-FFF2-40B4-BE49-F238E27FC236}">
                <a16:creationId xmlns:a16="http://schemas.microsoft.com/office/drawing/2014/main" id="{EEFA914A-D73D-4A40-AE5D-897FCD6DC821}"/>
              </a:ext>
            </a:extLst>
          </p:cNvPr>
          <p:cNvSpPr>
            <a:spLocks xmlns:a="http://schemas.openxmlformats.org/drawingml/2006/main" noGrp="1"/>
          </p:cNvSpPr>
          <p:nvPr/>
        </p:nvSpPr>
        <p:spPr>
          <a:xfrm xmlns:a="http://schemas.openxmlformats.org/drawingml/2006/main">
            <a:off x="3467100" y="4524375"/>
            <a:ext cx="24003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4" name="">
            <a:extLst xmlns:a="http://schemas.openxmlformats.org/drawingml/2006/main">
              <a:ext uri="{FF2B5EF4-FFF2-40B4-BE49-F238E27FC236}">
                <a16:creationId xmlns:a16="http://schemas.microsoft.com/office/drawing/2014/main" id="{ED3A8622-2305-4289-B2D5-55004DCF3FFC}"/>
              </a:ext>
            </a:extLst>
          </p:cNvPr>
          <p:cNvSpPr>
            <a:spLocks xmlns:a="http://schemas.openxmlformats.org/drawingml/2006/main" noGrp="1"/>
          </p:cNvSpPr>
          <p:nvPr/>
        </p:nvSpPr>
        <p:spPr>
          <a:xfrm xmlns:a="http://schemas.openxmlformats.org/drawingml/2006/main">
            <a:off x="3581400" y="4600575"/>
            <a:ext cx="2171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1">
                <a:solidFill>
                  <a:srgbClr val="F4F7FA"/>
                </a:solidFill>
                <a:latin typeface="Roboto"/>
                <a:ea typeface="Roboto"/>
                <a:cs typeface="Roboto"/>
              </a:defRPr>
            </a:pPr>
            <a:r>
              <a:rPr sz="1725" b="1">
                <a:solidFill>
                  <a:srgbClr val="F4F7FA"/>
                </a:solidFill>
                <a:latin typeface="Roboto"/>
                <a:ea typeface="Roboto"/>
                <a:cs typeface="Roboto"/>
              </a:rPr>
              <a:t>Apply correction</a:t>
            </a:r>
          </a:p>
        </p:txBody>
      </p:sp>
      <p:cxnSp>
        <p:nvCxnSpPr>
          <p:cNvPr id="58" name=""/>
          <p:cNvCxnSpPr>
            <a:stCxn xmlns:a="http://schemas.openxmlformats.org/drawingml/2006/main" id="11" idx="2"/>
            <a:endCxn xmlns:a="http://schemas.openxmlformats.org/drawingml/2006/main" id="19" idx="0"/>
          </p:cNvCxnSpPr>
          <p:nvPr/>
        </p:nvCxnSpPr>
        <p:spPr>
          <a:xfrm xmlns:a="http://schemas.openxmlformats.org/drawingml/2006/main">
            <a:off x="10382250" y="3209925"/>
            <a:ext cx="0" cy="13144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9" name=""/>
          <p:cNvCxnSpPr>
            <a:stCxn xmlns:a="http://schemas.openxmlformats.org/drawingml/2006/main" id="19" idx="1"/>
            <a:endCxn xmlns:a="http://schemas.openxmlformats.org/drawingml/2006/main" id="21" idx="3"/>
          </p:cNvCxnSpPr>
          <p:nvPr/>
        </p:nvCxnSpPr>
        <p:spPr>
          <a:xfrm xmlns:a="http://schemas.openxmlformats.org/drawingml/2006/main" flipH="1">
            <a:off x="8724900" y="485775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60" name=""/>
          <p:cNvCxnSpPr>
            <a:stCxn xmlns:a="http://schemas.openxmlformats.org/drawingml/2006/main" id="17" idx="2"/>
            <a:endCxn xmlns:a="http://schemas.openxmlformats.org/drawingml/2006/main" id="21" idx="0"/>
          </p:cNvCxnSpPr>
          <p:nvPr/>
        </p:nvCxnSpPr>
        <p:spPr>
          <a:xfrm xmlns:a="http://schemas.openxmlformats.org/drawingml/2006/main">
            <a:off x="7524750" y="4191000"/>
            <a:ext cx="0" cy="333375"/>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1" name=""/>
          <p:cNvCxnSpPr>
            <a:stCxn xmlns:a="http://schemas.openxmlformats.org/drawingml/2006/main" id="21" idx="1"/>
            <a:endCxn xmlns:a="http://schemas.openxmlformats.org/drawingml/2006/main" id="23" idx="3"/>
          </p:cNvCxnSpPr>
          <p:nvPr/>
        </p:nvCxnSpPr>
        <p:spPr>
          <a:xfrm xmlns:a="http://schemas.openxmlformats.org/drawingml/2006/main" flipH="1">
            <a:off x="5867400" y="485775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62" name=""/>
          <p:cNvCxnSpPr>
            <a:stCxn xmlns:a="http://schemas.openxmlformats.org/drawingml/2006/main" id="23" idx="0"/>
            <a:endCxn xmlns:a="http://schemas.openxmlformats.org/drawingml/2006/main" id="7" idx="2"/>
          </p:cNvCxnSpPr>
          <p:nvPr/>
        </p:nvCxnSpPr>
        <p:spPr>
          <a:xfrm xmlns:a="http://schemas.openxmlformats.org/drawingml/2006/main" flipV="1">
            <a:off x="4667250" y="3209925"/>
            <a:ext cx="0" cy="131445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30" name="">
            <a:extLst xmlns:a="http://schemas.openxmlformats.org/drawingml/2006/main">
              <a:ext uri="{FF2B5EF4-FFF2-40B4-BE49-F238E27FC236}">
                <a16:creationId xmlns:a16="http://schemas.microsoft.com/office/drawing/2014/main" id="{B6DD798D-E834-4DD4-BBF7-82D07259BB87}"/>
              </a:ext>
            </a:extLst>
          </p:cNvPr>
          <p:cNvSpPr>
            <a:spLocks xmlns:a="http://schemas.openxmlformats.org/drawingml/2006/main" noGrp="1"/>
          </p:cNvSpPr>
          <p:nvPr/>
        </p:nvSpPr>
        <p:spPr>
          <a:xfrm xmlns:a="http://schemas.openxmlformats.org/drawingml/2006/main">
            <a:off x="609600" y="53054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Rollback / disable tool / manual fallback · inside delegated authority</a:t>
            </a:r>
          </a:p>
        </p:txBody>
      </p:sp>
      <p:sp>
        <p:nvSpPr>
          <p:cNvPr id="31" name="">
            <a:extLst xmlns:a="http://schemas.openxmlformats.org/drawingml/2006/main">
              <a:ext uri="{FF2B5EF4-FFF2-40B4-BE49-F238E27FC236}">
                <a16:creationId xmlns:a16="http://schemas.microsoft.com/office/drawing/2014/main" id="{6B921D53-1496-4E4E-9BFA-8F4F293BE42B}"/>
              </a:ext>
            </a:extLst>
          </p:cNvPr>
          <p:cNvSpPr>
            <a:spLocks xmlns:a="http://schemas.openxmlformats.org/drawingml/2006/main" noGrp="1"/>
          </p:cNvSpPr>
          <p:nvPr/>
        </p:nvSpPr>
        <p:spPr>
          <a:xfrm xmlns:a="http://schemas.openxmlformats.org/drawingml/2006/main">
            <a:off x="609600" y="56102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Observe outcomes + gate health. Verify that the corrective action took effect.</a:t>
            </a:r>
          </a:p>
        </p:txBody>
      </p:sp>
      <p:sp>
        <p:nvSpPr>
          <p:cNvPr id="32" name="">
            <a:extLst xmlns:a="http://schemas.openxmlformats.org/drawingml/2006/main">
              <a:ext uri="{FF2B5EF4-FFF2-40B4-BE49-F238E27FC236}">
                <a16:creationId xmlns:a16="http://schemas.microsoft.com/office/drawing/2014/main" id="{DB495834-3B7D-47B6-ACD2-E56C911FF5EA}"/>
              </a:ext>
            </a:extLst>
          </p:cNvPr>
          <p:cNvSpPr>
            <a:spLocks xmlns:a="http://schemas.openxmlformats.org/drawingml/2006/main" noGrp="1"/>
          </p:cNvSpPr>
          <p:nvPr/>
        </p:nvSpPr>
        <p:spPr>
          <a:xfrm xmlns:a="http://schemas.openxmlformats.org/drawingml/2006/main" flipH="0" flipV="0">
            <a:off x="609600" y="59055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3" name="">
            <a:extLst xmlns:a="http://schemas.openxmlformats.org/drawingml/2006/main">
              <a:ext uri="{FF2B5EF4-FFF2-40B4-BE49-F238E27FC236}">
                <a16:creationId xmlns:a16="http://schemas.microsoft.com/office/drawing/2014/main" id="{BE1B8E2C-BBCC-480D-80BA-A0F03D9A8B3B}"/>
              </a:ext>
            </a:extLst>
          </p:cNvPr>
          <p:cNvSpPr>
            <a:spLocks xmlns:a="http://schemas.openxmlformats.org/drawingml/2006/main" noGrp="1"/>
          </p:cNvSpPr>
          <p:nvPr/>
        </p:nvSpPr>
        <p:spPr>
          <a:xfrm xmlns:a="http://schemas.openxmlformats.org/drawingml/2006/main">
            <a:off x="609600" y="6048375"/>
            <a:ext cx="10648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Roboto"/>
                <a:ea typeface="Roboto"/>
                <a:cs typeface="Roboto"/>
              </a:defRPr>
            </a:pPr>
            <a:r>
              <a:rPr sz="1950" b="1">
                <a:solidFill>
                  <a:srgbClr val="F4F7FA"/>
                </a:solidFill>
                <a:latin typeface="Roboto"/>
                <a:ea typeface="Roboto"/>
                <a:cs typeface="Roboto"/>
              </a:rPr>
              <a:t>A dashboard sees a problem. An authorized control path can change operation.</a:t>
            </a:r>
          </a:p>
        </p:txBody>
      </p:sp>
    </p:spTree>
    <p:extLst>
      <p:ext uri="{BB962C8B-B14F-4D97-AF65-F5344CB8AC3E}">
        <p14:creationId xmlns:p14="http://schemas.microsoft.com/office/powerpoint/2010/main" val="403390539"/>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B62CA5E-9B35-4EF9-9833-B08DA924A1A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Roles Move With the System</a:t>
            </a:r>
          </a:p>
        </p:txBody>
      </p:sp>
      <p:sp>
        <p:nvSpPr>
          <p:cNvPr id="2" name="">
            <a:extLst xmlns:a="http://schemas.openxmlformats.org/drawingml/2006/main">
              <a:ext uri="{FF2B5EF4-FFF2-40B4-BE49-F238E27FC236}">
                <a16:creationId xmlns:a16="http://schemas.microsoft.com/office/drawing/2014/main" id="{0B2E4C1D-5192-428A-9043-37C52767E77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FF9D3387-196D-4728-9113-6E0B48162CB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13</a:t>
            </a:r>
          </a:p>
        </p:txBody>
      </p:sp>
      <p:sp>
        <p:nvSpPr>
          <p:cNvPr id="4" name="">
            <a:extLst xmlns:a="http://schemas.openxmlformats.org/drawingml/2006/main">
              <a:ext uri="{FF2B5EF4-FFF2-40B4-BE49-F238E27FC236}">
                <a16:creationId xmlns:a16="http://schemas.microsoft.com/office/drawing/2014/main" id="{CDF6D3FE-CF8C-4284-B23A-9948929AC196}"/>
              </a:ext>
            </a:extLst>
          </p:cNvPr>
          <p:cNvSpPr>
            <a:spLocks xmlns:a="http://schemas.openxmlformats.org/drawingml/2006/main" noGrp="1"/>
          </p:cNvSpPr>
          <p:nvPr/>
        </p:nvSpPr>
        <p:spPr>
          <a:xfrm xmlns:a="http://schemas.openxmlformats.org/drawingml/2006/main">
            <a:off x="609600" y="17526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PROJECT MANAGER · manage the learning loop as well as delivery</a:t>
            </a:r>
          </a:p>
        </p:txBody>
      </p:sp>
      <p:sp>
        <p:nvSpPr>
          <p:cNvPr id="5" name="">
            <a:extLst xmlns:a="http://schemas.openxmlformats.org/drawingml/2006/main">
              <a:ext uri="{FF2B5EF4-FFF2-40B4-BE49-F238E27FC236}">
                <a16:creationId xmlns:a16="http://schemas.microsoft.com/office/drawing/2014/main" id="{BEDAD510-C409-48CF-BC5B-5042B84AF31C}"/>
              </a:ext>
            </a:extLst>
          </p:cNvPr>
          <p:cNvSpPr>
            <a:spLocks xmlns:a="http://schemas.openxmlformats.org/drawingml/2006/main" noGrp="1"/>
          </p:cNvSpPr>
          <p:nvPr/>
        </p:nvSpPr>
        <p:spPr>
          <a:xfrm xmlns:a="http://schemas.openxmlformats.org/drawingml/2006/main">
            <a:off x="609600" y="2238375"/>
            <a:ext cx="240030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6" name="">
            <a:extLst xmlns:a="http://schemas.openxmlformats.org/drawingml/2006/main">
              <a:ext uri="{FF2B5EF4-FFF2-40B4-BE49-F238E27FC236}">
                <a16:creationId xmlns:a16="http://schemas.microsoft.com/office/drawing/2014/main" id="{DF16A256-3F56-43A0-8202-9F8DB58E0C75}"/>
              </a:ext>
            </a:extLst>
          </p:cNvPr>
          <p:cNvSpPr>
            <a:spLocks xmlns:a="http://schemas.openxmlformats.org/drawingml/2006/main" noGrp="1"/>
          </p:cNvSpPr>
          <p:nvPr/>
        </p:nvSpPr>
        <p:spPr>
          <a:xfrm xmlns:a="http://schemas.openxmlformats.org/drawingml/2006/main">
            <a:off x="723900" y="2314575"/>
            <a:ext cx="2171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Hypothesis</a:t>
            </a:r>
          </a:p>
        </p:txBody>
      </p:sp>
      <p:sp>
        <p:nvSpPr>
          <p:cNvPr id="7" name="">
            <a:extLst xmlns:a="http://schemas.openxmlformats.org/drawingml/2006/main">
              <a:ext uri="{FF2B5EF4-FFF2-40B4-BE49-F238E27FC236}">
                <a16:creationId xmlns:a16="http://schemas.microsoft.com/office/drawing/2014/main" id="{4BE7C5CC-CBFF-49F2-A91E-B1B9E2C27C3D}"/>
              </a:ext>
            </a:extLst>
          </p:cNvPr>
          <p:cNvSpPr>
            <a:spLocks xmlns:a="http://schemas.openxmlformats.org/drawingml/2006/main" noGrp="1"/>
          </p:cNvSpPr>
          <p:nvPr/>
        </p:nvSpPr>
        <p:spPr>
          <a:xfrm xmlns:a="http://schemas.openxmlformats.org/drawingml/2006/main">
            <a:off x="3467100" y="2238375"/>
            <a:ext cx="240030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8" name="">
            <a:extLst xmlns:a="http://schemas.openxmlformats.org/drawingml/2006/main">
              <a:ext uri="{FF2B5EF4-FFF2-40B4-BE49-F238E27FC236}">
                <a16:creationId xmlns:a16="http://schemas.microsoft.com/office/drawing/2014/main" id="{A6C97205-CCA7-471E-88C5-DC13D2122E71}"/>
              </a:ext>
            </a:extLst>
          </p:cNvPr>
          <p:cNvSpPr>
            <a:spLocks xmlns:a="http://schemas.openxmlformats.org/drawingml/2006/main" noGrp="1"/>
          </p:cNvSpPr>
          <p:nvPr/>
        </p:nvSpPr>
        <p:spPr>
          <a:xfrm xmlns:a="http://schemas.openxmlformats.org/drawingml/2006/main">
            <a:off x="3581400" y="2314575"/>
            <a:ext cx="2171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Bounded trial</a:t>
            </a:r>
          </a:p>
        </p:txBody>
      </p:sp>
      <p:sp>
        <p:nvSpPr>
          <p:cNvPr id="9" name="">
            <a:extLst xmlns:a="http://schemas.openxmlformats.org/drawingml/2006/main">
              <a:ext uri="{FF2B5EF4-FFF2-40B4-BE49-F238E27FC236}">
                <a16:creationId xmlns:a16="http://schemas.microsoft.com/office/drawing/2014/main" id="{FE4ACBC5-A5C5-4E7E-BEBB-3C3680A9F662}"/>
              </a:ext>
            </a:extLst>
          </p:cNvPr>
          <p:cNvSpPr>
            <a:spLocks xmlns:a="http://schemas.openxmlformats.org/drawingml/2006/main" noGrp="1"/>
          </p:cNvSpPr>
          <p:nvPr/>
        </p:nvSpPr>
        <p:spPr>
          <a:xfrm xmlns:a="http://schemas.openxmlformats.org/drawingml/2006/main">
            <a:off x="6324600" y="2238375"/>
            <a:ext cx="240030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DA8186E1-63B0-4D4F-80EA-75CCC587F087}"/>
              </a:ext>
            </a:extLst>
          </p:cNvPr>
          <p:cNvSpPr>
            <a:spLocks xmlns:a="http://schemas.openxmlformats.org/drawingml/2006/main" noGrp="1"/>
          </p:cNvSpPr>
          <p:nvPr/>
        </p:nvSpPr>
        <p:spPr>
          <a:xfrm xmlns:a="http://schemas.openxmlformats.org/drawingml/2006/main">
            <a:off x="6438900" y="2314575"/>
            <a:ext cx="2171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Evidence</a:t>
            </a:r>
          </a:p>
        </p:txBody>
      </p:sp>
      <p:sp>
        <p:nvSpPr>
          <p:cNvPr id="11" name="">
            <a:extLst xmlns:a="http://schemas.openxmlformats.org/drawingml/2006/main">
              <a:ext uri="{FF2B5EF4-FFF2-40B4-BE49-F238E27FC236}">
                <a16:creationId xmlns:a16="http://schemas.microsoft.com/office/drawing/2014/main" id="{F1004A10-73E2-45E3-BED0-7163CC58F520}"/>
              </a:ext>
            </a:extLst>
          </p:cNvPr>
          <p:cNvSpPr>
            <a:spLocks xmlns:a="http://schemas.openxmlformats.org/drawingml/2006/main" noGrp="1"/>
          </p:cNvSpPr>
          <p:nvPr/>
        </p:nvSpPr>
        <p:spPr>
          <a:xfrm xmlns:a="http://schemas.openxmlformats.org/drawingml/2006/main">
            <a:off x="9182100" y="2238375"/>
            <a:ext cx="240030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2" name="">
            <a:extLst xmlns:a="http://schemas.openxmlformats.org/drawingml/2006/main">
              <a:ext uri="{FF2B5EF4-FFF2-40B4-BE49-F238E27FC236}">
                <a16:creationId xmlns:a16="http://schemas.microsoft.com/office/drawing/2014/main" id="{3092C4D5-551A-462C-9ADA-D3E61CC196CC}"/>
              </a:ext>
            </a:extLst>
          </p:cNvPr>
          <p:cNvSpPr>
            <a:spLocks xmlns:a="http://schemas.openxmlformats.org/drawingml/2006/main" noGrp="1"/>
          </p:cNvSpPr>
          <p:nvPr/>
        </p:nvSpPr>
        <p:spPr>
          <a:xfrm xmlns:a="http://schemas.openxmlformats.org/drawingml/2006/main">
            <a:off x="9296400" y="2314575"/>
            <a:ext cx="2171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Decision</a:t>
            </a:r>
          </a:p>
        </p:txBody>
      </p:sp>
      <p:cxnSp>
        <p:nvCxnSpPr>
          <p:cNvPr id="32" name=""/>
          <p:cNvCxnSpPr>
            <a:stCxn xmlns:a="http://schemas.openxmlformats.org/drawingml/2006/main" id="5" idx="3"/>
            <a:endCxn xmlns:a="http://schemas.openxmlformats.org/drawingml/2006/main" id="7" idx="1"/>
          </p:cNvCxnSpPr>
          <p:nvPr/>
        </p:nvCxnSpPr>
        <p:spPr>
          <a:xfrm xmlns:a="http://schemas.openxmlformats.org/drawingml/2006/main">
            <a:off x="3009900" y="2524125"/>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3" name=""/>
          <p:cNvCxnSpPr>
            <a:stCxn xmlns:a="http://schemas.openxmlformats.org/drawingml/2006/main" id="7" idx="3"/>
            <a:endCxn xmlns:a="http://schemas.openxmlformats.org/drawingml/2006/main" id="9" idx="1"/>
          </p:cNvCxnSpPr>
          <p:nvPr/>
        </p:nvCxnSpPr>
        <p:spPr>
          <a:xfrm xmlns:a="http://schemas.openxmlformats.org/drawingml/2006/main">
            <a:off x="5867400" y="2524125"/>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4" name=""/>
          <p:cNvCxnSpPr>
            <a:stCxn xmlns:a="http://schemas.openxmlformats.org/drawingml/2006/main" id="9" idx="3"/>
            <a:endCxn xmlns:a="http://schemas.openxmlformats.org/drawingml/2006/main" id="11" idx="1"/>
          </p:cNvCxnSpPr>
          <p:nvPr/>
        </p:nvCxnSpPr>
        <p:spPr>
          <a:xfrm xmlns:a="http://schemas.openxmlformats.org/drawingml/2006/main">
            <a:off x="8724900" y="2524125"/>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F83BFA3C-04D9-44C5-926C-F43FCC75225D}"/>
              </a:ext>
            </a:extLst>
          </p:cNvPr>
          <p:cNvSpPr>
            <a:spLocks xmlns:a="http://schemas.openxmlformats.org/drawingml/2006/main" noGrp="1"/>
          </p:cNvSpPr>
          <p:nvPr/>
        </p:nvSpPr>
        <p:spPr>
          <a:xfrm xmlns:a="http://schemas.openxmlformats.org/drawingml/2006/main">
            <a:off x="609600" y="29337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Adapt or stop; production evidence feeds the next iteration.</a:t>
            </a:r>
          </a:p>
        </p:txBody>
      </p:sp>
      <p:graphicFrame>
        <p:nvGraphicFramePr>
          <p:cNvPr id="36" name=""/>
          <p:cNvGraphicFramePr/>
          <p:nvPr/>
        </p:nvGraphicFramePr>
        <p:xfrm>
          <a:off xmlns:a="http://schemas.openxmlformats.org/drawingml/2006/main" x="609600" y="3333750"/>
          <a:ext xmlns:a="http://schemas.openxmlformats.org/drawingml/2006/main" cx="10972800" cy="2266950"/>
        </p:xfrm>
        <a:graphic xmlns:a="http://schemas.openxmlformats.org/drawingml/2006/main">
          <a:graphicData uri="http://schemas.openxmlformats.org/drawingml/2006/table">
            <a:tbl>
              <a:tblPr/>
              <a:tblGrid>
                <a:gridCol w="2028825"/>
                <a:gridCol w="4467225"/>
                <a:gridCol w="4476750"/>
              </a:tblGrid>
              <a:tr h="566738">
                <a:tc>
                  <a:txBody>
                    <a:bodyPr lIns="171450" tIns="66675" rIns="171450" bIns="66675">
                      <a:noAutofit/>
                    </a:bodyPr>
                    <a:lstStyle/>
                    <a:p>
                      <a:r>
                        <a:rPr sz="1575" b="1">
                          <a:solidFill>
                            <a:srgbClr val="F4F7FA"/>
                          </a:solidFill>
                          <a:latin typeface="Roboto"/>
                          <a:ea typeface="Roboto"/>
                          <a:cs typeface="Roboto"/>
                        </a:rPr>
                        <a:t>CHECKPOINT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Roboto"/>
                          <a:ea typeface="Roboto"/>
                          <a:cs typeface="Roboto"/>
                        </a:rPr>
                        <a:t>PROJECT MANAGER’S WORK</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Roboto"/>
                          <a:ea typeface="Roboto"/>
                          <a:cs typeface="Roboto"/>
                        </a:rPr>
                        <a:t>VISIBLE RESULT</a:t>
                      </a:r>
                    </a:p>
                  </a:txBody>
                  <a:tcPr marL="91440" marR="91440" marT="45720" marB="45720" anchor="ctr">
                    <a:solidFill>
                      <a:srgbClr val="1A2734"/>
                    </a:solidFill>
                  </a:tcPr>
                </a:tc>
              </a:tr>
              <a:tr h="566738">
                <a:tc>
                  <a:txBody>
                    <a:bodyPr lIns="171450" tIns="66675" rIns="171450" bIns="66675">
                      <a:noAutofit/>
                    </a:bodyPr>
                    <a:lstStyle/>
                    <a:p>
                      <a:r>
                        <a:rPr sz="1500" b="1">
                          <a:solidFill>
                            <a:srgbClr val="F4F7FA"/>
                          </a:solidFill>
                          <a:latin typeface="Roboto"/>
                          <a:ea typeface="Roboto"/>
                          <a:cs typeface="Roboto"/>
                        </a:rPr>
                        <a:t>Planning</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Roboto"/>
                          <a:ea typeface="Roboto"/>
                          <a:cs typeface="Roboto"/>
                        </a:rPr>
                        <a:t>Sequence evidence gaps + dependencies</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Roboto"/>
                          <a:ea typeface="Roboto"/>
                          <a:cs typeface="Roboto"/>
                        </a:rPr>
                        <a:t>Trial budget, owner, stop condition</a:t>
                      </a:r>
                    </a:p>
                  </a:txBody>
                  <a:tcPr marL="91440" marR="91440" marT="45720" marB="45720" anchor="ctr">
                    <a:solidFill>
                      <a:srgbClr val="0B0F14"/>
                    </a:solidFill>
                  </a:tcPr>
                </a:tc>
              </a:tr>
              <a:tr h="566738">
                <a:tc>
                  <a:txBody>
                    <a:bodyPr lIns="171450" tIns="66675" rIns="171450" bIns="66675">
                      <a:noAutofit/>
                    </a:bodyPr>
                    <a:lstStyle/>
                    <a:p>
                      <a:r>
                        <a:rPr sz="1500" b="1">
                          <a:solidFill>
                            <a:srgbClr val="F4F7FA"/>
                          </a:solidFill>
                          <a:latin typeface="Roboto"/>
                          <a:ea typeface="Roboto"/>
                          <a:cs typeface="Roboto"/>
                        </a:rPr>
                        <a:t>Sprint review</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Roboto"/>
                          <a:ea typeface="Roboto"/>
                          <a:cs typeface="Roboto"/>
                        </a:rPr>
                        <a:t>Bring Product, BA, QA, Dev, Architect together</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Roboto"/>
                          <a:ea typeface="Roboto"/>
                          <a:cs typeface="Roboto"/>
                        </a:rPr>
                        <a:t>Accept, adjust, narrow or stop</a:t>
                      </a:r>
                    </a:p>
                  </a:txBody>
                  <a:tcPr marL="91440" marR="91440" marT="45720" marB="45720" anchor="ctr">
                    <a:solidFill>
                      <a:srgbClr val="0B0F14"/>
                    </a:solidFill>
                  </a:tcPr>
                </a:tc>
              </a:tr>
              <a:tr h="566738">
                <a:tc>
                  <a:txBody>
                    <a:bodyPr lIns="171450" tIns="66675" rIns="171450" bIns="66675">
                      <a:noAutofit/>
                    </a:bodyPr>
                    <a:lstStyle/>
                    <a:p>
                      <a:r>
                        <a:rPr sz="1500" b="1">
                          <a:solidFill>
                            <a:srgbClr val="F4F7FA"/>
                          </a:solidFill>
                          <a:latin typeface="Roboto"/>
                          <a:ea typeface="Roboto"/>
                          <a:cs typeface="Roboto"/>
                        </a:rPr>
                        <a:t>Release + operate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Roboto"/>
                          <a:ea typeface="Roboto"/>
                          <a:cs typeface="Roboto"/>
                        </a:rPr>
                        <a:t>Track authorization + response capacity</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Roboto"/>
                          <a:ea typeface="Roboto"/>
                          <a:cs typeface="Roboto"/>
                        </a:rPr>
                        <a:t>Scoped rollout; trigger to reopen</a:t>
                      </a:r>
                    </a:p>
                  </a:txBody>
                  <a:tcPr marL="91440" marR="91440" marT="45720" marB="45720" anchor="ctr">
                    <a:solidFill>
                      <a:srgbClr val="0B0F14"/>
                    </a:solidFill>
                  </a:tcPr>
                </a:tc>
              </a:tr>
            </a:tbl>
          </a:graphicData>
        </a:graphic>
      </p:graphicFrame>
      <p:sp>
        <p:nvSpPr>
          <p:cNvPr id="18" name="">
            <a:extLst xmlns:a="http://schemas.openxmlformats.org/drawingml/2006/main">
              <a:ext uri="{FF2B5EF4-FFF2-40B4-BE49-F238E27FC236}">
                <a16:creationId xmlns:a16="http://schemas.microsoft.com/office/drawing/2014/main" id="{565ADA42-F6DF-4771-B8BA-A30CE250801E}"/>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B54D38C6-2000-4BDD-9D9F-96F7AF7D7FA4}"/>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Progress = working capability + reduced uncertainty + explicit decisions.</a:t>
            </a:r>
          </a:p>
        </p:txBody>
      </p:sp>
    </p:spTree>
    <p:extLst>
      <p:ext uri="{BB962C8B-B14F-4D97-AF65-F5344CB8AC3E}">
        <p14:creationId xmlns:p14="http://schemas.microsoft.com/office/powerpoint/2010/main" val="1495338830"/>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A544B35-DC3A-4438-A2DB-8A391875F6C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Engineering Rigor Moves —</a:t>
            </a:r>
          </a:p>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It Doesn’t Disappear</a:t>
            </a:r>
          </a:p>
        </p:txBody>
      </p:sp>
      <p:sp>
        <p:nvSpPr>
          <p:cNvPr id="2" name="">
            <a:extLst xmlns:a="http://schemas.openxmlformats.org/drawingml/2006/main">
              <a:ext uri="{FF2B5EF4-FFF2-40B4-BE49-F238E27FC236}">
                <a16:creationId xmlns:a16="http://schemas.microsoft.com/office/drawing/2014/main" id="{9ADDE5D8-A2A1-4088-9750-62051E8258A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92A408D-EA73-4A5C-8BBB-B97844EE428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14</a:t>
            </a:r>
          </a:p>
        </p:txBody>
      </p:sp>
      <p:sp>
        <p:nvSpPr>
          <p:cNvPr id="4" name="">
            <a:extLst xmlns:a="http://schemas.openxmlformats.org/drawingml/2006/main">
              <a:ext uri="{FF2B5EF4-FFF2-40B4-BE49-F238E27FC236}">
                <a16:creationId xmlns:a16="http://schemas.microsoft.com/office/drawing/2014/main" id="{397CBD32-8C2D-4A5D-B236-23DB91847BF9}"/>
              </a:ext>
            </a:extLst>
          </p:cNvPr>
          <p:cNvSpPr>
            <a:spLocks xmlns:a="http://schemas.openxmlformats.org/drawingml/2006/main" noGrp="1"/>
          </p:cNvSpPr>
          <p:nvPr/>
        </p:nvSpPr>
        <p:spPr>
          <a:xfrm xmlns:a="http://schemas.openxmlformats.org/drawingml/2006/main">
            <a:off x="609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Roboto"/>
                <a:ea typeface="Roboto"/>
                <a:cs typeface="Roboto"/>
              </a:defRPr>
            </a:pPr>
            <a:r>
              <a:rPr sz="1725" b="1">
                <a:solidFill>
                  <a:srgbClr val="28C7F7"/>
                </a:solidFill>
                <a:latin typeface="Roboto"/>
                <a:ea typeface="Roboto"/>
                <a:cs typeface="Roboto"/>
              </a:rPr>
              <a:t>HOW WE BUILD</a:t>
            </a:r>
          </a:p>
        </p:txBody>
      </p:sp>
      <p:sp>
        <p:nvSpPr>
          <p:cNvPr id="5" name="">
            <a:extLst xmlns:a="http://schemas.openxmlformats.org/drawingml/2006/main">
              <a:ext uri="{FF2B5EF4-FFF2-40B4-BE49-F238E27FC236}">
                <a16:creationId xmlns:a16="http://schemas.microsoft.com/office/drawing/2014/main" id="{10924785-3D19-4430-8975-273F161BEB9C}"/>
              </a:ext>
            </a:extLst>
          </p:cNvPr>
          <p:cNvSpPr>
            <a:spLocks xmlns:a="http://schemas.openxmlformats.org/drawingml/2006/main" noGrp="1"/>
          </p:cNvSpPr>
          <p:nvPr/>
        </p:nvSpPr>
        <p:spPr>
          <a:xfrm xmlns:a="http://schemas.openxmlformats.org/drawingml/2006/main">
            <a:off x="609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Roboto"/>
                <a:ea typeface="Roboto"/>
                <a:cs typeface="Roboto"/>
              </a:defRPr>
            </a:pPr>
            <a:r>
              <a:rPr sz="2700" b="1">
                <a:solidFill>
                  <a:srgbClr val="F4F7FA"/>
                </a:solidFill>
                <a:latin typeface="Roboto"/>
                <a:ea typeface="Roboto"/>
                <a:cs typeface="Roboto"/>
              </a:rPr>
              <a:t>Protect delivery</a:t>
            </a:r>
          </a:p>
        </p:txBody>
      </p:sp>
      <p:sp>
        <p:nvSpPr>
          <p:cNvPr id="6" name="">
            <a:extLst xmlns:a="http://schemas.openxmlformats.org/drawingml/2006/main">
              <a:ext uri="{FF2B5EF4-FFF2-40B4-BE49-F238E27FC236}">
                <a16:creationId xmlns:a16="http://schemas.microsoft.com/office/drawing/2014/main" id="{C1510938-C1D3-4E01-AFD3-86D0A5BDD3AA}"/>
              </a:ext>
            </a:extLst>
          </p:cNvPr>
          <p:cNvSpPr>
            <a:spLocks xmlns:a="http://schemas.openxmlformats.org/drawingml/2006/main" noGrp="1"/>
          </p:cNvSpPr>
          <p:nvPr/>
        </p:nvSpPr>
        <p:spPr>
          <a:xfrm xmlns:a="http://schemas.openxmlformats.org/drawingml/2006/main" flipH="0" flipV="0">
            <a:off x="609600" y="3181350"/>
            <a:ext cx="523875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7" name="">
            <a:extLst xmlns:a="http://schemas.openxmlformats.org/drawingml/2006/main">
              <a:ext uri="{FF2B5EF4-FFF2-40B4-BE49-F238E27FC236}">
                <a16:creationId xmlns:a16="http://schemas.microsoft.com/office/drawing/2014/main" id="{679C9F66-232D-4D33-9E42-B1D195706D66}"/>
              </a:ext>
            </a:extLst>
          </p:cNvPr>
          <p:cNvSpPr>
            <a:spLocks xmlns:a="http://schemas.openxmlformats.org/drawingml/2006/main" noGrp="1"/>
          </p:cNvSpPr>
          <p:nvPr/>
        </p:nvSpPr>
        <p:spPr>
          <a:xfrm xmlns:a="http://schemas.openxmlformats.org/drawingml/2006/main">
            <a:off x="609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Team: comprehension + ownership</a:t>
            </a:r>
          </a:p>
        </p:txBody>
      </p:sp>
      <p:sp>
        <p:nvSpPr>
          <p:cNvPr id="8" name="">
            <a:extLst xmlns:a="http://schemas.openxmlformats.org/drawingml/2006/main">
              <a:ext uri="{FF2B5EF4-FFF2-40B4-BE49-F238E27FC236}">
                <a16:creationId xmlns:a16="http://schemas.microsoft.com/office/drawing/2014/main" id="{C277486B-8FD2-4488-8BFA-014B98F24124}"/>
              </a:ext>
            </a:extLst>
          </p:cNvPr>
          <p:cNvSpPr>
            <a:spLocks xmlns:a="http://schemas.openxmlformats.org/drawingml/2006/main" noGrp="1"/>
          </p:cNvSpPr>
          <p:nvPr/>
        </p:nvSpPr>
        <p:spPr>
          <a:xfrm xmlns:a="http://schemas.openxmlformats.org/drawingml/2006/main">
            <a:off x="609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Project Manager: evidence + flow</a:t>
            </a:r>
          </a:p>
        </p:txBody>
      </p:sp>
      <p:sp>
        <p:nvSpPr>
          <p:cNvPr id="9" name="">
            <a:extLst xmlns:a="http://schemas.openxmlformats.org/drawingml/2006/main">
              <a:ext uri="{FF2B5EF4-FFF2-40B4-BE49-F238E27FC236}">
                <a16:creationId xmlns:a16="http://schemas.microsoft.com/office/drawing/2014/main" id="{F855802E-3E6C-4DB5-B3D8-73E5797C1986}"/>
              </a:ext>
            </a:extLst>
          </p:cNvPr>
          <p:cNvSpPr>
            <a:spLocks xmlns:a="http://schemas.openxmlformats.org/drawingml/2006/main" noGrp="1"/>
          </p:cNvSpPr>
          <p:nvPr/>
        </p:nvSpPr>
        <p:spPr>
          <a:xfrm xmlns:a="http://schemas.openxmlformats.org/drawingml/2006/main">
            <a:off x="609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Small batches, bounded experiments</a:t>
            </a:r>
          </a:p>
        </p:txBody>
      </p:sp>
      <p:sp>
        <p:nvSpPr>
          <p:cNvPr id="10" name="">
            <a:extLst xmlns:a="http://schemas.openxmlformats.org/drawingml/2006/main">
              <a:ext uri="{FF2B5EF4-FFF2-40B4-BE49-F238E27FC236}">
                <a16:creationId xmlns:a16="http://schemas.microsoft.com/office/drawing/2014/main" id="{2B63D24F-12D3-4C38-A4A8-9F9CC5DF4F19}"/>
              </a:ext>
            </a:extLst>
          </p:cNvPr>
          <p:cNvSpPr>
            <a:spLocks xmlns:a="http://schemas.openxmlformats.org/drawingml/2006/main" noGrp="1"/>
          </p:cNvSpPr>
          <p:nvPr/>
        </p:nvSpPr>
        <p:spPr>
          <a:xfrm xmlns:a="http://schemas.openxmlformats.org/drawingml/2006/main">
            <a:off x="609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Review decisions, not just demos</a:t>
            </a:r>
          </a:p>
        </p:txBody>
      </p:sp>
      <p:sp>
        <p:nvSpPr>
          <p:cNvPr id="11" name="">
            <a:extLst xmlns:a="http://schemas.openxmlformats.org/drawingml/2006/main">
              <a:ext uri="{FF2B5EF4-FFF2-40B4-BE49-F238E27FC236}">
                <a16:creationId xmlns:a16="http://schemas.microsoft.com/office/drawing/2014/main" id="{516898C7-5AA2-4B75-AEEF-C0774B4C995A}"/>
              </a:ext>
            </a:extLst>
          </p:cNvPr>
          <p:cNvSpPr>
            <a:spLocks xmlns:a="http://schemas.openxmlformats.org/drawingml/2006/main" noGrp="1"/>
          </p:cNvSpPr>
          <p:nvPr/>
        </p:nvSpPr>
        <p:spPr>
          <a:xfrm xmlns:a="http://schemas.openxmlformats.org/drawingml/2006/main">
            <a:off x="6324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5B61C"/>
                </a:solidFill>
                <a:latin typeface="Roboto"/>
                <a:ea typeface="Roboto"/>
                <a:cs typeface="Roboto"/>
              </a:defRPr>
            </a:pPr>
            <a:r>
              <a:rPr sz="1725" b="1">
                <a:solidFill>
                  <a:srgbClr val="F5B61C"/>
                </a:solidFill>
                <a:latin typeface="Roboto"/>
                <a:ea typeface="Roboto"/>
                <a:cs typeface="Roboto"/>
              </a:rPr>
              <a:t>WHAT WE BUILD</a:t>
            </a:r>
          </a:p>
        </p:txBody>
      </p:sp>
      <p:sp>
        <p:nvSpPr>
          <p:cNvPr id="12" name="">
            <a:extLst xmlns:a="http://schemas.openxmlformats.org/drawingml/2006/main">
              <a:ext uri="{FF2B5EF4-FFF2-40B4-BE49-F238E27FC236}">
                <a16:creationId xmlns:a16="http://schemas.microsoft.com/office/drawing/2014/main" id="{E9AA1EB7-609A-4576-A0CC-EC07BBEEAEE9}"/>
              </a:ext>
            </a:extLst>
          </p:cNvPr>
          <p:cNvSpPr>
            <a:spLocks xmlns:a="http://schemas.openxmlformats.org/drawingml/2006/main" noGrp="1"/>
          </p:cNvSpPr>
          <p:nvPr/>
        </p:nvSpPr>
        <p:spPr>
          <a:xfrm xmlns:a="http://schemas.openxmlformats.org/drawingml/2006/main">
            <a:off x="6324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Roboto"/>
                <a:ea typeface="Roboto"/>
                <a:cs typeface="Roboto"/>
              </a:defRPr>
            </a:pPr>
            <a:r>
              <a:rPr sz="2700" b="1">
                <a:solidFill>
                  <a:srgbClr val="F4F7FA"/>
                </a:solidFill>
                <a:latin typeface="Roboto"/>
                <a:ea typeface="Roboto"/>
                <a:cs typeface="Roboto"/>
              </a:rPr>
              <a:t>Govern behavior</a:t>
            </a:r>
          </a:p>
        </p:txBody>
      </p:sp>
      <p:sp>
        <p:nvSpPr>
          <p:cNvPr id="13" name="">
            <a:extLst xmlns:a="http://schemas.openxmlformats.org/drawingml/2006/main">
              <a:ext uri="{FF2B5EF4-FFF2-40B4-BE49-F238E27FC236}">
                <a16:creationId xmlns:a16="http://schemas.microsoft.com/office/drawing/2014/main" id="{44DB1BF5-E896-4352-B151-51BFEB933A83}"/>
              </a:ext>
            </a:extLst>
          </p:cNvPr>
          <p:cNvSpPr>
            <a:spLocks xmlns:a="http://schemas.openxmlformats.org/drawingml/2006/main" noGrp="1"/>
          </p:cNvSpPr>
          <p:nvPr/>
        </p:nvSpPr>
        <p:spPr>
          <a:xfrm xmlns:a="http://schemas.openxmlformats.org/drawingml/2006/main" flipH="0" flipV="0">
            <a:off x="6324600" y="3181350"/>
            <a:ext cx="5238750" cy="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14" name="">
            <a:extLst xmlns:a="http://schemas.openxmlformats.org/drawingml/2006/main">
              <a:ext uri="{FF2B5EF4-FFF2-40B4-BE49-F238E27FC236}">
                <a16:creationId xmlns:a16="http://schemas.microsoft.com/office/drawing/2014/main" id="{C00DE342-8D36-4D1E-90AE-82ACF167EA01}"/>
              </a:ext>
            </a:extLst>
          </p:cNvPr>
          <p:cNvSpPr>
            <a:spLocks xmlns:a="http://schemas.openxmlformats.org/drawingml/2006/main" noGrp="1"/>
          </p:cNvSpPr>
          <p:nvPr/>
        </p:nvSpPr>
        <p:spPr>
          <a:xfrm xmlns:a="http://schemas.openxmlformats.org/drawingml/2006/main">
            <a:off x="6324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Product + BA: agreed acceptance</a:t>
            </a:r>
          </a:p>
        </p:txBody>
      </p:sp>
      <p:sp>
        <p:nvSpPr>
          <p:cNvPr id="15" name="">
            <a:extLst xmlns:a="http://schemas.openxmlformats.org/drawingml/2006/main">
              <a:ext uri="{FF2B5EF4-FFF2-40B4-BE49-F238E27FC236}">
                <a16:creationId xmlns:a16="http://schemas.microsoft.com/office/drawing/2014/main" id="{2FAA82AD-CBC7-4A12-9F3A-0619EE6CABE3}"/>
              </a:ext>
            </a:extLst>
          </p:cNvPr>
          <p:cNvSpPr>
            <a:spLocks xmlns:a="http://schemas.openxmlformats.org/drawingml/2006/main" noGrp="1"/>
          </p:cNvSpPr>
          <p:nvPr/>
        </p:nvSpPr>
        <p:spPr>
          <a:xfrm xmlns:a="http://schemas.openxmlformats.org/drawingml/2006/main">
            <a:off x="6324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QA + Dev: calibrated evidence</a:t>
            </a:r>
          </a:p>
        </p:txBody>
      </p:sp>
      <p:sp>
        <p:nvSpPr>
          <p:cNvPr id="16" name="">
            <a:extLst xmlns:a="http://schemas.openxmlformats.org/drawingml/2006/main">
              <a:ext uri="{FF2B5EF4-FFF2-40B4-BE49-F238E27FC236}">
                <a16:creationId xmlns:a16="http://schemas.microsoft.com/office/drawing/2014/main" id="{8DF4C222-96D4-4DB0-8346-F2A4F8048EED}"/>
              </a:ext>
            </a:extLst>
          </p:cNvPr>
          <p:cNvSpPr>
            <a:spLocks xmlns:a="http://schemas.openxmlformats.org/drawingml/2006/main" noGrp="1"/>
          </p:cNvSpPr>
          <p:nvPr/>
        </p:nvSpPr>
        <p:spPr>
          <a:xfrm xmlns:a="http://schemas.openxmlformats.org/drawingml/2006/main">
            <a:off x="6324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Architect: effective control paths</a:t>
            </a:r>
          </a:p>
        </p:txBody>
      </p:sp>
      <p:sp>
        <p:nvSpPr>
          <p:cNvPr id="17" name="">
            <a:extLst xmlns:a="http://schemas.openxmlformats.org/drawingml/2006/main">
              <a:ext uri="{FF2B5EF4-FFF2-40B4-BE49-F238E27FC236}">
                <a16:creationId xmlns:a16="http://schemas.microsoft.com/office/drawing/2014/main" id="{941BD648-5CA0-4FAB-B1F2-38B3B51416BB}"/>
              </a:ext>
            </a:extLst>
          </p:cNvPr>
          <p:cNvSpPr>
            <a:spLocks xmlns:a="http://schemas.openxmlformats.org/drawingml/2006/main" noGrp="1"/>
          </p:cNvSpPr>
          <p:nvPr/>
        </p:nvSpPr>
        <p:spPr>
          <a:xfrm xmlns:a="http://schemas.openxmlformats.org/drawingml/2006/main">
            <a:off x="6324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Release owner: scope + residual risk</a:t>
            </a:r>
          </a:p>
        </p:txBody>
      </p:sp>
      <p:sp>
        <p:nvSpPr>
          <p:cNvPr id="18" name="">
            <a:extLst xmlns:a="http://schemas.openxmlformats.org/drawingml/2006/main">
              <a:ext uri="{FF2B5EF4-FFF2-40B4-BE49-F238E27FC236}">
                <a16:creationId xmlns:a16="http://schemas.microsoft.com/office/drawing/2014/main" id="{1B03AD3C-3C46-4B1F-949B-32B7858C7AEC}"/>
              </a:ext>
            </a:extLst>
          </p:cNvPr>
          <p:cNvSpPr>
            <a:spLocks xmlns:a="http://schemas.openxmlformats.org/drawingml/2006/main" noGrp="1"/>
          </p:cNvSpPr>
          <p:nvPr/>
        </p:nvSpPr>
        <p:spPr>
          <a:xfrm xmlns:a="http://schemas.openxmlformats.org/drawingml/2006/main">
            <a:off x="609600" y="53149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Roboto"/>
                <a:ea typeface="Roboto"/>
                <a:cs typeface="Roboto"/>
              </a:defRPr>
            </a:pPr>
            <a:r>
              <a:rPr sz="1875" b="0">
                <a:solidFill>
                  <a:srgbClr val="F4F7FA"/>
                </a:solidFill>
                <a:latin typeface="Roboto"/>
                <a:ea typeface="Roboto"/>
                <a:cs typeface="Roboto"/>
              </a:rPr>
              <a:t>Team process: hypothesize → measure → decide → adapt</a:t>
            </a:r>
          </a:p>
        </p:txBody>
      </p:sp>
      <p:sp>
        <p:nvSpPr>
          <p:cNvPr id="19" name="">
            <a:extLst xmlns:a="http://schemas.openxmlformats.org/drawingml/2006/main">
              <a:ext uri="{FF2B5EF4-FFF2-40B4-BE49-F238E27FC236}">
                <a16:creationId xmlns:a16="http://schemas.microsoft.com/office/drawing/2014/main" id="{82CB197D-7238-4FDD-9CBD-AEEFF4377CC1}"/>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68A03594-8B0F-4D09-A7FE-AC917E98ED28}"/>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The team remains accountable for the whole system.</a:t>
            </a:r>
          </a:p>
        </p:txBody>
      </p:sp>
    </p:spTree>
    <p:extLst>
      <p:ext uri="{BB962C8B-B14F-4D97-AF65-F5344CB8AC3E}">
        <p14:creationId xmlns:p14="http://schemas.microsoft.com/office/powerpoint/2010/main" val="4112083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2026-09-21T17:40:40.2080000Z</dcterms:created>
  <dcterms:modified xsi:type="dcterms:W3CDTF">2026-09-21T17:40:40.2080000Z</dcterms:modified>
</coreProperties>
</file>