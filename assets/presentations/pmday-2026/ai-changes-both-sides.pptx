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slides/charts/chart1.xml" ContentType="application/vnd.openxmlformats-officedocument.drawingml.chart+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Default Extension="fntdata" ContentType="application/x-fontdata"/>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f7985a48cdb14ad0" /><Relationship Type="http://schemas.openxmlformats.org/officeDocument/2006/relationships/extended-properties" Target="/docProps/app.xml" Id="R3cfa85f4ac5244a0" /><Relationship Type="http://schemas.openxmlformats.org/officeDocument/2006/relationships/officeDocument" Target="/ppt/presentation.xml" Id="R4f7eab5be435437b" /></Relationships>
</file>

<file path=ppt/presentation.xml><?xml version="1.0" encoding="utf-8"?>
<p:presentation xmlns:p="http://schemas.openxmlformats.org/presentationml/2006/main" xmlns:r="http://schemas.openxmlformats.org/officeDocument/2006/relationships" embedTrueTypeFonts="1" saveSubsetFonts="0">
  <p:sldMasterIdLst>
    <p:sldMasterId id="2147483648" r:id="Re95ee429059745ed"/>
  </p:sldMasterIdLst>
  <p:notesMasterIdLst>
    <p:notesMasterId r:id="R7269d0d0a28846bb"/>
  </p:notesMasterIdLst>
  <p:sldIdLst>
    <p:sldId id="256" r:id="Ra594940ccb4a43b7"/>
    <p:sldId id="257" r:id="R8474682efe704191"/>
    <p:sldId id="258" r:id="R3b60accb82bb41b4"/>
    <p:sldId id="259" r:id="Rbf2018390dc64637"/>
    <p:sldId id="260" r:id="Ra2359db0dc334f2c"/>
    <p:sldId id="261" r:id="R9d9994e7486e414f"/>
    <p:sldId id="262" r:id="R1d2d39a1cbbc4d68"/>
    <p:sldId id="263" r:id="R1b500ff596804ee5"/>
    <p:sldId id="264" r:id="Rdc70dd7947404065"/>
    <p:sldId id="265" r:id="R2af6bb1b16bb466a"/>
    <p:sldId id="266" r:id="Re1d0e80115b24069"/>
    <p:sldId id="267" r:id="Rdc6d74754d0e4baf"/>
    <p:sldId id="268" r:id="Rb6a04a609ec6408a"/>
    <p:sldId id="269" r:id="R025aeb5647734235"/>
  </p:sldIdLst>
  <p:sldSz cx="12192000" cy="6858000"/>
  <p:notesSz cx="6858000" cy="9144000"/>
  <p:embeddedFontLst>
    <p:embeddedFont>
      <p:font typeface="Roboto"/>
      <p:regular r:id="rIdRobotoRegular"/>
      <p:bold r:id="rIdRobotoBold"/>
    </p:embeddedFont>
  </p:embeddedFontLst>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Relationships xmlns="http://schemas.openxmlformats.org/package/2006/relationships"><Relationship Type="http://schemas.openxmlformats.org/officeDocument/2006/relationships/theme" Target="/ppt/theme/theme1.xml" Id="R0bb60cc32e134a82" /><Relationship Type="http://schemas.openxmlformats.org/officeDocument/2006/relationships/slideMaster" Target="/ppt/slideMasters/slideMaster1.xml" Id="Re95ee429059745ed" /><Relationship Type="http://schemas.openxmlformats.org/officeDocument/2006/relationships/notesMaster" Target="/ppt/notesMasters/notesMaster1.xml" Id="R7269d0d0a28846bb" /><Relationship Type="http://schemas.openxmlformats.org/officeDocument/2006/relationships/presProps" Target="/ppt/presProps.xml" Id="Re813643ffcb04326" /><Relationship Type="http://schemas.openxmlformats.org/officeDocument/2006/relationships/tableStyles" Target="/ppt/tableStyles.xml" Id="R5354ef7182c84a95" /><Relationship Type="http://schemas.openxmlformats.org/officeDocument/2006/relationships/slide" Target="/ppt/slides/slide1.xml" Id="Ra594940ccb4a43b7" /><Relationship Type="http://schemas.openxmlformats.org/officeDocument/2006/relationships/slide" Target="/ppt/slides/slide2.xml" Id="R8474682efe704191" /><Relationship Type="http://schemas.openxmlformats.org/officeDocument/2006/relationships/slide" Target="/ppt/slides/slide3.xml" Id="R3b60accb82bb41b4" /><Relationship Type="http://schemas.openxmlformats.org/officeDocument/2006/relationships/slide" Target="/ppt/slides/slide4.xml" Id="Rbf2018390dc64637" /><Relationship Type="http://schemas.openxmlformats.org/officeDocument/2006/relationships/slide" Target="/ppt/slides/slide5.xml" Id="Ra2359db0dc334f2c" /><Relationship Type="http://schemas.openxmlformats.org/officeDocument/2006/relationships/slide" Target="/ppt/slides/slide6.xml" Id="R9d9994e7486e414f" /><Relationship Type="http://schemas.openxmlformats.org/officeDocument/2006/relationships/slide" Target="/ppt/slides/slide7.xml" Id="R1d2d39a1cbbc4d68" /><Relationship Type="http://schemas.openxmlformats.org/officeDocument/2006/relationships/slide" Target="/ppt/slides/slide8.xml" Id="R1b500ff596804ee5" /><Relationship Type="http://schemas.openxmlformats.org/officeDocument/2006/relationships/slide" Target="/ppt/slides/slide9.xml" Id="Rdc70dd7947404065" /><Relationship Type="http://schemas.openxmlformats.org/officeDocument/2006/relationships/slide" Target="/ppt/slides/slide10.xml" Id="R2af6bb1b16bb466a" /><Relationship Type="http://schemas.openxmlformats.org/officeDocument/2006/relationships/slide" Target="/ppt/slides/slide11.xml" Id="Re1d0e80115b24069" /><Relationship Type="http://schemas.openxmlformats.org/officeDocument/2006/relationships/slide" Target="/ppt/slides/slide12.xml" Id="Rdc6d74754d0e4baf" /><Relationship Type="http://schemas.openxmlformats.org/officeDocument/2006/relationships/slide" Target="/ppt/slides/slide13.xml" Id="Rb6a04a609ec6408a" /><Relationship Type="http://schemas.openxmlformats.org/officeDocument/2006/relationships/slide" Target="/ppt/slides/slide14.xml" Id="R025aeb5647734235" /><Relationship Id="rIdRobotoRegular" Type="http://schemas.openxmlformats.org/officeDocument/2006/relationships/font" Target="fonts/Roboto-Regular.fntdata" /><Relationship Id="rIdRobotoBold" Type="http://schemas.openxmlformats.org/officeDocument/2006/relationships/font" Target="fonts/Roboto-Bold.fntdata"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6f3a4840523a4867"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fc44ba4ce1714d80" /><Relationship Type="http://schemas.openxmlformats.org/officeDocument/2006/relationships/notesMaster" Target="/ppt/notesMasters/notesMaster1.xml" Id="Rb903d779a7b64d14" /></Relationships>
</file>

<file path=ppt/notesSlides/_rels/notesSlide2.xml.rels>&#65279;<?xml version="1.0" encoding="utf-8"?><Relationships xmlns="http://schemas.openxmlformats.org/package/2006/relationships"><Relationship Type="http://schemas.openxmlformats.org/officeDocument/2006/relationships/slide" Target="/ppt/slides/slide2.xml" Id="R8bf7beb7166f4c7f" /><Relationship Type="http://schemas.openxmlformats.org/officeDocument/2006/relationships/notesMaster" Target="/ppt/notesMasters/notesMaster1.xml" Id="Rd5c70ffaacd4493d" /></Relationships>
</file>

<file path=ppt/notesSlides/_rels/notesSlide3.xml.rels>&#65279;<?xml version="1.0" encoding="utf-8"?><Relationships xmlns="http://schemas.openxmlformats.org/package/2006/relationships"><Relationship Type="http://schemas.openxmlformats.org/officeDocument/2006/relationships/slide" Target="/ppt/slides/slide3.xml" Id="R4322cba396c440bb" /><Relationship Type="http://schemas.openxmlformats.org/officeDocument/2006/relationships/notesMaster" Target="/ppt/notesMasters/notesMaster1.xml" Id="R813b0041595f4746" /></Relationships>
</file>

<file path=ppt/notesSlides/_rels/notesSlide4.xml.rels>&#65279;<?xml version="1.0" encoding="utf-8"?><Relationships xmlns="http://schemas.openxmlformats.org/package/2006/relationships"><Relationship Type="http://schemas.openxmlformats.org/officeDocument/2006/relationships/slide" Target="/ppt/slides/slide4.xml" Id="Recf5642568cc4cdb" /><Relationship Type="http://schemas.openxmlformats.org/officeDocument/2006/relationships/notesMaster" Target="/ppt/notesMasters/notesMaster1.xml" Id="Rff2ca4dbbdd5410d" /></Relationships>
</file>

<file path=ppt/notesSlides/_rels/notesSlide5.xml.rels>&#65279;<?xml version="1.0" encoding="utf-8"?><Relationships xmlns="http://schemas.openxmlformats.org/package/2006/relationships"><Relationship Type="http://schemas.openxmlformats.org/officeDocument/2006/relationships/slide" Target="/ppt/slides/slide5.xml" Id="R59a53cd2c5fc45c6" /><Relationship Type="http://schemas.openxmlformats.org/officeDocument/2006/relationships/notesMaster" Target="/ppt/notesMasters/notesMaster1.xml" Id="Rbf8095c3caa448e9" /></Relationships>
</file>

<file path=ppt/notesSlides/_rels/notesSlide6.xml.rels>&#65279;<?xml version="1.0" encoding="utf-8"?><Relationships xmlns="http://schemas.openxmlformats.org/package/2006/relationships"><Relationship Type="http://schemas.openxmlformats.org/officeDocument/2006/relationships/slide" Target="/ppt/slides/slide6.xml" Id="Rca0b5f2d4ca14229" /><Relationship Type="http://schemas.openxmlformats.org/officeDocument/2006/relationships/notesMaster" Target="/ppt/notesMasters/notesMaster1.xml" Id="R4fbbb273ac584abd" /></Relationships>
</file>

<file path=ppt/notesSlides/_rels/notesSlide7.xml.rels>&#65279;<?xml version="1.0" encoding="utf-8"?><Relationships xmlns="http://schemas.openxmlformats.org/package/2006/relationships"><Relationship Type="http://schemas.openxmlformats.org/officeDocument/2006/relationships/slide" Target="/ppt/slides/slide7.xml" Id="Rdbe47f1086a94c14" /><Relationship Type="http://schemas.openxmlformats.org/officeDocument/2006/relationships/notesMaster" Target="/ppt/notesMasters/notesMaster1.xml" Id="R28c6292ac0024737" /></Relationships>
</file>

<file path=ppt/notesSlides/_rels/notesSlide8.xml.rels>&#65279;<?xml version="1.0" encoding="utf-8"?><Relationships xmlns="http://schemas.openxmlformats.org/package/2006/relationships"><Relationship Type="http://schemas.openxmlformats.org/officeDocument/2006/relationships/slide" Target="/ppt/slides/slide8.xml" Id="R527bb3ff652b4846" /><Relationship Type="http://schemas.openxmlformats.org/officeDocument/2006/relationships/notesMaster" Target="/ppt/notesMasters/notesMaster1.xml" Id="R998f4f59b3c94ddd" /></Relationships>
</file>

<file path=ppt/notesSlides/_rels/notesSlide9.xml.rels>&#65279;<?xml version="1.0" encoding="utf-8"?><Relationships xmlns="http://schemas.openxmlformats.org/package/2006/relationships"><Relationship Type="http://schemas.openxmlformats.org/officeDocument/2006/relationships/slide" Target="/ppt/slides/slide9.xml" Id="Ra1c8d537573f4a87" /><Relationship Type="http://schemas.openxmlformats.org/officeDocument/2006/relationships/notesMaster" Target="/ppt/notesMasters/notesMaster1.xml" Id="R224f6c50b4314e7b"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d7da752b21f144c8" /><Relationship Type="http://schemas.openxmlformats.org/officeDocument/2006/relationships/notesMaster" Target="/ppt/notesMasters/notesMaster1.xml" Id="R27dd3fa86528471d"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7a96d616cd2e416a" /><Relationship Type="http://schemas.openxmlformats.org/officeDocument/2006/relationships/notesMaster" Target="/ppt/notesMasters/notesMaster1.xml" Id="R1348a8244d9c47e0"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fa9874beaa104516" /><Relationship Type="http://schemas.openxmlformats.org/officeDocument/2006/relationships/notesMaster" Target="/ppt/notesMasters/notesMaster1.xml" Id="R87af5a16756f45ef"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c598c94102414043" /><Relationship Type="http://schemas.openxmlformats.org/officeDocument/2006/relationships/notesMaster" Target="/ppt/notesMasters/notesMaster1.xml" Id="R4eff88eed231473e"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9f307fb1be8b40dd" /><Relationship Type="http://schemas.openxmlformats.org/officeDocument/2006/relationships/notesMaster" Target="/ppt/notesMasters/notesMaster1.xml" Id="R49d1033a1002436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Відділити AI для розробки від Model Judgment усередині продукту. Перше змінює виробництво software, друге — поведінку системи. Не починати з реклами UA чи anti-AI тези.</a:t>
            </a:r>
          </a:p>
          <a:p xmlns:a="http://schemas.openxmlformats.org/drawingml/2006/main">
            <a:r>
              <a:t>Ілюстрація показує конкретні ролі: зліва розробник працює з AI coding assistant, справа користувач просить продукт скласти план подорожі. AI-generated illustration, OpenAI imagegen, 21 September 2026. Вона не задає архітектуру системи. Prompt: artwork/PROVENANCE.md.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Phase transition — функціональна рамка, не фізичний закон. Cognition-like operations: інтерпретація запиту, зіставлення контексту, пропозиція коду чи плану. Engineering consequence: ми задаємо контекст, інструменти, межі та перевірку поведінки.</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Theory of Constraints (Goldratt): оптимізуємо потік через реальне обмеження системи. Якщо coding не bottleneck, його прискорення саме по собі не збільшує пропускну здатність delivery. Якщо був bottleneck, після зміни обмеження може переміститися. AI може змінювати Intent і Design так само, як Review, Test, Integration, Deploy та Operate; знак і величину ефекту треба вимірювати.</a:t>
            </a:r>
          </a:p>
          <a:p xmlns:a="http://schemas.openxmlformats.org/drawingml/2006/main">
            <a:r>
              <a:t>Навчальний приклад, не дослідження. ДО AI: code виробляє 8 змін/тиждень, review може опрацювати 8, integration може інтегрувати 8. Потік збалансований. ПІСЛЯ AI: генерація коду зростає до 100 зіставних змін/тиждень, але review та integration лишаються на 8. Інші етапи не прискорилися автоматично. За незмінної потужності та push без WIP limits/відкидання роботи загальний backlog зростає на 100 − 8 = 92 зміни за тиждень. Integration позначено як умовний bottleneck, не універсальний bottleneck команд.</a:t>
            </a:r>
          </a:p>
          <a:p xmlns:a="http://schemas.openxmlformats.org/drawingml/2006/main">
            <a:r>
              <a:t>Це не твердження, що будь-яка оптимізація не-bottleneck автоматично погіршує систему: економія витрат або вільна потужність теж можуть бути корисні. Черга виникає, коли реально збільшується надходження понад вихід. Rework, більші batches, затриманий feedback і тиск на review можуть погіршити якість; це механізм ризику, а не математично неминучий ефект. Джерела й межі: evidence/toc-wip.md.</a:t>
            </a:r>
          </a:p>
          <a:p xmlns:a="http://schemas.openxmlformats.org/drawingml/2006/main">
            <a:r>
              <a:t>На слайді немає фонового зображення чи стрілок: етапи з’єднані короткими нейтральними лініями.</a:t>
            </a:r>
          </a:p>
          <a:p xmlns:a="http://schemas.openxmlformats.org/drawingml/2006/main">
            <a:r>
              <a:t/>
            </a:r>
          </a:p>
          <a:p xmlns:a="http://schemas.openxmlformats.org/drawingml/2006/main">
            <a:r>
              <a:t>Sources:</a:t>
            </a:r>
          </a:p>
          <a:p xmlns:a="http://schemas.openxmlformats.org/drawingml/2006/main">
            <a:r>
              <a:t>https://dora.dev/capabilities/wip-limits/</a:t>
            </a:r>
          </a:p>
          <a:p xmlns:a="http://schemas.openxmlformats.org/drawingml/2006/main">
            <a:r>
              <a:t>https://dora.dev/capabilities/working-in-small-batches/</a:t>
            </a:r>
          </a:p>
          <a:p xmlns:a="http://schemas.openxmlformats.org/drawingml/2006/main">
            <a:r>
              <a:t>https://www.nber.org/papers/w35275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NBER WP 35275: May 2026, revised September 2026; current official PDF downloaded 2026-09-21. Понад 500 тисяч GitHub developers; matched event study, не RCT. Попередні 17.3× / 2.8×, 79→86% та 18→31% належали старій редакції й замінені. Changed LOC = additions + deletions, не чисте зростання кодової бази.</a:t>
            </a:r>
          </a:p>
          <a:p xmlns:a="http://schemas.openxmlformats.org/drawingml/2006/main">
            <a:r>
              <a:t>Table 6, друкована с.33 / PDF p.35, тижні 21–30: Autocomplete — LOC +234.3%, files +50.0%, commits +30.2%, PRs +18.3%, repos +11.9%, releases +9.0%. Sync — LOC +957.5%, files +265.0%, commits +153.2%, PRs +86.0%, repos +47.3%, releases +19.8%. Async — LOC +1254.9%, files +83.3%, commits +60.7%, PRs +68.5%, repos +19.2%; releases не оцінено окремо. Figure 1, друкована с.2 / PDF p.4: авторські округлені cumulative levels — LOC 25.5×, files 5.0×, commits 3.4×, PRs 2.7×, repos 1.8×, releases 1.3×. Арифметика за округленою Table 6: 1+(234.3+957.5+1254.9)/100=25.467; commits 1+(30.2+153.2+60.7)/100=3.441; releases 1+(9.0+19.8)/100=1.288. Не перемножувати компоненти і не видавати ці суми за точні raw-data estimates. Прочерк async releases не означає нульового ефекту.</a:t>
            </a:r>
          </a:p>
          <a:p xmlns:a="http://schemas.openxmlformats.org/drawingml/2006/main">
            <a:r>
              <a:t>Figure 11, друкована с.44 / PDF p.46; §7.2, с.43–46: iOS нові apps/month приблизно 33–45 тисяч у 2023–early 2025 → 108 тисяч у квітні 2026; Android 42 тисячі у січні 2025 → 99 тисяч у mid-2026; Chrome приблизно семикратне зростання від 2023, що почалося до agentic era. SourceForge показує невелике зростання new projects і винесений у Figure OA-17, без надійної usage-панелі. Usage за перші 3 місяці: iOS cohort ratings приблизно стабільні; Android downloads помірно зростають, але значно повільніше за entry; Chrome downloads падають. Тому коректно «usage does not keep pace», а не «usage ніде не зростає».</a:t>
            </a:r>
          </a:p>
          <a:p xmlns:a="http://schemas.openxmlformats.org/drawingml/2006/main">
            <a:r>
              <a:t>§7.2.3, друкована с.46 / PDF p.48: January 2025 → April 2026, частка iOS із &lt;10 ratings приблизно 78% → 87%; Chrome із &lt;10 downloads 19% → 33%; Android із ≤100 downloads приблизно 22% → 26%. Авторські цілі відсотки; не точні частки з raw data. Це порівняння нових когорт за перші 3 місяці, не всіх existing apps, не весь software market і не пряме вимірювання consumer welfare. Зміни часток приблизно +9/+14/+4 відсоткових пункти відповідно.</a:t>
            </a:r>
          </a:p>
          <a:p xmlns:a="http://schemas.openxmlformats.org/drawingml/2006/main">
            <a:r>
              <a:t>DORA 2025 v.2025.2: повний звіт отримано через публічне дзеркало; source URL, license і SHA-256 записано в evidence/sources.json. Figure 28, p.38: software delivery instability має standardized estimate приблизно +0.10 SD, 89% credible interval приблизно +0.07…+0.13, на +1 SD AI adoption. Це округлене зчитування графіка, не точна опублікована числова таблиця. Векторні координати та арифметика — evidence/dora-2025-figure28.json. Footnote 23, p.48 визначає стандартизацію. Appendix p.139: instability об’єднує change failure rate та deployment rework rate, тобто частку незапланованих deployments для виправлення user-facing bugs. Це оцінки респондентів у cross-sectional survey, не телеметрія CI/CD і не доведений причинний ефект. Не перекладати +0.10 SD як +10% failures. &gt;80% і 59% — частки респондентів, які повідомляють про покращення productivity та code quality. Перевірений коефіцієнт 2024 +7.2% тут не підставляємо. Деталі: evidence/dora-2025.md.</a:t>
            </a:r>
          </a:p>
          <a:p xmlns:a="http://schemas.openxmlformats.org/drawingml/2006/main">
            <a:r>
              <a:t>METR, 11 травня 2026: 349 technical workers; 1.4–2× medians across 3 self-reported work-value questions; це не credible/confidence interval, 3× self-reported speed; є selection bias. Старий RCT 2025 із +19% часу — лише історичний контекст.</a:t>
            </a:r>
          </a:p>
          <a:p xmlns:a="http://schemas.openxmlformats.org/drawingml/2006/main">
            <a:r>
              <a:t>GitClear 2026: частка moved code у changed lines 13% (2023) → 3.8% (YTD 2026), не кількість refactoring tasks і не весь reuse. Частота duplicated blocks приблизно +81% за цей період. Copy/paste share 9.4% (2022) → 15.7% (H1 2026), інший baseline. Публічне резюме GitClear 2026 прямо повідомляє +15% two-week code churn: частка нещодавно написаних рядків, переписаних/видалених упродовж двох тижнів. Це відносна зміна, не +15 відсоткових пунктів і не частка дефектів. Резюме не дає окремої пари базових значень churn. Function connectivity: 343 → 223 calls/1000 changed lines, 2023 → YTD 2026, приблизно −35%. Це щільність викликів, не весь reuse. Legacy update share: 1.7% → 0.46%; вступ каже 2022, детальний абзац 2023, тому baseline суперечливий і показник лишається в нотатках. Не змішувати churn, duplication та refactoring. Текст і графік 2026 суперечать щодо абсолютної одиниці duplication, тому залишаємо тільки відносні +81%. Це observational proxies, не причинний ефект AI. Деталі: evidence/gitclear.md.</a:t>
            </a:r>
          </a:p>
          <a:p xmlns:a="http://schemas.openxmlformats.org/drawingml/2006/main">
            <a:r>
              <a:t>Xu, v3 від січня 2026, дані 2020–22: top activity quartile — commits −19%, reviews +6.5%; bottom quartile — commits +43.5%, PRs +17.7%; rework +2.4%. Це не кадрові грейди й не агенти 2026 року.</a:t>
            </a:r>
          </a:p>
          <a:p xmlns:a="http://schemas.openxmlformats.org/drawingml/2006/main">
            <a:r>
              <a:t>Agarwal, v2, Table 2: complexity Agent-first +34.85% / IDE-first +42.87%, warnings +17.73/+19.00%; зміна IDE-first warnings статистично незначуща. Не трактувати це як борг на одну фічу.</a:t>
            </a:r>
          </a:p>
          <a:p xmlns:a="http://schemas.openxmlformats.org/drawingml/2006/main">
            <a:r>
              <a:t>DORA: позитивний зв’язок AI adoption з throughput одночасно з негативним зі stability. Small batches, p.58: сильніший позитивний зв’язок AI із product performance та менше friction, хоча індивідуальні gains можуть бути меншими. ToC / review-testing-integration queues, p.81. Це мотивує системну оптимізацію на слайді 7, не доводить універсальну причинність.</a:t>
            </a:r>
          </a:p>
          <a:p xmlns:a="http://schemas.openxmlformats.org/drawingml/2006/main">
            <a:r>
              <a:t>Повторна числова перевірка 2026-09-21: DORA Fig.28 vector coordinates та сторінку звірено повторно; коефіцієнт і межі лише приблизні. &gt;80% збережено як авторський поріг: сума округлених bars 41+31+13=85 не встановлює точного агрегату. GitClear calls 343→223 дають приблизно −35%; +81% — авторське округлення, +15% churn — число з резюме без окремої baseline-пари. Точний місяць публікації GitClear не підтверджено на перевіреній сторінці, тому на екрані лише 2026. Див. EVIDENCE.md та відповідні локальні нотатки.</a:t>
            </a:r>
          </a:p>
          <a:p xmlns:a="http://schemas.openxmlformats.org/drawingml/2006/main">
            <a:r>
              <a:t>Пояснення GitClear: Moved-code share — частка змінених рядків, класифікованих як переміщений наявний код. 3.8−13=−9.2 відсоткового пункту; (3.8/13−1)×100=−70.769…%, на екрані −70.8%. Це proxy активності рефакторингу: менша частка переміщень може означати менше реорганізації та повторного використання коду, але не кожне переміщення корисне і не весь рефакторинг є переміщенням. Calls / 1k changed lines — кількість викликів інших методів або функцій у новому коді на 1000 змінених рядків, не API throughput. 223−343=−120; (223/343−1)×100=−34.9854…%, приблизно −35%. GitClear трактує вищу щільність як більшу зв’язність нового й наявного коду. Менша може означати слабше reuse, але менша зв’язність іноді бажана; перевіряти дизайн і дублювання. Падіння цих двох proxy — привід перевірити підтримуваність, не автоматичний висновок про погану якість чи причинність AI. *Період 2023→YTD 2026 стосується moved/calls/duplication; для reported churn +15% окремої базової пари немає.</a:t>
            </a:r>
          </a:p>
          <a:p xmlns:a="http://schemas.openxmlformats.org/drawingml/2006/main">
            <a:r>
              <a:t/>
            </a:r>
          </a:p>
          <a:p xmlns:a="http://schemas.openxmlformats.org/drawingml/2006/main">
            <a:r>
              <a:t>Sources:</a:t>
            </a:r>
          </a:p>
          <a:p xmlns:a="http://schemas.openxmlformats.org/drawingml/2006/main">
            <a:r>
              <a:t>https://www.nber.org/papers/w35275</a:t>
            </a:r>
          </a:p>
          <a:p xmlns:a="http://schemas.openxmlformats.org/drawingml/2006/main">
            <a:r>
              <a:t>https://cloud.google.com/blog/products/ai-machine-learning/announcing-the-2025-dora-report</a:t>
            </a:r>
          </a:p>
          <a:p xmlns:a="http://schemas.openxmlformats.org/drawingml/2006/main">
            <a:r>
              <a:t>https://metr.org/blog/2026-05-11-ai-usage-survey/</a:t>
            </a:r>
          </a:p>
          <a:p xmlns:a="http://schemas.openxmlformats.org/drawingml/2006/main">
            <a:r>
              <a:t>https://www.gitclear.com/the_ai_code_quality_maintainability_gap</a:t>
            </a:r>
          </a:p>
          <a:p xmlns:a="http://schemas.openxmlformats.org/drawingml/2006/main">
            <a:r>
              <a:t>https://arxiv.org/html/2510.10165v3</a:t>
            </a:r>
          </a:p>
          <a:p xmlns:a="http://schemas.openxmlformats.org/drawingml/2006/main">
            <a:r>
              <a:t>https://arxiv.org/html/2601.13597v2</a:t>
            </a:r>
          </a:p>
          <a:p xmlns:a="http://schemas.openxmlformats.org/drawingml/2006/main">
            <a:r>
              <a:t>https://dora.dev/research/2025/2025-DORA-Report-Infographic.pdf</a:t>
            </a:r>
          </a:p>
          <a:p xmlns:a="http://schemas.openxmlformats.org/drawingml/2006/main">
            <a:r>
              <a:t>https://www.gitclear.com/ai_assistant_code_quality_2025_research</a:t>
            </a:r>
          </a:p>
          <a:p xmlns:a="http://schemas.openxmlformats.org/drawingml/2006/main">
            <a:r>
              <a:t>https://www.shaunabram.com/wp-content/uploads/2025/10/2025_state_of_ai_assisted_software_development.pdf</a:t>
            </a:r>
          </a:p>
          <a:p xmlns:a="http://schemas.openxmlformats.org/drawingml/2006/main">
            <a:r>
              <a:t>https://dora.dev/research/2025/questions/</a:t>
            </a:r>
          </a:p>
          <a:p xmlns:a="http://schemas.openxmlformats.org/drawingml/2006/main">
            <a:r>
              <a:t>https://www.gitclear.com/industry_stats/ai_code_quality_signal_graphs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Концептуальний сценарій: генерація зростає значно швидше за майже незмінну спроможність цієї команди розуміти й перевіряти код. Горизонтальна людська лінія — припущення сценарію, не біологічна межа: AI, навчання й кращі інструменти можуть допомагати comprehension. YES стосується прискорення генерації; NOT AT THIS RATE — нездатності review в цьому сценарії встигати за заданим потоком. Знак питання про 5 років — ризик довгострокового розуміння, не емпіричний прогноз втрати знань. Comprehension debt тут рамка ризику, не готова метрика. Ні NBER, ні GitClear не вимірювали ці криві.</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AI кодогенератор сам є технічною системою: обмеження контексту, доступних інструментів, модельних можливостей і надійності роблять його потенційною точкою відмови у delivery та recovery. Особливо в складному проекті ця залежність належить risk analysis і плану реагування. Умовний інцидент: сервіс недоступний; AI не знаходить придатного fix у межах дозволеного бюджету спроб. Команда спершу обмежує наслідки, використовує безпечний rollback/fallback де можливо, зупиняє безрезультатний цикл. Далі люди відновлюють розуміння задуму, інваріантів і залежностей, локалізують причину та пропонують fix. Перевірка repair і відновлення відбуваються під incident owner. Containment може йти паралельно з діагностикою; схема показує відповідальність, а не обов’язкове очікування відмови AI перед реагуванням. Генератор може продовжувати допомагати, але команда мусить мати перевірену спроможність діяти без його успіху. Не кожна людина пам’ятає всі рядки: потрібна достатня колективна спроможність. Watch / Explore перенесено на слайд 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Watch і Explore перенесено зі слайда 6 та конкретизовано. Watch: review age, batch size, WIP; churn/duplication/reuse/complexity; зміни без owner та застаріла документація; практична здатність людей діагностувати й відновити систему. Це індикатори, не готовий індекс comprehension. Explore: small batches/WIP limits, spec-driven development та living architecture з code+docs review, repository intelligence для залежностей/owners, recovery drills без успішного AI. Для кожної практики перевіряти end-to-end lead time, rework, stability і recovery, а не generated LOC. DORA 2025 p.58 мотивує small batches, p.81 розглядає ToC і downstream queues. Документація й RI не мають тут доведеної універсальної ефективності. Потрібні baseline, актуальність і практична перевірка. Old equilibrium спрощений; попередня автоматизація не заперечується. Pivot: AI змінює не лише спосіб розробки, а й сам продукт.</a:t>
            </a:r>
          </a:p>
          <a:p xmlns:a="http://schemas.openxmlformats.org/drawingml/2006/main">
            <a:r>
              <a:t/>
            </a:r>
          </a:p>
          <a:p xmlns:a="http://schemas.openxmlformats.org/drawingml/2006/main">
            <a:r>
              <a:t>Sources:</a:t>
            </a:r>
          </a:p>
          <a:p xmlns:a="http://schemas.openxmlformats.org/drawingml/2006/main">
            <a:r>
              <a:t>https://dora.dev/capabilities/wip-limits/</a:t>
            </a:r>
          </a:p>
          <a:p xmlns:a="http://schemas.openxmlformats.org/drawingml/2006/main">
            <a:r>
              <a:t>https://www.shaunabram.com/wp-content/uploads/2025/10/2025_state_of_ai_assisted_software_development.pdf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Thinking Systems — інженерна категорія, не твердження про свідомість. Формули — спрощений контраст. Точніше P(y | x, c, m): контекст, модель і конфігурація також мають значення. Стабільне повторення не гарантує істинності. Наскрізний умовний кейс: IT-асистент використовує дозволені джерела, але не має права на неавторизовані зміни доступу.</a:t>
            </a:r>
          </a:p>
          <a:p xmlns:a="http://schemas.openxmlformats.org/drawingml/2006/main">
            <a:r>
              <a:t/>
            </a:r>
          </a:p>
          <a:p xmlns:a="http://schemas.openxmlformats.org/drawingml/2006/main">
            <a:r>
              <a:t>Візуальне уточнення за наданими скриншотами, 22 вересня 2026. Графічне пояснення за слайдом 3 старої презентації: зліва одиничний результат за фіксованих input, state і version у детермінованому випадку, справа схематичний розподіл можливих результатів. Висота стовпчиків передає відносну частоту лише концептуально. Це не виміряна вибірка, не оцінка ймовірності, не твердження про нормальний розподіл чи математично важкі хвости. Горизонтальна вісь — умовна проєкція варіантів результату. Реальна семантика багатовимірна й може бути категоріальною. Центральна область показує корисну варіативність у прикладі, краї — рідші варіанти, які також потрібно оцінити. Рідкість сама по собі не робить результат дефектом. Інженерне завдання — сформулювати й реалізувати межі корисної поведінки. Детерміновані обов’язки, права та інваріанти в продукті залишаються. Обидві формули є навчальним контрастом, а не класифікацією всього software за одним параметром.</a:t>
            </a:r>
          </a:p>
          <a:p xmlns:a="http://schemas.openxmlformats.org/drawingml/2006/main">
            <a:r>
              <a:t/>
            </a:r>
          </a:p>
          <a:p xmlns:a="http://schemas.openxmlformats.org/drawingml/2006/main">
            <a:r>
              <a:t>Sources:</a:t>
            </a:r>
          </a:p>
          <a:p xmlns:a="http://schemas.openxmlformats.org/drawingml/2006/main">
            <a:r>
              <a:t>https://github.com/UncertaintyArchitectureGroup/uncertainty-architecture/blob/main/00-doctrine/uncertainty-in-the-controlled-object.md</a:t>
            </a:r>
          </a:p>
          <a:p xmlns:a="http://schemas.openxmlformats.org/drawingml/2006/main">
            <a:r>
              <a:t>https://github.com/UncertaintyArchitectureGroup/uncertainty-architecture/blob/main/content/raw/Designing%20Non-Deterministic%20Systems%3A%20Maintaining%20Engineering%20Rigor%20in%20the%20AI%20Era.pdf#page=3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Наскрізний приклад: внутрішній IT-асистент. Зліва — точний перехід Button A → Window B, permissions та інваріанти, які залишаються вимогами. Справа — додаткові вимоги до варіативної поведінки. Дозволено пояснити затверджену статтю підтримки різними словами, зберігаючи зміст і необхідні кроки. За відсутності контексту потрібно уточнити або ескалувати. Не можна вигадувати операційні кроки, розкривати чужі дані або виконувати дію в обхід approval. Одна картинка з областю сама не задає точного вимірюваного контракту.</a:t>
            </a:r>
          </a:p>
          <a:p xmlns:a="http://schemas.openxmlformats.org/drawingml/2006/main">
            <a:r>
              <a:t>Мовний розрив: природна мова неоднозначна; prompt не є точним описом усіх можливих відповідей. Теза «стандартів немає» надто категорична: ISO/IEC 25059:2023 надає quality model і узгоджену термінологію, NIST AI RMF — контекстне управління ризиком, GenAI Profile — спільне з domain experts документування допустимого використання. Вони не підставляють готові семантичні межі й прийнятність наслідків для нашого продукту. Не стверджуємо доведеної відсутності будь-якої формальної мови.</a:t>
            </a:r>
          </a:p>
          <a:p xmlns:a="http://schemas.openxmlformats.org/drawingml/2006/main">
            <a:r>
              <a:t>Практична пропозиція доповіді: Product Manager та BA разом із бізнесом збирають сценарії, приклади, контрприклади, клас наслідків і потрібну реакцію; фіксують rubric, джерело правила й того, хто його погоджує. CheckList (Ribeiro et al., ACL 2020) пропонує capability × test-type підхід до поведінкових перевірок NLP. Це допомога у формулюванні перевірок, не універсальний стандарт semantic acceptance. Project Manager планує доступ до stakeholders, рішення та залежності; не вигадує толерантність за бізнес.</a:t>
            </a:r>
          </a:p>
          <a:p xmlns:a="http://schemas.openxmlformats.org/drawingml/2006/main">
            <a:r>
              <a:t>Вимога ширша за Operating Envelope; точні інтерфейси, заборони й інваріанти зберігаються. BA/Product не зобов’язані самі вивести статистичний поріг: це спільна робота з бізнесом, QA, розробниками й власником ризику. Ролі описують відповідальність, не новий headcount.</a:t>
            </a:r>
          </a:p>
          <a:p xmlns:a="http://schemas.openxmlformats.org/drawingml/2006/main">
            <a:r>
              <a:t>Деталізація бізнес-контракту. Два формулювання відповіді можуть бути однаково правильними: асистент має право скоротити пояснення або змінити тон, але повинен зберегти затверджені кроки, умови та застереження. Заміна тексту сама по собі не є дефектом. Порушення змісту, неправомірна дія або непрацездатний обов’язковий fallback — вже інше питання. Тому команда описує не всі речення наперед, а дозволені джерела й теми, потрібні semantic properties, неприйнятні наслідки та реакцію на невизначеність.</a:t>
            </a:r>
          </a:p>
          <a:p xmlns:a="http://schemas.openxmlformats.org/drawingml/2006/main">
            <a:r>
              <a:t>Product Manager і BA додають до прикладів контракт на експлуатацію: який ручний rework бізнес здатен обробити; скільки коштує корисно завершений запит з урахуванням перевірок, повторів і людей; яку затримку користувач витримає; за яких умов потрібні уточнення, людина або відмова. Якщо ці межі невідомі, це питання для дослідження зі stakeholders, а не число, яке QA має вгадати. Для IT-асистента питання бізнесу звучить так: «Коли краще не дати інструкцію, а передати звернення фахівцю, і чи зможемо ми обслужити цей потік?».</a:t>
            </a:r>
          </a:p>
          <a:p xmlns:a="http://schemas.openxmlformats.org/drawingml/2006/main">
            <a:r>
              <a:t>Спільна мова формується через позначені приклади й контрприклади, rubric, класи наслідків, approved sources та decision owner. Prompt впливає на відповіді, але не задає повного acceptance specification. Графічна область і один semantic-distance score також не замінюють цей контракт. Межі якості, вартості й latency не стають жорсткими гарантіями без окремого реалізованого enforcement path.</a:t>
            </a:r>
          </a:p>
          <a:p xmlns:a="http://schemas.openxmlformats.org/drawingml/2006/main">
            <a:r>
              <a:t/>
            </a:r>
          </a:p>
          <a:p xmlns:a="http://schemas.openxmlformats.org/drawingml/2006/main">
            <a:r>
              <a:t>На правій половині тепер зображено саме область можливих прийнятних результатів. Це концептуальна межа, а не графік з універсальною числовою віссю semantic distance. Коротке й докладне пояснення можуть бути однаково прийнятними, якщо обидва спираються на затверджену статтю та зберігають обов’язкові кроки. Вимога задає властивості області: дозволені теми й джерела, потрібний зміст, заборонені дії та дані, ресурсні межі, реакцію на нестачу контексту. CLARIFY — визначена контрактом дія, коли доказів для змістовної відповіді недостатньо; це не дозвіл порушити межу. PROHIBIT поза дозволеною областю показує неприйнятні наслідки. Саме формулювання межі її не реалізує: для критичних заборон потрібні конкретні контролі. Ліворуч лишаються точні стани, права й переходи. Нові обов’язки доповнюють ці сценарії. Product Manager та BA мають отримати від бізнесу приклади допустимих варіантів і контрприклади, а Project Manager забезпечує рішення та доступність потрібних учасників.</a:t>
            </a:r>
          </a:p>
          <a:p xmlns:a="http://schemas.openxmlformats.org/drawingml/2006/main">
            <a:r>
              <a:t/>
            </a:r>
          </a:p>
          <a:p xmlns:a="http://schemas.openxmlformats.org/drawingml/2006/main">
            <a:r>
              <a:t>Візуальне уточнення за наданими скриншотами, 22 вересня 2026. Візуальна модель тепер безпосередньо відтворює логіку слайда 5 старої презентації: зліва вузький маршрут A–B, справа площина можливостей із перспективною сіткою, зовнішнім бурштиновим контуром погоджених допусків та внутрішньою блакитною областю цільової поведінки. Обидва прийнятні варіанти — коротке та докладне пояснення — належать спільній області. Зовні показано заборонений результат. Внутрішній контур — робочий орієнтир, зовнішній — контракт прийнятності. Простір між ними не є автоматичним дозволом: кожен результат повинен виконувати всі умови контракту. Це концептуальна багатовимірна область, а не виміряна координатна система чи універсальна embedding-distance метрика. Площина стисло показує сукупність умов щодо тем, джерел, обов’язкового змісту, даних, дій, authority, вартості, latency та failure handling. Вимога включає й точний сценарій, і цю область. CLARIFY визначає належну реакцію на нестачу контексту, а не ослаблення заборони. Попередні ALLOW / CLARIFY / PROHIBIT і приклади залишаються в нотатках та уточнюють геометрію.</a:t>
            </a:r>
          </a:p>
          <a:p xmlns:a="http://schemas.openxmlformats.org/drawingml/2006/main">
            <a:r>
              <a:t/>
            </a:r>
          </a:p>
          <a:p xmlns:a="http://schemas.openxmlformats.org/drawingml/2006/main">
            <a:r>
              <a:t>Sources:</a:t>
            </a:r>
          </a:p>
          <a:p xmlns:a="http://schemas.openxmlformats.org/drawingml/2006/main">
            <a:r>
              <a:t>https://www.iso.org/standard/80655.html</a:t>
            </a:r>
          </a:p>
          <a:p xmlns:a="http://schemas.openxmlformats.org/drawingml/2006/main">
            <a:r>
              <a:t>https://nvlpubs.nist.gov/nistpubs/ai/NIST.AI.100-1.pdf</a:t>
            </a:r>
          </a:p>
          <a:p xmlns:a="http://schemas.openxmlformats.org/drawingml/2006/main">
            <a:r>
              <a:t>https://nvlpubs.nist.gov/nistpubs/ai/NIST.AI.600-1.pdf</a:t>
            </a:r>
          </a:p>
          <a:p xmlns:a="http://schemas.openxmlformats.org/drawingml/2006/main">
            <a:r>
              <a:t>https://aclanthology.org/2020.acl-main.442/</a:t>
            </a:r>
          </a:p>
          <a:p xmlns:a="http://schemas.openxmlformats.org/drawingml/2006/main">
            <a:r>
              <a:t>https://github.com/UncertaintyArchitectureGroup/uncertainty-architecture/blob/main/00-doctrine/requirements-correctness-and-bugs.md</a:t>
            </a:r>
          </a:p>
          <a:p xmlns:a="http://schemas.openxmlformats.org/drawingml/2006/main">
            <a:r>
              <a:t>https://github.com/UncertaintyArchitectureGroup/uncertainty-architecture/blob/main/content/raw/Designing%20Non-Deterministic%20Systems%3A%20Maintaining%20Engineering%20Rigor%20in%20the%20AI%20Era.pdf#page=5</a:t>
            </a:r>
          </a:p>
          <a:p xmlns:a="http://schemas.openxmlformats.org/drawingml/2006/main">
            <a:r>
              <a:t>https://github.com/UncertaintyArchitectureGroup/uncertainty-architecture/blob/main/content/raw/Designing%20Non-Deterministic%20Systems%3A%20Maintaining%20Engineering%20Rigor%20in%20the%20AI%20Era.pdf#page=7</a:t>
            </a:r>
          </a:p>
          <a:p xmlns:a="http://schemas.openxmlformats.org/drawingml/2006/main">
            <a:r>
              <a:t>https://github.com/UncertaintyArchitectureGroup/uncertainty-architecture/blob/main/content/raw/Designing%20Non-Deterministic%20Systems%3A%20Maintaining%20Engineering%20Rigor%20in%20the%20AI%20Era.pdf#page=17</a:t>
            </a:r>
          </a:p>
          <a:p xmlns:a="http://schemas.openxmlformats.org/drawingml/2006/main">
            <a:r>
              <a:t>https://github.com/UncertaintyArchitectureGroup/uncertainty-architecture/blob/main/content/raw/Designing%20Non-Deterministic%20Systems%3A%20Maintaining%20Engineering%20Rigor%20in%20the%20AI%20Era.pdf#page=5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Статистичне оцінювання доповнює unit, integration, security та deterministic tests. Потрібно окремо оцінити: а) частоту виходу за погоджені межі; б) силу/тяжкість наслідку. «Сила відхилення» не має універсальної числової шкали: для latency це мілісекунди понад межу, для грошей — збиток, для semantic output — погоджена rubric і класи наслідків. Середній score або embedding distance сам по собі не встановлює business harm. Хвости й критичні групи оцінюємо окремо, а не приховуємо добрим агрегатом.</a:t>
            </a:r>
          </a:p>
          <a:p xmlns:a="http://schemas.openxmlformats.org/drawingml/2006/main">
            <a:r>
              <a:t>Навчальний приклад, не реальні дані і не рекомендований sample size: 200 незалежних репрезентативно відібраних evaluation units із одного стабільного цільового розподілу; 196 прийнятних, 4 неприйнятні. Серед чотирьох: 3 неправильні інструкції та 1 витік даних. 4/200=2%; 196/200=98%. Двосторонній 95% Wilson score interval для частки неприйнятних: [0.780443%, 5.028709%], на слайді ≈0.8%–5.0%. Метод і формула — NIST Engineering Statistics Handbook §7.2.4.1. Інтервал відображає sampling uncertainty за припущень; не дає 95% ймовірності, що конкретний майбутній результат безпечний, і не гарантує поведінки після зміни контексту. Не можна рахувати повтори того самого кейсу як незалежні representative cases. Розмір вибірки, dependence, subgroup coverage, множинні порівняння, невизначеність оцінювача й baseline планують під рішення.</a:t>
            </a:r>
          </a:p>
          <a:p xmlns:a="http://schemas.openxmlformats.org/drawingml/2006/main">
            <a:r>
              <a:t>У прикладі витік порушує обов’язкову вимогу, тому release блокується незалежно від 98% aggregate acceptance. Відсутність витоків у тесті також не доводила б неможливості витоку: потрібні permissions, isolation, gate та перевірка припущень їх роботи.</a:t>
            </a:r>
          </a:p>
          <a:p xmlns:a="http://schemas.openxmlformats.org/drawingml/2006/main">
            <a:r>
              <a:t>Звідки взяти tolerance? QA не винаходить його. Product Manager та BA обговорюють із бізнесом зрозумілі сценарії: скільки ручного виправлення витримає support; кому і яку шкоду завдасть помилка; що треба технічно унеможливити; коли прийнятні уточнення або ручний шлях. Технічна команда перетворює це на measurement plan, оцінку частот, severity, confidence та тригери. Уповноважений власник ризику/релізу погоджує допустимість у конкретному scope. Project Manager організовує ці рішення до обіцянки релізу.</a:t>
            </a:r>
          </a:p>
          <a:p xmlns:a="http://schemas.openxmlformats.org/drawingml/2006/main">
            <a:r>
              <a:t>Model drift пояснюємо бізнесу як зміну спостережуваних результатів/навантаження/наслідків за нової версії чи контексту, а не вимагаємо від stakeholders знання статистичних термінів. QA підтримує golden/reference sets, coverage, calibration із domain experts і перевірки підгруп. Developers роблять versioning, instrumentation, відтворювані evaluation runs і regression comparison. Пороги та rubric версіонуються; evidence для release перевіряється окремо від набору, на якому їх підбирали.</a:t>
            </a:r>
          </a:p>
          <a:p xmlns:a="http://schemas.openxmlformats.org/drawingml/2006/main">
            <a:r>
              <a:t>Що саме змінюється в QA. Golden Set — версіонований набір звичайних, крайових, adversarial і business-critical сценаріїв з очікуваними властивостями змісту та прикладами неприйнятного результату. Це інструмент вимірювання: він сам може бути неповним, застарілим або невдало розміченим. QA разом із domain experts калібрує rubric та evaluator: де він пропускає небезпечну відповідь, де помилково блокує корисну, як розходяться людські оцінки. Розробник забезпечує runner, конфігурацію, provenance та порівняння baseline із candidate.</a:t>
            </a:r>
          </a:p>
          <a:p xmlns:a="http://schemas.openxmlformats.org/drawingml/2006/main">
            <a:r>
              <a:t>Eval Gate пов’язує отримані evidence з погодженим рішенням: block, обмежена експозиція або release у визначених межах. Сам score ще не приймає business risk. Повторні запуски показують варіативність усередині сценарію, а різні сценарії — coverage. Цілеспрямовано зібраний Golden Set не є автоматично репрезентативною вибіркою production traffic; його pass rate не можна без обґрунтування підставити як реальну частоту помилок. Навчальні 4/200 та Wilson interval вище мають власні явно названі припущення.</a:t>
            </a:r>
          </a:p>
          <a:p xmlns:a="http://schemas.openxmlformats.org/drawingml/2006/main">
            <a:r>
              <a:t>Зміна моделі, prompt, retrieval або складу запитів може змінити розподіл результатів навіть без зміни application code. Після інциденту додаємо відтворюваний regression case, перевіряємо чутливість evaluator і причину пропуску. Фінальну release evidence оцінюємо на незалежних від налаштування даних. Бізнесу показуємо не слово «drift», а зміну кількості виправлень, ескалацій, неприйнятних наслідків, затримки й вартості.</a:t>
            </a:r>
          </a:p>
          <a:p xmlns:a="http://schemas.openxmlformats.org/drawingml/2006/main">
            <a:r>
              <a:t/>
            </a:r>
          </a:p>
          <a:p xmlns:a="http://schemas.openxmlformats.org/drawingml/2006/main">
            <a:r>
              <a:t>Графік показує емпіричний розподіл категорій тієї самої навчальної вибірки: 196 прийнятних результатів, 3 неправильні інструкції й 1 витік приватних даних. Разом 200, частки відповідно 98%, 1,5% та 0,5%. Це не 200 різних унікальних рядків тексту: результати групуються за погодженими семантичними властивостями та наслідками. Категорії в цьому прикладі взаємовиключні та вичерпні. Вісь починається з нуля, довжина стовпчиків пропорційна кількості. Малі стовпчики не означають малої тяжкості, тому точні значення та критичний наслідок підписано. Неприйнятні результати об’єднуються для оцінки частоти: (3+1)/200 = 2%. Попередній 95% Wilson interval приблизно 0,8%–5,0% стосується цієї бінарної події, а не кожної категорії окремо та не ймовірності майбутнього інциденту без припущень про вибірку. Ми не накладаємо нормальну криву на категоріальні дані та не вигадуємо baseline для порівняння. Для нового порівняння потрібні зафіксовані версії й порівнювані сценарії. Саме цей перехід до частот, розподілів та невизначеності запозичено зі слайдів 7 і 19 старої презентації. Бізнес має визначити допустимість частоти та сили наслідку, QA — які докази й невизначеність є для рішення.</a:t>
            </a:r>
          </a:p>
          <a:p xmlns:a="http://schemas.openxmlformats.org/drawingml/2006/main">
            <a:r>
              <a:t/>
            </a:r>
          </a:p>
          <a:p xmlns:a="http://schemas.openxmlformats.org/drawingml/2006/main">
            <a:r>
              <a:t>Візуальне уточнення за наданими скриншотами, 22 вересня 2026. Визначення дефекту й схематична область допусків адаптовані зі слайда 4 старої презентації з уточненням чинної UA doctrine Requirements, Correctness, and Bugs. Bug — порушення погодженої вимоги на рівні системи, яке спричинила або допустила реалізована система. Для model-mediated поведінки це, зокрема, вихід за погоджені умови чи допуски або заборонений наслідок. На схемі зелена область — дозволена варіативність, червоні стовпчики — наслідки за межами контракту, якщо система їх допустила. Графік концептуальний: висоти не є даними, нормальність не припускається, одиниць універсальної semantic distance немає. Схема і вибірка 196/3/1 — різні пояснювальні об’єкти; концептуальні стовпчики не відновлені з цих трьох категорій. Рідкісний результат не обов’язково Bug. Якщо запропоновану моделлю заборонену дію контролі належно зупинили до наслідку, це може бути коректним containment за контрактом. Якщо частота помилок допускається в певному контексті, потрібні також погоджені межі тяжкості, наслідків і правила обробки, а не тільки середній відсоток. Розподіл може змінюватися без змін коду, однак окремий tail event не доводить drift: для цього потрібні порівнювані вибірки, baseline, контекст і версії. Класичні детерміновані дефекти також залишаються. На екрані нижче збережено незалежний навчальний приклад: 196 прийнятних, 3 неправильні інструкції та 1 витік приватних даних, 4/200 = 2%, Wilson 95% приблизно 0,8%–5,0%. Частота і тяжкість — різні виміри рішення. У цьому прикладі витік порушує обов’язкову заборону й блокує release. Бізнес через Product/BA визначає прийнятність наслідків, QA/developers вимірюють і перевіряють evidence, уповноважений risk/release owner ухвалює рішення. Golden Set, Eval Gate, калібрування та incident regression залишаються робочими інструментами.</a:t>
            </a:r>
          </a:p>
          <a:p xmlns:a="http://schemas.openxmlformats.org/drawingml/2006/main">
            <a:r>
              <a:t/>
            </a:r>
          </a:p>
          <a:p xmlns:a="http://schemas.openxmlformats.org/drawingml/2006/main">
            <a:r>
              <a:t>Sources:</a:t>
            </a:r>
          </a:p>
          <a:p xmlns:a="http://schemas.openxmlformats.org/drawingml/2006/main">
            <a:r>
              <a:t>https://nvlpubs.nist.gov/nistpubs/ai/NIST.AI.100-1.pdf</a:t>
            </a:r>
          </a:p>
          <a:p xmlns:a="http://schemas.openxmlformats.org/drawingml/2006/main">
            <a:r>
              <a:t>https://nvlpubs.nist.gov/nistpubs/ai/NIST.AI.600-1.pdf</a:t>
            </a:r>
          </a:p>
          <a:p xmlns:a="http://schemas.openxmlformats.org/drawingml/2006/main">
            <a:r>
              <a:t>https://www.itl.nist.gov/div898/handbook/prc/section2/prc241.htm</a:t>
            </a:r>
          </a:p>
          <a:p xmlns:a="http://schemas.openxmlformats.org/drawingml/2006/main">
            <a:r>
              <a:t>https://aclanthology.org/2020.acl-main.442/</a:t>
            </a:r>
          </a:p>
          <a:p xmlns:a="http://schemas.openxmlformats.org/drawingml/2006/main">
            <a:r>
              <a:t>https://github.com/UncertaintyArchitectureGroup/uncertainty-architecture/blob/main/01-patterns/thinking-system-review.md</a:t>
            </a:r>
          </a:p>
          <a:p xmlns:a="http://schemas.openxmlformats.org/drawingml/2006/main">
            <a:r>
              <a:t>https://github.com/UncertaintyArchitectureGroup/uncertainty-architecture/blob/main/content/raw/Designing%20Non-Deterministic%20Systems%3A%20Maintaining%20Engineering%20Rigor%20in%20the%20AI%20Era.pdf#page=14</a:t>
            </a:r>
          </a:p>
          <a:p xmlns:a="http://schemas.openxmlformats.org/drawingml/2006/main">
            <a:r>
              <a:t>https://github.com/UncertaintyArchitectureGroup/uncertainty-architecture/blob/main/content/raw/Designing%20Non-Deterministic%20Systems%3A%20Maintaining%20Engineering%20Rigor%20in%20the%20AI%20Era.pdf#page=19</a:t>
            </a:r>
          </a:p>
          <a:p xmlns:a="http://schemas.openxmlformats.org/drawingml/2006/main">
            <a:r>
              <a:t>https://github.com/UncertaintyArchitectureGroup/uncertainty-architecture/blob/main/content/raw/Designing%20Non-Deterministic%20Systems%3A%20Maintaining%20Engineering%20Rigor%20in%20the%20AI%20Era.pdf#page=4</a:t>
            </a:r>
          </a:p>
          <a:p xmlns:a="http://schemas.openxmlformats.org/drawingml/2006/main">
            <a:r>
              <a:t>https://github.com/UncertaintyArchitectureGroup/uncertainty-architecture/blob/main/00-doctrine/requirements-correctness-and-bugs.md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Конкретизуємо абстрактні risk contracts через deliverables розробників для того самого IT-асистента. READY: визначено аудиторію, дозволені джерела, заборонені дії, приклади/rubric, evaluation plan, критичні залежності й власника ручного шляху. Якщо tolerance або feasibility ще невідомі, команда може бути Ready до обмеженого експерименту з питанням, бюджетом, stop condition та owner; це не дозвіл на production.</a:t>
            </a:r>
          </a:p>
          <a:p xmlns:a="http://schemas.openxmlformats.org/drawingml/2006/main">
            <a:r>
              <a:t>DONE: developer поставляє відтворювану конфігурацію model version, prompt, retrieval/data snapshot, tool schema, policy та permissions; результати deterministic, behavioral і control-path tests; посилання на evaluation evidence, coverage й обмеження. Перевірені deny-path, unavailable-control behavior, telemetry та фактичний rollback/manual fallback. QA звіряє evaluation method і results, а не одноосібно приймає business risk. Для слайда скорочено до model/prompt/data; повний список тут.</a:t>
            </a:r>
          </a:p>
          <a:p xmlns:a="http://schemas.openxmlformats.org/drawingml/2006/main">
            <a:r>
              <a:t>RELEASE: ідентифіковано саме цю версію, population, tool authority, exposure, monitoring, stop triggers, оперативного owner та fallback capacity. Уповноважена особа приймає залишковий ризик у межах повноважень або звужує scope, відкладає чи відхиляє реліз. Прийняття ризику не скасовує обов’язкову заборону й не розширює успадковану project authority. Попередній toy-example із privacy breach не пройде цей gate.</a:t>
            </a:r>
          </a:p>
          <a:p xmlns:a="http://schemas.openxmlformats.org/drawingml/2006/main">
            <a:r>
              <a:t>Розробник тепер здає не лише endpoint, а відтворювану поведінку, evidence і працездатний recovery path. Project Manager відстежує незакриті залежності/рішення та не прирівнює Done до Ship. Ролі можуть поєднуватись однією людиною; достатньо існуючого review artifact, новий комітет не потрібний.</a:t>
            </a:r>
          </a:p>
          <a:p xmlns:a="http://schemas.openxmlformats.org/drawingml/2006/main">
            <a:r>
              <a:t>Практичний engineering object — версія поведінки, а не лише commit застосунку. Один і той самий endpoint із новим prompt, knowledge snapshot, моделлю, evaluator або правами інструментів може мати інший профіль якості й ризику. Тому evidence та rollback прив’язуються до узгодженого набору версій. Окремий Prompt Registry не обов’язковий: для малої команди достатньо наявного version control та deployment/configuration механізму, якщо вони дозволяють встановити, що саме працювало, хто погодив зміну і як повернутись.</a:t>
            </a:r>
          </a:p>
          <a:p xmlns:a="http://schemas.openxmlformats.org/drawingml/2006/main">
            <a:r>
              <a:t>READY включає quality, cost і latency budgets та місткість ручного шляху. Для експерименту потрібні обмеження експозиції й ресурсів до початку роботи. DONE включає deterministic tests, coverage поведінкових сценаріїв, невизначеність оцінки й порівняння з baseline. Валідний JSON перевіряє форму: структурно правильний об’єкт може містити вигадану інструкцію. Тому schema pass доповнюється semantic evidence, permissions і перевіреним recovery path.</a:t>
            </a:r>
          </a:p>
          <a:p xmlns:a="http://schemas.openxmlformats.org/drawingml/2006/main">
            <a:r>
              <a:t>RELEASE має явні варіанти block, canary або scoped release. Canary також потребує попереднього дозволу, обмеженої аудиторії, моніторингу та можливості зупинити експозицію. Усі попередні критерії й власники залишаються. Rollback повертає конфігурацію, але не скасовує вже виконану зовнішню дію: для таких наслідків потрібні containment, ручне виправлення або компенсація.</a:t>
            </a:r>
          </a:p>
          <a:p xmlns:a="http://schemas.openxmlformats.org/drawingml/2006/main">
            <a:r>
              <a:t/>
            </a:r>
          </a:p>
          <a:p xmlns:a="http://schemas.openxmlformats.org/drawingml/2006/main">
            <a:r>
              <a:t>Таблиця тепер прямо порівнює звичний фокус DoR/DoD з додатковими зобов’язаннями для model-mediated behavior. Ліва колонка — спрощений навчальний фокус, а не твердження, що класичний software не має ризик-аналізу, навантажувальних тестів, моніторингу або incident management. Усі наявні вимоги організації залишаються. У DoR потрібен повний і правдоподібний дизайн керування для суттєвих сценаріїв: вимога й межа, спосіб її реалізації, спостереження, уповноважене рішення, виконавчий механізм та перевірка ефекту. Сюди входить human-in-the-loop: хто втручається, з якою інформацією, правами, часом і доступною потужністю, хто підміняє та що відбувається при недоступності. DoR до реалізації не вимагає вже збудованої системи, але має показати весь задум і залежності. Якщо feasibility ще невідома, Ready може означати лише готовність до окремо обмеженого дослідження. До експерименту з реальним exposure потрібні вже працездатні відповідні контролі. DoD підтверджує реалізацію й перевірку цього контуру, включно з людиною та fallback; версії, baseline, оцінка невизначеності, resource budgets і recovery evidence зберігаються. Release визначає population, tool permissions, residual risk, відповідальну особу, постійний моніторинг і triggers для stop/rollback. Block, canary або scoped release — різні дозволені результати рішення. Робота не закінчується релізом: production incidents породжують regression cases, зміни критеріїв Eval Gate та правил моніторингу. Такі зміни також версіонуються, перевіряються й погоджуються в межах повноважень; не можна тихо послабити бізнес-межу, щоб метрика стала зеленою.</a:t>
            </a:r>
          </a:p>
          <a:p xmlns:a="http://schemas.openxmlformats.org/drawingml/2006/main">
            <a:r>
              <a:t/>
            </a:r>
          </a:p>
          <a:p xmlns:a="http://schemas.openxmlformats.org/drawingml/2006/main">
            <a:r>
              <a:t>Sources:</a:t>
            </a:r>
          </a:p>
          <a:p xmlns:a="http://schemas.openxmlformats.org/drawingml/2006/main">
            <a:r>
              <a:t>https://github.com/UncertaintyArchitectureGroup/uncertainty-architecture/blob/main/01-patterns/thinking-system-review.md</a:t>
            </a:r>
          </a:p>
          <a:p xmlns:a="http://schemas.openxmlformats.org/drawingml/2006/main">
            <a:r>
              <a:t>https://github.com/UncertaintyArchitectureGroup/uncertainty-architecture/blob/main/00-doctrine/nested-control-lifecycle.md</a:t>
            </a:r>
          </a:p>
          <a:p xmlns:a="http://schemas.openxmlformats.org/drawingml/2006/main">
            <a:r>
              <a:t>https://github.com/UncertaintyArchitectureGroup/uncertainty-architecture/blob/main/content/raw/Designing%20Non-Deterministic%20Systems%3A%20Maintaining%20Engineering%20Rigor%20in%20the%20AI%20Era.pdf#page=6</a:t>
            </a:r>
          </a:p>
          <a:p xmlns:a="http://schemas.openxmlformats.org/drawingml/2006/main">
            <a:r>
              <a:t>https://github.com/UncertaintyArchitectureGroup/uncertainty-architecture/blob/main/content/raw/Designing%20Non-Deterministic%20Systems%3A%20Maintaining%20Engineering%20Rigor%20in%20the%20AI%20Era.pdf#page=9</a:t>
            </a:r>
          </a:p>
          <a:p xmlns:a="http://schemas.openxmlformats.org/drawingml/2006/main">
            <a:r>
              <a:t>https://github.com/UncertaintyArchitectureGroup/uncertainty-architecture/blob/main/content/raw/Designing%20Non-Deterministic%20Systems%3A%20Maintaining%20Engineering%20Rigor%20in%20the%20AI%20Era.pdf#page=13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Наскрізний IT-асистент: approved context → model proposal → deterministic permission/approval gate → support tool. Модель пропонує дію; тільки gate дозволяє виконання в межах allowlist, user permissions і required approval. Приклад передбачає відсутність обхідного шляху; за недоступного gate дію відхиляють і пропонують ручний шлях. Схема показує конкретний tool-action path, не універсальну топологію всіх Thinking Systems і не гарантію семантичної коректності довільного тексту. User-facing answer path потребує власних scoped controls.</a:t>
            </a:r>
          </a:p>
          <a:p xmlns:a="http://schemas.openxmlformats.org/drawingml/2006/main">
            <a:r>
              <a:t>Нижній цикл: Observe збирає outcomes, incidents, затримку, fallback load, стан gate, bypass attempts, execution/effects корекцій. Compare/authorize зіставляє їх із явно показаними Approved operating limits; відповідальний Controller або людина вирішує, що дозволено змінити. Apply correction виконує rollback/disable/manual fallback у межах delegated authority. Зворотний зв’язок показує зміну operation; технічно correction може діяти на routing, tool access, model/configuration або реалізацію gate. Наступне спостереження підтверджує, чи action справді виконано й мало потрібний ефект.</a:t>
            </a:r>
          </a:p>
          <a:p xmlns:a="http://schemas.openxmlformats.org/drawingml/2006/main">
            <a:r>
              <a:t>Architect визначає enforced boundary, permissions, isolation, telemetry, decision rights, ефективні actuators, час реакції та fallback capacity. Prompt або probabilistic semantic detector сам собою не є Hard Constraint. Прямий deterministic gate може давати scoped hard claim тільки з перевіреним complete path та явними припущеннями. Developers реалізують і тестують paths; QA перевіряє bypass, degradation, false blocks і recovery; operational owner має повноваження та runbook.</a:t>
            </a:r>
          </a:p>
          <a:p xmlns:a="http://schemas.openxmlformats.org/drawingml/2006/main">
            <a:r>
              <a:t>Project Manager планує operational ownership, rehearsal і залежності, а не закриває проект після deploy. Зміна в межах delivery authority допускає локальну корекцію; розширення tool authority, population чи invalidated business/control assumptions повертається до project reauthorization. Автоматичне відхилення/rollback не повинно непомітно розширювати повноваження.</a:t>
            </a:r>
          </a:p>
          <a:p xmlns:a="http://schemas.openxmlformats.org/drawingml/2006/main">
            <a:r>
              <a:t>Архітектор проектує, де саме дозволена невизначеність і де рішення має бути enforced до наслідку. Для IT-асистента можна дозволити різні пояснення approved knowledge, але окремо перевіряти tool authority, доступ до даних та обов’язкове approval. Синтаксичний validator не доводить правильність змісту, а semantic evaluator також помиляється. Закритий feedback loop не є автоматично доказом безпеки: оцінка може бути неправильною, реакція запізнілою, а actuator — недієвим.</a:t>
            </a:r>
          </a:p>
          <a:p xmlns:a="http://schemas.openxmlformats.org/drawingml/2006/main">
            <a:r>
              <a:t>До архітектурної відповідальності входять vendor/model changes, isolation boundaries, telemetry та конфігураційний rollback. Provider abstraction відокремлює контракт застосунку від конкретного API, але заміна provider не зберігає поведінку автоматично: потрібні нові evidence та рішення у відповідному scope. Human-in-the-loop означає людину з контекстом, повноваженнями, компетентністю, часом і пропускною здатністю, а не кнопку approve.</a:t>
            </a:r>
          </a:p>
          <a:p xmlns:a="http://schemas.openxmlformats.org/drawingml/2006/main">
            <a:r>
              <a:t>Для кожного material signal визначаємо допустимий час реакції й спостережуваний ефект корекції. Якщо шкода може настати раніше, ніж надійде feedback, потрібний придатний попередній gate, менша authority або відмова від такого шляху. Fallback — конкретний режим: approved static guidance, ручний support або зрозуміла відмова, з перевіреною місткістю. Він має зменшувати наслідки, а не повторювати ту саму неперевірену генерацію під іншою назвою.</a:t>
            </a:r>
          </a:p>
          <a:p xmlns:a="http://schemas.openxmlformats.org/drawingml/2006/main">
            <a:r>
              <a:t>Архітектурне veto — обґрунтований висновок, що в даному scope немає достатнього контролю, evidence, економіки чи operational capacity. Архітектор документує цей висновок і вимагає звуження, redesign або зупинки відповідно до призначених decision rights. Це не довільне одноосібне право розширювати бізнес-політику. Уповноважений project owner приймає рішення про життєздатність і можливе подальше bounded research.</a:t>
            </a:r>
          </a:p>
          <a:p xmlns:a="http://schemas.openxmlformats.org/drawingml/2006/main">
            <a:r>
              <a:t/>
            </a:r>
          </a:p>
          <a:p xmlns:a="http://schemas.openxmlformats.org/drawingml/2006/main">
            <a:r>
              <a:t>Human-in-the-loop є архітектурною залежністю сам по собі, а не фразою «людина перевірить». Потрібні призначені люди, компетентність, контекст для рішення, доступність, реальне право зупинити або змінити роботу, робочий інструмент, response time, звичайна й пікова пропускна здатність, підміна та режим при перевантаженні. Людина не обов’язково схвалює кожний запит: політика визначає точки та умови участі. На схемі люди беруть участь у Controller / authority, а також можуть виконувати дію. Повний контур пов’язує approved limits з Observe, Decide/authorize, Apply correction та наступним спостереженням за ефектом. Permission gate перед tool execution зберігає власну fail-closed поведінку. Окремо від цього повнота зворотного зв’язку не доводить коректність semantic evaluator або стабільність системи. Якщо навантаження, latency чи human-review demand неможливо надійно оцінити до запуску, архітектор має визначити гіпотезу та спершу перевірити доступні sandbox/shadow варіанти. Обмежений canary у production припустимий лише за окремим дозволом, в допустимій області ризику, з реально працюючими sensors, authority, stop/fallback, обмеженням population, duration, tools, spend та швидкості exposure. Canary не замінює архітектуру й не виправдовує порушення hard prohibition. Якщо немає дієвого керування або допустимого способу виміряти ризик, AI path слід заблокувати, звузити чи відкласти. Невизначеність також надходить з економіки та зовнішнього провайдера: ціна токенів, потреба в повторних викликах та evaluations, вартість human review, latency, доступність, непрозорі зміни model weights/routing/configuration можуть змінити поведінку та unit economics без локального коміту. Це можливі джерела змін, а не твердження, що кожний провайдер змінює все без попередження. Provider abstraction ізолює інтеграцію, але не доводить поведінкову еквівалентність моделі-замінника. Для змін потрібні спостереження, повторна оцінка та можливість rollback/disable/manual fallback в межах повноважень. Архітектор формує інженерний висновок про життєздатність, Product та уповноважені бізнес-особи погоджують допустимий ризик, а PM забезпечує operational model і залежності.</a:t>
            </a:r>
          </a:p>
          <a:p xmlns:a="http://schemas.openxmlformats.org/drawingml/2006/main">
            <a:r>
              <a:t/>
            </a:r>
          </a:p>
          <a:p xmlns:a="http://schemas.openxmlformats.org/drawingml/2006/main">
            <a:r>
              <a:t>Sources:</a:t>
            </a:r>
          </a:p>
          <a:p xmlns:a="http://schemas.openxmlformats.org/drawingml/2006/main">
            <a:r>
              <a:t>https://github.com/UncertaintyArchitectureGroup/uncertainty-architecture/blob/main/00-doctrine/control-loop-anatomy.md</a:t>
            </a:r>
          </a:p>
          <a:p xmlns:a="http://schemas.openxmlformats.org/drawingml/2006/main">
            <a:r>
              <a:t>https://github.com/UncertaintyArchitectureGroup/uncertainty-architecture/blob/main/00-doctrine/nested-control-lifecycle.md</a:t>
            </a:r>
          </a:p>
          <a:p xmlns:a="http://schemas.openxmlformats.org/drawingml/2006/main">
            <a:r>
              <a:t>https://github.com/UncertaintyArchitectureGroup/uncertainty-architecture/blob/main/01-patterns/thinking-system-review.md</a:t>
            </a:r>
          </a:p>
          <a:p xmlns:a="http://schemas.openxmlformats.org/drawingml/2006/main">
            <a:r>
              <a:t>https://github.com/UncertaintyArchitectureGroup/uncertainty-architecture/blob/main/content/raw/Designing%20Non-Deterministic%20Systems%3A%20Maintaining%20Engineering%20Rigor%20in%20the%20AI%20Era.pdf#page=10</a:t>
            </a:r>
          </a:p>
          <a:p xmlns:a="http://schemas.openxmlformats.org/drawingml/2006/main">
            <a:r>
              <a:t>https://github.com/UncertaintyArchitectureGroup/uncertainty-architecture/blob/main/content/raw/Designing%20Non-Deterministic%20Systems%3A%20Maintaining%20Engineering%20Rigor%20in%20the%20AI%20Era.pdf#page=11</a:t>
            </a:r>
          </a:p>
          <a:p xmlns:a="http://schemas.openxmlformats.org/drawingml/2006/main">
            <a:r>
              <a:t>https://github.com/UncertaintyArchitectureGroup/uncertainty-architecture/blob/main/content/raw/Designing%20Non-Deterministic%20Systems%3A%20Maintaining%20Engineering%20Rigor%20in%20the%20AI%20Era.pdf#page=15</a:t>
            </a:r>
          </a:p>
          <a:p xmlns:a="http://schemas.openxmlformats.org/drawingml/2006/main">
            <a:r>
              <a:t>https://github.com/UncertaintyArchitectureGroup/uncertainty-architecture/blob/main/content/raw/Designing%20Non-Deterministic%20Systems%3A%20Maintaining%20Engineering%20Rigor%20in%20the%20AI%20Era.pdf#page=16</a:t>
            </a:r>
          </a:p>
          <a:p xmlns:a="http://schemas.openxmlformats.org/drawingml/2006/main">
            <a:r>
              <a:t>https://github.com/UncertaintyArchitectureGroup/uncertainty-architecture/blob/main/content/raw/Designing%20Non-Deterministic%20Systems%3A%20Maintaining%20Engineering%20Rigor%20in%20the%20AI%20Era.pdf#page=18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Стара презентація Designing Non-Deterministic Systems, slide 20 Welcome to the Laboratory, дає педагогічну метафору Hypothesize → Measure → Adapt. Тут не стверджуємо, що Scrum або попередня інженерія не були емпіричними. Процес додає явно керований цикл поведінкових гіпотез, measurement та адаптації поряд зі звичайним delivery. Titles/order цієї 14-slide доповіді збережено.</a:t>
            </a:r>
          </a:p>
          <a:p xmlns:a="http://schemas.openxmlformats.org/drawingml/2006/main">
            <a:r>
              <a:t>Project Manager відрізняється від Product Manager. Product разом із BA та бізнесом уточнює цінність, наслідки й acceptance; Project Manager організовує delivery і навчання: stakeholder availability, dependencies, доступ до даних/domain experts, evaluation cost, час на аналіз і remediation, decision latency, release/operations readiness. Він не стає одноосібним власником risk acceptance.</a:t>
            </a:r>
          </a:p>
          <a:p xmlns:a="http://schemas.openxmlformats.org/drawingml/2006/main">
            <a:r>
              <a:t>Planning: backlog містить не тільки features, а й перевірювані невідомі, наприклад «чи достатньо approved knowledge для типових support cases?». Для trial фіксуємо питання, hypothesis, evidence plan, ресурсну межу, owner і stop condition; якщо треба — погоджений обмежений scope до остаточних tolerance. Sprint review: разом зі working software показуємо versioned evidence, проблемні групи, consequences, uncertainty та unresolved decisions. Результат може бути accept, redesign, narrow, bounded further trial або stop. Це корисний результат роботи, а не автоматична невдача спринту, якщо доказано, що задум нежиттєздатний.</a:t>
            </a:r>
          </a:p>
          <a:p xmlns:a="http://schemas.openxmlformats.org/drawingml/2006/main">
            <a:r>
              <a:t>Release/operate: окремо від Done підтверджуємо authorization конкретного rollout, monitoring, on-call/ручний шлях і їхню місткість; runtime evidence повертає backlog і за потреби project reauthorization. Не рахувати кількість проведених експериментів як цінність саму по собі: прогрес — робоча capability, зменшення матеріальної невизначеності та прийняте рішення. Один живий review artifact і звичні командні події можуть містити ці записи; не потрібні нові ролі або комітет.</a:t>
            </a:r>
          </a:p>
          <a:p xmlns:a="http://schemas.openxmlformats.org/drawingml/2006/main">
            <a:r>
              <a:t>Розподіл 9–13: Product + BA формулюють acceptance; QA + Developers роблять measurement; Developers доставляють evidence/recovery package; Architect замикає bounded control; Project Manager координує весь цикл, рішення, бюджет і залежності.</a:t>
            </a:r>
          </a:p>
          <a:p xmlns:a="http://schemas.openxmlformats.org/drawingml/2006/main">
            <a:r>
              <a:t>Фабрика й лабораторія співіснують. Команда продовжує постачати перевірені deterministic features, але для поведінкових невідомих спочатку формулює гіпотезу й план evidence. Робочий приклад: «Чи достатньо approved knowledge, щоб асистент корисно обробляв типові IT-звернення без вигаданих кроків у допустимих межах вартості та затримки?». Експеримент може показати, що потрібні нові знання, інший scope, ручний support або взагалі інше технічне рішення.</a:t>
            </a:r>
          </a:p>
          <a:p xmlns:a="http://schemas.openxmlformats.org/drawingml/2006/main">
            <a:r>
              <a:t>Project Manager закладає в план підготовку даних, час domain experts, evaluation runs, аналіз, реалізацію controls і rehearsal. Фіксує resource/time box дослідження та decision date. Можна погодити термін отримання evidence й рішення, але не видавати невідому feasibility за гарантовану production capability. Після trial команда уточнює прогноз, scope і залежності; це кероване перепланування за новими даними.</a:t>
            </a:r>
          </a:p>
          <a:p xmlns:a="http://schemas.openxmlformats.org/drawingml/2006/main">
            <a:r>
              <a:t>На planning розділяємо work із відомим способом реалізації та material unknowns. На sprint review поряд із demo показуємо baseline/candidate, проблемні сценарії, cost/latency, evaluator uncertainty і рішення. На retrospective перевіряємо, які припущення та засоби вимірювання підвели. Production incidents повертаються в Golden Set, backlog і review тієї межі, яка виявилася неадекватною. Звичайні Scrum events можуть бути цими контрольними точками без створення окремої бюрократії.</a:t>
            </a:r>
          </a:p>
          <a:p xmlns:a="http://schemas.openxmlformats.org/drawingml/2006/main">
            <a:r>
              <a:t>Негативний експеримент є корисним, коли він закриває важливе питання й змінює рішення, а не просто збільшує лічильник проведених дослідів. Кількість tickets, LOC або красивих demo окремо не описує готовність до відповідальної експлуатації.</a:t>
            </a:r>
          </a:p>
          <a:p xmlns:a="http://schemas.openxmlformats.org/drawingml/2006/main">
            <a:r>
              <a:t/>
            </a:r>
          </a:p>
          <a:p xmlns:a="http://schemas.openxmlformats.org/drawingml/2006/main">
            <a:r>
              <a:t>Це синтез попередніх слайдів у портрет майбутнього Project Manager, а не нова назва Product Manager. Фундамент не зникає: project management theory, планування, ризики, залежності, бюджет, комунікації, stakeholders і delivery залишаються. До нього додаються горизонти, що співіснують. Перший — AI-assisted SDLC. Кодогенерація змінює співвідношення швидкості створення, review, QA, integration та людського розуміння. PM має розуміти систему, якою керує, бачити зміну bottleneck і разом із командою знаходити новий баланс. Ми не знаємо універсального нового equilibrium наперед: його перевіряємо end-to-end flow, review queues, rework, stability та здатністю людей пояснити й відновити систему. Другий — побудова агентних/Thinking Systems як додаткова інженерна дисципліна: probabilistic judgment є частиною runtime, тому requirement, evaluation, control design та operating model стають частиною проєктованої системи. Люди з їхніми правами, компетенціями, latency й capacity входять до її інженерного периметра. Третій — управління цією роботою: PM розуміє, як змінилися завдання Product/BA, QA, developers і architect, хто виробляє докази, хто приймає рішення, хто вміє застосувати корекцію. PM має бачити пропущені функції, нерозв’язані залежності та неузгоджений поділ відповідальності, принаймні робити їх видимими, організовувати рішення й моніторити стан. Потрібна статистична грамотність: відрізняти частоту від наслідку, точкову оцінку від невизначеності, coverage від кількості повторів, sample від production population, correlation від causality. Це не робить PM одноосібним статистиком, QA, архітектором або власником бізнес-ризику. Практичні метрики доповнюють delivery: частка неприйнятних результатів за сценаріями та тяжкістю, task success за погодженим rubric, cost per accepted outcome, latency, частка і черга ескалацій, response time, доступність контролів, результативність stop/fallback, incident recurrence. Вони мають denominators, період, сегмент, active version, межу та owner реакції. Система не стає коректною через один aggregate score. Попередній цикл Hypothesis → Bounded trial → Evidence → Decision залишається механікою: у planning визначаємо evidence gap, бюджет, owner і stop condition; на review приймаємо рішення з Product/BA, QA, Dev та Architect; після release стежимо за authorization і capacity. Приклад trial для IT-асистента: чи може він використовувати затверджені знання без вигаданих кроків. Дослідження обмежене в часі до обіцянки production capability. Прогрес — working capability, reduced uncertainty та явні рішення.</a:t>
            </a:r>
          </a:p>
          <a:p xmlns:a="http://schemas.openxmlformats.org/drawingml/2006/main">
            <a:r>
              <a:t/>
            </a:r>
          </a:p>
          <a:p xmlns:a="http://schemas.openxmlformats.org/drawingml/2006/main">
            <a:r>
              <a:t>Sources:</a:t>
            </a:r>
          </a:p>
          <a:p xmlns:a="http://schemas.openxmlformats.org/drawingml/2006/main">
            <a:r>
              <a:t>https://github.com/UncertaintyArchitectureGroup/uncertainty-architecture/blob/main/01-patterns/thinking-system-review.md</a:t>
            </a:r>
          </a:p>
          <a:p xmlns:a="http://schemas.openxmlformats.org/drawingml/2006/main">
            <a:r>
              <a:t>https://github.com/UncertaintyArchitectureGroup/uncertainty-architecture/blob/main/00-doctrine/nested-control-lifecycle.md</a:t>
            </a:r>
          </a:p>
          <a:p xmlns:a="http://schemas.openxmlformats.org/drawingml/2006/main">
            <a:r>
              <a:t>https://github.com/UncertaintyArchitectureGroup/uncertainty-architecture/blob/main/content/raw/Designing%20Non-Deterministic%20Systems%3A%20Maintaining%20Engineering%20Rigor%20in%20the%20AI%20Era.pdf#page=20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Повертаємо HOW і WHAT із першого слайда, тепер із конкретними ролями й процесом. HOW: швидше створювати код недостатньо — команда зберігає comprehension та ownership, Project Manager організовує flow, evidence, залежності та рішення. Малими партіями й обмеженими експериментами перевіряємо невідомі. WHAT: Product + BA узгоджують acceptance з бізнесом; QA + Developers створюють калібровані докази й реалізацію; Architect проектує ефективні control paths; уповноважений release owner приймає scope і residual risk у своїх межах. Це розширення, а не вичерпні нові job descriptions або передача відповідальності одній ролі.</a:t>
            </a:r>
          </a:p>
          <a:p xmlns:a="http://schemas.openxmlformats.org/drawingml/2006/main">
            <a:r>
              <a:t>Головна зміна процесу: hypothesize → measure → decide → adapt, з робочим software, явними business outcomes і runtime feedback. Детерміновані requirements, tests та delivery discipline залишаються; додається контроль варіативної поведінки і наслідків. Немає нових чисел, нової архітектурної нормативності чи реклами UA.</a:t>
            </a:r>
          </a:p>
          <a:p xmlns:a="http://schemas.openxmlformats.org/drawingml/2006/main">
            <a:r>
              <a:t>Фінал: «AI розширює наші можливості. Команда все одно відповідає за систему цілком: як ми її будуємо, яку поведінку дозволяємо, на яких доказах випускаємо і як виправляємо відхилення». Пауза, Q&amp;A.</a:t>
            </a:r>
          </a:p>
          <a:p xmlns:a="http://schemas.openxmlformats.org/drawingml/2006/main">
            <a:r>
              <a:t>Конкретний перший крок для команди: обрати один AI workflow із реальним бізнес-наслідком. Узгодити корисний результат, дозволену варіативність, неприйнятні наслідки, cost/latency та escalation. Підготувати невеликий початковий Golden Set із domain experts, перевірити evaluator й розширювати evidence відповідно до рішення та ризику, без універсального мінімального sample size. Зв’язати Eval Gate з дозволеним block/canary/release, перевірити fallback і людину, яка зможе діяти.</a:t>
            </a:r>
          </a:p>
          <a:p xmlns:a="http://schemas.openxmlformats.org/drawingml/2006/main">
            <a:r>
              <a:t>Саме тут поєднуються дві половини доповіді. HOW: команда має розуміти реалізацію, докази, обмеження і способи відновлення навіть за великого обсягу AI-generated code. WHAT: оскільки частина поведінки формується під час роботи, специфікація, тестування і відповідальність продовжуються через runtime evidence та контроль. Відповідальність не переноситься на модель або на одного QA; вона проходить через узгоджені boundaries, evidence, authority і реальну здатність змінити роботу системи.</a:t>
            </a:r>
          </a:p>
          <a:p xmlns:a="http://schemas.openxmlformats.org/drawingml/2006/main">
            <a:r>
              <a:t/>
            </a:r>
          </a:p>
          <a:p xmlns:a="http://schemas.openxmlformats.org/drawingml/2006/main">
            <a:r>
              <a:t>Фінал збирає HOW we build та WHAT we build через лабораторний цикл зі старого слайда 20. Звичний delivery cycle Plan → Build → Verify → Ship залишається. Лабораторний цикл додає гіпотезу, обмежений експеримент, вимірювання, рішення й адаптацію; нові дані повертають команду до наступної гіпотези. Scrum уже містить емпіризм та адаптацію, тому ми не оголошуємо їх винаходом AI. Змінюється те, що саме треба вимірювати й керувати: поведінкова варіативність, доказова база, operational control і людська частина системи. Для HOW we build цей підхід потрібен, поки команда перевіряє, як AI code generators змінюють її звичний SDLC, де виник bottleneck, чи є реальне покращення end-to-end delivery та чи зберігаються understanding/ownership. Порівнюємо сумісні типи задач і умови, не приймаємо більше generated lines за delivery improvement. Для WHAT we build — Thinking Systems — цикл триває весь час роботи, бо змінюються входи, usage, дані, поведінкові конфігурації та зовнішні залежності. Production evidence й incidents оновлюють Golden Sets, regression, Eval Gates, monitoring та рішення про scope. «Лабораторія не закінчується» означає постійне навчання й reassessment, а не безперервні неконтрольовані експерименти над користувачами: кожний trial має дозвіл, межі та stop/fallback. З попереднього HOW/WHAT лишаються всі відповідальності: команда — comprehension та ownership; Project Manager — evidence і flow; Product/BA — agreed acceptance; QA/Dev — calibrated evidence; Architect — effective control paths; release owner — scope та residual risk. Перший практичний крок лишається: один workflow, погоджені tolerances, калібрований Golden Set, Eval Gate і відрепетируваний fallback. Оцінюємо рішення та наслідки, не лише демонстрацію. Більше capability не скасовує engineering responsibility.</a:t>
            </a:r>
          </a:p>
          <a:p xmlns:a="http://schemas.openxmlformats.org/drawingml/2006/main">
            <a:r>
              <a:t/>
            </a:r>
          </a:p>
          <a:p xmlns:a="http://schemas.openxmlformats.org/drawingml/2006/main">
            <a:r>
              <a:t>Sources:</a:t>
            </a:r>
          </a:p>
          <a:p xmlns:a="http://schemas.openxmlformats.org/drawingml/2006/main">
            <a:r>
              <a:t>https://github.com/UncertaintyArchitectureGroup/uncertainty-architecture/blob/main/content/raw/Designing%20Non-Deterministic%20Systems%3A%20Maintaining%20Engineering%20Rigor%20in%20the%20AI%20Era.pdf#page=22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f6a990c67aa04c94"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202caff177e44ec1" /><Relationship Type="http://schemas.openxmlformats.org/officeDocument/2006/relationships/slideLayout" Target="/ppt/slideLayouts/slideLayout1.xml" Id="Rdeb5ab3d99ba4023"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eb5ab3d99ba4023"/>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6f7b17bb9d614a8f" /><Relationship Type="http://schemas.openxmlformats.org/officeDocument/2006/relationships/image" Target="/ppt/media/image.png" Id="R6066cd9114c043b4" /><Relationship Type="http://schemas.openxmlformats.org/officeDocument/2006/relationships/notesSlide" Target="/ppt/notesSlides/notesSlide1.xml" Id="R31d65f861a534121"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84cb74802d1f4f30" /><Relationship Type="http://schemas.openxmlformats.org/officeDocument/2006/relationships/notesSlide" Target="/ppt/notesSlides/notesSlide2.xml" Id="Ra71327156c814b4a"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45bbfd9483d648b7" /><Relationship Type="http://schemas.openxmlformats.org/officeDocument/2006/relationships/notesSlide" Target="/ppt/notesSlides/notesSlide3.xml" Id="R6587d677748f4c74"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d6bd95085a8142a6" /><Relationship Type="http://schemas.openxmlformats.org/officeDocument/2006/relationships/notesSlide" Target="/ppt/notesSlides/notesSlide4.xml" Id="R3aa2178e9425440d"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a0a23e5290be4968" /><Relationship Type="http://schemas.openxmlformats.org/officeDocument/2006/relationships/notesSlide" Target="/ppt/notesSlides/notesSlide5.xml" Id="R7e7a699752a64ce3"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db4d73260e234623" /><Relationship Type="http://schemas.openxmlformats.org/officeDocument/2006/relationships/notesSlide" Target="/ppt/notesSlides/notesSlide6.xml" Id="R8038db2b2d9142aa"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0c1bd5f902044f62" /><Relationship Type="http://schemas.openxmlformats.org/officeDocument/2006/relationships/notesSlide" Target="/ppt/notesSlides/notesSlide7.xml" Id="R687fffb0ac224692"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8441feab773043e9" /><Relationship Type="http://schemas.openxmlformats.org/officeDocument/2006/relationships/notesSlide" Target="/ppt/notesSlides/notesSlide8.xml" Id="Rdc2a3302e637460c"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2a31b00d27c04f95" /><Relationship Type="http://schemas.openxmlformats.org/officeDocument/2006/relationships/notesSlide" Target="/ppt/notesSlides/notesSlide9.xml" Id="R4e966e6f137b4299"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3bcbc9598137453d" /><Relationship Type="http://schemas.openxmlformats.org/officeDocument/2006/relationships/chart" Target="/ppt/slides/charts/chart1.xml" Id="Re32382c9d579452e" /><Relationship Type="http://schemas.openxmlformats.org/officeDocument/2006/relationships/notesSlide" Target="/ppt/notesSlides/notesSlide10.xml" Id="R6939a60fbcc44e1e"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7bdec572e7194e03" /><Relationship Type="http://schemas.openxmlformats.org/officeDocument/2006/relationships/notesSlide" Target="/ppt/notesSlides/notesSlide11.xml" Id="R51ba227e650a499a"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8240b1c0d44d4101" /><Relationship Type="http://schemas.openxmlformats.org/officeDocument/2006/relationships/notesSlide" Target="/ppt/notesSlides/notesSlide12.xml" Id="R4b32fb3534a44814"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f85d96a788c4449a" /><Relationship Type="http://schemas.openxmlformats.org/officeDocument/2006/relationships/notesSlide" Target="/ppt/notesSlides/notesSlide13.xml" Id="R56a6905d05944dad"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03fdd10fb56649da" /><Relationship Type="http://schemas.openxmlformats.org/officeDocument/2006/relationships/notesSlide" Target="/ppt/notesSlides/notesSlide14.xml" Id="R40dedcad30cc44c6"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Observed outputs</c:v>
          </c:tx>
          <c:spPr>
            <a:solidFill xmlns:a="http://schemas.openxmlformats.org/drawingml/2006/main">
              <a:srgbClr val="28C7F7"/>
            </a:solidFill>
          </c:spPr>
          <c:dPt>
            <c:idx val="0"/>
            <c:invertIfNegative val="0"/>
            <c:spPr>
              <a:solidFill xmlns:a="http://schemas.openxmlformats.org/drawingml/2006/main">
                <a:srgbClr val="28C7F7"/>
              </a:solidFill>
              <a:ln xmlns:a="http://schemas.openxmlformats.org/drawingml/2006/main" w="0">
                <a:noFill/>
              </a:ln>
            </c:spPr>
          </c:dPt>
          <c:dPt>
            <c:idx val="1"/>
            <c:invertIfNegative val="0"/>
            <c:spPr>
              <a:solidFill xmlns:a="http://schemas.openxmlformats.org/drawingml/2006/main">
                <a:srgbClr val="F5B61C"/>
              </a:solidFill>
              <a:ln xmlns:a="http://schemas.openxmlformats.org/drawingml/2006/main" w="0">
                <a:noFill/>
              </a:ln>
            </c:spPr>
          </c:dPt>
          <c:dPt>
            <c:idx val="2"/>
            <c:invertIfNegative val="0"/>
            <c:spPr>
              <a:solidFill xmlns:a="http://schemas.openxmlformats.org/drawingml/2006/main">
                <a:srgbClr val="FF6B75"/>
              </a:solidFill>
              <a:ln xmlns:a="http://schemas.openxmlformats.org/drawingml/2006/main" w="0">
                <a:noFill/>
              </a:ln>
            </c:spPr>
          </c:dPt>
          <c:dLbls>
            <c:dLbl>
              <c:idx val="0"/>
              <c:tx>
                <c:rich>
                  <a:bodyPr xmlns:a="http://schemas.openxmlformats.org/drawingml/2006/main"/>
                  <a:lstStyle xmlns:a="http://schemas.openxmlformats.org/drawingml/2006/main"/>
                  <a:p xmlns:a="http://schemas.openxmlformats.org/drawingml/2006/main">
                    <a:r>
                      <a:rPr sz="1200" b="1">
                        <a:solidFill>
                          <a:srgbClr val="F4F7FA"/>
                        </a:solidFill>
                        <a:latin typeface="Roboto"/>
                        <a:ea typeface="Roboto"/>
                        <a:cs typeface="Roboto"/>
                      </a:rPr>
                      <a:t>196
98%</a:t>
                    </a:r>
                  </a:p>
                </c:rich>
              </c:tx>
              <c:txPr>
                <a:bodyPr xmlns:a="http://schemas.openxmlformats.org/drawingml/2006/main" anchorCtr="1"/>
                <a:lstStyle xmlns:a="http://schemas.openxmlformats.org/drawingml/2006/main"/>
                <a:p xmlns:a="http://schemas.openxmlformats.org/drawingml/2006/main">
                  <a:pPr>
                    <a:defRPr sz="1200" b="1">
                      <a:solidFill>
                        <a:srgbClr val="F4F7FA"/>
                      </a:solidFill>
                      <a:latin typeface="Roboto"/>
                      <a:ea typeface="Roboto"/>
                      <a:cs typeface="Roboto"/>
                    </a:defRPr>
                  </a:pPr>
                </a:p>
              </c:txPr>
              <c:dLblPos val="outEnd"/>
              <c:showLegendKey val="0"/>
              <c:showVal val="0"/>
              <c:showCatName val="0"/>
              <c:showSerName val="0"/>
              <c:showPercent val="0"/>
              <c:showBubbleSize val="0"/>
            </c:dLbl>
            <c:dLbl>
              <c:idx val="1"/>
              <c:tx>
                <c:rich>
                  <a:bodyPr xmlns:a="http://schemas.openxmlformats.org/drawingml/2006/main"/>
                  <a:lstStyle xmlns:a="http://schemas.openxmlformats.org/drawingml/2006/main"/>
                  <a:p xmlns:a="http://schemas.openxmlformats.org/drawingml/2006/main">
                    <a:r>
                      <a:rPr sz="1200" b="1">
                        <a:solidFill>
                          <a:srgbClr val="F4F7FA"/>
                        </a:solidFill>
                        <a:latin typeface="Roboto"/>
                        <a:ea typeface="Roboto"/>
                        <a:cs typeface="Roboto"/>
                      </a:rPr>
                      <a:t>3
1.5%</a:t>
                    </a:r>
                  </a:p>
                </c:rich>
              </c:tx>
              <c:txPr>
                <a:bodyPr xmlns:a="http://schemas.openxmlformats.org/drawingml/2006/main" anchorCtr="1"/>
                <a:lstStyle xmlns:a="http://schemas.openxmlformats.org/drawingml/2006/main"/>
                <a:p xmlns:a="http://schemas.openxmlformats.org/drawingml/2006/main">
                  <a:pPr>
                    <a:defRPr sz="1200" b="1">
                      <a:solidFill>
                        <a:srgbClr val="F4F7FA"/>
                      </a:solidFill>
                      <a:latin typeface="Roboto"/>
                      <a:ea typeface="Roboto"/>
                      <a:cs typeface="Roboto"/>
                    </a:defRPr>
                  </a:pPr>
                </a:p>
              </c:txPr>
              <c:dLblPos val="outEnd"/>
              <c:showLegendKey val="0"/>
              <c:showVal val="0"/>
              <c:showCatName val="0"/>
              <c:showSerName val="0"/>
              <c:showPercent val="0"/>
              <c:showBubbleSize val="0"/>
            </c:dLbl>
            <c:dLbl>
              <c:idx val="2"/>
              <c:tx>
                <c:rich>
                  <a:bodyPr xmlns:a="http://schemas.openxmlformats.org/drawingml/2006/main"/>
                  <a:lstStyle xmlns:a="http://schemas.openxmlformats.org/drawingml/2006/main"/>
                  <a:p xmlns:a="http://schemas.openxmlformats.org/drawingml/2006/main">
                    <a:r>
                      <a:rPr sz="1200" b="1">
                        <a:solidFill>
                          <a:srgbClr val="F4F7FA"/>
                        </a:solidFill>
                        <a:latin typeface="Roboto"/>
                        <a:ea typeface="Roboto"/>
                        <a:cs typeface="Roboto"/>
                      </a:rPr>
                      <a:t>1
0.5%</a:t>
                    </a:r>
                  </a:p>
                </c:rich>
              </c:tx>
              <c:txPr>
                <a:bodyPr xmlns:a="http://schemas.openxmlformats.org/drawingml/2006/main" anchorCtr="1"/>
                <a:lstStyle xmlns:a="http://schemas.openxmlformats.org/drawingml/2006/main"/>
                <a:p xmlns:a="http://schemas.openxmlformats.org/drawingml/2006/main">
                  <a:pPr>
                    <a:defRPr sz="1200" b="1">
                      <a:solidFill>
                        <a:srgbClr val="F4F7FA"/>
                      </a:solidFill>
                      <a:latin typeface="Roboto"/>
                      <a:ea typeface="Roboto"/>
                      <a:cs typeface="Roboto"/>
                    </a:defRPr>
                  </a:pPr>
                </a:p>
              </c:txPr>
              <c:dLblPos val="outEnd"/>
              <c:showLegendKey val="0"/>
              <c:showVal val="0"/>
              <c:showCatName val="0"/>
              <c:showSerName val="0"/>
              <c:showPercent val="0"/>
              <c:showBubbleSize val="0"/>
            </c:dLbl>
          </c:dLbls>
          <c:cat>
            <c:strRef>
              <c:f>'Chart Data'!$A$2:$A$4</c:f>
              <c:strCache>
                <c:ptCount val="3"/>
                <c:pt idx="0">
                  <c:v>Acceptable</c:v>
                </c:pt>
                <c:pt idx="1">
                  <c:v>Incorrect steps</c:v>
                </c:pt>
                <c:pt idx="2">
                  <c:v>Privacy leak</c:v>
                </c:pt>
              </c:strCache>
            </c:strRef>
          </c:cat>
          <c:val>
            <c:numRef>
              <c:f>'Chart Data'!$B$2:$B$4</c:f>
              <c:numCache>
                <c:formatCode>0</c:formatCode>
                <c:ptCount val="3"/>
                <c:pt idx="0">
                  <c:v>196</c:v>
                </c:pt>
                <c:pt idx="1">
                  <c:v>3</c:v>
                </c:pt>
                <c:pt idx="2">
                  <c:v>1</c:v>
                </c:pt>
              </c:numCache>
            </c:numRef>
          </c:val>
        </c:ser>
        <c:dLbls>
          <c:txPr>
            <a:bodyPr xmlns:a="http://schemas.openxmlformats.org/drawingml/2006/main" anchorCtr="1"/>
            <a:lstStyle xmlns:a="http://schemas.openxmlformats.org/drawingml/2006/main"/>
            <a:p xmlns:a="http://schemas.openxmlformats.org/drawingml/2006/main">
              <a:pPr>
                <a:defRPr sz="1200" b="1">
                  <a:solidFill>
                    <a:srgbClr val="F4F7FA"/>
                  </a:solidFill>
                  <a:latin typeface="Roboto"/>
                  <a:ea typeface="Roboto"/>
                  <a:cs typeface="Roboto"/>
                </a:defRPr>
              </a:pPr>
            </a:p>
          </c:txPr>
          <c:dLblPos val="outEnd"/>
          <c:showLegendKey val="0"/>
          <c:showVal val="1"/>
          <c:showCatName val="0"/>
          <c:showSerName val="0"/>
          <c:showPercent val="0"/>
          <c:showBubbleSize val="0"/>
          <c:showLeaderLines val="0"/>
        </c:dLbls>
        <c:gapWidth val="95"/>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344454"/>
            </a:solidFill>
          </a:ln>
        </c:spPr>
        <c:txPr>
          <a:bodyPr xmlns:a="http://schemas.openxmlformats.org/drawingml/2006/main" anchorCtr="1"/>
          <a:lstStyle xmlns:a="http://schemas.openxmlformats.org/drawingml/2006/main"/>
          <a:p xmlns:a="http://schemas.openxmlformats.org/drawingml/2006/main">
            <a:pPr>
              <a:defRPr sz="1200">
                <a:solidFill>
                  <a:srgbClr val="ADB8C5"/>
                </a:solidFill>
                <a:latin typeface="Roboto"/>
                <a:ea typeface="Roboto"/>
                <a:cs typeface="Roboto"/>
              </a:defRPr>
            </a:pPr>
          </a:p>
        </c:txPr>
        <c:crossAx val="48672768"/>
      </c:catAx>
      <c:valAx>
        <c:axId val="48672768"/>
        <c:scaling>
          <c:orientation val="minMax"/>
          <c:max val="200"/>
          <c:min val="0"/>
        </c:scaling>
        <c:delete val="0"/>
        <c:axPos val="l"/>
        <c:majorGridlines>
          <c:spPr>
            <a:ln xmlns:a="http://schemas.openxmlformats.org/drawingml/2006/main" w="9525">
              <a:solidFill>
                <a:srgbClr val="344454"/>
              </a:solidFill>
            </a:ln>
          </c:spPr>
        </c:majorGridlines>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125">
                <a:solidFill>
                  <a:srgbClr val="ADB8C5"/>
                </a:solidFill>
                <a:latin typeface="Roboto"/>
                <a:ea typeface="Roboto"/>
                <a:cs typeface="Roboto"/>
              </a:defRPr>
            </a:pPr>
          </a:p>
        </c:txPr>
        <c:crossAx val="48650112"/>
        <c:crossBetween val="between"/>
        <c:majorUnit val="100"/>
      </c:valAx>
      <c:spPr>
        <a:solidFill xmlns:a="http://schemas.openxmlformats.org/drawingml/2006/main">
          <a:srgbClr val="0B0F14"/>
        </a:solidFill>
        <a:ln xmlns:a="http://schemas.openxmlformats.org/drawingml/2006/main" w="0">
          <a:noFill/>
        </a:ln>
      </c:spPr>
    </c:plotArea>
    <c:plotVisOnly val="1"/>
  </c:chart>
  <c:spPr>
    <a:solidFill xmlns:a="http://schemas.openxmlformats.org/drawingml/2006/main">
      <a:srgbClr val="0B0F14"/>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1BF87000-3E2B-412E-8031-9CAA145CFA9E}"/>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Roboto"/>
                <a:ea typeface="Roboto"/>
                <a:cs typeface="Roboto"/>
              </a:defRPr>
            </a:pPr>
            <a:r>
              <a:rPr sz="1200" b="0">
                <a:solidFill>
                  <a:srgbClr val="ADB8C5"/>
                </a:solidFill>
                <a:latin typeface="Roboto"/>
                <a:ea typeface="Roboto"/>
                <a:cs typeface="Roboto"/>
              </a:rPr>
              <a:t>01</a:t>
            </a:r>
          </a:p>
        </p:txBody>
      </p:sp>
      <p:sp>
        <p:nvSpPr>
          <p:cNvPr id="2" name="">
            <a:extLst xmlns:a="http://schemas.openxmlformats.org/drawingml/2006/main">
              <a:ext uri="{FF2B5EF4-FFF2-40B4-BE49-F238E27FC236}">
                <a16:creationId xmlns:a16="http://schemas.microsoft.com/office/drawing/2014/main" id="{3F2880F7-C93E-4C06-935A-B8CBDCFC2CA7}"/>
              </a:ext>
            </a:extLst>
          </p:cNvPr>
          <p:cNvSpPr>
            <a:spLocks xmlns:a="http://schemas.openxmlformats.org/drawingml/2006/main" noGrp="1"/>
          </p:cNvSpPr>
          <p:nvPr/>
        </p:nvSpPr>
        <p:spPr>
          <a:xfrm xmlns:a="http://schemas.openxmlformats.org/drawingml/2006/main">
            <a:off x="609600" y="342900"/>
            <a:ext cx="1057275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450" b="1">
                <a:solidFill>
                  <a:srgbClr val="F4F7FA"/>
                </a:solidFill>
                <a:latin typeface="Roboto"/>
                <a:ea typeface="Roboto"/>
                <a:cs typeface="Roboto"/>
              </a:defRPr>
            </a:pPr>
            <a:r>
              <a:rPr sz="3450" b="1">
                <a:solidFill>
                  <a:srgbClr val="F4F7FA"/>
                </a:solidFill>
                <a:latin typeface="Roboto"/>
                <a:ea typeface="Roboto"/>
                <a:cs typeface="Roboto"/>
              </a:rPr>
              <a:t>AI Changes Both Sides</a:t>
            </a:r>
          </a:p>
          <a:p xmlns:a="http://schemas.openxmlformats.org/drawingml/2006/main">
            <a:pPr algn="l">
              <a:defRPr sz="3450" b="1">
                <a:solidFill>
                  <a:srgbClr val="F4F7FA"/>
                </a:solidFill>
                <a:latin typeface="Roboto"/>
                <a:ea typeface="Roboto"/>
                <a:cs typeface="Roboto"/>
              </a:defRPr>
            </a:pPr>
            <a:r>
              <a:rPr sz="3450" b="1">
                <a:solidFill>
                  <a:srgbClr val="F4F7FA"/>
                </a:solidFill>
                <a:latin typeface="Roboto"/>
                <a:ea typeface="Roboto"/>
                <a:cs typeface="Roboto"/>
              </a:rPr>
              <a:t>of Software Engineering</a:t>
            </a:r>
          </a:p>
        </p:txBody>
      </p:sp>
      <p:sp>
        <p:nvSpPr>
          <p:cNvPr id="3" name="">
            <a:extLst xmlns:a="http://schemas.openxmlformats.org/drawingml/2006/main">
              <a:ext uri="{FF2B5EF4-FFF2-40B4-BE49-F238E27FC236}">
                <a16:creationId xmlns:a16="http://schemas.microsoft.com/office/drawing/2014/main" id="{32FF108F-BDEE-4CC6-BA05-EB15734E9AA6}"/>
              </a:ext>
            </a:extLst>
          </p:cNvPr>
          <p:cNvSpPr>
            <a:spLocks xmlns:a="http://schemas.openxmlformats.org/drawingml/2006/main" noGrp="1"/>
          </p:cNvSpPr>
          <p:nvPr/>
        </p:nvSpPr>
        <p:spPr>
          <a:xfrm xmlns:a="http://schemas.openxmlformats.org/drawingml/2006/main">
            <a:off x="609600" y="1704975"/>
            <a:ext cx="10572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0">
                <a:solidFill>
                  <a:srgbClr val="ADB8C5"/>
                </a:solidFill>
                <a:latin typeface="Roboto"/>
                <a:ea typeface="Roboto"/>
                <a:cs typeface="Roboto"/>
              </a:defRPr>
            </a:pPr>
            <a:r>
              <a:rPr sz="2025" b="0">
                <a:solidFill>
                  <a:srgbClr val="ADB8C5"/>
                </a:solidFill>
                <a:latin typeface="Roboto"/>
                <a:ea typeface="Roboto"/>
                <a:cs typeface="Roboto"/>
              </a:rPr>
              <a:t>How we build software. And what software is.</a:t>
            </a:r>
          </a:p>
        </p:txBody>
      </p:sp>
      <p:pic>
        <p:nvPicPr>
          <p:cNvPr id="13" name=""/>
          <p:cNvPicPr>
            <a:picLocks xmlns:a="http://schemas.openxmlformats.org/drawingml/2006/main" noChangeAspect="1"/>
          </p:cNvPicPr>
          <p:nvPr/>
        </p:nvPicPr>
        <p:blipFill>
          <a:blip xmlns:r="http://schemas.openxmlformats.org/officeDocument/2006/relationships" xmlns:a="http://schemas.openxmlformats.org/drawingml/2006/main" r:embed="R6066cd9114c043b4"/>
          <a:stretch xmlns:a="http://schemas.openxmlformats.org/drawingml/2006/main"/>
        </p:blipFill>
        <p:spPr>
          <a:xfrm xmlns:a="http://schemas.openxmlformats.org/drawingml/2006/main">
            <a:off x="914400" y="2201863"/>
            <a:ext cx="10363200" cy="345440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B43F514F-C904-48B9-A567-E04BCDC28E9F}"/>
              </a:ext>
            </a:extLst>
          </p:cNvPr>
          <p:cNvSpPr>
            <a:spLocks xmlns:a="http://schemas.openxmlformats.org/drawingml/2006/main" noGrp="1"/>
          </p:cNvSpPr>
          <p:nvPr/>
        </p:nvSpPr>
        <p:spPr>
          <a:xfrm xmlns:a="http://schemas.openxmlformats.org/drawingml/2006/main">
            <a:off x="914400" y="5734050"/>
            <a:ext cx="4800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28C7F7"/>
                </a:solidFill>
                <a:latin typeface="Roboto"/>
                <a:ea typeface="Roboto"/>
                <a:cs typeface="Roboto"/>
              </a:defRPr>
            </a:pPr>
            <a:r>
              <a:rPr sz="1650" b="1">
                <a:solidFill>
                  <a:srgbClr val="28C7F7"/>
                </a:solidFill>
                <a:latin typeface="Roboto"/>
                <a:ea typeface="Roboto"/>
                <a:cs typeface="Roboto"/>
              </a:rPr>
              <a:t>HOW WE BUILD</a:t>
            </a:r>
          </a:p>
        </p:txBody>
      </p:sp>
      <p:sp>
        <p:nvSpPr>
          <p:cNvPr id="6" name="">
            <a:extLst xmlns:a="http://schemas.openxmlformats.org/drawingml/2006/main">
              <a:ext uri="{FF2B5EF4-FFF2-40B4-BE49-F238E27FC236}">
                <a16:creationId xmlns:a16="http://schemas.microsoft.com/office/drawing/2014/main" id="{EDAB9CC1-C4A3-479F-B70C-549EE339E44B}"/>
              </a:ext>
            </a:extLst>
          </p:cNvPr>
          <p:cNvSpPr>
            <a:spLocks xmlns:a="http://schemas.openxmlformats.org/drawingml/2006/main" noGrp="1"/>
          </p:cNvSpPr>
          <p:nvPr/>
        </p:nvSpPr>
        <p:spPr>
          <a:xfrm xmlns:a="http://schemas.openxmlformats.org/drawingml/2006/main">
            <a:off x="914400" y="6067425"/>
            <a:ext cx="4800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00" b="0">
                <a:solidFill>
                  <a:srgbClr val="F4F7FA"/>
                </a:solidFill>
                <a:latin typeface="Roboto"/>
                <a:ea typeface="Roboto"/>
                <a:cs typeface="Roboto"/>
              </a:defRPr>
            </a:pPr>
            <a:r>
              <a:rPr sz="1800" b="0">
                <a:solidFill>
                  <a:srgbClr val="F4F7FA"/>
                </a:solidFill>
                <a:latin typeface="Roboto"/>
                <a:ea typeface="Roboto"/>
                <a:cs typeface="Roboto"/>
              </a:rPr>
              <a:t>AI helps a developer write software.</a:t>
            </a:r>
          </a:p>
        </p:txBody>
      </p:sp>
      <p:sp>
        <p:nvSpPr>
          <p:cNvPr id="7" name="">
            <a:extLst xmlns:a="http://schemas.openxmlformats.org/drawingml/2006/main">
              <a:ext uri="{FF2B5EF4-FFF2-40B4-BE49-F238E27FC236}">
                <a16:creationId xmlns:a16="http://schemas.microsoft.com/office/drawing/2014/main" id="{8515CD5B-2640-4AA8-BED9-9BB1F66681CA}"/>
              </a:ext>
            </a:extLst>
          </p:cNvPr>
          <p:cNvSpPr>
            <a:spLocks xmlns:a="http://schemas.openxmlformats.org/drawingml/2006/main" noGrp="1"/>
          </p:cNvSpPr>
          <p:nvPr/>
        </p:nvSpPr>
        <p:spPr>
          <a:xfrm xmlns:a="http://schemas.openxmlformats.org/drawingml/2006/main">
            <a:off x="6477000" y="5734050"/>
            <a:ext cx="4800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F5B61C"/>
                </a:solidFill>
                <a:latin typeface="Roboto"/>
                <a:ea typeface="Roboto"/>
                <a:cs typeface="Roboto"/>
              </a:defRPr>
            </a:pPr>
            <a:r>
              <a:rPr sz="1650" b="1">
                <a:solidFill>
                  <a:srgbClr val="F5B61C"/>
                </a:solidFill>
                <a:latin typeface="Roboto"/>
                <a:ea typeface="Roboto"/>
                <a:cs typeface="Roboto"/>
              </a:rPr>
              <a:t>WHAT WE BUILD</a:t>
            </a:r>
          </a:p>
        </p:txBody>
      </p:sp>
      <p:sp>
        <p:nvSpPr>
          <p:cNvPr id="8" name="">
            <a:extLst xmlns:a="http://schemas.openxmlformats.org/drawingml/2006/main">
              <a:ext uri="{FF2B5EF4-FFF2-40B4-BE49-F238E27FC236}">
                <a16:creationId xmlns:a16="http://schemas.microsoft.com/office/drawing/2014/main" id="{F646F175-3A1B-444E-96C8-B0C1CC171D4B}"/>
              </a:ext>
            </a:extLst>
          </p:cNvPr>
          <p:cNvSpPr>
            <a:spLocks xmlns:a="http://schemas.openxmlformats.org/drawingml/2006/main" noGrp="1"/>
          </p:cNvSpPr>
          <p:nvPr/>
        </p:nvSpPr>
        <p:spPr>
          <a:xfrm xmlns:a="http://schemas.openxmlformats.org/drawingml/2006/main">
            <a:off x="6477000" y="6067425"/>
            <a:ext cx="4800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00" b="0">
                <a:solidFill>
                  <a:srgbClr val="F4F7FA"/>
                </a:solidFill>
                <a:latin typeface="Roboto"/>
                <a:ea typeface="Roboto"/>
                <a:cs typeface="Roboto"/>
              </a:defRPr>
            </a:pPr>
            <a:r>
              <a:rPr sz="1800" b="0">
                <a:solidFill>
                  <a:srgbClr val="F4F7FA"/>
                </a:solidFill>
                <a:latin typeface="Roboto"/>
                <a:ea typeface="Roboto"/>
                <a:cs typeface="Roboto"/>
              </a:rPr>
              <a:t>AI interprets a user’s request at runtime.</a:t>
            </a:r>
          </a:p>
        </p:txBody>
      </p:sp>
      <p:sp>
        <p:nvSpPr>
          <p:cNvPr id="9" name="">
            <a:extLst xmlns:a="http://schemas.openxmlformats.org/drawingml/2006/main">
              <a:ext uri="{FF2B5EF4-FFF2-40B4-BE49-F238E27FC236}">
                <a16:creationId xmlns:a16="http://schemas.microsoft.com/office/drawing/2014/main" id="{36529BCD-737B-491C-9781-E896B9D47884}"/>
              </a:ext>
            </a:extLst>
          </p:cNvPr>
          <p:cNvSpPr>
            <a:spLocks xmlns:a="http://schemas.openxmlformats.org/drawingml/2006/main" noGrp="1"/>
          </p:cNvSpPr>
          <p:nvPr/>
        </p:nvSpPr>
        <p:spPr>
          <a:xfrm xmlns:a="http://schemas.openxmlformats.org/drawingml/2006/main">
            <a:off x="609600" y="6457950"/>
            <a:ext cx="10096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Roboto"/>
                <a:ea typeface="Roboto"/>
                <a:cs typeface="Roboto"/>
              </a:defRPr>
            </a:pPr>
            <a:r>
              <a:rPr sz="1500" b="0">
                <a:solidFill>
                  <a:srgbClr val="ADB8C5"/>
                </a:solidFill>
                <a:latin typeface="Roboto"/>
                <a:ea typeface="Roboto"/>
                <a:cs typeface="Roboto"/>
              </a:rPr>
              <a:t>Vitalii Oborskyi · PMDay</a:t>
            </a:r>
          </a:p>
        </p:txBody>
      </p:sp>
    </p:spTree>
    <p:extLst>
      <p:ext uri="{BB962C8B-B14F-4D97-AF65-F5344CB8AC3E}">
        <p14:creationId xmlns:p14="http://schemas.microsoft.com/office/powerpoint/2010/main" val="2106144932"/>
      </p:ext>
    </p:extLst>
  </p:cSld>
</p:sld>
</file>

<file path=ppt/slides/slide2.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0F905D7A-EA29-4B61-A79A-9B38A5E5BE46}"/>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Roboto"/>
                <a:ea typeface="Roboto"/>
                <a:cs typeface="Roboto"/>
              </a:defRPr>
            </a:pPr>
            <a:r>
              <a:rPr sz="3000" b="1">
                <a:solidFill>
                  <a:srgbClr val="F4F7FA"/>
                </a:solidFill>
                <a:latin typeface="Roboto"/>
                <a:ea typeface="Roboto"/>
                <a:cs typeface="Roboto"/>
              </a:rPr>
              <a:t>This Is a Real Phase Transition</a:t>
            </a:r>
          </a:p>
        </p:txBody>
      </p:sp>
      <p:sp>
        <p:nvSpPr>
          <p:cNvPr id="2" name="">
            <a:extLst xmlns:a="http://schemas.openxmlformats.org/drawingml/2006/main">
              <a:ext uri="{FF2B5EF4-FFF2-40B4-BE49-F238E27FC236}">
                <a16:creationId xmlns:a16="http://schemas.microsoft.com/office/drawing/2014/main" id="{CF8ECD39-3A51-4E11-8138-27C50C0F7905}"/>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5F7A7016-519C-4587-84CA-EAEED5071776}"/>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Roboto"/>
                <a:ea typeface="Roboto"/>
                <a:cs typeface="Roboto"/>
              </a:defRPr>
            </a:pPr>
            <a:r>
              <a:rPr sz="1200" b="0">
                <a:solidFill>
                  <a:srgbClr val="ADB8C5"/>
                </a:solidFill>
                <a:latin typeface="Roboto"/>
                <a:ea typeface="Roboto"/>
                <a:cs typeface="Roboto"/>
              </a:rPr>
              <a:t>02</a:t>
            </a:r>
          </a:p>
        </p:txBody>
      </p:sp>
      <p:sp>
        <p:nvSpPr>
          <p:cNvPr id="4" name="">
            <a:extLst xmlns:a="http://schemas.openxmlformats.org/drawingml/2006/main">
              <a:ext uri="{FF2B5EF4-FFF2-40B4-BE49-F238E27FC236}">
                <a16:creationId xmlns:a16="http://schemas.microsoft.com/office/drawing/2014/main" id="{254290B8-FF45-49AD-BD16-4669DF83A182}"/>
              </a:ext>
            </a:extLst>
          </p:cNvPr>
          <p:cNvSpPr>
            <a:spLocks xmlns:a="http://schemas.openxmlformats.org/drawingml/2006/main" noGrp="1"/>
          </p:cNvSpPr>
          <p:nvPr/>
        </p:nvSpPr>
        <p:spPr>
          <a:xfrm xmlns:a="http://schemas.openxmlformats.org/drawingml/2006/main">
            <a:off x="1066800" y="2200275"/>
            <a:ext cx="2857500" cy="2333625"/>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5" name="">
            <a:extLst xmlns:a="http://schemas.openxmlformats.org/drawingml/2006/main">
              <a:ext uri="{FF2B5EF4-FFF2-40B4-BE49-F238E27FC236}">
                <a16:creationId xmlns:a16="http://schemas.microsoft.com/office/drawing/2014/main" id="{CEFE6A9A-FF47-4F67-A1F6-2D7D9B7CB072}"/>
              </a:ext>
            </a:extLst>
          </p:cNvPr>
          <p:cNvSpPr>
            <a:spLocks xmlns:a="http://schemas.openxmlformats.org/drawingml/2006/main" noGrp="1"/>
          </p:cNvSpPr>
          <p:nvPr/>
        </p:nvSpPr>
        <p:spPr>
          <a:xfrm xmlns:a="http://schemas.openxmlformats.org/drawingml/2006/main">
            <a:off x="1295400" y="2371725"/>
            <a:ext cx="24003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250" b="1">
                <a:solidFill>
                  <a:srgbClr val="F4F7FA"/>
                </a:solidFill>
                <a:latin typeface="Roboto"/>
                <a:ea typeface="Roboto"/>
                <a:cs typeface="Roboto"/>
              </a:defRPr>
            </a:pPr>
            <a:r>
              <a:rPr sz="2250" b="1">
                <a:solidFill>
                  <a:srgbClr val="F4F7FA"/>
                </a:solidFill>
                <a:latin typeface="Roboto"/>
                <a:ea typeface="Roboto"/>
                <a:cs typeface="Roboto"/>
              </a:rPr>
              <a:t>Writing</a:t>
            </a:r>
          </a:p>
        </p:txBody>
      </p:sp>
      <p:sp>
        <p:nvSpPr>
          <p:cNvPr id="6" name="">
            <a:extLst xmlns:a="http://schemas.openxmlformats.org/drawingml/2006/main">
              <a:ext uri="{FF2B5EF4-FFF2-40B4-BE49-F238E27FC236}">
                <a16:creationId xmlns:a16="http://schemas.microsoft.com/office/drawing/2014/main" id="{5EAB3376-440F-463B-868F-57F701E9FB5A}"/>
              </a:ext>
            </a:extLst>
          </p:cNvPr>
          <p:cNvSpPr>
            <a:spLocks xmlns:a="http://schemas.openxmlformats.org/drawingml/2006/main" noGrp="1"/>
          </p:cNvSpPr>
          <p:nvPr/>
        </p:nvSpPr>
        <p:spPr>
          <a:xfrm xmlns:a="http://schemas.openxmlformats.org/drawingml/2006/main">
            <a:off x="1295400" y="2981325"/>
            <a:ext cx="24003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1">
                <a:solidFill>
                  <a:srgbClr val="28C7F7"/>
                </a:solidFill>
                <a:latin typeface="Roboto"/>
                <a:ea typeface="Roboto"/>
                <a:cs typeface="Roboto"/>
              </a:defRPr>
            </a:pPr>
            <a:r>
              <a:rPr sz="2025" b="1">
                <a:solidFill>
                  <a:srgbClr val="28C7F7"/>
                </a:solidFill>
                <a:latin typeface="Roboto"/>
                <a:ea typeface="Roboto"/>
                <a:cs typeface="Roboto"/>
              </a:rPr>
              <a:t>Externalized</a:t>
            </a:r>
          </a:p>
          <a:p xmlns:a="http://schemas.openxmlformats.org/drawingml/2006/main">
            <a:pPr algn="l">
              <a:defRPr sz="2025" b="1">
                <a:solidFill>
                  <a:srgbClr val="28C7F7"/>
                </a:solidFill>
                <a:latin typeface="Roboto"/>
                <a:ea typeface="Roboto"/>
                <a:cs typeface="Roboto"/>
              </a:defRPr>
            </a:pPr>
            <a:r>
              <a:rPr sz="2025" b="1">
                <a:solidFill>
                  <a:srgbClr val="28C7F7"/>
                </a:solidFill>
                <a:latin typeface="Roboto"/>
                <a:ea typeface="Roboto"/>
                <a:cs typeface="Roboto"/>
              </a:rPr>
              <a:t>Memory</a:t>
            </a:r>
          </a:p>
        </p:txBody>
      </p:sp>
      <p:sp>
        <p:nvSpPr>
          <p:cNvPr id="7" name="">
            <a:extLst xmlns:a="http://schemas.openxmlformats.org/drawingml/2006/main">
              <a:ext uri="{FF2B5EF4-FFF2-40B4-BE49-F238E27FC236}">
                <a16:creationId xmlns:a16="http://schemas.microsoft.com/office/drawing/2014/main" id="{264F1498-83E1-4BF2-BF24-6AEBD0DE810C}"/>
              </a:ext>
            </a:extLst>
          </p:cNvPr>
          <p:cNvSpPr>
            <a:spLocks xmlns:a="http://schemas.openxmlformats.org/drawingml/2006/main" noGrp="1"/>
          </p:cNvSpPr>
          <p:nvPr/>
        </p:nvSpPr>
        <p:spPr>
          <a:xfrm xmlns:a="http://schemas.openxmlformats.org/drawingml/2006/main">
            <a:off x="1295400" y="3762375"/>
            <a:ext cx="24003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ADB8C5"/>
                </a:solidFill>
                <a:latin typeface="Roboto"/>
                <a:ea typeface="Roboto"/>
                <a:cs typeface="Roboto"/>
              </a:defRPr>
            </a:pPr>
            <a:r>
              <a:rPr sz="1725" b="0">
                <a:solidFill>
                  <a:srgbClr val="ADB8C5"/>
                </a:solidFill>
                <a:latin typeface="Roboto"/>
                <a:ea typeface="Roboto"/>
                <a:cs typeface="Roboto"/>
              </a:rPr>
              <a:t>Records we</a:t>
            </a:r>
          </a:p>
          <a:p xmlns:a="http://schemas.openxmlformats.org/drawingml/2006/main">
            <a:pPr algn="l">
              <a:defRPr sz="1725" b="0">
                <a:solidFill>
                  <a:srgbClr val="ADB8C5"/>
                </a:solidFill>
                <a:latin typeface="Roboto"/>
                <a:ea typeface="Roboto"/>
                <a:cs typeface="Roboto"/>
              </a:defRPr>
            </a:pPr>
            <a:r>
              <a:rPr sz="1725" b="0">
                <a:solidFill>
                  <a:srgbClr val="ADB8C5"/>
                </a:solidFill>
                <a:latin typeface="Roboto"/>
                <a:ea typeface="Roboto"/>
                <a:cs typeface="Roboto"/>
              </a:rPr>
              <a:t>can retrieve</a:t>
            </a:r>
          </a:p>
        </p:txBody>
      </p:sp>
      <p:sp>
        <p:nvSpPr>
          <p:cNvPr id="8" name="">
            <a:extLst xmlns:a="http://schemas.openxmlformats.org/drawingml/2006/main">
              <a:ext uri="{FF2B5EF4-FFF2-40B4-BE49-F238E27FC236}">
                <a16:creationId xmlns:a16="http://schemas.microsoft.com/office/drawing/2014/main" id="{904C9055-3415-44B6-A3EB-EFAD558DDD7E}"/>
              </a:ext>
            </a:extLst>
          </p:cNvPr>
          <p:cNvSpPr>
            <a:spLocks xmlns:a="http://schemas.openxmlformats.org/drawingml/2006/main" noGrp="1"/>
          </p:cNvSpPr>
          <p:nvPr/>
        </p:nvSpPr>
        <p:spPr>
          <a:xfrm xmlns:a="http://schemas.openxmlformats.org/drawingml/2006/main">
            <a:off x="4667250" y="2200275"/>
            <a:ext cx="2857500" cy="2333625"/>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9" name="">
            <a:extLst xmlns:a="http://schemas.openxmlformats.org/drawingml/2006/main">
              <a:ext uri="{FF2B5EF4-FFF2-40B4-BE49-F238E27FC236}">
                <a16:creationId xmlns:a16="http://schemas.microsoft.com/office/drawing/2014/main" id="{B7377488-1A4D-4378-9E2B-AA3F5C109B89}"/>
              </a:ext>
            </a:extLst>
          </p:cNvPr>
          <p:cNvSpPr>
            <a:spLocks xmlns:a="http://schemas.openxmlformats.org/drawingml/2006/main" noGrp="1"/>
          </p:cNvSpPr>
          <p:nvPr/>
        </p:nvSpPr>
        <p:spPr>
          <a:xfrm xmlns:a="http://schemas.openxmlformats.org/drawingml/2006/main">
            <a:off x="4895850" y="2371725"/>
            <a:ext cx="24003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250" b="1">
                <a:solidFill>
                  <a:srgbClr val="F4F7FA"/>
                </a:solidFill>
                <a:latin typeface="Roboto"/>
                <a:ea typeface="Roboto"/>
                <a:cs typeface="Roboto"/>
              </a:defRPr>
            </a:pPr>
            <a:r>
              <a:rPr sz="2250" b="1">
                <a:solidFill>
                  <a:srgbClr val="F4F7FA"/>
                </a:solidFill>
                <a:latin typeface="Roboto"/>
                <a:ea typeface="Roboto"/>
                <a:cs typeface="Roboto"/>
              </a:rPr>
              <a:t>Computers</a:t>
            </a:r>
          </a:p>
        </p:txBody>
      </p:sp>
      <p:sp>
        <p:nvSpPr>
          <p:cNvPr id="10" name="">
            <a:extLst xmlns:a="http://schemas.openxmlformats.org/drawingml/2006/main">
              <a:ext uri="{FF2B5EF4-FFF2-40B4-BE49-F238E27FC236}">
                <a16:creationId xmlns:a16="http://schemas.microsoft.com/office/drawing/2014/main" id="{BC93A068-4500-42E4-98E7-FB67D47ED41B}"/>
              </a:ext>
            </a:extLst>
          </p:cNvPr>
          <p:cNvSpPr>
            <a:spLocks xmlns:a="http://schemas.openxmlformats.org/drawingml/2006/main" noGrp="1"/>
          </p:cNvSpPr>
          <p:nvPr/>
        </p:nvSpPr>
        <p:spPr>
          <a:xfrm xmlns:a="http://schemas.openxmlformats.org/drawingml/2006/main">
            <a:off x="4895850" y="2981325"/>
            <a:ext cx="24003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1">
                <a:solidFill>
                  <a:srgbClr val="28C7F7"/>
                </a:solidFill>
                <a:latin typeface="Roboto"/>
                <a:ea typeface="Roboto"/>
                <a:cs typeface="Roboto"/>
              </a:defRPr>
            </a:pPr>
            <a:r>
              <a:rPr sz="2025" b="1">
                <a:solidFill>
                  <a:srgbClr val="28C7F7"/>
                </a:solidFill>
                <a:latin typeface="Roboto"/>
                <a:ea typeface="Roboto"/>
                <a:cs typeface="Roboto"/>
              </a:rPr>
              <a:t>Externalized</a:t>
            </a:r>
          </a:p>
          <a:p xmlns:a="http://schemas.openxmlformats.org/drawingml/2006/main">
            <a:pPr algn="l">
              <a:defRPr sz="2025" b="1">
                <a:solidFill>
                  <a:srgbClr val="28C7F7"/>
                </a:solidFill>
                <a:latin typeface="Roboto"/>
                <a:ea typeface="Roboto"/>
                <a:cs typeface="Roboto"/>
              </a:defRPr>
            </a:pPr>
            <a:r>
              <a:rPr sz="2025" b="1">
                <a:solidFill>
                  <a:srgbClr val="28C7F7"/>
                </a:solidFill>
                <a:latin typeface="Roboto"/>
                <a:ea typeface="Roboto"/>
                <a:cs typeface="Roboto"/>
              </a:rPr>
              <a:t>Calculation</a:t>
            </a:r>
          </a:p>
        </p:txBody>
      </p:sp>
      <p:sp>
        <p:nvSpPr>
          <p:cNvPr id="11" name="">
            <a:extLst xmlns:a="http://schemas.openxmlformats.org/drawingml/2006/main">
              <a:ext uri="{FF2B5EF4-FFF2-40B4-BE49-F238E27FC236}">
                <a16:creationId xmlns:a16="http://schemas.microsoft.com/office/drawing/2014/main" id="{083C5CC5-549C-4177-A0CC-44B70AADD121}"/>
              </a:ext>
            </a:extLst>
          </p:cNvPr>
          <p:cNvSpPr>
            <a:spLocks xmlns:a="http://schemas.openxmlformats.org/drawingml/2006/main" noGrp="1"/>
          </p:cNvSpPr>
          <p:nvPr/>
        </p:nvSpPr>
        <p:spPr>
          <a:xfrm xmlns:a="http://schemas.openxmlformats.org/drawingml/2006/main">
            <a:off x="4895850" y="3762375"/>
            <a:ext cx="24003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ADB8C5"/>
                </a:solidFill>
                <a:latin typeface="Roboto"/>
                <a:ea typeface="Roboto"/>
                <a:cs typeface="Roboto"/>
              </a:defRPr>
            </a:pPr>
            <a:r>
              <a:rPr sz="1725" b="0">
                <a:solidFill>
                  <a:srgbClr val="ADB8C5"/>
                </a:solidFill>
                <a:latin typeface="Roboto"/>
                <a:ea typeface="Roboto"/>
                <a:cs typeface="Roboto"/>
              </a:rPr>
              <a:t>Rules we</a:t>
            </a:r>
          </a:p>
          <a:p xmlns:a="http://schemas.openxmlformats.org/drawingml/2006/main">
            <a:pPr algn="l">
              <a:defRPr sz="1725" b="0">
                <a:solidFill>
                  <a:srgbClr val="ADB8C5"/>
                </a:solidFill>
                <a:latin typeface="Roboto"/>
                <a:ea typeface="Roboto"/>
                <a:cs typeface="Roboto"/>
              </a:defRPr>
            </a:pPr>
            <a:r>
              <a:rPr sz="1725" b="0">
                <a:solidFill>
                  <a:srgbClr val="ADB8C5"/>
                </a:solidFill>
                <a:latin typeface="Roboto"/>
                <a:ea typeface="Roboto"/>
                <a:cs typeface="Roboto"/>
              </a:rPr>
              <a:t>explicitly encode</a:t>
            </a:r>
          </a:p>
        </p:txBody>
      </p:sp>
      <p:sp>
        <p:nvSpPr>
          <p:cNvPr id="12" name="">
            <a:extLst xmlns:a="http://schemas.openxmlformats.org/drawingml/2006/main">
              <a:ext uri="{FF2B5EF4-FFF2-40B4-BE49-F238E27FC236}">
                <a16:creationId xmlns:a16="http://schemas.microsoft.com/office/drawing/2014/main" id="{89F0152D-D3B6-416F-B66E-C003E1A89A28}"/>
              </a:ext>
            </a:extLst>
          </p:cNvPr>
          <p:cNvSpPr>
            <a:spLocks xmlns:a="http://schemas.openxmlformats.org/drawingml/2006/main" noGrp="1"/>
          </p:cNvSpPr>
          <p:nvPr/>
        </p:nvSpPr>
        <p:spPr>
          <a:xfrm xmlns:a="http://schemas.openxmlformats.org/drawingml/2006/main">
            <a:off x="8267700" y="2200275"/>
            <a:ext cx="2857500" cy="2333625"/>
          </a:xfrm>
          <a:prstGeom xmlns:a="http://schemas.openxmlformats.org/drawingml/2006/main" prst="rect">
            <a:avLst/>
          </a:prstGeom>
          <a:solidFill xmlns:a="http://schemas.openxmlformats.org/drawingml/2006/main">
            <a:srgbClr val="141C26"/>
          </a:solidFill>
          <a:ln xmlns:a="http://schemas.openxmlformats.org/drawingml/2006/main" w="14288">
            <a:solidFill>
              <a:srgbClr val="F5B61C"/>
            </a:solidFill>
            <a:prstDash val="solid"/>
          </a:ln>
        </p:spPr>
      </p:sp>
      <p:sp>
        <p:nvSpPr>
          <p:cNvPr id="13" name="">
            <a:extLst xmlns:a="http://schemas.openxmlformats.org/drawingml/2006/main">
              <a:ext uri="{FF2B5EF4-FFF2-40B4-BE49-F238E27FC236}">
                <a16:creationId xmlns:a16="http://schemas.microsoft.com/office/drawing/2014/main" id="{0CEC1D8E-2052-4D9D-9F4E-140DDA657C5B}"/>
              </a:ext>
            </a:extLst>
          </p:cNvPr>
          <p:cNvSpPr>
            <a:spLocks xmlns:a="http://schemas.openxmlformats.org/drawingml/2006/main" noGrp="1"/>
          </p:cNvSpPr>
          <p:nvPr/>
        </p:nvSpPr>
        <p:spPr>
          <a:xfrm xmlns:a="http://schemas.openxmlformats.org/drawingml/2006/main">
            <a:off x="8496300" y="2371725"/>
            <a:ext cx="24003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250" b="1">
                <a:solidFill>
                  <a:srgbClr val="F4F7FA"/>
                </a:solidFill>
                <a:latin typeface="Roboto"/>
                <a:ea typeface="Roboto"/>
                <a:cs typeface="Roboto"/>
              </a:defRPr>
            </a:pPr>
            <a:r>
              <a:rPr sz="2250" b="1">
                <a:solidFill>
                  <a:srgbClr val="F4F7FA"/>
                </a:solidFill>
                <a:latin typeface="Roboto"/>
                <a:ea typeface="Roboto"/>
                <a:cs typeface="Roboto"/>
              </a:rPr>
              <a:t>Large Models</a:t>
            </a:r>
          </a:p>
        </p:txBody>
      </p:sp>
      <p:sp>
        <p:nvSpPr>
          <p:cNvPr id="14" name="">
            <a:extLst xmlns:a="http://schemas.openxmlformats.org/drawingml/2006/main">
              <a:ext uri="{FF2B5EF4-FFF2-40B4-BE49-F238E27FC236}">
                <a16:creationId xmlns:a16="http://schemas.microsoft.com/office/drawing/2014/main" id="{5337FC75-CD19-4270-B44C-530099680342}"/>
              </a:ext>
            </a:extLst>
          </p:cNvPr>
          <p:cNvSpPr>
            <a:spLocks xmlns:a="http://schemas.openxmlformats.org/drawingml/2006/main" noGrp="1"/>
          </p:cNvSpPr>
          <p:nvPr/>
        </p:nvSpPr>
        <p:spPr>
          <a:xfrm xmlns:a="http://schemas.openxmlformats.org/drawingml/2006/main">
            <a:off x="8496300" y="2981325"/>
            <a:ext cx="24003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1">
                <a:solidFill>
                  <a:srgbClr val="F5B61C"/>
                </a:solidFill>
                <a:latin typeface="Roboto"/>
                <a:ea typeface="Roboto"/>
                <a:cs typeface="Roboto"/>
              </a:defRPr>
            </a:pPr>
            <a:r>
              <a:rPr sz="2025" b="1">
                <a:solidFill>
                  <a:srgbClr val="F5B61C"/>
                </a:solidFill>
                <a:latin typeface="Roboto"/>
                <a:ea typeface="Roboto"/>
                <a:cs typeface="Roboto"/>
              </a:rPr>
              <a:t>Externalized</a:t>
            </a:r>
          </a:p>
          <a:p xmlns:a="http://schemas.openxmlformats.org/drawingml/2006/main">
            <a:pPr algn="l">
              <a:defRPr sz="2025" b="1">
                <a:solidFill>
                  <a:srgbClr val="F5B61C"/>
                </a:solidFill>
                <a:latin typeface="Roboto"/>
                <a:ea typeface="Roboto"/>
                <a:cs typeface="Roboto"/>
              </a:defRPr>
            </a:pPr>
            <a:r>
              <a:rPr sz="2025" b="1">
                <a:solidFill>
                  <a:srgbClr val="F5B61C"/>
                </a:solidFill>
                <a:latin typeface="Roboto"/>
                <a:ea typeface="Roboto"/>
                <a:cs typeface="Roboto"/>
              </a:rPr>
              <a:t>Cognition</a:t>
            </a:r>
          </a:p>
        </p:txBody>
      </p:sp>
      <p:sp>
        <p:nvSpPr>
          <p:cNvPr id="15" name="">
            <a:extLst xmlns:a="http://schemas.openxmlformats.org/drawingml/2006/main">
              <a:ext uri="{FF2B5EF4-FFF2-40B4-BE49-F238E27FC236}">
                <a16:creationId xmlns:a16="http://schemas.microsoft.com/office/drawing/2014/main" id="{E7E89AD7-4EF4-49E9-9891-680A478CE0C7}"/>
              </a:ext>
            </a:extLst>
          </p:cNvPr>
          <p:cNvSpPr>
            <a:spLocks xmlns:a="http://schemas.openxmlformats.org/drawingml/2006/main" noGrp="1"/>
          </p:cNvSpPr>
          <p:nvPr/>
        </p:nvSpPr>
        <p:spPr>
          <a:xfrm xmlns:a="http://schemas.openxmlformats.org/drawingml/2006/main">
            <a:off x="8496300" y="3762375"/>
            <a:ext cx="24003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ADB8C5"/>
                </a:solidFill>
                <a:latin typeface="Roboto"/>
                <a:ea typeface="Roboto"/>
                <a:cs typeface="Roboto"/>
              </a:defRPr>
            </a:pPr>
            <a:r>
              <a:rPr sz="1725" b="0">
                <a:solidFill>
                  <a:srgbClr val="ADB8C5"/>
                </a:solidFill>
                <a:latin typeface="Roboto"/>
                <a:ea typeface="Roboto"/>
                <a:cs typeface="Roboto"/>
              </a:rPr>
              <a:t>Judgment shaped</a:t>
            </a:r>
          </a:p>
          <a:p xmlns:a="http://schemas.openxmlformats.org/drawingml/2006/main">
            <a:pPr algn="l">
              <a:defRPr sz="1725" b="0">
                <a:solidFill>
                  <a:srgbClr val="ADB8C5"/>
                </a:solidFill>
                <a:latin typeface="Roboto"/>
                <a:ea typeface="Roboto"/>
                <a:cs typeface="Roboto"/>
              </a:defRPr>
            </a:pPr>
            <a:r>
              <a:rPr sz="1725" b="0">
                <a:solidFill>
                  <a:srgbClr val="ADB8C5"/>
                </a:solidFill>
                <a:latin typeface="Roboto"/>
                <a:ea typeface="Roboto"/>
                <a:cs typeface="Roboto"/>
              </a:rPr>
              <a:t>by context</a:t>
            </a:r>
          </a:p>
        </p:txBody>
      </p:sp>
      <p:cxnSp>
        <p:nvCxnSpPr>
          <p:cNvPr id="36" name=""/>
          <p:cNvCxnSpPr>
            <a:stCxn xmlns:a="http://schemas.openxmlformats.org/drawingml/2006/main" id="4" idx="3"/>
            <a:endCxn xmlns:a="http://schemas.openxmlformats.org/drawingml/2006/main" id="8" idx="1"/>
          </p:cNvCxnSpPr>
          <p:nvPr/>
        </p:nvCxnSpPr>
        <p:spPr>
          <a:xfrm xmlns:a="http://schemas.openxmlformats.org/drawingml/2006/main">
            <a:off x="3924300" y="3367088"/>
            <a:ext cx="742950" cy="0"/>
          </a:xfrm>
          <a:prstGeom xmlns:a="http://schemas.openxmlformats.org/drawingml/2006/main" prst="straightConnector1">
            <a:avLst/>
          </a:prstGeom>
          <a:ln xmlns:a="http://schemas.openxmlformats.org/drawingml/2006/main" w="21908">
            <a:solidFill>
              <a:srgbClr val="28C7F7"/>
            </a:solidFill>
            <a:prstDash val="solid"/>
            <a:tailEnd type="triangle" w="med" len="med"/>
          </a:ln>
        </p:spPr>
      </p:cxnSp>
      <p:cxnSp>
        <p:nvCxnSpPr>
          <p:cNvPr id="37" name=""/>
          <p:cNvCxnSpPr>
            <a:stCxn xmlns:a="http://schemas.openxmlformats.org/drawingml/2006/main" id="8" idx="3"/>
            <a:endCxn xmlns:a="http://schemas.openxmlformats.org/drawingml/2006/main" id="12" idx="1"/>
          </p:cNvCxnSpPr>
          <p:nvPr/>
        </p:nvCxnSpPr>
        <p:spPr>
          <a:xfrm xmlns:a="http://schemas.openxmlformats.org/drawingml/2006/main">
            <a:off x="7524750" y="3367088"/>
            <a:ext cx="742950" cy="0"/>
          </a:xfrm>
          <a:prstGeom xmlns:a="http://schemas.openxmlformats.org/drawingml/2006/main" prst="straightConnector1">
            <a:avLst/>
          </a:prstGeom>
          <a:ln xmlns:a="http://schemas.openxmlformats.org/drawingml/2006/main" w="21908">
            <a:solidFill>
              <a:srgbClr val="F5B61C"/>
            </a:solidFill>
            <a:prstDash val="solid"/>
            <a:tailEnd type="triangle" w="med" len="med"/>
          </a:ln>
        </p:spPr>
      </p:cxnSp>
      <p:sp>
        <p:nvSpPr>
          <p:cNvPr id="18" name="">
            <a:extLst xmlns:a="http://schemas.openxmlformats.org/drawingml/2006/main">
              <a:ext uri="{FF2B5EF4-FFF2-40B4-BE49-F238E27FC236}">
                <a16:creationId xmlns:a16="http://schemas.microsoft.com/office/drawing/2014/main" id="{87EF59AF-F3CF-4138-9D53-AC53CF3686F4}"/>
              </a:ext>
            </a:extLst>
          </p:cNvPr>
          <p:cNvSpPr>
            <a:spLocks xmlns:a="http://schemas.openxmlformats.org/drawingml/2006/main" noGrp="1"/>
          </p:cNvSpPr>
          <p:nvPr/>
        </p:nvSpPr>
        <p:spPr>
          <a:xfrm xmlns:a="http://schemas.openxmlformats.org/drawingml/2006/main">
            <a:off x="609600" y="497205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ADB8C5"/>
                </a:solidFill>
                <a:latin typeface="Roboto"/>
                <a:ea typeface="Roboto"/>
                <a:cs typeface="Roboto"/>
              </a:defRPr>
            </a:pPr>
            <a:r>
              <a:rPr sz="1650" b="0">
                <a:solidFill>
                  <a:srgbClr val="ADB8C5"/>
                </a:solidFill>
                <a:latin typeface="Roboto"/>
                <a:ea typeface="Roboto"/>
                <a:cs typeface="Roboto"/>
              </a:rPr>
              <a:t>No assumption of will, consciousness or human-like understanding is required.</a:t>
            </a:r>
          </a:p>
        </p:txBody>
      </p:sp>
      <p:sp>
        <p:nvSpPr>
          <p:cNvPr id="19" name="">
            <a:extLst xmlns:a="http://schemas.openxmlformats.org/drawingml/2006/main">
              <a:ext uri="{FF2B5EF4-FFF2-40B4-BE49-F238E27FC236}">
                <a16:creationId xmlns:a16="http://schemas.microsoft.com/office/drawing/2014/main" id="{0ED29BF7-7D21-4B16-840A-412BBA7F2078}"/>
              </a:ext>
            </a:extLst>
          </p:cNvPr>
          <p:cNvSpPr>
            <a:spLocks xmlns:a="http://schemas.openxmlformats.org/drawingml/2006/main" noGrp="1"/>
          </p:cNvSpPr>
          <p:nvPr/>
        </p:nvSpPr>
        <p:spPr>
          <a:xfrm xmlns:a="http://schemas.openxmlformats.org/drawingml/2006/main" flipH="0" flipV="0">
            <a:off x="609600" y="573405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0" name="">
            <a:extLst xmlns:a="http://schemas.openxmlformats.org/drawingml/2006/main">
              <a:ext uri="{FF2B5EF4-FFF2-40B4-BE49-F238E27FC236}">
                <a16:creationId xmlns:a16="http://schemas.microsoft.com/office/drawing/2014/main" id="{B1C759E4-F691-43C6-8C1B-87C973213F61}"/>
              </a:ext>
            </a:extLst>
          </p:cNvPr>
          <p:cNvSpPr>
            <a:spLocks xmlns:a="http://schemas.openxmlformats.org/drawingml/2006/main" noGrp="1"/>
          </p:cNvSpPr>
          <p:nvPr/>
        </p:nvSpPr>
        <p:spPr>
          <a:xfrm xmlns:a="http://schemas.openxmlformats.org/drawingml/2006/main">
            <a:off x="609600" y="5905500"/>
            <a:ext cx="106489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1">
                <a:solidFill>
                  <a:srgbClr val="F4F7FA"/>
                </a:solidFill>
                <a:latin typeface="Roboto"/>
                <a:ea typeface="Roboto"/>
                <a:cs typeface="Roboto"/>
              </a:defRPr>
            </a:pPr>
            <a:r>
              <a:rPr sz="2100" b="1">
                <a:solidFill>
                  <a:srgbClr val="F4F7FA"/>
                </a:solidFill>
                <a:latin typeface="Roboto"/>
                <a:ea typeface="Roboto"/>
                <a:cs typeface="Roboto"/>
              </a:rPr>
              <a:t>We design the environment in which behavior is generated at runtime.</a:t>
            </a:r>
          </a:p>
        </p:txBody>
      </p:sp>
    </p:spTree>
    <p:extLst>
      <p:ext uri="{BB962C8B-B14F-4D97-AF65-F5344CB8AC3E}">
        <p14:creationId xmlns:p14="http://schemas.microsoft.com/office/powerpoint/2010/main" val="2098785607"/>
      </p:ext>
    </p:extLst>
  </p:cSld>
</p:sld>
</file>

<file path=ppt/slides/slide3.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68" name="">
            <a:extLst xmlns:a="http://schemas.openxmlformats.org/drawingml/2006/main">
              <a:ext uri="{FF2B5EF4-FFF2-40B4-BE49-F238E27FC236}">
                <a16:creationId xmlns:a16="http://schemas.microsoft.com/office/drawing/2014/main" id="{0037867B-5A67-488D-82BF-881E7B7EAEC3}"/>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Roboto"/>
                <a:ea typeface="Roboto"/>
                <a:cs typeface="Roboto"/>
              </a:defRPr>
            </a:pPr>
            <a:r>
              <a:rPr sz="3000" b="1">
                <a:solidFill>
                  <a:srgbClr val="F4F7FA"/>
                </a:solidFill>
                <a:latin typeface="Roboto"/>
                <a:ea typeface="Roboto"/>
                <a:cs typeface="Roboto"/>
              </a:rPr>
              <a:t>We Accelerated a Step. Not the System.</a:t>
            </a:r>
          </a:p>
        </p:txBody>
      </p:sp>
      <p:sp>
        <p:nvSpPr>
          <p:cNvPr id="2" name="">
            <a:extLst xmlns:a="http://schemas.openxmlformats.org/drawingml/2006/main">
              <a:ext uri="{FF2B5EF4-FFF2-40B4-BE49-F238E27FC236}">
                <a16:creationId xmlns:a16="http://schemas.microsoft.com/office/drawing/2014/main" id="{B40CACA7-EBCE-4771-87BE-B24550493CF8}"/>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88AF146F-4EBD-4337-A4DF-C45F3EDECC61}"/>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Roboto"/>
                <a:ea typeface="Roboto"/>
                <a:cs typeface="Roboto"/>
              </a:defRPr>
            </a:pPr>
            <a:r>
              <a:rPr sz="1200" b="0">
                <a:solidFill>
                  <a:srgbClr val="ADB8C5"/>
                </a:solidFill>
                <a:latin typeface="Roboto"/>
                <a:ea typeface="Roboto"/>
                <a:cs typeface="Roboto"/>
              </a:rPr>
              <a:t>03</a:t>
            </a:r>
          </a:p>
        </p:txBody>
      </p:sp>
      <p:sp>
        <p:nvSpPr>
          <p:cNvPr id="4" name="">
            <a:extLst xmlns:a="http://schemas.openxmlformats.org/drawingml/2006/main">
              <a:ext uri="{FF2B5EF4-FFF2-40B4-BE49-F238E27FC236}">
                <a16:creationId xmlns:a16="http://schemas.microsoft.com/office/drawing/2014/main" id="{4EB909E6-19F1-4BED-A3F3-D3A07175215B}"/>
              </a:ext>
            </a:extLst>
          </p:cNvPr>
          <p:cNvSpPr>
            <a:spLocks xmlns:a="http://schemas.openxmlformats.org/drawingml/2006/main" noGrp="1"/>
          </p:cNvSpPr>
          <p:nvPr/>
        </p:nvSpPr>
        <p:spPr>
          <a:xfrm xmlns:a="http://schemas.openxmlformats.org/drawingml/2006/main">
            <a:off x="914400" y="1714500"/>
            <a:ext cx="10363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ADB8C5"/>
                </a:solidFill>
                <a:latin typeface="Roboto"/>
                <a:ea typeface="Roboto"/>
                <a:cs typeface="Roboto"/>
              </a:defRPr>
            </a:pPr>
            <a:r>
              <a:rPr sz="1650" b="0">
                <a:solidFill>
                  <a:srgbClr val="ADB8C5"/>
                </a:solidFill>
                <a:latin typeface="Roboto"/>
                <a:ea typeface="Roboto"/>
                <a:cs typeface="Roboto"/>
              </a:rPr>
              <a:t>AI can affect every stage. Downstream gains are not automatic.</a:t>
            </a:r>
          </a:p>
        </p:txBody>
      </p:sp>
      <p:sp>
        <p:nvSpPr>
          <p:cNvPr id="5" name="">
            <a:extLst xmlns:a="http://schemas.openxmlformats.org/drawingml/2006/main">
              <a:ext uri="{FF2B5EF4-FFF2-40B4-BE49-F238E27FC236}">
                <a16:creationId xmlns:a16="http://schemas.microsoft.com/office/drawing/2014/main" id="{C41E2E8E-E21A-4F1D-8515-A9D526525EDF}"/>
              </a:ext>
            </a:extLst>
          </p:cNvPr>
          <p:cNvSpPr>
            <a:spLocks xmlns:a="http://schemas.openxmlformats.org/drawingml/2006/main" noGrp="1"/>
          </p:cNvSpPr>
          <p:nvPr/>
        </p:nvSpPr>
        <p:spPr>
          <a:xfrm xmlns:a="http://schemas.openxmlformats.org/drawingml/2006/main">
            <a:off x="914400" y="2333625"/>
            <a:ext cx="1162050" cy="53340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6" name="">
            <a:extLst xmlns:a="http://schemas.openxmlformats.org/drawingml/2006/main">
              <a:ext uri="{FF2B5EF4-FFF2-40B4-BE49-F238E27FC236}">
                <a16:creationId xmlns:a16="http://schemas.microsoft.com/office/drawing/2014/main" id="{5A475937-D88C-473E-931D-A596F05646E5}"/>
              </a:ext>
            </a:extLst>
          </p:cNvPr>
          <p:cNvSpPr>
            <a:spLocks xmlns:a="http://schemas.openxmlformats.org/drawingml/2006/main" noGrp="1"/>
          </p:cNvSpPr>
          <p:nvPr/>
        </p:nvSpPr>
        <p:spPr>
          <a:xfrm xmlns:a="http://schemas.openxmlformats.org/drawingml/2006/main">
            <a:off x="1028700" y="2409825"/>
            <a:ext cx="93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425" b="1">
                <a:solidFill>
                  <a:srgbClr val="F4F7FA"/>
                </a:solidFill>
                <a:latin typeface="Roboto"/>
                <a:ea typeface="Roboto"/>
                <a:cs typeface="Roboto"/>
              </a:defRPr>
            </a:pPr>
            <a:r>
              <a:rPr sz="1425" b="1">
                <a:solidFill>
                  <a:srgbClr val="F4F7FA"/>
                </a:solidFill>
                <a:latin typeface="Roboto"/>
                <a:ea typeface="Roboto"/>
                <a:cs typeface="Roboto"/>
              </a:rPr>
              <a:t>Intent</a:t>
            </a:r>
          </a:p>
        </p:txBody>
      </p:sp>
      <p:sp>
        <p:nvSpPr>
          <p:cNvPr id="7" name="">
            <a:extLst xmlns:a="http://schemas.openxmlformats.org/drawingml/2006/main">
              <a:ext uri="{FF2B5EF4-FFF2-40B4-BE49-F238E27FC236}">
                <a16:creationId xmlns:a16="http://schemas.microsoft.com/office/drawing/2014/main" id="{39A92A0B-D6E0-4501-B808-8E20D454EC4C}"/>
              </a:ext>
            </a:extLst>
          </p:cNvPr>
          <p:cNvSpPr>
            <a:spLocks xmlns:a="http://schemas.openxmlformats.org/drawingml/2006/main" noGrp="1"/>
          </p:cNvSpPr>
          <p:nvPr/>
        </p:nvSpPr>
        <p:spPr>
          <a:xfrm xmlns:a="http://schemas.openxmlformats.org/drawingml/2006/main">
            <a:off x="2228850" y="2333625"/>
            <a:ext cx="1162050" cy="53340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8" name="">
            <a:extLst xmlns:a="http://schemas.openxmlformats.org/drawingml/2006/main">
              <a:ext uri="{FF2B5EF4-FFF2-40B4-BE49-F238E27FC236}">
                <a16:creationId xmlns:a16="http://schemas.microsoft.com/office/drawing/2014/main" id="{2CDB20DA-CCAA-4019-B3AD-6901DABB531D}"/>
              </a:ext>
            </a:extLst>
          </p:cNvPr>
          <p:cNvSpPr>
            <a:spLocks xmlns:a="http://schemas.openxmlformats.org/drawingml/2006/main" noGrp="1"/>
          </p:cNvSpPr>
          <p:nvPr/>
        </p:nvSpPr>
        <p:spPr>
          <a:xfrm xmlns:a="http://schemas.openxmlformats.org/drawingml/2006/main">
            <a:off x="2343150" y="2409825"/>
            <a:ext cx="93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425" b="1">
                <a:solidFill>
                  <a:srgbClr val="F4F7FA"/>
                </a:solidFill>
                <a:latin typeface="Roboto"/>
                <a:ea typeface="Roboto"/>
                <a:cs typeface="Roboto"/>
              </a:defRPr>
            </a:pPr>
            <a:r>
              <a:rPr sz="1425" b="1">
                <a:solidFill>
                  <a:srgbClr val="F4F7FA"/>
                </a:solidFill>
                <a:latin typeface="Roboto"/>
                <a:ea typeface="Roboto"/>
                <a:cs typeface="Roboto"/>
              </a:rPr>
              <a:t>Design</a:t>
            </a:r>
          </a:p>
        </p:txBody>
      </p:sp>
      <p:sp>
        <p:nvSpPr>
          <p:cNvPr id="9" name="">
            <a:extLst xmlns:a="http://schemas.openxmlformats.org/drawingml/2006/main">
              <a:ext uri="{FF2B5EF4-FFF2-40B4-BE49-F238E27FC236}">
                <a16:creationId xmlns:a16="http://schemas.microsoft.com/office/drawing/2014/main" id="{AE649C0E-B16B-4D6F-93C2-1670CDA5D13D}"/>
              </a:ext>
            </a:extLst>
          </p:cNvPr>
          <p:cNvSpPr>
            <a:spLocks xmlns:a="http://schemas.openxmlformats.org/drawingml/2006/main" noGrp="1"/>
          </p:cNvSpPr>
          <p:nvPr/>
        </p:nvSpPr>
        <p:spPr>
          <a:xfrm xmlns:a="http://schemas.openxmlformats.org/drawingml/2006/main">
            <a:off x="3543300" y="2333625"/>
            <a:ext cx="1162050" cy="53340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10" name="">
            <a:extLst xmlns:a="http://schemas.openxmlformats.org/drawingml/2006/main">
              <a:ext uri="{FF2B5EF4-FFF2-40B4-BE49-F238E27FC236}">
                <a16:creationId xmlns:a16="http://schemas.microsoft.com/office/drawing/2014/main" id="{9B97329D-8788-43CB-AD97-5FAD4ED8E706}"/>
              </a:ext>
            </a:extLst>
          </p:cNvPr>
          <p:cNvSpPr>
            <a:spLocks xmlns:a="http://schemas.openxmlformats.org/drawingml/2006/main" noGrp="1"/>
          </p:cNvSpPr>
          <p:nvPr/>
        </p:nvSpPr>
        <p:spPr>
          <a:xfrm xmlns:a="http://schemas.openxmlformats.org/drawingml/2006/main">
            <a:off x="3657600" y="2409825"/>
            <a:ext cx="93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425" b="1">
                <a:solidFill>
                  <a:srgbClr val="F4F7FA"/>
                </a:solidFill>
                <a:latin typeface="Roboto"/>
                <a:ea typeface="Roboto"/>
                <a:cs typeface="Roboto"/>
              </a:defRPr>
            </a:pPr>
            <a:r>
              <a:rPr sz="1425" b="1">
                <a:solidFill>
                  <a:srgbClr val="F4F7FA"/>
                </a:solidFill>
                <a:latin typeface="Roboto"/>
                <a:ea typeface="Roboto"/>
                <a:cs typeface="Roboto"/>
              </a:rPr>
              <a:t>Code</a:t>
            </a:r>
          </a:p>
        </p:txBody>
      </p:sp>
      <p:sp>
        <p:nvSpPr>
          <p:cNvPr id="11" name="">
            <a:extLst xmlns:a="http://schemas.openxmlformats.org/drawingml/2006/main">
              <a:ext uri="{FF2B5EF4-FFF2-40B4-BE49-F238E27FC236}">
                <a16:creationId xmlns:a16="http://schemas.microsoft.com/office/drawing/2014/main" id="{F615A301-E55A-401F-8D23-849F34CE5C61}"/>
              </a:ext>
            </a:extLst>
          </p:cNvPr>
          <p:cNvSpPr>
            <a:spLocks xmlns:a="http://schemas.openxmlformats.org/drawingml/2006/main" noGrp="1"/>
          </p:cNvSpPr>
          <p:nvPr/>
        </p:nvSpPr>
        <p:spPr>
          <a:xfrm xmlns:a="http://schemas.openxmlformats.org/drawingml/2006/main">
            <a:off x="4857750" y="2333625"/>
            <a:ext cx="1162050" cy="53340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12" name="">
            <a:extLst xmlns:a="http://schemas.openxmlformats.org/drawingml/2006/main">
              <a:ext uri="{FF2B5EF4-FFF2-40B4-BE49-F238E27FC236}">
                <a16:creationId xmlns:a16="http://schemas.microsoft.com/office/drawing/2014/main" id="{7CBA617F-6D7E-4582-9A73-82B8B15D9BC9}"/>
              </a:ext>
            </a:extLst>
          </p:cNvPr>
          <p:cNvSpPr>
            <a:spLocks xmlns:a="http://schemas.openxmlformats.org/drawingml/2006/main" noGrp="1"/>
          </p:cNvSpPr>
          <p:nvPr/>
        </p:nvSpPr>
        <p:spPr>
          <a:xfrm xmlns:a="http://schemas.openxmlformats.org/drawingml/2006/main">
            <a:off x="4972050" y="2409825"/>
            <a:ext cx="93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425" b="1">
                <a:solidFill>
                  <a:srgbClr val="F4F7FA"/>
                </a:solidFill>
                <a:latin typeface="Roboto"/>
                <a:ea typeface="Roboto"/>
                <a:cs typeface="Roboto"/>
              </a:defRPr>
            </a:pPr>
            <a:r>
              <a:rPr sz="1425" b="1">
                <a:solidFill>
                  <a:srgbClr val="F4F7FA"/>
                </a:solidFill>
                <a:latin typeface="Roboto"/>
                <a:ea typeface="Roboto"/>
                <a:cs typeface="Roboto"/>
              </a:rPr>
              <a:t>Review</a:t>
            </a:r>
          </a:p>
        </p:txBody>
      </p:sp>
      <p:sp>
        <p:nvSpPr>
          <p:cNvPr id="13" name="">
            <a:extLst xmlns:a="http://schemas.openxmlformats.org/drawingml/2006/main">
              <a:ext uri="{FF2B5EF4-FFF2-40B4-BE49-F238E27FC236}">
                <a16:creationId xmlns:a16="http://schemas.microsoft.com/office/drawing/2014/main" id="{AC95EF97-0AA4-4CE4-A6C5-37FB1B110DA6}"/>
              </a:ext>
            </a:extLst>
          </p:cNvPr>
          <p:cNvSpPr>
            <a:spLocks xmlns:a="http://schemas.openxmlformats.org/drawingml/2006/main" noGrp="1"/>
          </p:cNvSpPr>
          <p:nvPr/>
        </p:nvSpPr>
        <p:spPr>
          <a:xfrm xmlns:a="http://schemas.openxmlformats.org/drawingml/2006/main">
            <a:off x="6172200" y="2333625"/>
            <a:ext cx="1162050" cy="53340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14" name="">
            <a:extLst xmlns:a="http://schemas.openxmlformats.org/drawingml/2006/main">
              <a:ext uri="{FF2B5EF4-FFF2-40B4-BE49-F238E27FC236}">
                <a16:creationId xmlns:a16="http://schemas.microsoft.com/office/drawing/2014/main" id="{4D368111-2A95-411C-85CE-252CD0043B19}"/>
              </a:ext>
            </a:extLst>
          </p:cNvPr>
          <p:cNvSpPr>
            <a:spLocks xmlns:a="http://schemas.openxmlformats.org/drawingml/2006/main" noGrp="1"/>
          </p:cNvSpPr>
          <p:nvPr/>
        </p:nvSpPr>
        <p:spPr>
          <a:xfrm xmlns:a="http://schemas.openxmlformats.org/drawingml/2006/main">
            <a:off x="6286500" y="2409825"/>
            <a:ext cx="93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425" b="1">
                <a:solidFill>
                  <a:srgbClr val="F4F7FA"/>
                </a:solidFill>
                <a:latin typeface="Roboto"/>
                <a:ea typeface="Roboto"/>
                <a:cs typeface="Roboto"/>
              </a:defRPr>
            </a:pPr>
            <a:r>
              <a:rPr sz="1425" b="1">
                <a:solidFill>
                  <a:srgbClr val="F4F7FA"/>
                </a:solidFill>
                <a:latin typeface="Roboto"/>
                <a:ea typeface="Roboto"/>
                <a:cs typeface="Roboto"/>
              </a:rPr>
              <a:t>Test</a:t>
            </a:r>
          </a:p>
        </p:txBody>
      </p:sp>
      <p:sp>
        <p:nvSpPr>
          <p:cNvPr id="15" name="">
            <a:extLst xmlns:a="http://schemas.openxmlformats.org/drawingml/2006/main">
              <a:ext uri="{FF2B5EF4-FFF2-40B4-BE49-F238E27FC236}">
                <a16:creationId xmlns:a16="http://schemas.microsoft.com/office/drawing/2014/main" id="{722EE975-B80D-4A4B-9655-0B4746654045}"/>
              </a:ext>
            </a:extLst>
          </p:cNvPr>
          <p:cNvSpPr>
            <a:spLocks xmlns:a="http://schemas.openxmlformats.org/drawingml/2006/main" noGrp="1"/>
          </p:cNvSpPr>
          <p:nvPr/>
        </p:nvSpPr>
        <p:spPr>
          <a:xfrm xmlns:a="http://schemas.openxmlformats.org/drawingml/2006/main">
            <a:off x="7486650" y="2333625"/>
            <a:ext cx="1162050" cy="53340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16" name="">
            <a:extLst xmlns:a="http://schemas.openxmlformats.org/drawingml/2006/main">
              <a:ext uri="{FF2B5EF4-FFF2-40B4-BE49-F238E27FC236}">
                <a16:creationId xmlns:a16="http://schemas.microsoft.com/office/drawing/2014/main" id="{B26712D5-6F5F-4E46-8AFE-FF0C12FBBDE3}"/>
              </a:ext>
            </a:extLst>
          </p:cNvPr>
          <p:cNvSpPr>
            <a:spLocks xmlns:a="http://schemas.openxmlformats.org/drawingml/2006/main" noGrp="1"/>
          </p:cNvSpPr>
          <p:nvPr/>
        </p:nvSpPr>
        <p:spPr>
          <a:xfrm xmlns:a="http://schemas.openxmlformats.org/drawingml/2006/main">
            <a:off x="7600950" y="2409825"/>
            <a:ext cx="93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350" b="1">
                <a:solidFill>
                  <a:srgbClr val="F4F7FA"/>
                </a:solidFill>
                <a:latin typeface="Roboto"/>
                <a:ea typeface="Roboto"/>
                <a:cs typeface="Roboto"/>
              </a:defRPr>
            </a:pPr>
            <a:r>
              <a:rPr sz="1350" b="1">
                <a:solidFill>
                  <a:srgbClr val="F4F7FA"/>
                </a:solidFill>
                <a:latin typeface="Roboto"/>
                <a:ea typeface="Roboto"/>
                <a:cs typeface="Roboto"/>
              </a:rPr>
              <a:t>Integrate</a:t>
            </a:r>
          </a:p>
        </p:txBody>
      </p:sp>
      <p:sp>
        <p:nvSpPr>
          <p:cNvPr id="17" name="">
            <a:extLst xmlns:a="http://schemas.openxmlformats.org/drawingml/2006/main">
              <a:ext uri="{FF2B5EF4-FFF2-40B4-BE49-F238E27FC236}">
                <a16:creationId xmlns:a16="http://schemas.microsoft.com/office/drawing/2014/main" id="{E954C45B-BF57-40F3-9433-A95D81B8FF4A}"/>
              </a:ext>
            </a:extLst>
          </p:cNvPr>
          <p:cNvSpPr>
            <a:spLocks xmlns:a="http://schemas.openxmlformats.org/drawingml/2006/main" noGrp="1"/>
          </p:cNvSpPr>
          <p:nvPr/>
        </p:nvSpPr>
        <p:spPr>
          <a:xfrm xmlns:a="http://schemas.openxmlformats.org/drawingml/2006/main">
            <a:off x="8801100" y="2333625"/>
            <a:ext cx="1162050" cy="53340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18" name="">
            <a:extLst xmlns:a="http://schemas.openxmlformats.org/drawingml/2006/main">
              <a:ext uri="{FF2B5EF4-FFF2-40B4-BE49-F238E27FC236}">
                <a16:creationId xmlns:a16="http://schemas.microsoft.com/office/drawing/2014/main" id="{BB33AC59-07D7-4F12-AAF6-07BE17196453}"/>
              </a:ext>
            </a:extLst>
          </p:cNvPr>
          <p:cNvSpPr>
            <a:spLocks xmlns:a="http://schemas.openxmlformats.org/drawingml/2006/main" noGrp="1"/>
          </p:cNvSpPr>
          <p:nvPr/>
        </p:nvSpPr>
        <p:spPr>
          <a:xfrm xmlns:a="http://schemas.openxmlformats.org/drawingml/2006/main">
            <a:off x="8915400" y="2409825"/>
            <a:ext cx="93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425" b="1">
                <a:solidFill>
                  <a:srgbClr val="F4F7FA"/>
                </a:solidFill>
                <a:latin typeface="Roboto"/>
                <a:ea typeface="Roboto"/>
                <a:cs typeface="Roboto"/>
              </a:defRPr>
            </a:pPr>
            <a:r>
              <a:rPr sz="1425" b="1">
                <a:solidFill>
                  <a:srgbClr val="F4F7FA"/>
                </a:solidFill>
                <a:latin typeface="Roboto"/>
                <a:ea typeface="Roboto"/>
                <a:cs typeface="Roboto"/>
              </a:rPr>
              <a:t>Deploy</a:t>
            </a:r>
          </a:p>
        </p:txBody>
      </p:sp>
      <p:sp>
        <p:nvSpPr>
          <p:cNvPr id="19" name="">
            <a:extLst xmlns:a="http://schemas.openxmlformats.org/drawingml/2006/main">
              <a:ext uri="{FF2B5EF4-FFF2-40B4-BE49-F238E27FC236}">
                <a16:creationId xmlns:a16="http://schemas.microsoft.com/office/drawing/2014/main" id="{43D76E58-E33C-4151-8CAF-6F4D5A52ACC8}"/>
              </a:ext>
            </a:extLst>
          </p:cNvPr>
          <p:cNvSpPr>
            <a:spLocks xmlns:a="http://schemas.openxmlformats.org/drawingml/2006/main" noGrp="1"/>
          </p:cNvSpPr>
          <p:nvPr/>
        </p:nvSpPr>
        <p:spPr>
          <a:xfrm xmlns:a="http://schemas.openxmlformats.org/drawingml/2006/main">
            <a:off x="10115550" y="2333625"/>
            <a:ext cx="1162050" cy="53340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20" name="">
            <a:extLst xmlns:a="http://schemas.openxmlformats.org/drawingml/2006/main">
              <a:ext uri="{FF2B5EF4-FFF2-40B4-BE49-F238E27FC236}">
                <a16:creationId xmlns:a16="http://schemas.microsoft.com/office/drawing/2014/main" id="{9891E4A6-9819-40BF-99AF-F92B3F7136B2}"/>
              </a:ext>
            </a:extLst>
          </p:cNvPr>
          <p:cNvSpPr>
            <a:spLocks xmlns:a="http://schemas.openxmlformats.org/drawingml/2006/main" noGrp="1"/>
          </p:cNvSpPr>
          <p:nvPr/>
        </p:nvSpPr>
        <p:spPr>
          <a:xfrm xmlns:a="http://schemas.openxmlformats.org/drawingml/2006/main">
            <a:off x="10229850" y="2409825"/>
            <a:ext cx="93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425" b="1">
                <a:solidFill>
                  <a:srgbClr val="F4F7FA"/>
                </a:solidFill>
                <a:latin typeface="Roboto"/>
                <a:ea typeface="Roboto"/>
                <a:cs typeface="Roboto"/>
              </a:defRPr>
            </a:pPr>
            <a:r>
              <a:rPr sz="1425" b="1">
                <a:solidFill>
                  <a:srgbClr val="F4F7FA"/>
                </a:solidFill>
                <a:latin typeface="Roboto"/>
                <a:ea typeface="Roboto"/>
                <a:cs typeface="Roboto"/>
              </a:rPr>
              <a:t>Operate</a:t>
            </a:r>
          </a:p>
        </p:txBody>
      </p:sp>
      <p:sp>
        <p:nvSpPr>
          <p:cNvPr id="21" name="">
            <a:extLst xmlns:a="http://schemas.openxmlformats.org/drawingml/2006/main">
              <a:ext uri="{FF2B5EF4-FFF2-40B4-BE49-F238E27FC236}">
                <a16:creationId xmlns:a16="http://schemas.microsoft.com/office/drawing/2014/main" id="{D6F0AE28-3F21-4E16-AB68-118F76C9E6BF}"/>
              </a:ext>
            </a:extLst>
          </p:cNvPr>
          <p:cNvSpPr>
            <a:spLocks xmlns:a="http://schemas.openxmlformats.org/drawingml/2006/main" noGrp="1"/>
          </p:cNvSpPr>
          <p:nvPr/>
        </p:nvSpPr>
        <p:spPr>
          <a:xfrm xmlns:a="http://schemas.openxmlformats.org/drawingml/2006/main" flipH="0" flipV="0">
            <a:off x="2076450" y="2600325"/>
            <a:ext cx="15240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22" name="">
            <a:extLst xmlns:a="http://schemas.openxmlformats.org/drawingml/2006/main">
              <a:ext uri="{FF2B5EF4-FFF2-40B4-BE49-F238E27FC236}">
                <a16:creationId xmlns:a16="http://schemas.microsoft.com/office/drawing/2014/main" id="{99C7709E-10D9-42E3-B028-D576EE1CEB58}"/>
              </a:ext>
            </a:extLst>
          </p:cNvPr>
          <p:cNvSpPr>
            <a:spLocks xmlns:a="http://schemas.openxmlformats.org/drawingml/2006/main" noGrp="1"/>
          </p:cNvSpPr>
          <p:nvPr/>
        </p:nvSpPr>
        <p:spPr>
          <a:xfrm xmlns:a="http://schemas.openxmlformats.org/drawingml/2006/main" flipH="0" flipV="0">
            <a:off x="3390900" y="2600325"/>
            <a:ext cx="15240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23" name="">
            <a:extLst xmlns:a="http://schemas.openxmlformats.org/drawingml/2006/main">
              <a:ext uri="{FF2B5EF4-FFF2-40B4-BE49-F238E27FC236}">
                <a16:creationId xmlns:a16="http://schemas.microsoft.com/office/drawing/2014/main" id="{5A7B0E48-A6DF-4F25-922B-8E66776FE479}"/>
              </a:ext>
            </a:extLst>
          </p:cNvPr>
          <p:cNvSpPr>
            <a:spLocks xmlns:a="http://schemas.openxmlformats.org/drawingml/2006/main" noGrp="1"/>
          </p:cNvSpPr>
          <p:nvPr/>
        </p:nvSpPr>
        <p:spPr>
          <a:xfrm xmlns:a="http://schemas.openxmlformats.org/drawingml/2006/main" flipH="0" flipV="0">
            <a:off x="4705350" y="2600325"/>
            <a:ext cx="15240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24" name="">
            <a:extLst xmlns:a="http://schemas.openxmlformats.org/drawingml/2006/main">
              <a:ext uri="{FF2B5EF4-FFF2-40B4-BE49-F238E27FC236}">
                <a16:creationId xmlns:a16="http://schemas.microsoft.com/office/drawing/2014/main" id="{2D671764-B2D7-42A0-B314-B962338CBCFB}"/>
              </a:ext>
            </a:extLst>
          </p:cNvPr>
          <p:cNvSpPr>
            <a:spLocks xmlns:a="http://schemas.openxmlformats.org/drawingml/2006/main" noGrp="1"/>
          </p:cNvSpPr>
          <p:nvPr/>
        </p:nvSpPr>
        <p:spPr>
          <a:xfrm xmlns:a="http://schemas.openxmlformats.org/drawingml/2006/main" flipH="0" flipV="0">
            <a:off x="6019800" y="2600325"/>
            <a:ext cx="15240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25" name="">
            <a:extLst xmlns:a="http://schemas.openxmlformats.org/drawingml/2006/main">
              <a:ext uri="{FF2B5EF4-FFF2-40B4-BE49-F238E27FC236}">
                <a16:creationId xmlns:a16="http://schemas.microsoft.com/office/drawing/2014/main" id="{A80EDEEF-27CE-4078-89BB-B39AE8915CC3}"/>
              </a:ext>
            </a:extLst>
          </p:cNvPr>
          <p:cNvSpPr>
            <a:spLocks xmlns:a="http://schemas.openxmlformats.org/drawingml/2006/main" noGrp="1"/>
          </p:cNvSpPr>
          <p:nvPr/>
        </p:nvSpPr>
        <p:spPr>
          <a:xfrm xmlns:a="http://schemas.openxmlformats.org/drawingml/2006/main" flipH="0" flipV="0">
            <a:off x="7334250" y="2600325"/>
            <a:ext cx="15240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26" name="">
            <a:extLst xmlns:a="http://schemas.openxmlformats.org/drawingml/2006/main">
              <a:ext uri="{FF2B5EF4-FFF2-40B4-BE49-F238E27FC236}">
                <a16:creationId xmlns:a16="http://schemas.microsoft.com/office/drawing/2014/main" id="{CAEE5E39-AF80-47DE-8604-D87FB6168956}"/>
              </a:ext>
            </a:extLst>
          </p:cNvPr>
          <p:cNvSpPr>
            <a:spLocks xmlns:a="http://schemas.openxmlformats.org/drawingml/2006/main" noGrp="1"/>
          </p:cNvSpPr>
          <p:nvPr/>
        </p:nvSpPr>
        <p:spPr>
          <a:xfrm xmlns:a="http://schemas.openxmlformats.org/drawingml/2006/main" flipH="0" flipV="0">
            <a:off x="8648700" y="2600325"/>
            <a:ext cx="15240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27" name="">
            <a:extLst xmlns:a="http://schemas.openxmlformats.org/drawingml/2006/main">
              <a:ext uri="{FF2B5EF4-FFF2-40B4-BE49-F238E27FC236}">
                <a16:creationId xmlns:a16="http://schemas.microsoft.com/office/drawing/2014/main" id="{94E1E859-5C7F-4A09-A03D-A1788A2429D9}"/>
              </a:ext>
            </a:extLst>
          </p:cNvPr>
          <p:cNvSpPr>
            <a:spLocks xmlns:a="http://schemas.openxmlformats.org/drawingml/2006/main" noGrp="1"/>
          </p:cNvSpPr>
          <p:nvPr/>
        </p:nvSpPr>
        <p:spPr>
          <a:xfrm xmlns:a="http://schemas.openxmlformats.org/drawingml/2006/main" flipH="0" flipV="0">
            <a:off x="9963150" y="2600325"/>
            <a:ext cx="15240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28" name="">
            <a:extLst xmlns:a="http://schemas.openxmlformats.org/drawingml/2006/main">
              <a:ext uri="{FF2B5EF4-FFF2-40B4-BE49-F238E27FC236}">
                <a16:creationId xmlns:a16="http://schemas.microsoft.com/office/drawing/2014/main" id="{3D09859D-3027-43CF-899B-74082B5F8915}"/>
              </a:ext>
            </a:extLst>
          </p:cNvPr>
          <p:cNvSpPr>
            <a:spLocks xmlns:a="http://schemas.openxmlformats.org/drawingml/2006/main" noGrp="1"/>
          </p:cNvSpPr>
          <p:nvPr/>
        </p:nvSpPr>
        <p:spPr>
          <a:xfrm xmlns:a="http://schemas.openxmlformats.org/drawingml/2006/main">
            <a:off x="914400" y="2057400"/>
            <a:ext cx="11620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5B61C"/>
                </a:solidFill>
                <a:latin typeface="Roboto"/>
                <a:ea typeface="Roboto"/>
                <a:cs typeface="Roboto"/>
              </a:defRPr>
            </a:pPr>
            <a:r>
              <a:rPr sz="1575" b="1">
                <a:solidFill>
                  <a:srgbClr val="F5B61C"/>
                </a:solidFill>
                <a:latin typeface="Roboto"/>
                <a:ea typeface="Roboto"/>
                <a:cs typeface="Roboto"/>
              </a:rPr>
              <a:t>?</a:t>
            </a:r>
          </a:p>
        </p:txBody>
      </p:sp>
      <p:sp>
        <p:nvSpPr>
          <p:cNvPr id="29" name="">
            <a:extLst xmlns:a="http://schemas.openxmlformats.org/drawingml/2006/main">
              <a:ext uri="{FF2B5EF4-FFF2-40B4-BE49-F238E27FC236}">
                <a16:creationId xmlns:a16="http://schemas.microsoft.com/office/drawing/2014/main" id="{520B7757-2881-4D5A-A878-F791B3FBF07D}"/>
              </a:ext>
            </a:extLst>
          </p:cNvPr>
          <p:cNvSpPr>
            <a:spLocks xmlns:a="http://schemas.openxmlformats.org/drawingml/2006/main" noGrp="1"/>
          </p:cNvSpPr>
          <p:nvPr/>
        </p:nvSpPr>
        <p:spPr>
          <a:xfrm xmlns:a="http://schemas.openxmlformats.org/drawingml/2006/main">
            <a:off x="2228850" y="2057400"/>
            <a:ext cx="11620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5B61C"/>
                </a:solidFill>
                <a:latin typeface="Roboto"/>
                <a:ea typeface="Roboto"/>
                <a:cs typeface="Roboto"/>
              </a:defRPr>
            </a:pPr>
            <a:r>
              <a:rPr sz="1575" b="1">
                <a:solidFill>
                  <a:srgbClr val="F5B61C"/>
                </a:solidFill>
                <a:latin typeface="Roboto"/>
                <a:ea typeface="Roboto"/>
                <a:cs typeface="Roboto"/>
              </a:rPr>
              <a:t>?</a:t>
            </a:r>
          </a:p>
        </p:txBody>
      </p:sp>
      <p:sp>
        <p:nvSpPr>
          <p:cNvPr id="30" name="">
            <a:extLst xmlns:a="http://schemas.openxmlformats.org/drawingml/2006/main">
              <a:ext uri="{FF2B5EF4-FFF2-40B4-BE49-F238E27FC236}">
                <a16:creationId xmlns:a16="http://schemas.microsoft.com/office/drawing/2014/main" id="{FA9C907B-D3EB-4465-8066-FBB56E46169C}"/>
              </a:ext>
            </a:extLst>
          </p:cNvPr>
          <p:cNvSpPr>
            <a:spLocks xmlns:a="http://schemas.openxmlformats.org/drawingml/2006/main" noGrp="1"/>
          </p:cNvSpPr>
          <p:nvPr/>
        </p:nvSpPr>
        <p:spPr>
          <a:xfrm xmlns:a="http://schemas.openxmlformats.org/drawingml/2006/main">
            <a:off x="4857750" y="2057400"/>
            <a:ext cx="11620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5B61C"/>
                </a:solidFill>
                <a:latin typeface="Roboto"/>
                <a:ea typeface="Roboto"/>
                <a:cs typeface="Roboto"/>
              </a:defRPr>
            </a:pPr>
            <a:r>
              <a:rPr sz="1575" b="1">
                <a:solidFill>
                  <a:srgbClr val="F5B61C"/>
                </a:solidFill>
                <a:latin typeface="Roboto"/>
                <a:ea typeface="Roboto"/>
                <a:cs typeface="Roboto"/>
              </a:rPr>
              <a:t>?</a:t>
            </a:r>
          </a:p>
        </p:txBody>
      </p:sp>
      <p:sp>
        <p:nvSpPr>
          <p:cNvPr id="31" name="">
            <a:extLst xmlns:a="http://schemas.openxmlformats.org/drawingml/2006/main">
              <a:ext uri="{FF2B5EF4-FFF2-40B4-BE49-F238E27FC236}">
                <a16:creationId xmlns:a16="http://schemas.microsoft.com/office/drawing/2014/main" id="{1A6D5F1F-DD16-4E3B-9B7F-BB5742407B86}"/>
              </a:ext>
            </a:extLst>
          </p:cNvPr>
          <p:cNvSpPr>
            <a:spLocks xmlns:a="http://schemas.openxmlformats.org/drawingml/2006/main" noGrp="1"/>
          </p:cNvSpPr>
          <p:nvPr/>
        </p:nvSpPr>
        <p:spPr>
          <a:xfrm xmlns:a="http://schemas.openxmlformats.org/drawingml/2006/main">
            <a:off x="6172200" y="2057400"/>
            <a:ext cx="11620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5B61C"/>
                </a:solidFill>
                <a:latin typeface="Roboto"/>
                <a:ea typeface="Roboto"/>
                <a:cs typeface="Roboto"/>
              </a:defRPr>
            </a:pPr>
            <a:r>
              <a:rPr sz="1575" b="1">
                <a:solidFill>
                  <a:srgbClr val="F5B61C"/>
                </a:solidFill>
                <a:latin typeface="Roboto"/>
                <a:ea typeface="Roboto"/>
                <a:cs typeface="Roboto"/>
              </a:rPr>
              <a:t>?</a:t>
            </a:r>
          </a:p>
        </p:txBody>
      </p:sp>
      <p:sp>
        <p:nvSpPr>
          <p:cNvPr id="32" name="">
            <a:extLst xmlns:a="http://schemas.openxmlformats.org/drawingml/2006/main">
              <a:ext uri="{FF2B5EF4-FFF2-40B4-BE49-F238E27FC236}">
                <a16:creationId xmlns:a16="http://schemas.microsoft.com/office/drawing/2014/main" id="{9B0D61FF-ECE9-476E-82BD-6C00DEB84B73}"/>
              </a:ext>
            </a:extLst>
          </p:cNvPr>
          <p:cNvSpPr>
            <a:spLocks xmlns:a="http://schemas.openxmlformats.org/drawingml/2006/main" noGrp="1"/>
          </p:cNvSpPr>
          <p:nvPr/>
        </p:nvSpPr>
        <p:spPr>
          <a:xfrm xmlns:a="http://schemas.openxmlformats.org/drawingml/2006/main">
            <a:off x="7486650" y="2057400"/>
            <a:ext cx="11620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5B61C"/>
                </a:solidFill>
                <a:latin typeface="Roboto"/>
                <a:ea typeface="Roboto"/>
                <a:cs typeface="Roboto"/>
              </a:defRPr>
            </a:pPr>
            <a:r>
              <a:rPr sz="1575" b="1">
                <a:solidFill>
                  <a:srgbClr val="F5B61C"/>
                </a:solidFill>
                <a:latin typeface="Roboto"/>
                <a:ea typeface="Roboto"/>
                <a:cs typeface="Roboto"/>
              </a:rPr>
              <a:t>?</a:t>
            </a:r>
          </a:p>
        </p:txBody>
      </p:sp>
      <p:sp>
        <p:nvSpPr>
          <p:cNvPr id="33" name="">
            <a:extLst xmlns:a="http://schemas.openxmlformats.org/drawingml/2006/main">
              <a:ext uri="{FF2B5EF4-FFF2-40B4-BE49-F238E27FC236}">
                <a16:creationId xmlns:a16="http://schemas.microsoft.com/office/drawing/2014/main" id="{724835F2-501A-4C72-B061-F7DF89873983}"/>
              </a:ext>
            </a:extLst>
          </p:cNvPr>
          <p:cNvSpPr>
            <a:spLocks xmlns:a="http://schemas.openxmlformats.org/drawingml/2006/main" noGrp="1"/>
          </p:cNvSpPr>
          <p:nvPr/>
        </p:nvSpPr>
        <p:spPr>
          <a:xfrm xmlns:a="http://schemas.openxmlformats.org/drawingml/2006/main">
            <a:off x="8801100" y="2057400"/>
            <a:ext cx="11620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5B61C"/>
                </a:solidFill>
                <a:latin typeface="Roboto"/>
                <a:ea typeface="Roboto"/>
                <a:cs typeface="Roboto"/>
              </a:defRPr>
            </a:pPr>
            <a:r>
              <a:rPr sz="1575" b="1">
                <a:solidFill>
                  <a:srgbClr val="F5B61C"/>
                </a:solidFill>
                <a:latin typeface="Roboto"/>
                <a:ea typeface="Roboto"/>
                <a:cs typeface="Roboto"/>
              </a:rPr>
              <a:t>?</a:t>
            </a:r>
          </a:p>
        </p:txBody>
      </p:sp>
      <p:sp>
        <p:nvSpPr>
          <p:cNvPr id="34" name="">
            <a:extLst xmlns:a="http://schemas.openxmlformats.org/drawingml/2006/main">
              <a:ext uri="{FF2B5EF4-FFF2-40B4-BE49-F238E27FC236}">
                <a16:creationId xmlns:a16="http://schemas.microsoft.com/office/drawing/2014/main" id="{8BA77701-2836-449A-80B3-C4A48653341F}"/>
              </a:ext>
            </a:extLst>
          </p:cNvPr>
          <p:cNvSpPr>
            <a:spLocks xmlns:a="http://schemas.openxmlformats.org/drawingml/2006/main" noGrp="1"/>
          </p:cNvSpPr>
          <p:nvPr/>
        </p:nvSpPr>
        <p:spPr>
          <a:xfrm xmlns:a="http://schemas.openxmlformats.org/drawingml/2006/main">
            <a:off x="10115550" y="2057400"/>
            <a:ext cx="11620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5B61C"/>
                </a:solidFill>
                <a:latin typeface="Roboto"/>
                <a:ea typeface="Roboto"/>
                <a:cs typeface="Roboto"/>
              </a:defRPr>
            </a:pPr>
            <a:r>
              <a:rPr sz="1575" b="1">
                <a:solidFill>
                  <a:srgbClr val="F5B61C"/>
                </a:solidFill>
                <a:latin typeface="Roboto"/>
                <a:ea typeface="Roboto"/>
                <a:cs typeface="Roboto"/>
              </a:rPr>
              <a:t>?</a:t>
            </a:r>
          </a:p>
        </p:txBody>
      </p:sp>
      <p:sp>
        <p:nvSpPr>
          <p:cNvPr id="35" name="">
            <a:extLst xmlns:a="http://schemas.openxmlformats.org/drawingml/2006/main">
              <a:ext uri="{FF2B5EF4-FFF2-40B4-BE49-F238E27FC236}">
                <a16:creationId xmlns:a16="http://schemas.microsoft.com/office/drawing/2014/main" id="{01A23897-0F36-4C1D-B85E-4356515A309D}"/>
              </a:ext>
            </a:extLst>
          </p:cNvPr>
          <p:cNvSpPr>
            <a:spLocks xmlns:a="http://schemas.openxmlformats.org/drawingml/2006/main" noGrp="1"/>
          </p:cNvSpPr>
          <p:nvPr/>
        </p:nvSpPr>
        <p:spPr>
          <a:xfrm xmlns:a="http://schemas.openxmlformats.org/drawingml/2006/main">
            <a:off x="914400" y="3067050"/>
            <a:ext cx="10363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Roboto"/>
                <a:ea typeface="Roboto"/>
                <a:cs typeface="Roboto"/>
              </a:defRPr>
            </a:pPr>
            <a:r>
              <a:rPr sz="1500" b="0">
                <a:solidFill>
                  <a:srgbClr val="ADB8C5"/>
                </a:solidFill>
                <a:latin typeface="Roboto"/>
                <a:ea typeface="Roboto"/>
                <a:cs typeface="Roboto"/>
              </a:rPr>
              <a:t>Illustrative team: changes per week; comparable work, fixed downstream capacity.</a:t>
            </a:r>
          </a:p>
        </p:txBody>
      </p:sp>
      <p:sp>
        <p:nvSpPr>
          <p:cNvPr id="36" name="">
            <a:extLst xmlns:a="http://schemas.openxmlformats.org/drawingml/2006/main">
              <a:ext uri="{FF2B5EF4-FFF2-40B4-BE49-F238E27FC236}">
                <a16:creationId xmlns:a16="http://schemas.microsoft.com/office/drawing/2014/main" id="{3ABBC02B-C299-4DD6-8299-B9F487C92B2B}"/>
              </a:ext>
            </a:extLst>
          </p:cNvPr>
          <p:cNvSpPr>
            <a:spLocks xmlns:a="http://schemas.openxmlformats.org/drawingml/2006/main" noGrp="1"/>
          </p:cNvSpPr>
          <p:nvPr/>
        </p:nvSpPr>
        <p:spPr>
          <a:xfrm xmlns:a="http://schemas.openxmlformats.org/drawingml/2006/main">
            <a:off x="3238500" y="3429000"/>
            <a:ext cx="1638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650" b="1">
                <a:solidFill>
                  <a:srgbClr val="F4F7FA"/>
                </a:solidFill>
                <a:latin typeface="Roboto"/>
                <a:ea typeface="Roboto"/>
                <a:cs typeface="Roboto"/>
              </a:defRPr>
            </a:pPr>
            <a:r>
              <a:rPr sz="1650" b="1">
                <a:solidFill>
                  <a:srgbClr val="F4F7FA"/>
                </a:solidFill>
                <a:latin typeface="Roboto"/>
                <a:ea typeface="Roboto"/>
                <a:cs typeface="Roboto"/>
              </a:rPr>
              <a:t>Code</a:t>
            </a:r>
          </a:p>
        </p:txBody>
      </p:sp>
      <p:sp>
        <p:nvSpPr>
          <p:cNvPr id="37" name="">
            <a:extLst xmlns:a="http://schemas.openxmlformats.org/drawingml/2006/main">
              <a:ext uri="{FF2B5EF4-FFF2-40B4-BE49-F238E27FC236}">
                <a16:creationId xmlns:a16="http://schemas.microsoft.com/office/drawing/2014/main" id="{6B6255D6-D809-450D-84FF-555F0957F7FC}"/>
              </a:ext>
            </a:extLst>
          </p:cNvPr>
          <p:cNvSpPr>
            <a:spLocks xmlns:a="http://schemas.openxmlformats.org/drawingml/2006/main" noGrp="1"/>
          </p:cNvSpPr>
          <p:nvPr/>
        </p:nvSpPr>
        <p:spPr>
          <a:xfrm xmlns:a="http://schemas.openxmlformats.org/drawingml/2006/main">
            <a:off x="5314950" y="3429000"/>
            <a:ext cx="1638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650" b="1">
                <a:solidFill>
                  <a:srgbClr val="F4F7FA"/>
                </a:solidFill>
                <a:latin typeface="Roboto"/>
                <a:ea typeface="Roboto"/>
                <a:cs typeface="Roboto"/>
              </a:defRPr>
            </a:pPr>
            <a:r>
              <a:rPr sz="1650" b="1">
                <a:solidFill>
                  <a:srgbClr val="F4F7FA"/>
                </a:solidFill>
                <a:latin typeface="Roboto"/>
                <a:ea typeface="Roboto"/>
                <a:cs typeface="Roboto"/>
              </a:rPr>
              <a:t>Review</a:t>
            </a:r>
          </a:p>
        </p:txBody>
      </p:sp>
      <p:sp>
        <p:nvSpPr>
          <p:cNvPr id="38" name="">
            <a:extLst xmlns:a="http://schemas.openxmlformats.org/drawingml/2006/main">
              <a:ext uri="{FF2B5EF4-FFF2-40B4-BE49-F238E27FC236}">
                <a16:creationId xmlns:a16="http://schemas.microsoft.com/office/drawing/2014/main" id="{CA6CB50F-F6D0-4700-81CA-CB6B691B4E9D}"/>
              </a:ext>
            </a:extLst>
          </p:cNvPr>
          <p:cNvSpPr>
            <a:spLocks xmlns:a="http://schemas.openxmlformats.org/drawingml/2006/main" noGrp="1"/>
          </p:cNvSpPr>
          <p:nvPr/>
        </p:nvSpPr>
        <p:spPr>
          <a:xfrm xmlns:a="http://schemas.openxmlformats.org/drawingml/2006/main">
            <a:off x="7391400" y="3429000"/>
            <a:ext cx="1638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650" b="1">
                <a:solidFill>
                  <a:srgbClr val="F4F7FA"/>
                </a:solidFill>
                <a:latin typeface="Roboto"/>
                <a:ea typeface="Roboto"/>
                <a:cs typeface="Roboto"/>
              </a:defRPr>
            </a:pPr>
            <a:r>
              <a:rPr sz="1650" b="1">
                <a:solidFill>
                  <a:srgbClr val="F4F7FA"/>
                </a:solidFill>
                <a:latin typeface="Roboto"/>
                <a:ea typeface="Roboto"/>
                <a:cs typeface="Roboto"/>
              </a:rPr>
              <a:t>Integrate</a:t>
            </a:r>
          </a:p>
        </p:txBody>
      </p:sp>
      <p:sp>
        <p:nvSpPr>
          <p:cNvPr id="39" name="">
            <a:extLst xmlns:a="http://schemas.openxmlformats.org/drawingml/2006/main">
              <a:ext uri="{FF2B5EF4-FFF2-40B4-BE49-F238E27FC236}">
                <a16:creationId xmlns:a16="http://schemas.microsoft.com/office/drawing/2014/main" id="{D381831D-C57B-4367-9FBF-C4851BDA0189}"/>
              </a:ext>
            </a:extLst>
          </p:cNvPr>
          <p:cNvSpPr>
            <a:spLocks xmlns:a="http://schemas.openxmlformats.org/drawingml/2006/main" noGrp="1"/>
          </p:cNvSpPr>
          <p:nvPr/>
        </p:nvSpPr>
        <p:spPr>
          <a:xfrm xmlns:a="http://schemas.openxmlformats.org/drawingml/2006/main">
            <a:off x="9582150" y="3429000"/>
            <a:ext cx="1695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00" b="1">
                <a:solidFill>
                  <a:srgbClr val="ADB8C5"/>
                </a:solidFill>
                <a:latin typeface="Roboto"/>
                <a:ea typeface="Roboto"/>
                <a:cs typeface="Roboto"/>
              </a:defRPr>
            </a:pPr>
            <a:r>
              <a:rPr sz="1500" b="1">
                <a:solidFill>
                  <a:srgbClr val="ADB8C5"/>
                </a:solidFill>
                <a:latin typeface="Roboto"/>
                <a:ea typeface="Roboto"/>
                <a:cs typeface="Roboto"/>
              </a:rPr>
              <a:t>BACKLOG</a:t>
            </a:r>
          </a:p>
        </p:txBody>
      </p:sp>
      <p:sp>
        <p:nvSpPr>
          <p:cNvPr id="40" name="">
            <a:extLst xmlns:a="http://schemas.openxmlformats.org/drawingml/2006/main">
              <a:ext uri="{FF2B5EF4-FFF2-40B4-BE49-F238E27FC236}">
                <a16:creationId xmlns:a16="http://schemas.microsoft.com/office/drawing/2014/main" id="{965018F5-E334-48C4-AE83-FA0E7B9A2ACA}"/>
              </a:ext>
            </a:extLst>
          </p:cNvPr>
          <p:cNvSpPr>
            <a:spLocks xmlns:a="http://schemas.openxmlformats.org/drawingml/2006/main" noGrp="1"/>
          </p:cNvSpPr>
          <p:nvPr/>
        </p:nvSpPr>
        <p:spPr>
          <a:xfrm xmlns:a="http://schemas.openxmlformats.org/drawingml/2006/main">
            <a:off x="914400" y="3829050"/>
            <a:ext cx="2095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ADB8C5"/>
                </a:solidFill>
                <a:latin typeface="Roboto"/>
                <a:ea typeface="Roboto"/>
                <a:cs typeface="Roboto"/>
              </a:defRPr>
            </a:pPr>
            <a:r>
              <a:rPr sz="1650" b="1">
                <a:solidFill>
                  <a:srgbClr val="ADB8C5"/>
                </a:solidFill>
                <a:latin typeface="Roboto"/>
                <a:ea typeface="Roboto"/>
                <a:cs typeface="Roboto"/>
              </a:rPr>
              <a:t>BEFORE</a:t>
            </a:r>
          </a:p>
        </p:txBody>
      </p:sp>
      <p:sp>
        <p:nvSpPr>
          <p:cNvPr id="41" name="">
            <a:extLst xmlns:a="http://schemas.openxmlformats.org/drawingml/2006/main">
              <a:ext uri="{FF2B5EF4-FFF2-40B4-BE49-F238E27FC236}">
                <a16:creationId xmlns:a16="http://schemas.microsoft.com/office/drawing/2014/main" id="{F1E3EB62-C6B3-4685-88D5-755BC6D6BBE6}"/>
              </a:ext>
            </a:extLst>
          </p:cNvPr>
          <p:cNvSpPr>
            <a:spLocks xmlns:a="http://schemas.openxmlformats.org/drawingml/2006/main" noGrp="1"/>
          </p:cNvSpPr>
          <p:nvPr/>
        </p:nvSpPr>
        <p:spPr>
          <a:xfrm xmlns:a="http://schemas.openxmlformats.org/drawingml/2006/main">
            <a:off x="914400" y="4152900"/>
            <a:ext cx="2095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Roboto"/>
                <a:ea typeface="Roboto"/>
                <a:cs typeface="Roboto"/>
              </a:defRPr>
            </a:pPr>
            <a:r>
              <a:rPr sz="1350" b="0">
                <a:solidFill>
                  <a:srgbClr val="ADB8C5"/>
                </a:solidFill>
                <a:latin typeface="Roboto"/>
                <a:ea typeface="Roboto"/>
                <a:cs typeface="Roboto"/>
              </a:rPr>
              <a:t>Balanced flow</a:t>
            </a:r>
          </a:p>
        </p:txBody>
      </p:sp>
      <p:sp>
        <p:nvSpPr>
          <p:cNvPr id="42" name="">
            <a:extLst xmlns:a="http://schemas.openxmlformats.org/drawingml/2006/main">
              <a:ext uri="{FF2B5EF4-FFF2-40B4-BE49-F238E27FC236}">
                <a16:creationId xmlns:a16="http://schemas.microsoft.com/office/drawing/2014/main" id="{9124AA41-0C4E-4A5F-BDFB-22FD6D93DD61}"/>
              </a:ext>
            </a:extLst>
          </p:cNvPr>
          <p:cNvSpPr>
            <a:spLocks xmlns:a="http://schemas.openxmlformats.org/drawingml/2006/main" noGrp="1"/>
          </p:cNvSpPr>
          <p:nvPr/>
        </p:nvSpPr>
        <p:spPr>
          <a:xfrm xmlns:a="http://schemas.openxmlformats.org/drawingml/2006/main">
            <a:off x="3238500" y="3800475"/>
            <a:ext cx="1638300" cy="64770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43" name="">
            <a:extLst xmlns:a="http://schemas.openxmlformats.org/drawingml/2006/main">
              <a:ext uri="{FF2B5EF4-FFF2-40B4-BE49-F238E27FC236}">
                <a16:creationId xmlns:a16="http://schemas.microsoft.com/office/drawing/2014/main" id="{F2451209-91DB-49F4-ABBB-6274510A969D}"/>
              </a:ext>
            </a:extLst>
          </p:cNvPr>
          <p:cNvSpPr>
            <a:spLocks xmlns:a="http://schemas.openxmlformats.org/drawingml/2006/main" noGrp="1"/>
          </p:cNvSpPr>
          <p:nvPr/>
        </p:nvSpPr>
        <p:spPr>
          <a:xfrm xmlns:a="http://schemas.openxmlformats.org/drawingml/2006/main">
            <a:off x="3352800" y="3867150"/>
            <a:ext cx="14097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700" b="1">
                <a:solidFill>
                  <a:srgbClr val="F4F7FA"/>
                </a:solidFill>
                <a:latin typeface="Roboto"/>
                <a:ea typeface="Roboto"/>
                <a:cs typeface="Roboto"/>
              </a:defRPr>
            </a:pPr>
            <a:r>
              <a:rPr sz="2700" b="1">
                <a:solidFill>
                  <a:srgbClr val="F4F7FA"/>
                </a:solidFill>
                <a:latin typeface="Roboto"/>
                <a:ea typeface="Roboto"/>
                <a:cs typeface="Roboto"/>
              </a:rPr>
              <a:t>8</a:t>
            </a:r>
          </a:p>
        </p:txBody>
      </p:sp>
      <p:sp>
        <p:nvSpPr>
          <p:cNvPr id="44" name="">
            <a:extLst xmlns:a="http://schemas.openxmlformats.org/drawingml/2006/main">
              <a:ext uri="{FF2B5EF4-FFF2-40B4-BE49-F238E27FC236}">
                <a16:creationId xmlns:a16="http://schemas.microsoft.com/office/drawing/2014/main" id="{CF0BCD54-C38A-40FD-BBA1-A68CD999085D}"/>
              </a:ext>
            </a:extLst>
          </p:cNvPr>
          <p:cNvSpPr>
            <a:spLocks xmlns:a="http://schemas.openxmlformats.org/drawingml/2006/main" noGrp="1"/>
          </p:cNvSpPr>
          <p:nvPr/>
        </p:nvSpPr>
        <p:spPr>
          <a:xfrm xmlns:a="http://schemas.openxmlformats.org/drawingml/2006/main">
            <a:off x="5314950" y="3800475"/>
            <a:ext cx="1638300" cy="64770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45" name="">
            <a:extLst xmlns:a="http://schemas.openxmlformats.org/drawingml/2006/main">
              <a:ext uri="{FF2B5EF4-FFF2-40B4-BE49-F238E27FC236}">
                <a16:creationId xmlns:a16="http://schemas.microsoft.com/office/drawing/2014/main" id="{8CF8DEB2-FD6C-4CFE-850B-36206F13E477}"/>
              </a:ext>
            </a:extLst>
          </p:cNvPr>
          <p:cNvSpPr>
            <a:spLocks xmlns:a="http://schemas.openxmlformats.org/drawingml/2006/main" noGrp="1"/>
          </p:cNvSpPr>
          <p:nvPr/>
        </p:nvSpPr>
        <p:spPr>
          <a:xfrm xmlns:a="http://schemas.openxmlformats.org/drawingml/2006/main">
            <a:off x="5429250" y="3867150"/>
            <a:ext cx="14097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700" b="1">
                <a:solidFill>
                  <a:srgbClr val="F4F7FA"/>
                </a:solidFill>
                <a:latin typeface="Roboto"/>
                <a:ea typeface="Roboto"/>
                <a:cs typeface="Roboto"/>
              </a:defRPr>
            </a:pPr>
            <a:r>
              <a:rPr sz="2700" b="1">
                <a:solidFill>
                  <a:srgbClr val="F4F7FA"/>
                </a:solidFill>
                <a:latin typeface="Roboto"/>
                <a:ea typeface="Roboto"/>
                <a:cs typeface="Roboto"/>
              </a:rPr>
              <a:t>8</a:t>
            </a:r>
          </a:p>
        </p:txBody>
      </p:sp>
      <p:sp>
        <p:nvSpPr>
          <p:cNvPr id="46" name="">
            <a:extLst xmlns:a="http://schemas.openxmlformats.org/drawingml/2006/main">
              <a:ext uri="{FF2B5EF4-FFF2-40B4-BE49-F238E27FC236}">
                <a16:creationId xmlns:a16="http://schemas.microsoft.com/office/drawing/2014/main" id="{363D1884-AAF4-4E4F-8CA0-6C3CDB2551A0}"/>
              </a:ext>
            </a:extLst>
          </p:cNvPr>
          <p:cNvSpPr>
            <a:spLocks xmlns:a="http://schemas.openxmlformats.org/drawingml/2006/main" noGrp="1"/>
          </p:cNvSpPr>
          <p:nvPr/>
        </p:nvSpPr>
        <p:spPr>
          <a:xfrm xmlns:a="http://schemas.openxmlformats.org/drawingml/2006/main">
            <a:off x="7391400" y="3800475"/>
            <a:ext cx="1638300" cy="64770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47" name="">
            <a:extLst xmlns:a="http://schemas.openxmlformats.org/drawingml/2006/main">
              <a:ext uri="{FF2B5EF4-FFF2-40B4-BE49-F238E27FC236}">
                <a16:creationId xmlns:a16="http://schemas.microsoft.com/office/drawing/2014/main" id="{D5104F99-5A02-414B-B059-5D2E280BCC31}"/>
              </a:ext>
            </a:extLst>
          </p:cNvPr>
          <p:cNvSpPr>
            <a:spLocks xmlns:a="http://schemas.openxmlformats.org/drawingml/2006/main" noGrp="1"/>
          </p:cNvSpPr>
          <p:nvPr/>
        </p:nvSpPr>
        <p:spPr>
          <a:xfrm xmlns:a="http://schemas.openxmlformats.org/drawingml/2006/main">
            <a:off x="7505700" y="3867150"/>
            <a:ext cx="14097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700" b="1">
                <a:solidFill>
                  <a:srgbClr val="F4F7FA"/>
                </a:solidFill>
                <a:latin typeface="Roboto"/>
                <a:ea typeface="Roboto"/>
                <a:cs typeface="Roboto"/>
              </a:defRPr>
            </a:pPr>
            <a:r>
              <a:rPr sz="2700" b="1">
                <a:solidFill>
                  <a:srgbClr val="F4F7FA"/>
                </a:solidFill>
                <a:latin typeface="Roboto"/>
                <a:ea typeface="Roboto"/>
                <a:cs typeface="Roboto"/>
              </a:rPr>
              <a:t>8</a:t>
            </a:r>
          </a:p>
        </p:txBody>
      </p:sp>
      <p:sp>
        <p:nvSpPr>
          <p:cNvPr id="48" name="">
            <a:extLst xmlns:a="http://schemas.openxmlformats.org/drawingml/2006/main">
              <a:ext uri="{FF2B5EF4-FFF2-40B4-BE49-F238E27FC236}">
                <a16:creationId xmlns:a16="http://schemas.microsoft.com/office/drawing/2014/main" id="{3115649C-F003-4AA3-BE4D-4629F0EA3AA2}"/>
              </a:ext>
            </a:extLst>
          </p:cNvPr>
          <p:cNvSpPr>
            <a:spLocks xmlns:a="http://schemas.openxmlformats.org/drawingml/2006/main" noGrp="1"/>
          </p:cNvSpPr>
          <p:nvPr/>
        </p:nvSpPr>
        <p:spPr>
          <a:xfrm xmlns:a="http://schemas.openxmlformats.org/drawingml/2006/main" flipH="0" flipV="0">
            <a:off x="4876800" y="4124325"/>
            <a:ext cx="43815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49" name="">
            <a:extLst xmlns:a="http://schemas.openxmlformats.org/drawingml/2006/main">
              <a:ext uri="{FF2B5EF4-FFF2-40B4-BE49-F238E27FC236}">
                <a16:creationId xmlns:a16="http://schemas.microsoft.com/office/drawing/2014/main" id="{EDF016C6-7B68-4D91-AED7-AFB83A86BFD3}"/>
              </a:ext>
            </a:extLst>
          </p:cNvPr>
          <p:cNvSpPr>
            <a:spLocks xmlns:a="http://schemas.openxmlformats.org/drawingml/2006/main" noGrp="1"/>
          </p:cNvSpPr>
          <p:nvPr/>
        </p:nvSpPr>
        <p:spPr>
          <a:xfrm xmlns:a="http://schemas.openxmlformats.org/drawingml/2006/main" flipH="0" flipV="0">
            <a:off x="6953250" y="4124325"/>
            <a:ext cx="43815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50" name="">
            <a:extLst xmlns:a="http://schemas.openxmlformats.org/drawingml/2006/main">
              <a:ext uri="{FF2B5EF4-FFF2-40B4-BE49-F238E27FC236}">
                <a16:creationId xmlns:a16="http://schemas.microsoft.com/office/drawing/2014/main" id="{0EA281F4-0971-4E85-8BF6-626A0BE73242}"/>
              </a:ext>
            </a:extLst>
          </p:cNvPr>
          <p:cNvSpPr>
            <a:spLocks xmlns:a="http://schemas.openxmlformats.org/drawingml/2006/main" noGrp="1"/>
          </p:cNvSpPr>
          <p:nvPr/>
        </p:nvSpPr>
        <p:spPr>
          <a:xfrm xmlns:a="http://schemas.openxmlformats.org/drawingml/2006/main">
            <a:off x="9582150" y="3829050"/>
            <a:ext cx="16954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925" b="1">
                <a:solidFill>
                  <a:srgbClr val="ADB8C5"/>
                </a:solidFill>
                <a:latin typeface="Roboto"/>
                <a:ea typeface="Roboto"/>
                <a:cs typeface="Roboto"/>
              </a:defRPr>
            </a:pPr>
            <a:r>
              <a:rPr sz="2925" b="1">
                <a:solidFill>
                  <a:srgbClr val="ADB8C5"/>
                </a:solidFill>
                <a:latin typeface="Roboto"/>
                <a:ea typeface="Roboto"/>
                <a:cs typeface="Roboto"/>
              </a:rPr>
              <a:t>0</a:t>
            </a:r>
          </a:p>
        </p:txBody>
      </p:sp>
      <p:sp>
        <p:nvSpPr>
          <p:cNvPr id="51" name="">
            <a:extLst xmlns:a="http://schemas.openxmlformats.org/drawingml/2006/main">
              <a:ext uri="{FF2B5EF4-FFF2-40B4-BE49-F238E27FC236}">
                <a16:creationId xmlns:a16="http://schemas.microsoft.com/office/drawing/2014/main" id="{F098773B-2A8F-4DBE-A437-21010B139FFE}"/>
              </a:ext>
            </a:extLst>
          </p:cNvPr>
          <p:cNvSpPr>
            <a:spLocks xmlns:a="http://schemas.openxmlformats.org/drawingml/2006/main" noGrp="1"/>
          </p:cNvSpPr>
          <p:nvPr/>
        </p:nvSpPr>
        <p:spPr>
          <a:xfrm xmlns:a="http://schemas.openxmlformats.org/drawingml/2006/main">
            <a:off x="9582150" y="4286250"/>
            <a:ext cx="1695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ADB8C5"/>
                </a:solidFill>
                <a:latin typeface="Roboto"/>
                <a:ea typeface="Roboto"/>
                <a:cs typeface="Roboto"/>
              </a:defRPr>
            </a:pPr>
            <a:r>
              <a:rPr sz="1275" b="0">
                <a:solidFill>
                  <a:srgbClr val="ADB8C5"/>
                </a:solidFill>
                <a:latin typeface="Roboto"/>
                <a:ea typeface="Roboto"/>
                <a:cs typeface="Roboto"/>
              </a:rPr>
              <a:t>no accumulation</a:t>
            </a:r>
          </a:p>
        </p:txBody>
      </p:sp>
      <p:sp>
        <p:nvSpPr>
          <p:cNvPr id="52" name="">
            <a:extLst xmlns:a="http://schemas.openxmlformats.org/drawingml/2006/main">
              <a:ext uri="{FF2B5EF4-FFF2-40B4-BE49-F238E27FC236}">
                <a16:creationId xmlns:a16="http://schemas.microsoft.com/office/drawing/2014/main" id="{972491A8-871C-4AF6-A93D-5622916B94C8}"/>
              </a:ext>
            </a:extLst>
          </p:cNvPr>
          <p:cNvSpPr>
            <a:spLocks xmlns:a="http://schemas.openxmlformats.org/drawingml/2006/main" noGrp="1"/>
          </p:cNvSpPr>
          <p:nvPr/>
        </p:nvSpPr>
        <p:spPr>
          <a:xfrm xmlns:a="http://schemas.openxmlformats.org/drawingml/2006/main">
            <a:off x="914400" y="4819650"/>
            <a:ext cx="2095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28C7F7"/>
                </a:solidFill>
                <a:latin typeface="Roboto"/>
                <a:ea typeface="Roboto"/>
                <a:cs typeface="Roboto"/>
              </a:defRPr>
            </a:pPr>
            <a:r>
              <a:rPr sz="1650" b="1">
                <a:solidFill>
                  <a:srgbClr val="28C7F7"/>
                </a:solidFill>
                <a:latin typeface="Roboto"/>
                <a:ea typeface="Roboto"/>
                <a:cs typeface="Roboto"/>
              </a:rPr>
              <a:t>AFTER AI</a:t>
            </a:r>
          </a:p>
        </p:txBody>
      </p:sp>
      <p:sp>
        <p:nvSpPr>
          <p:cNvPr id="53" name="">
            <a:extLst xmlns:a="http://schemas.openxmlformats.org/drawingml/2006/main">
              <a:ext uri="{FF2B5EF4-FFF2-40B4-BE49-F238E27FC236}">
                <a16:creationId xmlns:a16="http://schemas.microsoft.com/office/drawing/2014/main" id="{BAE7144D-5783-4BD5-A069-D3676069FC3B}"/>
              </a:ext>
            </a:extLst>
          </p:cNvPr>
          <p:cNvSpPr>
            <a:spLocks xmlns:a="http://schemas.openxmlformats.org/drawingml/2006/main" noGrp="1"/>
          </p:cNvSpPr>
          <p:nvPr/>
        </p:nvSpPr>
        <p:spPr>
          <a:xfrm xmlns:a="http://schemas.openxmlformats.org/drawingml/2006/main">
            <a:off x="914400" y="5143500"/>
            <a:ext cx="2095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Roboto"/>
                <a:ea typeface="Roboto"/>
                <a:cs typeface="Roboto"/>
              </a:defRPr>
            </a:pPr>
            <a:r>
              <a:rPr sz="1350" b="0">
                <a:solidFill>
                  <a:srgbClr val="ADB8C5"/>
                </a:solidFill>
                <a:latin typeface="Roboto"/>
                <a:ea typeface="Roboto"/>
                <a:cs typeface="Roboto"/>
              </a:rPr>
              <a:t>Other stages have</a:t>
            </a:r>
          </a:p>
          <a:p xmlns:a="http://schemas.openxmlformats.org/drawingml/2006/main">
            <a:pPr algn="l">
              <a:defRPr sz="1350" b="0">
                <a:solidFill>
                  <a:srgbClr val="ADB8C5"/>
                </a:solidFill>
                <a:latin typeface="Roboto"/>
                <a:ea typeface="Roboto"/>
                <a:cs typeface="Roboto"/>
              </a:defRPr>
            </a:pPr>
            <a:r>
              <a:rPr sz="1350" b="0">
                <a:solidFill>
                  <a:srgbClr val="ADB8C5"/>
                </a:solidFill>
                <a:latin typeface="Roboto"/>
                <a:ea typeface="Roboto"/>
                <a:cs typeface="Roboto"/>
              </a:rPr>
              <a:t>not sped up</a:t>
            </a:r>
          </a:p>
        </p:txBody>
      </p:sp>
      <p:sp>
        <p:nvSpPr>
          <p:cNvPr id="54" name="">
            <a:extLst xmlns:a="http://schemas.openxmlformats.org/drawingml/2006/main">
              <a:ext uri="{FF2B5EF4-FFF2-40B4-BE49-F238E27FC236}">
                <a16:creationId xmlns:a16="http://schemas.microsoft.com/office/drawing/2014/main" id="{C8EF5781-2A93-4D9F-8BBB-7A4225D0F10C}"/>
              </a:ext>
            </a:extLst>
          </p:cNvPr>
          <p:cNvSpPr>
            <a:spLocks xmlns:a="http://schemas.openxmlformats.org/drawingml/2006/main" noGrp="1"/>
          </p:cNvSpPr>
          <p:nvPr/>
        </p:nvSpPr>
        <p:spPr>
          <a:xfrm xmlns:a="http://schemas.openxmlformats.org/drawingml/2006/main">
            <a:off x="3238500" y="4791075"/>
            <a:ext cx="1638300" cy="64770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55" name="">
            <a:extLst xmlns:a="http://schemas.openxmlformats.org/drawingml/2006/main">
              <a:ext uri="{FF2B5EF4-FFF2-40B4-BE49-F238E27FC236}">
                <a16:creationId xmlns:a16="http://schemas.microsoft.com/office/drawing/2014/main" id="{E516D663-FED7-4CE7-A9CF-3587BCC02C2F}"/>
              </a:ext>
            </a:extLst>
          </p:cNvPr>
          <p:cNvSpPr>
            <a:spLocks xmlns:a="http://schemas.openxmlformats.org/drawingml/2006/main" noGrp="1"/>
          </p:cNvSpPr>
          <p:nvPr/>
        </p:nvSpPr>
        <p:spPr>
          <a:xfrm xmlns:a="http://schemas.openxmlformats.org/drawingml/2006/main">
            <a:off x="3352800" y="4857750"/>
            <a:ext cx="14097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700" b="1">
                <a:solidFill>
                  <a:srgbClr val="28C7F7"/>
                </a:solidFill>
                <a:latin typeface="Roboto"/>
                <a:ea typeface="Roboto"/>
                <a:cs typeface="Roboto"/>
              </a:defRPr>
            </a:pPr>
            <a:r>
              <a:rPr sz="2700" b="1">
                <a:solidFill>
                  <a:srgbClr val="28C7F7"/>
                </a:solidFill>
                <a:latin typeface="Roboto"/>
                <a:ea typeface="Roboto"/>
                <a:cs typeface="Roboto"/>
              </a:rPr>
              <a:t>100</a:t>
            </a:r>
          </a:p>
        </p:txBody>
      </p:sp>
      <p:sp>
        <p:nvSpPr>
          <p:cNvPr id="56" name="">
            <a:extLst xmlns:a="http://schemas.openxmlformats.org/drawingml/2006/main">
              <a:ext uri="{FF2B5EF4-FFF2-40B4-BE49-F238E27FC236}">
                <a16:creationId xmlns:a16="http://schemas.microsoft.com/office/drawing/2014/main" id="{F207F64F-DC93-469F-9B9C-4F8122EC7AB2}"/>
              </a:ext>
            </a:extLst>
          </p:cNvPr>
          <p:cNvSpPr>
            <a:spLocks xmlns:a="http://schemas.openxmlformats.org/drawingml/2006/main" noGrp="1"/>
          </p:cNvSpPr>
          <p:nvPr/>
        </p:nvSpPr>
        <p:spPr>
          <a:xfrm xmlns:a="http://schemas.openxmlformats.org/drawingml/2006/main">
            <a:off x="5314950" y="4791075"/>
            <a:ext cx="1638300" cy="647700"/>
          </a:xfrm>
          <a:prstGeom xmlns:a="http://schemas.openxmlformats.org/drawingml/2006/main" prst="rect">
            <a:avLst/>
          </a:prstGeom>
          <a:solidFill xmlns:a="http://schemas.openxmlformats.org/drawingml/2006/main">
            <a:srgbClr val="141C26"/>
          </a:solidFill>
          <a:ln xmlns:a="http://schemas.openxmlformats.org/drawingml/2006/main" w="14288">
            <a:solidFill>
              <a:srgbClr val="F5B61C"/>
            </a:solidFill>
            <a:prstDash val="solid"/>
          </a:ln>
        </p:spPr>
      </p:sp>
      <p:sp>
        <p:nvSpPr>
          <p:cNvPr id="57" name="">
            <a:extLst xmlns:a="http://schemas.openxmlformats.org/drawingml/2006/main">
              <a:ext uri="{FF2B5EF4-FFF2-40B4-BE49-F238E27FC236}">
                <a16:creationId xmlns:a16="http://schemas.microsoft.com/office/drawing/2014/main" id="{3D3310FC-A125-4360-9E9D-29878DE68929}"/>
              </a:ext>
            </a:extLst>
          </p:cNvPr>
          <p:cNvSpPr>
            <a:spLocks xmlns:a="http://schemas.openxmlformats.org/drawingml/2006/main" noGrp="1"/>
          </p:cNvSpPr>
          <p:nvPr/>
        </p:nvSpPr>
        <p:spPr>
          <a:xfrm xmlns:a="http://schemas.openxmlformats.org/drawingml/2006/main">
            <a:off x="5429250" y="4857750"/>
            <a:ext cx="14097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700" b="1">
                <a:solidFill>
                  <a:srgbClr val="F4F7FA"/>
                </a:solidFill>
                <a:latin typeface="Roboto"/>
                <a:ea typeface="Roboto"/>
                <a:cs typeface="Roboto"/>
              </a:defRPr>
            </a:pPr>
            <a:r>
              <a:rPr sz="2700" b="1">
                <a:solidFill>
                  <a:srgbClr val="F4F7FA"/>
                </a:solidFill>
                <a:latin typeface="Roboto"/>
                <a:ea typeface="Roboto"/>
                <a:cs typeface="Roboto"/>
              </a:rPr>
              <a:t>8</a:t>
            </a:r>
          </a:p>
        </p:txBody>
      </p:sp>
      <p:sp>
        <p:nvSpPr>
          <p:cNvPr id="58" name="">
            <a:extLst xmlns:a="http://schemas.openxmlformats.org/drawingml/2006/main">
              <a:ext uri="{FF2B5EF4-FFF2-40B4-BE49-F238E27FC236}">
                <a16:creationId xmlns:a16="http://schemas.microsoft.com/office/drawing/2014/main" id="{73A2E716-2882-4404-B350-2D73C2D9AD81}"/>
              </a:ext>
            </a:extLst>
          </p:cNvPr>
          <p:cNvSpPr>
            <a:spLocks xmlns:a="http://schemas.openxmlformats.org/drawingml/2006/main" noGrp="1"/>
          </p:cNvSpPr>
          <p:nvPr/>
        </p:nvSpPr>
        <p:spPr>
          <a:xfrm xmlns:a="http://schemas.openxmlformats.org/drawingml/2006/main">
            <a:off x="7391400" y="4791075"/>
            <a:ext cx="1638300" cy="647700"/>
          </a:xfrm>
          <a:prstGeom xmlns:a="http://schemas.openxmlformats.org/drawingml/2006/main" prst="rect">
            <a:avLst/>
          </a:prstGeom>
          <a:solidFill xmlns:a="http://schemas.openxmlformats.org/drawingml/2006/main">
            <a:srgbClr val="141C26"/>
          </a:solidFill>
          <a:ln xmlns:a="http://schemas.openxmlformats.org/drawingml/2006/main" w="14288">
            <a:solidFill>
              <a:srgbClr val="F5B61C"/>
            </a:solidFill>
            <a:prstDash val="solid"/>
          </a:ln>
        </p:spPr>
      </p:sp>
      <p:sp>
        <p:nvSpPr>
          <p:cNvPr id="59" name="">
            <a:extLst xmlns:a="http://schemas.openxmlformats.org/drawingml/2006/main">
              <a:ext uri="{FF2B5EF4-FFF2-40B4-BE49-F238E27FC236}">
                <a16:creationId xmlns:a16="http://schemas.microsoft.com/office/drawing/2014/main" id="{8BD81F3E-72E9-4ACF-9BDC-146D0FBDDFD6}"/>
              </a:ext>
            </a:extLst>
          </p:cNvPr>
          <p:cNvSpPr>
            <a:spLocks xmlns:a="http://schemas.openxmlformats.org/drawingml/2006/main" noGrp="1"/>
          </p:cNvSpPr>
          <p:nvPr/>
        </p:nvSpPr>
        <p:spPr>
          <a:xfrm xmlns:a="http://schemas.openxmlformats.org/drawingml/2006/main">
            <a:off x="7505700" y="4857750"/>
            <a:ext cx="14097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700" b="1">
                <a:solidFill>
                  <a:srgbClr val="F4F7FA"/>
                </a:solidFill>
                <a:latin typeface="Roboto"/>
                <a:ea typeface="Roboto"/>
                <a:cs typeface="Roboto"/>
              </a:defRPr>
            </a:pPr>
            <a:r>
              <a:rPr sz="2700" b="1">
                <a:solidFill>
                  <a:srgbClr val="F4F7FA"/>
                </a:solidFill>
                <a:latin typeface="Roboto"/>
                <a:ea typeface="Roboto"/>
                <a:cs typeface="Roboto"/>
              </a:rPr>
              <a:t>8</a:t>
            </a:r>
          </a:p>
        </p:txBody>
      </p:sp>
      <p:sp>
        <p:nvSpPr>
          <p:cNvPr id="60" name="">
            <a:extLst xmlns:a="http://schemas.openxmlformats.org/drawingml/2006/main">
              <a:ext uri="{FF2B5EF4-FFF2-40B4-BE49-F238E27FC236}">
                <a16:creationId xmlns:a16="http://schemas.microsoft.com/office/drawing/2014/main" id="{95008470-0E75-4D2F-9E63-A7EBBE188924}"/>
              </a:ext>
            </a:extLst>
          </p:cNvPr>
          <p:cNvSpPr>
            <a:spLocks xmlns:a="http://schemas.openxmlformats.org/drawingml/2006/main" noGrp="1"/>
          </p:cNvSpPr>
          <p:nvPr/>
        </p:nvSpPr>
        <p:spPr>
          <a:xfrm xmlns:a="http://schemas.openxmlformats.org/drawingml/2006/main" flipH="0" flipV="0">
            <a:off x="4876800" y="5114925"/>
            <a:ext cx="43815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61" name="">
            <a:extLst xmlns:a="http://schemas.openxmlformats.org/drawingml/2006/main">
              <a:ext uri="{FF2B5EF4-FFF2-40B4-BE49-F238E27FC236}">
                <a16:creationId xmlns:a16="http://schemas.microsoft.com/office/drawing/2014/main" id="{C908FB41-3687-4D13-9C93-453877464BDC}"/>
              </a:ext>
            </a:extLst>
          </p:cNvPr>
          <p:cNvSpPr>
            <a:spLocks xmlns:a="http://schemas.openxmlformats.org/drawingml/2006/main" noGrp="1"/>
          </p:cNvSpPr>
          <p:nvPr/>
        </p:nvSpPr>
        <p:spPr>
          <a:xfrm xmlns:a="http://schemas.openxmlformats.org/drawingml/2006/main" flipH="0" flipV="0">
            <a:off x="6953250" y="5114925"/>
            <a:ext cx="43815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62" name="">
            <a:extLst xmlns:a="http://schemas.openxmlformats.org/drawingml/2006/main">
              <a:ext uri="{FF2B5EF4-FFF2-40B4-BE49-F238E27FC236}">
                <a16:creationId xmlns:a16="http://schemas.microsoft.com/office/drawing/2014/main" id="{C21D9C85-91CD-48EE-90C2-4E3827E2ABC6}"/>
              </a:ext>
            </a:extLst>
          </p:cNvPr>
          <p:cNvSpPr>
            <a:spLocks xmlns:a="http://schemas.openxmlformats.org/drawingml/2006/main" noGrp="1"/>
          </p:cNvSpPr>
          <p:nvPr/>
        </p:nvSpPr>
        <p:spPr>
          <a:xfrm xmlns:a="http://schemas.openxmlformats.org/drawingml/2006/main">
            <a:off x="9582150" y="4819650"/>
            <a:ext cx="16954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925" b="1">
                <a:solidFill>
                  <a:srgbClr val="F5B61C"/>
                </a:solidFill>
                <a:latin typeface="Roboto"/>
                <a:ea typeface="Roboto"/>
                <a:cs typeface="Roboto"/>
              </a:defRPr>
            </a:pPr>
            <a:r>
              <a:rPr sz="2925" b="1">
                <a:solidFill>
                  <a:srgbClr val="F5B61C"/>
                </a:solidFill>
                <a:latin typeface="Roboto"/>
                <a:ea typeface="Roboto"/>
                <a:cs typeface="Roboto"/>
              </a:rPr>
              <a:t>+92</a:t>
            </a:r>
          </a:p>
        </p:txBody>
      </p:sp>
      <p:sp>
        <p:nvSpPr>
          <p:cNvPr id="63" name="">
            <a:extLst xmlns:a="http://schemas.openxmlformats.org/drawingml/2006/main">
              <a:ext uri="{FF2B5EF4-FFF2-40B4-BE49-F238E27FC236}">
                <a16:creationId xmlns:a16="http://schemas.microsoft.com/office/drawing/2014/main" id="{61371758-006F-4258-9E30-917FD6D79236}"/>
              </a:ext>
            </a:extLst>
          </p:cNvPr>
          <p:cNvSpPr>
            <a:spLocks xmlns:a="http://schemas.openxmlformats.org/drawingml/2006/main" noGrp="1"/>
          </p:cNvSpPr>
          <p:nvPr/>
        </p:nvSpPr>
        <p:spPr>
          <a:xfrm xmlns:a="http://schemas.openxmlformats.org/drawingml/2006/main">
            <a:off x="9582150" y="5276850"/>
            <a:ext cx="1695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ADB8C5"/>
                </a:solidFill>
                <a:latin typeface="Roboto"/>
                <a:ea typeface="Roboto"/>
                <a:cs typeface="Roboto"/>
              </a:defRPr>
            </a:pPr>
            <a:r>
              <a:rPr sz="1275" b="0">
                <a:solidFill>
                  <a:srgbClr val="ADB8C5"/>
                </a:solidFill>
                <a:latin typeface="Roboto"/>
                <a:ea typeface="Roboto"/>
                <a:cs typeface="Roboto"/>
              </a:rPr>
              <a:t>unfinished / week</a:t>
            </a:r>
          </a:p>
        </p:txBody>
      </p:sp>
      <p:sp>
        <p:nvSpPr>
          <p:cNvPr id="64" name="">
            <a:extLst xmlns:a="http://schemas.openxmlformats.org/drawingml/2006/main">
              <a:ext uri="{FF2B5EF4-FFF2-40B4-BE49-F238E27FC236}">
                <a16:creationId xmlns:a16="http://schemas.microsoft.com/office/drawing/2014/main" id="{F0102B12-7173-40EF-93AA-5394E7434879}"/>
              </a:ext>
            </a:extLst>
          </p:cNvPr>
          <p:cNvSpPr>
            <a:spLocks xmlns:a="http://schemas.openxmlformats.org/drawingml/2006/main" noGrp="1"/>
          </p:cNvSpPr>
          <p:nvPr/>
        </p:nvSpPr>
        <p:spPr>
          <a:xfrm xmlns:a="http://schemas.openxmlformats.org/drawingml/2006/main" flipH="0" flipV="0">
            <a:off x="914400" y="5705475"/>
            <a:ext cx="103632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65" name="">
            <a:extLst xmlns:a="http://schemas.openxmlformats.org/drawingml/2006/main">
              <a:ext uri="{FF2B5EF4-FFF2-40B4-BE49-F238E27FC236}">
                <a16:creationId xmlns:a16="http://schemas.microsoft.com/office/drawing/2014/main" id="{BD095414-FB88-421A-ABA3-BD6B9765A1BA}"/>
              </a:ext>
            </a:extLst>
          </p:cNvPr>
          <p:cNvSpPr>
            <a:spLocks xmlns:a="http://schemas.openxmlformats.org/drawingml/2006/main" noGrp="1"/>
          </p:cNvSpPr>
          <p:nvPr/>
        </p:nvSpPr>
        <p:spPr>
          <a:xfrm xmlns:a="http://schemas.openxmlformats.org/drawingml/2006/main">
            <a:off x="914400" y="5829300"/>
            <a:ext cx="509587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1">
                <a:solidFill>
                  <a:srgbClr val="28C7F7"/>
                </a:solidFill>
                <a:latin typeface="Roboto"/>
                <a:ea typeface="Roboto"/>
                <a:cs typeface="Roboto"/>
              </a:defRPr>
            </a:pPr>
            <a:r>
              <a:rPr sz="1500" b="1">
                <a:solidFill>
                  <a:srgbClr val="28C7F7"/>
                </a:solidFill>
                <a:latin typeface="Roboto"/>
                <a:ea typeface="Roboto"/>
                <a:cs typeface="Roboto"/>
              </a:rPr>
              <a:t>THEORY OF CONSTRAINTS</a:t>
            </a:r>
          </a:p>
        </p:txBody>
      </p:sp>
      <p:sp>
        <p:nvSpPr>
          <p:cNvPr id="66" name="">
            <a:extLst xmlns:a="http://schemas.openxmlformats.org/drawingml/2006/main">
              <a:ext uri="{FF2B5EF4-FFF2-40B4-BE49-F238E27FC236}">
                <a16:creationId xmlns:a16="http://schemas.microsoft.com/office/drawing/2014/main" id="{B1877D3E-4F04-4F7B-B3D0-A7B41C126CD0}"/>
              </a:ext>
            </a:extLst>
          </p:cNvPr>
          <p:cNvSpPr>
            <a:spLocks xmlns:a="http://schemas.openxmlformats.org/drawingml/2006/main" noGrp="1"/>
          </p:cNvSpPr>
          <p:nvPr/>
        </p:nvSpPr>
        <p:spPr>
          <a:xfrm xmlns:a="http://schemas.openxmlformats.org/drawingml/2006/main">
            <a:off x="914400" y="6143625"/>
            <a:ext cx="10363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1">
                <a:solidFill>
                  <a:srgbClr val="F4F7FA"/>
                </a:solidFill>
                <a:latin typeface="Roboto"/>
                <a:ea typeface="Roboto"/>
                <a:cs typeface="Roboto"/>
              </a:defRPr>
            </a:pPr>
            <a:r>
              <a:rPr sz="1875" b="1">
                <a:solidFill>
                  <a:srgbClr val="F4F7FA"/>
                </a:solidFill>
                <a:latin typeface="Roboto"/>
                <a:ea typeface="Roboto"/>
                <a:cs typeface="Roboto"/>
              </a:rPr>
              <a:t>Delivery stays at 8/week. WIP grows; overload can reduce quality.</a:t>
            </a:r>
          </a:p>
        </p:txBody>
      </p:sp>
      <p:sp>
        <p:nvSpPr>
          <p:cNvPr id="67" name="">
            <a:extLst xmlns:a="http://schemas.openxmlformats.org/drawingml/2006/main">
              <a:ext uri="{FF2B5EF4-FFF2-40B4-BE49-F238E27FC236}">
                <a16:creationId xmlns:a16="http://schemas.microsoft.com/office/drawing/2014/main" id="{BB2486B4-237B-47B1-8FBF-68A73B5E1B0B}"/>
              </a:ext>
            </a:extLst>
          </p:cNvPr>
          <p:cNvSpPr>
            <a:spLocks xmlns:a="http://schemas.openxmlformats.org/drawingml/2006/main" noGrp="1"/>
          </p:cNvSpPr>
          <p:nvPr/>
        </p:nvSpPr>
        <p:spPr>
          <a:xfrm xmlns:a="http://schemas.openxmlformats.org/drawingml/2006/main">
            <a:off x="6381750" y="5829300"/>
            <a:ext cx="4895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350" b="0">
                <a:solidFill>
                  <a:srgbClr val="ADB8C5"/>
                </a:solidFill>
                <a:latin typeface="Roboto"/>
                <a:ea typeface="Roboto"/>
                <a:cs typeface="Roboto"/>
              </a:defRPr>
            </a:pPr>
            <a:r>
              <a:rPr sz="1350" b="0">
                <a:solidFill>
                  <a:srgbClr val="ADB8C5"/>
                </a:solidFill>
                <a:latin typeface="Roboto"/>
                <a:ea typeface="Roboto"/>
                <a:cs typeface="Roboto"/>
              </a:rPr>
              <a:t>Push system: no WIP limit, no discarded work.</a:t>
            </a:r>
          </a:p>
        </p:txBody>
      </p:sp>
    </p:spTree>
    <p:extLst>
      <p:ext uri="{BB962C8B-B14F-4D97-AF65-F5344CB8AC3E}">
        <p14:creationId xmlns:p14="http://schemas.microsoft.com/office/powerpoint/2010/main" val="452622132"/>
      </p:ext>
    </p:extLst>
  </p:cSld>
</p:sld>
</file>

<file path=ppt/slides/slide4.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45" name="">
            <a:extLst xmlns:a="http://schemas.openxmlformats.org/drawingml/2006/main">
              <a:ext uri="{FF2B5EF4-FFF2-40B4-BE49-F238E27FC236}">
                <a16:creationId xmlns:a16="http://schemas.microsoft.com/office/drawing/2014/main" id="{EAA77B05-EF30-49B5-AFD9-E5BC1255AD4E}"/>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Roboto"/>
                <a:ea typeface="Roboto"/>
                <a:cs typeface="Roboto"/>
              </a:defRPr>
            </a:pPr>
            <a:r>
              <a:rPr sz="3000" b="1">
                <a:solidFill>
                  <a:srgbClr val="F4F7FA"/>
                </a:solidFill>
                <a:latin typeface="Roboto"/>
                <a:ea typeface="Roboto"/>
                <a:cs typeface="Roboto"/>
              </a:rPr>
              <a:t>The Evidence Is Already Messy</a:t>
            </a:r>
          </a:p>
        </p:txBody>
      </p:sp>
      <p:sp>
        <p:nvSpPr>
          <p:cNvPr id="2" name="">
            <a:extLst xmlns:a="http://schemas.openxmlformats.org/drawingml/2006/main">
              <a:ext uri="{FF2B5EF4-FFF2-40B4-BE49-F238E27FC236}">
                <a16:creationId xmlns:a16="http://schemas.microsoft.com/office/drawing/2014/main" id="{253711B7-A715-48E3-AB11-5F01BADB9325}"/>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876B587B-16AA-4682-8A8A-32EFF3867B17}"/>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Roboto"/>
                <a:ea typeface="Roboto"/>
                <a:cs typeface="Roboto"/>
              </a:defRPr>
            </a:pPr>
            <a:r>
              <a:rPr sz="1200" b="0">
                <a:solidFill>
                  <a:srgbClr val="ADB8C5"/>
                </a:solidFill>
                <a:latin typeface="Roboto"/>
                <a:ea typeface="Roboto"/>
                <a:cs typeface="Roboto"/>
              </a:rPr>
              <a:t>04</a:t>
            </a:r>
          </a:p>
        </p:txBody>
      </p:sp>
      <p:sp>
        <p:nvSpPr>
          <p:cNvPr id="4" name="">
            <a:extLst xmlns:a="http://schemas.openxmlformats.org/drawingml/2006/main">
              <a:ext uri="{FF2B5EF4-FFF2-40B4-BE49-F238E27FC236}">
                <a16:creationId xmlns:a16="http://schemas.microsoft.com/office/drawing/2014/main" id="{80981DCF-13B1-4F27-9E96-19B5A33CD741}"/>
              </a:ext>
            </a:extLst>
          </p:cNvPr>
          <p:cNvSpPr>
            <a:spLocks xmlns:a="http://schemas.openxmlformats.org/drawingml/2006/main" noGrp="1"/>
          </p:cNvSpPr>
          <p:nvPr/>
        </p:nvSpPr>
        <p:spPr>
          <a:xfrm xmlns:a="http://schemas.openxmlformats.org/drawingml/2006/main" flipH="0" flipV="0">
            <a:off x="5553075" y="1847850"/>
            <a:ext cx="0" cy="394335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5" name="">
            <a:extLst xmlns:a="http://schemas.openxmlformats.org/drawingml/2006/main">
              <a:ext uri="{FF2B5EF4-FFF2-40B4-BE49-F238E27FC236}">
                <a16:creationId xmlns:a16="http://schemas.microsoft.com/office/drawing/2014/main" id="{F15C2EC7-AE27-4D2A-B4E1-09511A967318}"/>
              </a:ext>
            </a:extLst>
          </p:cNvPr>
          <p:cNvSpPr>
            <a:spLocks xmlns:a="http://schemas.openxmlformats.org/drawingml/2006/main" noGrp="1"/>
          </p:cNvSpPr>
          <p:nvPr/>
        </p:nvSpPr>
        <p:spPr>
          <a:xfrm xmlns:a="http://schemas.openxmlformats.org/drawingml/2006/main">
            <a:off x="609600" y="1857375"/>
            <a:ext cx="476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28C7F7"/>
                </a:solidFill>
                <a:latin typeface="Roboto"/>
                <a:ea typeface="Roboto"/>
                <a:cs typeface="Roboto"/>
              </a:defRPr>
            </a:pPr>
            <a:r>
              <a:rPr sz="1650" b="1">
                <a:solidFill>
                  <a:srgbClr val="28C7F7"/>
                </a:solidFill>
                <a:latin typeface="Roboto"/>
                <a:ea typeface="Roboto"/>
                <a:cs typeface="Roboto"/>
              </a:rPr>
              <a:t>NBER · SEP 2026 REVISION</a:t>
            </a:r>
          </a:p>
        </p:txBody>
      </p:sp>
      <p:sp>
        <p:nvSpPr>
          <p:cNvPr id="6" name="">
            <a:extLst xmlns:a="http://schemas.openxmlformats.org/drawingml/2006/main">
              <a:ext uri="{FF2B5EF4-FFF2-40B4-BE49-F238E27FC236}">
                <a16:creationId xmlns:a16="http://schemas.microsoft.com/office/drawing/2014/main" id="{92C2BCF8-3ECE-453D-BCAD-E1A1296CCAC4}"/>
              </a:ext>
            </a:extLst>
          </p:cNvPr>
          <p:cNvSpPr>
            <a:spLocks xmlns:a="http://schemas.openxmlformats.org/drawingml/2006/main" noGrp="1"/>
          </p:cNvSpPr>
          <p:nvPr/>
        </p:nvSpPr>
        <p:spPr>
          <a:xfrm xmlns:a="http://schemas.openxmlformats.org/drawingml/2006/main">
            <a:off x="609600" y="2343150"/>
            <a:ext cx="14954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225" b="1">
                <a:solidFill>
                  <a:srgbClr val="F4F7FA"/>
                </a:solidFill>
                <a:latin typeface="Roboto"/>
                <a:ea typeface="Roboto"/>
                <a:cs typeface="Roboto"/>
              </a:defRPr>
            </a:pPr>
            <a:r>
              <a:rPr sz="3225" b="1">
                <a:solidFill>
                  <a:srgbClr val="F4F7FA"/>
                </a:solidFill>
                <a:latin typeface="Roboto"/>
                <a:ea typeface="Roboto"/>
                <a:cs typeface="Roboto"/>
              </a:rPr>
              <a:t>25.5×</a:t>
            </a:r>
          </a:p>
        </p:txBody>
      </p:sp>
      <p:sp>
        <p:nvSpPr>
          <p:cNvPr id="7" name="">
            <a:extLst xmlns:a="http://schemas.openxmlformats.org/drawingml/2006/main">
              <a:ext uri="{FF2B5EF4-FFF2-40B4-BE49-F238E27FC236}">
                <a16:creationId xmlns:a16="http://schemas.microsoft.com/office/drawing/2014/main" id="{A299D1C5-1EB5-442B-AB48-047DFE0D2858}"/>
              </a:ext>
            </a:extLst>
          </p:cNvPr>
          <p:cNvSpPr>
            <a:spLocks xmlns:a="http://schemas.openxmlformats.org/drawingml/2006/main" noGrp="1"/>
          </p:cNvSpPr>
          <p:nvPr/>
        </p:nvSpPr>
        <p:spPr>
          <a:xfrm xmlns:a="http://schemas.openxmlformats.org/drawingml/2006/main">
            <a:off x="609600" y="2924175"/>
            <a:ext cx="14954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ADB8C5"/>
                </a:solidFill>
                <a:latin typeface="Roboto"/>
                <a:ea typeface="Roboto"/>
                <a:cs typeface="Roboto"/>
              </a:defRPr>
            </a:pPr>
            <a:r>
              <a:rPr sz="1575" b="0">
                <a:solidFill>
                  <a:srgbClr val="ADB8C5"/>
                </a:solidFill>
                <a:latin typeface="Roboto"/>
                <a:ea typeface="Roboto"/>
                <a:cs typeface="Roboto"/>
              </a:rPr>
              <a:t>changed LOC</a:t>
            </a:r>
          </a:p>
        </p:txBody>
      </p:sp>
      <p:sp>
        <p:nvSpPr>
          <p:cNvPr id="8" name="">
            <a:extLst xmlns:a="http://schemas.openxmlformats.org/drawingml/2006/main">
              <a:ext uri="{FF2B5EF4-FFF2-40B4-BE49-F238E27FC236}">
                <a16:creationId xmlns:a16="http://schemas.microsoft.com/office/drawing/2014/main" id="{1899DD66-490D-4928-A16F-8A44F0CB72AE}"/>
              </a:ext>
            </a:extLst>
          </p:cNvPr>
          <p:cNvSpPr>
            <a:spLocks xmlns:a="http://schemas.openxmlformats.org/drawingml/2006/main" noGrp="1"/>
          </p:cNvSpPr>
          <p:nvPr/>
        </p:nvSpPr>
        <p:spPr>
          <a:xfrm xmlns:a="http://schemas.openxmlformats.org/drawingml/2006/main">
            <a:off x="2219325" y="2343150"/>
            <a:ext cx="14954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225" b="1">
                <a:solidFill>
                  <a:srgbClr val="F4F7FA"/>
                </a:solidFill>
                <a:latin typeface="Roboto"/>
                <a:ea typeface="Roboto"/>
                <a:cs typeface="Roboto"/>
              </a:defRPr>
            </a:pPr>
            <a:r>
              <a:rPr sz="3225" b="1">
                <a:solidFill>
                  <a:srgbClr val="F4F7FA"/>
                </a:solidFill>
                <a:latin typeface="Roboto"/>
                <a:ea typeface="Roboto"/>
                <a:cs typeface="Roboto"/>
              </a:rPr>
              <a:t>3.4×</a:t>
            </a:r>
          </a:p>
        </p:txBody>
      </p:sp>
      <p:sp>
        <p:nvSpPr>
          <p:cNvPr id="9" name="">
            <a:extLst xmlns:a="http://schemas.openxmlformats.org/drawingml/2006/main">
              <a:ext uri="{FF2B5EF4-FFF2-40B4-BE49-F238E27FC236}">
                <a16:creationId xmlns:a16="http://schemas.microsoft.com/office/drawing/2014/main" id="{CACE77FC-B22A-488D-99B6-329468000F71}"/>
              </a:ext>
            </a:extLst>
          </p:cNvPr>
          <p:cNvSpPr>
            <a:spLocks xmlns:a="http://schemas.openxmlformats.org/drawingml/2006/main" noGrp="1"/>
          </p:cNvSpPr>
          <p:nvPr/>
        </p:nvSpPr>
        <p:spPr>
          <a:xfrm xmlns:a="http://schemas.openxmlformats.org/drawingml/2006/main">
            <a:off x="2219325" y="2924175"/>
            <a:ext cx="14954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ADB8C5"/>
                </a:solidFill>
                <a:latin typeface="Roboto"/>
                <a:ea typeface="Roboto"/>
                <a:cs typeface="Roboto"/>
              </a:defRPr>
            </a:pPr>
            <a:r>
              <a:rPr sz="1575" b="0">
                <a:solidFill>
                  <a:srgbClr val="ADB8C5"/>
                </a:solidFill>
                <a:latin typeface="Roboto"/>
                <a:ea typeface="Roboto"/>
                <a:cs typeface="Roboto"/>
              </a:rPr>
              <a:t>commits</a:t>
            </a:r>
          </a:p>
        </p:txBody>
      </p:sp>
      <p:sp>
        <p:nvSpPr>
          <p:cNvPr id="10" name="">
            <a:extLst xmlns:a="http://schemas.openxmlformats.org/drawingml/2006/main">
              <a:ext uri="{FF2B5EF4-FFF2-40B4-BE49-F238E27FC236}">
                <a16:creationId xmlns:a16="http://schemas.microsoft.com/office/drawing/2014/main" id="{B0B60E1A-0862-4E5F-91C6-F01832E7CC29}"/>
              </a:ext>
            </a:extLst>
          </p:cNvPr>
          <p:cNvSpPr>
            <a:spLocks xmlns:a="http://schemas.openxmlformats.org/drawingml/2006/main" noGrp="1"/>
          </p:cNvSpPr>
          <p:nvPr/>
        </p:nvSpPr>
        <p:spPr>
          <a:xfrm xmlns:a="http://schemas.openxmlformats.org/drawingml/2006/main">
            <a:off x="3829050" y="2343150"/>
            <a:ext cx="14954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225" b="1">
                <a:solidFill>
                  <a:srgbClr val="F4F7FA"/>
                </a:solidFill>
                <a:latin typeface="Roboto"/>
                <a:ea typeface="Roboto"/>
                <a:cs typeface="Roboto"/>
              </a:defRPr>
            </a:pPr>
            <a:r>
              <a:rPr sz="3225" b="1">
                <a:solidFill>
                  <a:srgbClr val="F4F7FA"/>
                </a:solidFill>
                <a:latin typeface="Roboto"/>
                <a:ea typeface="Roboto"/>
                <a:cs typeface="Roboto"/>
              </a:rPr>
              <a:t>1.3×</a:t>
            </a:r>
          </a:p>
        </p:txBody>
      </p:sp>
      <p:sp>
        <p:nvSpPr>
          <p:cNvPr id="11" name="">
            <a:extLst xmlns:a="http://schemas.openxmlformats.org/drawingml/2006/main">
              <a:ext uri="{FF2B5EF4-FFF2-40B4-BE49-F238E27FC236}">
                <a16:creationId xmlns:a16="http://schemas.microsoft.com/office/drawing/2014/main" id="{03B3DB78-1242-461A-9742-55C2C5BEE5A1}"/>
              </a:ext>
            </a:extLst>
          </p:cNvPr>
          <p:cNvSpPr>
            <a:spLocks xmlns:a="http://schemas.openxmlformats.org/drawingml/2006/main" noGrp="1"/>
          </p:cNvSpPr>
          <p:nvPr/>
        </p:nvSpPr>
        <p:spPr>
          <a:xfrm xmlns:a="http://schemas.openxmlformats.org/drawingml/2006/main">
            <a:off x="3829050" y="2924175"/>
            <a:ext cx="14954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ADB8C5"/>
                </a:solidFill>
                <a:latin typeface="Roboto"/>
                <a:ea typeface="Roboto"/>
                <a:cs typeface="Roboto"/>
              </a:defRPr>
            </a:pPr>
            <a:r>
              <a:rPr sz="1575" b="0">
                <a:solidFill>
                  <a:srgbClr val="ADB8C5"/>
                </a:solidFill>
                <a:latin typeface="Roboto"/>
                <a:ea typeface="Roboto"/>
                <a:cs typeface="Roboto"/>
              </a:rPr>
              <a:t>releases</a:t>
            </a:r>
          </a:p>
        </p:txBody>
      </p:sp>
      <p:sp>
        <p:nvSpPr>
          <p:cNvPr id="12" name="">
            <a:extLst xmlns:a="http://schemas.openxmlformats.org/drawingml/2006/main">
              <a:ext uri="{FF2B5EF4-FFF2-40B4-BE49-F238E27FC236}">
                <a16:creationId xmlns:a16="http://schemas.microsoft.com/office/drawing/2014/main" id="{735B1A3D-97C2-471F-A8DD-70F56CC92CAD}"/>
              </a:ext>
            </a:extLst>
          </p:cNvPr>
          <p:cNvSpPr>
            <a:spLocks xmlns:a="http://schemas.openxmlformats.org/drawingml/2006/main" noGrp="1"/>
          </p:cNvSpPr>
          <p:nvPr/>
        </p:nvSpPr>
        <p:spPr>
          <a:xfrm xmlns:a="http://schemas.openxmlformats.org/drawingml/2006/main">
            <a:off x="609600" y="3324225"/>
            <a:ext cx="4724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1">
                <a:solidFill>
                  <a:srgbClr val="28C7F7"/>
                </a:solidFill>
                <a:latin typeface="Roboto"/>
                <a:ea typeface="Roboto"/>
                <a:cs typeface="Roboto"/>
              </a:defRPr>
            </a:pPr>
            <a:r>
              <a:rPr sz="1575" b="1">
                <a:solidFill>
                  <a:srgbClr val="28C7F7"/>
                </a:solidFill>
                <a:latin typeface="Roboto"/>
                <a:ea typeface="Roboto"/>
                <a:cs typeface="Roboto"/>
              </a:rPr>
              <a:t>Cumulative across three tool generations</a:t>
            </a:r>
          </a:p>
        </p:txBody>
      </p:sp>
      <p:sp>
        <p:nvSpPr>
          <p:cNvPr id="13" name="">
            <a:extLst xmlns:a="http://schemas.openxmlformats.org/drawingml/2006/main">
              <a:ext uri="{FF2B5EF4-FFF2-40B4-BE49-F238E27FC236}">
                <a16:creationId xmlns:a16="http://schemas.microsoft.com/office/drawing/2014/main" id="{D23A90D1-5C9E-449F-A92A-84A6ED3752D8}"/>
              </a:ext>
            </a:extLst>
          </p:cNvPr>
          <p:cNvSpPr>
            <a:spLocks xmlns:a="http://schemas.openxmlformats.org/drawingml/2006/main" noGrp="1"/>
          </p:cNvSpPr>
          <p:nvPr/>
        </p:nvSpPr>
        <p:spPr>
          <a:xfrm xmlns:a="http://schemas.openxmlformats.org/drawingml/2006/main">
            <a:off x="609600" y="3657600"/>
            <a:ext cx="47244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Roboto"/>
                <a:ea typeface="Roboto"/>
                <a:cs typeface="Roboto"/>
              </a:defRPr>
            </a:pPr>
            <a:r>
              <a:rPr sz="1500" b="0">
                <a:solidFill>
                  <a:srgbClr val="ADB8C5"/>
                </a:solidFill>
                <a:latin typeface="Roboto"/>
                <a:ea typeface="Roboto"/>
                <a:cs typeface="Roboto"/>
              </a:rPr>
              <a:t>Fig. 1 rounded; LOC = additions + deletions.</a:t>
            </a:r>
          </a:p>
          <a:p xmlns:a="http://schemas.openxmlformats.org/drawingml/2006/main">
            <a:pPr algn="l">
              <a:defRPr sz="1500" b="0">
                <a:solidFill>
                  <a:srgbClr val="ADB8C5"/>
                </a:solidFill>
                <a:latin typeface="Roboto"/>
                <a:ea typeface="Roboto"/>
                <a:cs typeface="Roboto"/>
              </a:defRPr>
            </a:pPr>
            <a:r>
              <a:rPr sz="1500" b="0">
                <a:solidFill>
                  <a:srgbClr val="ADB8C5"/>
                </a:solidFill>
                <a:latin typeface="Roboto"/>
                <a:ea typeface="Roboto"/>
                <a:cs typeface="Roboto"/>
              </a:rPr>
              <a:t>Async release effect not estimated.</a:t>
            </a:r>
          </a:p>
        </p:txBody>
      </p:sp>
      <p:sp>
        <p:nvSpPr>
          <p:cNvPr id="14" name="">
            <a:extLst xmlns:a="http://schemas.openxmlformats.org/drawingml/2006/main">
              <a:ext uri="{FF2B5EF4-FFF2-40B4-BE49-F238E27FC236}">
                <a16:creationId xmlns:a16="http://schemas.microsoft.com/office/drawing/2014/main" id="{68E07515-963F-4C37-8A85-243B2AF00D0F}"/>
              </a:ext>
            </a:extLst>
          </p:cNvPr>
          <p:cNvSpPr>
            <a:spLocks xmlns:a="http://schemas.openxmlformats.org/drawingml/2006/main" noGrp="1"/>
          </p:cNvSpPr>
          <p:nvPr/>
        </p:nvSpPr>
        <p:spPr>
          <a:xfrm xmlns:a="http://schemas.openxmlformats.org/drawingml/2006/main">
            <a:off x="609600" y="4257675"/>
            <a:ext cx="47244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00" b="1">
                <a:solidFill>
                  <a:srgbClr val="F4F7FA"/>
                </a:solidFill>
                <a:latin typeface="Roboto"/>
                <a:ea typeface="Roboto"/>
                <a:cs typeface="Roboto"/>
              </a:defRPr>
            </a:pPr>
            <a:r>
              <a:rPr sz="1800" b="1">
                <a:solidFill>
                  <a:srgbClr val="F4F7FA"/>
                </a:solidFill>
                <a:latin typeface="Roboto"/>
                <a:ea typeface="Roboto"/>
                <a:cs typeface="Roboto"/>
              </a:rPr>
              <a:t>More apps. Usage does not</a:t>
            </a:r>
          </a:p>
          <a:p xmlns:a="http://schemas.openxmlformats.org/drawingml/2006/main">
            <a:pPr algn="l">
              <a:defRPr sz="1800" b="1">
                <a:solidFill>
                  <a:srgbClr val="F4F7FA"/>
                </a:solidFill>
                <a:latin typeface="Roboto"/>
                <a:ea typeface="Roboto"/>
                <a:cs typeface="Roboto"/>
              </a:defRPr>
            </a:pPr>
            <a:r>
              <a:rPr sz="1800" b="1">
                <a:solidFill>
                  <a:srgbClr val="F4F7FA"/>
                </a:solidFill>
                <a:latin typeface="Roboto"/>
                <a:ea typeface="Roboto"/>
                <a:cs typeface="Roboto"/>
              </a:rPr>
              <a:t>keep pace with new releases.</a:t>
            </a:r>
          </a:p>
        </p:txBody>
      </p:sp>
      <p:sp>
        <p:nvSpPr>
          <p:cNvPr id="15" name="">
            <a:extLst xmlns:a="http://schemas.openxmlformats.org/drawingml/2006/main">
              <a:ext uri="{FF2B5EF4-FFF2-40B4-BE49-F238E27FC236}">
                <a16:creationId xmlns:a16="http://schemas.microsoft.com/office/drawing/2014/main" id="{1DB1B6AD-8E47-42FD-8531-065D4991EB53}"/>
              </a:ext>
            </a:extLst>
          </p:cNvPr>
          <p:cNvSpPr>
            <a:spLocks xmlns:a="http://schemas.openxmlformats.org/drawingml/2006/main" noGrp="1"/>
          </p:cNvSpPr>
          <p:nvPr/>
        </p:nvSpPr>
        <p:spPr>
          <a:xfrm xmlns:a="http://schemas.openxmlformats.org/drawingml/2006/main">
            <a:off x="609600" y="4933950"/>
            <a:ext cx="242887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Roboto"/>
                <a:ea typeface="Roboto"/>
                <a:cs typeface="Roboto"/>
              </a:defRPr>
            </a:pPr>
            <a:r>
              <a:rPr sz="1500" b="0">
                <a:solidFill>
                  <a:srgbClr val="ADB8C5"/>
                </a:solidFill>
                <a:latin typeface="Roboto"/>
                <a:ea typeface="Roboto"/>
                <a:cs typeface="Roboto"/>
              </a:rPr>
              <a:t>iOS: &lt;10 ratings</a:t>
            </a:r>
          </a:p>
        </p:txBody>
      </p:sp>
      <p:sp>
        <p:nvSpPr>
          <p:cNvPr id="16" name="">
            <a:extLst xmlns:a="http://schemas.openxmlformats.org/drawingml/2006/main">
              <a:ext uri="{FF2B5EF4-FFF2-40B4-BE49-F238E27FC236}">
                <a16:creationId xmlns:a16="http://schemas.microsoft.com/office/drawing/2014/main" id="{872E9CED-55A0-4759-B5DD-D47E96D3C6E2}"/>
              </a:ext>
            </a:extLst>
          </p:cNvPr>
          <p:cNvSpPr>
            <a:spLocks xmlns:a="http://schemas.openxmlformats.org/drawingml/2006/main" noGrp="1"/>
          </p:cNvSpPr>
          <p:nvPr/>
        </p:nvSpPr>
        <p:spPr>
          <a:xfrm xmlns:a="http://schemas.openxmlformats.org/drawingml/2006/main">
            <a:off x="3038475" y="4933950"/>
            <a:ext cx="229552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725" b="1">
                <a:solidFill>
                  <a:srgbClr val="F5B61C"/>
                </a:solidFill>
                <a:latin typeface="Roboto"/>
                <a:ea typeface="Roboto"/>
                <a:cs typeface="Roboto"/>
              </a:defRPr>
            </a:pPr>
            <a:r>
              <a:rPr sz="1725" b="1">
                <a:solidFill>
                  <a:srgbClr val="F5B61C"/>
                </a:solidFill>
                <a:latin typeface="Roboto"/>
                <a:ea typeface="Roboto"/>
                <a:cs typeface="Roboto"/>
              </a:rPr>
              <a:t>≈78% → 87%</a:t>
            </a:r>
          </a:p>
        </p:txBody>
      </p:sp>
      <p:sp>
        <p:nvSpPr>
          <p:cNvPr id="17" name="">
            <a:extLst xmlns:a="http://schemas.openxmlformats.org/drawingml/2006/main">
              <a:ext uri="{FF2B5EF4-FFF2-40B4-BE49-F238E27FC236}">
                <a16:creationId xmlns:a16="http://schemas.microsoft.com/office/drawing/2014/main" id="{6FDD33E7-15D9-44C5-AB24-9664C274EFF9}"/>
              </a:ext>
            </a:extLst>
          </p:cNvPr>
          <p:cNvSpPr>
            <a:spLocks xmlns:a="http://schemas.openxmlformats.org/drawingml/2006/main" noGrp="1"/>
          </p:cNvSpPr>
          <p:nvPr/>
        </p:nvSpPr>
        <p:spPr>
          <a:xfrm xmlns:a="http://schemas.openxmlformats.org/drawingml/2006/main">
            <a:off x="609600" y="5257800"/>
            <a:ext cx="242887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Roboto"/>
                <a:ea typeface="Roboto"/>
                <a:cs typeface="Roboto"/>
              </a:defRPr>
            </a:pPr>
            <a:r>
              <a:rPr sz="1500" b="0">
                <a:solidFill>
                  <a:srgbClr val="ADB8C5"/>
                </a:solidFill>
                <a:latin typeface="Roboto"/>
                <a:ea typeface="Roboto"/>
                <a:cs typeface="Roboto"/>
              </a:rPr>
              <a:t>Chrome: &lt;10 downloads</a:t>
            </a:r>
          </a:p>
        </p:txBody>
      </p:sp>
      <p:sp>
        <p:nvSpPr>
          <p:cNvPr id="18" name="">
            <a:extLst xmlns:a="http://schemas.openxmlformats.org/drawingml/2006/main">
              <a:ext uri="{FF2B5EF4-FFF2-40B4-BE49-F238E27FC236}">
                <a16:creationId xmlns:a16="http://schemas.microsoft.com/office/drawing/2014/main" id="{91F14600-F85E-4AC2-BBB8-B14749B4C980}"/>
              </a:ext>
            </a:extLst>
          </p:cNvPr>
          <p:cNvSpPr>
            <a:spLocks xmlns:a="http://schemas.openxmlformats.org/drawingml/2006/main" noGrp="1"/>
          </p:cNvSpPr>
          <p:nvPr/>
        </p:nvSpPr>
        <p:spPr>
          <a:xfrm xmlns:a="http://schemas.openxmlformats.org/drawingml/2006/main">
            <a:off x="3038475" y="5257800"/>
            <a:ext cx="229552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725" b="1">
                <a:solidFill>
                  <a:srgbClr val="F5B61C"/>
                </a:solidFill>
                <a:latin typeface="Roboto"/>
                <a:ea typeface="Roboto"/>
                <a:cs typeface="Roboto"/>
              </a:defRPr>
            </a:pPr>
            <a:r>
              <a:rPr sz="1725" b="1">
                <a:solidFill>
                  <a:srgbClr val="F5B61C"/>
                </a:solidFill>
                <a:latin typeface="Roboto"/>
                <a:ea typeface="Roboto"/>
                <a:cs typeface="Roboto"/>
              </a:rPr>
              <a:t>19% → 33%</a:t>
            </a:r>
          </a:p>
        </p:txBody>
      </p:sp>
      <p:sp>
        <p:nvSpPr>
          <p:cNvPr id="19" name="">
            <a:extLst xmlns:a="http://schemas.openxmlformats.org/drawingml/2006/main">
              <a:ext uri="{FF2B5EF4-FFF2-40B4-BE49-F238E27FC236}">
                <a16:creationId xmlns:a16="http://schemas.microsoft.com/office/drawing/2014/main" id="{A2E30C1C-BB3E-4DB5-B3ED-468C1D884ADB}"/>
              </a:ext>
            </a:extLst>
          </p:cNvPr>
          <p:cNvSpPr>
            <a:spLocks xmlns:a="http://schemas.openxmlformats.org/drawingml/2006/main" noGrp="1"/>
          </p:cNvSpPr>
          <p:nvPr/>
        </p:nvSpPr>
        <p:spPr>
          <a:xfrm xmlns:a="http://schemas.openxmlformats.org/drawingml/2006/main">
            <a:off x="609600" y="5572125"/>
            <a:ext cx="472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0">
                <a:solidFill>
                  <a:srgbClr val="ADB8C5"/>
                </a:solidFill>
                <a:latin typeface="Roboto"/>
                <a:ea typeface="Roboto"/>
                <a:cs typeface="Roboto"/>
              </a:defRPr>
            </a:pPr>
            <a:r>
              <a:rPr sz="1425" b="0">
                <a:solidFill>
                  <a:srgbClr val="ADB8C5"/>
                </a:solidFill>
                <a:latin typeface="Roboto"/>
                <a:ea typeface="Roboto"/>
                <a:cs typeface="Roboto"/>
              </a:rPr>
              <a:t>Jan 2025 → Apr 2026; first 3 months.</a:t>
            </a:r>
          </a:p>
        </p:txBody>
      </p:sp>
      <p:sp>
        <p:nvSpPr>
          <p:cNvPr id="20" name="">
            <a:extLst xmlns:a="http://schemas.openxmlformats.org/drawingml/2006/main">
              <a:ext uri="{FF2B5EF4-FFF2-40B4-BE49-F238E27FC236}">
                <a16:creationId xmlns:a16="http://schemas.microsoft.com/office/drawing/2014/main" id="{06B270CF-7E92-43B6-A1F8-C24D3123C4FD}"/>
              </a:ext>
            </a:extLst>
          </p:cNvPr>
          <p:cNvSpPr>
            <a:spLocks xmlns:a="http://schemas.openxmlformats.org/drawingml/2006/main" noGrp="1"/>
          </p:cNvSpPr>
          <p:nvPr/>
        </p:nvSpPr>
        <p:spPr>
          <a:xfrm xmlns:a="http://schemas.openxmlformats.org/drawingml/2006/main">
            <a:off x="5867400" y="1857375"/>
            <a:ext cx="571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28C7F7"/>
                </a:solidFill>
                <a:latin typeface="Roboto"/>
                <a:ea typeface="Roboto"/>
                <a:cs typeface="Roboto"/>
              </a:defRPr>
            </a:pPr>
            <a:r>
              <a:rPr sz="1650" b="1">
                <a:solidFill>
                  <a:srgbClr val="28C7F7"/>
                </a:solidFill>
                <a:latin typeface="Roboto"/>
                <a:ea typeface="Roboto"/>
                <a:cs typeface="Roboto"/>
              </a:rPr>
              <a:t>DORA · 2025</a:t>
            </a:r>
          </a:p>
        </p:txBody>
      </p:sp>
      <p:sp>
        <p:nvSpPr>
          <p:cNvPr id="21" name="">
            <a:extLst xmlns:a="http://schemas.openxmlformats.org/drawingml/2006/main">
              <a:ext uri="{FF2B5EF4-FFF2-40B4-BE49-F238E27FC236}">
                <a16:creationId xmlns:a16="http://schemas.microsoft.com/office/drawing/2014/main" id="{5CECD013-37D5-4692-A50C-F90729A3ECD4}"/>
              </a:ext>
            </a:extLst>
          </p:cNvPr>
          <p:cNvSpPr>
            <a:spLocks xmlns:a="http://schemas.openxmlformats.org/drawingml/2006/main" noGrp="1"/>
          </p:cNvSpPr>
          <p:nvPr/>
        </p:nvSpPr>
        <p:spPr>
          <a:xfrm xmlns:a="http://schemas.openxmlformats.org/drawingml/2006/main">
            <a:off x="5867400" y="2190750"/>
            <a:ext cx="5715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1">
                <a:solidFill>
                  <a:srgbClr val="F4F7FA"/>
                </a:solidFill>
                <a:latin typeface="Roboto"/>
                <a:ea typeface="Roboto"/>
                <a:cs typeface="Roboto"/>
              </a:defRPr>
            </a:pPr>
            <a:r>
              <a:rPr sz="2025" b="1">
                <a:solidFill>
                  <a:srgbClr val="F4F7FA"/>
                </a:solidFill>
                <a:latin typeface="Roboto"/>
                <a:ea typeface="Roboto"/>
                <a:cs typeface="Roboto"/>
              </a:rPr>
              <a:t>Higher throughput</a:t>
            </a:r>
          </a:p>
        </p:txBody>
      </p:sp>
      <p:sp>
        <p:nvSpPr>
          <p:cNvPr id="22" name="">
            <a:extLst xmlns:a="http://schemas.openxmlformats.org/drawingml/2006/main">
              <a:ext uri="{FF2B5EF4-FFF2-40B4-BE49-F238E27FC236}">
                <a16:creationId xmlns:a16="http://schemas.microsoft.com/office/drawing/2014/main" id="{D7A1CF97-6D85-460D-BEA7-F366979D198F}"/>
              </a:ext>
            </a:extLst>
          </p:cNvPr>
          <p:cNvSpPr>
            <a:spLocks xmlns:a="http://schemas.openxmlformats.org/drawingml/2006/main" noGrp="1"/>
          </p:cNvSpPr>
          <p:nvPr/>
        </p:nvSpPr>
        <p:spPr>
          <a:xfrm xmlns:a="http://schemas.openxmlformats.org/drawingml/2006/main">
            <a:off x="5867400" y="2505075"/>
            <a:ext cx="5715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1">
                <a:solidFill>
                  <a:srgbClr val="F5B61C"/>
                </a:solidFill>
                <a:latin typeface="Roboto"/>
                <a:ea typeface="Roboto"/>
                <a:cs typeface="Roboto"/>
              </a:defRPr>
            </a:pPr>
            <a:r>
              <a:rPr sz="2025" b="1">
                <a:solidFill>
                  <a:srgbClr val="F5B61C"/>
                </a:solidFill>
                <a:latin typeface="Roboto"/>
                <a:ea typeface="Roboto"/>
                <a:cs typeface="Roboto"/>
              </a:rPr>
              <a:t>Lower delivery stability</a:t>
            </a:r>
          </a:p>
        </p:txBody>
      </p:sp>
      <p:sp>
        <p:nvSpPr>
          <p:cNvPr id="23" name="">
            <a:extLst xmlns:a="http://schemas.openxmlformats.org/drawingml/2006/main">
              <a:ext uri="{FF2B5EF4-FFF2-40B4-BE49-F238E27FC236}">
                <a16:creationId xmlns:a16="http://schemas.microsoft.com/office/drawing/2014/main" id="{8CF3809E-15E9-4576-8F04-69A23BE8AE21}"/>
              </a:ext>
            </a:extLst>
          </p:cNvPr>
          <p:cNvSpPr>
            <a:spLocks xmlns:a="http://schemas.openxmlformats.org/drawingml/2006/main" noGrp="1"/>
          </p:cNvSpPr>
          <p:nvPr/>
        </p:nvSpPr>
        <p:spPr>
          <a:xfrm xmlns:a="http://schemas.openxmlformats.org/drawingml/2006/main">
            <a:off x="5867400" y="2895600"/>
            <a:ext cx="5715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0">
                <a:solidFill>
                  <a:srgbClr val="F5B61C"/>
                </a:solidFill>
                <a:latin typeface="Roboto"/>
                <a:ea typeface="Roboto"/>
                <a:cs typeface="Roboto"/>
              </a:defRPr>
            </a:pPr>
            <a:r>
              <a:rPr sz="1425" b="0">
                <a:solidFill>
                  <a:srgbClr val="F5B61C"/>
                </a:solidFill>
                <a:latin typeface="Roboto"/>
                <a:ea typeface="Roboto"/>
                <a:cs typeface="Roboto"/>
              </a:rPr>
              <a:t>≈ +0.10 SD instability per +1 SD AI adoption</a:t>
            </a:r>
          </a:p>
        </p:txBody>
      </p:sp>
      <p:sp>
        <p:nvSpPr>
          <p:cNvPr id="24" name="">
            <a:extLst xmlns:a="http://schemas.openxmlformats.org/drawingml/2006/main">
              <a:ext uri="{FF2B5EF4-FFF2-40B4-BE49-F238E27FC236}">
                <a16:creationId xmlns:a16="http://schemas.microsoft.com/office/drawing/2014/main" id="{3311DEEB-68F8-44A6-9093-E28E3F559D90}"/>
              </a:ext>
            </a:extLst>
          </p:cNvPr>
          <p:cNvSpPr>
            <a:spLocks xmlns:a="http://schemas.openxmlformats.org/drawingml/2006/main" noGrp="1"/>
          </p:cNvSpPr>
          <p:nvPr/>
        </p:nvSpPr>
        <p:spPr>
          <a:xfrm xmlns:a="http://schemas.openxmlformats.org/drawingml/2006/main">
            <a:off x="5867400" y="3162300"/>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Roboto"/>
                <a:ea typeface="Roboto"/>
                <a:cs typeface="Roboto"/>
              </a:defRPr>
            </a:pPr>
            <a:r>
              <a:rPr sz="1350" b="0">
                <a:solidFill>
                  <a:srgbClr val="ADB8C5"/>
                </a:solidFill>
                <a:latin typeface="Roboto"/>
                <a:ea typeface="Roboto"/>
                <a:cs typeface="Roboto"/>
              </a:rPr>
              <a:t>89% credible interval ≈ +0.07 to +0.13</a:t>
            </a:r>
          </a:p>
        </p:txBody>
      </p:sp>
      <p:sp>
        <p:nvSpPr>
          <p:cNvPr id="25" name="">
            <a:extLst xmlns:a="http://schemas.openxmlformats.org/drawingml/2006/main">
              <a:ext uri="{FF2B5EF4-FFF2-40B4-BE49-F238E27FC236}">
                <a16:creationId xmlns:a16="http://schemas.microsoft.com/office/drawing/2014/main" id="{E89C5D3C-DBDD-47B0-939B-8A55968D0936}"/>
              </a:ext>
            </a:extLst>
          </p:cNvPr>
          <p:cNvSpPr>
            <a:spLocks xmlns:a="http://schemas.openxmlformats.org/drawingml/2006/main" noGrp="1"/>
          </p:cNvSpPr>
          <p:nvPr/>
        </p:nvSpPr>
        <p:spPr>
          <a:xfrm xmlns:a="http://schemas.openxmlformats.org/drawingml/2006/main">
            <a:off x="5867400" y="3448050"/>
            <a:ext cx="5715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Roboto"/>
                <a:ea typeface="Roboto"/>
                <a:cs typeface="Roboto"/>
              </a:defRPr>
            </a:pPr>
            <a:r>
              <a:rPr sz="1350" b="0">
                <a:solidFill>
                  <a:srgbClr val="ADB8C5"/>
                </a:solidFill>
                <a:latin typeface="Roboto"/>
                <a:ea typeface="Roboto"/>
                <a:cs typeface="Roboto"/>
              </a:rPr>
              <a:t>Survey model, rounded reading of Fig. 28.</a:t>
            </a:r>
          </a:p>
          <a:p xmlns:a="http://schemas.openxmlformats.org/drawingml/2006/main">
            <a:pPr algn="l">
              <a:defRPr sz="1350" b="0">
                <a:solidFill>
                  <a:srgbClr val="ADB8C5"/>
                </a:solidFill>
                <a:latin typeface="Roboto"/>
                <a:ea typeface="Roboto"/>
                <a:cs typeface="Roboto"/>
              </a:defRPr>
            </a:pPr>
            <a:r>
              <a:rPr sz="1350" b="0">
                <a:solidFill>
                  <a:srgbClr val="ADB8C5"/>
                </a:solidFill>
                <a:latin typeface="Roboto"/>
                <a:ea typeface="Roboto"/>
                <a:cs typeface="Roboto"/>
              </a:rPr>
              <a:t>SD = standard deviation, not a failure percentage.</a:t>
            </a:r>
          </a:p>
        </p:txBody>
      </p:sp>
      <p:sp>
        <p:nvSpPr>
          <p:cNvPr id="26" name="">
            <a:extLst xmlns:a="http://schemas.openxmlformats.org/drawingml/2006/main">
              <a:ext uri="{FF2B5EF4-FFF2-40B4-BE49-F238E27FC236}">
                <a16:creationId xmlns:a16="http://schemas.microsoft.com/office/drawing/2014/main" id="{BF8BDB2C-96E1-4BE4-B708-70E47E0318D3}"/>
              </a:ext>
            </a:extLst>
          </p:cNvPr>
          <p:cNvSpPr>
            <a:spLocks xmlns:a="http://schemas.openxmlformats.org/drawingml/2006/main" noGrp="1"/>
          </p:cNvSpPr>
          <p:nvPr/>
        </p:nvSpPr>
        <p:spPr>
          <a:xfrm xmlns:a="http://schemas.openxmlformats.org/drawingml/2006/main">
            <a:off x="5867400" y="3867150"/>
            <a:ext cx="571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DB8C5"/>
                </a:solidFill>
                <a:latin typeface="Roboto"/>
                <a:ea typeface="Roboto"/>
                <a:cs typeface="Roboto"/>
              </a:defRPr>
            </a:pPr>
            <a:r>
              <a:rPr sz="1275" b="0">
                <a:solidFill>
                  <a:srgbClr val="ADB8C5"/>
                </a:solidFill>
                <a:latin typeface="Roboto"/>
                <a:ea typeface="Roboto"/>
                <a:cs typeface="Roboto"/>
              </a:rPr>
              <a:t>Respondents reporting improvement: &gt;80% productivity; 59% quality.</a:t>
            </a:r>
          </a:p>
        </p:txBody>
      </p:sp>
      <p:sp>
        <p:nvSpPr>
          <p:cNvPr id="27" name="">
            <a:extLst xmlns:a="http://schemas.openxmlformats.org/drawingml/2006/main">
              <a:ext uri="{FF2B5EF4-FFF2-40B4-BE49-F238E27FC236}">
                <a16:creationId xmlns:a16="http://schemas.microsoft.com/office/drawing/2014/main" id="{ED3158A7-7214-41AF-A9A8-83C4A1AFE862}"/>
              </a:ext>
            </a:extLst>
          </p:cNvPr>
          <p:cNvSpPr>
            <a:spLocks xmlns:a="http://schemas.openxmlformats.org/drawingml/2006/main" noGrp="1"/>
          </p:cNvSpPr>
          <p:nvPr/>
        </p:nvSpPr>
        <p:spPr>
          <a:xfrm xmlns:a="http://schemas.openxmlformats.org/drawingml/2006/main" flipH="0" flipV="0">
            <a:off x="5867400" y="4200525"/>
            <a:ext cx="57150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8" name="">
            <a:extLst xmlns:a="http://schemas.openxmlformats.org/drawingml/2006/main">
              <a:ext uri="{FF2B5EF4-FFF2-40B4-BE49-F238E27FC236}">
                <a16:creationId xmlns:a16="http://schemas.microsoft.com/office/drawing/2014/main" id="{F66D212A-F02A-4C5B-AE12-63FF9E32E4BF}"/>
              </a:ext>
            </a:extLst>
          </p:cNvPr>
          <p:cNvSpPr>
            <a:spLocks xmlns:a="http://schemas.openxmlformats.org/drawingml/2006/main" noGrp="1"/>
          </p:cNvSpPr>
          <p:nvPr/>
        </p:nvSpPr>
        <p:spPr>
          <a:xfrm xmlns:a="http://schemas.openxmlformats.org/drawingml/2006/main">
            <a:off x="5867400" y="4248150"/>
            <a:ext cx="571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1">
                <a:solidFill>
                  <a:srgbClr val="28C7F7"/>
                </a:solidFill>
                <a:latin typeface="Roboto"/>
                <a:ea typeface="Roboto"/>
                <a:cs typeface="Roboto"/>
              </a:defRPr>
            </a:pPr>
            <a:r>
              <a:rPr sz="1575" b="1">
                <a:solidFill>
                  <a:srgbClr val="28C7F7"/>
                </a:solidFill>
                <a:latin typeface="Roboto"/>
                <a:ea typeface="Roboto"/>
                <a:cs typeface="Roboto"/>
              </a:rPr>
              <a:t>GITCLEAR · 2023 → 2026 YTD*</a:t>
            </a:r>
          </a:p>
        </p:txBody>
      </p:sp>
      <p:sp>
        <p:nvSpPr>
          <p:cNvPr id="29" name="">
            <a:extLst xmlns:a="http://schemas.openxmlformats.org/drawingml/2006/main">
              <a:ext uri="{FF2B5EF4-FFF2-40B4-BE49-F238E27FC236}">
                <a16:creationId xmlns:a16="http://schemas.microsoft.com/office/drawing/2014/main" id="{3A30311F-9CC0-4D60-86F6-FAB08E29D814}"/>
              </a:ext>
            </a:extLst>
          </p:cNvPr>
          <p:cNvSpPr>
            <a:spLocks xmlns:a="http://schemas.openxmlformats.org/drawingml/2006/main" noGrp="1"/>
          </p:cNvSpPr>
          <p:nvPr/>
        </p:nvSpPr>
        <p:spPr>
          <a:xfrm xmlns:a="http://schemas.openxmlformats.org/drawingml/2006/main">
            <a:off x="5867400" y="4543425"/>
            <a:ext cx="372427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F4F7FA"/>
                </a:solidFill>
                <a:latin typeface="Roboto"/>
                <a:ea typeface="Roboto"/>
                <a:cs typeface="Roboto"/>
              </a:defRPr>
            </a:pPr>
            <a:r>
              <a:rPr sz="1650" b="0">
                <a:solidFill>
                  <a:srgbClr val="F4F7FA"/>
                </a:solidFill>
                <a:latin typeface="Roboto"/>
                <a:ea typeface="Roboto"/>
                <a:cs typeface="Roboto"/>
              </a:rPr>
              <a:t>Moved-code share</a:t>
            </a:r>
          </a:p>
        </p:txBody>
      </p:sp>
      <p:sp>
        <p:nvSpPr>
          <p:cNvPr id="30" name="">
            <a:extLst xmlns:a="http://schemas.openxmlformats.org/drawingml/2006/main">
              <a:ext uri="{FF2B5EF4-FFF2-40B4-BE49-F238E27FC236}">
                <a16:creationId xmlns:a16="http://schemas.microsoft.com/office/drawing/2014/main" id="{41E063D2-19E1-4E7E-9129-CDB9DF1B5165}"/>
              </a:ext>
            </a:extLst>
          </p:cNvPr>
          <p:cNvSpPr>
            <a:spLocks xmlns:a="http://schemas.openxmlformats.org/drawingml/2006/main" noGrp="1"/>
          </p:cNvSpPr>
          <p:nvPr/>
        </p:nvSpPr>
        <p:spPr>
          <a:xfrm xmlns:a="http://schemas.openxmlformats.org/drawingml/2006/main">
            <a:off x="9591675" y="4543425"/>
            <a:ext cx="199072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800" b="1">
                <a:solidFill>
                  <a:srgbClr val="F4F7FA"/>
                </a:solidFill>
                <a:latin typeface="Roboto"/>
                <a:ea typeface="Roboto"/>
                <a:cs typeface="Roboto"/>
              </a:defRPr>
            </a:pPr>
            <a:r>
              <a:rPr sz="1800" b="1">
                <a:solidFill>
                  <a:srgbClr val="F4F7FA"/>
                </a:solidFill>
                <a:latin typeface="Roboto"/>
                <a:ea typeface="Roboto"/>
                <a:cs typeface="Roboto"/>
              </a:rPr>
              <a:t>13% → 3.8%</a:t>
            </a:r>
          </a:p>
        </p:txBody>
      </p:sp>
      <p:sp>
        <p:nvSpPr>
          <p:cNvPr id="31" name="">
            <a:extLst xmlns:a="http://schemas.openxmlformats.org/drawingml/2006/main">
              <a:ext uri="{FF2B5EF4-FFF2-40B4-BE49-F238E27FC236}">
                <a16:creationId xmlns:a16="http://schemas.microsoft.com/office/drawing/2014/main" id="{EABF0520-48BB-4430-A037-813A84B7C99F}"/>
              </a:ext>
            </a:extLst>
          </p:cNvPr>
          <p:cNvSpPr>
            <a:spLocks xmlns:a="http://schemas.openxmlformats.org/drawingml/2006/main" noGrp="1"/>
          </p:cNvSpPr>
          <p:nvPr/>
        </p:nvSpPr>
        <p:spPr>
          <a:xfrm xmlns:a="http://schemas.openxmlformats.org/drawingml/2006/main">
            <a:off x="5867400" y="4800600"/>
            <a:ext cx="571500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DB8C5"/>
                </a:solidFill>
                <a:latin typeface="Roboto"/>
                <a:ea typeface="Roboto"/>
                <a:cs typeface="Roboto"/>
              </a:defRPr>
            </a:pPr>
            <a:r>
              <a:rPr sz="1275" b="0">
                <a:solidFill>
                  <a:srgbClr val="ADB8C5"/>
                </a:solidFill>
                <a:latin typeface="Roboto"/>
                <a:ea typeface="Roboto"/>
                <a:cs typeface="Roboto"/>
              </a:rPr>
              <a:t>Moved / changed lines: −9.2 pp (−70.8%). Refactoring proxy.</a:t>
            </a:r>
          </a:p>
        </p:txBody>
      </p:sp>
      <p:sp>
        <p:nvSpPr>
          <p:cNvPr id="32" name="">
            <a:extLst xmlns:a="http://schemas.openxmlformats.org/drawingml/2006/main">
              <a:ext uri="{FF2B5EF4-FFF2-40B4-BE49-F238E27FC236}">
                <a16:creationId xmlns:a16="http://schemas.microsoft.com/office/drawing/2014/main" id="{E50385CA-CFFC-4C10-928E-A659993B79F8}"/>
              </a:ext>
            </a:extLst>
          </p:cNvPr>
          <p:cNvSpPr>
            <a:spLocks xmlns:a="http://schemas.openxmlformats.org/drawingml/2006/main" noGrp="1"/>
          </p:cNvSpPr>
          <p:nvPr/>
        </p:nvSpPr>
        <p:spPr>
          <a:xfrm xmlns:a="http://schemas.openxmlformats.org/drawingml/2006/main">
            <a:off x="5867400" y="5000625"/>
            <a:ext cx="372427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F4F7FA"/>
                </a:solidFill>
                <a:latin typeface="Roboto"/>
                <a:ea typeface="Roboto"/>
                <a:cs typeface="Roboto"/>
              </a:defRPr>
            </a:pPr>
            <a:r>
              <a:rPr sz="1650" b="0">
                <a:solidFill>
                  <a:srgbClr val="F4F7FA"/>
                </a:solidFill>
                <a:latin typeface="Roboto"/>
                <a:ea typeface="Roboto"/>
                <a:cs typeface="Roboto"/>
              </a:rPr>
              <a:t>Calls / 1k changed lines</a:t>
            </a:r>
          </a:p>
        </p:txBody>
      </p:sp>
      <p:sp>
        <p:nvSpPr>
          <p:cNvPr id="33" name="">
            <a:extLst xmlns:a="http://schemas.openxmlformats.org/drawingml/2006/main">
              <a:ext uri="{FF2B5EF4-FFF2-40B4-BE49-F238E27FC236}">
                <a16:creationId xmlns:a16="http://schemas.microsoft.com/office/drawing/2014/main" id="{30F990E0-6DAB-4D7E-858A-622064F7B1DA}"/>
              </a:ext>
            </a:extLst>
          </p:cNvPr>
          <p:cNvSpPr>
            <a:spLocks xmlns:a="http://schemas.openxmlformats.org/drawingml/2006/main" noGrp="1"/>
          </p:cNvSpPr>
          <p:nvPr/>
        </p:nvSpPr>
        <p:spPr>
          <a:xfrm xmlns:a="http://schemas.openxmlformats.org/drawingml/2006/main">
            <a:off x="9591675" y="5000625"/>
            <a:ext cx="199072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800" b="1">
                <a:solidFill>
                  <a:srgbClr val="F4F7FA"/>
                </a:solidFill>
                <a:latin typeface="Roboto"/>
                <a:ea typeface="Roboto"/>
                <a:cs typeface="Roboto"/>
              </a:defRPr>
            </a:pPr>
            <a:r>
              <a:rPr sz="1800" b="1">
                <a:solidFill>
                  <a:srgbClr val="F4F7FA"/>
                </a:solidFill>
                <a:latin typeface="Roboto"/>
                <a:ea typeface="Roboto"/>
                <a:cs typeface="Roboto"/>
              </a:rPr>
              <a:t>343 → 223</a:t>
            </a:r>
          </a:p>
        </p:txBody>
      </p:sp>
      <p:sp>
        <p:nvSpPr>
          <p:cNvPr id="34" name="">
            <a:extLst xmlns:a="http://schemas.openxmlformats.org/drawingml/2006/main">
              <a:ext uri="{FF2B5EF4-FFF2-40B4-BE49-F238E27FC236}">
                <a16:creationId xmlns:a16="http://schemas.microsoft.com/office/drawing/2014/main" id="{1A048B50-A69C-4F30-B31F-489B4853DFBA}"/>
              </a:ext>
            </a:extLst>
          </p:cNvPr>
          <p:cNvSpPr>
            <a:spLocks xmlns:a="http://schemas.openxmlformats.org/drawingml/2006/main" noGrp="1"/>
          </p:cNvSpPr>
          <p:nvPr/>
        </p:nvSpPr>
        <p:spPr>
          <a:xfrm xmlns:a="http://schemas.openxmlformats.org/drawingml/2006/main">
            <a:off x="5867400" y="5257800"/>
            <a:ext cx="571500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DB8C5"/>
                </a:solidFill>
                <a:latin typeface="Roboto"/>
                <a:ea typeface="Roboto"/>
                <a:cs typeface="Roboto"/>
              </a:defRPr>
            </a:pPr>
            <a:r>
              <a:rPr sz="1275" b="0">
                <a:solidFill>
                  <a:srgbClr val="ADB8C5"/>
                </a:solidFill>
                <a:latin typeface="Roboto"/>
                <a:ea typeface="Roboto"/>
                <a:cs typeface="Roboto"/>
              </a:rPr>
              <a:t>Other-function calls: −120 (≈−35%). Connectivity proxy.</a:t>
            </a:r>
          </a:p>
        </p:txBody>
      </p:sp>
      <p:sp>
        <p:nvSpPr>
          <p:cNvPr id="35" name="">
            <a:extLst xmlns:a="http://schemas.openxmlformats.org/drawingml/2006/main">
              <a:ext uri="{FF2B5EF4-FFF2-40B4-BE49-F238E27FC236}">
                <a16:creationId xmlns:a16="http://schemas.microsoft.com/office/drawing/2014/main" id="{4BC1890C-2C33-48D1-8D13-B211ED270A19}"/>
              </a:ext>
            </a:extLst>
          </p:cNvPr>
          <p:cNvSpPr>
            <a:spLocks xmlns:a="http://schemas.openxmlformats.org/drawingml/2006/main" noGrp="1"/>
          </p:cNvSpPr>
          <p:nvPr/>
        </p:nvSpPr>
        <p:spPr>
          <a:xfrm xmlns:a="http://schemas.openxmlformats.org/drawingml/2006/main">
            <a:off x="5867400" y="5467350"/>
            <a:ext cx="571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0">
                <a:solidFill>
                  <a:srgbClr val="F4F7FA"/>
                </a:solidFill>
                <a:latin typeface="Roboto"/>
                <a:ea typeface="Roboto"/>
                <a:cs typeface="Roboto"/>
              </a:defRPr>
            </a:pPr>
            <a:r>
              <a:rPr sz="1425" b="0">
                <a:solidFill>
                  <a:srgbClr val="F4F7FA"/>
                </a:solidFill>
                <a:latin typeface="Roboto"/>
                <a:ea typeface="Roboto"/>
                <a:cs typeface="Roboto"/>
              </a:rPr>
              <a:t>Duplicated blocks ≈+81%   ·   Two-week churn +15%*</a:t>
            </a:r>
          </a:p>
        </p:txBody>
      </p:sp>
      <p:sp>
        <p:nvSpPr>
          <p:cNvPr id="36" name="">
            <a:extLst xmlns:a="http://schemas.openxmlformats.org/drawingml/2006/main">
              <a:ext uri="{FF2B5EF4-FFF2-40B4-BE49-F238E27FC236}">
                <a16:creationId xmlns:a16="http://schemas.microsoft.com/office/drawing/2014/main" id="{CCF65E55-1865-449B-B1EB-FDAF6FAD8431}"/>
              </a:ext>
            </a:extLst>
          </p:cNvPr>
          <p:cNvSpPr>
            <a:spLocks xmlns:a="http://schemas.openxmlformats.org/drawingml/2006/main" noGrp="1"/>
          </p:cNvSpPr>
          <p:nvPr/>
        </p:nvSpPr>
        <p:spPr>
          <a:xfrm xmlns:a="http://schemas.openxmlformats.org/drawingml/2006/main">
            <a:off x="5867400" y="5695950"/>
            <a:ext cx="5715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F5B61C"/>
                </a:solidFill>
                <a:latin typeface="Roboto"/>
                <a:ea typeface="Roboto"/>
                <a:cs typeface="Roboto"/>
              </a:defRPr>
            </a:pPr>
            <a:r>
              <a:rPr sz="1275" b="0">
                <a:solidFill>
                  <a:srgbClr val="F5B61C"/>
                </a:solidFill>
                <a:latin typeface="Roboto"/>
                <a:ea typeface="Roboto"/>
                <a:cs typeface="Roboto"/>
              </a:rPr>
              <a:t>Less restructuring / reuse? Signals, not a quality verdict.</a:t>
            </a:r>
          </a:p>
        </p:txBody>
      </p:sp>
      <p:sp>
        <p:nvSpPr>
          <p:cNvPr id="37" name="">
            <a:extLst xmlns:a="http://schemas.openxmlformats.org/drawingml/2006/main">
              <a:ext uri="{FF2B5EF4-FFF2-40B4-BE49-F238E27FC236}">
                <a16:creationId xmlns:a16="http://schemas.microsoft.com/office/drawing/2014/main" id="{E2068AD0-9795-4FBF-B2E9-991E0570FA0F}"/>
              </a:ext>
            </a:extLst>
          </p:cNvPr>
          <p:cNvSpPr>
            <a:spLocks xmlns:a="http://schemas.openxmlformats.org/drawingml/2006/main" noGrp="1"/>
          </p:cNvSpPr>
          <p:nvPr/>
        </p:nvSpPr>
        <p:spPr>
          <a:xfrm xmlns:a="http://schemas.openxmlformats.org/drawingml/2006/main" flipH="0" flipV="0">
            <a:off x="609600" y="588645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8" name="">
            <a:extLst xmlns:a="http://schemas.openxmlformats.org/drawingml/2006/main">
              <a:ext uri="{FF2B5EF4-FFF2-40B4-BE49-F238E27FC236}">
                <a16:creationId xmlns:a16="http://schemas.microsoft.com/office/drawing/2014/main" id="{89DFB629-2BF8-4492-8B1D-7CD166252C10}"/>
              </a:ext>
            </a:extLst>
          </p:cNvPr>
          <p:cNvSpPr>
            <a:spLocks xmlns:a="http://schemas.openxmlformats.org/drawingml/2006/main" noGrp="1"/>
          </p:cNvSpPr>
          <p:nvPr/>
        </p:nvSpPr>
        <p:spPr>
          <a:xfrm xmlns:a="http://schemas.openxmlformats.org/drawingml/2006/main">
            <a:off x="609600" y="5981700"/>
            <a:ext cx="28956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1">
                <a:solidFill>
                  <a:srgbClr val="28C7F7"/>
                </a:solidFill>
                <a:latin typeface="Roboto"/>
                <a:ea typeface="Roboto"/>
                <a:cs typeface="Roboto"/>
              </a:defRPr>
            </a:pPr>
            <a:r>
              <a:rPr sz="1500" b="1">
                <a:solidFill>
                  <a:srgbClr val="28C7F7"/>
                </a:solidFill>
                <a:latin typeface="Roboto"/>
                <a:ea typeface="Roboto"/>
                <a:cs typeface="Roboto"/>
              </a:rPr>
              <a:t>METR · MAY 2026</a:t>
            </a:r>
          </a:p>
        </p:txBody>
      </p:sp>
      <p:sp>
        <p:nvSpPr>
          <p:cNvPr id="39" name="">
            <a:extLst xmlns:a="http://schemas.openxmlformats.org/drawingml/2006/main">
              <a:ext uri="{FF2B5EF4-FFF2-40B4-BE49-F238E27FC236}">
                <a16:creationId xmlns:a16="http://schemas.microsoft.com/office/drawing/2014/main" id="{90BF6A74-C0CF-4FFD-831B-657B3BD16A29}"/>
              </a:ext>
            </a:extLst>
          </p:cNvPr>
          <p:cNvSpPr>
            <a:spLocks xmlns:a="http://schemas.openxmlformats.org/drawingml/2006/main" noGrp="1"/>
          </p:cNvSpPr>
          <p:nvPr/>
        </p:nvSpPr>
        <p:spPr>
          <a:xfrm xmlns:a="http://schemas.openxmlformats.org/drawingml/2006/main">
            <a:off x="3543300" y="5962650"/>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725" b="1">
                <a:solidFill>
                  <a:srgbClr val="F4F7FA"/>
                </a:solidFill>
                <a:latin typeface="Roboto"/>
                <a:ea typeface="Roboto"/>
                <a:cs typeface="Roboto"/>
              </a:defRPr>
            </a:pPr>
            <a:r>
              <a:rPr sz="1725" b="1">
                <a:solidFill>
                  <a:srgbClr val="F4F7FA"/>
                </a:solidFill>
                <a:latin typeface="Roboto"/>
                <a:ea typeface="Roboto"/>
                <a:cs typeface="Roboto"/>
              </a:rPr>
              <a:t>1.4–2× work value</a:t>
            </a:r>
          </a:p>
        </p:txBody>
      </p:sp>
      <p:sp>
        <p:nvSpPr>
          <p:cNvPr id="40" name="">
            <a:extLst xmlns:a="http://schemas.openxmlformats.org/drawingml/2006/main">
              <a:ext uri="{FF2B5EF4-FFF2-40B4-BE49-F238E27FC236}">
                <a16:creationId xmlns:a16="http://schemas.microsoft.com/office/drawing/2014/main" id="{C9B5BFAC-4A69-4BAD-A1CC-093A5F1727D9}"/>
              </a:ext>
            </a:extLst>
          </p:cNvPr>
          <p:cNvSpPr>
            <a:spLocks xmlns:a="http://schemas.openxmlformats.org/drawingml/2006/main" noGrp="1"/>
          </p:cNvSpPr>
          <p:nvPr/>
        </p:nvSpPr>
        <p:spPr>
          <a:xfrm xmlns:a="http://schemas.openxmlformats.org/drawingml/2006/main">
            <a:off x="609600" y="6267450"/>
            <a:ext cx="5257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Roboto"/>
                <a:ea typeface="Roboto"/>
                <a:cs typeface="Roboto"/>
              </a:defRPr>
            </a:pPr>
            <a:r>
              <a:rPr sz="1350" b="0">
                <a:solidFill>
                  <a:srgbClr val="ADB8C5"/>
                </a:solidFill>
                <a:latin typeface="Roboto"/>
                <a:ea typeface="Roboto"/>
                <a:cs typeface="Roboto"/>
              </a:rPr>
              <a:t>Medians across 3 questions; self-reported, not causal.</a:t>
            </a:r>
          </a:p>
        </p:txBody>
      </p:sp>
      <p:sp>
        <p:nvSpPr>
          <p:cNvPr id="41" name="">
            <a:extLst xmlns:a="http://schemas.openxmlformats.org/drawingml/2006/main">
              <a:ext uri="{FF2B5EF4-FFF2-40B4-BE49-F238E27FC236}">
                <a16:creationId xmlns:a16="http://schemas.microsoft.com/office/drawing/2014/main" id="{BC0237BD-3079-49DB-9374-67D187E327C3}"/>
              </a:ext>
            </a:extLst>
          </p:cNvPr>
          <p:cNvSpPr>
            <a:spLocks xmlns:a="http://schemas.openxmlformats.org/drawingml/2006/main" noGrp="1"/>
          </p:cNvSpPr>
          <p:nvPr/>
        </p:nvSpPr>
        <p:spPr>
          <a:xfrm xmlns:a="http://schemas.openxmlformats.org/drawingml/2006/main">
            <a:off x="6153150" y="5981700"/>
            <a:ext cx="28956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1">
                <a:solidFill>
                  <a:srgbClr val="28C7F7"/>
                </a:solidFill>
                <a:latin typeface="Roboto"/>
                <a:ea typeface="Roboto"/>
                <a:cs typeface="Roboto"/>
              </a:defRPr>
            </a:pPr>
            <a:r>
              <a:rPr sz="1500" b="1">
                <a:solidFill>
                  <a:srgbClr val="28C7F7"/>
                </a:solidFill>
                <a:latin typeface="Roboto"/>
                <a:ea typeface="Roboto"/>
                <a:cs typeface="Roboto"/>
              </a:rPr>
              <a:t>AGARWAL · JAN 2026</a:t>
            </a:r>
          </a:p>
        </p:txBody>
      </p:sp>
      <p:sp>
        <p:nvSpPr>
          <p:cNvPr id="42" name="">
            <a:extLst xmlns:a="http://schemas.openxmlformats.org/drawingml/2006/main">
              <a:ext uri="{FF2B5EF4-FFF2-40B4-BE49-F238E27FC236}">
                <a16:creationId xmlns:a16="http://schemas.microsoft.com/office/drawing/2014/main" id="{B16BFE70-802F-48C1-912C-987E6125F13F}"/>
              </a:ext>
            </a:extLst>
          </p:cNvPr>
          <p:cNvSpPr>
            <a:spLocks xmlns:a="http://schemas.openxmlformats.org/drawingml/2006/main" noGrp="1"/>
          </p:cNvSpPr>
          <p:nvPr/>
        </p:nvSpPr>
        <p:spPr>
          <a:xfrm xmlns:a="http://schemas.openxmlformats.org/drawingml/2006/main">
            <a:off x="9086850" y="5962650"/>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575" b="1">
                <a:solidFill>
                  <a:srgbClr val="F4F7FA"/>
                </a:solidFill>
                <a:latin typeface="Roboto"/>
                <a:ea typeface="Roboto"/>
                <a:cs typeface="Roboto"/>
              </a:defRPr>
            </a:pPr>
            <a:r>
              <a:rPr sz="1575" b="1">
                <a:solidFill>
                  <a:srgbClr val="F4F7FA"/>
                </a:solidFill>
                <a:latin typeface="Roboto"/>
                <a:ea typeface="Roboto"/>
                <a:cs typeface="Roboto"/>
              </a:rPr>
              <a:t>+34.85% / +42.87%</a:t>
            </a:r>
          </a:p>
        </p:txBody>
      </p:sp>
      <p:sp>
        <p:nvSpPr>
          <p:cNvPr id="43" name="">
            <a:extLst xmlns:a="http://schemas.openxmlformats.org/drawingml/2006/main">
              <a:ext uri="{FF2B5EF4-FFF2-40B4-BE49-F238E27FC236}">
                <a16:creationId xmlns:a16="http://schemas.microsoft.com/office/drawing/2014/main" id="{EF4731A2-A041-4EBB-A652-003B3AD68B17}"/>
              </a:ext>
            </a:extLst>
          </p:cNvPr>
          <p:cNvSpPr>
            <a:spLocks xmlns:a="http://schemas.openxmlformats.org/drawingml/2006/main" noGrp="1"/>
          </p:cNvSpPr>
          <p:nvPr/>
        </p:nvSpPr>
        <p:spPr>
          <a:xfrm xmlns:a="http://schemas.openxmlformats.org/drawingml/2006/main">
            <a:off x="6153150" y="6267450"/>
            <a:ext cx="5257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Roboto"/>
                <a:ea typeface="Roboto"/>
                <a:cs typeface="Roboto"/>
              </a:defRPr>
            </a:pPr>
            <a:r>
              <a:rPr sz="1350" b="0">
                <a:solidFill>
                  <a:srgbClr val="ADB8C5"/>
                </a:solidFill>
                <a:latin typeface="Roboto"/>
                <a:ea typeface="Roboto"/>
                <a:cs typeface="Roboto"/>
              </a:rPr>
              <a:t>Complexity: Agent-first / IDE-first. Xu: workload shifts.</a:t>
            </a:r>
          </a:p>
        </p:txBody>
      </p:sp>
      <p:sp>
        <p:nvSpPr>
          <p:cNvPr id="44" name="">
            <a:extLst xmlns:a="http://schemas.openxmlformats.org/drawingml/2006/main">
              <a:ext uri="{FF2B5EF4-FFF2-40B4-BE49-F238E27FC236}">
                <a16:creationId xmlns:a16="http://schemas.microsoft.com/office/drawing/2014/main" id="{52392E1D-D304-4154-82CC-27DCEF0940F5}"/>
              </a:ext>
            </a:extLst>
          </p:cNvPr>
          <p:cNvSpPr>
            <a:spLocks xmlns:a="http://schemas.openxmlformats.org/drawingml/2006/main" noGrp="1"/>
          </p:cNvSpPr>
          <p:nvPr/>
        </p:nvSpPr>
        <p:spPr>
          <a:xfrm xmlns:a="http://schemas.openxmlformats.org/drawingml/2006/main">
            <a:off x="609600" y="6562725"/>
            <a:ext cx="10429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1">
                <a:solidFill>
                  <a:srgbClr val="F4F7FA"/>
                </a:solidFill>
                <a:latin typeface="Roboto"/>
                <a:ea typeface="Roboto"/>
                <a:cs typeface="Roboto"/>
              </a:defRPr>
            </a:pPr>
            <a:r>
              <a:rPr sz="1500" b="1">
                <a:solidFill>
                  <a:srgbClr val="F4F7FA"/>
                </a:solidFill>
                <a:latin typeface="Roboto"/>
                <a:ea typeface="Roboto"/>
                <a:cs typeface="Roboto"/>
              </a:rPr>
              <a:t>Code activity, delivery and user value are different outcomes.</a:t>
            </a:r>
          </a:p>
        </p:txBody>
      </p:sp>
    </p:spTree>
    <p:extLst>
      <p:ext uri="{BB962C8B-B14F-4D97-AF65-F5344CB8AC3E}">
        <p14:creationId xmlns:p14="http://schemas.microsoft.com/office/powerpoint/2010/main" val="1682141702"/>
      </p:ext>
    </p:extLst>
  </p:cSld>
</p:sld>
</file>

<file path=ppt/slides/slide5.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93DBFFB9-25DD-4F78-B41B-D8A98AA2C98A}"/>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Roboto"/>
                <a:ea typeface="Roboto"/>
                <a:cs typeface="Roboto"/>
              </a:defRPr>
            </a:pPr>
            <a:r>
              <a:rPr sz="3000" b="1">
                <a:solidFill>
                  <a:srgbClr val="F4F7FA"/>
                </a:solidFill>
                <a:latin typeface="Roboto"/>
                <a:ea typeface="Roboto"/>
                <a:cs typeface="Roboto"/>
              </a:rPr>
              <a:t>The New Scarcity Is Human Comprehension</a:t>
            </a:r>
          </a:p>
        </p:txBody>
      </p:sp>
      <p:sp>
        <p:nvSpPr>
          <p:cNvPr id="2" name="">
            <a:extLst xmlns:a="http://schemas.openxmlformats.org/drawingml/2006/main">
              <a:ext uri="{FF2B5EF4-FFF2-40B4-BE49-F238E27FC236}">
                <a16:creationId xmlns:a16="http://schemas.microsoft.com/office/drawing/2014/main" id="{E6F17E68-55FC-40AC-9AE4-2BDE8529BEDC}"/>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079F1DFB-EB7B-4948-92A0-3A50E378B1CF}"/>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Roboto"/>
                <a:ea typeface="Roboto"/>
                <a:cs typeface="Roboto"/>
              </a:defRPr>
            </a:pPr>
            <a:r>
              <a:rPr sz="1200" b="0">
                <a:solidFill>
                  <a:srgbClr val="ADB8C5"/>
                </a:solidFill>
                <a:latin typeface="Roboto"/>
                <a:ea typeface="Roboto"/>
                <a:cs typeface="Roboto"/>
              </a:rPr>
              <a:t>05</a:t>
            </a:r>
          </a:p>
        </p:txBody>
      </p:sp>
      <p:sp>
        <p:nvSpPr>
          <p:cNvPr id="4" name="">
            <a:extLst xmlns:a="http://schemas.openxmlformats.org/drawingml/2006/main">
              <a:ext uri="{FF2B5EF4-FFF2-40B4-BE49-F238E27FC236}">
                <a16:creationId xmlns:a16="http://schemas.microsoft.com/office/drawing/2014/main" id="{10AED6EB-006D-4B92-AB9D-5A761AA49C6C}"/>
              </a:ext>
            </a:extLst>
          </p:cNvPr>
          <p:cNvSpPr>
            <a:spLocks xmlns:a="http://schemas.openxmlformats.org/drawingml/2006/main" noGrp="1"/>
          </p:cNvSpPr>
          <p:nvPr/>
        </p:nvSpPr>
        <p:spPr>
          <a:xfrm xmlns:a="http://schemas.openxmlformats.org/drawingml/2006/main" flipH="0" flipV="0">
            <a:off x="838200" y="4695825"/>
            <a:ext cx="668655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5" name="">
            <a:extLst xmlns:a="http://schemas.openxmlformats.org/drawingml/2006/main">
              <a:ext uri="{FF2B5EF4-FFF2-40B4-BE49-F238E27FC236}">
                <a16:creationId xmlns:a16="http://schemas.microsoft.com/office/drawing/2014/main" id="{30F5FFA6-D858-4382-A96A-AC7D17BC083D}"/>
              </a:ext>
            </a:extLst>
          </p:cNvPr>
          <p:cNvSpPr>
            <a:spLocks xmlns:a="http://schemas.openxmlformats.org/drawingml/2006/main" noGrp="1"/>
          </p:cNvSpPr>
          <p:nvPr/>
        </p:nvSpPr>
        <p:spPr>
          <a:xfrm xmlns:a="http://schemas.openxmlformats.org/drawingml/2006/main" flipH="0" flipV="1">
            <a:off x="838200" y="2171700"/>
            <a:ext cx="0" cy="2524125"/>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6" name="">
            <a:extLst xmlns:a="http://schemas.openxmlformats.org/drawingml/2006/main">
              <a:ext uri="{FF2B5EF4-FFF2-40B4-BE49-F238E27FC236}">
                <a16:creationId xmlns:a16="http://schemas.microsoft.com/office/drawing/2014/main" id="{2734C97F-0A49-4522-8F12-764E9EAB53E4}"/>
              </a:ext>
            </a:extLst>
          </p:cNvPr>
          <p:cNvSpPr>
            <a:spLocks xmlns:a="http://schemas.openxmlformats.org/drawingml/2006/main" noGrp="1"/>
          </p:cNvSpPr>
          <p:nvPr/>
        </p:nvSpPr>
        <p:spPr>
          <a:xfrm xmlns:a="http://schemas.openxmlformats.org/drawingml/2006/main">
            <a:off x="952500" y="2238375"/>
            <a:ext cx="6143625" cy="2190750"/>
          </a:xfrm>
          <a:custGeom xmlns:a="http://schemas.openxmlformats.org/drawingml/2006/main">
            <a:pathLst>
              <a:path w="6143625" h="2190750">
                <a:moveTo>
                  <a:pt x="0" y="2190750"/>
                </a:moveTo>
                <a:lnTo>
                  <a:pt x="51197" y="2187339"/>
                </a:lnTo>
                <a:lnTo>
                  <a:pt x="102394" y="2183679"/>
                </a:lnTo>
                <a:lnTo>
                  <a:pt x="153591" y="2179769"/>
                </a:lnTo>
                <a:lnTo>
                  <a:pt x="204788" y="2175609"/>
                </a:lnTo>
                <a:lnTo>
                  <a:pt x="255984" y="2171201"/>
                </a:lnTo>
                <a:lnTo>
                  <a:pt x="307181" y="2166542"/>
                </a:lnTo>
                <a:lnTo>
                  <a:pt x="358378" y="2161634"/>
                </a:lnTo>
                <a:lnTo>
                  <a:pt x="409575" y="2156477"/>
                </a:lnTo>
                <a:lnTo>
                  <a:pt x="460772" y="2151070"/>
                </a:lnTo>
                <a:lnTo>
                  <a:pt x="511969" y="2145414"/>
                </a:lnTo>
                <a:lnTo>
                  <a:pt x="563166" y="2139508"/>
                </a:lnTo>
                <a:lnTo>
                  <a:pt x="614363" y="2133352"/>
                </a:lnTo>
                <a:lnTo>
                  <a:pt x="665559" y="2126947"/>
                </a:lnTo>
                <a:lnTo>
                  <a:pt x="716756" y="2120293"/>
                </a:lnTo>
                <a:lnTo>
                  <a:pt x="767953" y="2113389"/>
                </a:lnTo>
                <a:lnTo>
                  <a:pt x="819150" y="2106236"/>
                </a:lnTo>
                <a:lnTo>
                  <a:pt x="870347" y="2098833"/>
                </a:lnTo>
                <a:lnTo>
                  <a:pt x="921544" y="2091180"/>
                </a:lnTo>
                <a:lnTo>
                  <a:pt x="972741" y="2083278"/>
                </a:lnTo>
                <a:lnTo>
                  <a:pt x="1023938" y="2075127"/>
                </a:lnTo>
                <a:lnTo>
                  <a:pt x="1075134" y="2066726"/>
                </a:lnTo>
                <a:lnTo>
                  <a:pt x="1126331" y="2058076"/>
                </a:lnTo>
                <a:lnTo>
                  <a:pt x="1177528" y="2049176"/>
                </a:lnTo>
                <a:lnTo>
                  <a:pt x="1228725" y="2040026"/>
                </a:lnTo>
                <a:lnTo>
                  <a:pt x="1279922" y="2030627"/>
                </a:lnTo>
                <a:lnTo>
                  <a:pt x="1331119" y="2020979"/>
                </a:lnTo>
                <a:lnTo>
                  <a:pt x="1382316" y="2011081"/>
                </a:lnTo>
                <a:lnTo>
                  <a:pt x="1433513" y="2000934"/>
                </a:lnTo>
                <a:lnTo>
                  <a:pt x="1484709" y="1990537"/>
                </a:lnTo>
                <a:lnTo>
                  <a:pt x="1535906" y="1979890"/>
                </a:lnTo>
                <a:lnTo>
                  <a:pt x="1587103" y="1968994"/>
                </a:lnTo>
                <a:lnTo>
                  <a:pt x="1638300" y="1957849"/>
                </a:lnTo>
                <a:lnTo>
                  <a:pt x="1689497" y="1946454"/>
                </a:lnTo>
                <a:lnTo>
                  <a:pt x="1740694" y="1934810"/>
                </a:lnTo>
                <a:lnTo>
                  <a:pt x="1791891" y="1922916"/>
                </a:lnTo>
                <a:lnTo>
                  <a:pt x="1843088" y="1910772"/>
                </a:lnTo>
                <a:lnTo>
                  <a:pt x="1894284" y="1898379"/>
                </a:lnTo>
                <a:lnTo>
                  <a:pt x="1945481" y="1885737"/>
                </a:lnTo>
                <a:lnTo>
                  <a:pt x="1996678" y="1872845"/>
                </a:lnTo>
                <a:lnTo>
                  <a:pt x="2047875" y="1859703"/>
                </a:lnTo>
                <a:lnTo>
                  <a:pt x="2099072" y="1846312"/>
                </a:lnTo>
                <a:lnTo>
                  <a:pt x="2150269" y="1832672"/>
                </a:lnTo>
                <a:lnTo>
                  <a:pt x="2201466" y="1818782"/>
                </a:lnTo>
                <a:lnTo>
                  <a:pt x="2252662" y="1804642"/>
                </a:lnTo>
                <a:lnTo>
                  <a:pt x="2303859" y="1790254"/>
                </a:lnTo>
                <a:lnTo>
                  <a:pt x="2355056" y="1775615"/>
                </a:lnTo>
                <a:lnTo>
                  <a:pt x="2406253" y="1760727"/>
                </a:lnTo>
                <a:lnTo>
                  <a:pt x="2457450" y="1745590"/>
                </a:lnTo>
                <a:lnTo>
                  <a:pt x="2508647" y="1730203"/>
                </a:lnTo>
                <a:lnTo>
                  <a:pt x="2559844" y="1714566"/>
                </a:lnTo>
                <a:lnTo>
                  <a:pt x="2611041" y="1698680"/>
                </a:lnTo>
                <a:lnTo>
                  <a:pt x="2662238" y="1682545"/>
                </a:lnTo>
                <a:lnTo>
                  <a:pt x="2713434" y="1666160"/>
                </a:lnTo>
                <a:lnTo>
                  <a:pt x="2764631" y="1649525"/>
                </a:lnTo>
                <a:lnTo>
                  <a:pt x="2815828" y="1632641"/>
                </a:lnTo>
                <a:lnTo>
                  <a:pt x="2867025" y="1615508"/>
                </a:lnTo>
                <a:lnTo>
                  <a:pt x="2918222" y="1598125"/>
                </a:lnTo>
                <a:lnTo>
                  <a:pt x="2969419" y="1580492"/>
                </a:lnTo>
                <a:lnTo>
                  <a:pt x="3020616" y="1562610"/>
                </a:lnTo>
                <a:lnTo>
                  <a:pt x="3071813" y="1544479"/>
                </a:lnTo>
                <a:lnTo>
                  <a:pt x="3123009" y="1526098"/>
                </a:lnTo>
                <a:lnTo>
                  <a:pt x="3174206" y="1507467"/>
                </a:lnTo>
                <a:lnTo>
                  <a:pt x="3225403" y="1488587"/>
                </a:lnTo>
                <a:lnTo>
                  <a:pt x="3276600" y="1469458"/>
                </a:lnTo>
                <a:lnTo>
                  <a:pt x="3327797" y="1450079"/>
                </a:lnTo>
                <a:lnTo>
                  <a:pt x="3378994" y="1430450"/>
                </a:lnTo>
                <a:lnTo>
                  <a:pt x="3430191" y="1410572"/>
                </a:lnTo>
                <a:lnTo>
                  <a:pt x="3481388" y="1390445"/>
                </a:lnTo>
                <a:lnTo>
                  <a:pt x="3532584" y="1370068"/>
                </a:lnTo>
                <a:lnTo>
                  <a:pt x="3583781" y="1349441"/>
                </a:lnTo>
                <a:lnTo>
                  <a:pt x="3634978" y="1328565"/>
                </a:lnTo>
                <a:lnTo>
                  <a:pt x="3686175" y="1307440"/>
                </a:lnTo>
                <a:lnTo>
                  <a:pt x="3737372" y="1286065"/>
                </a:lnTo>
                <a:lnTo>
                  <a:pt x="3788569" y="1264440"/>
                </a:lnTo>
                <a:lnTo>
                  <a:pt x="3839766" y="1242566"/>
                </a:lnTo>
                <a:lnTo>
                  <a:pt x="3890963" y="1220442"/>
                </a:lnTo>
                <a:lnTo>
                  <a:pt x="3942159" y="1198069"/>
                </a:lnTo>
                <a:lnTo>
                  <a:pt x="3993356" y="1175447"/>
                </a:lnTo>
                <a:lnTo>
                  <a:pt x="4044553" y="1152575"/>
                </a:lnTo>
                <a:lnTo>
                  <a:pt x="4095750" y="1129453"/>
                </a:lnTo>
                <a:lnTo>
                  <a:pt x="4146947" y="1106082"/>
                </a:lnTo>
                <a:lnTo>
                  <a:pt x="4198144" y="1082462"/>
                </a:lnTo>
                <a:lnTo>
                  <a:pt x="4249341" y="1058592"/>
                </a:lnTo>
                <a:lnTo>
                  <a:pt x="4300537" y="1034472"/>
                </a:lnTo>
                <a:lnTo>
                  <a:pt x="4351734" y="1010103"/>
                </a:lnTo>
                <a:lnTo>
                  <a:pt x="4402931" y="985485"/>
                </a:lnTo>
                <a:lnTo>
                  <a:pt x="4454128" y="960616"/>
                </a:lnTo>
                <a:lnTo>
                  <a:pt x="4505325" y="935499"/>
                </a:lnTo>
                <a:lnTo>
                  <a:pt x="4556522" y="910132"/>
                </a:lnTo>
                <a:lnTo>
                  <a:pt x="4607719" y="884515"/>
                </a:lnTo>
                <a:lnTo>
                  <a:pt x="4658916" y="858649"/>
                </a:lnTo>
                <a:lnTo>
                  <a:pt x="4710113" y="832534"/>
                </a:lnTo>
                <a:lnTo>
                  <a:pt x="4761309" y="806169"/>
                </a:lnTo>
                <a:lnTo>
                  <a:pt x="4812506" y="779554"/>
                </a:lnTo>
                <a:lnTo>
                  <a:pt x="4863703" y="752690"/>
                </a:lnTo>
                <a:lnTo>
                  <a:pt x="4914900" y="725576"/>
                </a:lnTo>
                <a:lnTo>
                  <a:pt x="4966097" y="698213"/>
                </a:lnTo>
                <a:lnTo>
                  <a:pt x="5017294" y="670601"/>
                </a:lnTo>
                <a:lnTo>
                  <a:pt x="5068491" y="642739"/>
                </a:lnTo>
                <a:lnTo>
                  <a:pt x="5119688" y="614627"/>
                </a:lnTo>
                <a:lnTo>
                  <a:pt x="5170884" y="586266"/>
                </a:lnTo>
                <a:lnTo>
                  <a:pt x="5222081" y="557655"/>
                </a:lnTo>
                <a:lnTo>
                  <a:pt x="5273278" y="528795"/>
                </a:lnTo>
                <a:lnTo>
                  <a:pt x="5324475" y="499686"/>
                </a:lnTo>
                <a:lnTo>
                  <a:pt x="5375672" y="470327"/>
                </a:lnTo>
                <a:lnTo>
                  <a:pt x="5426869" y="440718"/>
                </a:lnTo>
                <a:lnTo>
                  <a:pt x="5478066" y="410860"/>
                </a:lnTo>
                <a:lnTo>
                  <a:pt x="5529263" y="380752"/>
                </a:lnTo>
                <a:lnTo>
                  <a:pt x="5580459" y="350395"/>
                </a:lnTo>
                <a:lnTo>
                  <a:pt x="5631656" y="319789"/>
                </a:lnTo>
                <a:lnTo>
                  <a:pt x="5682853" y="288933"/>
                </a:lnTo>
                <a:lnTo>
                  <a:pt x="5734050" y="257827"/>
                </a:lnTo>
                <a:lnTo>
                  <a:pt x="5785247" y="226472"/>
                </a:lnTo>
                <a:lnTo>
                  <a:pt x="5836444" y="194867"/>
                </a:lnTo>
                <a:lnTo>
                  <a:pt x="5887641" y="163013"/>
                </a:lnTo>
                <a:lnTo>
                  <a:pt x="5938838" y="130909"/>
                </a:lnTo>
                <a:lnTo>
                  <a:pt x="5990034" y="98556"/>
                </a:lnTo>
                <a:lnTo>
                  <a:pt x="6041231" y="65954"/>
                </a:lnTo>
                <a:lnTo>
                  <a:pt x="6092428" y="33102"/>
                </a:lnTo>
                <a:lnTo>
                  <a:pt x="6143625" y="0"/>
                </a:lnTo>
              </a:path>
            </a:pathLst>
          </a:custGeom>
          <a:noFill xmlns:a="http://schemas.openxmlformats.org/drawingml/2006/main"/>
          <a:ln xmlns:a="http://schemas.openxmlformats.org/drawingml/2006/main" w="38100">
            <a:solidFill>
              <a:srgbClr val="28C7F7"/>
            </a:solidFill>
            <a:prstDash val="solid"/>
          </a:ln>
        </p:spPr>
      </p:sp>
      <p:sp>
        <p:nvSpPr>
          <p:cNvPr id="7" name="">
            <a:extLst xmlns:a="http://schemas.openxmlformats.org/drawingml/2006/main">
              <a:ext uri="{FF2B5EF4-FFF2-40B4-BE49-F238E27FC236}">
                <a16:creationId xmlns:a16="http://schemas.microsoft.com/office/drawing/2014/main" id="{C1CB306A-585F-471D-92F2-83C44A2C4027}"/>
              </a:ext>
            </a:extLst>
          </p:cNvPr>
          <p:cNvSpPr>
            <a:spLocks xmlns:a="http://schemas.openxmlformats.org/drawingml/2006/main" noGrp="1"/>
          </p:cNvSpPr>
          <p:nvPr/>
        </p:nvSpPr>
        <p:spPr>
          <a:xfrm xmlns:a="http://schemas.openxmlformats.org/drawingml/2006/main" flipH="0" flipV="0">
            <a:off x="952500" y="4429125"/>
            <a:ext cx="6143625" cy="0"/>
          </a:xfrm>
          <a:prstGeom xmlns:a="http://schemas.openxmlformats.org/drawingml/2006/main" prst="line">
            <a:avLst/>
          </a:prstGeom>
          <a:noFill xmlns:a="http://schemas.openxmlformats.org/drawingml/2006/main"/>
          <a:ln xmlns:a="http://schemas.openxmlformats.org/drawingml/2006/main" w="38100">
            <a:solidFill>
              <a:srgbClr val="F5B61C"/>
            </a:solidFill>
            <a:prstDash val="solid"/>
          </a:ln>
        </p:spPr>
      </p:sp>
      <p:sp>
        <p:nvSpPr>
          <p:cNvPr id="8" name="">
            <a:extLst xmlns:a="http://schemas.openxmlformats.org/drawingml/2006/main">
              <a:ext uri="{FF2B5EF4-FFF2-40B4-BE49-F238E27FC236}">
                <a16:creationId xmlns:a16="http://schemas.microsoft.com/office/drawing/2014/main" id="{0A8A2AC5-BC2C-4599-AE99-C3C8D4EB26F3}"/>
              </a:ext>
            </a:extLst>
          </p:cNvPr>
          <p:cNvSpPr>
            <a:spLocks xmlns:a="http://schemas.openxmlformats.org/drawingml/2006/main" noGrp="1"/>
          </p:cNvSpPr>
          <p:nvPr/>
        </p:nvSpPr>
        <p:spPr>
          <a:xfrm xmlns:a="http://schemas.openxmlformats.org/drawingml/2006/main">
            <a:off x="1047750" y="1838325"/>
            <a:ext cx="6000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1">
                <a:solidFill>
                  <a:srgbClr val="28C7F7"/>
                </a:solidFill>
                <a:latin typeface="Roboto"/>
                <a:ea typeface="Roboto"/>
                <a:cs typeface="Roboto"/>
              </a:defRPr>
            </a:pPr>
            <a:r>
              <a:rPr sz="1875" b="1">
                <a:solidFill>
                  <a:srgbClr val="28C7F7"/>
                </a:solidFill>
                <a:latin typeface="Roboto"/>
                <a:ea typeface="Roboto"/>
                <a:cs typeface="Roboto"/>
              </a:rPr>
              <a:t>Machine generation capacity</a:t>
            </a:r>
          </a:p>
        </p:txBody>
      </p:sp>
      <p:sp>
        <p:nvSpPr>
          <p:cNvPr id="9" name="">
            <a:extLst xmlns:a="http://schemas.openxmlformats.org/drawingml/2006/main">
              <a:ext uri="{FF2B5EF4-FFF2-40B4-BE49-F238E27FC236}">
                <a16:creationId xmlns:a16="http://schemas.microsoft.com/office/drawing/2014/main" id="{69FA3238-D1C0-41FD-97E0-94640A567986}"/>
              </a:ext>
            </a:extLst>
          </p:cNvPr>
          <p:cNvSpPr>
            <a:spLocks xmlns:a="http://schemas.openxmlformats.org/drawingml/2006/main" noGrp="1"/>
          </p:cNvSpPr>
          <p:nvPr/>
        </p:nvSpPr>
        <p:spPr>
          <a:xfrm xmlns:a="http://schemas.openxmlformats.org/drawingml/2006/main">
            <a:off x="1028700" y="4857750"/>
            <a:ext cx="6477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F5B61C"/>
                </a:solidFill>
                <a:latin typeface="Roboto"/>
                <a:ea typeface="Roboto"/>
                <a:cs typeface="Roboto"/>
              </a:defRPr>
            </a:pPr>
            <a:r>
              <a:rPr sz="1725" b="0">
                <a:solidFill>
                  <a:srgbClr val="F5B61C"/>
                </a:solidFill>
                <a:latin typeface="Roboto"/>
                <a:ea typeface="Roboto"/>
                <a:cs typeface="Roboto"/>
              </a:rPr>
              <a:t>Human comprehension capacity</a:t>
            </a:r>
          </a:p>
        </p:txBody>
      </p:sp>
      <p:sp>
        <p:nvSpPr>
          <p:cNvPr id="10" name="">
            <a:extLst xmlns:a="http://schemas.openxmlformats.org/drawingml/2006/main">
              <a:ext uri="{FF2B5EF4-FFF2-40B4-BE49-F238E27FC236}">
                <a16:creationId xmlns:a16="http://schemas.microsoft.com/office/drawing/2014/main" id="{9055AD75-9D62-4B36-8EE3-8E934CE27D58}"/>
              </a:ext>
            </a:extLst>
          </p:cNvPr>
          <p:cNvSpPr>
            <a:spLocks xmlns:a="http://schemas.openxmlformats.org/drawingml/2006/main" noGrp="1"/>
          </p:cNvSpPr>
          <p:nvPr/>
        </p:nvSpPr>
        <p:spPr>
          <a:xfrm xmlns:a="http://schemas.openxmlformats.org/drawingml/2006/main">
            <a:off x="5000625" y="3524250"/>
            <a:ext cx="2476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ADB8C5"/>
                </a:solidFill>
                <a:latin typeface="Roboto"/>
                <a:ea typeface="Roboto"/>
                <a:cs typeface="Roboto"/>
              </a:defRPr>
            </a:pPr>
            <a:r>
              <a:rPr sz="1650" b="0">
                <a:solidFill>
                  <a:srgbClr val="ADB8C5"/>
                </a:solidFill>
                <a:latin typeface="Roboto"/>
                <a:ea typeface="Roboto"/>
                <a:cs typeface="Roboto"/>
              </a:rPr>
              <a:t>Potential</a:t>
            </a:r>
          </a:p>
          <a:p xmlns:a="http://schemas.openxmlformats.org/drawingml/2006/main">
            <a:pPr algn="l">
              <a:defRPr sz="1650" b="0">
                <a:solidFill>
                  <a:srgbClr val="ADB8C5"/>
                </a:solidFill>
                <a:latin typeface="Roboto"/>
                <a:ea typeface="Roboto"/>
                <a:cs typeface="Roboto"/>
              </a:defRPr>
            </a:pPr>
            <a:r>
              <a:rPr sz="1650" b="0">
                <a:solidFill>
                  <a:srgbClr val="ADB8C5"/>
                </a:solidFill>
                <a:latin typeface="Roboto"/>
                <a:ea typeface="Roboto"/>
                <a:cs typeface="Roboto"/>
              </a:rPr>
              <a:t>comprehension gap</a:t>
            </a:r>
          </a:p>
        </p:txBody>
      </p:sp>
      <p:sp>
        <p:nvSpPr>
          <p:cNvPr id="11" name="">
            <a:extLst xmlns:a="http://schemas.openxmlformats.org/drawingml/2006/main">
              <a:ext uri="{FF2B5EF4-FFF2-40B4-BE49-F238E27FC236}">
                <a16:creationId xmlns:a16="http://schemas.microsoft.com/office/drawing/2014/main" id="{6038EB56-4909-4355-8B42-4F7CFDA5F0C9}"/>
              </a:ext>
            </a:extLst>
          </p:cNvPr>
          <p:cNvSpPr>
            <a:spLocks xmlns:a="http://schemas.openxmlformats.org/drawingml/2006/main" noGrp="1"/>
          </p:cNvSpPr>
          <p:nvPr/>
        </p:nvSpPr>
        <p:spPr>
          <a:xfrm xmlns:a="http://schemas.openxmlformats.org/drawingml/2006/main">
            <a:off x="5572125" y="4695825"/>
            <a:ext cx="1952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Roboto"/>
                <a:ea typeface="Roboto"/>
                <a:cs typeface="Roboto"/>
              </a:defRPr>
            </a:pPr>
            <a:r>
              <a:rPr sz="1200" b="0">
                <a:solidFill>
                  <a:srgbClr val="ADB8C5"/>
                </a:solidFill>
                <a:latin typeface="Roboto"/>
                <a:ea typeface="Roboto"/>
                <a:cs typeface="Roboto"/>
              </a:rPr>
              <a:t>Adoption / time</a:t>
            </a:r>
          </a:p>
        </p:txBody>
      </p:sp>
      <p:sp>
        <p:nvSpPr>
          <p:cNvPr id="12" name="">
            <a:extLst xmlns:a="http://schemas.openxmlformats.org/drawingml/2006/main">
              <a:ext uri="{FF2B5EF4-FFF2-40B4-BE49-F238E27FC236}">
                <a16:creationId xmlns:a16="http://schemas.microsoft.com/office/drawing/2014/main" id="{24649B25-281C-415B-8AA2-CA7D2FC276B3}"/>
              </a:ext>
            </a:extLst>
          </p:cNvPr>
          <p:cNvSpPr>
            <a:spLocks xmlns:a="http://schemas.openxmlformats.org/drawingml/2006/main" noGrp="1"/>
          </p:cNvSpPr>
          <p:nvPr/>
        </p:nvSpPr>
        <p:spPr>
          <a:xfrm xmlns:a="http://schemas.openxmlformats.org/drawingml/2006/main">
            <a:off x="8048625" y="2095500"/>
            <a:ext cx="35242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0">
                <a:solidFill>
                  <a:srgbClr val="ADB8C5"/>
                </a:solidFill>
                <a:latin typeface="Roboto"/>
                <a:ea typeface="Roboto"/>
                <a:cs typeface="Roboto"/>
              </a:defRPr>
            </a:pPr>
            <a:r>
              <a:rPr sz="1875" b="0">
                <a:solidFill>
                  <a:srgbClr val="ADB8C5"/>
                </a:solidFill>
                <a:latin typeface="Roboto"/>
                <a:ea typeface="Roboto"/>
                <a:cs typeface="Roboto"/>
              </a:rPr>
              <a:t>Can we generate faster?</a:t>
            </a:r>
          </a:p>
        </p:txBody>
      </p:sp>
      <p:sp>
        <p:nvSpPr>
          <p:cNvPr id="13" name="">
            <a:extLst xmlns:a="http://schemas.openxmlformats.org/drawingml/2006/main">
              <a:ext uri="{FF2B5EF4-FFF2-40B4-BE49-F238E27FC236}">
                <a16:creationId xmlns:a16="http://schemas.microsoft.com/office/drawing/2014/main" id="{575A579A-DA3E-422C-A356-B8D97AD89DEB}"/>
              </a:ext>
            </a:extLst>
          </p:cNvPr>
          <p:cNvSpPr>
            <a:spLocks xmlns:a="http://schemas.openxmlformats.org/drawingml/2006/main" noGrp="1"/>
          </p:cNvSpPr>
          <p:nvPr/>
        </p:nvSpPr>
        <p:spPr>
          <a:xfrm xmlns:a="http://schemas.openxmlformats.org/drawingml/2006/main">
            <a:off x="8048625" y="2676525"/>
            <a:ext cx="3524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1">
                <a:solidFill>
                  <a:srgbClr val="28C7F7"/>
                </a:solidFill>
                <a:latin typeface="Roboto"/>
                <a:ea typeface="Roboto"/>
                <a:cs typeface="Roboto"/>
              </a:defRPr>
            </a:pPr>
            <a:r>
              <a:rPr sz="2100" b="1">
                <a:solidFill>
                  <a:srgbClr val="28C7F7"/>
                </a:solidFill>
                <a:latin typeface="Roboto"/>
                <a:ea typeface="Roboto"/>
                <a:cs typeface="Roboto"/>
              </a:rPr>
              <a:t>YES</a:t>
            </a:r>
          </a:p>
        </p:txBody>
      </p:sp>
      <p:sp>
        <p:nvSpPr>
          <p:cNvPr id="14" name="">
            <a:extLst xmlns:a="http://schemas.openxmlformats.org/drawingml/2006/main">
              <a:ext uri="{FF2B5EF4-FFF2-40B4-BE49-F238E27FC236}">
                <a16:creationId xmlns:a16="http://schemas.microsoft.com/office/drawing/2014/main" id="{2238D76F-5B9A-4C01-8155-7E88E67B8422}"/>
              </a:ext>
            </a:extLst>
          </p:cNvPr>
          <p:cNvSpPr>
            <a:spLocks xmlns:a="http://schemas.openxmlformats.org/drawingml/2006/main" noGrp="1"/>
          </p:cNvSpPr>
          <p:nvPr/>
        </p:nvSpPr>
        <p:spPr>
          <a:xfrm xmlns:a="http://schemas.openxmlformats.org/drawingml/2006/main">
            <a:off x="8048625" y="3190875"/>
            <a:ext cx="35242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0">
                <a:solidFill>
                  <a:srgbClr val="ADB8C5"/>
                </a:solidFill>
                <a:latin typeface="Roboto"/>
                <a:ea typeface="Roboto"/>
                <a:cs typeface="Roboto"/>
              </a:defRPr>
            </a:pPr>
            <a:r>
              <a:rPr sz="1875" b="0">
                <a:solidFill>
                  <a:srgbClr val="ADB8C5"/>
                </a:solidFill>
                <a:latin typeface="Roboto"/>
                <a:ea typeface="Roboto"/>
                <a:cs typeface="Roboto"/>
              </a:rPr>
              <a:t>Can review keep pace?</a:t>
            </a:r>
          </a:p>
        </p:txBody>
      </p:sp>
      <p:sp>
        <p:nvSpPr>
          <p:cNvPr id="15" name="">
            <a:extLst xmlns:a="http://schemas.openxmlformats.org/drawingml/2006/main">
              <a:ext uri="{FF2B5EF4-FFF2-40B4-BE49-F238E27FC236}">
                <a16:creationId xmlns:a16="http://schemas.microsoft.com/office/drawing/2014/main" id="{D99C13E7-9BFC-4B7D-99DC-65854F8A969A}"/>
              </a:ext>
            </a:extLst>
          </p:cNvPr>
          <p:cNvSpPr>
            <a:spLocks xmlns:a="http://schemas.openxmlformats.org/drawingml/2006/main" noGrp="1"/>
          </p:cNvSpPr>
          <p:nvPr/>
        </p:nvSpPr>
        <p:spPr>
          <a:xfrm xmlns:a="http://schemas.openxmlformats.org/drawingml/2006/main">
            <a:off x="8048625" y="3771900"/>
            <a:ext cx="3524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1">
                <a:solidFill>
                  <a:srgbClr val="F5B61C"/>
                </a:solidFill>
                <a:latin typeface="Roboto"/>
                <a:ea typeface="Roboto"/>
                <a:cs typeface="Roboto"/>
              </a:defRPr>
            </a:pPr>
            <a:r>
              <a:rPr sz="2100" b="1">
                <a:solidFill>
                  <a:srgbClr val="F5B61C"/>
                </a:solidFill>
                <a:latin typeface="Roboto"/>
                <a:ea typeface="Roboto"/>
                <a:cs typeface="Roboto"/>
              </a:rPr>
              <a:t>NOT AT THIS RATE</a:t>
            </a:r>
          </a:p>
        </p:txBody>
      </p:sp>
      <p:sp>
        <p:nvSpPr>
          <p:cNvPr id="16" name="">
            <a:extLst xmlns:a="http://schemas.openxmlformats.org/drawingml/2006/main">
              <a:ext uri="{FF2B5EF4-FFF2-40B4-BE49-F238E27FC236}">
                <a16:creationId xmlns:a16="http://schemas.microsoft.com/office/drawing/2014/main" id="{4DF6D0E1-0601-4A00-98C1-F2D8D092E2F4}"/>
              </a:ext>
            </a:extLst>
          </p:cNvPr>
          <p:cNvSpPr>
            <a:spLocks xmlns:a="http://schemas.openxmlformats.org/drawingml/2006/main" noGrp="1"/>
          </p:cNvSpPr>
          <p:nvPr/>
        </p:nvSpPr>
        <p:spPr>
          <a:xfrm xmlns:a="http://schemas.openxmlformats.org/drawingml/2006/main">
            <a:off x="8048625" y="4286250"/>
            <a:ext cx="35242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0">
                <a:solidFill>
                  <a:srgbClr val="ADB8C5"/>
                </a:solidFill>
                <a:latin typeface="Roboto"/>
                <a:ea typeface="Roboto"/>
                <a:cs typeface="Roboto"/>
              </a:defRPr>
            </a:pPr>
            <a:r>
              <a:rPr sz="1875" b="0">
                <a:solidFill>
                  <a:srgbClr val="ADB8C5"/>
                </a:solidFill>
                <a:latin typeface="Roboto"/>
                <a:ea typeface="Roboto"/>
                <a:cs typeface="Roboto"/>
              </a:rPr>
              <a:t>Will we understand it</a:t>
            </a:r>
          </a:p>
          <a:p xmlns:a="http://schemas.openxmlformats.org/drawingml/2006/main">
            <a:pPr algn="l">
              <a:defRPr sz="1875" b="0">
                <a:solidFill>
                  <a:srgbClr val="ADB8C5"/>
                </a:solidFill>
                <a:latin typeface="Roboto"/>
                <a:ea typeface="Roboto"/>
                <a:cs typeface="Roboto"/>
              </a:defRPr>
            </a:pPr>
            <a:r>
              <a:rPr sz="1875" b="0">
                <a:solidFill>
                  <a:srgbClr val="ADB8C5"/>
                </a:solidFill>
                <a:latin typeface="Roboto"/>
                <a:ea typeface="Roboto"/>
                <a:cs typeface="Roboto"/>
              </a:rPr>
              <a:t>in 5 years?</a:t>
            </a:r>
          </a:p>
        </p:txBody>
      </p:sp>
      <p:sp>
        <p:nvSpPr>
          <p:cNvPr id="17" name="">
            <a:extLst xmlns:a="http://schemas.openxmlformats.org/drawingml/2006/main">
              <a:ext uri="{FF2B5EF4-FFF2-40B4-BE49-F238E27FC236}">
                <a16:creationId xmlns:a16="http://schemas.microsoft.com/office/drawing/2014/main" id="{24315CEE-EC04-4885-8FA6-709DA3579414}"/>
              </a:ext>
            </a:extLst>
          </p:cNvPr>
          <p:cNvSpPr>
            <a:spLocks xmlns:a="http://schemas.openxmlformats.org/drawingml/2006/main" noGrp="1"/>
          </p:cNvSpPr>
          <p:nvPr/>
        </p:nvSpPr>
        <p:spPr>
          <a:xfrm xmlns:a="http://schemas.openxmlformats.org/drawingml/2006/main">
            <a:off x="8048625" y="4867275"/>
            <a:ext cx="3524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75" b="1">
                <a:solidFill>
                  <a:srgbClr val="F5B61C"/>
                </a:solidFill>
                <a:latin typeface="Roboto"/>
                <a:ea typeface="Roboto"/>
                <a:cs typeface="Roboto"/>
              </a:defRPr>
            </a:pPr>
            <a:r>
              <a:rPr sz="3075" b="1">
                <a:solidFill>
                  <a:srgbClr val="F5B61C"/>
                </a:solidFill>
                <a:latin typeface="Roboto"/>
                <a:ea typeface="Roboto"/>
                <a:cs typeface="Roboto"/>
              </a:rPr>
              <a:t>?</a:t>
            </a:r>
          </a:p>
        </p:txBody>
      </p:sp>
      <p:sp>
        <p:nvSpPr>
          <p:cNvPr id="18" name="">
            <a:extLst xmlns:a="http://schemas.openxmlformats.org/drawingml/2006/main">
              <a:ext uri="{FF2B5EF4-FFF2-40B4-BE49-F238E27FC236}">
                <a16:creationId xmlns:a16="http://schemas.microsoft.com/office/drawing/2014/main" id="{3A00B33A-FCAA-4ED2-95B8-59F9C66B217F}"/>
              </a:ext>
            </a:extLst>
          </p:cNvPr>
          <p:cNvSpPr>
            <a:spLocks xmlns:a="http://schemas.openxmlformats.org/drawingml/2006/main" noGrp="1"/>
          </p:cNvSpPr>
          <p:nvPr/>
        </p:nvSpPr>
        <p:spPr>
          <a:xfrm xmlns:a="http://schemas.openxmlformats.org/drawingml/2006/main">
            <a:off x="838200" y="5343525"/>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Roboto"/>
                <a:ea typeface="Roboto"/>
                <a:cs typeface="Roboto"/>
              </a:defRPr>
            </a:pPr>
            <a:r>
              <a:rPr sz="1500" b="0">
                <a:solidFill>
                  <a:srgbClr val="ADB8C5"/>
                </a:solidFill>
                <a:latin typeface="Roboto"/>
                <a:ea typeface="Roboto"/>
                <a:cs typeface="Roboto"/>
              </a:rPr>
              <a:t>Illustrative overload scenario. Not measured trends or a five-year forecast.</a:t>
            </a:r>
          </a:p>
        </p:txBody>
      </p:sp>
      <p:sp>
        <p:nvSpPr>
          <p:cNvPr id="19" name="">
            <a:extLst xmlns:a="http://schemas.openxmlformats.org/drawingml/2006/main">
              <a:ext uri="{FF2B5EF4-FFF2-40B4-BE49-F238E27FC236}">
                <a16:creationId xmlns:a16="http://schemas.microsoft.com/office/drawing/2014/main" id="{A8752CD8-823F-4568-B1AF-3288CF293389}"/>
              </a:ext>
            </a:extLst>
          </p:cNvPr>
          <p:cNvSpPr>
            <a:spLocks xmlns:a="http://schemas.openxmlformats.org/drawingml/2006/main" noGrp="1"/>
          </p:cNvSpPr>
          <p:nvPr/>
        </p:nvSpPr>
        <p:spPr>
          <a:xfrm xmlns:a="http://schemas.openxmlformats.org/drawingml/2006/main" flipH="0" flipV="0">
            <a:off x="609600" y="573405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0" name="">
            <a:extLst xmlns:a="http://schemas.openxmlformats.org/drawingml/2006/main">
              <a:ext uri="{FF2B5EF4-FFF2-40B4-BE49-F238E27FC236}">
                <a16:creationId xmlns:a16="http://schemas.microsoft.com/office/drawing/2014/main" id="{C670DC1D-70D7-49C7-9E1C-98FE863B5D62}"/>
              </a:ext>
            </a:extLst>
          </p:cNvPr>
          <p:cNvSpPr>
            <a:spLocks xmlns:a="http://schemas.openxmlformats.org/drawingml/2006/main" noGrp="1"/>
          </p:cNvSpPr>
          <p:nvPr/>
        </p:nvSpPr>
        <p:spPr>
          <a:xfrm xmlns:a="http://schemas.openxmlformats.org/drawingml/2006/main">
            <a:off x="609600" y="5905500"/>
            <a:ext cx="106489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1">
                <a:solidFill>
                  <a:srgbClr val="F4F7FA"/>
                </a:solidFill>
                <a:latin typeface="Roboto"/>
                <a:ea typeface="Roboto"/>
                <a:cs typeface="Roboto"/>
              </a:defRPr>
            </a:pPr>
            <a:r>
              <a:rPr sz="2100" b="1">
                <a:solidFill>
                  <a:srgbClr val="F4F7FA"/>
                </a:solidFill>
                <a:latin typeface="Roboto"/>
                <a:ea typeface="Roboto"/>
                <a:cs typeface="Roboto"/>
              </a:rPr>
              <a:t>Generation scales differently from comprehension.</a:t>
            </a:r>
          </a:p>
        </p:txBody>
      </p:sp>
    </p:spTree>
    <p:extLst>
      <p:ext uri="{BB962C8B-B14F-4D97-AF65-F5344CB8AC3E}">
        <p14:creationId xmlns:p14="http://schemas.microsoft.com/office/powerpoint/2010/main" val="664236210"/>
      </p:ext>
    </p:extLst>
  </p:cSld>
</p:sld>
</file>

<file path=ppt/slides/slide6.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931FBF29-8A9F-47D5-84F9-67FB432EF99C}"/>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Roboto"/>
                <a:ea typeface="Roboto"/>
                <a:cs typeface="Roboto"/>
              </a:defRPr>
            </a:pPr>
            <a:r>
              <a:rPr sz="3000" b="1">
                <a:solidFill>
                  <a:srgbClr val="F4F7FA"/>
                </a:solidFill>
                <a:latin typeface="Roboto"/>
                <a:ea typeface="Roboto"/>
                <a:cs typeface="Roboto"/>
              </a:rPr>
              <a:t>The Team Is the Last Line of Defense</a:t>
            </a:r>
          </a:p>
        </p:txBody>
      </p:sp>
      <p:sp>
        <p:nvSpPr>
          <p:cNvPr id="2" name="">
            <a:extLst xmlns:a="http://schemas.openxmlformats.org/drawingml/2006/main">
              <a:ext uri="{FF2B5EF4-FFF2-40B4-BE49-F238E27FC236}">
                <a16:creationId xmlns:a16="http://schemas.microsoft.com/office/drawing/2014/main" id="{F913471F-2D1C-4EA9-9B4E-BDF34A45738A}"/>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D9490C16-8F5E-4682-924A-19B6512CCACB}"/>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Roboto"/>
                <a:ea typeface="Roboto"/>
                <a:cs typeface="Roboto"/>
              </a:defRPr>
            </a:pPr>
            <a:r>
              <a:rPr sz="1200" b="0">
                <a:solidFill>
                  <a:srgbClr val="ADB8C5"/>
                </a:solidFill>
                <a:latin typeface="Roboto"/>
                <a:ea typeface="Roboto"/>
                <a:cs typeface="Roboto"/>
              </a:rPr>
              <a:t>06</a:t>
            </a:r>
          </a:p>
        </p:txBody>
      </p:sp>
      <p:sp>
        <p:nvSpPr>
          <p:cNvPr id="4" name="">
            <a:extLst xmlns:a="http://schemas.openxmlformats.org/drawingml/2006/main">
              <a:ext uri="{FF2B5EF4-FFF2-40B4-BE49-F238E27FC236}">
                <a16:creationId xmlns:a16="http://schemas.microsoft.com/office/drawing/2014/main" id="{0DEAF6D5-8561-4B7D-97B5-6A7B419F8B15}"/>
              </a:ext>
            </a:extLst>
          </p:cNvPr>
          <p:cNvSpPr>
            <a:spLocks xmlns:a="http://schemas.openxmlformats.org/drawingml/2006/main" noGrp="1"/>
          </p:cNvSpPr>
          <p:nvPr/>
        </p:nvSpPr>
        <p:spPr>
          <a:xfrm xmlns:a="http://schemas.openxmlformats.org/drawingml/2006/main">
            <a:off x="609600" y="18097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75" b="1">
                <a:solidFill>
                  <a:srgbClr val="F4F7FA"/>
                </a:solidFill>
                <a:latin typeface="Roboto"/>
                <a:ea typeface="Roboto"/>
                <a:cs typeface="Roboto"/>
              </a:defRPr>
            </a:pPr>
            <a:r>
              <a:rPr sz="2175" b="1">
                <a:solidFill>
                  <a:srgbClr val="F4F7FA"/>
                </a:solidFill>
                <a:latin typeface="Roboto"/>
                <a:ea typeface="Roboto"/>
                <a:cs typeface="Roboto"/>
              </a:rPr>
              <a:t>AI code generators are technical systems with limits.</a:t>
            </a:r>
          </a:p>
        </p:txBody>
      </p:sp>
      <p:sp>
        <p:nvSpPr>
          <p:cNvPr id="5" name="">
            <a:extLst xmlns:a="http://schemas.openxmlformats.org/drawingml/2006/main">
              <a:ext uri="{FF2B5EF4-FFF2-40B4-BE49-F238E27FC236}">
                <a16:creationId xmlns:a16="http://schemas.microsoft.com/office/drawing/2014/main" id="{80BAAF48-BF90-453A-BAFB-40E956AB3FE4}"/>
              </a:ext>
            </a:extLst>
          </p:cNvPr>
          <p:cNvSpPr>
            <a:spLocks xmlns:a="http://schemas.openxmlformats.org/drawingml/2006/main" noGrp="1"/>
          </p:cNvSpPr>
          <p:nvPr/>
        </p:nvSpPr>
        <p:spPr>
          <a:xfrm xmlns:a="http://schemas.openxmlformats.org/drawingml/2006/main">
            <a:off x="609600" y="22669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0">
                <a:solidFill>
                  <a:srgbClr val="ADB8C5"/>
                </a:solidFill>
                <a:latin typeface="Roboto"/>
                <a:ea typeface="Roboto"/>
                <a:cs typeface="Roboto"/>
              </a:defRPr>
            </a:pPr>
            <a:r>
              <a:rPr sz="1875" b="0">
                <a:solidFill>
                  <a:srgbClr val="ADB8C5"/>
                </a:solidFill>
                <a:latin typeface="Roboto"/>
                <a:ea typeface="Roboto"/>
                <a:cs typeface="Roboto"/>
              </a:rPr>
              <a:t>Their failure to fix an incident belongs in the project risk model.</a:t>
            </a:r>
          </a:p>
        </p:txBody>
      </p:sp>
      <p:sp>
        <p:nvSpPr>
          <p:cNvPr id="6" name="">
            <a:extLst xmlns:a="http://schemas.openxmlformats.org/drawingml/2006/main">
              <a:ext uri="{FF2B5EF4-FFF2-40B4-BE49-F238E27FC236}">
                <a16:creationId xmlns:a16="http://schemas.microsoft.com/office/drawing/2014/main" id="{AB691021-6452-4553-AE82-C7577CBFBF6C}"/>
              </a:ext>
            </a:extLst>
          </p:cNvPr>
          <p:cNvSpPr>
            <a:spLocks xmlns:a="http://schemas.openxmlformats.org/drawingml/2006/main" noGrp="1"/>
          </p:cNvSpPr>
          <p:nvPr/>
        </p:nvSpPr>
        <p:spPr>
          <a:xfrm xmlns:a="http://schemas.openxmlformats.org/drawingml/2006/main">
            <a:off x="609600" y="3086100"/>
            <a:ext cx="2400300" cy="83820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7" name="">
            <a:extLst xmlns:a="http://schemas.openxmlformats.org/drawingml/2006/main">
              <a:ext uri="{FF2B5EF4-FFF2-40B4-BE49-F238E27FC236}">
                <a16:creationId xmlns:a16="http://schemas.microsoft.com/office/drawing/2014/main" id="{F9DA47AE-A483-4A36-8FF9-522E4AD8AEE5}"/>
              </a:ext>
            </a:extLst>
          </p:cNvPr>
          <p:cNvSpPr>
            <a:spLocks xmlns:a="http://schemas.openxmlformats.org/drawingml/2006/main" noGrp="1"/>
          </p:cNvSpPr>
          <p:nvPr/>
        </p:nvSpPr>
        <p:spPr>
          <a:xfrm xmlns:a="http://schemas.openxmlformats.org/drawingml/2006/main">
            <a:off x="723900" y="3162300"/>
            <a:ext cx="21717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75" b="1">
                <a:solidFill>
                  <a:srgbClr val="F4F7FA"/>
                </a:solidFill>
                <a:latin typeface="Roboto"/>
                <a:ea typeface="Roboto"/>
                <a:cs typeface="Roboto"/>
              </a:defRPr>
            </a:pPr>
            <a:r>
              <a:rPr sz="1875" b="1">
                <a:solidFill>
                  <a:srgbClr val="F4F7FA"/>
                </a:solidFill>
                <a:latin typeface="Roboto"/>
                <a:ea typeface="Roboto"/>
                <a:cs typeface="Roboto"/>
              </a:rPr>
              <a:t>Production</a:t>
            </a:r>
          </a:p>
          <a:p xmlns:a="http://schemas.openxmlformats.org/drawingml/2006/main">
            <a:pPr algn="ctr">
              <a:defRPr sz="1875" b="1">
                <a:solidFill>
                  <a:srgbClr val="F4F7FA"/>
                </a:solidFill>
                <a:latin typeface="Roboto"/>
                <a:ea typeface="Roboto"/>
                <a:cs typeface="Roboto"/>
              </a:defRPr>
            </a:pPr>
            <a:r>
              <a:rPr sz="1875" b="1">
                <a:solidFill>
                  <a:srgbClr val="F4F7FA"/>
                </a:solidFill>
                <a:latin typeface="Roboto"/>
                <a:ea typeface="Roboto"/>
                <a:cs typeface="Roboto"/>
              </a:rPr>
              <a:t>incident</a:t>
            </a:r>
          </a:p>
        </p:txBody>
      </p:sp>
      <p:sp>
        <p:nvSpPr>
          <p:cNvPr id="8" name="">
            <a:extLst xmlns:a="http://schemas.openxmlformats.org/drawingml/2006/main">
              <a:ext uri="{FF2B5EF4-FFF2-40B4-BE49-F238E27FC236}">
                <a16:creationId xmlns:a16="http://schemas.microsoft.com/office/drawing/2014/main" id="{7A52EFFF-5054-49A6-915D-ECDAB0837288}"/>
              </a:ext>
            </a:extLst>
          </p:cNvPr>
          <p:cNvSpPr>
            <a:spLocks xmlns:a="http://schemas.openxmlformats.org/drawingml/2006/main" noGrp="1"/>
          </p:cNvSpPr>
          <p:nvPr/>
        </p:nvSpPr>
        <p:spPr>
          <a:xfrm xmlns:a="http://schemas.openxmlformats.org/drawingml/2006/main">
            <a:off x="609600" y="4152900"/>
            <a:ext cx="240030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ADB8C5"/>
                </a:solidFill>
                <a:latin typeface="Roboto"/>
                <a:ea typeface="Roboto"/>
                <a:cs typeface="Roboto"/>
              </a:defRPr>
            </a:pPr>
            <a:r>
              <a:rPr sz="1650" b="0">
                <a:solidFill>
                  <a:srgbClr val="ADB8C5"/>
                </a:solidFill>
                <a:latin typeface="Roboto"/>
                <a:ea typeface="Roboto"/>
                <a:cs typeface="Roboto"/>
              </a:rPr>
              <a:t>Contain impact.</a:t>
            </a:r>
          </a:p>
          <a:p xmlns:a="http://schemas.openxmlformats.org/drawingml/2006/main">
            <a:pPr algn="l">
              <a:defRPr sz="1650" b="0">
                <a:solidFill>
                  <a:srgbClr val="ADB8C5"/>
                </a:solidFill>
                <a:latin typeface="Roboto"/>
                <a:ea typeface="Roboto"/>
                <a:cs typeface="Roboto"/>
              </a:defRPr>
            </a:pPr>
            <a:r>
              <a:rPr sz="1650" b="0">
                <a:solidFill>
                  <a:srgbClr val="ADB8C5"/>
                </a:solidFill>
                <a:latin typeface="Roboto"/>
                <a:ea typeface="Roboto"/>
                <a:cs typeface="Roboto"/>
              </a:rPr>
              <a:t>Roll back or use</a:t>
            </a:r>
          </a:p>
          <a:p xmlns:a="http://schemas.openxmlformats.org/drawingml/2006/main">
            <a:pPr algn="l">
              <a:defRPr sz="1650" b="0">
                <a:solidFill>
                  <a:srgbClr val="ADB8C5"/>
                </a:solidFill>
                <a:latin typeface="Roboto"/>
                <a:ea typeface="Roboto"/>
                <a:cs typeface="Roboto"/>
              </a:defRPr>
            </a:pPr>
            <a:r>
              <a:rPr sz="1650" b="0">
                <a:solidFill>
                  <a:srgbClr val="ADB8C5"/>
                </a:solidFill>
                <a:latin typeface="Roboto"/>
                <a:ea typeface="Roboto"/>
                <a:cs typeface="Roboto"/>
              </a:rPr>
              <a:t>fallback where safe.</a:t>
            </a:r>
          </a:p>
        </p:txBody>
      </p:sp>
      <p:sp>
        <p:nvSpPr>
          <p:cNvPr id="9" name="">
            <a:extLst xmlns:a="http://schemas.openxmlformats.org/drawingml/2006/main">
              <a:ext uri="{FF2B5EF4-FFF2-40B4-BE49-F238E27FC236}">
                <a16:creationId xmlns:a16="http://schemas.microsoft.com/office/drawing/2014/main" id="{558FD413-8E84-4B9A-8FF1-4ABF640EDD76}"/>
              </a:ext>
            </a:extLst>
          </p:cNvPr>
          <p:cNvSpPr>
            <a:spLocks xmlns:a="http://schemas.openxmlformats.org/drawingml/2006/main" noGrp="1"/>
          </p:cNvSpPr>
          <p:nvPr/>
        </p:nvSpPr>
        <p:spPr>
          <a:xfrm xmlns:a="http://schemas.openxmlformats.org/drawingml/2006/main">
            <a:off x="3467100" y="3086100"/>
            <a:ext cx="2400300" cy="838200"/>
          </a:xfrm>
          <a:prstGeom xmlns:a="http://schemas.openxmlformats.org/drawingml/2006/main" prst="rect">
            <a:avLst/>
          </a:prstGeom>
          <a:solidFill xmlns:a="http://schemas.openxmlformats.org/drawingml/2006/main">
            <a:srgbClr val="141C26"/>
          </a:solidFill>
          <a:ln xmlns:a="http://schemas.openxmlformats.org/drawingml/2006/main" w="14288">
            <a:solidFill>
              <a:srgbClr val="FF6B75"/>
            </a:solidFill>
            <a:prstDash val="solid"/>
          </a:ln>
        </p:spPr>
      </p:sp>
      <p:sp>
        <p:nvSpPr>
          <p:cNvPr id="10" name="">
            <a:extLst xmlns:a="http://schemas.openxmlformats.org/drawingml/2006/main">
              <a:ext uri="{FF2B5EF4-FFF2-40B4-BE49-F238E27FC236}">
                <a16:creationId xmlns:a16="http://schemas.microsoft.com/office/drawing/2014/main" id="{BF36DFA0-83B6-45DD-A77F-592292BC5B72}"/>
              </a:ext>
            </a:extLst>
          </p:cNvPr>
          <p:cNvSpPr>
            <a:spLocks xmlns:a="http://schemas.openxmlformats.org/drawingml/2006/main" noGrp="1"/>
          </p:cNvSpPr>
          <p:nvPr/>
        </p:nvSpPr>
        <p:spPr>
          <a:xfrm xmlns:a="http://schemas.openxmlformats.org/drawingml/2006/main">
            <a:off x="3581400" y="3162300"/>
            <a:ext cx="21717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75" b="1">
                <a:solidFill>
                  <a:srgbClr val="F4F7FA"/>
                </a:solidFill>
                <a:latin typeface="Roboto"/>
                <a:ea typeface="Roboto"/>
                <a:cs typeface="Roboto"/>
              </a:defRPr>
            </a:pPr>
            <a:r>
              <a:rPr sz="1875" b="1">
                <a:solidFill>
                  <a:srgbClr val="F4F7FA"/>
                </a:solidFill>
                <a:latin typeface="Roboto"/>
                <a:ea typeface="Roboto"/>
                <a:cs typeface="Roboto"/>
              </a:rPr>
              <a:t>AI cannot</a:t>
            </a:r>
          </a:p>
          <a:p xmlns:a="http://schemas.openxmlformats.org/drawingml/2006/main">
            <a:pPr algn="ctr">
              <a:defRPr sz="1875" b="1">
                <a:solidFill>
                  <a:srgbClr val="F4F7FA"/>
                </a:solidFill>
                <a:latin typeface="Roboto"/>
                <a:ea typeface="Roboto"/>
                <a:cs typeface="Roboto"/>
              </a:defRPr>
            </a:pPr>
            <a:r>
              <a:rPr sz="1875" b="1">
                <a:solidFill>
                  <a:srgbClr val="F4F7FA"/>
                </a:solidFill>
                <a:latin typeface="Roboto"/>
                <a:ea typeface="Roboto"/>
                <a:cs typeface="Roboto"/>
              </a:rPr>
              <a:t>recover</a:t>
            </a:r>
          </a:p>
        </p:txBody>
      </p:sp>
      <p:sp>
        <p:nvSpPr>
          <p:cNvPr id="11" name="">
            <a:extLst xmlns:a="http://schemas.openxmlformats.org/drawingml/2006/main">
              <a:ext uri="{FF2B5EF4-FFF2-40B4-BE49-F238E27FC236}">
                <a16:creationId xmlns:a16="http://schemas.microsoft.com/office/drawing/2014/main" id="{F378237C-DD9B-4BF4-8AEF-20AE08C092D3}"/>
              </a:ext>
            </a:extLst>
          </p:cNvPr>
          <p:cNvSpPr>
            <a:spLocks xmlns:a="http://schemas.openxmlformats.org/drawingml/2006/main" noGrp="1"/>
          </p:cNvSpPr>
          <p:nvPr/>
        </p:nvSpPr>
        <p:spPr>
          <a:xfrm xmlns:a="http://schemas.openxmlformats.org/drawingml/2006/main">
            <a:off x="3467100" y="4152900"/>
            <a:ext cx="240030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ADB8C5"/>
                </a:solidFill>
                <a:latin typeface="Roboto"/>
                <a:ea typeface="Roboto"/>
                <a:cs typeface="Roboto"/>
              </a:defRPr>
            </a:pPr>
            <a:r>
              <a:rPr sz="1650" b="0">
                <a:solidFill>
                  <a:srgbClr val="ADB8C5"/>
                </a:solidFill>
                <a:latin typeface="Roboto"/>
                <a:ea typeface="Roboto"/>
                <a:cs typeface="Roboto"/>
              </a:rPr>
              <a:t>Stop at the agreed</a:t>
            </a:r>
          </a:p>
          <a:p xmlns:a="http://schemas.openxmlformats.org/drawingml/2006/main">
            <a:pPr algn="l">
              <a:defRPr sz="1650" b="0">
                <a:solidFill>
                  <a:srgbClr val="ADB8C5"/>
                </a:solidFill>
                <a:latin typeface="Roboto"/>
                <a:ea typeface="Roboto"/>
                <a:cs typeface="Roboto"/>
              </a:defRPr>
            </a:pPr>
            <a:r>
              <a:rPr sz="1650" b="0">
                <a:solidFill>
                  <a:srgbClr val="ADB8C5"/>
                </a:solidFill>
                <a:latin typeface="Roboto"/>
                <a:ea typeface="Roboto"/>
                <a:cs typeface="Roboto"/>
              </a:rPr>
              <a:t>retry limit. Preserve</a:t>
            </a:r>
          </a:p>
          <a:p xmlns:a="http://schemas.openxmlformats.org/drawingml/2006/main">
            <a:pPr algn="l">
              <a:defRPr sz="1650" b="0">
                <a:solidFill>
                  <a:srgbClr val="ADB8C5"/>
                </a:solidFill>
                <a:latin typeface="Roboto"/>
                <a:ea typeface="Roboto"/>
                <a:cs typeface="Roboto"/>
              </a:defRPr>
            </a:pPr>
            <a:r>
              <a:rPr sz="1650" b="0">
                <a:solidFill>
                  <a:srgbClr val="ADB8C5"/>
                </a:solidFill>
                <a:latin typeface="Roboto"/>
                <a:ea typeface="Roboto"/>
                <a:cs typeface="Roboto"/>
              </a:rPr>
              <a:t>traces and changes.</a:t>
            </a:r>
          </a:p>
        </p:txBody>
      </p:sp>
      <p:sp>
        <p:nvSpPr>
          <p:cNvPr id="12" name="">
            <a:extLst xmlns:a="http://schemas.openxmlformats.org/drawingml/2006/main">
              <a:ext uri="{FF2B5EF4-FFF2-40B4-BE49-F238E27FC236}">
                <a16:creationId xmlns:a16="http://schemas.microsoft.com/office/drawing/2014/main" id="{AC949D59-1A10-421F-A2C0-ACB43A05E139}"/>
              </a:ext>
            </a:extLst>
          </p:cNvPr>
          <p:cNvSpPr>
            <a:spLocks xmlns:a="http://schemas.openxmlformats.org/drawingml/2006/main" noGrp="1"/>
          </p:cNvSpPr>
          <p:nvPr/>
        </p:nvSpPr>
        <p:spPr>
          <a:xfrm xmlns:a="http://schemas.openxmlformats.org/drawingml/2006/main">
            <a:off x="6324600" y="3086100"/>
            <a:ext cx="2400300" cy="838200"/>
          </a:xfrm>
          <a:prstGeom xmlns:a="http://schemas.openxmlformats.org/drawingml/2006/main" prst="rect">
            <a:avLst/>
          </a:prstGeom>
          <a:solidFill xmlns:a="http://schemas.openxmlformats.org/drawingml/2006/main">
            <a:srgbClr val="141C26"/>
          </a:solidFill>
          <a:ln xmlns:a="http://schemas.openxmlformats.org/drawingml/2006/main" w="14288">
            <a:solidFill>
              <a:srgbClr val="F5B61C"/>
            </a:solidFill>
            <a:prstDash val="solid"/>
          </a:ln>
        </p:spPr>
      </p:sp>
      <p:sp>
        <p:nvSpPr>
          <p:cNvPr id="13" name="">
            <a:extLst xmlns:a="http://schemas.openxmlformats.org/drawingml/2006/main">
              <a:ext uri="{FF2B5EF4-FFF2-40B4-BE49-F238E27FC236}">
                <a16:creationId xmlns:a16="http://schemas.microsoft.com/office/drawing/2014/main" id="{DDC4D709-84A2-4694-8853-C8AD44B205B4}"/>
              </a:ext>
            </a:extLst>
          </p:cNvPr>
          <p:cNvSpPr>
            <a:spLocks xmlns:a="http://schemas.openxmlformats.org/drawingml/2006/main" noGrp="1"/>
          </p:cNvSpPr>
          <p:nvPr/>
        </p:nvSpPr>
        <p:spPr>
          <a:xfrm xmlns:a="http://schemas.openxmlformats.org/drawingml/2006/main">
            <a:off x="6438900" y="3162300"/>
            <a:ext cx="21717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75" b="1">
                <a:solidFill>
                  <a:srgbClr val="F4F7FA"/>
                </a:solidFill>
                <a:latin typeface="Roboto"/>
                <a:ea typeface="Roboto"/>
                <a:cs typeface="Roboto"/>
              </a:defRPr>
            </a:pPr>
            <a:r>
              <a:rPr sz="1875" b="1">
                <a:solidFill>
                  <a:srgbClr val="F4F7FA"/>
                </a:solidFill>
                <a:latin typeface="Roboto"/>
                <a:ea typeface="Roboto"/>
                <a:cs typeface="Roboto"/>
              </a:rPr>
              <a:t>Team diagnoses</a:t>
            </a:r>
          </a:p>
          <a:p xmlns:a="http://schemas.openxmlformats.org/drawingml/2006/main">
            <a:pPr algn="ctr">
              <a:defRPr sz="1875" b="1">
                <a:solidFill>
                  <a:srgbClr val="F4F7FA"/>
                </a:solidFill>
                <a:latin typeface="Roboto"/>
                <a:ea typeface="Roboto"/>
                <a:cs typeface="Roboto"/>
              </a:defRPr>
            </a:pPr>
            <a:r>
              <a:rPr sz="1875" b="1">
                <a:solidFill>
                  <a:srgbClr val="F4F7FA"/>
                </a:solidFill>
                <a:latin typeface="Roboto"/>
                <a:ea typeface="Roboto"/>
                <a:cs typeface="Roboto"/>
              </a:rPr>
              <a:t>&amp; proposes fix</a:t>
            </a:r>
          </a:p>
        </p:txBody>
      </p:sp>
      <p:sp>
        <p:nvSpPr>
          <p:cNvPr id="14" name="">
            <a:extLst xmlns:a="http://schemas.openxmlformats.org/drawingml/2006/main">
              <a:ext uri="{FF2B5EF4-FFF2-40B4-BE49-F238E27FC236}">
                <a16:creationId xmlns:a16="http://schemas.microsoft.com/office/drawing/2014/main" id="{73096573-2F3B-486E-86A8-BAFA7A0DC26D}"/>
              </a:ext>
            </a:extLst>
          </p:cNvPr>
          <p:cNvSpPr>
            <a:spLocks xmlns:a="http://schemas.openxmlformats.org/drawingml/2006/main" noGrp="1"/>
          </p:cNvSpPr>
          <p:nvPr/>
        </p:nvSpPr>
        <p:spPr>
          <a:xfrm xmlns:a="http://schemas.openxmlformats.org/drawingml/2006/main">
            <a:off x="6324600" y="4152900"/>
            <a:ext cx="240030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ADB8C5"/>
                </a:solidFill>
                <a:latin typeface="Roboto"/>
                <a:ea typeface="Roboto"/>
                <a:cs typeface="Roboto"/>
              </a:defRPr>
            </a:pPr>
            <a:r>
              <a:rPr sz="1650" b="0">
                <a:solidFill>
                  <a:srgbClr val="ADB8C5"/>
                </a:solidFill>
                <a:latin typeface="Roboto"/>
                <a:ea typeface="Roboto"/>
                <a:cs typeface="Roboto"/>
              </a:rPr>
              <a:t>Reconstruct intent,</a:t>
            </a:r>
          </a:p>
          <a:p xmlns:a="http://schemas.openxmlformats.org/drawingml/2006/main">
            <a:pPr algn="l">
              <a:defRPr sz="1650" b="0">
                <a:solidFill>
                  <a:srgbClr val="ADB8C5"/>
                </a:solidFill>
                <a:latin typeface="Roboto"/>
                <a:ea typeface="Roboto"/>
                <a:cs typeface="Roboto"/>
              </a:defRPr>
            </a:pPr>
            <a:r>
              <a:rPr sz="1650" b="0">
                <a:solidFill>
                  <a:srgbClr val="ADB8C5"/>
                </a:solidFill>
                <a:latin typeface="Roboto"/>
                <a:ea typeface="Roboto"/>
                <a:cs typeface="Roboto"/>
              </a:rPr>
              <a:t>dependencies and</a:t>
            </a:r>
          </a:p>
          <a:p xmlns:a="http://schemas.openxmlformats.org/drawingml/2006/main">
            <a:pPr algn="l">
              <a:defRPr sz="1650" b="0">
                <a:solidFill>
                  <a:srgbClr val="ADB8C5"/>
                </a:solidFill>
                <a:latin typeface="Roboto"/>
                <a:ea typeface="Roboto"/>
                <a:cs typeface="Roboto"/>
              </a:defRPr>
            </a:pPr>
            <a:r>
              <a:rPr sz="1650" b="0">
                <a:solidFill>
                  <a:srgbClr val="ADB8C5"/>
                </a:solidFill>
                <a:latin typeface="Roboto"/>
                <a:ea typeface="Roboto"/>
                <a:cs typeface="Roboto"/>
              </a:rPr>
              <a:t>system invariants.</a:t>
            </a:r>
          </a:p>
        </p:txBody>
      </p:sp>
      <p:sp>
        <p:nvSpPr>
          <p:cNvPr id="15" name="">
            <a:extLst xmlns:a="http://schemas.openxmlformats.org/drawingml/2006/main">
              <a:ext uri="{FF2B5EF4-FFF2-40B4-BE49-F238E27FC236}">
                <a16:creationId xmlns:a16="http://schemas.microsoft.com/office/drawing/2014/main" id="{A13D9694-088E-4C02-A86E-B4428EE73A4D}"/>
              </a:ext>
            </a:extLst>
          </p:cNvPr>
          <p:cNvSpPr>
            <a:spLocks xmlns:a="http://schemas.openxmlformats.org/drawingml/2006/main" noGrp="1"/>
          </p:cNvSpPr>
          <p:nvPr/>
        </p:nvSpPr>
        <p:spPr>
          <a:xfrm xmlns:a="http://schemas.openxmlformats.org/drawingml/2006/main">
            <a:off x="9182100" y="3086100"/>
            <a:ext cx="2400300" cy="83820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16" name="">
            <a:extLst xmlns:a="http://schemas.openxmlformats.org/drawingml/2006/main">
              <a:ext uri="{FF2B5EF4-FFF2-40B4-BE49-F238E27FC236}">
                <a16:creationId xmlns:a16="http://schemas.microsoft.com/office/drawing/2014/main" id="{D551A9D8-67DC-4A6B-9622-3AEDF4D73902}"/>
              </a:ext>
            </a:extLst>
          </p:cNvPr>
          <p:cNvSpPr>
            <a:spLocks xmlns:a="http://schemas.openxmlformats.org/drawingml/2006/main" noGrp="1"/>
          </p:cNvSpPr>
          <p:nvPr/>
        </p:nvSpPr>
        <p:spPr>
          <a:xfrm xmlns:a="http://schemas.openxmlformats.org/drawingml/2006/main">
            <a:off x="9296400" y="3162300"/>
            <a:ext cx="21717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75" b="1">
                <a:solidFill>
                  <a:srgbClr val="F4F7FA"/>
                </a:solidFill>
                <a:latin typeface="Roboto"/>
                <a:ea typeface="Roboto"/>
                <a:cs typeface="Roboto"/>
              </a:defRPr>
            </a:pPr>
            <a:r>
              <a:rPr sz="1875" b="1">
                <a:solidFill>
                  <a:srgbClr val="F4F7FA"/>
                </a:solidFill>
                <a:latin typeface="Roboto"/>
                <a:ea typeface="Roboto"/>
                <a:cs typeface="Roboto"/>
              </a:rPr>
              <a:t>Validate fix</a:t>
            </a:r>
          </a:p>
          <a:p xmlns:a="http://schemas.openxmlformats.org/drawingml/2006/main">
            <a:pPr algn="ctr">
              <a:defRPr sz="1875" b="1">
                <a:solidFill>
                  <a:srgbClr val="F4F7FA"/>
                </a:solidFill>
                <a:latin typeface="Roboto"/>
                <a:ea typeface="Roboto"/>
                <a:cs typeface="Roboto"/>
              </a:defRPr>
            </a:pPr>
            <a:r>
              <a:rPr sz="1875" b="1">
                <a:solidFill>
                  <a:srgbClr val="F4F7FA"/>
                </a:solidFill>
                <a:latin typeface="Roboto"/>
                <a:ea typeface="Roboto"/>
                <a:cs typeface="Roboto"/>
              </a:rPr>
              <a:t>and restore</a:t>
            </a:r>
          </a:p>
        </p:txBody>
      </p:sp>
      <p:sp>
        <p:nvSpPr>
          <p:cNvPr id="17" name="">
            <a:extLst xmlns:a="http://schemas.openxmlformats.org/drawingml/2006/main">
              <a:ext uri="{FF2B5EF4-FFF2-40B4-BE49-F238E27FC236}">
                <a16:creationId xmlns:a16="http://schemas.microsoft.com/office/drawing/2014/main" id="{7E94A404-A6CE-4CBE-B76F-587856C3D4AC}"/>
              </a:ext>
            </a:extLst>
          </p:cNvPr>
          <p:cNvSpPr>
            <a:spLocks xmlns:a="http://schemas.openxmlformats.org/drawingml/2006/main" noGrp="1"/>
          </p:cNvSpPr>
          <p:nvPr/>
        </p:nvSpPr>
        <p:spPr>
          <a:xfrm xmlns:a="http://schemas.openxmlformats.org/drawingml/2006/main">
            <a:off x="9182100" y="4152900"/>
            <a:ext cx="240030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ADB8C5"/>
                </a:solidFill>
                <a:latin typeface="Roboto"/>
                <a:ea typeface="Roboto"/>
                <a:cs typeface="Roboto"/>
              </a:defRPr>
            </a:pPr>
            <a:r>
              <a:rPr sz="1650" b="0">
                <a:solidFill>
                  <a:srgbClr val="ADB8C5"/>
                </a:solidFill>
                <a:latin typeface="Roboto"/>
                <a:ea typeface="Roboto"/>
                <a:cs typeface="Roboto"/>
              </a:rPr>
              <a:t>Test the repair.</a:t>
            </a:r>
          </a:p>
          <a:p xmlns:a="http://schemas.openxmlformats.org/drawingml/2006/main">
            <a:pPr algn="l">
              <a:defRPr sz="1650" b="0">
                <a:solidFill>
                  <a:srgbClr val="ADB8C5"/>
                </a:solidFill>
                <a:latin typeface="Roboto"/>
                <a:ea typeface="Roboto"/>
                <a:cs typeface="Roboto"/>
              </a:defRPr>
            </a:pPr>
            <a:r>
              <a:rPr sz="1650" b="0">
                <a:solidFill>
                  <a:srgbClr val="ADB8C5"/>
                </a:solidFill>
                <a:latin typeface="Roboto"/>
                <a:ea typeface="Roboto"/>
                <a:cs typeface="Roboto"/>
              </a:rPr>
              <a:t>Restore under incident</a:t>
            </a:r>
          </a:p>
          <a:p xmlns:a="http://schemas.openxmlformats.org/drawingml/2006/main">
            <a:pPr algn="l">
              <a:defRPr sz="1650" b="0">
                <a:solidFill>
                  <a:srgbClr val="ADB8C5"/>
                </a:solidFill>
                <a:latin typeface="Roboto"/>
                <a:ea typeface="Roboto"/>
                <a:cs typeface="Roboto"/>
              </a:defRPr>
            </a:pPr>
            <a:r>
              <a:rPr sz="1650" b="0">
                <a:solidFill>
                  <a:srgbClr val="ADB8C5"/>
                </a:solidFill>
                <a:latin typeface="Roboto"/>
                <a:ea typeface="Roboto"/>
                <a:cs typeface="Roboto"/>
              </a:rPr>
              <a:t>owner authority.</a:t>
            </a:r>
          </a:p>
        </p:txBody>
      </p:sp>
      <p:cxnSp>
        <p:nvCxnSpPr>
          <p:cNvPr id="41" name=""/>
          <p:cNvCxnSpPr>
            <a:stCxn xmlns:a="http://schemas.openxmlformats.org/drawingml/2006/main" id="6" idx="3"/>
            <a:endCxn xmlns:a="http://schemas.openxmlformats.org/drawingml/2006/main" id="9" idx="1"/>
          </p:cNvCxnSpPr>
          <p:nvPr/>
        </p:nvCxnSpPr>
        <p:spPr>
          <a:xfrm xmlns:a="http://schemas.openxmlformats.org/drawingml/2006/main">
            <a:off x="3009900" y="3505200"/>
            <a:ext cx="457200" cy="0"/>
          </a:xfrm>
          <a:prstGeom xmlns:a="http://schemas.openxmlformats.org/drawingml/2006/main" prst="straightConnector1">
            <a:avLst/>
          </a:prstGeom>
          <a:ln xmlns:a="http://schemas.openxmlformats.org/drawingml/2006/main" w="21908">
            <a:solidFill>
              <a:srgbClr val="ADB8C5"/>
            </a:solidFill>
            <a:prstDash val="solid"/>
            <a:tailEnd type="triangle" w="med" len="med"/>
          </a:ln>
        </p:spPr>
      </p:cxnSp>
      <p:cxnSp>
        <p:nvCxnSpPr>
          <p:cNvPr id="42" name=""/>
          <p:cNvCxnSpPr>
            <a:stCxn xmlns:a="http://schemas.openxmlformats.org/drawingml/2006/main" id="9" idx="3"/>
            <a:endCxn xmlns:a="http://schemas.openxmlformats.org/drawingml/2006/main" id="12" idx="1"/>
          </p:cNvCxnSpPr>
          <p:nvPr/>
        </p:nvCxnSpPr>
        <p:spPr>
          <a:xfrm xmlns:a="http://schemas.openxmlformats.org/drawingml/2006/main">
            <a:off x="5867400" y="3505200"/>
            <a:ext cx="457200" cy="0"/>
          </a:xfrm>
          <a:prstGeom xmlns:a="http://schemas.openxmlformats.org/drawingml/2006/main" prst="straightConnector1">
            <a:avLst/>
          </a:prstGeom>
          <a:ln xmlns:a="http://schemas.openxmlformats.org/drawingml/2006/main" w="21908">
            <a:solidFill>
              <a:srgbClr val="F5B61C"/>
            </a:solidFill>
            <a:prstDash val="solid"/>
            <a:tailEnd type="triangle" w="med" len="med"/>
          </a:ln>
        </p:spPr>
      </p:cxnSp>
      <p:cxnSp>
        <p:nvCxnSpPr>
          <p:cNvPr id="43" name=""/>
          <p:cNvCxnSpPr>
            <a:stCxn xmlns:a="http://schemas.openxmlformats.org/drawingml/2006/main" id="12" idx="3"/>
            <a:endCxn xmlns:a="http://schemas.openxmlformats.org/drawingml/2006/main" id="15" idx="1"/>
          </p:cNvCxnSpPr>
          <p:nvPr/>
        </p:nvCxnSpPr>
        <p:spPr>
          <a:xfrm xmlns:a="http://schemas.openxmlformats.org/drawingml/2006/main">
            <a:off x="8724900" y="3505200"/>
            <a:ext cx="457200" cy="0"/>
          </a:xfrm>
          <a:prstGeom xmlns:a="http://schemas.openxmlformats.org/drawingml/2006/main" prst="straightConnector1">
            <a:avLst/>
          </a:prstGeom>
          <a:ln xmlns:a="http://schemas.openxmlformats.org/drawingml/2006/main" w="21908">
            <a:solidFill>
              <a:srgbClr val="ADB8C5"/>
            </a:solidFill>
            <a:prstDash val="solid"/>
            <a:tailEnd type="triangle" w="med" len="med"/>
          </a:ln>
        </p:spPr>
      </p:cxnSp>
      <p:sp>
        <p:nvSpPr>
          <p:cNvPr id="21" name="">
            <a:extLst xmlns:a="http://schemas.openxmlformats.org/drawingml/2006/main">
              <a:ext uri="{FF2B5EF4-FFF2-40B4-BE49-F238E27FC236}">
                <a16:creationId xmlns:a16="http://schemas.microsoft.com/office/drawing/2014/main" id="{33B11068-C29D-4001-86A0-4FCAF1E6879E}"/>
              </a:ext>
            </a:extLst>
          </p:cNvPr>
          <p:cNvSpPr>
            <a:spLocks xmlns:a="http://schemas.openxmlformats.org/drawingml/2006/main" noGrp="1"/>
          </p:cNvSpPr>
          <p:nvPr/>
        </p:nvSpPr>
        <p:spPr>
          <a:xfrm xmlns:a="http://schemas.openxmlformats.org/drawingml/2006/main">
            <a:off x="609600" y="532447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Roboto"/>
                <a:ea typeface="Roboto"/>
                <a:cs typeface="Roboto"/>
              </a:defRPr>
            </a:pPr>
            <a:r>
              <a:rPr sz="1500" b="0">
                <a:solidFill>
                  <a:srgbClr val="ADB8C5"/>
                </a:solidFill>
                <a:latin typeface="Roboto"/>
                <a:ea typeface="Roboto"/>
                <a:cs typeface="Roboto"/>
              </a:rPr>
              <a:t>Hypothetical scenario. Rehearse the human recovery path before production.</a:t>
            </a:r>
          </a:p>
        </p:txBody>
      </p:sp>
      <p:sp>
        <p:nvSpPr>
          <p:cNvPr id="22" name="">
            <a:extLst xmlns:a="http://schemas.openxmlformats.org/drawingml/2006/main">
              <a:ext uri="{FF2B5EF4-FFF2-40B4-BE49-F238E27FC236}">
                <a16:creationId xmlns:a16="http://schemas.microsoft.com/office/drawing/2014/main" id="{06AD5E7B-10CC-4309-815E-22463E225AA7}"/>
              </a:ext>
            </a:extLst>
          </p:cNvPr>
          <p:cNvSpPr>
            <a:spLocks xmlns:a="http://schemas.openxmlformats.org/drawingml/2006/main" noGrp="1"/>
          </p:cNvSpPr>
          <p:nvPr/>
        </p:nvSpPr>
        <p:spPr>
          <a:xfrm xmlns:a="http://schemas.openxmlformats.org/drawingml/2006/main" flipH="0" flipV="0">
            <a:off x="609600" y="573405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3" name="">
            <a:extLst xmlns:a="http://schemas.openxmlformats.org/drawingml/2006/main">
              <a:ext uri="{FF2B5EF4-FFF2-40B4-BE49-F238E27FC236}">
                <a16:creationId xmlns:a16="http://schemas.microsoft.com/office/drawing/2014/main" id="{152C9C97-28A1-4BC7-8BB7-6055DC11A879}"/>
              </a:ext>
            </a:extLst>
          </p:cNvPr>
          <p:cNvSpPr>
            <a:spLocks xmlns:a="http://schemas.openxmlformats.org/drawingml/2006/main" noGrp="1"/>
          </p:cNvSpPr>
          <p:nvPr/>
        </p:nvSpPr>
        <p:spPr>
          <a:xfrm xmlns:a="http://schemas.openxmlformats.org/drawingml/2006/main">
            <a:off x="609600" y="5905500"/>
            <a:ext cx="106489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1">
                <a:solidFill>
                  <a:srgbClr val="F4F7FA"/>
                </a:solidFill>
                <a:latin typeface="Roboto"/>
                <a:ea typeface="Roboto"/>
                <a:cs typeface="Roboto"/>
              </a:defRPr>
            </a:pPr>
            <a:r>
              <a:rPr sz="2100" b="1">
                <a:solidFill>
                  <a:srgbClr val="F4F7FA"/>
                </a:solidFill>
                <a:latin typeface="Roboto"/>
                <a:ea typeface="Roboto"/>
                <a:cs typeface="Roboto"/>
              </a:rPr>
              <a:t>If AI cannot recover the system, the team still must.</a:t>
            </a:r>
          </a:p>
        </p:txBody>
      </p:sp>
    </p:spTree>
    <p:extLst>
      <p:ext uri="{BB962C8B-B14F-4D97-AF65-F5344CB8AC3E}">
        <p14:creationId xmlns:p14="http://schemas.microsoft.com/office/powerpoint/2010/main" val="451299762"/>
      </p:ext>
    </p:extLst>
  </p:cSld>
</p:sld>
</file>

<file path=ppt/slides/slide7.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0C39E912-3BEC-4ECE-80EC-5EC3378DE8B4}"/>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Roboto"/>
                <a:ea typeface="Roboto"/>
                <a:cs typeface="Roboto"/>
              </a:defRPr>
            </a:pPr>
            <a:r>
              <a:rPr sz="3000" b="1">
                <a:solidFill>
                  <a:srgbClr val="F4F7FA"/>
                </a:solidFill>
                <a:latin typeface="Roboto"/>
                <a:ea typeface="Roboto"/>
                <a:cs typeface="Roboto"/>
              </a:rPr>
              <a:t>We Are Searching for a New</a:t>
            </a:r>
          </a:p>
          <a:p xmlns:a="http://schemas.openxmlformats.org/drawingml/2006/main">
            <a:pPr algn="l">
              <a:defRPr sz="3000" b="1">
                <a:solidFill>
                  <a:srgbClr val="F4F7FA"/>
                </a:solidFill>
                <a:latin typeface="Roboto"/>
                <a:ea typeface="Roboto"/>
                <a:cs typeface="Roboto"/>
              </a:defRPr>
            </a:pPr>
            <a:r>
              <a:rPr sz="3000" b="1">
                <a:solidFill>
                  <a:srgbClr val="F4F7FA"/>
                </a:solidFill>
                <a:latin typeface="Roboto"/>
                <a:ea typeface="Roboto"/>
                <a:cs typeface="Roboto"/>
              </a:rPr>
              <a:t>SDLC Equilibrium</a:t>
            </a:r>
          </a:p>
        </p:txBody>
      </p:sp>
      <p:sp>
        <p:nvSpPr>
          <p:cNvPr id="2" name="">
            <a:extLst xmlns:a="http://schemas.openxmlformats.org/drawingml/2006/main">
              <a:ext uri="{FF2B5EF4-FFF2-40B4-BE49-F238E27FC236}">
                <a16:creationId xmlns:a16="http://schemas.microsoft.com/office/drawing/2014/main" id="{B226757A-75E8-40B2-9178-E53BDFFCC84C}"/>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3D54EF03-C282-4522-8318-2FC0B78B547C}"/>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Roboto"/>
                <a:ea typeface="Roboto"/>
                <a:cs typeface="Roboto"/>
              </a:defRPr>
            </a:pPr>
            <a:r>
              <a:rPr sz="1200" b="0">
                <a:solidFill>
                  <a:srgbClr val="ADB8C5"/>
                </a:solidFill>
                <a:latin typeface="Roboto"/>
                <a:ea typeface="Roboto"/>
                <a:cs typeface="Roboto"/>
              </a:rPr>
              <a:t>07</a:t>
            </a:r>
          </a:p>
        </p:txBody>
      </p:sp>
      <p:sp>
        <p:nvSpPr>
          <p:cNvPr id="4" name="">
            <a:extLst xmlns:a="http://schemas.openxmlformats.org/drawingml/2006/main">
              <a:ext uri="{FF2B5EF4-FFF2-40B4-BE49-F238E27FC236}">
                <a16:creationId xmlns:a16="http://schemas.microsoft.com/office/drawing/2014/main" id="{EBABFF9C-4C40-4BCB-8E37-1DEDB34743FF}"/>
              </a:ext>
            </a:extLst>
          </p:cNvPr>
          <p:cNvSpPr>
            <a:spLocks xmlns:a="http://schemas.openxmlformats.org/drawingml/2006/main" noGrp="1"/>
          </p:cNvSpPr>
          <p:nvPr/>
        </p:nvSpPr>
        <p:spPr>
          <a:xfrm xmlns:a="http://schemas.openxmlformats.org/drawingml/2006/main">
            <a:off x="609600" y="1847850"/>
            <a:ext cx="33909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1">
                <a:solidFill>
                  <a:srgbClr val="ADB8C5"/>
                </a:solidFill>
                <a:latin typeface="Roboto"/>
                <a:ea typeface="Roboto"/>
                <a:cs typeface="Roboto"/>
              </a:defRPr>
            </a:pPr>
            <a:r>
              <a:rPr sz="1575" b="1">
                <a:solidFill>
                  <a:srgbClr val="ADB8C5"/>
                </a:solidFill>
                <a:latin typeface="Roboto"/>
                <a:ea typeface="Roboto"/>
                <a:cs typeface="Roboto"/>
              </a:rPr>
              <a:t>OLD EQUILIBRIUM</a:t>
            </a:r>
          </a:p>
        </p:txBody>
      </p:sp>
      <p:sp>
        <p:nvSpPr>
          <p:cNvPr id="5" name="">
            <a:extLst xmlns:a="http://schemas.openxmlformats.org/drawingml/2006/main">
              <a:ext uri="{FF2B5EF4-FFF2-40B4-BE49-F238E27FC236}">
                <a16:creationId xmlns:a16="http://schemas.microsoft.com/office/drawing/2014/main" id="{9CF250A2-6DF4-4202-8BCC-E5AE613AFE2F}"/>
              </a:ext>
            </a:extLst>
          </p:cNvPr>
          <p:cNvSpPr>
            <a:spLocks xmlns:a="http://schemas.openxmlformats.org/drawingml/2006/main" noGrp="1"/>
          </p:cNvSpPr>
          <p:nvPr/>
        </p:nvSpPr>
        <p:spPr>
          <a:xfrm xmlns:a="http://schemas.openxmlformats.org/drawingml/2006/main">
            <a:off x="609600" y="2181225"/>
            <a:ext cx="3390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F4F7FA"/>
                </a:solidFill>
                <a:latin typeface="Roboto"/>
                <a:ea typeface="Roboto"/>
                <a:cs typeface="Roboto"/>
              </a:defRPr>
            </a:pPr>
            <a:r>
              <a:rPr sz="1650" b="0">
                <a:solidFill>
                  <a:srgbClr val="F4F7FA"/>
                </a:solidFill>
                <a:latin typeface="Roboto"/>
                <a:ea typeface="Roboto"/>
                <a:cs typeface="Roboto"/>
              </a:rPr>
              <a:t>Human-led flow</a:t>
            </a:r>
          </a:p>
        </p:txBody>
      </p:sp>
      <p:sp>
        <p:nvSpPr>
          <p:cNvPr id="6" name="">
            <a:extLst xmlns:a="http://schemas.openxmlformats.org/drawingml/2006/main">
              <a:ext uri="{FF2B5EF4-FFF2-40B4-BE49-F238E27FC236}">
                <a16:creationId xmlns:a16="http://schemas.microsoft.com/office/drawing/2014/main" id="{13F41046-72E4-4184-820E-8FCD4A09E0EF}"/>
              </a:ext>
            </a:extLst>
          </p:cNvPr>
          <p:cNvSpPr>
            <a:spLocks xmlns:a="http://schemas.openxmlformats.org/drawingml/2006/main" noGrp="1"/>
          </p:cNvSpPr>
          <p:nvPr/>
        </p:nvSpPr>
        <p:spPr>
          <a:xfrm xmlns:a="http://schemas.openxmlformats.org/drawingml/2006/main">
            <a:off x="4400550" y="1847850"/>
            <a:ext cx="33909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1">
                <a:solidFill>
                  <a:srgbClr val="28C7F7"/>
                </a:solidFill>
                <a:latin typeface="Roboto"/>
                <a:ea typeface="Roboto"/>
                <a:cs typeface="Roboto"/>
              </a:defRPr>
            </a:pPr>
            <a:r>
              <a:rPr sz="1575" b="1">
                <a:solidFill>
                  <a:srgbClr val="28C7F7"/>
                </a:solidFill>
                <a:latin typeface="Roboto"/>
                <a:ea typeface="Roboto"/>
                <a:cs typeface="Roboto"/>
              </a:rPr>
              <a:t>TODAY</a:t>
            </a:r>
          </a:p>
        </p:txBody>
      </p:sp>
      <p:sp>
        <p:nvSpPr>
          <p:cNvPr id="7" name="">
            <a:extLst xmlns:a="http://schemas.openxmlformats.org/drawingml/2006/main">
              <a:ext uri="{FF2B5EF4-FFF2-40B4-BE49-F238E27FC236}">
                <a16:creationId xmlns:a16="http://schemas.microsoft.com/office/drawing/2014/main" id="{968BBF54-D51E-41EF-95F4-4B17276B59CB}"/>
              </a:ext>
            </a:extLst>
          </p:cNvPr>
          <p:cNvSpPr>
            <a:spLocks xmlns:a="http://schemas.openxmlformats.org/drawingml/2006/main" noGrp="1"/>
          </p:cNvSpPr>
          <p:nvPr/>
        </p:nvSpPr>
        <p:spPr>
          <a:xfrm xmlns:a="http://schemas.openxmlformats.org/drawingml/2006/main">
            <a:off x="4400550" y="2181225"/>
            <a:ext cx="3390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F4F7FA"/>
                </a:solidFill>
                <a:latin typeface="Roboto"/>
                <a:ea typeface="Roboto"/>
                <a:cs typeface="Roboto"/>
              </a:defRPr>
            </a:pPr>
            <a:r>
              <a:rPr sz="1650" b="0">
                <a:solidFill>
                  <a:srgbClr val="F4F7FA"/>
                </a:solidFill>
                <a:latin typeface="Roboto"/>
                <a:ea typeface="Roboto"/>
                <a:cs typeface="Roboto"/>
              </a:rPr>
              <a:t>Generation outpaces review</a:t>
            </a:r>
          </a:p>
        </p:txBody>
      </p:sp>
      <p:sp>
        <p:nvSpPr>
          <p:cNvPr id="8" name="">
            <a:extLst xmlns:a="http://schemas.openxmlformats.org/drawingml/2006/main">
              <a:ext uri="{FF2B5EF4-FFF2-40B4-BE49-F238E27FC236}">
                <a16:creationId xmlns:a16="http://schemas.microsoft.com/office/drawing/2014/main" id="{84A7B67F-B754-44B3-8367-01E44E2CC91B}"/>
              </a:ext>
            </a:extLst>
          </p:cNvPr>
          <p:cNvSpPr>
            <a:spLocks xmlns:a="http://schemas.openxmlformats.org/drawingml/2006/main" noGrp="1"/>
          </p:cNvSpPr>
          <p:nvPr/>
        </p:nvSpPr>
        <p:spPr>
          <a:xfrm xmlns:a="http://schemas.openxmlformats.org/drawingml/2006/main">
            <a:off x="8191500" y="1847850"/>
            <a:ext cx="33909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1">
                <a:solidFill>
                  <a:srgbClr val="ADB8C5"/>
                </a:solidFill>
                <a:latin typeface="Roboto"/>
                <a:ea typeface="Roboto"/>
                <a:cs typeface="Roboto"/>
              </a:defRPr>
            </a:pPr>
            <a:r>
              <a:rPr sz="1575" b="1">
                <a:solidFill>
                  <a:srgbClr val="ADB8C5"/>
                </a:solidFill>
                <a:latin typeface="Roboto"/>
                <a:ea typeface="Roboto"/>
                <a:cs typeface="Roboto"/>
              </a:rPr>
              <a:t>NEW EQUILIBRIUM</a:t>
            </a:r>
          </a:p>
        </p:txBody>
      </p:sp>
      <p:sp>
        <p:nvSpPr>
          <p:cNvPr id="9" name="">
            <a:extLst xmlns:a="http://schemas.openxmlformats.org/drawingml/2006/main">
              <a:ext uri="{FF2B5EF4-FFF2-40B4-BE49-F238E27FC236}">
                <a16:creationId xmlns:a16="http://schemas.microsoft.com/office/drawing/2014/main" id="{2A31F96C-B487-46AD-A3DF-46C84B608A44}"/>
              </a:ext>
            </a:extLst>
          </p:cNvPr>
          <p:cNvSpPr>
            <a:spLocks xmlns:a="http://schemas.openxmlformats.org/drawingml/2006/main" noGrp="1"/>
          </p:cNvSpPr>
          <p:nvPr/>
        </p:nvSpPr>
        <p:spPr>
          <a:xfrm xmlns:a="http://schemas.openxmlformats.org/drawingml/2006/main">
            <a:off x="8191500" y="2181225"/>
            <a:ext cx="3390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F5B61C"/>
                </a:solidFill>
                <a:latin typeface="Roboto"/>
                <a:ea typeface="Roboto"/>
                <a:cs typeface="Roboto"/>
              </a:defRPr>
            </a:pPr>
            <a:r>
              <a:rPr sz="1650" b="0">
                <a:solidFill>
                  <a:srgbClr val="F5B61C"/>
                </a:solidFill>
                <a:latin typeface="Roboto"/>
                <a:ea typeface="Roboto"/>
                <a:cs typeface="Roboto"/>
              </a:rPr>
              <a:t>Sustainable flow?</a:t>
            </a:r>
          </a:p>
        </p:txBody>
      </p:sp>
      <p:sp>
        <p:nvSpPr>
          <p:cNvPr id="10" name="">
            <a:extLst xmlns:a="http://schemas.openxmlformats.org/drawingml/2006/main">
              <a:ext uri="{FF2B5EF4-FFF2-40B4-BE49-F238E27FC236}">
                <a16:creationId xmlns:a16="http://schemas.microsoft.com/office/drawing/2014/main" id="{E5AFC177-6EDB-4467-A06E-C498177D6810}"/>
              </a:ext>
            </a:extLst>
          </p:cNvPr>
          <p:cNvSpPr>
            <a:spLocks xmlns:a="http://schemas.openxmlformats.org/drawingml/2006/main" noGrp="1"/>
          </p:cNvSpPr>
          <p:nvPr/>
        </p:nvSpPr>
        <p:spPr>
          <a:xfrm xmlns:a="http://schemas.openxmlformats.org/drawingml/2006/main" flipH="0" flipV="0">
            <a:off x="609600" y="27813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11" name="">
            <a:extLst xmlns:a="http://schemas.openxmlformats.org/drawingml/2006/main">
              <a:ext uri="{FF2B5EF4-FFF2-40B4-BE49-F238E27FC236}">
                <a16:creationId xmlns:a16="http://schemas.microsoft.com/office/drawing/2014/main" id="{1994C7A0-8DE3-4354-A822-01B0744DDA24}"/>
              </a:ext>
            </a:extLst>
          </p:cNvPr>
          <p:cNvSpPr>
            <a:spLocks xmlns:a="http://schemas.openxmlformats.org/drawingml/2006/main" noGrp="1"/>
          </p:cNvSpPr>
          <p:nvPr/>
        </p:nvSpPr>
        <p:spPr>
          <a:xfrm xmlns:a="http://schemas.openxmlformats.org/drawingml/2006/main">
            <a:off x="609600" y="2933700"/>
            <a:ext cx="5257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1">
                <a:solidFill>
                  <a:srgbClr val="F5B61C"/>
                </a:solidFill>
                <a:latin typeface="Roboto"/>
                <a:ea typeface="Roboto"/>
                <a:cs typeface="Roboto"/>
              </a:defRPr>
            </a:pPr>
            <a:r>
              <a:rPr sz="2025" b="1">
                <a:solidFill>
                  <a:srgbClr val="F5B61C"/>
                </a:solidFill>
                <a:latin typeface="Roboto"/>
                <a:ea typeface="Roboto"/>
                <a:cs typeface="Roboto"/>
              </a:rPr>
              <a:t>WATCH</a:t>
            </a:r>
          </a:p>
        </p:txBody>
      </p:sp>
      <p:sp>
        <p:nvSpPr>
          <p:cNvPr id="12" name="">
            <a:extLst xmlns:a="http://schemas.openxmlformats.org/drawingml/2006/main">
              <a:ext uri="{FF2B5EF4-FFF2-40B4-BE49-F238E27FC236}">
                <a16:creationId xmlns:a16="http://schemas.microsoft.com/office/drawing/2014/main" id="{98FCD6A1-2CA0-42D2-B73F-2BABE7EC2A4A}"/>
              </a:ext>
            </a:extLst>
          </p:cNvPr>
          <p:cNvSpPr>
            <a:spLocks xmlns:a="http://schemas.openxmlformats.org/drawingml/2006/main" noGrp="1"/>
          </p:cNvSpPr>
          <p:nvPr/>
        </p:nvSpPr>
        <p:spPr>
          <a:xfrm xmlns:a="http://schemas.openxmlformats.org/drawingml/2006/main">
            <a:off x="609600" y="3400425"/>
            <a:ext cx="5257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F4F7FA"/>
                </a:solidFill>
                <a:latin typeface="Roboto"/>
                <a:ea typeface="Roboto"/>
                <a:cs typeface="Roboto"/>
              </a:defRPr>
            </a:pPr>
            <a:r>
              <a:rPr sz="1725" b="1">
                <a:solidFill>
                  <a:srgbClr val="F4F7FA"/>
                </a:solidFill>
                <a:latin typeface="Roboto"/>
                <a:ea typeface="Roboto"/>
                <a:cs typeface="Roboto"/>
              </a:rPr>
              <a:t>Flow pressure</a:t>
            </a:r>
          </a:p>
        </p:txBody>
      </p:sp>
      <p:sp>
        <p:nvSpPr>
          <p:cNvPr id="13" name="">
            <a:extLst xmlns:a="http://schemas.openxmlformats.org/drawingml/2006/main">
              <a:ext uri="{FF2B5EF4-FFF2-40B4-BE49-F238E27FC236}">
                <a16:creationId xmlns:a16="http://schemas.microsoft.com/office/drawing/2014/main" id="{F78A2E6B-4E36-4300-BAE9-A0AF2FB3B339}"/>
              </a:ext>
            </a:extLst>
          </p:cNvPr>
          <p:cNvSpPr>
            <a:spLocks xmlns:a="http://schemas.openxmlformats.org/drawingml/2006/main" noGrp="1"/>
          </p:cNvSpPr>
          <p:nvPr/>
        </p:nvSpPr>
        <p:spPr>
          <a:xfrm xmlns:a="http://schemas.openxmlformats.org/drawingml/2006/main">
            <a:off x="609600" y="3667125"/>
            <a:ext cx="5257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Roboto"/>
                <a:ea typeface="Roboto"/>
                <a:cs typeface="Roboto"/>
              </a:defRPr>
            </a:pPr>
            <a:r>
              <a:rPr sz="1500" b="0">
                <a:solidFill>
                  <a:srgbClr val="ADB8C5"/>
                </a:solidFill>
                <a:latin typeface="Roboto"/>
                <a:ea typeface="Roboto"/>
                <a:cs typeface="Roboto"/>
              </a:rPr>
              <a:t>Review age, batch size and WIP</a:t>
            </a:r>
          </a:p>
        </p:txBody>
      </p:sp>
      <p:sp>
        <p:nvSpPr>
          <p:cNvPr id="14" name="">
            <a:extLst xmlns:a="http://schemas.openxmlformats.org/drawingml/2006/main">
              <a:ext uri="{FF2B5EF4-FFF2-40B4-BE49-F238E27FC236}">
                <a16:creationId xmlns:a16="http://schemas.microsoft.com/office/drawing/2014/main" id="{75E14177-F19D-43A2-9A71-FE32A78B6002}"/>
              </a:ext>
            </a:extLst>
          </p:cNvPr>
          <p:cNvSpPr>
            <a:spLocks xmlns:a="http://schemas.openxmlformats.org/drawingml/2006/main" noGrp="1"/>
          </p:cNvSpPr>
          <p:nvPr/>
        </p:nvSpPr>
        <p:spPr>
          <a:xfrm xmlns:a="http://schemas.openxmlformats.org/drawingml/2006/main">
            <a:off x="609600" y="3933825"/>
            <a:ext cx="5257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F4F7FA"/>
                </a:solidFill>
                <a:latin typeface="Roboto"/>
                <a:ea typeface="Roboto"/>
                <a:cs typeface="Roboto"/>
              </a:defRPr>
            </a:pPr>
            <a:r>
              <a:rPr sz="1725" b="1">
                <a:solidFill>
                  <a:srgbClr val="F4F7FA"/>
                </a:solidFill>
                <a:latin typeface="Roboto"/>
                <a:ea typeface="Roboto"/>
                <a:cs typeface="Roboto"/>
              </a:rPr>
              <a:t>Rework and structure</a:t>
            </a:r>
          </a:p>
        </p:txBody>
      </p:sp>
      <p:sp>
        <p:nvSpPr>
          <p:cNvPr id="15" name="">
            <a:extLst xmlns:a="http://schemas.openxmlformats.org/drawingml/2006/main">
              <a:ext uri="{FF2B5EF4-FFF2-40B4-BE49-F238E27FC236}">
                <a16:creationId xmlns:a16="http://schemas.microsoft.com/office/drawing/2014/main" id="{9941FE46-8656-4579-AA75-BB921B8BEBD0}"/>
              </a:ext>
            </a:extLst>
          </p:cNvPr>
          <p:cNvSpPr>
            <a:spLocks xmlns:a="http://schemas.openxmlformats.org/drawingml/2006/main" noGrp="1"/>
          </p:cNvSpPr>
          <p:nvPr/>
        </p:nvSpPr>
        <p:spPr>
          <a:xfrm xmlns:a="http://schemas.openxmlformats.org/drawingml/2006/main">
            <a:off x="609600" y="4200525"/>
            <a:ext cx="5257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Roboto"/>
                <a:ea typeface="Roboto"/>
                <a:cs typeface="Roboto"/>
              </a:defRPr>
            </a:pPr>
            <a:r>
              <a:rPr sz="1500" b="0">
                <a:solidFill>
                  <a:srgbClr val="ADB8C5"/>
                </a:solidFill>
                <a:latin typeface="Roboto"/>
                <a:ea typeface="Roboto"/>
                <a:cs typeface="Roboto"/>
              </a:rPr>
              <a:t>Churn, duplication, reuse, complexity</a:t>
            </a:r>
          </a:p>
        </p:txBody>
      </p:sp>
      <p:sp>
        <p:nvSpPr>
          <p:cNvPr id="16" name="">
            <a:extLst xmlns:a="http://schemas.openxmlformats.org/drawingml/2006/main">
              <a:ext uri="{FF2B5EF4-FFF2-40B4-BE49-F238E27FC236}">
                <a16:creationId xmlns:a16="http://schemas.microsoft.com/office/drawing/2014/main" id="{90052B26-BD0D-4F14-AFB9-DF4E57F6F3BD}"/>
              </a:ext>
            </a:extLst>
          </p:cNvPr>
          <p:cNvSpPr>
            <a:spLocks xmlns:a="http://schemas.openxmlformats.org/drawingml/2006/main" noGrp="1"/>
          </p:cNvSpPr>
          <p:nvPr/>
        </p:nvSpPr>
        <p:spPr>
          <a:xfrm xmlns:a="http://schemas.openxmlformats.org/drawingml/2006/main">
            <a:off x="609600" y="4467225"/>
            <a:ext cx="5257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F4F7FA"/>
                </a:solidFill>
                <a:latin typeface="Roboto"/>
                <a:ea typeface="Roboto"/>
                <a:cs typeface="Roboto"/>
              </a:defRPr>
            </a:pPr>
            <a:r>
              <a:rPr sz="1725" b="1">
                <a:solidFill>
                  <a:srgbClr val="F4F7FA"/>
                </a:solidFill>
                <a:latin typeface="Roboto"/>
                <a:ea typeface="Roboto"/>
                <a:cs typeface="Roboto"/>
              </a:rPr>
              <a:t>Ownership gaps</a:t>
            </a:r>
          </a:p>
        </p:txBody>
      </p:sp>
      <p:sp>
        <p:nvSpPr>
          <p:cNvPr id="17" name="">
            <a:extLst xmlns:a="http://schemas.openxmlformats.org/drawingml/2006/main">
              <a:ext uri="{FF2B5EF4-FFF2-40B4-BE49-F238E27FC236}">
                <a16:creationId xmlns:a16="http://schemas.microsoft.com/office/drawing/2014/main" id="{6102CE25-7FED-413F-8F01-955A5807480D}"/>
              </a:ext>
            </a:extLst>
          </p:cNvPr>
          <p:cNvSpPr>
            <a:spLocks xmlns:a="http://schemas.openxmlformats.org/drawingml/2006/main" noGrp="1"/>
          </p:cNvSpPr>
          <p:nvPr/>
        </p:nvSpPr>
        <p:spPr>
          <a:xfrm xmlns:a="http://schemas.openxmlformats.org/drawingml/2006/main">
            <a:off x="609600" y="4733925"/>
            <a:ext cx="5257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Roboto"/>
                <a:ea typeface="Roboto"/>
                <a:cs typeface="Roboto"/>
              </a:defRPr>
            </a:pPr>
            <a:r>
              <a:rPr sz="1500" b="0">
                <a:solidFill>
                  <a:srgbClr val="ADB8C5"/>
                </a:solidFill>
                <a:latin typeface="Roboto"/>
                <a:ea typeface="Roboto"/>
                <a:cs typeface="Roboto"/>
              </a:rPr>
              <a:t>Unowned changes and stale docs</a:t>
            </a:r>
          </a:p>
        </p:txBody>
      </p:sp>
      <p:sp>
        <p:nvSpPr>
          <p:cNvPr id="18" name="">
            <a:extLst xmlns:a="http://schemas.openxmlformats.org/drawingml/2006/main">
              <a:ext uri="{FF2B5EF4-FFF2-40B4-BE49-F238E27FC236}">
                <a16:creationId xmlns:a16="http://schemas.microsoft.com/office/drawing/2014/main" id="{4772B09C-8F15-42E4-9C5B-2A9B602ADBC2}"/>
              </a:ext>
            </a:extLst>
          </p:cNvPr>
          <p:cNvSpPr>
            <a:spLocks xmlns:a="http://schemas.openxmlformats.org/drawingml/2006/main" noGrp="1"/>
          </p:cNvSpPr>
          <p:nvPr/>
        </p:nvSpPr>
        <p:spPr>
          <a:xfrm xmlns:a="http://schemas.openxmlformats.org/drawingml/2006/main">
            <a:off x="609600" y="5000625"/>
            <a:ext cx="5257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F4F7FA"/>
                </a:solidFill>
                <a:latin typeface="Roboto"/>
                <a:ea typeface="Roboto"/>
                <a:cs typeface="Roboto"/>
              </a:defRPr>
            </a:pPr>
            <a:r>
              <a:rPr sz="1725" b="1">
                <a:solidFill>
                  <a:srgbClr val="F4F7FA"/>
                </a:solidFill>
                <a:latin typeface="Roboto"/>
                <a:ea typeface="Roboto"/>
                <a:cs typeface="Roboto"/>
              </a:rPr>
              <a:t>Recovery readiness</a:t>
            </a:r>
          </a:p>
        </p:txBody>
      </p:sp>
      <p:sp>
        <p:nvSpPr>
          <p:cNvPr id="19" name="">
            <a:extLst xmlns:a="http://schemas.openxmlformats.org/drawingml/2006/main">
              <a:ext uri="{FF2B5EF4-FFF2-40B4-BE49-F238E27FC236}">
                <a16:creationId xmlns:a16="http://schemas.microsoft.com/office/drawing/2014/main" id="{0CFA055C-67FA-4F46-97A2-45806B4F68BC}"/>
              </a:ext>
            </a:extLst>
          </p:cNvPr>
          <p:cNvSpPr>
            <a:spLocks xmlns:a="http://schemas.openxmlformats.org/drawingml/2006/main" noGrp="1"/>
          </p:cNvSpPr>
          <p:nvPr/>
        </p:nvSpPr>
        <p:spPr>
          <a:xfrm xmlns:a="http://schemas.openxmlformats.org/drawingml/2006/main">
            <a:off x="609600" y="5267325"/>
            <a:ext cx="5257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Roboto"/>
                <a:ea typeface="Roboto"/>
                <a:cs typeface="Roboto"/>
              </a:defRPr>
            </a:pPr>
            <a:r>
              <a:rPr sz="1500" b="0">
                <a:solidFill>
                  <a:srgbClr val="ADB8C5"/>
                </a:solidFill>
                <a:latin typeface="Roboto"/>
                <a:ea typeface="Roboto"/>
                <a:cs typeface="Roboto"/>
              </a:rPr>
              <a:t>Unaided diagnosis and restore time</a:t>
            </a:r>
          </a:p>
        </p:txBody>
      </p:sp>
      <p:sp>
        <p:nvSpPr>
          <p:cNvPr id="20" name="">
            <a:extLst xmlns:a="http://schemas.openxmlformats.org/drawingml/2006/main">
              <a:ext uri="{FF2B5EF4-FFF2-40B4-BE49-F238E27FC236}">
                <a16:creationId xmlns:a16="http://schemas.microsoft.com/office/drawing/2014/main" id="{DAD99E06-0A40-4D79-98FD-EE1A42277908}"/>
              </a:ext>
            </a:extLst>
          </p:cNvPr>
          <p:cNvSpPr>
            <a:spLocks xmlns:a="http://schemas.openxmlformats.org/drawingml/2006/main" noGrp="1"/>
          </p:cNvSpPr>
          <p:nvPr/>
        </p:nvSpPr>
        <p:spPr>
          <a:xfrm xmlns:a="http://schemas.openxmlformats.org/drawingml/2006/main">
            <a:off x="6286500" y="2933700"/>
            <a:ext cx="5257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1">
                <a:solidFill>
                  <a:srgbClr val="28C7F7"/>
                </a:solidFill>
                <a:latin typeface="Roboto"/>
                <a:ea typeface="Roboto"/>
                <a:cs typeface="Roboto"/>
              </a:defRPr>
            </a:pPr>
            <a:r>
              <a:rPr sz="2025" b="1">
                <a:solidFill>
                  <a:srgbClr val="28C7F7"/>
                </a:solidFill>
                <a:latin typeface="Roboto"/>
                <a:ea typeface="Roboto"/>
                <a:cs typeface="Roboto"/>
              </a:rPr>
              <a:t>EXPLORE</a:t>
            </a:r>
          </a:p>
        </p:txBody>
      </p:sp>
      <p:sp>
        <p:nvSpPr>
          <p:cNvPr id="21" name="">
            <a:extLst xmlns:a="http://schemas.openxmlformats.org/drawingml/2006/main">
              <a:ext uri="{FF2B5EF4-FFF2-40B4-BE49-F238E27FC236}">
                <a16:creationId xmlns:a16="http://schemas.microsoft.com/office/drawing/2014/main" id="{995107C1-B8E5-423A-9146-5D1E267DFA4F}"/>
              </a:ext>
            </a:extLst>
          </p:cNvPr>
          <p:cNvSpPr>
            <a:spLocks xmlns:a="http://schemas.openxmlformats.org/drawingml/2006/main" noGrp="1"/>
          </p:cNvSpPr>
          <p:nvPr/>
        </p:nvSpPr>
        <p:spPr>
          <a:xfrm xmlns:a="http://schemas.openxmlformats.org/drawingml/2006/main">
            <a:off x="6286500" y="3400425"/>
            <a:ext cx="5257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F4F7FA"/>
                </a:solidFill>
                <a:latin typeface="Roboto"/>
                <a:ea typeface="Roboto"/>
                <a:cs typeface="Roboto"/>
              </a:defRPr>
            </a:pPr>
            <a:r>
              <a:rPr sz="1725" b="1">
                <a:solidFill>
                  <a:srgbClr val="F4F7FA"/>
                </a:solidFill>
                <a:latin typeface="Roboto"/>
                <a:ea typeface="Roboto"/>
                <a:cs typeface="Roboto"/>
              </a:rPr>
              <a:t>Small batches and WIP limits</a:t>
            </a:r>
          </a:p>
        </p:txBody>
      </p:sp>
      <p:sp>
        <p:nvSpPr>
          <p:cNvPr id="22" name="">
            <a:extLst xmlns:a="http://schemas.openxmlformats.org/drawingml/2006/main">
              <a:ext uri="{FF2B5EF4-FFF2-40B4-BE49-F238E27FC236}">
                <a16:creationId xmlns:a16="http://schemas.microsoft.com/office/drawing/2014/main" id="{81193023-CBBF-47EA-A3B4-ACF1D734588D}"/>
              </a:ext>
            </a:extLst>
          </p:cNvPr>
          <p:cNvSpPr>
            <a:spLocks xmlns:a="http://schemas.openxmlformats.org/drawingml/2006/main" noGrp="1"/>
          </p:cNvSpPr>
          <p:nvPr/>
        </p:nvSpPr>
        <p:spPr>
          <a:xfrm xmlns:a="http://schemas.openxmlformats.org/drawingml/2006/main">
            <a:off x="6286500" y="3667125"/>
            <a:ext cx="5257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Roboto"/>
                <a:ea typeface="Roboto"/>
                <a:cs typeface="Roboto"/>
              </a:defRPr>
            </a:pPr>
            <a:r>
              <a:rPr sz="1500" b="0">
                <a:solidFill>
                  <a:srgbClr val="ADB8C5"/>
                </a:solidFill>
                <a:latin typeface="Roboto"/>
                <a:ea typeface="Roboto"/>
                <a:cs typeface="Roboto"/>
              </a:rPr>
              <a:t>Keep intake within review capacity</a:t>
            </a:r>
          </a:p>
        </p:txBody>
      </p:sp>
      <p:sp>
        <p:nvSpPr>
          <p:cNvPr id="23" name="">
            <a:extLst xmlns:a="http://schemas.openxmlformats.org/drawingml/2006/main">
              <a:ext uri="{FF2B5EF4-FFF2-40B4-BE49-F238E27FC236}">
                <a16:creationId xmlns:a16="http://schemas.microsoft.com/office/drawing/2014/main" id="{CA3A89B3-5A1B-4F92-9024-FEBD502F714C}"/>
              </a:ext>
            </a:extLst>
          </p:cNvPr>
          <p:cNvSpPr>
            <a:spLocks xmlns:a="http://schemas.openxmlformats.org/drawingml/2006/main" noGrp="1"/>
          </p:cNvSpPr>
          <p:nvPr/>
        </p:nvSpPr>
        <p:spPr>
          <a:xfrm xmlns:a="http://schemas.openxmlformats.org/drawingml/2006/main">
            <a:off x="6286500" y="3933825"/>
            <a:ext cx="5257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F4F7FA"/>
                </a:solidFill>
                <a:latin typeface="Roboto"/>
                <a:ea typeface="Roboto"/>
                <a:cs typeface="Roboto"/>
              </a:defRPr>
            </a:pPr>
            <a:r>
              <a:rPr sz="1725" b="1">
                <a:solidFill>
                  <a:srgbClr val="F4F7FA"/>
                </a:solidFill>
                <a:latin typeface="Roboto"/>
                <a:ea typeface="Roboto"/>
                <a:cs typeface="Roboto"/>
              </a:rPr>
              <a:t>Specs and living architecture</a:t>
            </a:r>
          </a:p>
        </p:txBody>
      </p:sp>
      <p:sp>
        <p:nvSpPr>
          <p:cNvPr id="24" name="">
            <a:extLst xmlns:a="http://schemas.openxmlformats.org/drawingml/2006/main">
              <a:ext uri="{FF2B5EF4-FFF2-40B4-BE49-F238E27FC236}">
                <a16:creationId xmlns:a16="http://schemas.microsoft.com/office/drawing/2014/main" id="{8CFD5556-AE5F-49AA-BE77-D3F9AB24AE6F}"/>
              </a:ext>
            </a:extLst>
          </p:cNvPr>
          <p:cNvSpPr>
            <a:spLocks xmlns:a="http://schemas.openxmlformats.org/drawingml/2006/main" noGrp="1"/>
          </p:cNvSpPr>
          <p:nvPr/>
        </p:nvSpPr>
        <p:spPr>
          <a:xfrm xmlns:a="http://schemas.openxmlformats.org/drawingml/2006/main">
            <a:off x="6286500" y="4200525"/>
            <a:ext cx="5257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Roboto"/>
                <a:ea typeface="Roboto"/>
                <a:cs typeface="Roboto"/>
              </a:defRPr>
            </a:pPr>
            <a:r>
              <a:rPr sz="1500" b="0">
                <a:solidFill>
                  <a:srgbClr val="ADB8C5"/>
                </a:solidFill>
                <a:latin typeface="Roboto"/>
                <a:ea typeface="Roboto"/>
                <a:cs typeface="Roboto"/>
              </a:rPr>
              <a:t>Review code and docs together</a:t>
            </a:r>
          </a:p>
        </p:txBody>
      </p:sp>
      <p:sp>
        <p:nvSpPr>
          <p:cNvPr id="25" name="">
            <a:extLst xmlns:a="http://schemas.openxmlformats.org/drawingml/2006/main">
              <a:ext uri="{FF2B5EF4-FFF2-40B4-BE49-F238E27FC236}">
                <a16:creationId xmlns:a16="http://schemas.microsoft.com/office/drawing/2014/main" id="{34021E0E-D812-4AD6-B8B7-71309CF19056}"/>
              </a:ext>
            </a:extLst>
          </p:cNvPr>
          <p:cNvSpPr>
            <a:spLocks xmlns:a="http://schemas.openxmlformats.org/drawingml/2006/main" noGrp="1"/>
          </p:cNvSpPr>
          <p:nvPr/>
        </p:nvSpPr>
        <p:spPr>
          <a:xfrm xmlns:a="http://schemas.openxmlformats.org/drawingml/2006/main">
            <a:off x="6286500" y="4467225"/>
            <a:ext cx="5257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F4F7FA"/>
                </a:solidFill>
                <a:latin typeface="Roboto"/>
                <a:ea typeface="Roboto"/>
                <a:cs typeface="Roboto"/>
              </a:defRPr>
            </a:pPr>
            <a:r>
              <a:rPr sz="1725" b="1">
                <a:solidFill>
                  <a:srgbClr val="F4F7FA"/>
                </a:solidFill>
                <a:latin typeface="Roboto"/>
                <a:ea typeface="Roboto"/>
                <a:cs typeface="Roboto"/>
              </a:rPr>
              <a:t>Repository intelligence</a:t>
            </a:r>
          </a:p>
        </p:txBody>
      </p:sp>
      <p:sp>
        <p:nvSpPr>
          <p:cNvPr id="26" name="">
            <a:extLst xmlns:a="http://schemas.openxmlformats.org/drawingml/2006/main">
              <a:ext uri="{FF2B5EF4-FFF2-40B4-BE49-F238E27FC236}">
                <a16:creationId xmlns:a16="http://schemas.microsoft.com/office/drawing/2014/main" id="{F44B5CAD-0916-4BA1-9883-610347100FE8}"/>
              </a:ext>
            </a:extLst>
          </p:cNvPr>
          <p:cNvSpPr>
            <a:spLocks xmlns:a="http://schemas.openxmlformats.org/drawingml/2006/main" noGrp="1"/>
          </p:cNvSpPr>
          <p:nvPr/>
        </p:nvSpPr>
        <p:spPr>
          <a:xfrm xmlns:a="http://schemas.openxmlformats.org/drawingml/2006/main">
            <a:off x="6286500" y="4733925"/>
            <a:ext cx="5257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Roboto"/>
                <a:ea typeface="Roboto"/>
                <a:cs typeface="Roboto"/>
              </a:defRPr>
            </a:pPr>
            <a:r>
              <a:rPr sz="1500" b="0">
                <a:solidFill>
                  <a:srgbClr val="ADB8C5"/>
                </a:solidFill>
                <a:latin typeface="Roboto"/>
                <a:ea typeface="Roboto"/>
                <a:cs typeface="Roboto"/>
              </a:rPr>
              <a:t>Trace dependencies and owners</a:t>
            </a:r>
          </a:p>
        </p:txBody>
      </p:sp>
      <p:sp>
        <p:nvSpPr>
          <p:cNvPr id="27" name="">
            <a:extLst xmlns:a="http://schemas.openxmlformats.org/drawingml/2006/main">
              <a:ext uri="{FF2B5EF4-FFF2-40B4-BE49-F238E27FC236}">
                <a16:creationId xmlns:a16="http://schemas.microsoft.com/office/drawing/2014/main" id="{3CA9DFEE-C031-44F7-AF52-7AB68700D320}"/>
              </a:ext>
            </a:extLst>
          </p:cNvPr>
          <p:cNvSpPr>
            <a:spLocks xmlns:a="http://schemas.openxmlformats.org/drawingml/2006/main" noGrp="1"/>
          </p:cNvSpPr>
          <p:nvPr/>
        </p:nvSpPr>
        <p:spPr>
          <a:xfrm xmlns:a="http://schemas.openxmlformats.org/drawingml/2006/main">
            <a:off x="6286500" y="5000625"/>
            <a:ext cx="5257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F4F7FA"/>
                </a:solidFill>
                <a:latin typeface="Roboto"/>
                <a:ea typeface="Roboto"/>
                <a:cs typeface="Roboto"/>
              </a:defRPr>
            </a:pPr>
            <a:r>
              <a:rPr sz="1725" b="1">
                <a:solidFill>
                  <a:srgbClr val="F4F7FA"/>
                </a:solidFill>
                <a:latin typeface="Roboto"/>
                <a:ea typeface="Roboto"/>
                <a:cs typeface="Roboto"/>
              </a:rPr>
              <a:t>Human recovery drills</a:t>
            </a:r>
          </a:p>
        </p:txBody>
      </p:sp>
      <p:sp>
        <p:nvSpPr>
          <p:cNvPr id="28" name="">
            <a:extLst xmlns:a="http://schemas.openxmlformats.org/drawingml/2006/main">
              <a:ext uri="{FF2B5EF4-FFF2-40B4-BE49-F238E27FC236}">
                <a16:creationId xmlns:a16="http://schemas.microsoft.com/office/drawing/2014/main" id="{C1F7264D-36D4-4403-90A6-8569B483F166}"/>
              </a:ext>
            </a:extLst>
          </p:cNvPr>
          <p:cNvSpPr>
            <a:spLocks xmlns:a="http://schemas.openxmlformats.org/drawingml/2006/main" noGrp="1"/>
          </p:cNvSpPr>
          <p:nvPr/>
        </p:nvSpPr>
        <p:spPr>
          <a:xfrm xmlns:a="http://schemas.openxmlformats.org/drawingml/2006/main">
            <a:off x="6286500" y="5267325"/>
            <a:ext cx="5257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Roboto"/>
                <a:ea typeface="Roboto"/>
                <a:cs typeface="Roboto"/>
              </a:defRPr>
            </a:pPr>
            <a:r>
              <a:rPr sz="1500" b="0">
                <a:solidFill>
                  <a:srgbClr val="ADB8C5"/>
                </a:solidFill>
                <a:latin typeface="Roboto"/>
                <a:ea typeface="Roboto"/>
                <a:cs typeface="Roboto"/>
              </a:rPr>
              <a:t>Diagnose and fix without the agent</a:t>
            </a:r>
          </a:p>
        </p:txBody>
      </p:sp>
      <p:sp>
        <p:nvSpPr>
          <p:cNvPr id="29" name="">
            <a:extLst xmlns:a="http://schemas.openxmlformats.org/drawingml/2006/main">
              <a:ext uri="{FF2B5EF4-FFF2-40B4-BE49-F238E27FC236}">
                <a16:creationId xmlns:a16="http://schemas.microsoft.com/office/drawing/2014/main" id="{32536775-42EE-469F-9ACD-9789694C3EC5}"/>
              </a:ext>
            </a:extLst>
          </p:cNvPr>
          <p:cNvSpPr>
            <a:spLocks xmlns:a="http://schemas.openxmlformats.org/drawingml/2006/main" noGrp="1"/>
          </p:cNvSpPr>
          <p:nvPr/>
        </p:nvSpPr>
        <p:spPr>
          <a:xfrm xmlns:a="http://schemas.openxmlformats.org/drawingml/2006/main" flipH="0" flipV="0">
            <a:off x="609600" y="573405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0" name="">
            <a:extLst xmlns:a="http://schemas.openxmlformats.org/drawingml/2006/main">
              <a:ext uri="{FF2B5EF4-FFF2-40B4-BE49-F238E27FC236}">
                <a16:creationId xmlns:a16="http://schemas.microsoft.com/office/drawing/2014/main" id="{DAC4B07B-DE74-471E-9AD0-B7784321CACC}"/>
              </a:ext>
            </a:extLst>
          </p:cNvPr>
          <p:cNvSpPr>
            <a:spLocks xmlns:a="http://schemas.openxmlformats.org/drawingml/2006/main" noGrp="1"/>
          </p:cNvSpPr>
          <p:nvPr/>
        </p:nvSpPr>
        <p:spPr>
          <a:xfrm xmlns:a="http://schemas.openxmlformats.org/drawingml/2006/main">
            <a:off x="609600" y="5857875"/>
            <a:ext cx="1066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1">
                <a:solidFill>
                  <a:srgbClr val="F4F7FA"/>
                </a:solidFill>
                <a:latin typeface="Roboto"/>
                <a:ea typeface="Roboto"/>
                <a:cs typeface="Roboto"/>
              </a:defRPr>
            </a:pPr>
            <a:r>
              <a:rPr sz="2100" b="1">
                <a:solidFill>
                  <a:srgbClr val="F4F7FA"/>
                </a:solidFill>
                <a:latin typeface="Roboto"/>
                <a:ea typeface="Roboto"/>
                <a:cs typeface="Roboto"/>
              </a:rPr>
              <a:t>The new equilibrium must preserve understanding and recovery.</a:t>
            </a:r>
          </a:p>
        </p:txBody>
      </p:sp>
      <p:sp>
        <p:nvSpPr>
          <p:cNvPr id="31" name="">
            <a:extLst xmlns:a="http://schemas.openxmlformats.org/drawingml/2006/main">
              <a:ext uri="{FF2B5EF4-FFF2-40B4-BE49-F238E27FC236}">
                <a16:creationId xmlns:a16="http://schemas.microsoft.com/office/drawing/2014/main" id="{0907FDD5-267B-48E8-BCDB-582D6B9C28CF}"/>
              </a:ext>
            </a:extLst>
          </p:cNvPr>
          <p:cNvSpPr>
            <a:spLocks xmlns:a="http://schemas.openxmlformats.org/drawingml/2006/main" noGrp="1"/>
          </p:cNvSpPr>
          <p:nvPr/>
        </p:nvSpPr>
        <p:spPr>
          <a:xfrm xmlns:a="http://schemas.openxmlformats.org/drawingml/2006/main">
            <a:off x="609600" y="6324600"/>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28C7F7"/>
                </a:solidFill>
                <a:latin typeface="Roboto"/>
                <a:ea typeface="Roboto"/>
                <a:cs typeface="Roboto"/>
              </a:defRPr>
            </a:pPr>
            <a:r>
              <a:rPr sz="1725" b="0">
                <a:solidFill>
                  <a:srgbClr val="28C7F7"/>
                </a:solidFill>
                <a:latin typeface="Roboto"/>
                <a:ea typeface="Roboto"/>
                <a:cs typeface="Roboto"/>
              </a:rPr>
              <a:t>Measure delivery and recovery. Next: AI inside the product.</a:t>
            </a:r>
          </a:p>
        </p:txBody>
      </p:sp>
    </p:spTree>
    <p:extLst>
      <p:ext uri="{BB962C8B-B14F-4D97-AF65-F5344CB8AC3E}">
        <p14:creationId xmlns:p14="http://schemas.microsoft.com/office/powerpoint/2010/main" val="729465131"/>
      </p:ext>
    </p:extLst>
  </p:cSld>
</p:sld>
</file>

<file path=ppt/slides/slide8.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35" name="">
            <a:extLst xmlns:a="http://schemas.openxmlformats.org/drawingml/2006/main">
              <a:ext uri="{FF2B5EF4-FFF2-40B4-BE49-F238E27FC236}">
                <a16:creationId xmlns:a16="http://schemas.microsoft.com/office/drawing/2014/main" id="{13F8BDC0-D0F1-4EBB-BC0A-B5E34ED7094F}"/>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Roboto"/>
                <a:ea typeface="Roboto"/>
                <a:cs typeface="Roboto"/>
              </a:defRPr>
            </a:pPr>
            <a:r>
              <a:rPr sz="3000" b="1">
                <a:solidFill>
                  <a:srgbClr val="F4F7FA"/>
                </a:solidFill>
                <a:latin typeface="Roboto"/>
                <a:ea typeface="Roboto"/>
                <a:cs typeface="Roboto"/>
              </a:rPr>
              <a:t>When Software Starts Thinking</a:t>
            </a:r>
          </a:p>
        </p:txBody>
      </p:sp>
      <p:sp>
        <p:nvSpPr>
          <p:cNvPr id="2" name="">
            <a:extLst xmlns:a="http://schemas.openxmlformats.org/drawingml/2006/main">
              <a:ext uri="{FF2B5EF4-FFF2-40B4-BE49-F238E27FC236}">
                <a16:creationId xmlns:a16="http://schemas.microsoft.com/office/drawing/2014/main" id="{21751DE8-170B-4395-94D1-FEA7926A19D9}"/>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684C84AB-46C9-4544-9E0C-5355A69C63DE}"/>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Roboto"/>
                <a:ea typeface="Roboto"/>
                <a:cs typeface="Roboto"/>
              </a:defRPr>
            </a:pPr>
            <a:r>
              <a:rPr sz="1200" b="0">
                <a:solidFill>
                  <a:srgbClr val="ADB8C5"/>
                </a:solidFill>
                <a:latin typeface="Roboto"/>
                <a:ea typeface="Roboto"/>
                <a:cs typeface="Roboto"/>
              </a:rPr>
              <a:t>08</a:t>
            </a:r>
          </a:p>
        </p:txBody>
      </p:sp>
      <p:sp>
        <p:nvSpPr>
          <p:cNvPr id="4" name="">
            <a:extLst xmlns:a="http://schemas.openxmlformats.org/drawingml/2006/main">
              <a:ext uri="{FF2B5EF4-FFF2-40B4-BE49-F238E27FC236}">
                <a16:creationId xmlns:a16="http://schemas.microsoft.com/office/drawing/2014/main" id="{D551F12A-7C6C-438C-A48E-82E1DB345882}"/>
              </a:ext>
            </a:extLst>
          </p:cNvPr>
          <p:cNvSpPr>
            <a:spLocks xmlns:a="http://schemas.openxmlformats.org/drawingml/2006/main" noGrp="1"/>
          </p:cNvSpPr>
          <p:nvPr/>
        </p:nvSpPr>
        <p:spPr>
          <a:xfrm xmlns:a="http://schemas.openxmlformats.org/drawingml/2006/main">
            <a:off x="609600" y="1676400"/>
            <a:ext cx="106489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1">
                <a:solidFill>
                  <a:srgbClr val="28C7F7"/>
                </a:solidFill>
                <a:latin typeface="Roboto"/>
                <a:ea typeface="Roboto"/>
                <a:cs typeface="Roboto"/>
              </a:defRPr>
            </a:pPr>
            <a:r>
              <a:rPr sz="1575" b="1">
                <a:solidFill>
                  <a:srgbClr val="28C7F7"/>
                </a:solidFill>
                <a:latin typeface="Roboto"/>
                <a:ea typeface="Roboto"/>
                <a:cs typeface="Roboto"/>
              </a:rPr>
              <a:t>THINKING SYSTEMS</a:t>
            </a:r>
          </a:p>
        </p:txBody>
      </p:sp>
      <p:sp>
        <p:nvSpPr>
          <p:cNvPr id="5" name="">
            <a:extLst xmlns:a="http://schemas.openxmlformats.org/drawingml/2006/main">
              <a:ext uri="{FF2B5EF4-FFF2-40B4-BE49-F238E27FC236}">
                <a16:creationId xmlns:a16="http://schemas.microsoft.com/office/drawing/2014/main" id="{5E96D195-D364-43AF-8137-40015DD61F4C}"/>
              </a:ext>
            </a:extLst>
          </p:cNvPr>
          <p:cNvSpPr>
            <a:spLocks xmlns:a="http://schemas.openxmlformats.org/drawingml/2006/main" noGrp="1"/>
          </p:cNvSpPr>
          <p:nvPr/>
        </p:nvSpPr>
        <p:spPr>
          <a:xfrm xmlns:a="http://schemas.openxmlformats.org/drawingml/2006/main">
            <a:off x="609600" y="2019300"/>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1">
                <a:solidFill>
                  <a:srgbClr val="F4F7FA"/>
                </a:solidFill>
                <a:latin typeface="Roboto"/>
                <a:ea typeface="Roboto"/>
                <a:cs typeface="Roboto"/>
              </a:defRPr>
            </a:pPr>
            <a:r>
              <a:rPr sz="2025" b="1">
                <a:solidFill>
                  <a:srgbClr val="F4F7FA"/>
                </a:solidFill>
                <a:latin typeface="Roboto"/>
                <a:ea typeface="Roboto"/>
                <a:cs typeface="Roboto"/>
              </a:rPr>
              <a:t>A system where consequential runtime responsibility partly depends on probabilistic Model Judgment.</a:t>
            </a:r>
          </a:p>
        </p:txBody>
      </p:sp>
      <p:sp>
        <p:nvSpPr>
          <p:cNvPr id="6" name="">
            <a:extLst xmlns:a="http://schemas.openxmlformats.org/drawingml/2006/main">
              <a:ext uri="{FF2B5EF4-FFF2-40B4-BE49-F238E27FC236}">
                <a16:creationId xmlns:a16="http://schemas.microsoft.com/office/drawing/2014/main" id="{3264701E-1788-4EEB-A9FF-3F044ED05031}"/>
              </a:ext>
            </a:extLst>
          </p:cNvPr>
          <p:cNvSpPr>
            <a:spLocks xmlns:a="http://schemas.openxmlformats.org/drawingml/2006/main" noGrp="1"/>
          </p:cNvSpPr>
          <p:nvPr/>
        </p:nvSpPr>
        <p:spPr>
          <a:xfrm xmlns:a="http://schemas.openxmlformats.org/drawingml/2006/main">
            <a:off x="609600" y="2781300"/>
            <a:ext cx="5257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ADB8C5"/>
                </a:solidFill>
                <a:latin typeface="Roboto"/>
                <a:ea typeface="Roboto"/>
                <a:cs typeface="Roboto"/>
              </a:defRPr>
            </a:pPr>
            <a:r>
              <a:rPr sz="1725" b="0">
                <a:solidFill>
                  <a:srgbClr val="ADB8C5"/>
                </a:solidFill>
                <a:latin typeface="Roboto"/>
                <a:ea typeface="Roboto"/>
                <a:cs typeface="Roboto"/>
              </a:rPr>
              <a:t>Software 1.0</a:t>
            </a:r>
          </a:p>
        </p:txBody>
      </p:sp>
      <p:sp>
        <p:nvSpPr>
          <p:cNvPr id="7" name="">
            <a:extLst xmlns:a="http://schemas.openxmlformats.org/drawingml/2006/main">
              <a:ext uri="{FF2B5EF4-FFF2-40B4-BE49-F238E27FC236}">
                <a16:creationId xmlns:a16="http://schemas.microsoft.com/office/drawing/2014/main" id="{2812172D-2B12-42F0-9568-5A95FD53FF2F}"/>
              </a:ext>
            </a:extLst>
          </p:cNvPr>
          <p:cNvSpPr>
            <a:spLocks xmlns:a="http://schemas.openxmlformats.org/drawingml/2006/main" noGrp="1"/>
          </p:cNvSpPr>
          <p:nvPr/>
        </p:nvSpPr>
        <p:spPr>
          <a:xfrm xmlns:a="http://schemas.openxmlformats.org/drawingml/2006/main">
            <a:off x="609600" y="3124200"/>
            <a:ext cx="52578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900" b="1">
                <a:solidFill>
                  <a:srgbClr val="28C7F7"/>
                </a:solidFill>
                <a:latin typeface="Roboto"/>
                <a:ea typeface="Roboto"/>
                <a:cs typeface="Roboto"/>
              </a:defRPr>
            </a:pPr>
            <a:r>
              <a:rPr sz="3900" b="1">
                <a:solidFill>
                  <a:srgbClr val="28C7F7"/>
                </a:solidFill>
                <a:latin typeface="Roboto"/>
                <a:ea typeface="Roboto"/>
                <a:cs typeface="Roboto"/>
              </a:rPr>
              <a:t>y = f(x)</a:t>
            </a:r>
          </a:p>
        </p:txBody>
      </p:sp>
      <p:sp>
        <p:nvSpPr>
          <p:cNvPr id="8" name="">
            <a:extLst xmlns:a="http://schemas.openxmlformats.org/drawingml/2006/main">
              <a:ext uri="{FF2B5EF4-FFF2-40B4-BE49-F238E27FC236}">
                <a16:creationId xmlns:a16="http://schemas.microsoft.com/office/drawing/2014/main" id="{A6ACEB8E-4009-48F1-952C-ADF4F5C34E37}"/>
              </a:ext>
            </a:extLst>
          </p:cNvPr>
          <p:cNvSpPr>
            <a:spLocks xmlns:a="http://schemas.openxmlformats.org/drawingml/2006/main" noGrp="1"/>
          </p:cNvSpPr>
          <p:nvPr/>
        </p:nvSpPr>
        <p:spPr>
          <a:xfrm xmlns:a="http://schemas.openxmlformats.org/drawingml/2006/main">
            <a:off x="6324600" y="2781300"/>
            <a:ext cx="5257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ADB8C5"/>
                </a:solidFill>
                <a:latin typeface="Roboto"/>
                <a:ea typeface="Roboto"/>
                <a:cs typeface="Roboto"/>
              </a:defRPr>
            </a:pPr>
            <a:r>
              <a:rPr sz="1725" b="0">
                <a:solidFill>
                  <a:srgbClr val="ADB8C5"/>
                </a:solidFill>
                <a:latin typeface="Roboto"/>
                <a:ea typeface="Roboto"/>
                <a:cs typeface="Roboto"/>
              </a:rPr>
              <a:t>Software with Model Judgment</a:t>
            </a:r>
          </a:p>
        </p:txBody>
      </p:sp>
      <p:sp>
        <p:nvSpPr>
          <p:cNvPr id="9" name="">
            <a:extLst xmlns:a="http://schemas.openxmlformats.org/drawingml/2006/main">
              <a:ext uri="{FF2B5EF4-FFF2-40B4-BE49-F238E27FC236}">
                <a16:creationId xmlns:a16="http://schemas.microsoft.com/office/drawing/2014/main" id="{A51C636D-B376-43C5-B2DC-FE1932A1C3A5}"/>
              </a:ext>
            </a:extLst>
          </p:cNvPr>
          <p:cNvSpPr>
            <a:spLocks xmlns:a="http://schemas.openxmlformats.org/drawingml/2006/main" noGrp="1"/>
          </p:cNvSpPr>
          <p:nvPr/>
        </p:nvSpPr>
        <p:spPr>
          <a:xfrm xmlns:a="http://schemas.openxmlformats.org/drawingml/2006/main">
            <a:off x="6324600" y="3124200"/>
            <a:ext cx="52578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900" b="1">
                <a:solidFill>
                  <a:srgbClr val="F5B61C"/>
                </a:solidFill>
                <a:latin typeface="Roboto"/>
                <a:ea typeface="Roboto"/>
                <a:cs typeface="Roboto"/>
              </a:defRPr>
            </a:pPr>
            <a:r>
              <a:rPr sz="3900" b="1">
                <a:solidFill>
                  <a:srgbClr val="F5B61C"/>
                </a:solidFill>
                <a:latin typeface="Roboto"/>
                <a:ea typeface="Roboto"/>
                <a:cs typeface="Roboto"/>
              </a:rPr>
              <a:t>y ~ P(y | x)</a:t>
            </a:r>
          </a:p>
        </p:txBody>
      </p:sp>
      <p:sp>
        <p:nvSpPr>
          <p:cNvPr id="10" name="">
            <a:extLst xmlns:a="http://schemas.openxmlformats.org/drawingml/2006/main">
              <a:ext uri="{FF2B5EF4-FFF2-40B4-BE49-F238E27FC236}">
                <a16:creationId xmlns:a16="http://schemas.microsoft.com/office/drawing/2014/main" id="{D3747756-F808-4F8A-AA9D-1227D4F8149D}"/>
              </a:ext>
            </a:extLst>
          </p:cNvPr>
          <p:cNvSpPr>
            <a:spLocks xmlns:a="http://schemas.openxmlformats.org/drawingml/2006/main" noGrp="1"/>
          </p:cNvSpPr>
          <p:nvPr/>
        </p:nvSpPr>
        <p:spPr>
          <a:xfrm xmlns:a="http://schemas.openxmlformats.org/drawingml/2006/main" flipH="0" flipV="0">
            <a:off x="6096000" y="2781300"/>
            <a:ext cx="0" cy="247650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11" name="">
            <a:extLst xmlns:a="http://schemas.openxmlformats.org/drawingml/2006/main">
              <a:ext uri="{FF2B5EF4-FFF2-40B4-BE49-F238E27FC236}">
                <a16:creationId xmlns:a16="http://schemas.microsoft.com/office/drawing/2014/main" id="{106A0F73-5EE4-4D55-90BB-153395CE2342}"/>
              </a:ext>
            </a:extLst>
          </p:cNvPr>
          <p:cNvSpPr>
            <a:spLocks xmlns:a="http://schemas.openxmlformats.org/drawingml/2006/main" noGrp="1"/>
          </p:cNvSpPr>
          <p:nvPr/>
        </p:nvSpPr>
        <p:spPr>
          <a:xfrm xmlns:a="http://schemas.openxmlformats.org/drawingml/2006/main" flipH="0" flipV="0">
            <a:off x="952500" y="4857750"/>
            <a:ext cx="447675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12" name="">
            <a:extLst xmlns:a="http://schemas.openxmlformats.org/drawingml/2006/main">
              <a:ext uri="{FF2B5EF4-FFF2-40B4-BE49-F238E27FC236}">
                <a16:creationId xmlns:a16="http://schemas.microsoft.com/office/drawing/2014/main" id="{28871F58-E428-4B89-A5B2-C5AF602201AA}"/>
              </a:ext>
            </a:extLst>
          </p:cNvPr>
          <p:cNvSpPr>
            <a:spLocks xmlns:a="http://schemas.openxmlformats.org/drawingml/2006/main" noGrp="1"/>
          </p:cNvSpPr>
          <p:nvPr/>
        </p:nvSpPr>
        <p:spPr>
          <a:xfrm xmlns:a="http://schemas.openxmlformats.org/drawingml/2006/main">
            <a:off x="3086100" y="3905250"/>
            <a:ext cx="247650" cy="952500"/>
          </a:xfrm>
          <a:prstGeom xmlns:a="http://schemas.openxmlformats.org/drawingml/2006/main" prst="rect">
            <a:avLst/>
          </a:prstGeom>
          <a:solidFill xmlns:a="http://schemas.openxmlformats.org/drawingml/2006/main">
            <a:srgbClr val="28C7F7"/>
          </a:solidFill>
          <a:ln xmlns:a="http://schemas.openxmlformats.org/drawingml/2006/main" w="0">
            <a:solidFill>
              <a:srgbClr val="28C7F7"/>
            </a:solidFill>
            <a:prstDash val="solid"/>
          </a:ln>
        </p:spPr>
      </p:sp>
      <p:sp>
        <p:nvSpPr>
          <p:cNvPr id="13" name="">
            <a:extLst xmlns:a="http://schemas.openxmlformats.org/drawingml/2006/main">
              <a:ext uri="{FF2B5EF4-FFF2-40B4-BE49-F238E27FC236}">
                <a16:creationId xmlns:a16="http://schemas.microsoft.com/office/drawing/2014/main" id="{2890D960-6021-4498-ACAB-A10213C8C63F}"/>
              </a:ext>
            </a:extLst>
          </p:cNvPr>
          <p:cNvSpPr>
            <a:spLocks xmlns:a="http://schemas.openxmlformats.org/drawingml/2006/main" noGrp="1"/>
          </p:cNvSpPr>
          <p:nvPr/>
        </p:nvSpPr>
        <p:spPr>
          <a:xfrm xmlns:a="http://schemas.openxmlformats.org/drawingml/2006/main">
            <a:off x="1333500" y="4933950"/>
            <a:ext cx="381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28C7F7"/>
                </a:solidFill>
                <a:latin typeface="Roboto"/>
                <a:ea typeface="Roboto"/>
                <a:cs typeface="Roboto"/>
              </a:defRPr>
            </a:pPr>
            <a:r>
              <a:rPr sz="1575" b="1">
                <a:solidFill>
                  <a:srgbClr val="28C7F7"/>
                </a:solidFill>
                <a:latin typeface="Roboto"/>
                <a:ea typeface="Roboto"/>
                <a:cs typeface="Roboto"/>
              </a:rPr>
              <a:t>One fixed result</a:t>
            </a:r>
          </a:p>
        </p:txBody>
      </p:sp>
      <p:sp>
        <p:nvSpPr>
          <p:cNvPr id="14" name="">
            <a:extLst xmlns:a="http://schemas.openxmlformats.org/drawingml/2006/main">
              <a:ext uri="{FF2B5EF4-FFF2-40B4-BE49-F238E27FC236}">
                <a16:creationId xmlns:a16="http://schemas.microsoft.com/office/drawing/2014/main" id="{B8C94795-095B-4657-A1BD-709142578DF3}"/>
              </a:ext>
            </a:extLst>
          </p:cNvPr>
          <p:cNvSpPr>
            <a:spLocks xmlns:a="http://schemas.openxmlformats.org/drawingml/2006/main" noGrp="1"/>
          </p:cNvSpPr>
          <p:nvPr/>
        </p:nvSpPr>
        <p:spPr>
          <a:xfrm xmlns:a="http://schemas.openxmlformats.org/drawingml/2006/main">
            <a:off x="7429500" y="4705350"/>
            <a:ext cx="200025" cy="152400"/>
          </a:xfrm>
          <a:prstGeom xmlns:a="http://schemas.openxmlformats.org/drawingml/2006/main" prst="rect">
            <a:avLst/>
          </a:prstGeom>
          <a:solidFill xmlns:a="http://schemas.openxmlformats.org/drawingml/2006/main">
            <a:srgbClr val="F5B61C"/>
          </a:solidFill>
          <a:ln xmlns:a="http://schemas.openxmlformats.org/drawingml/2006/main" w="0">
            <a:solidFill>
              <a:srgbClr val="F5B61C"/>
            </a:solidFill>
            <a:prstDash val="solid"/>
          </a:ln>
        </p:spPr>
      </p:sp>
      <p:sp>
        <p:nvSpPr>
          <p:cNvPr id="15" name="">
            <a:extLst xmlns:a="http://schemas.openxmlformats.org/drawingml/2006/main">
              <a:ext uri="{FF2B5EF4-FFF2-40B4-BE49-F238E27FC236}">
                <a16:creationId xmlns:a16="http://schemas.microsoft.com/office/drawing/2014/main" id="{7BA53C91-ACF5-432A-A807-6F6231F8FB12}"/>
              </a:ext>
            </a:extLst>
          </p:cNvPr>
          <p:cNvSpPr>
            <a:spLocks xmlns:a="http://schemas.openxmlformats.org/drawingml/2006/main" noGrp="1"/>
          </p:cNvSpPr>
          <p:nvPr/>
        </p:nvSpPr>
        <p:spPr>
          <a:xfrm xmlns:a="http://schemas.openxmlformats.org/drawingml/2006/main">
            <a:off x="7705725" y="4591050"/>
            <a:ext cx="200025" cy="266700"/>
          </a:xfrm>
          <a:prstGeom xmlns:a="http://schemas.openxmlformats.org/drawingml/2006/main" prst="rect">
            <a:avLst/>
          </a:prstGeom>
          <a:solidFill xmlns:a="http://schemas.openxmlformats.org/drawingml/2006/main">
            <a:srgbClr val="F5B61C"/>
          </a:solidFill>
          <a:ln xmlns:a="http://schemas.openxmlformats.org/drawingml/2006/main" w="0">
            <a:solidFill>
              <a:srgbClr val="F5B61C"/>
            </a:solidFill>
            <a:prstDash val="solid"/>
          </a:ln>
        </p:spPr>
      </p:sp>
      <p:sp>
        <p:nvSpPr>
          <p:cNvPr id="16" name="">
            <a:extLst xmlns:a="http://schemas.openxmlformats.org/drawingml/2006/main">
              <a:ext uri="{FF2B5EF4-FFF2-40B4-BE49-F238E27FC236}">
                <a16:creationId xmlns:a16="http://schemas.microsoft.com/office/drawing/2014/main" id="{F29A7675-D700-4DFE-B798-C9B9F391AFDD}"/>
              </a:ext>
            </a:extLst>
          </p:cNvPr>
          <p:cNvSpPr>
            <a:spLocks xmlns:a="http://schemas.openxmlformats.org/drawingml/2006/main" noGrp="1"/>
          </p:cNvSpPr>
          <p:nvPr/>
        </p:nvSpPr>
        <p:spPr>
          <a:xfrm xmlns:a="http://schemas.openxmlformats.org/drawingml/2006/main">
            <a:off x="7981950" y="4400550"/>
            <a:ext cx="200025" cy="457200"/>
          </a:xfrm>
          <a:prstGeom xmlns:a="http://schemas.openxmlformats.org/drawingml/2006/main" prst="rect">
            <a:avLst/>
          </a:prstGeom>
          <a:solidFill xmlns:a="http://schemas.openxmlformats.org/drawingml/2006/main">
            <a:srgbClr val="28C7F7"/>
          </a:solidFill>
          <a:ln xmlns:a="http://schemas.openxmlformats.org/drawingml/2006/main" w="0">
            <a:solidFill>
              <a:srgbClr val="28C7F7"/>
            </a:solidFill>
            <a:prstDash val="solid"/>
          </a:ln>
        </p:spPr>
      </p:sp>
      <p:sp>
        <p:nvSpPr>
          <p:cNvPr id="17" name="">
            <a:extLst xmlns:a="http://schemas.openxmlformats.org/drawingml/2006/main">
              <a:ext uri="{FF2B5EF4-FFF2-40B4-BE49-F238E27FC236}">
                <a16:creationId xmlns:a16="http://schemas.microsoft.com/office/drawing/2014/main" id="{B1A1EB81-CCF7-4167-AFC3-DB4BA9FB77A3}"/>
              </a:ext>
            </a:extLst>
          </p:cNvPr>
          <p:cNvSpPr>
            <a:spLocks xmlns:a="http://schemas.openxmlformats.org/drawingml/2006/main" noGrp="1"/>
          </p:cNvSpPr>
          <p:nvPr/>
        </p:nvSpPr>
        <p:spPr>
          <a:xfrm xmlns:a="http://schemas.openxmlformats.org/drawingml/2006/main">
            <a:off x="8258175" y="4133850"/>
            <a:ext cx="200025" cy="723900"/>
          </a:xfrm>
          <a:prstGeom xmlns:a="http://schemas.openxmlformats.org/drawingml/2006/main" prst="rect">
            <a:avLst/>
          </a:prstGeom>
          <a:solidFill xmlns:a="http://schemas.openxmlformats.org/drawingml/2006/main">
            <a:srgbClr val="28C7F7"/>
          </a:solidFill>
          <a:ln xmlns:a="http://schemas.openxmlformats.org/drawingml/2006/main" w="0">
            <a:solidFill>
              <a:srgbClr val="28C7F7"/>
            </a:solidFill>
            <a:prstDash val="solid"/>
          </a:ln>
        </p:spPr>
      </p:sp>
      <p:sp>
        <p:nvSpPr>
          <p:cNvPr id="18" name="">
            <a:extLst xmlns:a="http://schemas.openxmlformats.org/drawingml/2006/main">
              <a:ext uri="{FF2B5EF4-FFF2-40B4-BE49-F238E27FC236}">
                <a16:creationId xmlns:a16="http://schemas.microsoft.com/office/drawing/2014/main" id="{3EF8CEA4-1B7A-4937-81BD-5A10DE7E45F2}"/>
              </a:ext>
            </a:extLst>
          </p:cNvPr>
          <p:cNvSpPr>
            <a:spLocks xmlns:a="http://schemas.openxmlformats.org/drawingml/2006/main" noGrp="1"/>
          </p:cNvSpPr>
          <p:nvPr/>
        </p:nvSpPr>
        <p:spPr>
          <a:xfrm xmlns:a="http://schemas.openxmlformats.org/drawingml/2006/main">
            <a:off x="8534400" y="3857625"/>
            <a:ext cx="200025" cy="1000125"/>
          </a:xfrm>
          <a:prstGeom xmlns:a="http://schemas.openxmlformats.org/drawingml/2006/main" prst="rect">
            <a:avLst/>
          </a:prstGeom>
          <a:solidFill xmlns:a="http://schemas.openxmlformats.org/drawingml/2006/main">
            <a:srgbClr val="28C7F7"/>
          </a:solidFill>
          <a:ln xmlns:a="http://schemas.openxmlformats.org/drawingml/2006/main" w="0">
            <a:solidFill>
              <a:srgbClr val="28C7F7"/>
            </a:solidFill>
            <a:prstDash val="solid"/>
          </a:ln>
        </p:spPr>
      </p:sp>
      <p:sp>
        <p:nvSpPr>
          <p:cNvPr id="19" name="">
            <a:extLst xmlns:a="http://schemas.openxmlformats.org/drawingml/2006/main">
              <a:ext uri="{FF2B5EF4-FFF2-40B4-BE49-F238E27FC236}">
                <a16:creationId xmlns:a16="http://schemas.microsoft.com/office/drawing/2014/main" id="{034CFAF5-E5C3-4AE2-981D-771525581660}"/>
              </a:ext>
            </a:extLst>
          </p:cNvPr>
          <p:cNvSpPr>
            <a:spLocks xmlns:a="http://schemas.openxmlformats.org/drawingml/2006/main" noGrp="1"/>
          </p:cNvSpPr>
          <p:nvPr/>
        </p:nvSpPr>
        <p:spPr>
          <a:xfrm xmlns:a="http://schemas.openxmlformats.org/drawingml/2006/main">
            <a:off x="8810625" y="3695700"/>
            <a:ext cx="200025" cy="1162050"/>
          </a:xfrm>
          <a:prstGeom xmlns:a="http://schemas.openxmlformats.org/drawingml/2006/main" prst="rect">
            <a:avLst/>
          </a:prstGeom>
          <a:solidFill xmlns:a="http://schemas.openxmlformats.org/drawingml/2006/main">
            <a:srgbClr val="28C7F7"/>
          </a:solidFill>
          <a:ln xmlns:a="http://schemas.openxmlformats.org/drawingml/2006/main" w="0">
            <a:solidFill>
              <a:srgbClr val="28C7F7"/>
            </a:solidFill>
            <a:prstDash val="solid"/>
          </a:ln>
        </p:spPr>
      </p:sp>
      <p:sp>
        <p:nvSpPr>
          <p:cNvPr id="20" name="">
            <a:extLst xmlns:a="http://schemas.openxmlformats.org/drawingml/2006/main">
              <a:ext uri="{FF2B5EF4-FFF2-40B4-BE49-F238E27FC236}">
                <a16:creationId xmlns:a16="http://schemas.microsoft.com/office/drawing/2014/main" id="{FB7614DF-75C2-4607-8445-D693DEC15EE2}"/>
              </a:ext>
            </a:extLst>
          </p:cNvPr>
          <p:cNvSpPr>
            <a:spLocks xmlns:a="http://schemas.openxmlformats.org/drawingml/2006/main" noGrp="1"/>
          </p:cNvSpPr>
          <p:nvPr/>
        </p:nvSpPr>
        <p:spPr>
          <a:xfrm xmlns:a="http://schemas.openxmlformats.org/drawingml/2006/main">
            <a:off x="9086850" y="3857625"/>
            <a:ext cx="200025" cy="1000125"/>
          </a:xfrm>
          <a:prstGeom xmlns:a="http://schemas.openxmlformats.org/drawingml/2006/main" prst="rect">
            <a:avLst/>
          </a:prstGeom>
          <a:solidFill xmlns:a="http://schemas.openxmlformats.org/drawingml/2006/main">
            <a:srgbClr val="28C7F7"/>
          </a:solidFill>
          <a:ln xmlns:a="http://schemas.openxmlformats.org/drawingml/2006/main" w="0">
            <a:solidFill>
              <a:srgbClr val="28C7F7"/>
            </a:solidFill>
            <a:prstDash val="solid"/>
          </a:ln>
        </p:spPr>
      </p:sp>
      <p:sp>
        <p:nvSpPr>
          <p:cNvPr id="21" name="">
            <a:extLst xmlns:a="http://schemas.openxmlformats.org/drawingml/2006/main">
              <a:ext uri="{FF2B5EF4-FFF2-40B4-BE49-F238E27FC236}">
                <a16:creationId xmlns:a16="http://schemas.microsoft.com/office/drawing/2014/main" id="{BF0F568F-B43B-4D2B-990D-7A9DF6E240BB}"/>
              </a:ext>
            </a:extLst>
          </p:cNvPr>
          <p:cNvSpPr>
            <a:spLocks xmlns:a="http://schemas.openxmlformats.org/drawingml/2006/main" noGrp="1"/>
          </p:cNvSpPr>
          <p:nvPr/>
        </p:nvSpPr>
        <p:spPr>
          <a:xfrm xmlns:a="http://schemas.openxmlformats.org/drawingml/2006/main">
            <a:off x="9363075" y="4133850"/>
            <a:ext cx="200025" cy="723900"/>
          </a:xfrm>
          <a:prstGeom xmlns:a="http://schemas.openxmlformats.org/drawingml/2006/main" prst="rect">
            <a:avLst/>
          </a:prstGeom>
          <a:solidFill xmlns:a="http://schemas.openxmlformats.org/drawingml/2006/main">
            <a:srgbClr val="28C7F7"/>
          </a:solidFill>
          <a:ln xmlns:a="http://schemas.openxmlformats.org/drawingml/2006/main" w="0">
            <a:solidFill>
              <a:srgbClr val="28C7F7"/>
            </a:solidFill>
            <a:prstDash val="solid"/>
          </a:ln>
        </p:spPr>
      </p:sp>
      <p:sp>
        <p:nvSpPr>
          <p:cNvPr id="22" name="">
            <a:extLst xmlns:a="http://schemas.openxmlformats.org/drawingml/2006/main">
              <a:ext uri="{FF2B5EF4-FFF2-40B4-BE49-F238E27FC236}">
                <a16:creationId xmlns:a16="http://schemas.microsoft.com/office/drawing/2014/main" id="{A4002634-7FA8-4776-B76C-5DF2D3C2676C}"/>
              </a:ext>
            </a:extLst>
          </p:cNvPr>
          <p:cNvSpPr>
            <a:spLocks xmlns:a="http://schemas.openxmlformats.org/drawingml/2006/main" noGrp="1"/>
          </p:cNvSpPr>
          <p:nvPr/>
        </p:nvSpPr>
        <p:spPr>
          <a:xfrm xmlns:a="http://schemas.openxmlformats.org/drawingml/2006/main">
            <a:off x="9639300" y="4400550"/>
            <a:ext cx="200025" cy="457200"/>
          </a:xfrm>
          <a:prstGeom xmlns:a="http://schemas.openxmlformats.org/drawingml/2006/main" prst="rect">
            <a:avLst/>
          </a:prstGeom>
          <a:solidFill xmlns:a="http://schemas.openxmlformats.org/drawingml/2006/main">
            <a:srgbClr val="28C7F7"/>
          </a:solidFill>
          <a:ln xmlns:a="http://schemas.openxmlformats.org/drawingml/2006/main" w="0">
            <a:solidFill>
              <a:srgbClr val="28C7F7"/>
            </a:solidFill>
            <a:prstDash val="solid"/>
          </a:ln>
        </p:spPr>
      </p:sp>
      <p:sp>
        <p:nvSpPr>
          <p:cNvPr id="23" name="">
            <a:extLst xmlns:a="http://schemas.openxmlformats.org/drawingml/2006/main">
              <a:ext uri="{FF2B5EF4-FFF2-40B4-BE49-F238E27FC236}">
                <a16:creationId xmlns:a16="http://schemas.microsoft.com/office/drawing/2014/main" id="{D1D90329-5479-415D-9CB5-DC8611B860B2}"/>
              </a:ext>
            </a:extLst>
          </p:cNvPr>
          <p:cNvSpPr>
            <a:spLocks xmlns:a="http://schemas.openxmlformats.org/drawingml/2006/main" noGrp="1"/>
          </p:cNvSpPr>
          <p:nvPr/>
        </p:nvSpPr>
        <p:spPr>
          <a:xfrm xmlns:a="http://schemas.openxmlformats.org/drawingml/2006/main">
            <a:off x="9915525" y="4591050"/>
            <a:ext cx="200025" cy="266700"/>
          </a:xfrm>
          <a:prstGeom xmlns:a="http://schemas.openxmlformats.org/drawingml/2006/main" prst="rect">
            <a:avLst/>
          </a:prstGeom>
          <a:solidFill xmlns:a="http://schemas.openxmlformats.org/drawingml/2006/main">
            <a:srgbClr val="F5B61C"/>
          </a:solidFill>
          <a:ln xmlns:a="http://schemas.openxmlformats.org/drawingml/2006/main" w="0">
            <a:solidFill>
              <a:srgbClr val="F5B61C"/>
            </a:solidFill>
            <a:prstDash val="solid"/>
          </a:ln>
        </p:spPr>
      </p:sp>
      <p:sp>
        <p:nvSpPr>
          <p:cNvPr id="24" name="">
            <a:extLst xmlns:a="http://schemas.openxmlformats.org/drawingml/2006/main">
              <a:ext uri="{FF2B5EF4-FFF2-40B4-BE49-F238E27FC236}">
                <a16:creationId xmlns:a16="http://schemas.microsoft.com/office/drawing/2014/main" id="{EDD31ED7-ABCF-4473-B50B-1BEB2F617152}"/>
              </a:ext>
            </a:extLst>
          </p:cNvPr>
          <p:cNvSpPr>
            <a:spLocks xmlns:a="http://schemas.openxmlformats.org/drawingml/2006/main" noGrp="1"/>
          </p:cNvSpPr>
          <p:nvPr/>
        </p:nvSpPr>
        <p:spPr>
          <a:xfrm xmlns:a="http://schemas.openxmlformats.org/drawingml/2006/main">
            <a:off x="10191750" y="4705350"/>
            <a:ext cx="200025" cy="152400"/>
          </a:xfrm>
          <a:prstGeom xmlns:a="http://schemas.openxmlformats.org/drawingml/2006/main" prst="rect">
            <a:avLst/>
          </a:prstGeom>
          <a:solidFill xmlns:a="http://schemas.openxmlformats.org/drawingml/2006/main">
            <a:srgbClr val="F5B61C"/>
          </a:solidFill>
          <a:ln xmlns:a="http://schemas.openxmlformats.org/drawingml/2006/main" w="0">
            <a:solidFill>
              <a:srgbClr val="F5B61C"/>
            </a:solidFill>
            <a:prstDash val="solid"/>
          </a:ln>
        </p:spPr>
      </p:sp>
      <p:sp>
        <p:nvSpPr>
          <p:cNvPr id="25" name="">
            <a:extLst xmlns:a="http://schemas.openxmlformats.org/drawingml/2006/main">
              <a:ext uri="{FF2B5EF4-FFF2-40B4-BE49-F238E27FC236}">
                <a16:creationId xmlns:a16="http://schemas.microsoft.com/office/drawing/2014/main" id="{0CEFA7BC-EABA-4253-844A-5994783A693F}"/>
              </a:ext>
            </a:extLst>
          </p:cNvPr>
          <p:cNvSpPr>
            <a:spLocks xmlns:a="http://schemas.openxmlformats.org/drawingml/2006/main" noGrp="1"/>
          </p:cNvSpPr>
          <p:nvPr/>
        </p:nvSpPr>
        <p:spPr>
          <a:xfrm xmlns:a="http://schemas.openxmlformats.org/drawingml/2006/main" flipH="0" flipV="0">
            <a:off x="6619875" y="4857750"/>
            <a:ext cx="4867275"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26" name="">
            <a:extLst xmlns:a="http://schemas.openxmlformats.org/drawingml/2006/main">
              <a:ext uri="{FF2B5EF4-FFF2-40B4-BE49-F238E27FC236}">
                <a16:creationId xmlns:a16="http://schemas.microsoft.com/office/drawing/2014/main" id="{BF3C73E0-44E0-4EBB-A8E5-835F3B58804A}"/>
              </a:ext>
            </a:extLst>
          </p:cNvPr>
          <p:cNvSpPr>
            <a:spLocks xmlns:a="http://schemas.openxmlformats.org/drawingml/2006/main" noGrp="1"/>
          </p:cNvSpPr>
          <p:nvPr/>
        </p:nvSpPr>
        <p:spPr>
          <a:xfrm xmlns:a="http://schemas.openxmlformats.org/drawingml/2006/main">
            <a:off x="6543675" y="4991100"/>
            <a:ext cx="13811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F5B61C"/>
                </a:solidFill>
                <a:latin typeface="Roboto"/>
                <a:ea typeface="Roboto"/>
                <a:cs typeface="Roboto"/>
              </a:defRPr>
            </a:pPr>
            <a:r>
              <a:rPr sz="1275" b="0">
                <a:solidFill>
                  <a:srgbClr val="F5B61C"/>
                </a:solidFill>
                <a:latin typeface="Roboto"/>
                <a:ea typeface="Roboto"/>
                <a:cs typeface="Roboto"/>
              </a:rPr>
              <a:t>Less frequent outcomes</a:t>
            </a:r>
          </a:p>
        </p:txBody>
      </p:sp>
      <p:sp>
        <p:nvSpPr>
          <p:cNvPr id="27" name="">
            <a:extLst xmlns:a="http://schemas.openxmlformats.org/drawingml/2006/main">
              <a:ext uri="{FF2B5EF4-FFF2-40B4-BE49-F238E27FC236}">
                <a16:creationId xmlns:a16="http://schemas.microsoft.com/office/drawing/2014/main" id="{74821213-4213-45C2-81FE-E7D33C4E0C46}"/>
              </a:ext>
            </a:extLst>
          </p:cNvPr>
          <p:cNvSpPr>
            <a:spLocks xmlns:a="http://schemas.openxmlformats.org/drawingml/2006/main" noGrp="1"/>
          </p:cNvSpPr>
          <p:nvPr/>
        </p:nvSpPr>
        <p:spPr>
          <a:xfrm xmlns:a="http://schemas.openxmlformats.org/drawingml/2006/main">
            <a:off x="7991475" y="4962525"/>
            <a:ext cx="21431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00" b="1">
                <a:solidFill>
                  <a:srgbClr val="28C7F7"/>
                </a:solidFill>
                <a:latin typeface="Roboto"/>
                <a:ea typeface="Roboto"/>
                <a:cs typeface="Roboto"/>
              </a:defRPr>
            </a:pPr>
            <a:r>
              <a:rPr sz="1500" b="1">
                <a:solidFill>
                  <a:srgbClr val="28C7F7"/>
                </a:solidFill>
                <a:latin typeface="Roboto"/>
                <a:ea typeface="Roboto"/>
                <a:cs typeface="Roboto"/>
              </a:rPr>
              <a:t>Useful variation</a:t>
            </a:r>
          </a:p>
        </p:txBody>
      </p:sp>
      <p:sp>
        <p:nvSpPr>
          <p:cNvPr id="28" name="">
            <a:extLst xmlns:a="http://schemas.openxmlformats.org/drawingml/2006/main">
              <a:ext uri="{FF2B5EF4-FFF2-40B4-BE49-F238E27FC236}">
                <a16:creationId xmlns:a16="http://schemas.microsoft.com/office/drawing/2014/main" id="{F5AE842C-6B0B-41D1-AD19-69E95EC9D849}"/>
              </a:ext>
            </a:extLst>
          </p:cNvPr>
          <p:cNvSpPr>
            <a:spLocks xmlns:a="http://schemas.openxmlformats.org/drawingml/2006/main" noGrp="1"/>
          </p:cNvSpPr>
          <p:nvPr/>
        </p:nvSpPr>
        <p:spPr>
          <a:xfrm xmlns:a="http://schemas.openxmlformats.org/drawingml/2006/main">
            <a:off x="10201275" y="4991100"/>
            <a:ext cx="13811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F5B61C"/>
                </a:solidFill>
                <a:latin typeface="Roboto"/>
                <a:ea typeface="Roboto"/>
                <a:cs typeface="Roboto"/>
              </a:defRPr>
            </a:pPr>
            <a:r>
              <a:rPr sz="1275" b="0">
                <a:solidFill>
                  <a:srgbClr val="F5B61C"/>
                </a:solidFill>
                <a:latin typeface="Roboto"/>
                <a:ea typeface="Roboto"/>
                <a:cs typeface="Roboto"/>
              </a:rPr>
              <a:t>Less frequent outcomes</a:t>
            </a:r>
          </a:p>
        </p:txBody>
      </p:sp>
      <p:sp>
        <p:nvSpPr>
          <p:cNvPr id="29" name="">
            <a:extLst xmlns:a="http://schemas.openxmlformats.org/drawingml/2006/main">
              <a:ext uri="{FF2B5EF4-FFF2-40B4-BE49-F238E27FC236}">
                <a16:creationId xmlns:a16="http://schemas.microsoft.com/office/drawing/2014/main" id="{BAAA3C5D-17EF-4385-B99F-B2D521EE0207}"/>
              </a:ext>
            </a:extLst>
          </p:cNvPr>
          <p:cNvSpPr>
            <a:spLocks xmlns:a="http://schemas.openxmlformats.org/drawingml/2006/main" noGrp="1"/>
          </p:cNvSpPr>
          <p:nvPr/>
        </p:nvSpPr>
        <p:spPr>
          <a:xfrm xmlns:a="http://schemas.openxmlformats.org/drawingml/2006/main">
            <a:off x="609600" y="5362575"/>
            <a:ext cx="5257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F4F7FA"/>
                </a:solidFill>
                <a:latin typeface="Roboto"/>
                <a:ea typeface="Roboto"/>
                <a:cs typeface="Roboto"/>
              </a:defRPr>
            </a:pPr>
            <a:r>
              <a:rPr sz="1500" b="0">
                <a:solidFill>
                  <a:srgbClr val="F4F7FA"/>
                </a:solidFill>
                <a:latin typeface="Roboto"/>
                <a:ea typeface="Roboto"/>
                <a:cs typeface="Roboto"/>
              </a:rPr>
              <a:t>Same input, state and version: same result.</a:t>
            </a:r>
          </a:p>
        </p:txBody>
      </p:sp>
      <p:sp>
        <p:nvSpPr>
          <p:cNvPr id="30" name="">
            <a:extLst xmlns:a="http://schemas.openxmlformats.org/drawingml/2006/main">
              <a:ext uri="{FF2B5EF4-FFF2-40B4-BE49-F238E27FC236}">
                <a16:creationId xmlns:a16="http://schemas.microsoft.com/office/drawing/2014/main" id="{3673EEDA-0821-4CCB-A0D4-0FE4C2EFFCF8}"/>
              </a:ext>
            </a:extLst>
          </p:cNvPr>
          <p:cNvSpPr>
            <a:spLocks xmlns:a="http://schemas.openxmlformats.org/drawingml/2006/main" noGrp="1"/>
          </p:cNvSpPr>
          <p:nvPr/>
        </p:nvSpPr>
        <p:spPr>
          <a:xfrm xmlns:a="http://schemas.openxmlformats.org/drawingml/2006/main">
            <a:off x="6324600" y="5362575"/>
            <a:ext cx="5257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F4F7FA"/>
                </a:solidFill>
                <a:latin typeface="Roboto"/>
                <a:ea typeface="Roboto"/>
                <a:cs typeface="Roboto"/>
              </a:defRPr>
            </a:pPr>
            <a:r>
              <a:rPr sz="1500" b="0">
                <a:solidFill>
                  <a:srgbClr val="F4F7FA"/>
                </a:solidFill>
                <a:latin typeface="Roboto"/>
                <a:ea typeface="Roboto"/>
                <a:cs typeface="Roboto"/>
              </a:rPr>
              <a:t>The same request can produce different results.</a:t>
            </a:r>
          </a:p>
        </p:txBody>
      </p:sp>
      <p:sp>
        <p:nvSpPr>
          <p:cNvPr id="31" name="">
            <a:extLst xmlns:a="http://schemas.openxmlformats.org/drawingml/2006/main">
              <a:ext uri="{FF2B5EF4-FFF2-40B4-BE49-F238E27FC236}">
                <a16:creationId xmlns:a16="http://schemas.microsoft.com/office/drawing/2014/main" id="{97FA0265-31D3-4719-8701-634E729CE77C}"/>
              </a:ext>
            </a:extLst>
          </p:cNvPr>
          <p:cNvSpPr>
            <a:spLocks xmlns:a="http://schemas.openxmlformats.org/drawingml/2006/main" noGrp="1"/>
          </p:cNvSpPr>
          <p:nvPr/>
        </p:nvSpPr>
        <p:spPr>
          <a:xfrm xmlns:a="http://schemas.openxmlformats.org/drawingml/2006/main" flipH="0" flipV="0">
            <a:off x="609600" y="573405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2" name="">
            <a:extLst xmlns:a="http://schemas.openxmlformats.org/drawingml/2006/main">
              <a:ext uri="{FF2B5EF4-FFF2-40B4-BE49-F238E27FC236}">
                <a16:creationId xmlns:a16="http://schemas.microsoft.com/office/drawing/2014/main" id="{EA047E74-2673-4815-88A8-15DFC83C2388}"/>
              </a:ext>
            </a:extLst>
          </p:cNvPr>
          <p:cNvSpPr>
            <a:spLocks xmlns:a="http://schemas.openxmlformats.org/drawingml/2006/main" noGrp="1"/>
          </p:cNvSpPr>
          <p:nvPr/>
        </p:nvSpPr>
        <p:spPr>
          <a:xfrm xmlns:a="http://schemas.openxmlformats.org/drawingml/2006/main">
            <a:off x="609600" y="5905500"/>
            <a:ext cx="106489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1">
                <a:solidFill>
                  <a:srgbClr val="F4F7FA"/>
                </a:solidFill>
                <a:latin typeface="Roboto"/>
                <a:ea typeface="Roboto"/>
                <a:cs typeface="Roboto"/>
              </a:defRPr>
            </a:pPr>
            <a:r>
              <a:rPr sz="2100" b="1">
                <a:solidFill>
                  <a:srgbClr val="F4F7FA"/>
                </a:solidFill>
                <a:latin typeface="Roboto"/>
                <a:ea typeface="Roboto"/>
                <a:cs typeface="Roboto"/>
              </a:rPr>
              <a:t>Engineer the useful region of behavior.</a:t>
            </a:r>
          </a:p>
        </p:txBody>
      </p:sp>
      <p:sp>
        <p:nvSpPr>
          <p:cNvPr id="33" name="">
            <a:extLst xmlns:a="http://schemas.openxmlformats.org/drawingml/2006/main">
              <a:ext uri="{FF2B5EF4-FFF2-40B4-BE49-F238E27FC236}">
                <a16:creationId xmlns:a16="http://schemas.microsoft.com/office/drawing/2014/main" id="{9608C02F-40E9-4960-A392-3542A4E77537}"/>
              </a:ext>
            </a:extLst>
          </p:cNvPr>
          <p:cNvSpPr>
            <a:spLocks xmlns:a="http://schemas.openxmlformats.org/drawingml/2006/main" noGrp="1"/>
          </p:cNvSpPr>
          <p:nvPr/>
        </p:nvSpPr>
        <p:spPr>
          <a:xfrm xmlns:a="http://schemas.openxmlformats.org/drawingml/2006/main">
            <a:off x="609600" y="5791200"/>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0">
                <a:solidFill>
                  <a:srgbClr val="ADB8C5"/>
                </a:solidFill>
                <a:latin typeface="Roboto"/>
                <a:ea typeface="Roboto"/>
                <a:cs typeface="Roboto"/>
              </a:defRPr>
            </a:pPr>
            <a:r>
              <a:rPr sz="1425" b="0">
                <a:solidFill>
                  <a:srgbClr val="ADB8C5"/>
                </a:solidFill>
                <a:latin typeface="Roboto"/>
                <a:ea typeface="Roboto"/>
                <a:cs typeface="Roboto"/>
              </a:rPr>
              <a:t>Distribution also depends on context, model and configuration.</a:t>
            </a:r>
          </a:p>
        </p:txBody>
      </p:sp>
      <p:sp>
        <p:nvSpPr>
          <p:cNvPr id="34" name="">
            <a:extLst xmlns:a="http://schemas.openxmlformats.org/drawingml/2006/main">
              <a:ext uri="{FF2B5EF4-FFF2-40B4-BE49-F238E27FC236}">
                <a16:creationId xmlns:a16="http://schemas.microsoft.com/office/drawing/2014/main" id="{27AA7403-9D33-43F9-915C-FECAE47D24CA}"/>
              </a:ext>
            </a:extLst>
          </p:cNvPr>
          <p:cNvSpPr>
            <a:spLocks xmlns:a="http://schemas.openxmlformats.org/drawingml/2006/main" noGrp="1"/>
          </p:cNvSpPr>
          <p:nvPr/>
        </p:nvSpPr>
        <p:spPr>
          <a:xfrm xmlns:a="http://schemas.openxmlformats.org/drawingml/2006/main">
            <a:off x="609600" y="6438900"/>
            <a:ext cx="10648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Roboto"/>
                <a:ea typeface="Roboto"/>
                <a:cs typeface="Roboto"/>
              </a:defRPr>
            </a:pPr>
            <a:r>
              <a:rPr sz="1350" b="0">
                <a:solidFill>
                  <a:srgbClr val="ADB8C5"/>
                </a:solidFill>
                <a:latin typeface="Roboto"/>
                <a:ea typeface="Roboto"/>
                <a:cs typeface="Roboto"/>
              </a:rPr>
              <a:t>Schematic distribution, not measured data. Shape depends on the task.</a:t>
            </a:r>
          </a:p>
        </p:txBody>
      </p:sp>
    </p:spTree>
    <p:extLst>
      <p:ext uri="{BB962C8B-B14F-4D97-AF65-F5344CB8AC3E}">
        <p14:creationId xmlns:p14="http://schemas.microsoft.com/office/powerpoint/2010/main" val="1775940271"/>
      </p:ext>
    </p:extLst>
  </p:cSld>
</p:sld>
</file>

<file path=ppt/slides/slide9.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48" name="">
            <a:extLst xmlns:a="http://schemas.openxmlformats.org/drawingml/2006/main">
              <a:ext uri="{FF2B5EF4-FFF2-40B4-BE49-F238E27FC236}">
                <a16:creationId xmlns:a16="http://schemas.microsoft.com/office/drawing/2014/main" id="{255EB759-55AD-44DA-AE47-CF82074046E3}"/>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Roboto"/>
                <a:ea typeface="Roboto"/>
                <a:cs typeface="Roboto"/>
              </a:defRPr>
            </a:pPr>
            <a:r>
              <a:rPr sz="3000" b="1">
                <a:solidFill>
                  <a:srgbClr val="F4F7FA"/>
                </a:solidFill>
                <a:latin typeface="Roboto"/>
                <a:ea typeface="Roboto"/>
                <a:cs typeface="Roboto"/>
              </a:rPr>
              <a:t>Requirements Become Boundaries</a:t>
            </a:r>
          </a:p>
        </p:txBody>
      </p:sp>
      <p:sp>
        <p:nvSpPr>
          <p:cNvPr id="2" name="">
            <a:extLst xmlns:a="http://schemas.openxmlformats.org/drawingml/2006/main">
              <a:ext uri="{FF2B5EF4-FFF2-40B4-BE49-F238E27FC236}">
                <a16:creationId xmlns:a16="http://schemas.microsoft.com/office/drawing/2014/main" id="{BC883579-E354-4D12-AFF3-0EFEBD983624}"/>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44085211-DAE6-4B03-924D-2CF8727FC9D1}"/>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Roboto"/>
                <a:ea typeface="Roboto"/>
                <a:cs typeface="Roboto"/>
              </a:defRPr>
            </a:pPr>
            <a:r>
              <a:rPr sz="1200" b="0">
                <a:solidFill>
                  <a:srgbClr val="ADB8C5"/>
                </a:solidFill>
                <a:latin typeface="Roboto"/>
                <a:ea typeface="Roboto"/>
                <a:cs typeface="Roboto"/>
              </a:rPr>
              <a:t>09</a:t>
            </a:r>
          </a:p>
        </p:txBody>
      </p:sp>
      <p:sp>
        <p:nvSpPr>
          <p:cNvPr id="4" name="">
            <a:extLst xmlns:a="http://schemas.openxmlformats.org/drawingml/2006/main">
              <a:ext uri="{FF2B5EF4-FFF2-40B4-BE49-F238E27FC236}">
                <a16:creationId xmlns:a16="http://schemas.microsoft.com/office/drawing/2014/main" id="{37684581-D47F-43CD-A0DF-16FA81894185}"/>
              </a:ext>
            </a:extLst>
          </p:cNvPr>
          <p:cNvSpPr>
            <a:spLocks xmlns:a="http://schemas.openxmlformats.org/drawingml/2006/main" noGrp="1"/>
          </p:cNvSpPr>
          <p:nvPr/>
        </p:nvSpPr>
        <p:spPr>
          <a:xfrm xmlns:a="http://schemas.openxmlformats.org/drawingml/2006/main">
            <a:off x="609600" y="16764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28C7F7"/>
                </a:solidFill>
                <a:latin typeface="Roboto"/>
                <a:ea typeface="Roboto"/>
                <a:cs typeface="Roboto"/>
              </a:defRPr>
            </a:pPr>
            <a:r>
              <a:rPr sz="1650" b="1">
                <a:solidFill>
                  <a:srgbClr val="28C7F7"/>
                </a:solidFill>
                <a:latin typeface="Roboto"/>
                <a:ea typeface="Roboto"/>
                <a:cs typeface="Roboto"/>
              </a:rPr>
              <a:t>PRODUCT MANAGER + BA · agree what acceptable behavior means</a:t>
            </a:r>
          </a:p>
        </p:txBody>
      </p:sp>
      <p:sp>
        <p:nvSpPr>
          <p:cNvPr id="5" name="">
            <a:extLst xmlns:a="http://schemas.openxmlformats.org/drawingml/2006/main">
              <a:ext uri="{FF2B5EF4-FFF2-40B4-BE49-F238E27FC236}">
                <a16:creationId xmlns:a16="http://schemas.microsoft.com/office/drawing/2014/main" id="{F13D72D1-B160-46D9-9F45-D4CF7B8739AC}"/>
              </a:ext>
            </a:extLst>
          </p:cNvPr>
          <p:cNvSpPr>
            <a:spLocks xmlns:a="http://schemas.openxmlformats.org/drawingml/2006/main" noGrp="1"/>
          </p:cNvSpPr>
          <p:nvPr/>
        </p:nvSpPr>
        <p:spPr>
          <a:xfrm xmlns:a="http://schemas.openxmlformats.org/drawingml/2006/main" flipH="0" flipV="0">
            <a:off x="4838700" y="2095500"/>
            <a:ext cx="0" cy="209550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6" name="">
            <a:extLst xmlns:a="http://schemas.openxmlformats.org/drawingml/2006/main">
              <a:ext uri="{FF2B5EF4-FFF2-40B4-BE49-F238E27FC236}">
                <a16:creationId xmlns:a16="http://schemas.microsoft.com/office/drawing/2014/main" id="{205D0EED-B79F-4C5C-A738-8322BE61A325}"/>
              </a:ext>
            </a:extLst>
          </p:cNvPr>
          <p:cNvSpPr>
            <a:spLocks xmlns:a="http://schemas.openxmlformats.org/drawingml/2006/main" noGrp="1"/>
          </p:cNvSpPr>
          <p:nvPr/>
        </p:nvSpPr>
        <p:spPr>
          <a:xfrm xmlns:a="http://schemas.openxmlformats.org/drawingml/2006/main">
            <a:off x="609600" y="2095500"/>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1">
                <a:solidFill>
                  <a:srgbClr val="ADB8C5"/>
                </a:solidFill>
                <a:latin typeface="Roboto"/>
                <a:ea typeface="Roboto"/>
                <a:cs typeface="Roboto"/>
              </a:defRPr>
            </a:pPr>
            <a:r>
              <a:rPr sz="1425" b="1">
                <a:solidFill>
                  <a:srgbClr val="ADB8C5"/>
                </a:solidFill>
                <a:latin typeface="Roboto"/>
                <a:ea typeface="Roboto"/>
                <a:cs typeface="Roboto"/>
              </a:rPr>
              <a:t>SPECIFIED FLOW · STILL REQUIRED</a:t>
            </a:r>
          </a:p>
        </p:txBody>
      </p:sp>
      <p:sp>
        <p:nvSpPr>
          <p:cNvPr id="7" name="">
            <a:extLst xmlns:a="http://schemas.openxmlformats.org/drawingml/2006/main">
              <a:ext uri="{FF2B5EF4-FFF2-40B4-BE49-F238E27FC236}">
                <a16:creationId xmlns:a16="http://schemas.microsoft.com/office/drawing/2014/main" id="{DC3B0BDD-3D30-4C06-A2D4-6CCDAF2CAF39}"/>
              </a:ext>
            </a:extLst>
          </p:cNvPr>
          <p:cNvSpPr>
            <a:spLocks xmlns:a="http://schemas.openxmlformats.org/drawingml/2006/main" noGrp="1"/>
          </p:cNvSpPr>
          <p:nvPr/>
        </p:nvSpPr>
        <p:spPr>
          <a:xfrm xmlns:a="http://schemas.openxmlformats.org/drawingml/2006/main">
            <a:off x="609600" y="2466975"/>
            <a:ext cx="1609725" cy="552450"/>
          </a:xfrm>
          <a:prstGeom xmlns:a="http://schemas.openxmlformats.org/drawingml/2006/main" prst="rect">
            <a:avLst/>
          </a:prstGeom>
          <a:solidFill xmlns:a="http://schemas.openxmlformats.org/drawingml/2006/main">
            <a:srgbClr val="141C26"/>
          </a:solidFill>
          <a:ln xmlns:a="http://schemas.openxmlformats.org/drawingml/2006/main" w="14288">
            <a:solidFill>
              <a:srgbClr val="ADB8C5"/>
            </a:solidFill>
            <a:prstDash val="solid"/>
          </a:ln>
        </p:spPr>
      </p:sp>
      <p:sp>
        <p:nvSpPr>
          <p:cNvPr id="8" name="">
            <a:extLst xmlns:a="http://schemas.openxmlformats.org/drawingml/2006/main">
              <a:ext uri="{FF2B5EF4-FFF2-40B4-BE49-F238E27FC236}">
                <a16:creationId xmlns:a16="http://schemas.microsoft.com/office/drawing/2014/main" id="{5CD8DC9B-6BFC-4826-A0C1-A85EFD17CD5B}"/>
              </a:ext>
            </a:extLst>
          </p:cNvPr>
          <p:cNvSpPr>
            <a:spLocks xmlns:a="http://schemas.openxmlformats.org/drawingml/2006/main" noGrp="1"/>
          </p:cNvSpPr>
          <p:nvPr/>
        </p:nvSpPr>
        <p:spPr>
          <a:xfrm xmlns:a="http://schemas.openxmlformats.org/drawingml/2006/main">
            <a:off x="723900" y="2543175"/>
            <a:ext cx="13811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950" b="1">
                <a:solidFill>
                  <a:srgbClr val="F4F7FA"/>
                </a:solidFill>
                <a:latin typeface="Roboto"/>
                <a:ea typeface="Roboto"/>
                <a:cs typeface="Roboto"/>
              </a:defRPr>
            </a:pPr>
            <a:r>
              <a:rPr sz="1950" b="1">
                <a:solidFill>
                  <a:srgbClr val="F4F7FA"/>
                </a:solidFill>
                <a:latin typeface="Roboto"/>
                <a:ea typeface="Roboto"/>
                <a:cs typeface="Roboto"/>
              </a:rPr>
              <a:t>Button A</a:t>
            </a:r>
          </a:p>
        </p:txBody>
      </p:sp>
      <p:sp>
        <p:nvSpPr>
          <p:cNvPr id="9" name="">
            <a:extLst xmlns:a="http://schemas.openxmlformats.org/drawingml/2006/main">
              <a:ext uri="{FF2B5EF4-FFF2-40B4-BE49-F238E27FC236}">
                <a16:creationId xmlns:a16="http://schemas.microsoft.com/office/drawing/2014/main" id="{0799000D-46F1-4225-A5E0-BEF69FAC4B68}"/>
              </a:ext>
            </a:extLst>
          </p:cNvPr>
          <p:cNvSpPr>
            <a:spLocks xmlns:a="http://schemas.openxmlformats.org/drawingml/2006/main" noGrp="1"/>
          </p:cNvSpPr>
          <p:nvPr/>
        </p:nvSpPr>
        <p:spPr>
          <a:xfrm xmlns:a="http://schemas.openxmlformats.org/drawingml/2006/main">
            <a:off x="2876550" y="2466975"/>
            <a:ext cx="1733550" cy="552450"/>
          </a:xfrm>
          <a:prstGeom xmlns:a="http://schemas.openxmlformats.org/drawingml/2006/main" prst="rect">
            <a:avLst/>
          </a:prstGeom>
          <a:solidFill xmlns:a="http://schemas.openxmlformats.org/drawingml/2006/main">
            <a:srgbClr val="141C26"/>
          </a:solidFill>
          <a:ln xmlns:a="http://schemas.openxmlformats.org/drawingml/2006/main" w="14288">
            <a:solidFill>
              <a:srgbClr val="ADB8C5"/>
            </a:solidFill>
            <a:prstDash val="solid"/>
          </a:ln>
        </p:spPr>
      </p:sp>
      <p:sp>
        <p:nvSpPr>
          <p:cNvPr id="10" name="">
            <a:extLst xmlns:a="http://schemas.openxmlformats.org/drawingml/2006/main">
              <a:ext uri="{FF2B5EF4-FFF2-40B4-BE49-F238E27FC236}">
                <a16:creationId xmlns:a16="http://schemas.microsoft.com/office/drawing/2014/main" id="{C72590C4-69BF-4D07-AF4E-9000B6E65E39}"/>
              </a:ext>
            </a:extLst>
          </p:cNvPr>
          <p:cNvSpPr>
            <a:spLocks xmlns:a="http://schemas.openxmlformats.org/drawingml/2006/main" noGrp="1"/>
          </p:cNvSpPr>
          <p:nvPr/>
        </p:nvSpPr>
        <p:spPr>
          <a:xfrm xmlns:a="http://schemas.openxmlformats.org/drawingml/2006/main">
            <a:off x="2990850" y="2543175"/>
            <a:ext cx="15049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950" b="1">
                <a:solidFill>
                  <a:srgbClr val="F4F7FA"/>
                </a:solidFill>
                <a:latin typeface="Roboto"/>
                <a:ea typeface="Roboto"/>
                <a:cs typeface="Roboto"/>
              </a:defRPr>
            </a:pPr>
            <a:r>
              <a:rPr sz="1950" b="1">
                <a:solidFill>
                  <a:srgbClr val="F4F7FA"/>
                </a:solidFill>
                <a:latin typeface="Roboto"/>
                <a:ea typeface="Roboto"/>
                <a:cs typeface="Roboto"/>
              </a:rPr>
              <a:t>Window B</a:t>
            </a:r>
          </a:p>
        </p:txBody>
      </p:sp>
      <p:cxnSp>
        <p:nvCxnSpPr>
          <p:cNvPr id="58" name=""/>
          <p:cNvCxnSpPr>
            <a:stCxn xmlns:a="http://schemas.openxmlformats.org/drawingml/2006/main" id="7" idx="3"/>
            <a:endCxn xmlns:a="http://schemas.openxmlformats.org/drawingml/2006/main" id="9" idx="1"/>
          </p:cNvCxnSpPr>
          <p:nvPr/>
        </p:nvCxnSpPr>
        <p:spPr>
          <a:xfrm xmlns:a="http://schemas.openxmlformats.org/drawingml/2006/main">
            <a:off x="2219325" y="2743200"/>
            <a:ext cx="657225" cy="0"/>
          </a:xfrm>
          <a:prstGeom xmlns:a="http://schemas.openxmlformats.org/drawingml/2006/main" prst="straightConnector1">
            <a:avLst/>
          </a:prstGeom>
          <a:ln xmlns:a="http://schemas.openxmlformats.org/drawingml/2006/main" w="21908">
            <a:solidFill>
              <a:srgbClr val="ADB8C5"/>
            </a:solidFill>
            <a:prstDash val="solid"/>
            <a:tailEnd type="triangle" w="med" len="med"/>
          </a:ln>
        </p:spPr>
      </p:cxnSp>
      <p:sp>
        <p:nvSpPr>
          <p:cNvPr id="12" name="">
            <a:extLst xmlns:a="http://schemas.openxmlformats.org/drawingml/2006/main">
              <a:ext uri="{FF2B5EF4-FFF2-40B4-BE49-F238E27FC236}">
                <a16:creationId xmlns:a16="http://schemas.microsoft.com/office/drawing/2014/main" id="{138F9225-D0EA-4C74-BDD7-E814E81FD65B}"/>
              </a:ext>
            </a:extLst>
          </p:cNvPr>
          <p:cNvSpPr>
            <a:spLocks xmlns:a="http://schemas.openxmlformats.org/drawingml/2006/main" noGrp="1"/>
          </p:cNvSpPr>
          <p:nvPr/>
        </p:nvSpPr>
        <p:spPr>
          <a:xfrm xmlns:a="http://schemas.openxmlformats.org/drawingml/2006/main">
            <a:off x="609600" y="3143250"/>
            <a:ext cx="40005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0">
                <a:solidFill>
                  <a:srgbClr val="F4F7FA"/>
                </a:solidFill>
                <a:latin typeface="Roboto"/>
                <a:ea typeface="Roboto"/>
                <a:cs typeface="Roboto"/>
              </a:defRPr>
            </a:pPr>
            <a:r>
              <a:rPr sz="1875" b="0">
                <a:solidFill>
                  <a:srgbClr val="F4F7FA"/>
                </a:solidFill>
                <a:latin typeface="Roboto"/>
                <a:ea typeface="Roboto"/>
                <a:cs typeface="Roboto"/>
              </a:rPr>
              <a:t>Exact states, permissions</a:t>
            </a:r>
          </a:p>
          <a:p xmlns:a="http://schemas.openxmlformats.org/drawingml/2006/main">
            <a:pPr algn="l">
              <a:defRPr sz="1875" b="0">
                <a:solidFill>
                  <a:srgbClr val="F4F7FA"/>
                </a:solidFill>
                <a:latin typeface="Roboto"/>
                <a:ea typeface="Roboto"/>
                <a:cs typeface="Roboto"/>
              </a:defRPr>
            </a:pPr>
            <a:r>
              <a:rPr sz="1875" b="0">
                <a:solidFill>
                  <a:srgbClr val="F4F7FA"/>
                </a:solidFill>
                <a:latin typeface="Roboto"/>
                <a:ea typeface="Roboto"/>
                <a:cs typeface="Roboto"/>
              </a:rPr>
              <a:t>and transitions.</a:t>
            </a:r>
          </a:p>
        </p:txBody>
      </p:sp>
      <p:sp>
        <p:nvSpPr>
          <p:cNvPr id="13" name="">
            <a:extLst xmlns:a="http://schemas.openxmlformats.org/drawingml/2006/main">
              <a:ext uri="{FF2B5EF4-FFF2-40B4-BE49-F238E27FC236}">
                <a16:creationId xmlns:a16="http://schemas.microsoft.com/office/drawing/2014/main" id="{5CBC9F6B-9512-4C12-BEC1-0545D6041F7C}"/>
              </a:ext>
            </a:extLst>
          </p:cNvPr>
          <p:cNvSpPr>
            <a:spLocks xmlns:a="http://schemas.openxmlformats.org/drawingml/2006/main" noGrp="1"/>
          </p:cNvSpPr>
          <p:nvPr/>
        </p:nvSpPr>
        <p:spPr>
          <a:xfrm xmlns:a="http://schemas.openxmlformats.org/drawingml/2006/main">
            <a:off x="609600" y="3810000"/>
            <a:ext cx="4000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0">
                <a:solidFill>
                  <a:srgbClr val="ADB8C5"/>
                </a:solidFill>
                <a:latin typeface="Roboto"/>
                <a:ea typeface="Roboto"/>
                <a:cs typeface="Roboto"/>
              </a:defRPr>
            </a:pPr>
            <a:r>
              <a:rPr sz="1425" b="0">
                <a:solidFill>
                  <a:srgbClr val="ADB8C5"/>
                </a:solidFill>
                <a:latin typeface="Roboto"/>
                <a:ea typeface="Roboto"/>
                <a:cs typeface="Roboto"/>
              </a:rPr>
              <a:t>Product + BA: examples and rubric.</a:t>
            </a:r>
          </a:p>
          <a:p xmlns:a="http://schemas.openxmlformats.org/drawingml/2006/main">
            <a:pPr algn="l">
              <a:defRPr sz="1425" b="0">
                <a:solidFill>
                  <a:srgbClr val="ADB8C5"/>
                </a:solidFill>
                <a:latin typeface="Roboto"/>
                <a:ea typeface="Roboto"/>
                <a:cs typeface="Roboto"/>
              </a:defRPr>
            </a:pPr>
            <a:r>
              <a:rPr sz="1425" b="0">
                <a:solidFill>
                  <a:srgbClr val="ADB8C5"/>
                </a:solidFill>
                <a:latin typeface="Roboto"/>
                <a:ea typeface="Roboto"/>
                <a:cs typeface="Roboto"/>
              </a:rPr>
              <a:t>Project Manager: stakeholder decisions.</a:t>
            </a:r>
          </a:p>
        </p:txBody>
      </p:sp>
      <p:sp>
        <p:nvSpPr>
          <p:cNvPr id="14" name="">
            <a:extLst xmlns:a="http://schemas.openxmlformats.org/drawingml/2006/main">
              <a:ext uri="{FF2B5EF4-FFF2-40B4-BE49-F238E27FC236}">
                <a16:creationId xmlns:a16="http://schemas.microsoft.com/office/drawing/2014/main" id="{4CB801B6-2651-4515-92C0-E964A1A3EC45}"/>
              </a:ext>
            </a:extLst>
          </p:cNvPr>
          <p:cNvSpPr>
            <a:spLocks xmlns:a="http://schemas.openxmlformats.org/drawingml/2006/main" noGrp="1"/>
          </p:cNvSpPr>
          <p:nvPr/>
        </p:nvSpPr>
        <p:spPr>
          <a:xfrm xmlns:a="http://schemas.openxmlformats.org/drawingml/2006/main">
            <a:off x="5105400" y="2095500"/>
            <a:ext cx="6477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1">
                <a:solidFill>
                  <a:srgbClr val="28C7F7"/>
                </a:solidFill>
                <a:latin typeface="Roboto"/>
                <a:ea typeface="Roboto"/>
                <a:cs typeface="Roboto"/>
              </a:defRPr>
            </a:pPr>
            <a:r>
              <a:rPr sz="1425" b="1">
                <a:solidFill>
                  <a:srgbClr val="28C7F7"/>
                </a:solidFill>
                <a:latin typeface="Roboto"/>
                <a:ea typeface="Roboto"/>
                <a:cs typeface="Roboto"/>
              </a:rPr>
              <a:t>SPACE OF POSSIBLE BEHAVIORS</a:t>
            </a:r>
          </a:p>
        </p:txBody>
      </p:sp>
      <p:sp>
        <p:nvSpPr>
          <p:cNvPr id="15" name="">
            <a:extLst xmlns:a="http://schemas.openxmlformats.org/drawingml/2006/main">
              <a:ext uri="{FF2B5EF4-FFF2-40B4-BE49-F238E27FC236}">
                <a16:creationId xmlns:a16="http://schemas.microsoft.com/office/drawing/2014/main" id="{E1ADA318-29B4-4935-A8D2-2AD4DA4ED90C}"/>
              </a:ext>
            </a:extLst>
          </p:cNvPr>
          <p:cNvSpPr>
            <a:spLocks xmlns:a="http://schemas.openxmlformats.org/drawingml/2006/main" noGrp="1"/>
          </p:cNvSpPr>
          <p:nvPr/>
        </p:nvSpPr>
        <p:spPr>
          <a:xfrm xmlns:a="http://schemas.openxmlformats.org/drawingml/2006/main" flipH="0" flipV="0">
            <a:off x="5305425" y="2657475"/>
            <a:ext cx="61722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16" name="">
            <a:extLst xmlns:a="http://schemas.openxmlformats.org/drawingml/2006/main">
              <a:ext uri="{FF2B5EF4-FFF2-40B4-BE49-F238E27FC236}">
                <a16:creationId xmlns:a16="http://schemas.microsoft.com/office/drawing/2014/main" id="{BAF66869-36A5-4358-8293-7FFA8F52ABEB}"/>
              </a:ext>
            </a:extLst>
          </p:cNvPr>
          <p:cNvSpPr>
            <a:spLocks xmlns:a="http://schemas.openxmlformats.org/drawingml/2006/main" noGrp="1"/>
          </p:cNvSpPr>
          <p:nvPr/>
        </p:nvSpPr>
        <p:spPr>
          <a:xfrm xmlns:a="http://schemas.openxmlformats.org/drawingml/2006/main" flipH="0" flipV="0">
            <a:off x="5305425" y="2962275"/>
            <a:ext cx="61722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17" name="">
            <a:extLst xmlns:a="http://schemas.openxmlformats.org/drawingml/2006/main">
              <a:ext uri="{FF2B5EF4-FFF2-40B4-BE49-F238E27FC236}">
                <a16:creationId xmlns:a16="http://schemas.microsoft.com/office/drawing/2014/main" id="{E3C9FC50-37DD-4ECB-9E32-B3BEA891FA3D}"/>
              </a:ext>
            </a:extLst>
          </p:cNvPr>
          <p:cNvSpPr>
            <a:spLocks xmlns:a="http://schemas.openxmlformats.org/drawingml/2006/main" noGrp="1"/>
          </p:cNvSpPr>
          <p:nvPr/>
        </p:nvSpPr>
        <p:spPr>
          <a:xfrm xmlns:a="http://schemas.openxmlformats.org/drawingml/2006/main" flipH="0" flipV="0">
            <a:off x="5305425" y="3267075"/>
            <a:ext cx="61722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18" name="">
            <a:extLst xmlns:a="http://schemas.openxmlformats.org/drawingml/2006/main">
              <a:ext uri="{FF2B5EF4-FFF2-40B4-BE49-F238E27FC236}">
                <a16:creationId xmlns:a16="http://schemas.microsoft.com/office/drawing/2014/main" id="{AD07F913-FCC6-4D30-9EC0-9DD4DEA46353}"/>
              </a:ext>
            </a:extLst>
          </p:cNvPr>
          <p:cNvSpPr>
            <a:spLocks xmlns:a="http://schemas.openxmlformats.org/drawingml/2006/main" noGrp="1"/>
          </p:cNvSpPr>
          <p:nvPr/>
        </p:nvSpPr>
        <p:spPr>
          <a:xfrm xmlns:a="http://schemas.openxmlformats.org/drawingml/2006/main" flipH="0" flipV="0">
            <a:off x="5305425" y="3571875"/>
            <a:ext cx="61722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19" name="">
            <a:extLst xmlns:a="http://schemas.openxmlformats.org/drawingml/2006/main">
              <a:ext uri="{FF2B5EF4-FFF2-40B4-BE49-F238E27FC236}">
                <a16:creationId xmlns:a16="http://schemas.microsoft.com/office/drawing/2014/main" id="{1F3A0670-B94F-49D3-8825-F32282F6819D}"/>
              </a:ext>
            </a:extLst>
          </p:cNvPr>
          <p:cNvSpPr>
            <a:spLocks xmlns:a="http://schemas.openxmlformats.org/drawingml/2006/main" noGrp="1"/>
          </p:cNvSpPr>
          <p:nvPr/>
        </p:nvSpPr>
        <p:spPr>
          <a:xfrm xmlns:a="http://schemas.openxmlformats.org/drawingml/2006/main" flipH="0" flipV="0">
            <a:off x="5305425" y="3876675"/>
            <a:ext cx="61722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0" name="">
            <a:extLst xmlns:a="http://schemas.openxmlformats.org/drawingml/2006/main">
              <a:ext uri="{FF2B5EF4-FFF2-40B4-BE49-F238E27FC236}">
                <a16:creationId xmlns:a16="http://schemas.microsoft.com/office/drawing/2014/main" id="{0DCD0110-55AE-4811-99E3-57B58C49B857}"/>
              </a:ext>
            </a:extLst>
          </p:cNvPr>
          <p:cNvSpPr>
            <a:spLocks xmlns:a="http://schemas.openxmlformats.org/drawingml/2006/main" noGrp="1"/>
          </p:cNvSpPr>
          <p:nvPr/>
        </p:nvSpPr>
        <p:spPr>
          <a:xfrm xmlns:a="http://schemas.openxmlformats.org/drawingml/2006/main" flipH="0" flipV="1">
            <a:off x="5305425" y="2543175"/>
            <a:ext cx="514350" cy="135255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1" name="">
            <a:extLst xmlns:a="http://schemas.openxmlformats.org/drawingml/2006/main">
              <a:ext uri="{FF2B5EF4-FFF2-40B4-BE49-F238E27FC236}">
                <a16:creationId xmlns:a16="http://schemas.microsoft.com/office/drawing/2014/main" id="{C8CC1D81-CA6A-4187-9766-69DF0FEA18C4}"/>
              </a:ext>
            </a:extLst>
          </p:cNvPr>
          <p:cNvSpPr>
            <a:spLocks xmlns:a="http://schemas.openxmlformats.org/drawingml/2006/main" noGrp="1"/>
          </p:cNvSpPr>
          <p:nvPr/>
        </p:nvSpPr>
        <p:spPr>
          <a:xfrm xmlns:a="http://schemas.openxmlformats.org/drawingml/2006/main" flipH="0" flipV="1">
            <a:off x="6353175" y="2543175"/>
            <a:ext cx="514350" cy="135255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2" name="">
            <a:extLst xmlns:a="http://schemas.openxmlformats.org/drawingml/2006/main">
              <a:ext uri="{FF2B5EF4-FFF2-40B4-BE49-F238E27FC236}">
                <a16:creationId xmlns:a16="http://schemas.microsoft.com/office/drawing/2014/main" id="{565FD1D5-CF7E-413C-8960-7274D2BD69FE}"/>
              </a:ext>
            </a:extLst>
          </p:cNvPr>
          <p:cNvSpPr>
            <a:spLocks xmlns:a="http://schemas.openxmlformats.org/drawingml/2006/main" noGrp="1"/>
          </p:cNvSpPr>
          <p:nvPr/>
        </p:nvSpPr>
        <p:spPr>
          <a:xfrm xmlns:a="http://schemas.openxmlformats.org/drawingml/2006/main" flipH="0" flipV="1">
            <a:off x="7400925" y="2543175"/>
            <a:ext cx="514350" cy="135255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3" name="">
            <a:extLst xmlns:a="http://schemas.openxmlformats.org/drawingml/2006/main">
              <a:ext uri="{FF2B5EF4-FFF2-40B4-BE49-F238E27FC236}">
                <a16:creationId xmlns:a16="http://schemas.microsoft.com/office/drawing/2014/main" id="{B4FE0A6D-50D7-4B7B-AB9F-B1F1E7FA2108}"/>
              </a:ext>
            </a:extLst>
          </p:cNvPr>
          <p:cNvSpPr>
            <a:spLocks xmlns:a="http://schemas.openxmlformats.org/drawingml/2006/main" noGrp="1"/>
          </p:cNvSpPr>
          <p:nvPr/>
        </p:nvSpPr>
        <p:spPr>
          <a:xfrm xmlns:a="http://schemas.openxmlformats.org/drawingml/2006/main" flipH="0" flipV="1">
            <a:off x="8448675" y="2543175"/>
            <a:ext cx="514350" cy="135255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4" name="">
            <a:extLst xmlns:a="http://schemas.openxmlformats.org/drawingml/2006/main">
              <a:ext uri="{FF2B5EF4-FFF2-40B4-BE49-F238E27FC236}">
                <a16:creationId xmlns:a16="http://schemas.microsoft.com/office/drawing/2014/main" id="{A53EEFBC-B379-41B1-8076-F0B98B2E7A98}"/>
              </a:ext>
            </a:extLst>
          </p:cNvPr>
          <p:cNvSpPr>
            <a:spLocks xmlns:a="http://schemas.openxmlformats.org/drawingml/2006/main" noGrp="1"/>
          </p:cNvSpPr>
          <p:nvPr/>
        </p:nvSpPr>
        <p:spPr>
          <a:xfrm xmlns:a="http://schemas.openxmlformats.org/drawingml/2006/main" flipH="0" flipV="1">
            <a:off x="9496425" y="2543175"/>
            <a:ext cx="514350" cy="135255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5" name="">
            <a:extLst xmlns:a="http://schemas.openxmlformats.org/drawingml/2006/main">
              <a:ext uri="{FF2B5EF4-FFF2-40B4-BE49-F238E27FC236}">
                <a16:creationId xmlns:a16="http://schemas.microsoft.com/office/drawing/2014/main" id="{FFE9247F-DF6E-4742-AEDE-5A7082C00473}"/>
              </a:ext>
            </a:extLst>
          </p:cNvPr>
          <p:cNvSpPr>
            <a:spLocks xmlns:a="http://schemas.openxmlformats.org/drawingml/2006/main" noGrp="1"/>
          </p:cNvSpPr>
          <p:nvPr/>
        </p:nvSpPr>
        <p:spPr>
          <a:xfrm xmlns:a="http://schemas.openxmlformats.org/drawingml/2006/main" flipH="0" flipV="1">
            <a:off x="10544175" y="2543175"/>
            <a:ext cx="514350" cy="135255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6" name="">
            <a:extLst xmlns:a="http://schemas.openxmlformats.org/drawingml/2006/main">
              <a:ext uri="{FF2B5EF4-FFF2-40B4-BE49-F238E27FC236}">
                <a16:creationId xmlns:a16="http://schemas.microsoft.com/office/drawing/2014/main" id="{75783C7F-06CE-42E2-BE04-57142EDFF024}"/>
              </a:ext>
            </a:extLst>
          </p:cNvPr>
          <p:cNvSpPr>
            <a:spLocks xmlns:a="http://schemas.openxmlformats.org/drawingml/2006/main" noGrp="1"/>
          </p:cNvSpPr>
          <p:nvPr/>
        </p:nvSpPr>
        <p:spPr>
          <a:xfrm xmlns:a="http://schemas.openxmlformats.org/drawingml/2006/main" flipH="0" flipV="0">
            <a:off x="5305425" y="3914775"/>
            <a:ext cx="617220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27" name="">
            <a:extLst xmlns:a="http://schemas.openxmlformats.org/drawingml/2006/main">
              <a:ext uri="{FF2B5EF4-FFF2-40B4-BE49-F238E27FC236}">
                <a16:creationId xmlns:a16="http://schemas.microsoft.com/office/drawing/2014/main" id="{92C5655C-8250-43DC-A688-24ED36472335}"/>
              </a:ext>
            </a:extLst>
          </p:cNvPr>
          <p:cNvSpPr>
            <a:spLocks xmlns:a="http://schemas.openxmlformats.org/drawingml/2006/main" noGrp="1"/>
          </p:cNvSpPr>
          <p:nvPr/>
        </p:nvSpPr>
        <p:spPr>
          <a:xfrm xmlns:a="http://schemas.openxmlformats.org/drawingml/2006/main" flipH="0" flipV="1">
            <a:off x="5305425" y="2505075"/>
            <a:ext cx="0" cy="140970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28" name="">
            <a:extLst xmlns:a="http://schemas.openxmlformats.org/drawingml/2006/main">
              <a:ext uri="{FF2B5EF4-FFF2-40B4-BE49-F238E27FC236}">
                <a16:creationId xmlns:a16="http://schemas.microsoft.com/office/drawing/2014/main" id="{94669B70-D8AA-4FCB-821F-7DA1C187DD4D}"/>
              </a:ext>
            </a:extLst>
          </p:cNvPr>
          <p:cNvSpPr>
            <a:spLocks xmlns:a="http://schemas.openxmlformats.org/drawingml/2006/main" noGrp="1"/>
          </p:cNvSpPr>
          <p:nvPr/>
        </p:nvSpPr>
        <p:spPr>
          <a:xfrm xmlns:a="http://schemas.openxmlformats.org/drawingml/2006/main">
            <a:off x="5857875" y="2638425"/>
            <a:ext cx="4476750" cy="1143000"/>
          </a:xfrm>
          <a:custGeom xmlns:a="http://schemas.openxmlformats.org/drawingml/2006/main">
            <a:pathLst>
              <a:path w="4476750" h="1143000">
                <a:moveTo>
                  <a:pt x="419100" y="0"/>
                </a:moveTo>
                <a:lnTo>
                  <a:pt x="4476750" y="0"/>
                </a:lnTo>
                <a:lnTo>
                  <a:pt x="4057650" y="1143000"/>
                </a:lnTo>
                <a:lnTo>
                  <a:pt x="0" y="1143000"/>
                </a:lnTo>
                <a:close/>
              </a:path>
            </a:pathLst>
          </a:custGeom>
          <a:solidFill xmlns:a="http://schemas.openxmlformats.org/drawingml/2006/main">
            <a:srgbClr val="24231B"/>
          </a:solidFill>
          <a:ln xmlns:a="http://schemas.openxmlformats.org/drawingml/2006/main" w="19050">
            <a:solidFill>
              <a:srgbClr val="F5B61C"/>
            </a:solidFill>
            <a:prstDash val="solid"/>
          </a:ln>
        </p:spPr>
      </p:sp>
      <p:sp>
        <p:nvSpPr>
          <p:cNvPr id="29" name="">
            <a:extLst xmlns:a="http://schemas.openxmlformats.org/drawingml/2006/main">
              <a:ext uri="{FF2B5EF4-FFF2-40B4-BE49-F238E27FC236}">
                <a16:creationId xmlns:a16="http://schemas.microsoft.com/office/drawing/2014/main" id="{3A2360A8-CD49-44C7-87DD-983D607F7B84}"/>
              </a:ext>
            </a:extLst>
          </p:cNvPr>
          <p:cNvSpPr>
            <a:spLocks xmlns:a="http://schemas.openxmlformats.org/drawingml/2006/main" noGrp="1"/>
          </p:cNvSpPr>
          <p:nvPr/>
        </p:nvSpPr>
        <p:spPr>
          <a:xfrm xmlns:a="http://schemas.openxmlformats.org/drawingml/2006/main">
            <a:off x="6677025" y="2905125"/>
            <a:ext cx="3067050" cy="762000"/>
          </a:xfrm>
          <a:custGeom xmlns:a="http://schemas.openxmlformats.org/drawingml/2006/main">
            <a:pathLst>
              <a:path w="3067050" h="762000">
                <a:moveTo>
                  <a:pt x="219075" y="0"/>
                </a:moveTo>
                <a:lnTo>
                  <a:pt x="3067050" y="0"/>
                </a:lnTo>
                <a:lnTo>
                  <a:pt x="2847975" y="762000"/>
                </a:lnTo>
                <a:lnTo>
                  <a:pt x="0" y="762000"/>
                </a:lnTo>
                <a:close/>
              </a:path>
            </a:pathLst>
          </a:custGeom>
          <a:solidFill xmlns:a="http://schemas.openxmlformats.org/drawingml/2006/main">
            <a:srgbClr val="122934"/>
          </a:solidFill>
          <a:ln xmlns:a="http://schemas.openxmlformats.org/drawingml/2006/main" w="19050">
            <a:solidFill>
              <a:srgbClr val="28C7F7"/>
            </a:solidFill>
            <a:prstDash val="solid"/>
          </a:ln>
        </p:spPr>
      </p:sp>
      <p:sp>
        <p:nvSpPr>
          <p:cNvPr id="30" name="">
            <a:extLst xmlns:a="http://schemas.openxmlformats.org/drawingml/2006/main">
              <a:ext uri="{FF2B5EF4-FFF2-40B4-BE49-F238E27FC236}">
                <a16:creationId xmlns:a16="http://schemas.microsoft.com/office/drawing/2014/main" id="{596CB38B-C529-4B3E-B10F-8AFE979E4B84}"/>
              </a:ext>
            </a:extLst>
          </p:cNvPr>
          <p:cNvSpPr>
            <a:spLocks xmlns:a="http://schemas.openxmlformats.org/drawingml/2006/main" noGrp="1"/>
          </p:cNvSpPr>
          <p:nvPr/>
        </p:nvSpPr>
        <p:spPr>
          <a:xfrm xmlns:a="http://schemas.openxmlformats.org/drawingml/2006/main">
            <a:off x="7105650" y="2371725"/>
            <a:ext cx="4191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1">
                <a:solidFill>
                  <a:srgbClr val="F5B61C"/>
                </a:solidFill>
                <a:latin typeface="Roboto"/>
                <a:ea typeface="Roboto"/>
                <a:cs typeface="Roboto"/>
              </a:defRPr>
            </a:pPr>
            <a:r>
              <a:rPr sz="1425" b="1">
                <a:solidFill>
                  <a:srgbClr val="F5B61C"/>
                </a:solidFill>
                <a:latin typeface="Roboto"/>
                <a:ea typeface="Roboto"/>
                <a:cs typeface="Roboto"/>
              </a:rPr>
              <a:t>Approved tolerance boundary</a:t>
            </a:r>
          </a:p>
        </p:txBody>
      </p:sp>
      <p:sp>
        <p:nvSpPr>
          <p:cNvPr id="31" name="">
            <a:extLst xmlns:a="http://schemas.openxmlformats.org/drawingml/2006/main">
              <a:ext uri="{FF2B5EF4-FFF2-40B4-BE49-F238E27FC236}">
                <a16:creationId xmlns:a16="http://schemas.microsoft.com/office/drawing/2014/main" id="{9C12DC02-CD55-410E-979D-9B60E1F586E9}"/>
              </a:ext>
            </a:extLst>
          </p:cNvPr>
          <p:cNvSpPr>
            <a:spLocks xmlns:a="http://schemas.openxmlformats.org/drawingml/2006/main" noGrp="1"/>
          </p:cNvSpPr>
          <p:nvPr/>
        </p:nvSpPr>
        <p:spPr>
          <a:xfrm xmlns:a="http://schemas.openxmlformats.org/drawingml/2006/main">
            <a:off x="6896100" y="2952750"/>
            <a:ext cx="26479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350" b="1">
                <a:solidFill>
                  <a:srgbClr val="28C7F7"/>
                </a:solidFill>
                <a:latin typeface="Roboto"/>
                <a:ea typeface="Roboto"/>
                <a:cs typeface="Roboto"/>
              </a:defRPr>
            </a:pPr>
            <a:r>
              <a:rPr sz="1350" b="1">
                <a:solidFill>
                  <a:srgbClr val="28C7F7"/>
                </a:solidFill>
                <a:latin typeface="Roboto"/>
                <a:ea typeface="Roboto"/>
                <a:cs typeface="Roboto"/>
              </a:rPr>
              <a:t>Target operating region</a:t>
            </a:r>
          </a:p>
        </p:txBody>
      </p:sp>
      <p:sp>
        <p:nvSpPr>
          <p:cNvPr id="32" name="">
            <a:extLst xmlns:a="http://schemas.openxmlformats.org/drawingml/2006/main">
              <a:ext uri="{FF2B5EF4-FFF2-40B4-BE49-F238E27FC236}">
                <a16:creationId xmlns:a16="http://schemas.microsoft.com/office/drawing/2014/main" id="{340C9E6E-FAD4-4EA0-A950-F047C8D8AFFB}"/>
              </a:ext>
            </a:extLst>
          </p:cNvPr>
          <p:cNvSpPr>
            <a:spLocks xmlns:a="http://schemas.openxmlformats.org/drawingml/2006/main" noGrp="1"/>
          </p:cNvSpPr>
          <p:nvPr/>
        </p:nvSpPr>
        <p:spPr>
          <a:xfrm xmlns:a="http://schemas.openxmlformats.org/drawingml/2006/main">
            <a:off x="6953250" y="3228975"/>
            <a:ext cx="25717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F4F7FA"/>
                </a:solidFill>
                <a:latin typeface="Roboto"/>
                <a:ea typeface="Roboto"/>
                <a:cs typeface="Roboto"/>
              </a:defRPr>
            </a:pPr>
            <a:r>
              <a:rPr sz="1275" b="0">
                <a:solidFill>
                  <a:srgbClr val="F4F7FA"/>
                </a:solidFill>
                <a:latin typeface="Roboto"/>
                <a:ea typeface="Roboto"/>
                <a:cs typeface="Roboto"/>
              </a:rPr>
              <a:t>Short explanation</a:t>
            </a:r>
          </a:p>
        </p:txBody>
      </p:sp>
      <p:sp>
        <p:nvSpPr>
          <p:cNvPr id="33" name="">
            <a:extLst xmlns:a="http://schemas.openxmlformats.org/drawingml/2006/main">
              <a:ext uri="{FF2B5EF4-FFF2-40B4-BE49-F238E27FC236}">
                <a16:creationId xmlns:a16="http://schemas.microsoft.com/office/drawing/2014/main" id="{E55221E2-E6D7-4A94-B634-3355308C4767}"/>
              </a:ext>
            </a:extLst>
          </p:cNvPr>
          <p:cNvSpPr>
            <a:spLocks xmlns:a="http://schemas.openxmlformats.org/drawingml/2006/main" noGrp="1"/>
          </p:cNvSpPr>
          <p:nvPr/>
        </p:nvSpPr>
        <p:spPr>
          <a:xfrm xmlns:a="http://schemas.openxmlformats.org/drawingml/2006/main">
            <a:off x="6953250" y="3438525"/>
            <a:ext cx="25717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F4F7FA"/>
                </a:solidFill>
                <a:latin typeface="Roboto"/>
                <a:ea typeface="Roboto"/>
                <a:cs typeface="Roboto"/>
              </a:defRPr>
            </a:pPr>
            <a:r>
              <a:rPr sz="1275" b="0">
                <a:solidFill>
                  <a:srgbClr val="F4F7FA"/>
                </a:solidFill>
                <a:latin typeface="Roboto"/>
                <a:ea typeface="Roboto"/>
                <a:cs typeface="Roboto"/>
              </a:rPr>
              <a:t>Detailed explanation</a:t>
            </a:r>
          </a:p>
        </p:txBody>
      </p:sp>
      <p:sp>
        <p:nvSpPr>
          <p:cNvPr id="34" name="">
            <a:extLst xmlns:a="http://schemas.openxmlformats.org/drawingml/2006/main">
              <a:ext uri="{FF2B5EF4-FFF2-40B4-BE49-F238E27FC236}">
                <a16:creationId xmlns:a16="http://schemas.microsoft.com/office/drawing/2014/main" id="{B246209A-D179-4383-8116-165F08F1F705}"/>
              </a:ext>
            </a:extLst>
          </p:cNvPr>
          <p:cNvSpPr>
            <a:spLocks xmlns:a="http://schemas.openxmlformats.org/drawingml/2006/main" noGrp="1"/>
          </p:cNvSpPr>
          <p:nvPr/>
        </p:nvSpPr>
        <p:spPr>
          <a:xfrm xmlns:a="http://schemas.openxmlformats.org/drawingml/2006/main">
            <a:off x="11106150" y="3133725"/>
            <a:ext cx="95250" cy="95250"/>
          </a:xfrm>
          <a:prstGeom xmlns:a="http://schemas.openxmlformats.org/drawingml/2006/main" prst="rect">
            <a:avLst/>
          </a:prstGeom>
          <a:solidFill xmlns:a="http://schemas.openxmlformats.org/drawingml/2006/main">
            <a:srgbClr val="FF6B75"/>
          </a:solidFill>
          <a:ln xmlns:a="http://schemas.openxmlformats.org/drawingml/2006/main" w="0">
            <a:solidFill>
              <a:srgbClr val="FF6B75"/>
            </a:solidFill>
            <a:prstDash val="solid"/>
          </a:ln>
        </p:spPr>
      </p:sp>
      <p:sp>
        <p:nvSpPr>
          <p:cNvPr id="35" name="">
            <a:extLst xmlns:a="http://schemas.openxmlformats.org/drawingml/2006/main">
              <a:ext uri="{FF2B5EF4-FFF2-40B4-BE49-F238E27FC236}">
                <a16:creationId xmlns:a16="http://schemas.microsoft.com/office/drawing/2014/main" id="{4E8C3A24-03A0-4E64-8438-9921CAF1BA51}"/>
              </a:ext>
            </a:extLst>
          </p:cNvPr>
          <p:cNvSpPr>
            <a:spLocks xmlns:a="http://schemas.openxmlformats.org/drawingml/2006/main" noGrp="1"/>
          </p:cNvSpPr>
          <p:nvPr/>
        </p:nvSpPr>
        <p:spPr>
          <a:xfrm xmlns:a="http://schemas.openxmlformats.org/drawingml/2006/main">
            <a:off x="10344150" y="3305175"/>
            <a:ext cx="1238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350" b="0">
                <a:solidFill>
                  <a:srgbClr val="FF6B75"/>
                </a:solidFill>
                <a:latin typeface="Roboto"/>
                <a:ea typeface="Roboto"/>
                <a:cs typeface="Roboto"/>
              </a:defRPr>
            </a:pPr>
            <a:r>
              <a:rPr sz="1350" b="0">
                <a:solidFill>
                  <a:srgbClr val="FF6B75"/>
                </a:solidFill>
                <a:latin typeface="Roboto"/>
                <a:ea typeface="Roboto"/>
                <a:cs typeface="Roboto"/>
              </a:rPr>
              <a:t>Prohibited outcome</a:t>
            </a:r>
          </a:p>
        </p:txBody>
      </p:sp>
      <p:sp>
        <p:nvSpPr>
          <p:cNvPr id="36" name="">
            <a:extLst xmlns:a="http://schemas.openxmlformats.org/drawingml/2006/main">
              <a:ext uri="{FF2B5EF4-FFF2-40B4-BE49-F238E27FC236}">
                <a16:creationId xmlns:a16="http://schemas.microsoft.com/office/drawing/2014/main" id="{DB26BBA2-8449-45F6-8BB3-60103712331D}"/>
              </a:ext>
            </a:extLst>
          </p:cNvPr>
          <p:cNvSpPr>
            <a:spLocks xmlns:a="http://schemas.openxmlformats.org/drawingml/2006/main" noGrp="1"/>
          </p:cNvSpPr>
          <p:nvPr/>
        </p:nvSpPr>
        <p:spPr>
          <a:xfrm xmlns:a="http://schemas.openxmlformats.org/drawingml/2006/main">
            <a:off x="5305425" y="3933825"/>
            <a:ext cx="62769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DB8C5"/>
                </a:solidFill>
                <a:latin typeface="Roboto"/>
                <a:ea typeface="Roboto"/>
                <a:cs typeface="Roboto"/>
              </a:defRPr>
            </a:pPr>
            <a:r>
              <a:rPr sz="1275" b="0">
                <a:solidFill>
                  <a:srgbClr val="ADB8C5"/>
                </a:solidFill>
                <a:latin typeface="Roboto"/>
                <a:ea typeface="Roboto"/>
                <a:cs typeface="Roboto"/>
              </a:rPr>
              <a:t>Conceptual space, not a universal semantic metric</a:t>
            </a:r>
          </a:p>
        </p:txBody>
      </p:sp>
      <p:sp>
        <p:nvSpPr>
          <p:cNvPr id="37" name="">
            <a:extLst xmlns:a="http://schemas.openxmlformats.org/drawingml/2006/main">
              <a:ext uri="{FF2B5EF4-FFF2-40B4-BE49-F238E27FC236}">
                <a16:creationId xmlns:a16="http://schemas.microsoft.com/office/drawing/2014/main" id="{E98EF069-A03C-49F0-9295-1F3664958164}"/>
              </a:ext>
            </a:extLst>
          </p:cNvPr>
          <p:cNvSpPr>
            <a:spLocks xmlns:a="http://schemas.openxmlformats.org/drawingml/2006/main" noGrp="1"/>
          </p:cNvSpPr>
          <p:nvPr/>
        </p:nvSpPr>
        <p:spPr>
          <a:xfrm xmlns:a="http://schemas.openxmlformats.org/drawingml/2006/main">
            <a:off x="5105400" y="4210050"/>
            <a:ext cx="6477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00" b="0">
                <a:solidFill>
                  <a:srgbClr val="F4F7FA"/>
                </a:solidFill>
                <a:latin typeface="Roboto"/>
                <a:ea typeface="Roboto"/>
                <a:cs typeface="Roboto"/>
              </a:defRPr>
            </a:pPr>
            <a:r>
              <a:rPr sz="1200" b="0">
                <a:solidFill>
                  <a:srgbClr val="F4F7FA"/>
                </a:solidFill>
                <a:latin typeface="Roboto"/>
                <a:ea typeface="Roboto"/>
                <a:cs typeface="Roboto"/>
              </a:rPr>
              <a:t>ALLOW approved sources   ·   CLARIFY missing context   ·   PROHIBIT unsafe actions</a:t>
            </a:r>
          </a:p>
        </p:txBody>
      </p:sp>
      <p:sp>
        <p:nvSpPr>
          <p:cNvPr id="38" name="">
            <a:extLst xmlns:a="http://schemas.openxmlformats.org/drawingml/2006/main">
              <a:ext uri="{FF2B5EF4-FFF2-40B4-BE49-F238E27FC236}">
                <a16:creationId xmlns:a16="http://schemas.microsoft.com/office/drawing/2014/main" id="{96C47428-5AC4-438D-87F4-42B002FD559A}"/>
              </a:ext>
            </a:extLst>
          </p:cNvPr>
          <p:cNvSpPr>
            <a:spLocks xmlns:a="http://schemas.openxmlformats.org/drawingml/2006/main" noGrp="1"/>
          </p:cNvSpPr>
          <p:nvPr/>
        </p:nvSpPr>
        <p:spPr>
          <a:xfrm xmlns:a="http://schemas.openxmlformats.org/drawingml/2006/main" flipH="0" flipV="0">
            <a:off x="609600" y="4543425"/>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9" name="">
            <a:extLst xmlns:a="http://schemas.openxmlformats.org/drawingml/2006/main">
              <a:ext uri="{FF2B5EF4-FFF2-40B4-BE49-F238E27FC236}">
                <a16:creationId xmlns:a16="http://schemas.microsoft.com/office/drawing/2014/main" id="{76B726DD-E454-4EDF-9E13-BB2027A02C18}"/>
              </a:ext>
            </a:extLst>
          </p:cNvPr>
          <p:cNvSpPr>
            <a:spLocks xmlns:a="http://schemas.openxmlformats.org/drawingml/2006/main" noGrp="1"/>
          </p:cNvSpPr>
          <p:nvPr/>
        </p:nvSpPr>
        <p:spPr>
          <a:xfrm xmlns:a="http://schemas.openxmlformats.org/drawingml/2006/main">
            <a:off x="609600" y="459105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1">
                <a:solidFill>
                  <a:srgbClr val="F5B61C"/>
                </a:solidFill>
                <a:latin typeface="Roboto"/>
                <a:ea typeface="Roboto"/>
                <a:cs typeface="Roboto"/>
              </a:defRPr>
            </a:pPr>
            <a:r>
              <a:rPr sz="1500" b="1">
                <a:solidFill>
                  <a:srgbClr val="F5B61C"/>
                </a:solidFill>
                <a:latin typeface="Roboto"/>
                <a:ea typeface="Roboto"/>
                <a:cs typeface="Roboto"/>
              </a:rPr>
              <a:t>BUSINESS TOLERANCE CONTRACT</a:t>
            </a:r>
          </a:p>
        </p:txBody>
      </p:sp>
      <p:sp>
        <p:nvSpPr>
          <p:cNvPr id="40" name="">
            <a:extLst xmlns:a="http://schemas.openxmlformats.org/drawingml/2006/main">
              <a:ext uri="{FF2B5EF4-FFF2-40B4-BE49-F238E27FC236}">
                <a16:creationId xmlns:a16="http://schemas.microsoft.com/office/drawing/2014/main" id="{7781B186-3C44-4C34-8AAD-844A3D5A72AE}"/>
              </a:ext>
            </a:extLst>
          </p:cNvPr>
          <p:cNvSpPr>
            <a:spLocks xmlns:a="http://schemas.openxmlformats.org/drawingml/2006/main" noGrp="1"/>
          </p:cNvSpPr>
          <p:nvPr/>
        </p:nvSpPr>
        <p:spPr>
          <a:xfrm xmlns:a="http://schemas.openxmlformats.org/drawingml/2006/main">
            <a:off x="609600" y="4886325"/>
            <a:ext cx="5257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F4F7FA"/>
                </a:solidFill>
                <a:latin typeface="Roboto"/>
                <a:ea typeface="Roboto"/>
                <a:cs typeface="Roboto"/>
              </a:defRPr>
            </a:pPr>
            <a:r>
              <a:rPr sz="1575" b="0">
                <a:solidFill>
                  <a:srgbClr val="F4F7FA"/>
                </a:solidFill>
                <a:latin typeface="Roboto"/>
                <a:ea typeface="Roboto"/>
                <a:cs typeface="Roboto"/>
              </a:rPr>
              <a:t>Allowed variation: wording</a:t>
            </a:r>
          </a:p>
        </p:txBody>
      </p:sp>
      <p:sp>
        <p:nvSpPr>
          <p:cNvPr id="41" name="">
            <a:extLst xmlns:a="http://schemas.openxmlformats.org/drawingml/2006/main">
              <a:ext uri="{FF2B5EF4-FFF2-40B4-BE49-F238E27FC236}">
                <a16:creationId xmlns:a16="http://schemas.microsoft.com/office/drawing/2014/main" id="{A2E69EFF-7559-4020-B56F-1F9C280EA685}"/>
              </a:ext>
            </a:extLst>
          </p:cNvPr>
          <p:cNvSpPr>
            <a:spLocks xmlns:a="http://schemas.openxmlformats.org/drawingml/2006/main" noGrp="1"/>
          </p:cNvSpPr>
          <p:nvPr/>
        </p:nvSpPr>
        <p:spPr>
          <a:xfrm xmlns:a="http://schemas.openxmlformats.org/drawingml/2006/main">
            <a:off x="6286500" y="4886325"/>
            <a:ext cx="5257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F4F7FA"/>
                </a:solidFill>
                <a:latin typeface="Roboto"/>
                <a:ea typeface="Roboto"/>
                <a:cs typeface="Roboto"/>
              </a:defRPr>
            </a:pPr>
            <a:r>
              <a:rPr sz="1575" b="0">
                <a:solidFill>
                  <a:srgbClr val="F4F7FA"/>
                </a:solidFill>
                <a:latin typeface="Roboto"/>
                <a:ea typeface="Roboto"/>
                <a:cs typeface="Roboto"/>
              </a:rPr>
              <a:t>Required meaning: approved steps</a:t>
            </a:r>
          </a:p>
        </p:txBody>
      </p:sp>
      <p:sp>
        <p:nvSpPr>
          <p:cNvPr id="42" name="">
            <a:extLst xmlns:a="http://schemas.openxmlformats.org/drawingml/2006/main">
              <a:ext uri="{FF2B5EF4-FFF2-40B4-BE49-F238E27FC236}">
                <a16:creationId xmlns:a16="http://schemas.microsoft.com/office/drawing/2014/main" id="{552F844A-376A-4531-9C6B-9F09F257ABC2}"/>
              </a:ext>
            </a:extLst>
          </p:cNvPr>
          <p:cNvSpPr>
            <a:spLocks xmlns:a="http://schemas.openxmlformats.org/drawingml/2006/main" noGrp="1"/>
          </p:cNvSpPr>
          <p:nvPr/>
        </p:nvSpPr>
        <p:spPr>
          <a:xfrm xmlns:a="http://schemas.openxmlformats.org/drawingml/2006/main">
            <a:off x="609600" y="5153025"/>
            <a:ext cx="5257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F4F7FA"/>
                </a:solidFill>
                <a:latin typeface="Roboto"/>
                <a:ea typeface="Roboto"/>
                <a:cs typeface="Roboto"/>
              </a:defRPr>
            </a:pPr>
            <a:r>
              <a:rPr sz="1575" b="0">
                <a:solidFill>
                  <a:srgbClr val="F4F7FA"/>
                </a:solidFill>
                <a:latin typeface="Roboto"/>
                <a:ea typeface="Roboto"/>
                <a:cs typeface="Roboto"/>
              </a:rPr>
              <a:t>Limits: rework, cost and latency</a:t>
            </a:r>
          </a:p>
        </p:txBody>
      </p:sp>
      <p:sp>
        <p:nvSpPr>
          <p:cNvPr id="43" name="">
            <a:extLst xmlns:a="http://schemas.openxmlformats.org/drawingml/2006/main">
              <a:ext uri="{FF2B5EF4-FFF2-40B4-BE49-F238E27FC236}">
                <a16:creationId xmlns:a16="http://schemas.microsoft.com/office/drawing/2014/main" id="{58389E65-5292-46C2-81D8-B376EBA1DD77}"/>
              </a:ext>
            </a:extLst>
          </p:cNvPr>
          <p:cNvSpPr>
            <a:spLocks xmlns:a="http://schemas.openxmlformats.org/drawingml/2006/main" noGrp="1"/>
          </p:cNvSpPr>
          <p:nvPr/>
        </p:nvSpPr>
        <p:spPr>
          <a:xfrm xmlns:a="http://schemas.openxmlformats.org/drawingml/2006/main">
            <a:off x="6286500" y="5153025"/>
            <a:ext cx="5257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F4F7FA"/>
                </a:solidFill>
                <a:latin typeface="Roboto"/>
                <a:ea typeface="Roboto"/>
                <a:cs typeface="Roboto"/>
              </a:defRPr>
            </a:pPr>
            <a:r>
              <a:rPr sz="1575" b="0">
                <a:solidFill>
                  <a:srgbClr val="F4F7FA"/>
                </a:solidFill>
                <a:latin typeface="Roboto"/>
                <a:ea typeface="Roboto"/>
                <a:cs typeface="Roboto"/>
              </a:rPr>
              <a:t>Escalation: owner + fallback</a:t>
            </a:r>
          </a:p>
        </p:txBody>
      </p:sp>
      <p:sp>
        <p:nvSpPr>
          <p:cNvPr id="44" name="">
            <a:extLst xmlns:a="http://schemas.openxmlformats.org/drawingml/2006/main">
              <a:ext uri="{FF2B5EF4-FFF2-40B4-BE49-F238E27FC236}">
                <a16:creationId xmlns:a16="http://schemas.microsoft.com/office/drawing/2014/main" id="{2CB2BD4B-7493-4180-9E6A-F2E5FDA11E10}"/>
              </a:ext>
            </a:extLst>
          </p:cNvPr>
          <p:cNvSpPr>
            <a:spLocks xmlns:a="http://schemas.openxmlformats.org/drawingml/2006/main" noGrp="1"/>
          </p:cNvSpPr>
          <p:nvPr/>
        </p:nvSpPr>
        <p:spPr>
          <a:xfrm xmlns:a="http://schemas.openxmlformats.org/drawingml/2006/main">
            <a:off x="609600" y="54102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ADB8C5"/>
                </a:solidFill>
                <a:latin typeface="Roboto"/>
                <a:ea typeface="Roboto"/>
                <a:cs typeface="Roboto"/>
              </a:defRPr>
            </a:pPr>
            <a:r>
              <a:rPr sz="1575" b="0">
                <a:solidFill>
                  <a:srgbClr val="ADB8C5"/>
                </a:solidFill>
                <a:latin typeface="Roboto"/>
                <a:ea typeface="Roboto"/>
                <a:cs typeface="Roboto"/>
              </a:rPr>
              <a:t>A prompt influences behavior. Examples and acceptance rules define the contract.</a:t>
            </a:r>
          </a:p>
        </p:txBody>
      </p:sp>
      <p:sp>
        <p:nvSpPr>
          <p:cNvPr id="45" name="">
            <a:extLst xmlns:a="http://schemas.openxmlformats.org/drawingml/2006/main">
              <a:ext uri="{FF2B5EF4-FFF2-40B4-BE49-F238E27FC236}">
                <a16:creationId xmlns:a16="http://schemas.microsoft.com/office/drawing/2014/main" id="{AA44383D-6388-4EE2-903C-4434FCF534F3}"/>
              </a:ext>
            </a:extLst>
          </p:cNvPr>
          <p:cNvSpPr>
            <a:spLocks xmlns:a="http://schemas.openxmlformats.org/drawingml/2006/main" noGrp="1"/>
          </p:cNvSpPr>
          <p:nvPr/>
        </p:nvSpPr>
        <p:spPr>
          <a:xfrm xmlns:a="http://schemas.openxmlformats.org/drawingml/2006/main">
            <a:off x="609600" y="574357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F4F7FA"/>
                </a:solidFill>
                <a:latin typeface="Roboto"/>
                <a:ea typeface="Roboto"/>
                <a:cs typeface="Roboto"/>
              </a:defRPr>
            </a:pPr>
            <a:r>
              <a:rPr sz="1500" b="0">
                <a:solidFill>
                  <a:srgbClr val="F4F7FA"/>
                </a:solidFill>
                <a:latin typeface="Roboto"/>
                <a:ea typeface="Roboto"/>
                <a:cs typeface="Roboto"/>
              </a:rPr>
              <a:t>Shared quality vocabulary exists. Product-specific semantic limits still need agreement.</a:t>
            </a:r>
          </a:p>
        </p:txBody>
      </p:sp>
      <p:sp>
        <p:nvSpPr>
          <p:cNvPr id="46" name="">
            <a:extLst xmlns:a="http://schemas.openxmlformats.org/drawingml/2006/main">
              <a:ext uri="{FF2B5EF4-FFF2-40B4-BE49-F238E27FC236}">
                <a16:creationId xmlns:a16="http://schemas.microsoft.com/office/drawing/2014/main" id="{EEBB5E95-7CC7-4E34-8CE5-AB1C81C9F4E9}"/>
              </a:ext>
            </a:extLst>
          </p:cNvPr>
          <p:cNvSpPr>
            <a:spLocks xmlns:a="http://schemas.openxmlformats.org/drawingml/2006/main" noGrp="1"/>
          </p:cNvSpPr>
          <p:nvPr/>
        </p:nvSpPr>
        <p:spPr>
          <a:xfrm xmlns:a="http://schemas.openxmlformats.org/drawingml/2006/main">
            <a:off x="609600" y="6057900"/>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Roboto"/>
                <a:ea typeface="Roboto"/>
                <a:cs typeface="Roboto"/>
              </a:defRPr>
            </a:pPr>
            <a:r>
              <a:rPr sz="1350" b="0">
                <a:solidFill>
                  <a:srgbClr val="ADB8C5"/>
                </a:solidFill>
                <a:latin typeface="Roboto"/>
                <a:ea typeface="Roboto"/>
                <a:cs typeface="Roboto"/>
              </a:rPr>
              <a:t>Starting points: ISO/IEC 25059 · NIST AI RMF · CheckList (ACL 2020)</a:t>
            </a:r>
          </a:p>
        </p:txBody>
      </p:sp>
      <p:sp>
        <p:nvSpPr>
          <p:cNvPr id="47" name="">
            <a:extLst xmlns:a="http://schemas.openxmlformats.org/drawingml/2006/main">
              <a:ext uri="{FF2B5EF4-FFF2-40B4-BE49-F238E27FC236}">
                <a16:creationId xmlns:a16="http://schemas.microsoft.com/office/drawing/2014/main" id="{2D04FD55-6DF5-400D-B52C-978CE941555D}"/>
              </a:ext>
            </a:extLst>
          </p:cNvPr>
          <p:cNvSpPr>
            <a:spLocks xmlns:a="http://schemas.openxmlformats.org/drawingml/2006/main" noGrp="1"/>
          </p:cNvSpPr>
          <p:nvPr/>
        </p:nvSpPr>
        <p:spPr>
          <a:xfrm xmlns:a="http://schemas.openxmlformats.org/drawingml/2006/main">
            <a:off x="609600" y="6353175"/>
            <a:ext cx="106489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1">
                <a:solidFill>
                  <a:srgbClr val="F4F7FA"/>
                </a:solidFill>
                <a:latin typeface="Roboto"/>
                <a:ea typeface="Roboto"/>
                <a:cs typeface="Roboto"/>
              </a:defRPr>
            </a:pPr>
            <a:r>
              <a:rPr sz="1875" b="1">
                <a:solidFill>
                  <a:srgbClr val="F4F7FA"/>
                </a:solidFill>
                <a:latin typeface="Roboto"/>
                <a:ea typeface="Roboto"/>
                <a:cs typeface="Roboto"/>
              </a:rPr>
              <a:t>Business scenarios → examples + counterexamples → acceptance rules</a:t>
            </a:r>
          </a:p>
        </p:txBody>
      </p:sp>
    </p:spTree>
    <p:extLst>
      <p:ext uri="{BB962C8B-B14F-4D97-AF65-F5344CB8AC3E}">
        <p14:creationId xmlns:p14="http://schemas.microsoft.com/office/powerpoint/2010/main" val="1718965576"/>
      </p:ext>
    </p:extLst>
  </p:cSld>
</p:sld>
</file>

<file path=ppt/slides/slide10.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46" name="">
            <a:extLst xmlns:a="http://schemas.openxmlformats.org/drawingml/2006/main">
              <a:ext uri="{FF2B5EF4-FFF2-40B4-BE49-F238E27FC236}">
                <a16:creationId xmlns:a16="http://schemas.microsoft.com/office/drawing/2014/main" id="{C62A5AD7-9428-4360-8986-0E6429AFE10E}"/>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Roboto"/>
                <a:ea typeface="Roboto"/>
                <a:cs typeface="Roboto"/>
              </a:defRPr>
            </a:pPr>
            <a:r>
              <a:rPr sz="3000" b="1">
                <a:solidFill>
                  <a:srgbClr val="F4F7FA"/>
                </a:solidFill>
                <a:latin typeface="Roboto"/>
                <a:ea typeface="Roboto"/>
                <a:cs typeface="Roboto"/>
              </a:rPr>
              <a:t>One Green Test Proves Almost Nothing</a:t>
            </a:r>
          </a:p>
        </p:txBody>
      </p:sp>
      <p:sp>
        <p:nvSpPr>
          <p:cNvPr id="2" name="">
            <a:extLst xmlns:a="http://schemas.openxmlformats.org/drawingml/2006/main">
              <a:ext uri="{FF2B5EF4-FFF2-40B4-BE49-F238E27FC236}">
                <a16:creationId xmlns:a16="http://schemas.microsoft.com/office/drawing/2014/main" id="{94D386E3-FB25-40C8-A435-36A4E4626A9C}"/>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4E5EAB0F-AF74-4D25-B795-539D9BE72D69}"/>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Roboto"/>
                <a:ea typeface="Roboto"/>
                <a:cs typeface="Roboto"/>
              </a:defRPr>
            </a:pPr>
            <a:r>
              <a:rPr sz="1200" b="0">
                <a:solidFill>
                  <a:srgbClr val="ADB8C5"/>
                </a:solidFill>
                <a:latin typeface="Roboto"/>
                <a:ea typeface="Roboto"/>
                <a:cs typeface="Roboto"/>
              </a:rPr>
              <a:t>10</a:t>
            </a:r>
          </a:p>
        </p:txBody>
      </p:sp>
      <p:sp>
        <p:nvSpPr>
          <p:cNvPr id="4" name="">
            <a:extLst xmlns:a="http://schemas.openxmlformats.org/drawingml/2006/main">
              <a:ext uri="{FF2B5EF4-FFF2-40B4-BE49-F238E27FC236}">
                <a16:creationId xmlns:a16="http://schemas.microsoft.com/office/drawing/2014/main" id="{902F2D9A-208B-487C-8102-220EB0D42E5B}"/>
              </a:ext>
            </a:extLst>
          </p:cNvPr>
          <p:cNvSpPr>
            <a:spLocks xmlns:a="http://schemas.openxmlformats.org/drawingml/2006/main" noGrp="1"/>
          </p:cNvSpPr>
          <p:nvPr/>
        </p:nvSpPr>
        <p:spPr>
          <a:xfrm xmlns:a="http://schemas.openxmlformats.org/drawingml/2006/main">
            <a:off x="609600" y="16764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28C7F7"/>
                </a:solidFill>
                <a:latin typeface="Roboto"/>
                <a:ea typeface="Roboto"/>
                <a:cs typeface="Roboto"/>
              </a:defRPr>
            </a:pPr>
            <a:r>
              <a:rPr sz="1650" b="1">
                <a:solidFill>
                  <a:srgbClr val="28C7F7"/>
                </a:solidFill>
                <a:latin typeface="Roboto"/>
                <a:ea typeface="Roboto"/>
                <a:cs typeface="Roboto"/>
              </a:rPr>
              <a:t>QA + DEVELOPERS · estimate behavior, uncertainty and consequences</a:t>
            </a:r>
          </a:p>
        </p:txBody>
      </p:sp>
      <p:sp>
        <p:nvSpPr>
          <p:cNvPr id="5" name="">
            <a:extLst xmlns:a="http://schemas.openxmlformats.org/drawingml/2006/main">
              <a:ext uri="{FF2B5EF4-FFF2-40B4-BE49-F238E27FC236}">
                <a16:creationId xmlns:a16="http://schemas.microsoft.com/office/drawing/2014/main" id="{5D4D6A31-61A1-4464-8C92-C5F6AB5CC986}"/>
              </a:ext>
            </a:extLst>
          </p:cNvPr>
          <p:cNvSpPr>
            <a:spLocks xmlns:a="http://schemas.openxmlformats.org/drawingml/2006/main" noGrp="1"/>
          </p:cNvSpPr>
          <p:nvPr/>
        </p:nvSpPr>
        <p:spPr>
          <a:xfrm xmlns:a="http://schemas.openxmlformats.org/drawingml/2006/main">
            <a:off x="609600" y="2105025"/>
            <a:ext cx="4476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1">
                <a:solidFill>
                  <a:srgbClr val="F5B61C"/>
                </a:solidFill>
                <a:latin typeface="Roboto"/>
                <a:ea typeface="Roboto"/>
                <a:cs typeface="Roboto"/>
              </a:defRPr>
            </a:pPr>
            <a:r>
              <a:rPr sz="1350" b="1">
                <a:solidFill>
                  <a:srgbClr val="F5B61C"/>
                </a:solidFill>
                <a:latin typeface="Roboto"/>
                <a:ea typeface="Roboto"/>
                <a:cs typeface="Roboto"/>
              </a:rPr>
              <a:t>WHAT COUNTS AS A BUG</a:t>
            </a:r>
          </a:p>
        </p:txBody>
      </p:sp>
      <p:sp>
        <p:nvSpPr>
          <p:cNvPr id="6" name="">
            <a:extLst xmlns:a="http://schemas.openxmlformats.org/drawingml/2006/main">
              <a:ext uri="{FF2B5EF4-FFF2-40B4-BE49-F238E27FC236}">
                <a16:creationId xmlns:a16="http://schemas.microsoft.com/office/drawing/2014/main" id="{9F20DA0F-566B-446E-B71F-0F85B49B559E}"/>
              </a:ext>
            </a:extLst>
          </p:cNvPr>
          <p:cNvSpPr>
            <a:spLocks xmlns:a="http://schemas.openxmlformats.org/drawingml/2006/main" noGrp="1"/>
          </p:cNvSpPr>
          <p:nvPr/>
        </p:nvSpPr>
        <p:spPr>
          <a:xfrm xmlns:a="http://schemas.openxmlformats.org/drawingml/2006/main">
            <a:off x="609600" y="2390775"/>
            <a:ext cx="44767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1">
                <a:solidFill>
                  <a:srgbClr val="F4F7FA"/>
                </a:solidFill>
                <a:latin typeface="Roboto"/>
                <a:ea typeface="Roboto"/>
                <a:cs typeface="Roboto"/>
              </a:defRPr>
            </a:pPr>
            <a:r>
              <a:rPr sz="2100" b="1">
                <a:solidFill>
                  <a:srgbClr val="F4F7FA"/>
                </a:solidFill>
                <a:latin typeface="Roboto"/>
                <a:ea typeface="Roboto"/>
                <a:cs typeface="Roboto"/>
              </a:rPr>
              <a:t>System behavior violates</a:t>
            </a:r>
          </a:p>
          <a:p xmlns:a="http://schemas.openxmlformats.org/drawingml/2006/main">
            <a:pPr algn="l">
              <a:defRPr sz="2100" b="1">
                <a:solidFill>
                  <a:srgbClr val="F4F7FA"/>
                </a:solidFill>
                <a:latin typeface="Roboto"/>
                <a:ea typeface="Roboto"/>
                <a:cs typeface="Roboto"/>
              </a:defRPr>
            </a:pPr>
            <a:r>
              <a:rPr sz="2100" b="1">
                <a:solidFill>
                  <a:srgbClr val="F4F7FA"/>
                </a:solidFill>
                <a:latin typeface="Roboto"/>
                <a:ea typeface="Roboto"/>
                <a:cs typeface="Roboto"/>
              </a:rPr>
              <a:t>an approved requirement.</a:t>
            </a:r>
          </a:p>
        </p:txBody>
      </p:sp>
      <p:sp>
        <p:nvSpPr>
          <p:cNvPr id="7" name="">
            <a:extLst xmlns:a="http://schemas.openxmlformats.org/drawingml/2006/main">
              <a:ext uri="{FF2B5EF4-FFF2-40B4-BE49-F238E27FC236}">
                <a16:creationId xmlns:a16="http://schemas.microsoft.com/office/drawing/2014/main" id="{BC0F21F8-D6EA-4250-AAEA-C04A6384DF36}"/>
              </a:ext>
            </a:extLst>
          </p:cNvPr>
          <p:cNvSpPr>
            <a:spLocks xmlns:a="http://schemas.openxmlformats.org/drawingml/2006/main" noGrp="1"/>
          </p:cNvSpPr>
          <p:nvPr/>
        </p:nvSpPr>
        <p:spPr>
          <a:xfrm xmlns:a="http://schemas.openxmlformats.org/drawingml/2006/main">
            <a:off x="609600" y="3105150"/>
            <a:ext cx="4619625"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ADB8C5"/>
                </a:solidFill>
                <a:latin typeface="Roboto"/>
                <a:ea typeface="Roboto"/>
                <a:cs typeface="Roboto"/>
              </a:defRPr>
            </a:pPr>
            <a:r>
              <a:rPr sz="1575" b="0">
                <a:solidFill>
                  <a:srgbClr val="ADB8C5"/>
                </a:solidFill>
                <a:latin typeface="Roboto"/>
                <a:ea typeface="Roboto"/>
                <a:cs typeface="Roboto"/>
              </a:rPr>
              <a:t>Model behavior can leave agreed tolerances</a:t>
            </a:r>
          </a:p>
          <a:p xmlns:a="http://schemas.openxmlformats.org/drawingml/2006/main">
            <a:pPr algn="l">
              <a:defRPr sz="1575" b="0">
                <a:solidFill>
                  <a:srgbClr val="ADB8C5"/>
                </a:solidFill>
                <a:latin typeface="Roboto"/>
                <a:ea typeface="Roboto"/>
                <a:cs typeface="Roboto"/>
              </a:defRPr>
            </a:pPr>
            <a:r>
              <a:rPr sz="1575" b="0">
                <a:solidFill>
                  <a:srgbClr val="ADB8C5"/>
                </a:solidFill>
                <a:latin typeface="Roboto"/>
                <a:ea typeface="Roboto"/>
                <a:cs typeface="Roboto"/>
              </a:rPr>
              <a:t>or produce a prohibited outcome.</a:t>
            </a:r>
          </a:p>
        </p:txBody>
      </p:sp>
      <p:sp>
        <p:nvSpPr>
          <p:cNvPr id="8" name="">
            <a:extLst xmlns:a="http://schemas.openxmlformats.org/drawingml/2006/main">
              <a:ext uri="{FF2B5EF4-FFF2-40B4-BE49-F238E27FC236}">
                <a16:creationId xmlns:a16="http://schemas.microsoft.com/office/drawing/2014/main" id="{36AD539B-4627-4E29-9108-B31BA1613826}"/>
              </a:ext>
            </a:extLst>
          </p:cNvPr>
          <p:cNvSpPr>
            <a:spLocks xmlns:a="http://schemas.openxmlformats.org/drawingml/2006/main" noGrp="1"/>
          </p:cNvSpPr>
          <p:nvPr/>
        </p:nvSpPr>
        <p:spPr>
          <a:xfrm xmlns:a="http://schemas.openxmlformats.org/drawingml/2006/main">
            <a:off x="609600" y="3657600"/>
            <a:ext cx="46196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DB8C5"/>
                </a:solidFill>
                <a:latin typeface="Roboto"/>
                <a:ea typeface="Roboto"/>
                <a:cs typeface="Roboto"/>
              </a:defRPr>
            </a:pPr>
            <a:r>
              <a:rPr sz="1275" b="0">
                <a:solidFill>
                  <a:srgbClr val="ADB8C5"/>
                </a:solidFill>
                <a:latin typeface="Roboto"/>
                <a:ea typeface="Roboto"/>
                <a:cs typeface="Roboto"/>
              </a:rPr>
              <a:t>The code may stay unchanged while behavior changes.</a:t>
            </a:r>
          </a:p>
        </p:txBody>
      </p:sp>
      <p:sp>
        <p:nvSpPr>
          <p:cNvPr id="9" name="">
            <a:extLst xmlns:a="http://schemas.openxmlformats.org/drawingml/2006/main">
              <a:ext uri="{FF2B5EF4-FFF2-40B4-BE49-F238E27FC236}">
                <a16:creationId xmlns:a16="http://schemas.microsoft.com/office/drawing/2014/main" id="{3104CB77-FC30-4C08-960C-BE1DD6A872C2}"/>
              </a:ext>
            </a:extLst>
          </p:cNvPr>
          <p:cNvSpPr>
            <a:spLocks xmlns:a="http://schemas.openxmlformats.org/drawingml/2006/main" noGrp="1"/>
          </p:cNvSpPr>
          <p:nvPr/>
        </p:nvSpPr>
        <p:spPr>
          <a:xfrm xmlns:a="http://schemas.openxmlformats.org/drawingml/2006/main">
            <a:off x="6705600" y="2105025"/>
            <a:ext cx="37719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350" b="1">
                <a:solidFill>
                  <a:srgbClr val="57CB8F"/>
                </a:solidFill>
                <a:latin typeface="Roboto"/>
                <a:ea typeface="Roboto"/>
                <a:cs typeface="Roboto"/>
              </a:defRPr>
            </a:pPr>
            <a:r>
              <a:rPr sz="1350" b="1">
                <a:solidFill>
                  <a:srgbClr val="57CB8F"/>
                </a:solidFill>
                <a:latin typeface="Roboto"/>
                <a:ea typeface="Roboto"/>
                <a:cs typeface="Roboto"/>
              </a:rPr>
              <a:t>APPROVED BUSINESS TOLERANCES</a:t>
            </a:r>
          </a:p>
        </p:txBody>
      </p:sp>
      <p:sp>
        <p:nvSpPr>
          <p:cNvPr id="10" name="">
            <a:extLst xmlns:a="http://schemas.openxmlformats.org/drawingml/2006/main">
              <a:ext uri="{FF2B5EF4-FFF2-40B4-BE49-F238E27FC236}">
                <a16:creationId xmlns:a16="http://schemas.microsoft.com/office/drawing/2014/main" id="{0C9C5D74-8807-4757-AB11-58879699699A}"/>
              </a:ext>
            </a:extLst>
          </p:cNvPr>
          <p:cNvSpPr>
            <a:spLocks xmlns:a="http://schemas.openxmlformats.org/drawingml/2006/main" noGrp="1"/>
          </p:cNvSpPr>
          <p:nvPr/>
        </p:nvSpPr>
        <p:spPr>
          <a:xfrm xmlns:a="http://schemas.openxmlformats.org/drawingml/2006/main">
            <a:off x="7639050" y="2409825"/>
            <a:ext cx="2200275" cy="1276350"/>
          </a:xfrm>
          <a:prstGeom xmlns:a="http://schemas.openxmlformats.org/drawingml/2006/main" prst="rect">
            <a:avLst/>
          </a:prstGeom>
          <a:solidFill xmlns:a="http://schemas.openxmlformats.org/drawingml/2006/main">
            <a:srgbClr val="132A23"/>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898F29B8-3324-4B40-B996-CF80E6BC5B65}"/>
              </a:ext>
            </a:extLst>
          </p:cNvPr>
          <p:cNvSpPr>
            <a:spLocks xmlns:a="http://schemas.openxmlformats.org/drawingml/2006/main" noGrp="1"/>
          </p:cNvSpPr>
          <p:nvPr/>
        </p:nvSpPr>
        <p:spPr>
          <a:xfrm xmlns:a="http://schemas.openxmlformats.org/drawingml/2006/main">
            <a:off x="6496050" y="3543300"/>
            <a:ext cx="219075" cy="142875"/>
          </a:xfrm>
          <a:prstGeom xmlns:a="http://schemas.openxmlformats.org/drawingml/2006/main" prst="rect">
            <a:avLst/>
          </a:prstGeom>
          <a:solidFill xmlns:a="http://schemas.openxmlformats.org/drawingml/2006/main">
            <a:srgbClr val="FF6B75"/>
          </a:solidFill>
          <a:ln xmlns:a="http://schemas.openxmlformats.org/drawingml/2006/main" w="0">
            <a:solidFill>
              <a:srgbClr val="FF6B75"/>
            </a:solidFill>
            <a:prstDash val="solid"/>
          </a:ln>
        </p:spPr>
      </p:sp>
      <p:sp>
        <p:nvSpPr>
          <p:cNvPr id="12" name="">
            <a:extLst xmlns:a="http://schemas.openxmlformats.org/drawingml/2006/main">
              <a:ext uri="{FF2B5EF4-FFF2-40B4-BE49-F238E27FC236}">
                <a16:creationId xmlns:a16="http://schemas.microsoft.com/office/drawing/2014/main" id="{E1CCE427-079A-4950-95D1-9BDDC751AB80}"/>
              </a:ext>
            </a:extLst>
          </p:cNvPr>
          <p:cNvSpPr>
            <a:spLocks xmlns:a="http://schemas.openxmlformats.org/drawingml/2006/main" noGrp="1"/>
          </p:cNvSpPr>
          <p:nvPr/>
        </p:nvSpPr>
        <p:spPr>
          <a:xfrm xmlns:a="http://schemas.openxmlformats.org/drawingml/2006/main">
            <a:off x="6800850" y="3467100"/>
            <a:ext cx="219075" cy="219075"/>
          </a:xfrm>
          <a:prstGeom xmlns:a="http://schemas.openxmlformats.org/drawingml/2006/main" prst="rect">
            <a:avLst/>
          </a:prstGeom>
          <a:solidFill xmlns:a="http://schemas.openxmlformats.org/drawingml/2006/main">
            <a:srgbClr val="FF6B75"/>
          </a:solidFill>
          <a:ln xmlns:a="http://schemas.openxmlformats.org/drawingml/2006/main" w="0">
            <a:solidFill>
              <a:srgbClr val="FF6B75"/>
            </a:solidFill>
            <a:prstDash val="solid"/>
          </a:ln>
        </p:spPr>
      </p:sp>
      <p:sp>
        <p:nvSpPr>
          <p:cNvPr id="13" name="">
            <a:extLst xmlns:a="http://schemas.openxmlformats.org/drawingml/2006/main">
              <a:ext uri="{FF2B5EF4-FFF2-40B4-BE49-F238E27FC236}">
                <a16:creationId xmlns:a16="http://schemas.microsoft.com/office/drawing/2014/main" id="{59F2EB2F-1F30-419D-B61F-9927B7FEC8D1}"/>
              </a:ext>
            </a:extLst>
          </p:cNvPr>
          <p:cNvSpPr>
            <a:spLocks xmlns:a="http://schemas.openxmlformats.org/drawingml/2006/main" noGrp="1"/>
          </p:cNvSpPr>
          <p:nvPr/>
        </p:nvSpPr>
        <p:spPr>
          <a:xfrm xmlns:a="http://schemas.openxmlformats.org/drawingml/2006/main">
            <a:off x="7105650" y="3343275"/>
            <a:ext cx="219075" cy="342900"/>
          </a:xfrm>
          <a:prstGeom xmlns:a="http://schemas.openxmlformats.org/drawingml/2006/main" prst="rect">
            <a:avLst/>
          </a:prstGeom>
          <a:solidFill xmlns:a="http://schemas.openxmlformats.org/drawingml/2006/main">
            <a:srgbClr val="FF6B75"/>
          </a:solidFill>
          <a:ln xmlns:a="http://schemas.openxmlformats.org/drawingml/2006/main" w="0">
            <a:solidFill>
              <a:srgbClr val="FF6B75"/>
            </a:solidFill>
            <a:prstDash val="solid"/>
          </a:ln>
        </p:spPr>
      </p:sp>
      <p:sp>
        <p:nvSpPr>
          <p:cNvPr id="14" name="">
            <a:extLst xmlns:a="http://schemas.openxmlformats.org/drawingml/2006/main">
              <a:ext uri="{FF2B5EF4-FFF2-40B4-BE49-F238E27FC236}">
                <a16:creationId xmlns:a16="http://schemas.microsoft.com/office/drawing/2014/main" id="{4DCDE5D5-958A-4241-93CE-F35C1F5D33F1}"/>
              </a:ext>
            </a:extLst>
          </p:cNvPr>
          <p:cNvSpPr>
            <a:spLocks xmlns:a="http://schemas.openxmlformats.org/drawingml/2006/main" noGrp="1"/>
          </p:cNvSpPr>
          <p:nvPr/>
        </p:nvSpPr>
        <p:spPr>
          <a:xfrm xmlns:a="http://schemas.openxmlformats.org/drawingml/2006/main">
            <a:off x="7410450" y="3190875"/>
            <a:ext cx="219075" cy="495300"/>
          </a:xfrm>
          <a:prstGeom xmlns:a="http://schemas.openxmlformats.org/drawingml/2006/main" prst="rect">
            <a:avLst/>
          </a:prstGeom>
          <a:solidFill xmlns:a="http://schemas.openxmlformats.org/drawingml/2006/main">
            <a:srgbClr val="FF6B75"/>
          </a:solidFill>
          <a:ln xmlns:a="http://schemas.openxmlformats.org/drawingml/2006/main" w="0">
            <a:solidFill>
              <a:srgbClr val="FF6B75"/>
            </a:solidFill>
            <a:prstDash val="solid"/>
          </a:ln>
        </p:spPr>
      </p:sp>
      <p:sp>
        <p:nvSpPr>
          <p:cNvPr id="15" name="">
            <a:extLst xmlns:a="http://schemas.openxmlformats.org/drawingml/2006/main">
              <a:ext uri="{FF2B5EF4-FFF2-40B4-BE49-F238E27FC236}">
                <a16:creationId xmlns:a16="http://schemas.microsoft.com/office/drawing/2014/main" id="{3F997D2C-6A8C-4CBD-AC74-8A7D1460AADB}"/>
              </a:ext>
            </a:extLst>
          </p:cNvPr>
          <p:cNvSpPr>
            <a:spLocks xmlns:a="http://schemas.openxmlformats.org/drawingml/2006/main" noGrp="1"/>
          </p:cNvSpPr>
          <p:nvPr/>
        </p:nvSpPr>
        <p:spPr>
          <a:xfrm xmlns:a="http://schemas.openxmlformats.org/drawingml/2006/main">
            <a:off x="7715250" y="3000375"/>
            <a:ext cx="219075" cy="685800"/>
          </a:xfrm>
          <a:prstGeom xmlns:a="http://schemas.openxmlformats.org/drawingml/2006/main" prst="rect">
            <a:avLst/>
          </a:prstGeom>
          <a:solidFill xmlns:a="http://schemas.openxmlformats.org/drawingml/2006/main">
            <a:srgbClr val="57CB8F"/>
          </a:solidFill>
          <a:ln xmlns:a="http://schemas.openxmlformats.org/drawingml/2006/main" w="0">
            <a:solidFill>
              <a:srgbClr val="57CB8F"/>
            </a:solidFill>
            <a:prstDash val="solid"/>
          </a:ln>
        </p:spPr>
      </p:sp>
      <p:sp>
        <p:nvSpPr>
          <p:cNvPr id="16" name="">
            <a:extLst xmlns:a="http://schemas.openxmlformats.org/drawingml/2006/main">
              <a:ext uri="{FF2B5EF4-FFF2-40B4-BE49-F238E27FC236}">
                <a16:creationId xmlns:a16="http://schemas.microsoft.com/office/drawing/2014/main" id="{16801296-2BFF-45D7-BD15-BD89D9824C95}"/>
              </a:ext>
            </a:extLst>
          </p:cNvPr>
          <p:cNvSpPr>
            <a:spLocks xmlns:a="http://schemas.openxmlformats.org/drawingml/2006/main" noGrp="1"/>
          </p:cNvSpPr>
          <p:nvPr/>
        </p:nvSpPr>
        <p:spPr>
          <a:xfrm xmlns:a="http://schemas.openxmlformats.org/drawingml/2006/main">
            <a:off x="8020050" y="2752725"/>
            <a:ext cx="219075" cy="933450"/>
          </a:xfrm>
          <a:prstGeom xmlns:a="http://schemas.openxmlformats.org/drawingml/2006/main" prst="rect">
            <a:avLst/>
          </a:prstGeom>
          <a:solidFill xmlns:a="http://schemas.openxmlformats.org/drawingml/2006/main">
            <a:srgbClr val="57CB8F"/>
          </a:solidFill>
          <a:ln xmlns:a="http://schemas.openxmlformats.org/drawingml/2006/main" w="0">
            <a:solidFill>
              <a:srgbClr val="57CB8F"/>
            </a:solidFill>
            <a:prstDash val="solid"/>
          </a:ln>
        </p:spPr>
      </p:sp>
      <p:sp>
        <p:nvSpPr>
          <p:cNvPr id="17" name="">
            <a:extLst xmlns:a="http://schemas.openxmlformats.org/drawingml/2006/main">
              <a:ext uri="{FF2B5EF4-FFF2-40B4-BE49-F238E27FC236}">
                <a16:creationId xmlns:a16="http://schemas.microsoft.com/office/drawing/2014/main" id="{1706FEA9-F1C8-4FFB-B8BC-096C52A9C8A3}"/>
              </a:ext>
            </a:extLst>
          </p:cNvPr>
          <p:cNvSpPr>
            <a:spLocks xmlns:a="http://schemas.openxmlformats.org/drawingml/2006/main" noGrp="1"/>
          </p:cNvSpPr>
          <p:nvPr/>
        </p:nvSpPr>
        <p:spPr>
          <a:xfrm xmlns:a="http://schemas.openxmlformats.org/drawingml/2006/main">
            <a:off x="8324850" y="2533650"/>
            <a:ext cx="219075" cy="1152525"/>
          </a:xfrm>
          <a:prstGeom xmlns:a="http://schemas.openxmlformats.org/drawingml/2006/main" prst="rect">
            <a:avLst/>
          </a:prstGeom>
          <a:solidFill xmlns:a="http://schemas.openxmlformats.org/drawingml/2006/main">
            <a:srgbClr val="57CB8F"/>
          </a:solidFill>
          <a:ln xmlns:a="http://schemas.openxmlformats.org/drawingml/2006/main" w="0">
            <a:solidFill>
              <a:srgbClr val="57CB8F"/>
            </a:solidFill>
            <a:prstDash val="solid"/>
          </a:ln>
        </p:spPr>
      </p:sp>
      <p:sp>
        <p:nvSpPr>
          <p:cNvPr id="18" name="">
            <a:extLst xmlns:a="http://schemas.openxmlformats.org/drawingml/2006/main">
              <a:ext uri="{FF2B5EF4-FFF2-40B4-BE49-F238E27FC236}">
                <a16:creationId xmlns:a16="http://schemas.microsoft.com/office/drawing/2014/main" id="{FE34FCEF-E3A1-49C5-9DEB-636AB6A7DD23}"/>
              </a:ext>
            </a:extLst>
          </p:cNvPr>
          <p:cNvSpPr>
            <a:spLocks xmlns:a="http://schemas.openxmlformats.org/drawingml/2006/main" noGrp="1"/>
          </p:cNvSpPr>
          <p:nvPr/>
        </p:nvSpPr>
        <p:spPr>
          <a:xfrm xmlns:a="http://schemas.openxmlformats.org/drawingml/2006/main">
            <a:off x="8629650" y="2705100"/>
            <a:ext cx="219075" cy="981075"/>
          </a:xfrm>
          <a:prstGeom xmlns:a="http://schemas.openxmlformats.org/drawingml/2006/main" prst="rect">
            <a:avLst/>
          </a:prstGeom>
          <a:solidFill xmlns:a="http://schemas.openxmlformats.org/drawingml/2006/main">
            <a:srgbClr val="57CB8F"/>
          </a:solidFill>
          <a:ln xmlns:a="http://schemas.openxmlformats.org/drawingml/2006/main" w="0">
            <a:solidFill>
              <a:srgbClr val="57CB8F"/>
            </a:solidFill>
            <a:prstDash val="solid"/>
          </a:ln>
        </p:spPr>
      </p:sp>
      <p:sp>
        <p:nvSpPr>
          <p:cNvPr id="19" name="">
            <a:extLst xmlns:a="http://schemas.openxmlformats.org/drawingml/2006/main">
              <a:ext uri="{FF2B5EF4-FFF2-40B4-BE49-F238E27FC236}">
                <a16:creationId xmlns:a16="http://schemas.microsoft.com/office/drawing/2014/main" id="{6BB82CC8-C392-4E5F-9568-3D097612F37E}"/>
              </a:ext>
            </a:extLst>
          </p:cNvPr>
          <p:cNvSpPr>
            <a:spLocks xmlns:a="http://schemas.openxmlformats.org/drawingml/2006/main" noGrp="1"/>
          </p:cNvSpPr>
          <p:nvPr/>
        </p:nvSpPr>
        <p:spPr>
          <a:xfrm xmlns:a="http://schemas.openxmlformats.org/drawingml/2006/main">
            <a:off x="8934450" y="2952750"/>
            <a:ext cx="219075" cy="733425"/>
          </a:xfrm>
          <a:prstGeom xmlns:a="http://schemas.openxmlformats.org/drawingml/2006/main" prst="rect">
            <a:avLst/>
          </a:prstGeom>
          <a:solidFill xmlns:a="http://schemas.openxmlformats.org/drawingml/2006/main">
            <a:srgbClr val="57CB8F"/>
          </a:solidFill>
          <a:ln xmlns:a="http://schemas.openxmlformats.org/drawingml/2006/main" w="0">
            <a:solidFill>
              <a:srgbClr val="57CB8F"/>
            </a:solidFill>
            <a:prstDash val="solid"/>
          </a:ln>
        </p:spPr>
      </p:sp>
      <p:sp>
        <p:nvSpPr>
          <p:cNvPr id="20" name="">
            <a:extLst xmlns:a="http://schemas.openxmlformats.org/drawingml/2006/main">
              <a:ext uri="{FF2B5EF4-FFF2-40B4-BE49-F238E27FC236}">
                <a16:creationId xmlns:a16="http://schemas.microsoft.com/office/drawing/2014/main" id="{082C51E3-E094-4D74-A1EA-DAFE6461969F}"/>
              </a:ext>
            </a:extLst>
          </p:cNvPr>
          <p:cNvSpPr>
            <a:spLocks xmlns:a="http://schemas.openxmlformats.org/drawingml/2006/main" noGrp="1"/>
          </p:cNvSpPr>
          <p:nvPr/>
        </p:nvSpPr>
        <p:spPr>
          <a:xfrm xmlns:a="http://schemas.openxmlformats.org/drawingml/2006/main">
            <a:off x="9239250" y="3171825"/>
            <a:ext cx="219075" cy="514350"/>
          </a:xfrm>
          <a:prstGeom xmlns:a="http://schemas.openxmlformats.org/drawingml/2006/main" prst="rect">
            <a:avLst/>
          </a:prstGeom>
          <a:solidFill xmlns:a="http://schemas.openxmlformats.org/drawingml/2006/main">
            <a:srgbClr val="57CB8F"/>
          </a:solidFill>
          <a:ln xmlns:a="http://schemas.openxmlformats.org/drawingml/2006/main" w="0">
            <a:solidFill>
              <a:srgbClr val="57CB8F"/>
            </a:solidFill>
            <a:prstDash val="solid"/>
          </a:ln>
        </p:spPr>
      </p:sp>
      <p:sp>
        <p:nvSpPr>
          <p:cNvPr id="21" name="">
            <a:extLst xmlns:a="http://schemas.openxmlformats.org/drawingml/2006/main">
              <a:ext uri="{FF2B5EF4-FFF2-40B4-BE49-F238E27FC236}">
                <a16:creationId xmlns:a16="http://schemas.microsoft.com/office/drawing/2014/main" id="{595C480A-1588-4834-B308-4627B704BEC4}"/>
              </a:ext>
            </a:extLst>
          </p:cNvPr>
          <p:cNvSpPr>
            <a:spLocks xmlns:a="http://schemas.openxmlformats.org/drawingml/2006/main" noGrp="1"/>
          </p:cNvSpPr>
          <p:nvPr/>
        </p:nvSpPr>
        <p:spPr>
          <a:xfrm xmlns:a="http://schemas.openxmlformats.org/drawingml/2006/main">
            <a:off x="9544050" y="3352800"/>
            <a:ext cx="219075" cy="333375"/>
          </a:xfrm>
          <a:prstGeom xmlns:a="http://schemas.openxmlformats.org/drawingml/2006/main" prst="rect">
            <a:avLst/>
          </a:prstGeom>
          <a:solidFill xmlns:a="http://schemas.openxmlformats.org/drawingml/2006/main">
            <a:srgbClr val="57CB8F"/>
          </a:solidFill>
          <a:ln xmlns:a="http://schemas.openxmlformats.org/drawingml/2006/main" w="0">
            <a:solidFill>
              <a:srgbClr val="57CB8F"/>
            </a:solidFill>
            <a:prstDash val="solid"/>
          </a:ln>
        </p:spPr>
      </p:sp>
      <p:sp>
        <p:nvSpPr>
          <p:cNvPr id="22" name="">
            <a:extLst xmlns:a="http://schemas.openxmlformats.org/drawingml/2006/main">
              <a:ext uri="{FF2B5EF4-FFF2-40B4-BE49-F238E27FC236}">
                <a16:creationId xmlns:a16="http://schemas.microsoft.com/office/drawing/2014/main" id="{32B4A88D-97BB-4F10-81FB-B867141A4F86}"/>
              </a:ext>
            </a:extLst>
          </p:cNvPr>
          <p:cNvSpPr>
            <a:spLocks xmlns:a="http://schemas.openxmlformats.org/drawingml/2006/main" noGrp="1"/>
          </p:cNvSpPr>
          <p:nvPr/>
        </p:nvSpPr>
        <p:spPr>
          <a:xfrm xmlns:a="http://schemas.openxmlformats.org/drawingml/2006/main">
            <a:off x="9848850" y="3457575"/>
            <a:ext cx="219075" cy="228600"/>
          </a:xfrm>
          <a:prstGeom xmlns:a="http://schemas.openxmlformats.org/drawingml/2006/main" prst="rect">
            <a:avLst/>
          </a:prstGeom>
          <a:solidFill xmlns:a="http://schemas.openxmlformats.org/drawingml/2006/main">
            <a:srgbClr val="FF6B75"/>
          </a:solidFill>
          <a:ln xmlns:a="http://schemas.openxmlformats.org/drawingml/2006/main" w="0">
            <a:solidFill>
              <a:srgbClr val="FF6B75"/>
            </a:solidFill>
            <a:prstDash val="solid"/>
          </a:ln>
        </p:spPr>
      </p:sp>
      <p:sp>
        <p:nvSpPr>
          <p:cNvPr id="23" name="">
            <a:extLst xmlns:a="http://schemas.openxmlformats.org/drawingml/2006/main">
              <a:ext uri="{FF2B5EF4-FFF2-40B4-BE49-F238E27FC236}">
                <a16:creationId xmlns:a16="http://schemas.microsoft.com/office/drawing/2014/main" id="{70E6D1C6-1DD0-47E3-BD71-BB395A784AF9}"/>
              </a:ext>
            </a:extLst>
          </p:cNvPr>
          <p:cNvSpPr>
            <a:spLocks xmlns:a="http://schemas.openxmlformats.org/drawingml/2006/main" noGrp="1"/>
          </p:cNvSpPr>
          <p:nvPr/>
        </p:nvSpPr>
        <p:spPr>
          <a:xfrm xmlns:a="http://schemas.openxmlformats.org/drawingml/2006/main">
            <a:off x="10153650" y="3543300"/>
            <a:ext cx="219075" cy="142875"/>
          </a:xfrm>
          <a:prstGeom xmlns:a="http://schemas.openxmlformats.org/drawingml/2006/main" prst="rect">
            <a:avLst/>
          </a:prstGeom>
          <a:solidFill xmlns:a="http://schemas.openxmlformats.org/drawingml/2006/main">
            <a:srgbClr val="FF6B75"/>
          </a:solidFill>
          <a:ln xmlns:a="http://schemas.openxmlformats.org/drawingml/2006/main" w="0">
            <a:solidFill>
              <a:srgbClr val="FF6B75"/>
            </a:solidFill>
            <a:prstDash val="solid"/>
          </a:ln>
        </p:spPr>
      </p:sp>
      <p:sp>
        <p:nvSpPr>
          <p:cNvPr id="24" name="">
            <a:extLst xmlns:a="http://schemas.openxmlformats.org/drawingml/2006/main">
              <a:ext uri="{FF2B5EF4-FFF2-40B4-BE49-F238E27FC236}">
                <a16:creationId xmlns:a16="http://schemas.microsoft.com/office/drawing/2014/main" id="{D66397FB-A5AE-489C-A448-F8D834B12480}"/>
              </a:ext>
            </a:extLst>
          </p:cNvPr>
          <p:cNvSpPr>
            <a:spLocks xmlns:a="http://schemas.openxmlformats.org/drawingml/2006/main" noGrp="1"/>
          </p:cNvSpPr>
          <p:nvPr/>
        </p:nvSpPr>
        <p:spPr>
          <a:xfrm xmlns:a="http://schemas.openxmlformats.org/drawingml/2006/main" flipH="0" flipV="0">
            <a:off x="7639050" y="2390775"/>
            <a:ext cx="0" cy="1304925"/>
          </a:xfrm>
          <a:prstGeom xmlns:a="http://schemas.openxmlformats.org/drawingml/2006/main" prst="line">
            <a:avLst/>
          </a:prstGeom>
          <a:noFill xmlns:a="http://schemas.openxmlformats.org/drawingml/2006/main"/>
          <a:ln xmlns:a="http://schemas.openxmlformats.org/drawingml/2006/main" w="19050">
            <a:solidFill>
              <a:srgbClr val="57CB8F"/>
            </a:solidFill>
            <a:prstDash val="solid"/>
          </a:ln>
        </p:spPr>
      </p:sp>
      <p:sp>
        <p:nvSpPr>
          <p:cNvPr id="25" name="">
            <a:extLst xmlns:a="http://schemas.openxmlformats.org/drawingml/2006/main">
              <a:ext uri="{FF2B5EF4-FFF2-40B4-BE49-F238E27FC236}">
                <a16:creationId xmlns:a16="http://schemas.microsoft.com/office/drawing/2014/main" id="{10E33D47-F9FD-43DD-9F31-0C4BA563A622}"/>
              </a:ext>
            </a:extLst>
          </p:cNvPr>
          <p:cNvSpPr>
            <a:spLocks xmlns:a="http://schemas.openxmlformats.org/drawingml/2006/main" noGrp="1"/>
          </p:cNvSpPr>
          <p:nvPr/>
        </p:nvSpPr>
        <p:spPr>
          <a:xfrm xmlns:a="http://schemas.openxmlformats.org/drawingml/2006/main" flipH="0" flipV="0">
            <a:off x="9839325" y="2390775"/>
            <a:ext cx="0" cy="1304925"/>
          </a:xfrm>
          <a:prstGeom xmlns:a="http://schemas.openxmlformats.org/drawingml/2006/main" prst="line">
            <a:avLst/>
          </a:prstGeom>
          <a:noFill xmlns:a="http://schemas.openxmlformats.org/drawingml/2006/main"/>
          <a:ln xmlns:a="http://schemas.openxmlformats.org/drawingml/2006/main" w="19050">
            <a:solidFill>
              <a:srgbClr val="57CB8F"/>
            </a:solidFill>
            <a:prstDash val="solid"/>
          </a:ln>
        </p:spPr>
      </p:sp>
      <p:sp>
        <p:nvSpPr>
          <p:cNvPr id="26" name="">
            <a:extLst xmlns:a="http://schemas.openxmlformats.org/drawingml/2006/main">
              <a:ext uri="{FF2B5EF4-FFF2-40B4-BE49-F238E27FC236}">
                <a16:creationId xmlns:a16="http://schemas.microsoft.com/office/drawing/2014/main" id="{9A47580C-580B-4BD3-B80C-CF78141151CB}"/>
              </a:ext>
            </a:extLst>
          </p:cNvPr>
          <p:cNvSpPr>
            <a:spLocks xmlns:a="http://schemas.openxmlformats.org/drawingml/2006/main" noGrp="1"/>
          </p:cNvSpPr>
          <p:nvPr/>
        </p:nvSpPr>
        <p:spPr>
          <a:xfrm xmlns:a="http://schemas.openxmlformats.org/drawingml/2006/main" flipH="0" flipV="0">
            <a:off x="5695950" y="3705225"/>
            <a:ext cx="588645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27" name="">
            <a:extLst xmlns:a="http://schemas.openxmlformats.org/drawingml/2006/main">
              <a:ext uri="{FF2B5EF4-FFF2-40B4-BE49-F238E27FC236}">
                <a16:creationId xmlns:a16="http://schemas.microsoft.com/office/drawing/2014/main" id="{491BE6D5-7232-4DCA-B06C-4321FE26B990}"/>
              </a:ext>
            </a:extLst>
          </p:cNvPr>
          <p:cNvSpPr>
            <a:spLocks xmlns:a="http://schemas.openxmlformats.org/drawingml/2006/main" noGrp="1"/>
          </p:cNvSpPr>
          <p:nvPr/>
        </p:nvSpPr>
        <p:spPr>
          <a:xfrm xmlns:a="http://schemas.openxmlformats.org/drawingml/2006/main" flipH="0" flipV="1">
            <a:off x="10306050" y="3219450"/>
            <a:ext cx="266700" cy="304800"/>
          </a:xfrm>
          <a:prstGeom xmlns:a="http://schemas.openxmlformats.org/drawingml/2006/main" prst="line">
            <a:avLst/>
          </a:prstGeom>
          <a:noFill xmlns:a="http://schemas.openxmlformats.org/drawingml/2006/main"/>
          <a:ln xmlns:a="http://schemas.openxmlformats.org/drawingml/2006/main" w="19050">
            <a:solidFill>
              <a:srgbClr val="FF6B75"/>
            </a:solidFill>
            <a:prstDash val="solid"/>
          </a:ln>
        </p:spPr>
      </p:sp>
      <p:sp>
        <p:nvSpPr>
          <p:cNvPr id="28" name="">
            <a:extLst xmlns:a="http://schemas.openxmlformats.org/drawingml/2006/main">
              <a:ext uri="{FF2B5EF4-FFF2-40B4-BE49-F238E27FC236}">
                <a16:creationId xmlns:a16="http://schemas.microsoft.com/office/drawing/2014/main" id="{62E17306-92BA-4A5D-8B6A-89055A5651BF}"/>
              </a:ext>
            </a:extLst>
          </p:cNvPr>
          <p:cNvSpPr>
            <a:spLocks xmlns:a="http://schemas.openxmlformats.org/drawingml/2006/main" noGrp="1"/>
          </p:cNvSpPr>
          <p:nvPr/>
        </p:nvSpPr>
        <p:spPr>
          <a:xfrm xmlns:a="http://schemas.openxmlformats.org/drawingml/2006/main">
            <a:off x="10629900" y="2743200"/>
            <a:ext cx="9525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FF6B75"/>
                </a:solidFill>
                <a:latin typeface="Roboto"/>
                <a:ea typeface="Roboto"/>
                <a:cs typeface="Roboto"/>
              </a:defRPr>
            </a:pPr>
            <a:r>
              <a:rPr sz="1350" b="0">
                <a:solidFill>
                  <a:srgbClr val="FF6B75"/>
                </a:solidFill>
                <a:latin typeface="Roboto"/>
                <a:ea typeface="Roboto"/>
                <a:cs typeface="Roboto"/>
              </a:rPr>
              <a:t>Bug:</a:t>
            </a:r>
          </a:p>
          <a:p xmlns:a="http://schemas.openxmlformats.org/drawingml/2006/main">
            <a:pPr algn="l">
              <a:defRPr sz="1350" b="0">
                <a:solidFill>
                  <a:srgbClr val="FF6B75"/>
                </a:solidFill>
                <a:latin typeface="Roboto"/>
                <a:ea typeface="Roboto"/>
                <a:cs typeface="Roboto"/>
              </a:defRPr>
            </a:pPr>
            <a:r>
              <a:rPr sz="1350" b="0">
                <a:solidFill>
                  <a:srgbClr val="FF6B75"/>
                </a:solidFill>
                <a:latin typeface="Roboto"/>
                <a:ea typeface="Roboto"/>
                <a:cs typeface="Roboto"/>
              </a:rPr>
              <a:t>contract</a:t>
            </a:r>
          </a:p>
          <a:p xmlns:a="http://schemas.openxmlformats.org/drawingml/2006/main">
            <a:pPr algn="l">
              <a:defRPr sz="1350" b="0">
                <a:solidFill>
                  <a:srgbClr val="FF6B75"/>
                </a:solidFill>
                <a:latin typeface="Roboto"/>
                <a:ea typeface="Roboto"/>
                <a:cs typeface="Roboto"/>
              </a:defRPr>
            </a:pPr>
            <a:r>
              <a:rPr sz="1350" b="0">
                <a:solidFill>
                  <a:srgbClr val="FF6B75"/>
                </a:solidFill>
                <a:latin typeface="Roboto"/>
                <a:ea typeface="Roboto"/>
                <a:cs typeface="Roboto"/>
              </a:rPr>
              <a:t>violation</a:t>
            </a:r>
          </a:p>
        </p:txBody>
      </p:sp>
      <p:sp>
        <p:nvSpPr>
          <p:cNvPr id="29" name="">
            <a:extLst xmlns:a="http://schemas.openxmlformats.org/drawingml/2006/main">
              <a:ext uri="{FF2B5EF4-FFF2-40B4-BE49-F238E27FC236}">
                <a16:creationId xmlns:a16="http://schemas.microsoft.com/office/drawing/2014/main" id="{CFFA8E7E-7ABD-4EFC-8F08-3647630D2A2E}"/>
              </a:ext>
            </a:extLst>
          </p:cNvPr>
          <p:cNvSpPr>
            <a:spLocks xmlns:a="http://schemas.openxmlformats.org/drawingml/2006/main" noGrp="1"/>
          </p:cNvSpPr>
          <p:nvPr/>
        </p:nvSpPr>
        <p:spPr>
          <a:xfrm xmlns:a="http://schemas.openxmlformats.org/drawingml/2006/main">
            <a:off x="5657850" y="3743325"/>
            <a:ext cx="190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FF6B75"/>
                </a:solidFill>
                <a:latin typeface="Roboto"/>
                <a:ea typeface="Roboto"/>
                <a:cs typeface="Roboto"/>
              </a:defRPr>
            </a:pPr>
            <a:r>
              <a:rPr sz="1275" b="0">
                <a:solidFill>
                  <a:srgbClr val="FF6B75"/>
                </a:solidFill>
                <a:latin typeface="Roboto"/>
                <a:ea typeface="Roboto"/>
                <a:cs typeface="Roboto"/>
              </a:rPr>
              <a:t>Outside the contract</a:t>
            </a:r>
          </a:p>
        </p:txBody>
      </p:sp>
      <p:sp>
        <p:nvSpPr>
          <p:cNvPr id="30" name="">
            <a:extLst xmlns:a="http://schemas.openxmlformats.org/drawingml/2006/main">
              <a:ext uri="{FF2B5EF4-FFF2-40B4-BE49-F238E27FC236}">
                <a16:creationId xmlns:a16="http://schemas.microsoft.com/office/drawing/2014/main" id="{96866AA0-479C-40CD-BC5B-4658816109EE}"/>
              </a:ext>
            </a:extLst>
          </p:cNvPr>
          <p:cNvSpPr>
            <a:spLocks xmlns:a="http://schemas.openxmlformats.org/drawingml/2006/main" noGrp="1"/>
          </p:cNvSpPr>
          <p:nvPr/>
        </p:nvSpPr>
        <p:spPr>
          <a:xfrm xmlns:a="http://schemas.openxmlformats.org/drawingml/2006/main">
            <a:off x="7715250" y="3743325"/>
            <a:ext cx="20193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425" b="1">
                <a:solidFill>
                  <a:srgbClr val="57CB8F"/>
                </a:solidFill>
                <a:latin typeface="Roboto"/>
                <a:ea typeface="Roboto"/>
                <a:cs typeface="Roboto"/>
              </a:defRPr>
            </a:pPr>
            <a:r>
              <a:rPr sz="1425" b="1">
                <a:solidFill>
                  <a:srgbClr val="57CB8F"/>
                </a:solidFill>
                <a:latin typeface="Roboto"/>
                <a:ea typeface="Roboto"/>
                <a:cs typeface="Roboto"/>
              </a:rPr>
              <a:t>Allowed variation</a:t>
            </a:r>
          </a:p>
        </p:txBody>
      </p:sp>
      <p:sp>
        <p:nvSpPr>
          <p:cNvPr id="31" name="">
            <a:extLst xmlns:a="http://schemas.openxmlformats.org/drawingml/2006/main">
              <a:ext uri="{FF2B5EF4-FFF2-40B4-BE49-F238E27FC236}">
                <a16:creationId xmlns:a16="http://schemas.microsoft.com/office/drawing/2014/main" id="{292513ED-C7B6-4832-9D14-6245AA5C9CEF}"/>
              </a:ext>
            </a:extLst>
          </p:cNvPr>
          <p:cNvSpPr>
            <a:spLocks xmlns:a="http://schemas.openxmlformats.org/drawingml/2006/main" noGrp="1"/>
          </p:cNvSpPr>
          <p:nvPr/>
        </p:nvSpPr>
        <p:spPr>
          <a:xfrm xmlns:a="http://schemas.openxmlformats.org/drawingml/2006/main">
            <a:off x="9877425" y="3743325"/>
            <a:ext cx="17049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FF6B75"/>
                </a:solidFill>
                <a:latin typeface="Roboto"/>
                <a:ea typeface="Roboto"/>
                <a:cs typeface="Roboto"/>
              </a:defRPr>
            </a:pPr>
            <a:r>
              <a:rPr sz="1275" b="0">
                <a:solidFill>
                  <a:srgbClr val="FF6B75"/>
                </a:solidFill>
                <a:latin typeface="Roboto"/>
                <a:ea typeface="Roboto"/>
                <a:cs typeface="Roboto"/>
              </a:rPr>
              <a:t>Outside the contract</a:t>
            </a:r>
          </a:p>
        </p:txBody>
      </p:sp>
      <p:sp>
        <p:nvSpPr>
          <p:cNvPr id="32" name="">
            <a:extLst xmlns:a="http://schemas.openxmlformats.org/drawingml/2006/main">
              <a:ext uri="{FF2B5EF4-FFF2-40B4-BE49-F238E27FC236}">
                <a16:creationId xmlns:a16="http://schemas.microsoft.com/office/drawing/2014/main" id="{15278F13-D83E-4795-B974-C8D1CF3B8ABC}"/>
              </a:ext>
            </a:extLst>
          </p:cNvPr>
          <p:cNvSpPr>
            <a:spLocks xmlns:a="http://schemas.openxmlformats.org/drawingml/2006/main" noGrp="1"/>
          </p:cNvSpPr>
          <p:nvPr/>
        </p:nvSpPr>
        <p:spPr>
          <a:xfrm xmlns:a="http://schemas.openxmlformats.org/drawingml/2006/main">
            <a:off x="5657850" y="3990975"/>
            <a:ext cx="59245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00" b="0">
                <a:solidFill>
                  <a:srgbClr val="ADB8C5"/>
                </a:solidFill>
                <a:latin typeface="Roboto"/>
                <a:ea typeface="Roboto"/>
                <a:cs typeface="Roboto"/>
              </a:defRPr>
            </a:pPr>
            <a:r>
              <a:rPr sz="1200" b="0">
                <a:solidFill>
                  <a:srgbClr val="ADB8C5"/>
                </a:solidFill>
                <a:latin typeface="Roboto"/>
                <a:ea typeface="Roboto"/>
                <a:cs typeface="Roboto"/>
              </a:rPr>
              <a:t>Schematic projection, not measured data. Limits are product-specific.</a:t>
            </a:r>
          </a:p>
        </p:txBody>
      </p:sp>
      <p:sp>
        <p:nvSpPr>
          <p:cNvPr id="33" name="">
            <a:extLst xmlns:a="http://schemas.openxmlformats.org/drawingml/2006/main">
              <a:ext uri="{FF2B5EF4-FFF2-40B4-BE49-F238E27FC236}">
                <a16:creationId xmlns:a16="http://schemas.microsoft.com/office/drawing/2014/main" id="{77F6ACC8-1451-4EAD-872D-491C4CB791E4}"/>
              </a:ext>
            </a:extLst>
          </p:cNvPr>
          <p:cNvSpPr>
            <a:spLocks xmlns:a="http://schemas.openxmlformats.org/drawingml/2006/main" noGrp="1"/>
          </p:cNvSpPr>
          <p:nvPr/>
        </p:nvSpPr>
        <p:spPr>
          <a:xfrm xmlns:a="http://schemas.openxmlformats.org/drawingml/2006/main" flipH="0" flipV="0">
            <a:off x="609600" y="4295775"/>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4" name="">
            <a:extLst xmlns:a="http://schemas.openxmlformats.org/drawingml/2006/main">
              <a:ext uri="{FF2B5EF4-FFF2-40B4-BE49-F238E27FC236}">
                <a16:creationId xmlns:a16="http://schemas.microsoft.com/office/drawing/2014/main" id="{3D018852-2587-4EC5-AFF1-3E068B52C01A}"/>
              </a:ext>
            </a:extLst>
          </p:cNvPr>
          <p:cNvSpPr>
            <a:spLocks xmlns:a="http://schemas.openxmlformats.org/drawingml/2006/main" noGrp="1"/>
          </p:cNvSpPr>
          <p:nvPr/>
        </p:nvSpPr>
        <p:spPr>
          <a:xfrm xmlns:a="http://schemas.openxmlformats.org/drawingml/2006/main">
            <a:off x="609600" y="4343400"/>
            <a:ext cx="5143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1">
                <a:solidFill>
                  <a:srgbClr val="28C7F7"/>
                </a:solidFill>
                <a:latin typeface="Roboto"/>
                <a:ea typeface="Roboto"/>
                <a:cs typeface="Roboto"/>
              </a:defRPr>
            </a:pPr>
            <a:r>
              <a:rPr sz="1425" b="1">
                <a:solidFill>
                  <a:srgbClr val="28C7F7"/>
                </a:solidFill>
                <a:latin typeface="Roboto"/>
                <a:ea typeface="Roboto"/>
                <a:cs typeface="Roboto"/>
              </a:rPr>
              <a:t>ILLUSTRATIVE SAMPLE · n = 200</a:t>
            </a:r>
          </a:p>
        </p:txBody>
      </p:sp>
      <p:graphicFrame>
        <p:nvGraphicFramePr>
          <p:cNvPr id="80" name="Chart"/>
          <p:cNvGraphicFramePr/>
          <p:nvPr/>
        </p:nvGraphicFramePr>
        <p:xfrm>
          <a:off xmlns:a="http://schemas.openxmlformats.org/drawingml/2006/main" x="609600" y="4610100"/>
          <a:ext xmlns:a="http://schemas.openxmlformats.org/drawingml/2006/main" cx="5143500" cy="1228725"/>
        </p:xfrm>
        <a:graphic xmlns:a="http://schemas.openxmlformats.org/drawingml/2006/main">
          <a:graphicData uri="http://schemas.openxmlformats.org/drawingml/2006/chart">
            <c:chart xmlns:r="http://schemas.openxmlformats.org/officeDocument/2006/relationships" xmlns:c="http://schemas.openxmlformats.org/drawingml/2006/chart" r:id="Re32382c9d579452e"/>
          </a:graphicData>
        </a:graphic>
      </p:graphicFrame>
      <p:sp>
        <p:nvSpPr>
          <p:cNvPr id="36" name="">
            <a:extLst xmlns:a="http://schemas.openxmlformats.org/drawingml/2006/main">
              <a:ext uri="{FF2B5EF4-FFF2-40B4-BE49-F238E27FC236}">
                <a16:creationId xmlns:a16="http://schemas.microsoft.com/office/drawing/2014/main" id="{83CDA815-F8AE-4A55-8529-A8EF764937B0}"/>
              </a:ext>
            </a:extLst>
          </p:cNvPr>
          <p:cNvSpPr>
            <a:spLocks xmlns:a="http://schemas.openxmlformats.org/drawingml/2006/main" noGrp="1"/>
          </p:cNvSpPr>
          <p:nvPr/>
        </p:nvSpPr>
        <p:spPr>
          <a:xfrm xmlns:a="http://schemas.openxmlformats.org/drawingml/2006/main" flipH="0" flipV="0">
            <a:off x="5953125" y="4391025"/>
            <a:ext cx="0" cy="137160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7" name="">
            <a:extLst xmlns:a="http://schemas.openxmlformats.org/drawingml/2006/main">
              <a:ext uri="{FF2B5EF4-FFF2-40B4-BE49-F238E27FC236}">
                <a16:creationId xmlns:a16="http://schemas.microsoft.com/office/drawing/2014/main" id="{9814F111-B468-4687-A862-640D9EB32F58}"/>
              </a:ext>
            </a:extLst>
          </p:cNvPr>
          <p:cNvSpPr>
            <a:spLocks xmlns:a="http://schemas.openxmlformats.org/drawingml/2006/main" noGrp="1"/>
          </p:cNvSpPr>
          <p:nvPr/>
        </p:nvSpPr>
        <p:spPr>
          <a:xfrm xmlns:a="http://schemas.openxmlformats.org/drawingml/2006/main">
            <a:off x="6286500" y="4343400"/>
            <a:ext cx="2324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325" b="1">
                <a:solidFill>
                  <a:srgbClr val="F4F7FA"/>
                </a:solidFill>
                <a:latin typeface="Roboto"/>
                <a:ea typeface="Roboto"/>
                <a:cs typeface="Roboto"/>
              </a:defRPr>
            </a:pPr>
            <a:r>
              <a:rPr sz="2325" b="1">
                <a:solidFill>
                  <a:srgbClr val="F4F7FA"/>
                </a:solidFill>
                <a:latin typeface="Roboto"/>
                <a:ea typeface="Roboto"/>
                <a:cs typeface="Roboto"/>
              </a:rPr>
              <a:t>4 / 200 = 2%</a:t>
            </a:r>
          </a:p>
        </p:txBody>
      </p:sp>
      <p:sp>
        <p:nvSpPr>
          <p:cNvPr id="38" name="">
            <a:extLst xmlns:a="http://schemas.openxmlformats.org/drawingml/2006/main">
              <a:ext uri="{FF2B5EF4-FFF2-40B4-BE49-F238E27FC236}">
                <a16:creationId xmlns:a16="http://schemas.microsoft.com/office/drawing/2014/main" id="{8A503F6C-5724-476C-9064-0C2831224E2F}"/>
              </a:ext>
            </a:extLst>
          </p:cNvPr>
          <p:cNvSpPr>
            <a:spLocks xmlns:a="http://schemas.openxmlformats.org/drawingml/2006/main" noGrp="1"/>
          </p:cNvSpPr>
          <p:nvPr/>
        </p:nvSpPr>
        <p:spPr>
          <a:xfrm xmlns:a="http://schemas.openxmlformats.org/drawingml/2006/main">
            <a:off x="8658225" y="4410075"/>
            <a:ext cx="29241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Roboto"/>
                <a:ea typeface="Roboto"/>
                <a:cs typeface="Roboto"/>
              </a:defRPr>
            </a:pPr>
            <a:r>
              <a:rPr sz="1350" b="0">
                <a:solidFill>
                  <a:srgbClr val="ADB8C5"/>
                </a:solidFill>
                <a:latin typeface="Roboto"/>
                <a:ea typeface="Roboto"/>
                <a:cs typeface="Roboto"/>
              </a:rPr>
              <a:t>Observed unacceptable outputs</a:t>
            </a:r>
          </a:p>
        </p:txBody>
      </p:sp>
      <p:sp>
        <p:nvSpPr>
          <p:cNvPr id="39" name="">
            <a:extLst xmlns:a="http://schemas.openxmlformats.org/drawingml/2006/main">
              <a:ext uri="{FF2B5EF4-FFF2-40B4-BE49-F238E27FC236}">
                <a16:creationId xmlns:a16="http://schemas.microsoft.com/office/drawing/2014/main" id="{9F623C6D-60A6-4AB7-9ADF-A6BEBDD11AF7}"/>
              </a:ext>
            </a:extLst>
          </p:cNvPr>
          <p:cNvSpPr>
            <a:spLocks xmlns:a="http://schemas.openxmlformats.org/drawingml/2006/main" noGrp="1"/>
          </p:cNvSpPr>
          <p:nvPr/>
        </p:nvSpPr>
        <p:spPr>
          <a:xfrm xmlns:a="http://schemas.openxmlformats.org/drawingml/2006/main">
            <a:off x="6286500" y="4733925"/>
            <a:ext cx="52959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28C7F7"/>
                </a:solidFill>
                <a:latin typeface="Roboto"/>
                <a:ea typeface="Roboto"/>
                <a:cs typeface="Roboto"/>
              </a:defRPr>
            </a:pPr>
            <a:r>
              <a:rPr sz="1650" b="0">
                <a:solidFill>
                  <a:srgbClr val="28C7F7"/>
                </a:solidFill>
                <a:latin typeface="Roboto"/>
                <a:ea typeface="Roboto"/>
                <a:cs typeface="Roboto"/>
              </a:rPr>
              <a:t>95% Wilson interval ≈ 0.8%–5.0%</a:t>
            </a:r>
          </a:p>
        </p:txBody>
      </p:sp>
      <p:sp>
        <p:nvSpPr>
          <p:cNvPr id="40" name="">
            <a:extLst xmlns:a="http://schemas.openxmlformats.org/drawingml/2006/main">
              <a:ext uri="{FF2B5EF4-FFF2-40B4-BE49-F238E27FC236}">
                <a16:creationId xmlns:a16="http://schemas.microsoft.com/office/drawing/2014/main" id="{5A9A1465-986F-4134-842A-BBAD52AF20A7}"/>
              </a:ext>
            </a:extLst>
          </p:cNvPr>
          <p:cNvSpPr>
            <a:spLocks xmlns:a="http://schemas.openxmlformats.org/drawingml/2006/main" noGrp="1"/>
          </p:cNvSpPr>
          <p:nvPr/>
        </p:nvSpPr>
        <p:spPr>
          <a:xfrm xmlns:a="http://schemas.openxmlformats.org/drawingml/2006/main">
            <a:off x="6286500" y="5038725"/>
            <a:ext cx="52959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F4F7FA"/>
                </a:solidFill>
                <a:latin typeface="Roboto"/>
                <a:ea typeface="Roboto"/>
                <a:cs typeface="Roboto"/>
              </a:defRPr>
            </a:pPr>
            <a:r>
              <a:rPr sz="1500" b="0">
                <a:solidFill>
                  <a:srgbClr val="F4F7FA"/>
                </a:solidFill>
                <a:latin typeface="Roboto"/>
                <a:ea typeface="Roboto"/>
                <a:cs typeface="Roboto"/>
              </a:rPr>
              <a:t>3 incorrect instructions → rework</a:t>
            </a:r>
          </a:p>
        </p:txBody>
      </p:sp>
      <p:sp>
        <p:nvSpPr>
          <p:cNvPr id="41" name="">
            <a:extLst xmlns:a="http://schemas.openxmlformats.org/drawingml/2006/main">
              <a:ext uri="{FF2B5EF4-FFF2-40B4-BE49-F238E27FC236}">
                <a16:creationId xmlns:a16="http://schemas.microsoft.com/office/drawing/2014/main" id="{3F6BFD30-71B0-4B41-90E1-CCE69D5DA330}"/>
              </a:ext>
            </a:extLst>
          </p:cNvPr>
          <p:cNvSpPr>
            <a:spLocks xmlns:a="http://schemas.openxmlformats.org/drawingml/2006/main" noGrp="1"/>
          </p:cNvSpPr>
          <p:nvPr/>
        </p:nvSpPr>
        <p:spPr>
          <a:xfrm xmlns:a="http://schemas.openxmlformats.org/drawingml/2006/main">
            <a:off x="6286500" y="5295900"/>
            <a:ext cx="52959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FF6B75"/>
                </a:solidFill>
                <a:latin typeface="Roboto"/>
                <a:ea typeface="Roboto"/>
                <a:cs typeface="Roboto"/>
              </a:defRPr>
            </a:pPr>
            <a:r>
              <a:rPr sz="1500" b="0">
                <a:solidFill>
                  <a:srgbClr val="FF6B75"/>
                </a:solidFill>
                <a:latin typeface="Roboto"/>
                <a:ea typeface="Roboto"/>
                <a:cs typeface="Roboto"/>
              </a:rPr>
              <a:t>1 privacy leak → critical breach</a:t>
            </a:r>
          </a:p>
        </p:txBody>
      </p:sp>
      <p:sp>
        <p:nvSpPr>
          <p:cNvPr id="42" name="">
            <a:extLst xmlns:a="http://schemas.openxmlformats.org/drawingml/2006/main">
              <a:ext uri="{FF2B5EF4-FFF2-40B4-BE49-F238E27FC236}">
                <a16:creationId xmlns:a16="http://schemas.microsoft.com/office/drawing/2014/main" id="{2075034A-9BF0-46C5-B240-DBF72CE3FEDA}"/>
              </a:ext>
            </a:extLst>
          </p:cNvPr>
          <p:cNvSpPr>
            <a:spLocks xmlns:a="http://schemas.openxmlformats.org/drawingml/2006/main" noGrp="1"/>
          </p:cNvSpPr>
          <p:nvPr/>
        </p:nvSpPr>
        <p:spPr>
          <a:xfrm xmlns:a="http://schemas.openxmlformats.org/drawingml/2006/main">
            <a:off x="6286500" y="5562600"/>
            <a:ext cx="52959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FF6B75"/>
                </a:solidFill>
                <a:latin typeface="Roboto"/>
                <a:ea typeface="Roboto"/>
                <a:cs typeface="Roboto"/>
              </a:defRPr>
            </a:pPr>
            <a:r>
              <a:rPr sz="1725" b="1">
                <a:solidFill>
                  <a:srgbClr val="FF6B75"/>
                </a:solidFill>
                <a:latin typeface="Roboto"/>
                <a:ea typeface="Roboto"/>
                <a:cs typeface="Roboto"/>
              </a:rPr>
              <a:t>Critical breach → BLOCK RELEASE</a:t>
            </a:r>
          </a:p>
        </p:txBody>
      </p:sp>
      <p:sp>
        <p:nvSpPr>
          <p:cNvPr id="43" name="">
            <a:extLst xmlns:a="http://schemas.openxmlformats.org/drawingml/2006/main">
              <a:ext uri="{FF2B5EF4-FFF2-40B4-BE49-F238E27FC236}">
                <a16:creationId xmlns:a16="http://schemas.microsoft.com/office/drawing/2014/main" id="{82AE51BE-6893-4390-A9EB-DE7A7A25BF99}"/>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1">
                <a:solidFill>
                  <a:srgbClr val="28C7F7"/>
                </a:solidFill>
                <a:latin typeface="Roboto"/>
                <a:ea typeface="Roboto"/>
                <a:cs typeface="Roboto"/>
              </a:defRPr>
            </a:pPr>
            <a:r>
              <a:rPr sz="1425" b="1">
                <a:solidFill>
                  <a:srgbClr val="28C7F7"/>
                </a:solidFill>
                <a:latin typeface="Roboto"/>
                <a:ea typeface="Roboto"/>
                <a:cs typeface="Roboto"/>
              </a:rPr>
              <a:t>Golden Set: routine, edge and adversarial cases. Eval Gate: compare versions against agreed limits.</a:t>
            </a:r>
          </a:p>
        </p:txBody>
      </p:sp>
      <p:sp>
        <p:nvSpPr>
          <p:cNvPr id="44" name="">
            <a:extLst xmlns:a="http://schemas.openxmlformats.org/drawingml/2006/main">
              <a:ext uri="{FF2B5EF4-FFF2-40B4-BE49-F238E27FC236}">
                <a16:creationId xmlns:a16="http://schemas.microsoft.com/office/drawing/2014/main" id="{8E327A75-FEBF-4AFB-8EA2-56F400AD07D7}"/>
              </a:ext>
            </a:extLst>
          </p:cNvPr>
          <p:cNvSpPr>
            <a:spLocks xmlns:a="http://schemas.openxmlformats.org/drawingml/2006/main" noGrp="1"/>
          </p:cNvSpPr>
          <p:nvPr/>
        </p:nvSpPr>
        <p:spPr>
          <a:xfrm xmlns:a="http://schemas.openxmlformats.org/drawingml/2006/main">
            <a:off x="609600" y="6200775"/>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0">
                <a:solidFill>
                  <a:srgbClr val="F4F7FA"/>
                </a:solidFill>
                <a:latin typeface="Roboto"/>
                <a:ea typeface="Roboto"/>
                <a:cs typeface="Roboto"/>
              </a:defRPr>
            </a:pPr>
            <a:r>
              <a:rPr sz="1425" b="0">
                <a:solidFill>
                  <a:srgbClr val="F4F7FA"/>
                </a:solidFill>
                <a:latin typeface="Roboto"/>
                <a:ea typeface="Roboto"/>
                <a:cs typeface="Roboto"/>
              </a:rPr>
              <a:t>QA calibrates the evaluator with domain experts. Incidents become new regression cases.</a:t>
            </a:r>
          </a:p>
        </p:txBody>
      </p:sp>
      <p:sp>
        <p:nvSpPr>
          <p:cNvPr id="45" name="">
            <a:extLst xmlns:a="http://schemas.openxmlformats.org/drawingml/2006/main">
              <a:ext uri="{FF2B5EF4-FFF2-40B4-BE49-F238E27FC236}">
                <a16:creationId xmlns:a16="http://schemas.microsoft.com/office/drawing/2014/main" id="{FDC4D167-7D99-4CC9-A673-243357A8FC73}"/>
              </a:ext>
            </a:extLst>
          </p:cNvPr>
          <p:cNvSpPr>
            <a:spLocks xmlns:a="http://schemas.openxmlformats.org/drawingml/2006/main" noGrp="1"/>
          </p:cNvSpPr>
          <p:nvPr/>
        </p:nvSpPr>
        <p:spPr>
          <a:xfrm xmlns:a="http://schemas.openxmlformats.org/drawingml/2006/main">
            <a:off x="609600" y="6486525"/>
            <a:ext cx="106489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1">
                <a:solidFill>
                  <a:srgbClr val="F4F7FA"/>
                </a:solidFill>
                <a:latin typeface="Roboto"/>
                <a:ea typeface="Roboto"/>
                <a:cs typeface="Roboto"/>
              </a:defRPr>
            </a:pPr>
            <a:r>
              <a:rPr sz="1575" b="1">
                <a:solidFill>
                  <a:srgbClr val="F4F7FA"/>
                </a:solidFill>
                <a:latin typeface="Roboto"/>
                <a:ea typeface="Roboto"/>
                <a:cs typeface="Roboto"/>
              </a:rPr>
              <a:t>Product + BA agree limits. QA + Dev measure. Risk / release owner decides.</a:t>
            </a:r>
          </a:p>
        </p:txBody>
      </p:sp>
    </p:spTree>
    <p:extLst>
      <p:ext uri="{BB962C8B-B14F-4D97-AF65-F5344CB8AC3E}">
        <p14:creationId xmlns:p14="http://schemas.microsoft.com/office/powerpoint/2010/main" val="326337081"/>
      </p:ext>
    </p:extLst>
  </p:cSld>
</p:sld>
</file>

<file path=ppt/slides/slide11.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1A29FAC1-D028-4677-93B6-8B15EB115C23}"/>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Roboto"/>
                <a:ea typeface="Roboto"/>
                <a:cs typeface="Roboto"/>
              </a:defRPr>
            </a:pPr>
            <a:r>
              <a:rPr sz="3000" b="1">
                <a:solidFill>
                  <a:srgbClr val="F4F7FA"/>
                </a:solidFill>
                <a:latin typeface="Roboto"/>
                <a:ea typeface="Roboto"/>
                <a:cs typeface="Roboto"/>
              </a:rPr>
              <a:t>DoR / DoD Become Risk Contracts</a:t>
            </a:r>
          </a:p>
        </p:txBody>
      </p:sp>
      <p:sp>
        <p:nvSpPr>
          <p:cNvPr id="2" name="">
            <a:extLst xmlns:a="http://schemas.openxmlformats.org/drawingml/2006/main">
              <a:ext uri="{FF2B5EF4-FFF2-40B4-BE49-F238E27FC236}">
                <a16:creationId xmlns:a16="http://schemas.microsoft.com/office/drawing/2014/main" id="{EE3EB843-C27D-42D8-BC56-1FF5E76A6725}"/>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CC2D52C3-F037-4E8B-982F-23B3B1FC810B}"/>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Roboto"/>
                <a:ea typeface="Roboto"/>
                <a:cs typeface="Roboto"/>
              </a:defRPr>
            </a:pPr>
            <a:r>
              <a:rPr sz="1200" b="0">
                <a:solidFill>
                  <a:srgbClr val="ADB8C5"/>
                </a:solidFill>
                <a:latin typeface="Roboto"/>
                <a:ea typeface="Roboto"/>
                <a:cs typeface="Roboto"/>
              </a:rPr>
              <a:t>11</a:t>
            </a:r>
          </a:p>
        </p:txBody>
      </p:sp>
      <p:sp>
        <p:nvSpPr>
          <p:cNvPr id="4" name="">
            <a:extLst xmlns:a="http://schemas.openxmlformats.org/drawingml/2006/main">
              <a:ext uri="{FF2B5EF4-FFF2-40B4-BE49-F238E27FC236}">
                <a16:creationId xmlns:a16="http://schemas.microsoft.com/office/drawing/2014/main" id="{C858B11D-AA58-49AF-99D7-D67920869F50}"/>
              </a:ext>
            </a:extLst>
          </p:cNvPr>
          <p:cNvSpPr>
            <a:spLocks xmlns:a="http://schemas.openxmlformats.org/drawingml/2006/main" noGrp="1"/>
          </p:cNvSpPr>
          <p:nvPr/>
        </p:nvSpPr>
        <p:spPr>
          <a:xfrm xmlns:a="http://schemas.openxmlformats.org/drawingml/2006/main">
            <a:off x="609600" y="16764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28C7F7"/>
                </a:solidFill>
                <a:latin typeface="Roboto"/>
                <a:ea typeface="Roboto"/>
                <a:cs typeface="Roboto"/>
              </a:defRPr>
            </a:pPr>
            <a:r>
              <a:rPr sz="1650" b="1">
                <a:solidFill>
                  <a:srgbClr val="28C7F7"/>
                </a:solidFill>
                <a:latin typeface="Roboto"/>
                <a:ea typeface="Roboto"/>
                <a:cs typeface="Roboto"/>
              </a:rPr>
              <a:t>DEVELOPERS · deliver a reproducible evidence and recovery package</a:t>
            </a:r>
          </a:p>
        </p:txBody>
      </p:sp>
      <p:sp>
        <p:nvSpPr>
          <p:cNvPr id="5" name="">
            <a:extLst xmlns:a="http://schemas.openxmlformats.org/drawingml/2006/main">
              <a:ext uri="{FF2B5EF4-FFF2-40B4-BE49-F238E27FC236}">
                <a16:creationId xmlns:a16="http://schemas.microsoft.com/office/drawing/2014/main" id="{D1A05A91-49CB-4621-ADD1-49F07208D33B}"/>
              </a:ext>
            </a:extLst>
          </p:cNvPr>
          <p:cNvSpPr>
            <a:spLocks xmlns:a="http://schemas.openxmlformats.org/drawingml/2006/main" noGrp="1"/>
          </p:cNvSpPr>
          <p:nvPr/>
        </p:nvSpPr>
        <p:spPr>
          <a:xfrm xmlns:a="http://schemas.openxmlformats.org/drawingml/2006/main">
            <a:off x="609600" y="203835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Roboto"/>
                <a:ea typeface="Roboto"/>
                <a:cs typeface="Roboto"/>
              </a:defRPr>
            </a:pPr>
            <a:r>
              <a:rPr sz="1500" b="0">
                <a:solidFill>
                  <a:srgbClr val="ADB8C5"/>
                </a:solidFill>
                <a:latin typeface="Roboto"/>
                <a:ea typeface="Roboto"/>
                <a:cs typeface="Roboto"/>
              </a:rPr>
              <a:t>Behavior changes with prompts, models or retrieval, even when application code stays the same.</a:t>
            </a:r>
          </a:p>
        </p:txBody>
      </p:sp>
      <p:graphicFrame>
        <p:nvGraphicFramePr>
          <p:cNvPr id="15" name=""/>
          <p:cNvGraphicFramePr/>
          <p:nvPr/>
        </p:nvGraphicFramePr>
        <p:xfrm>
          <a:off xmlns:a="http://schemas.openxmlformats.org/drawingml/2006/main" x="609600" y="2371725"/>
          <a:ext xmlns:a="http://schemas.openxmlformats.org/drawingml/2006/main" cx="10972800" cy="3352800"/>
        </p:xfrm>
        <a:graphic xmlns:a="http://schemas.openxmlformats.org/drawingml/2006/main">
          <a:graphicData uri="http://schemas.openxmlformats.org/drawingml/2006/table">
            <a:tbl>
              <a:tblPr/>
              <a:tblGrid>
                <a:gridCol w="1095375"/>
                <a:gridCol w="2257425"/>
                <a:gridCol w="4762500"/>
                <a:gridCol w="2857500"/>
              </a:tblGrid>
              <a:tr h="381000">
                <a:tc>
                  <a:txBody>
                    <a:bodyPr lIns="171450" tIns="38100" rIns="171450" bIns="38100">
                      <a:noAutofit/>
                    </a:bodyPr>
                    <a:lstStyle/>
                    <a:p>
                      <a:r>
                        <a:rPr sz="1575" b="1">
                          <a:solidFill>
                            <a:srgbClr val="F4F7FA"/>
                          </a:solidFill>
                          <a:latin typeface="Roboto"/>
                          <a:ea typeface="Roboto"/>
                          <a:cs typeface="Roboto"/>
                        </a:rPr>
                        <a:t>GATE</a:t>
                      </a:r>
                    </a:p>
                  </a:txBody>
                  <a:tcPr marL="91440" marR="91440" marT="45720" marB="45720" anchor="ctr">
                    <a:solidFill>
                      <a:srgbClr val="1A2734"/>
                    </a:solidFill>
                  </a:tcPr>
                </a:tc>
                <a:tc>
                  <a:txBody>
                    <a:bodyPr lIns="171450" tIns="38100" rIns="171450" bIns="38100">
                      <a:noAutofit/>
                    </a:bodyPr>
                    <a:lstStyle/>
                    <a:p>
                      <a:r>
                        <a:rPr sz="1575" b="1">
                          <a:solidFill>
                            <a:srgbClr val="F4F7FA"/>
                          </a:solidFill>
                          <a:latin typeface="Roboto"/>
                          <a:ea typeface="Roboto"/>
                          <a:cs typeface="Roboto"/>
                        </a:rPr>
                        <a:t>STILL REQUIRED</a:t>
                      </a:r>
                    </a:p>
                  </a:txBody>
                  <a:tcPr marL="91440" marR="91440" marT="45720" marB="45720" anchor="ctr">
                    <a:solidFill>
                      <a:srgbClr val="1A2734"/>
                    </a:solidFill>
                  </a:tcPr>
                </a:tc>
                <a:tc>
                  <a:txBody>
                    <a:bodyPr lIns="171450" tIns="38100" rIns="171450" bIns="38100">
                      <a:noAutofit/>
                    </a:bodyPr>
                    <a:lstStyle/>
                    <a:p>
                      <a:r>
                        <a:rPr sz="1575" b="1">
                          <a:solidFill>
                            <a:srgbClr val="F4F7FA"/>
                          </a:solidFill>
                          <a:latin typeface="Roboto"/>
                          <a:ea typeface="Roboto"/>
                          <a:cs typeface="Roboto"/>
                        </a:rPr>
                        <a:t>ADDED FOR MODEL BEHAVIOR</a:t>
                      </a:r>
                    </a:p>
                  </a:txBody>
                  <a:tcPr marL="91440" marR="91440" marT="45720" marB="45720" anchor="ctr">
                    <a:solidFill>
                      <a:srgbClr val="1A2734"/>
                    </a:solidFill>
                  </a:tcPr>
                </a:tc>
                <a:tc>
                  <a:txBody>
                    <a:bodyPr lIns="171450" tIns="38100" rIns="171450" bIns="38100">
                      <a:noAutofit/>
                    </a:bodyPr>
                    <a:lstStyle/>
                    <a:p>
                      <a:r>
                        <a:rPr sz="1575" b="1">
                          <a:solidFill>
                            <a:srgbClr val="28C7F7"/>
                          </a:solidFill>
                          <a:latin typeface="Roboto"/>
                          <a:ea typeface="Roboto"/>
                          <a:cs typeface="Roboto"/>
                        </a:rPr>
                        <a:t>DECISION / OWNER</a:t>
                      </a:r>
                    </a:p>
                  </a:txBody>
                  <a:tcPr marL="91440" marR="91440" marT="45720" marB="45720" anchor="ctr">
                    <a:solidFill>
                      <a:srgbClr val="1A2734"/>
                    </a:solidFill>
                  </a:tcPr>
                </a:tc>
              </a:tr>
              <a:tr h="971550">
                <a:tc>
                  <a:txBody>
                    <a:bodyPr lIns="171450" tIns="38100" rIns="171450" bIns="38100">
                      <a:noAutofit/>
                    </a:bodyPr>
                    <a:lstStyle/>
                    <a:p>
                      <a:r>
                        <a:rPr sz="1425" b="1">
                          <a:solidFill>
                            <a:srgbClr val="F4F7FA"/>
                          </a:solidFill>
                          <a:latin typeface="Roboto"/>
                          <a:ea typeface="Roboto"/>
                          <a:cs typeface="Roboto"/>
                        </a:rPr>
                        <a:t>READY</a:t>
                      </a:r>
                    </a:p>
                    <a:p>
                      <a:r>
                        <a:rPr sz="1425" b="1">
                          <a:solidFill>
                            <a:srgbClr val="F4F7FA"/>
                          </a:solidFill>
                          <a:latin typeface="Roboto"/>
                          <a:ea typeface="Roboto"/>
                          <a:cs typeface="Roboto"/>
                        </a:rPr>
                        <a:t>DoR</a:t>
                      </a:r>
                    </a:p>
                  </a:txBody>
                  <a:tcPr marL="91440" marR="91440" marT="45720" marB="45720" anchor="ctr">
                    <a:solidFill>
                      <a:srgbClr val="0B0F14"/>
                    </a:solidFill>
                  </a:tcPr>
                </a:tc>
                <a:tc>
                  <a:txBody>
                    <a:bodyPr lIns="171450" tIns="38100" rIns="171450" bIns="38100">
                      <a:noAutofit/>
                    </a:bodyPr>
                    <a:lstStyle/>
                    <a:p>
                      <a:r>
                        <a:rPr sz="1425" b="0">
                          <a:solidFill>
                            <a:srgbClr val="F4F7FA"/>
                          </a:solidFill>
                          <a:latin typeface="Roboto"/>
                          <a:ea typeface="Roboto"/>
                          <a:cs typeface="Roboto"/>
                        </a:rPr>
                        <a:t>Story + acceptance criteria</a:t>
                      </a:r>
                    </a:p>
                    <a:p>
                      <a:r>
                        <a:rPr sz="1425" b="0">
                          <a:solidFill>
                            <a:srgbClr val="F4F7FA"/>
                          </a:solidFill>
                          <a:latin typeface="Roboto"/>
                          <a:ea typeface="Roboto"/>
                          <a:cs typeface="Roboto"/>
                        </a:rPr>
                        <a:t>Dependencies understood</a:t>
                      </a:r>
                    </a:p>
                  </a:txBody>
                  <a:tcPr marL="91440" marR="91440" marT="45720" marB="45720" anchor="ctr">
                    <a:solidFill>
                      <a:srgbClr val="0B0F14"/>
                    </a:solidFill>
                  </a:tcPr>
                </a:tc>
                <a:tc>
                  <a:txBody>
                    <a:bodyPr lIns="171450" tIns="38100" rIns="171450" bIns="38100">
                      <a:noAutofit/>
                    </a:bodyPr>
                    <a:lstStyle/>
                    <a:p>
                      <a:r>
                        <a:rPr sz="1425" b="0">
                          <a:solidFill>
                            <a:srgbClr val="F4F7FA"/>
                          </a:solidFill>
                          <a:latin typeface="Roboto"/>
                          <a:ea typeface="Roboto"/>
                          <a:cs typeface="Roboto"/>
                        </a:rPr>
                        <a:t>Tolerances + evaluation plan</a:t>
                      </a:r>
                    </a:p>
                    <a:p>
                      <a:r>
                        <a:rPr sz="1425" b="0">
                          <a:solidFill>
                            <a:srgbClr val="F4F7FA"/>
                          </a:solidFill>
                          <a:latin typeface="Roboto"/>
                          <a:ea typeface="Roboto"/>
                          <a:cs typeface="Roboto"/>
                        </a:rPr>
                        <a:t>Complete control design, including people</a:t>
                      </a:r>
                    </a:p>
                    <a:p>
                      <a:r>
                        <a:rPr sz="1425" b="0">
                          <a:solidFill>
                            <a:srgbClr val="F4F7FA"/>
                          </a:solidFill>
                          <a:latin typeface="Roboto"/>
                          <a:ea typeface="Roboto"/>
                          <a:cs typeface="Roboto"/>
                        </a:rPr>
                        <a:t>Owners, authority and fallback</a:t>
                      </a:r>
                    </a:p>
                    <a:p>
                      <a:r>
                        <a:rPr sz="1425" b="0">
                          <a:solidFill>
                            <a:srgbClr val="F4F7FA"/>
                          </a:solidFill>
                          <a:latin typeface="Roboto"/>
                          <a:ea typeface="Roboto"/>
                          <a:cs typeface="Roboto"/>
                        </a:rPr>
                        <a:t>Capacity, quality, cost, latency budgets</a:t>
                      </a:r>
                    </a:p>
                  </a:txBody>
                  <a:tcPr marL="91440" marR="91440" marT="45720" marB="45720" anchor="ctr">
                    <a:solidFill>
                      <a:srgbClr val="0B0F14"/>
                    </a:solidFill>
                  </a:tcPr>
                </a:tc>
                <a:tc>
                  <a:txBody>
                    <a:bodyPr lIns="171450" tIns="38100" rIns="171450" bIns="38100">
                      <a:noAutofit/>
                    </a:bodyPr>
                    <a:lstStyle/>
                    <a:p>
                      <a:r>
                        <a:rPr sz="1425" b="0">
                          <a:solidFill>
                            <a:srgbClr val="28C7F7"/>
                          </a:solidFill>
                          <a:latin typeface="Roboto"/>
                          <a:ea typeface="Roboto"/>
                          <a:cs typeface="Roboto"/>
                        </a:rPr>
                        <a:t>Product / BA + Architect</a:t>
                      </a:r>
                    </a:p>
                    <a:p>
                      <a:r>
                        <a:rPr sz="1425" b="0">
                          <a:solidFill>
                            <a:srgbClr val="28C7F7"/>
                          </a:solidFill>
                          <a:latin typeface="Roboto"/>
                          <a:ea typeface="Roboto"/>
                          <a:cs typeface="Roboto"/>
                        </a:rPr>
                        <a:t>PM resolves dependencies</a:t>
                      </a:r>
                    </a:p>
                  </a:txBody>
                  <a:tcPr marL="91440" marR="91440" marT="45720" marB="45720" anchor="ctr">
                    <a:solidFill>
                      <a:srgbClr val="0B0F14"/>
                    </a:solidFill>
                  </a:tcPr>
                </a:tc>
              </a:tr>
              <a:tr h="971550">
                <a:tc>
                  <a:txBody>
                    <a:bodyPr lIns="171450" tIns="38100" rIns="171450" bIns="38100">
                      <a:noAutofit/>
                    </a:bodyPr>
                    <a:lstStyle/>
                    <a:p>
                      <a:r>
                        <a:rPr sz="1425" b="1">
                          <a:solidFill>
                            <a:srgbClr val="F4F7FA"/>
                          </a:solidFill>
                          <a:latin typeface="Roboto"/>
                          <a:ea typeface="Roboto"/>
                          <a:cs typeface="Roboto"/>
                        </a:rPr>
                        <a:t>DONE</a:t>
                      </a:r>
                    </a:p>
                    <a:p>
                      <a:r>
                        <a:rPr sz="1425" b="1">
                          <a:solidFill>
                            <a:srgbClr val="F4F7FA"/>
                          </a:solidFill>
                          <a:latin typeface="Roboto"/>
                          <a:ea typeface="Roboto"/>
                          <a:cs typeface="Roboto"/>
                        </a:rPr>
                        <a:t>DoD</a:t>
                      </a:r>
                    </a:p>
                  </a:txBody>
                  <a:tcPr marL="91440" marR="91440" marT="45720" marB="45720" anchor="ctr">
                    <a:solidFill>
                      <a:srgbClr val="0B0F14"/>
                    </a:solidFill>
                  </a:tcPr>
                </a:tc>
                <a:tc>
                  <a:txBody>
                    <a:bodyPr lIns="171450" tIns="38100" rIns="171450" bIns="38100">
                      <a:noAutofit/>
                    </a:bodyPr>
                    <a:lstStyle/>
                    <a:p>
                      <a:r>
                        <a:rPr sz="1425" b="0">
                          <a:solidFill>
                            <a:srgbClr val="F4F7FA"/>
                          </a:solidFill>
                          <a:latin typeface="Roboto"/>
                          <a:ea typeface="Roboto"/>
                          <a:cs typeface="Roboto"/>
                        </a:rPr>
                        <a:t>Code review + tests</a:t>
                      </a:r>
                    </a:p>
                    <a:p>
                      <a:r>
                        <a:rPr sz="1425" b="0">
                          <a:solidFill>
                            <a:srgbClr val="F4F7FA"/>
                          </a:solidFill>
                          <a:latin typeface="Roboto"/>
                          <a:ea typeface="Roboto"/>
                          <a:cs typeface="Roboto"/>
                        </a:rPr>
                        <a:t>Acceptance verified</a:t>
                      </a:r>
                    </a:p>
                  </a:txBody>
                  <a:tcPr marL="91440" marR="91440" marT="45720" marB="45720" anchor="ctr">
                    <a:solidFill>
                      <a:srgbClr val="0B0F14"/>
                    </a:solidFill>
                  </a:tcPr>
                </a:tc>
                <a:tc>
                  <a:txBody>
                    <a:bodyPr lIns="171450" tIns="38100" rIns="171450" bIns="38100">
                      <a:noAutofit/>
                    </a:bodyPr>
                    <a:lstStyle/>
                    <a:p>
                      <a:r>
                        <a:rPr sz="1425" b="0">
                          <a:solidFill>
                            <a:srgbClr val="F4F7FA"/>
                          </a:solidFill>
                          <a:latin typeface="Roboto"/>
                          <a:ea typeface="Roboto"/>
                          <a:cs typeface="Roboto"/>
                        </a:rPr>
                        <a:t>Versioned model / prompt / data</a:t>
                      </a:r>
                    </a:p>
                    <a:p>
                      <a:r>
                        <a:rPr sz="1425" b="0">
                          <a:solidFill>
                            <a:srgbClr val="F4F7FA"/>
                          </a:solidFill>
                          <a:latin typeface="Roboto"/>
                          <a:ea typeface="Roboto"/>
                          <a:cs typeface="Roboto"/>
                        </a:rPr>
                        <a:t>Calibrated evals + coverage limits</a:t>
                      </a:r>
                    </a:p>
                    <a:p>
                      <a:r>
                        <a:rPr sz="1425" b="0">
                          <a:solidFill>
                            <a:srgbClr val="F4F7FA"/>
                          </a:solidFill>
                          <a:latin typeface="Roboto"/>
                          <a:ea typeface="Roboto"/>
                          <a:cs typeface="Roboto"/>
                        </a:rPr>
                        <a:t>Working controls + human rehearsal</a:t>
                      </a:r>
                    </a:p>
                    <a:p>
                      <a:r>
                        <a:rPr sz="1425" b="0">
                          <a:solidFill>
                            <a:srgbClr val="F4F7FA"/>
                          </a:solidFill>
                          <a:latin typeface="Roboto"/>
                          <a:ea typeface="Roboto"/>
                          <a:cs typeface="Roboto"/>
                        </a:rPr>
                        <a:t>Recovery, bypass and failure evidence</a:t>
                      </a:r>
                    </a:p>
                  </a:txBody>
                  <a:tcPr marL="91440" marR="91440" marT="45720" marB="45720" anchor="ctr">
                    <a:solidFill>
                      <a:srgbClr val="0B0F14"/>
                    </a:solidFill>
                  </a:tcPr>
                </a:tc>
                <a:tc>
                  <a:txBody>
                    <a:bodyPr lIns="171450" tIns="38100" rIns="171450" bIns="38100">
                      <a:noAutofit/>
                    </a:bodyPr>
                    <a:lstStyle/>
                    <a:p>
                      <a:r>
                        <a:rPr sz="1425" b="0">
                          <a:solidFill>
                            <a:srgbClr val="28C7F7"/>
                          </a:solidFill>
                          <a:latin typeface="Roboto"/>
                          <a:ea typeface="Roboto"/>
                          <a:cs typeface="Roboto"/>
                        </a:rPr>
                        <a:t>Developer + QA verify</a:t>
                      </a:r>
                    </a:p>
                    <a:p>
                      <a:r>
                        <a:rPr sz="1425" b="0">
                          <a:solidFill>
                            <a:srgbClr val="28C7F7"/>
                          </a:solidFill>
                          <a:latin typeface="Roboto"/>
                          <a:ea typeface="Roboto"/>
                          <a:cs typeface="Roboto"/>
                        </a:rPr>
                        <a:t>Done does not authorize release</a:t>
                      </a:r>
                    </a:p>
                  </a:txBody>
                  <a:tcPr marL="91440" marR="91440" marT="45720" marB="45720" anchor="ctr">
                    <a:solidFill>
                      <a:srgbClr val="0B0F14"/>
                    </a:solidFill>
                  </a:tcPr>
                </a:tc>
              </a:tr>
              <a:tr h="1028700">
                <a:tc>
                  <a:txBody>
                    <a:bodyPr lIns="171450" tIns="38100" rIns="171450" bIns="38100">
                      <a:noAutofit/>
                    </a:bodyPr>
                    <a:lstStyle/>
                    <a:p>
                      <a:r>
                        <a:rPr sz="1425" b="1">
                          <a:solidFill>
                            <a:srgbClr val="F4F7FA"/>
                          </a:solidFill>
                          <a:latin typeface="Roboto"/>
                          <a:ea typeface="Roboto"/>
                          <a:cs typeface="Roboto"/>
                        </a:rPr>
                        <a:t>RELEASE</a:t>
                      </a:r>
                    </a:p>
                    <a:p>
                      <a:r>
                        <a:rPr sz="1425" b="1">
                          <a:solidFill>
                            <a:srgbClr val="F4F7FA"/>
                          </a:solidFill>
                          <a:latin typeface="Roboto"/>
                          <a:ea typeface="Roboto"/>
                          <a:cs typeface="Roboto"/>
                        </a:rPr>
                        <a:t>OPERATE</a:t>
                      </a:r>
                    </a:p>
                  </a:txBody>
                  <a:tcPr marL="91440" marR="91440" marT="45720" marB="45720" anchor="ctr">
                    <a:solidFill>
                      <a:srgbClr val="0B0F14"/>
                    </a:solidFill>
                  </a:tcPr>
                </a:tc>
                <a:tc>
                  <a:txBody>
                    <a:bodyPr lIns="171450" tIns="38100" rIns="171450" bIns="38100">
                      <a:noAutofit/>
                    </a:bodyPr>
                    <a:lstStyle/>
                    <a:p>
                      <a:r>
                        <a:rPr sz="1425" b="0">
                          <a:solidFill>
                            <a:srgbClr val="F4F7FA"/>
                          </a:solidFill>
                          <a:latin typeface="Roboto"/>
                          <a:ea typeface="Roboto"/>
                          <a:cs typeface="Roboto"/>
                        </a:rPr>
                        <a:t>Release approval</a:t>
                      </a:r>
                    </a:p>
                    <a:p>
                      <a:r>
                        <a:rPr sz="1425" b="0">
                          <a:solidFill>
                            <a:srgbClr val="F4F7FA"/>
                          </a:solidFill>
                          <a:latin typeface="Roboto"/>
                          <a:ea typeface="Roboto"/>
                          <a:cs typeface="Roboto"/>
                        </a:rPr>
                        <a:t>Deployment + operations</a:t>
                      </a:r>
                    </a:p>
                  </a:txBody>
                  <a:tcPr marL="91440" marR="91440" marT="45720" marB="45720" anchor="ctr">
                    <a:solidFill>
                      <a:srgbClr val="0B0F14"/>
                    </a:solidFill>
                  </a:tcPr>
                </a:tc>
                <a:tc>
                  <a:txBody>
                    <a:bodyPr lIns="171450" tIns="38100" rIns="171450" bIns="38100">
                      <a:noAutofit/>
                    </a:bodyPr>
                    <a:lstStyle/>
                    <a:p>
                      <a:r>
                        <a:rPr sz="1425" b="0">
                          <a:solidFill>
                            <a:srgbClr val="F4F7FA"/>
                          </a:solidFill>
                          <a:latin typeface="Roboto"/>
                          <a:ea typeface="Roboto"/>
                          <a:cs typeface="Roboto"/>
                        </a:rPr>
                        <a:t>Scoped approval + live monitoring</a:t>
                      </a:r>
                    </a:p>
                    <a:p>
                      <a:r>
                        <a:rPr sz="1425" b="0">
                          <a:solidFill>
                            <a:srgbClr val="F4F7FA"/>
                          </a:solidFill>
                          <a:latin typeface="Roboto"/>
                          <a:ea typeface="Roboto"/>
                          <a:cs typeface="Roboto"/>
                        </a:rPr>
                        <a:t>Ready responders + stop triggers</a:t>
                      </a:r>
                    </a:p>
                    <a:p>
                      <a:r>
                        <a:rPr sz="1425" b="0">
                          <a:solidFill>
                            <a:srgbClr val="F4F7FA"/>
                          </a:solidFill>
                          <a:latin typeface="Roboto"/>
                          <a:ea typeface="Roboto"/>
                          <a:cs typeface="Roboto"/>
                        </a:rPr>
                        <a:t>Production incidents revise regression,</a:t>
                      </a:r>
                    </a:p>
                    <a:p>
                      <a:r>
                        <a:rPr sz="1425" b="0">
                          <a:solidFill>
                            <a:srgbClr val="F4F7FA"/>
                          </a:solidFill>
                          <a:latin typeface="Roboto"/>
                          <a:ea typeface="Roboto"/>
                          <a:cs typeface="Roboto"/>
                        </a:rPr>
                        <a:t>Eval Gates and monitoring rules</a:t>
                      </a:r>
                    </a:p>
                  </a:txBody>
                  <a:tcPr marL="91440" marR="91440" marT="45720" marB="45720" anchor="ctr">
                    <a:solidFill>
                      <a:srgbClr val="0B0F14"/>
                    </a:solidFill>
                  </a:tcPr>
                </a:tc>
                <a:tc>
                  <a:txBody>
                    <a:bodyPr lIns="171450" tIns="38100" rIns="171450" bIns="38100">
                      <a:noAutofit/>
                    </a:bodyPr>
                    <a:lstStyle/>
                    <a:p>
                      <a:r>
                        <a:rPr sz="1425" b="0">
                          <a:solidFill>
                            <a:srgbClr val="28C7F7"/>
                          </a:solidFill>
                          <a:latin typeface="Roboto"/>
                          <a:ea typeface="Roboto"/>
                          <a:cs typeface="Roboto"/>
                        </a:rPr>
                        <a:t>Authorized owner accepts scope</a:t>
                      </a:r>
                    </a:p>
                    <a:p>
                      <a:r>
                        <a:rPr sz="1425" b="0">
                          <a:solidFill>
                            <a:srgbClr val="28C7F7"/>
                          </a:solidFill>
                          <a:latin typeface="Roboto"/>
                          <a:ea typeface="Roboto"/>
                          <a:cs typeface="Roboto"/>
                        </a:rPr>
                        <a:t>Or narrows, defers, rejects</a:t>
                      </a:r>
                    </a:p>
                  </a:txBody>
                  <a:tcPr marL="91440" marR="91440" marT="45720" marB="45720" anchor="ctr">
                    <a:solidFill>
                      <a:srgbClr val="0B0F14"/>
                    </a:solidFill>
                  </a:tcPr>
                </a:tc>
              </a:tr>
            </a:tbl>
          </a:graphicData>
        </a:graphic>
      </p:graphicFrame>
      <p:sp>
        <p:nvSpPr>
          <p:cNvPr id="7" name="">
            <a:extLst xmlns:a="http://schemas.openxmlformats.org/drawingml/2006/main">
              <a:ext uri="{FF2B5EF4-FFF2-40B4-BE49-F238E27FC236}">
                <a16:creationId xmlns:a16="http://schemas.microsoft.com/office/drawing/2014/main" id="{A787B11E-F60C-4F5A-A930-DDC7E4D1DB3A}"/>
              </a:ext>
            </a:extLst>
          </p:cNvPr>
          <p:cNvSpPr>
            <a:spLocks xmlns:a="http://schemas.openxmlformats.org/drawingml/2006/main" noGrp="1"/>
          </p:cNvSpPr>
          <p:nvPr/>
        </p:nvSpPr>
        <p:spPr>
          <a:xfrm xmlns:a="http://schemas.openxmlformats.org/drawingml/2006/main">
            <a:off x="609600" y="58007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F5B61C"/>
                </a:solidFill>
                <a:latin typeface="Roboto"/>
                <a:ea typeface="Roboto"/>
                <a:cs typeface="Roboto"/>
              </a:defRPr>
            </a:pPr>
            <a:r>
              <a:rPr sz="1575" b="0">
                <a:solidFill>
                  <a:srgbClr val="F5B61C"/>
                </a:solidFill>
                <a:latin typeface="Roboto"/>
                <a:ea typeface="Roboto"/>
                <a:cs typeface="Roboto"/>
              </a:rPr>
              <a:t>Valid JSON can still contain an incorrect instruction.</a:t>
            </a:r>
          </a:p>
        </p:txBody>
      </p:sp>
      <p:sp>
        <p:nvSpPr>
          <p:cNvPr id="8" name="">
            <a:extLst xmlns:a="http://schemas.openxmlformats.org/drawingml/2006/main">
              <a:ext uri="{FF2B5EF4-FFF2-40B4-BE49-F238E27FC236}">
                <a16:creationId xmlns:a16="http://schemas.microsoft.com/office/drawing/2014/main" id="{BE56AA0C-0139-4855-824B-E02C5C62ADC8}"/>
              </a:ext>
            </a:extLst>
          </p:cNvPr>
          <p:cNvSpPr>
            <a:spLocks xmlns:a="http://schemas.openxmlformats.org/drawingml/2006/main" noGrp="1"/>
          </p:cNvSpPr>
          <p:nvPr/>
        </p:nvSpPr>
        <p:spPr>
          <a:xfrm xmlns:a="http://schemas.openxmlformats.org/drawingml/2006/main">
            <a:off x="609600" y="609600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Roboto"/>
                <a:ea typeface="Roboto"/>
                <a:cs typeface="Roboto"/>
              </a:defRPr>
            </a:pPr>
            <a:r>
              <a:rPr sz="1500" b="0">
                <a:solidFill>
                  <a:srgbClr val="ADB8C5"/>
                </a:solidFill>
                <a:latin typeface="Roboto"/>
                <a:ea typeface="Roboto"/>
                <a:cs typeface="Roboto"/>
              </a:rPr>
              <a:t>IT assistant: approved sources → traceable build → restricted rollout + manual fallback.</a:t>
            </a:r>
          </a:p>
        </p:txBody>
      </p:sp>
      <p:sp>
        <p:nvSpPr>
          <p:cNvPr id="9" name="">
            <a:extLst xmlns:a="http://schemas.openxmlformats.org/drawingml/2006/main">
              <a:ext uri="{FF2B5EF4-FFF2-40B4-BE49-F238E27FC236}">
                <a16:creationId xmlns:a16="http://schemas.microsoft.com/office/drawing/2014/main" id="{25776134-DF88-4780-B570-A3C6249F8681}"/>
              </a:ext>
            </a:extLst>
          </p:cNvPr>
          <p:cNvSpPr>
            <a:spLocks xmlns:a="http://schemas.openxmlformats.org/drawingml/2006/main" noGrp="1"/>
          </p:cNvSpPr>
          <p:nvPr/>
        </p:nvSpPr>
        <p:spPr>
          <a:xfrm xmlns:a="http://schemas.openxmlformats.org/drawingml/2006/main">
            <a:off x="609600" y="6429375"/>
            <a:ext cx="106489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1">
                <a:solidFill>
                  <a:srgbClr val="F4F7FA"/>
                </a:solidFill>
                <a:latin typeface="Roboto"/>
                <a:ea typeface="Roboto"/>
                <a:cs typeface="Roboto"/>
              </a:defRPr>
            </a:pPr>
            <a:r>
              <a:rPr sz="1875" b="1">
                <a:solidFill>
                  <a:srgbClr val="F4F7FA"/>
                </a:solidFill>
                <a:latin typeface="Roboto"/>
                <a:ea typeface="Roboto"/>
                <a:cs typeface="Roboto"/>
              </a:rPr>
              <a:t>“Done” is an evidence package. Release is a separate, scoped decision.</a:t>
            </a:r>
          </a:p>
        </p:txBody>
      </p:sp>
    </p:spTree>
    <p:extLst>
      <p:ext uri="{BB962C8B-B14F-4D97-AF65-F5344CB8AC3E}">
        <p14:creationId xmlns:p14="http://schemas.microsoft.com/office/powerpoint/2010/main" val="311805391"/>
      </p:ext>
    </p:extLst>
  </p:cSld>
</p:sld>
</file>

<file path=ppt/slides/slide12.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40" name="">
            <a:extLst xmlns:a="http://schemas.openxmlformats.org/drawingml/2006/main">
              <a:ext uri="{FF2B5EF4-FFF2-40B4-BE49-F238E27FC236}">
                <a16:creationId xmlns:a16="http://schemas.microsoft.com/office/drawing/2014/main" id="{E335080D-25E3-4D67-B5B0-78D2F3A17BAF}"/>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Roboto"/>
                <a:ea typeface="Roboto"/>
                <a:cs typeface="Roboto"/>
              </a:defRPr>
            </a:pPr>
            <a:r>
              <a:rPr sz="3000" b="1">
                <a:solidFill>
                  <a:srgbClr val="F4F7FA"/>
                </a:solidFill>
                <a:latin typeface="Roboto"/>
                <a:ea typeface="Roboto"/>
                <a:cs typeface="Roboto"/>
              </a:rPr>
              <a:t>Production Needs a Control Loop</a:t>
            </a:r>
          </a:p>
        </p:txBody>
      </p:sp>
      <p:sp>
        <p:nvSpPr>
          <p:cNvPr id="2" name="">
            <a:extLst xmlns:a="http://schemas.openxmlformats.org/drawingml/2006/main">
              <a:ext uri="{FF2B5EF4-FFF2-40B4-BE49-F238E27FC236}">
                <a16:creationId xmlns:a16="http://schemas.microsoft.com/office/drawing/2014/main" id="{23CDFD9F-EFD7-41CA-8FEE-B039C7E404C9}"/>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8D93AD9B-BB59-40B6-871B-203CB4C83C7F}"/>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Roboto"/>
                <a:ea typeface="Roboto"/>
                <a:cs typeface="Roboto"/>
              </a:defRPr>
            </a:pPr>
            <a:r>
              <a:rPr sz="1200" b="0">
                <a:solidFill>
                  <a:srgbClr val="ADB8C5"/>
                </a:solidFill>
                <a:latin typeface="Roboto"/>
                <a:ea typeface="Roboto"/>
                <a:cs typeface="Roboto"/>
              </a:rPr>
              <a:t>12</a:t>
            </a:r>
          </a:p>
        </p:txBody>
      </p:sp>
      <p:sp>
        <p:nvSpPr>
          <p:cNvPr id="4" name="">
            <a:extLst xmlns:a="http://schemas.openxmlformats.org/drawingml/2006/main">
              <a:ext uri="{FF2B5EF4-FFF2-40B4-BE49-F238E27FC236}">
                <a16:creationId xmlns:a16="http://schemas.microsoft.com/office/drawing/2014/main" id="{246A9AE1-A3F2-4DB1-9D36-588214A77EC5}"/>
              </a:ext>
            </a:extLst>
          </p:cNvPr>
          <p:cNvSpPr>
            <a:spLocks xmlns:a="http://schemas.openxmlformats.org/drawingml/2006/main" noGrp="1"/>
          </p:cNvSpPr>
          <p:nvPr/>
        </p:nvSpPr>
        <p:spPr>
          <a:xfrm xmlns:a="http://schemas.openxmlformats.org/drawingml/2006/main">
            <a:off x="609600" y="16764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28C7F7"/>
                </a:solidFill>
                <a:latin typeface="Roboto"/>
                <a:ea typeface="Roboto"/>
                <a:cs typeface="Roboto"/>
              </a:defRPr>
            </a:pPr>
            <a:r>
              <a:rPr sz="1650" b="1">
                <a:solidFill>
                  <a:srgbClr val="28C7F7"/>
                </a:solidFill>
                <a:latin typeface="Roboto"/>
                <a:ea typeface="Roboto"/>
                <a:cs typeface="Roboto"/>
              </a:rPr>
              <a:t>ARCHITECT · make boundaries and corrective actions operational</a:t>
            </a:r>
          </a:p>
        </p:txBody>
      </p:sp>
      <p:sp>
        <p:nvSpPr>
          <p:cNvPr id="5" name="">
            <a:extLst xmlns:a="http://schemas.openxmlformats.org/drawingml/2006/main">
              <a:ext uri="{FF2B5EF4-FFF2-40B4-BE49-F238E27FC236}">
                <a16:creationId xmlns:a16="http://schemas.microsoft.com/office/drawing/2014/main" id="{3EAAEC4B-A86A-4862-BBA6-2EAC4C9DFCC3}"/>
              </a:ext>
            </a:extLst>
          </p:cNvPr>
          <p:cNvSpPr>
            <a:spLocks xmlns:a="http://schemas.openxmlformats.org/drawingml/2006/main" noGrp="1"/>
          </p:cNvSpPr>
          <p:nvPr/>
        </p:nvSpPr>
        <p:spPr>
          <a:xfrm xmlns:a="http://schemas.openxmlformats.org/drawingml/2006/main">
            <a:off x="609600" y="20574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Roboto"/>
                <a:ea typeface="Roboto"/>
                <a:cs typeface="Roboto"/>
              </a:defRPr>
            </a:pPr>
            <a:r>
              <a:rPr sz="1500" b="0">
                <a:solidFill>
                  <a:srgbClr val="ADB8C5"/>
                </a:solidFill>
                <a:latin typeface="Roboto"/>
                <a:ea typeface="Roboto"/>
                <a:cs typeface="Roboto"/>
              </a:rPr>
              <a:t>Allowlist + required approval; deny when the gate is unavailable.</a:t>
            </a:r>
          </a:p>
        </p:txBody>
      </p:sp>
      <p:sp>
        <p:nvSpPr>
          <p:cNvPr id="6" name="">
            <a:extLst xmlns:a="http://schemas.openxmlformats.org/drawingml/2006/main">
              <a:ext uri="{FF2B5EF4-FFF2-40B4-BE49-F238E27FC236}">
                <a16:creationId xmlns:a16="http://schemas.microsoft.com/office/drawing/2014/main" id="{536C00F0-7CFA-4BD5-AB0F-338C1F20989C}"/>
              </a:ext>
            </a:extLst>
          </p:cNvPr>
          <p:cNvSpPr>
            <a:spLocks xmlns:a="http://schemas.openxmlformats.org/drawingml/2006/main" noGrp="1"/>
          </p:cNvSpPr>
          <p:nvPr/>
        </p:nvSpPr>
        <p:spPr>
          <a:xfrm xmlns:a="http://schemas.openxmlformats.org/drawingml/2006/main">
            <a:off x="609600" y="2457450"/>
            <a:ext cx="2400300" cy="68580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7" name="">
            <a:extLst xmlns:a="http://schemas.openxmlformats.org/drawingml/2006/main">
              <a:ext uri="{FF2B5EF4-FFF2-40B4-BE49-F238E27FC236}">
                <a16:creationId xmlns:a16="http://schemas.microsoft.com/office/drawing/2014/main" id="{974F3F83-C33A-47C3-AD1B-49C11B6714F1}"/>
              </a:ext>
            </a:extLst>
          </p:cNvPr>
          <p:cNvSpPr>
            <a:spLocks xmlns:a="http://schemas.openxmlformats.org/drawingml/2006/main" noGrp="1"/>
          </p:cNvSpPr>
          <p:nvPr/>
        </p:nvSpPr>
        <p:spPr>
          <a:xfrm xmlns:a="http://schemas.openxmlformats.org/drawingml/2006/main">
            <a:off x="723900" y="2533650"/>
            <a:ext cx="21717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00" b="1">
                <a:solidFill>
                  <a:srgbClr val="F4F7FA"/>
                </a:solidFill>
                <a:latin typeface="Roboto"/>
                <a:ea typeface="Roboto"/>
                <a:cs typeface="Roboto"/>
              </a:defRPr>
            </a:pPr>
            <a:r>
              <a:rPr sz="1800" b="1">
                <a:solidFill>
                  <a:srgbClr val="F4F7FA"/>
                </a:solidFill>
                <a:latin typeface="Roboto"/>
                <a:ea typeface="Roboto"/>
                <a:cs typeface="Roboto"/>
              </a:rPr>
              <a:t>Approved context</a:t>
            </a:r>
          </a:p>
        </p:txBody>
      </p:sp>
      <p:sp>
        <p:nvSpPr>
          <p:cNvPr id="8" name="">
            <a:extLst xmlns:a="http://schemas.openxmlformats.org/drawingml/2006/main">
              <a:ext uri="{FF2B5EF4-FFF2-40B4-BE49-F238E27FC236}">
                <a16:creationId xmlns:a16="http://schemas.microsoft.com/office/drawing/2014/main" id="{417593DC-8D6C-4F23-BC81-4D592F3CA4AD}"/>
              </a:ext>
            </a:extLst>
          </p:cNvPr>
          <p:cNvSpPr>
            <a:spLocks xmlns:a="http://schemas.openxmlformats.org/drawingml/2006/main" noGrp="1"/>
          </p:cNvSpPr>
          <p:nvPr/>
        </p:nvSpPr>
        <p:spPr>
          <a:xfrm xmlns:a="http://schemas.openxmlformats.org/drawingml/2006/main">
            <a:off x="3467100" y="2457450"/>
            <a:ext cx="2400300" cy="68580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9" name="">
            <a:extLst xmlns:a="http://schemas.openxmlformats.org/drawingml/2006/main">
              <a:ext uri="{FF2B5EF4-FFF2-40B4-BE49-F238E27FC236}">
                <a16:creationId xmlns:a16="http://schemas.microsoft.com/office/drawing/2014/main" id="{AE99670C-9E51-42A4-B7E8-A93E88D95BD2}"/>
              </a:ext>
            </a:extLst>
          </p:cNvPr>
          <p:cNvSpPr>
            <a:spLocks xmlns:a="http://schemas.openxmlformats.org/drawingml/2006/main" noGrp="1"/>
          </p:cNvSpPr>
          <p:nvPr/>
        </p:nvSpPr>
        <p:spPr>
          <a:xfrm xmlns:a="http://schemas.openxmlformats.org/drawingml/2006/main">
            <a:off x="3581400" y="2533650"/>
            <a:ext cx="21717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00" b="1">
                <a:solidFill>
                  <a:srgbClr val="F4F7FA"/>
                </a:solidFill>
                <a:latin typeface="Roboto"/>
                <a:ea typeface="Roboto"/>
                <a:cs typeface="Roboto"/>
              </a:defRPr>
            </a:pPr>
            <a:r>
              <a:rPr sz="1800" b="1">
                <a:solidFill>
                  <a:srgbClr val="F4F7FA"/>
                </a:solidFill>
                <a:latin typeface="Roboto"/>
                <a:ea typeface="Roboto"/>
                <a:cs typeface="Roboto"/>
              </a:rPr>
              <a:t>Model proposal</a:t>
            </a:r>
          </a:p>
        </p:txBody>
      </p:sp>
      <p:sp>
        <p:nvSpPr>
          <p:cNvPr id="10" name="">
            <a:extLst xmlns:a="http://schemas.openxmlformats.org/drawingml/2006/main">
              <a:ext uri="{FF2B5EF4-FFF2-40B4-BE49-F238E27FC236}">
                <a16:creationId xmlns:a16="http://schemas.microsoft.com/office/drawing/2014/main" id="{9AB9283F-B40B-4F97-8103-CE2E2D9C5D68}"/>
              </a:ext>
            </a:extLst>
          </p:cNvPr>
          <p:cNvSpPr>
            <a:spLocks xmlns:a="http://schemas.openxmlformats.org/drawingml/2006/main" noGrp="1"/>
          </p:cNvSpPr>
          <p:nvPr/>
        </p:nvSpPr>
        <p:spPr>
          <a:xfrm xmlns:a="http://schemas.openxmlformats.org/drawingml/2006/main">
            <a:off x="6324600" y="2457450"/>
            <a:ext cx="2400300" cy="685800"/>
          </a:xfrm>
          <a:prstGeom xmlns:a="http://schemas.openxmlformats.org/drawingml/2006/main" prst="rect">
            <a:avLst/>
          </a:prstGeom>
          <a:solidFill xmlns:a="http://schemas.openxmlformats.org/drawingml/2006/main">
            <a:srgbClr val="141C26"/>
          </a:solidFill>
          <a:ln xmlns:a="http://schemas.openxmlformats.org/drawingml/2006/main" w="14288">
            <a:solidFill>
              <a:srgbClr val="F5B61C"/>
            </a:solidFill>
            <a:prstDash val="solid"/>
          </a:ln>
        </p:spPr>
      </p:sp>
      <p:sp>
        <p:nvSpPr>
          <p:cNvPr id="11" name="">
            <a:extLst xmlns:a="http://schemas.openxmlformats.org/drawingml/2006/main">
              <a:ext uri="{FF2B5EF4-FFF2-40B4-BE49-F238E27FC236}">
                <a16:creationId xmlns:a16="http://schemas.microsoft.com/office/drawing/2014/main" id="{62240DC4-A528-476B-915A-341B4A02B2F6}"/>
              </a:ext>
            </a:extLst>
          </p:cNvPr>
          <p:cNvSpPr>
            <a:spLocks xmlns:a="http://schemas.openxmlformats.org/drawingml/2006/main" noGrp="1"/>
          </p:cNvSpPr>
          <p:nvPr/>
        </p:nvSpPr>
        <p:spPr>
          <a:xfrm xmlns:a="http://schemas.openxmlformats.org/drawingml/2006/main">
            <a:off x="6438900" y="2533650"/>
            <a:ext cx="21717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00" b="1">
                <a:solidFill>
                  <a:srgbClr val="F4F7FA"/>
                </a:solidFill>
                <a:latin typeface="Roboto"/>
                <a:ea typeface="Roboto"/>
                <a:cs typeface="Roboto"/>
              </a:defRPr>
            </a:pPr>
            <a:r>
              <a:rPr sz="1800" b="1">
                <a:solidFill>
                  <a:srgbClr val="F4F7FA"/>
                </a:solidFill>
                <a:latin typeface="Roboto"/>
                <a:ea typeface="Roboto"/>
                <a:cs typeface="Roboto"/>
              </a:rPr>
              <a:t>Permission gate</a:t>
            </a:r>
          </a:p>
        </p:txBody>
      </p:sp>
      <p:sp>
        <p:nvSpPr>
          <p:cNvPr id="12" name="">
            <a:extLst xmlns:a="http://schemas.openxmlformats.org/drawingml/2006/main">
              <a:ext uri="{FF2B5EF4-FFF2-40B4-BE49-F238E27FC236}">
                <a16:creationId xmlns:a16="http://schemas.microsoft.com/office/drawing/2014/main" id="{79BC8BD6-D429-4D83-B1C4-DE0AA0251F08}"/>
              </a:ext>
            </a:extLst>
          </p:cNvPr>
          <p:cNvSpPr>
            <a:spLocks xmlns:a="http://schemas.openxmlformats.org/drawingml/2006/main" noGrp="1"/>
          </p:cNvSpPr>
          <p:nvPr/>
        </p:nvSpPr>
        <p:spPr>
          <a:xfrm xmlns:a="http://schemas.openxmlformats.org/drawingml/2006/main">
            <a:off x="9182100" y="2457450"/>
            <a:ext cx="2400300" cy="68580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13" name="">
            <a:extLst xmlns:a="http://schemas.openxmlformats.org/drawingml/2006/main">
              <a:ext uri="{FF2B5EF4-FFF2-40B4-BE49-F238E27FC236}">
                <a16:creationId xmlns:a16="http://schemas.microsoft.com/office/drawing/2014/main" id="{44FF8419-4041-4069-8CF3-DC40E1D43F04}"/>
              </a:ext>
            </a:extLst>
          </p:cNvPr>
          <p:cNvSpPr>
            <a:spLocks xmlns:a="http://schemas.openxmlformats.org/drawingml/2006/main" noGrp="1"/>
          </p:cNvSpPr>
          <p:nvPr/>
        </p:nvSpPr>
        <p:spPr>
          <a:xfrm xmlns:a="http://schemas.openxmlformats.org/drawingml/2006/main">
            <a:off x="9296400" y="2533650"/>
            <a:ext cx="21717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00" b="1">
                <a:solidFill>
                  <a:srgbClr val="F4F7FA"/>
                </a:solidFill>
                <a:latin typeface="Roboto"/>
                <a:ea typeface="Roboto"/>
                <a:cs typeface="Roboto"/>
              </a:defRPr>
            </a:pPr>
            <a:r>
              <a:rPr sz="1800" b="1">
                <a:solidFill>
                  <a:srgbClr val="F4F7FA"/>
                </a:solidFill>
                <a:latin typeface="Roboto"/>
                <a:ea typeface="Roboto"/>
                <a:cs typeface="Roboto"/>
              </a:rPr>
              <a:t>Support tool</a:t>
            </a:r>
          </a:p>
        </p:txBody>
      </p:sp>
      <p:cxnSp>
        <p:nvCxnSpPr>
          <p:cNvPr id="53" name=""/>
          <p:cNvCxnSpPr>
            <a:stCxn xmlns:a="http://schemas.openxmlformats.org/drawingml/2006/main" id="6" idx="3"/>
            <a:endCxn xmlns:a="http://schemas.openxmlformats.org/drawingml/2006/main" id="8" idx="1"/>
          </p:cNvCxnSpPr>
          <p:nvPr/>
        </p:nvCxnSpPr>
        <p:spPr>
          <a:xfrm xmlns:a="http://schemas.openxmlformats.org/drawingml/2006/main">
            <a:off x="3009900" y="2800350"/>
            <a:ext cx="457200" cy="0"/>
          </a:xfrm>
          <a:prstGeom xmlns:a="http://schemas.openxmlformats.org/drawingml/2006/main" prst="straightConnector1">
            <a:avLst/>
          </a:prstGeom>
          <a:ln xmlns:a="http://schemas.openxmlformats.org/drawingml/2006/main" w="21908">
            <a:solidFill>
              <a:srgbClr val="ADB8C5"/>
            </a:solidFill>
            <a:prstDash val="solid"/>
            <a:tailEnd type="triangle" w="med" len="med"/>
          </a:ln>
        </p:spPr>
      </p:cxnSp>
      <p:cxnSp>
        <p:nvCxnSpPr>
          <p:cNvPr id="54" name=""/>
          <p:cNvCxnSpPr>
            <a:stCxn xmlns:a="http://schemas.openxmlformats.org/drawingml/2006/main" id="8" idx="3"/>
            <a:endCxn xmlns:a="http://schemas.openxmlformats.org/drawingml/2006/main" id="10" idx="1"/>
          </p:cNvCxnSpPr>
          <p:nvPr/>
        </p:nvCxnSpPr>
        <p:spPr>
          <a:xfrm xmlns:a="http://schemas.openxmlformats.org/drawingml/2006/main">
            <a:off x="5867400" y="2800350"/>
            <a:ext cx="457200" cy="0"/>
          </a:xfrm>
          <a:prstGeom xmlns:a="http://schemas.openxmlformats.org/drawingml/2006/main" prst="straightConnector1">
            <a:avLst/>
          </a:prstGeom>
          <a:ln xmlns:a="http://schemas.openxmlformats.org/drawingml/2006/main" w="21908">
            <a:solidFill>
              <a:srgbClr val="ADB8C5"/>
            </a:solidFill>
            <a:prstDash val="solid"/>
            <a:tailEnd type="triangle" w="med" len="med"/>
          </a:ln>
        </p:spPr>
      </p:cxnSp>
      <p:cxnSp>
        <p:nvCxnSpPr>
          <p:cNvPr id="55" name=""/>
          <p:cNvCxnSpPr>
            <a:stCxn xmlns:a="http://schemas.openxmlformats.org/drawingml/2006/main" id="10" idx="3"/>
            <a:endCxn xmlns:a="http://schemas.openxmlformats.org/drawingml/2006/main" id="12" idx="1"/>
          </p:cNvCxnSpPr>
          <p:nvPr/>
        </p:nvCxnSpPr>
        <p:spPr>
          <a:xfrm xmlns:a="http://schemas.openxmlformats.org/drawingml/2006/main">
            <a:off x="8724900" y="2800350"/>
            <a:ext cx="457200" cy="0"/>
          </a:xfrm>
          <a:prstGeom xmlns:a="http://schemas.openxmlformats.org/drawingml/2006/main" prst="straightConnector1">
            <a:avLst/>
          </a:prstGeom>
          <a:ln xmlns:a="http://schemas.openxmlformats.org/drawingml/2006/main" w="21908">
            <a:solidFill>
              <a:srgbClr val="ADB8C5"/>
            </a:solidFill>
            <a:prstDash val="solid"/>
            <a:tailEnd type="triangle" w="med" len="med"/>
          </a:ln>
        </p:spPr>
      </p:cxnSp>
      <p:sp>
        <p:nvSpPr>
          <p:cNvPr id="17" name="">
            <a:extLst xmlns:a="http://schemas.openxmlformats.org/drawingml/2006/main">
              <a:ext uri="{FF2B5EF4-FFF2-40B4-BE49-F238E27FC236}">
                <a16:creationId xmlns:a16="http://schemas.microsoft.com/office/drawing/2014/main" id="{DC33A2DF-773F-45DB-90E6-9DCEF80E9AC3}"/>
              </a:ext>
            </a:extLst>
          </p:cNvPr>
          <p:cNvSpPr>
            <a:spLocks xmlns:a="http://schemas.openxmlformats.org/drawingml/2006/main" noGrp="1"/>
          </p:cNvSpPr>
          <p:nvPr/>
        </p:nvSpPr>
        <p:spPr>
          <a:xfrm xmlns:a="http://schemas.openxmlformats.org/drawingml/2006/main">
            <a:off x="609600" y="3381375"/>
            <a:ext cx="2667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1">
                <a:solidFill>
                  <a:srgbClr val="28C7F7"/>
                </a:solidFill>
                <a:latin typeface="Roboto"/>
                <a:ea typeface="Roboto"/>
                <a:cs typeface="Roboto"/>
              </a:defRPr>
            </a:pPr>
            <a:r>
              <a:rPr sz="1350" b="1">
                <a:solidFill>
                  <a:srgbClr val="28C7F7"/>
                </a:solidFill>
                <a:latin typeface="Roboto"/>
                <a:ea typeface="Roboto"/>
                <a:cs typeface="Roboto"/>
              </a:rPr>
              <a:t>SOURCES OF UNCERTAINTY</a:t>
            </a:r>
          </a:p>
        </p:txBody>
      </p:sp>
      <p:sp>
        <p:nvSpPr>
          <p:cNvPr id="18" name="">
            <a:extLst xmlns:a="http://schemas.openxmlformats.org/drawingml/2006/main">
              <a:ext uri="{FF2B5EF4-FFF2-40B4-BE49-F238E27FC236}">
                <a16:creationId xmlns:a16="http://schemas.microsoft.com/office/drawing/2014/main" id="{11F023D9-ED73-4DF9-8695-3977B75A380D}"/>
              </a:ext>
            </a:extLst>
          </p:cNvPr>
          <p:cNvSpPr>
            <a:spLocks xmlns:a="http://schemas.openxmlformats.org/drawingml/2006/main" noGrp="1"/>
          </p:cNvSpPr>
          <p:nvPr/>
        </p:nvSpPr>
        <p:spPr>
          <a:xfrm xmlns:a="http://schemas.openxmlformats.org/drawingml/2006/main">
            <a:off x="609600" y="3838575"/>
            <a:ext cx="266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0">
                <a:solidFill>
                  <a:srgbClr val="ADB8C5"/>
                </a:solidFill>
                <a:latin typeface="Roboto"/>
                <a:ea typeface="Roboto"/>
                <a:cs typeface="Roboto"/>
              </a:defRPr>
            </a:pPr>
            <a:r>
              <a:rPr sz="1425" b="0">
                <a:solidFill>
                  <a:srgbClr val="ADB8C5"/>
                </a:solidFill>
                <a:latin typeface="Roboto"/>
                <a:ea typeface="Roboto"/>
                <a:cs typeface="Roboto"/>
              </a:rPr>
              <a:t>Token prices + control cost</a:t>
            </a:r>
          </a:p>
        </p:txBody>
      </p:sp>
      <p:sp>
        <p:nvSpPr>
          <p:cNvPr id="19" name="">
            <a:extLst xmlns:a="http://schemas.openxmlformats.org/drawingml/2006/main">
              <a:ext uri="{FF2B5EF4-FFF2-40B4-BE49-F238E27FC236}">
                <a16:creationId xmlns:a16="http://schemas.microsoft.com/office/drawing/2014/main" id="{7AD6C7C8-B741-4895-B772-5D3420C24E8D}"/>
              </a:ext>
            </a:extLst>
          </p:cNvPr>
          <p:cNvSpPr>
            <a:spLocks xmlns:a="http://schemas.openxmlformats.org/drawingml/2006/main" noGrp="1"/>
          </p:cNvSpPr>
          <p:nvPr/>
        </p:nvSpPr>
        <p:spPr>
          <a:xfrm xmlns:a="http://schemas.openxmlformats.org/drawingml/2006/main">
            <a:off x="609600" y="4133850"/>
            <a:ext cx="266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0">
                <a:solidFill>
                  <a:srgbClr val="ADB8C5"/>
                </a:solidFill>
                <a:latin typeface="Roboto"/>
                <a:ea typeface="Roboto"/>
                <a:cs typeface="Roboto"/>
              </a:defRPr>
            </a:pPr>
            <a:r>
              <a:rPr sz="1425" b="0">
                <a:solidFill>
                  <a:srgbClr val="ADB8C5"/>
                </a:solidFill>
                <a:latin typeface="Roboto"/>
                <a:ea typeface="Roboto"/>
                <a:cs typeface="Roboto"/>
              </a:rPr>
              <a:t>Opaque provider changes</a:t>
            </a:r>
          </a:p>
        </p:txBody>
      </p:sp>
      <p:sp>
        <p:nvSpPr>
          <p:cNvPr id="20" name="">
            <a:extLst xmlns:a="http://schemas.openxmlformats.org/drawingml/2006/main">
              <a:ext uri="{FF2B5EF4-FFF2-40B4-BE49-F238E27FC236}">
                <a16:creationId xmlns:a16="http://schemas.microsoft.com/office/drawing/2014/main" id="{2FF2F089-86DC-4AA8-8B7D-AF5A6BB35F3C}"/>
              </a:ext>
            </a:extLst>
          </p:cNvPr>
          <p:cNvSpPr>
            <a:spLocks xmlns:a="http://schemas.openxmlformats.org/drawingml/2006/main" noGrp="1"/>
          </p:cNvSpPr>
          <p:nvPr/>
        </p:nvSpPr>
        <p:spPr>
          <a:xfrm xmlns:a="http://schemas.openxmlformats.org/drawingml/2006/main">
            <a:off x="609600" y="4429125"/>
            <a:ext cx="266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0">
                <a:solidFill>
                  <a:srgbClr val="ADB8C5"/>
                </a:solidFill>
                <a:latin typeface="Roboto"/>
                <a:ea typeface="Roboto"/>
                <a:cs typeface="Roboto"/>
              </a:defRPr>
            </a:pPr>
            <a:r>
              <a:rPr sz="1425" b="0">
                <a:solidFill>
                  <a:srgbClr val="ADB8C5"/>
                </a:solidFill>
                <a:latin typeface="Roboto"/>
                <a:ea typeface="Roboto"/>
                <a:cs typeface="Roboto"/>
              </a:rPr>
              <a:t>Latency + fallible evaluators</a:t>
            </a:r>
          </a:p>
        </p:txBody>
      </p:sp>
      <p:sp>
        <p:nvSpPr>
          <p:cNvPr id="21" name="">
            <a:extLst xmlns:a="http://schemas.openxmlformats.org/drawingml/2006/main">
              <a:ext uri="{FF2B5EF4-FFF2-40B4-BE49-F238E27FC236}">
                <a16:creationId xmlns:a16="http://schemas.microsoft.com/office/drawing/2014/main" id="{2E4F2D25-41F2-45CF-8E8A-A14AF9E87F14}"/>
              </a:ext>
            </a:extLst>
          </p:cNvPr>
          <p:cNvSpPr>
            <a:spLocks xmlns:a="http://schemas.openxmlformats.org/drawingml/2006/main" noGrp="1"/>
          </p:cNvSpPr>
          <p:nvPr/>
        </p:nvSpPr>
        <p:spPr>
          <a:xfrm xmlns:a="http://schemas.openxmlformats.org/drawingml/2006/main">
            <a:off x="6324600" y="3543300"/>
            <a:ext cx="2400300" cy="361950"/>
          </a:xfrm>
          <a:prstGeom xmlns:a="http://schemas.openxmlformats.org/drawingml/2006/main" prst="rect">
            <a:avLst/>
          </a:prstGeom>
          <a:solidFill xmlns:a="http://schemas.openxmlformats.org/drawingml/2006/main">
            <a:srgbClr val="141C26"/>
          </a:solidFill>
          <a:ln xmlns:a="http://schemas.openxmlformats.org/drawingml/2006/main" w="14288">
            <a:solidFill>
              <a:srgbClr val="ADB8C5"/>
            </a:solidFill>
            <a:prstDash val="solid"/>
          </a:ln>
        </p:spPr>
      </p:sp>
      <p:sp>
        <p:nvSpPr>
          <p:cNvPr id="22" name="">
            <a:extLst xmlns:a="http://schemas.openxmlformats.org/drawingml/2006/main">
              <a:ext uri="{FF2B5EF4-FFF2-40B4-BE49-F238E27FC236}">
                <a16:creationId xmlns:a16="http://schemas.microsoft.com/office/drawing/2014/main" id="{A3C4A5F1-FAA0-40EA-9070-B848B318AC7C}"/>
              </a:ext>
            </a:extLst>
          </p:cNvPr>
          <p:cNvSpPr>
            <a:spLocks xmlns:a="http://schemas.openxmlformats.org/drawingml/2006/main" noGrp="1"/>
          </p:cNvSpPr>
          <p:nvPr/>
        </p:nvSpPr>
        <p:spPr>
          <a:xfrm xmlns:a="http://schemas.openxmlformats.org/drawingml/2006/main">
            <a:off x="6438900" y="3619500"/>
            <a:ext cx="2171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350" b="1">
                <a:solidFill>
                  <a:srgbClr val="F4F7FA"/>
                </a:solidFill>
                <a:latin typeface="Roboto"/>
                <a:ea typeface="Roboto"/>
                <a:cs typeface="Roboto"/>
              </a:defRPr>
            </a:pPr>
            <a:r>
              <a:rPr sz="1350" b="1">
                <a:solidFill>
                  <a:srgbClr val="F4F7FA"/>
                </a:solidFill>
                <a:latin typeface="Roboto"/>
                <a:ea typeface="Roboto"/>
                <a:cs typeface="Roboto"/>
              </a:rPr>
              <a:t>Approved limits</a:t>
            </a:r>
          </a:p>
        </p:txBody>
      </p:sp>
      <p:sp>
        <p:nvSpPr>
          <p:cNvPr id="23" name="">
            <a:extLst xmlns:a="http://schemas.openxmlformats.org/drawingml/2006/main">
              <a:ext uri="{FF2B5EF4-FFF2-40B4-BE49-F238E27FC236}">
                <a16:creationId xmlns:a16="http://schemas.microsoft.com/office/drawing/2014/main" id="{96F6C2F7-BD6E-49ED-AB53-B197CBD97728}"/>
              </a:ext>
            </a:extLst>
          </p:cNvPr>
          <p:cNvSpPr>
            <a:spLocks xmlns:a="http://schemas.openxmlformats.org/drawingml/2006/main" noGrp="1"/>
          </p:cNvSpPr>
          <p:nvPr/>
        </p:nvSpPr>
        <p:spPr>
          <a:xfrm xmlns:a="http://schemas.openxmlformats.org/drawingml/2006/main">
            <a:off x="9182100" y="4133850"/>
            <a:ext cx="2400300" cy="68580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24" name="">
            <a:extLst xmlns:a="http://schemas.openxmlformats.org/drawingml/2006/main">
              <a:ext uri="{FF2B5EF4-FFF2-40B4-BE49-F238E27FC236}">
                <a16:creationId xmlns:a16="http://schemas.microsoft.com/office/drawing/2014/main" id="{F59B75F3-B6FF-4BCF-9839-C62501BB13B9}"/>
              </a:ext>
            </a:extLst>
          </p:cNvPr>
          <p:cNvSpPr>
            <a:spLocks xmlns:a="http://schemas.openxmlformats.org/drawingml/2006/main" noGrp="1"/>
          </p:cNvSpPr>
          <p:nvPr/>
        </p:nvSpPr>
        <p:spPr>
          <a:xfrm xmlns:a="http://schemas.openxmlformats.org/drawingml/2006/main">
            <a:off x="9296400" y="4210050"/>
            <a:ext cx="21717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75" b="1">
                <a:solidFill>
                  <a:srgbClr val="F4F7FA"/>
                </a:solidFill>
                <a:latin typeface="Roboto"/>
                <a:ea typeface="Roboto"/>
                <a:cs typeface="Roboto"/>
              </a:defRPr>
            </a:pPr>
            <a:r>
              <a:rPr sz="1875" b="1">
                <a:solidFill>
                  <a:srgbClr val="F4F7FA"/>
                </a:solidFill>
                <a:latin typeface="Roboto"/>
                <a:ea typeface="Roboto"/>
                <a:cs typeface="Roboto"/>
              </a:rPr>
              <a:t>Observe</a:t>
            </a:r>
          </a:p>
        </p:txBody>
      </p:sp>
      <p:sp>
        <p:nvSpPr>
          <p:cNvPr id="25" name="">
            <a:extLst xmlns:a="http://schemas.openxmlformats.org/drawingml/2006/main">
              <a:ext uri="{FF2B5EF4-FFF2-40B4-BE49-F238E27FC236}">
                <a16:creationId xmlns:a16="http://schemas.microsoft.com/office/drawing/2014/main" id="{4810FF58-B4FD-4D54-B14F-B09DF13CB0F0}"/>
              </a:ext>
            </a:extLst>
          </p:cNvPr>
          <p:cNvSpPr>
            <a:spLocks xmlns:a="http://schemas.openxmlformats.org/drawingml/2006/main" noGrp="1"/>
          </p:cNvSpPr>
          <p:nvPr/>
        </p:nvSpPr>
        <p:spPr>
          <a:xfrm xmlns:a="http://schemas.openxmlformats.org/drawingml/2006/main">
            <a:off x="6324600" y="4133850"/>
            <a:ext cx="2400300" cy="685800"/>
          </a:xfrm>
          <a:prstGeom xmlns:a="http://schemas.openxmlformats.org/drawingml/2006/main" prst="rect">
            <a:avLst/>
          </a:prstGeom>
          <a:solidFill xmlns:a="http://schemas.openxmlformats.org/drawingml/2006/main">
            <a:srgbClr val="141C26"/>
          </a:solidFill>
          <a:ln xmlns:a="http://schemas.openxmlformats.org/drawingml/2006/main" w="14288">
            <a:solidFill>
              <a:srgbClr val="F5B61C"/>
            </a:solidFill>
            <a:prstDash val="solid"/>
          </a:ln>
        </p:spPr>
      </p:sp>
      <p:sp>
        <p:nvSpPr>
          <p:cNvPr id="26" name="">
            <a:extLst xmlns:a="http://schemas.openxmlformats.org/drawingml/2006/main">
              <a:ext uri="{FF2B5EF4-FFF2-40B4-BE49-F238E27FC236}">
                <a16:creationId xmlns:a16="http://schemas.microsoft.com/office/drawing/2014/main" id="{BE4EEA76-B1AF-434A-AA14-1604964F647B}"/>
              </a:ext>
            </a:extLst>
          </p:cNvPr>
          <p:cNvSpPr>
            <a:spLocks xmlns:a="http://schemas.openxmlformats.org/drawingml/2006/main" noGrp="1"/>
          </p:cNvSpPr>
          <p:nvPr/>
        </p:nvSpPr>
        <p:spPr>
          <a:xfrm xmlns:a="http://schemas.openxmlformats.org/drawingml/2006/main">
            <a:off x="6438900" y="4210050"/>
            <a:ext cx="21717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00" b="1">
                <a:solidFill>
                  <a:srgbClr val="F4F7FA"/>
                </a:solidFill>
                <a:latin typeface="Roboto"/>
                <a:ea typeface="Roboto"/>
                <a:cs typeface="Roboto"/>
              </a:defRPr>
            </a:pPr>
            <a:r>
              <a:rPr sz="1500" b="1">
                <a:solidFill>
                  <a:srgbClr val="F4F7FA"/>
                </a:solidFill>
                <a:latin typeface="Roboto"/>
                <a:ea typeface="Roboto"/>
                <a:cs typeface="Roboto"/>
              </a:rPr>
              <a:t>Decide / authorize</a:t>
            </a:r>
          </a:p>
          <a:p xmlns:a="http://schemas.openxmlformats.org/drawingml/2006/main">
            <a:pPr algn="ctr">
              <a:defRPr sz="1500" b="1">
                <a:solidFill>
                  <a:srgbClr val="F4F7FA"/>
                </a:solidFill>
                <a:latin typeface="Roboto"/>
                <a:ea typeface="Roboto"/>
                <a:cs typeface="Roboto"/>
              </a:defRPr>
            </a:pPr>
            <a:r>
              <a:rPr sz="1500" b="1">
                <a:solidFill>
                  <a:srgbClr val="F4F7FA"/>
                </a:solidFill>
                <a:latin typeface="Roboto"/>
                <a:ea typeface="Roboto"/>
                <a:cs typeface="Roboto"/>
              </a:rPr>
              <a:t>software + people</a:t>
            </a:r>
          </a:p>
        </p:txBody>
      </p:sp>
      <p:sp>
        <p:nvSpPr>
          <p:cNvPr id="27" name="">
            <a:extLst xmlns:a="http://schemas.openxmlformats.org/drawingml/2006/main">
              <a:ext uri="{FF2B5EF4-FFF2-40B4-BE49-F238E27FC236}">
                <a16:creationId xmlns:a16="http://schemas.microsoft.com/office/drawing/2014/main" id="{7A4F30A7-3F54-4319-B506-E24BA3EF95BF}"/>
              </a:ext>
            </a:extLst>
          </p:cNvPr>
          <p:cNvSpPr>
            <a:spLocks xmlns:a="http://schemas.openxmlformats.org/drawingml/2006/main" noGrp="1"/>
          </p:cNvSpPr>
          <p:nvPr/>
        </p:nvSpPr>
        <p:spPr>
          <a:xfrm xmlns:a="http://schemas.openxmlformats.org/drawingml/2006/main">
            <a:off x="3467100" y="4133850"/>
            <a:ext cx="2400300" cy="685800"/>
          </a:xfrm>
          <a:prstGeom xmlns:a="http://schemas.openxmlformats.org/drawingml/2006/main" prst="rect">
            <a:avLst/>
          </a:prstGeom>
          <a:solidFill xmlns:a="http://schemas.openxmlformats.org/drawingml/2006/main">
            <a:srgbClr val="141C26"/>
          </a:solidFill>
          <a:ln xmlns:a="http://schemas.openxmlformats.org/drawingml/2006/main" w="14288">
            <a:solidFill>
              <a:srgbClr val="F5B61C"/>
            </a:solidFill>
            <a:prstDash val="solid"/>
          </a:ln>
        </p:spPr>
      </p:sp>
      <p:sp>
        <p:nvSpPr>
          <p:cNvPr id="28" name="">
            <a:extLst xmlns:a="http://schemas.openxmlformats.org/drawingml/2006/main">
              <a:ext uri="{FF2B5EF4-FFF2-40B4-BE49-F238E27FC236}">
                <a16:creationId xmlns:a16="http://schemas.microsoft.com/office/drawing/2014/main" id="{16E1C3E1-3E2E-44DD-A6F3-3CD0B38B05AD}"/>
              </a:ext>
            </a:extLst>
          </p:cNvPr>
          <p:cNvSpPr>
            <a:spLocks xmlns:a="http://schemas.openxmlformats.org/drawingml/2006/main" noGrp="1"/>
          </p:cNvSpPr>
          <p:nvPr/>
        </p:nvSpPr>
        <p:spPr>
          <a:xfrm xmlns:a="http://schemas.openxmlformats.org/drawingml/2006/main">
            <a:off x="3581400" y="4210050"/>
            <a:ext cx="21717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725" b="1">
                <a:solidFill>
                  <a:srgbClr val="F4F7FA"/>
                </a:solidFill>
                <a:latin typeface="Roboto"/>
                <a:ea typeface="Roboto"/>
                <a:cs typeface="Roboto"/>
              </a:defRPr>
            </a:pPr>
            <a:r>
              <a:rPr sz="1725" b="1">
                <a:solidFill>
                  <a:srgbClr val="F4F7FA"/>
                </a:solidFill>
                <a:latin typeface="Roboto"/>
                <a:ea typeface="Roboto"/>
                <a:cs typeface="Roboto"/>
              </a:rPr>
              <a:t>Apply correction</a:t>
            </a:r>
          </a:p>
        </p:txBody>
      </p:sp>
      <p:cxnSp>
        <p:nvCxnSpPr>
          <p:cNvPr id="68" name=""/>
          <p:cNvCxnSpPr>
            <a:stCxn xmlns:a="http://schemas.openxmlformats.org/drawingml/2006/main" id="12" idx="2"/>
            <a:endCxn xmlns:a="http://schemas.openxmlformats.org/drawingml/2006/main" id="23" idx="0"/>
          </p:cNvCxnSpPr>
          <p:nvPr/>
        </p:nvCxnSpPr>
        <p:spPr>
          <a:xfrm xmlns:a="http://schemas.openxmlformats.org/drawingml/2006/main">
            <a:off x="10382250" y="3143250"/>
            <a:ext cx="0" cy="990600"/>
          </a:xfrm>
          <a:prstGeom xmlns:a="http://schemas.openxmlformats.org/drawingml/2006/main" prst="straightConnector1">
            <a:avLst/>
          </a:prstGeom>
          <a:ln xmlns:a="http://schemas.openxmlformats.org/drawingml/2006/main" w="21908">
            <a:solidFill>
              <a:srgbClr val="28C7F7"/>
            </a:solidFill>
            <a:prstDash val="solid"/>
            <a:tailEnd type="triangle" w="med" len="med"/>
          </a:ln>
        </p:spPr>
      </p:cxnSp>
      <p:cxnSp>
        <p:nvCxnSpPr>
          <p:cNvPr id="69" name=""/>
          <p:cNvCxnSpPr>
            <a:stCxn xmlns:a="http://schemas.openxmlformats.org/drawingml/2006/main" id="23" idx="1"/>
            <a:endCxn xmlns:a="http://schemas.openxmlformats.org/drawingml/2006/main" id="25" idx="3"/>
          </p:cNvCxnSpPr>
          <p:nvPr/>
        </p:nvCxnSpPr>
        <p:spPr>
          <a:xfrm xmlns:a="http://schemas.openxmlformats.org/drawingml/2006/main" flipH="1">
            <a:off x="8724900" y="4476750"/>
            <a:ext cx="457200" cy="0"/>
          </a:xfrm>
          <a:prstGeom xmlns:a="http://schemas.openxmlformats.org/drawingml/2006/main" prst="straightConnector1">
            <a:avLst/>
          </a:prstGeom>
          <a:ln xmlns:a="http://schemas.openxmlformats.org/drawingml/2006/main" w="21908">
            <a:solidFill>
              <a:srgbClr val="F5B61C"/>
            </a:solidFill>
            <a:prstDash val="solid"/>
            <a:tailEnd type="triangle" w="med" len="med"/>
          </a:ln>
        </p:spPr>
      </p:cxnSp>
      <p:cxnSp>
        <p:nvCxnSpPr>
          <p:cNvPr id="70" name=""/>
          <p:cNvCxnSpPr>
            <a:stCxn xmlns:a="http://schemas.openxmlformats.org/drawingml/2006/main" id="21" idx="2"/>
            <a:endCxn xmlns:a="http://schemas.openxmlformats.org/drawingml/2006/main" id="25" idx="0"/>
          </p:cNvCxnSpPr>
          <p:nvPr/>
        </p:nvCxnSpPr>
        <p:spPr>
          <a:xfrm xmlns:a="http://schemas.openxmlformats.org/drawingml/2006/main">
            <a:off x="7524750" y="3905250"/>
            <a:ext cx="0" cy="228600"/>
          </a:xfrm>
          <a:prstGeom xmlns:a="http://schemas.openxmlformats.org/drawingml/2006/main" prst="straightConnector1">
            <a:avLst/>
          </a:prstGeom>
          <a:ln xmlns:a="http://schemas.openxmlformats.org/drawingml/2006/main" w="21908">
            <a:solidFill>
              <a:srgbClr val="ADB8C5"/>
            </a:solidFill>
            <a:prstDash val="solid"/>
            <a:tailEnd type="triangle" w="med" len="med"/>
          </a:ln>
        </p:spPr>
      </p:cxnSp>
      <p:cxnSp>
        <p:nvCxnSpPr>
          <p:cNvPr id="71" name=""/>
          <p:cNvCxnSpPr>
            <a:stCxn xmlns:a="http://schemas.openxmlformats.org/drawingml/2006/main" id="25" idx="1"/>
            <a:endCxn xmlns:a="http://schemas.openxmlformats.org/drawingml/2006/main" id="27" idx="3"/>
          </p:cNvCxnSpPr>
          <p:nvPr/>
        </p:nvCxnSpPr>
        <p:spPr>
          <a:xfrm xmlns:a="http://schemas.openxmlformats.org/drawingml/2006/main" flipH="1">
            <a:off x="5867400" y="4476750"/>
            <a:ext cx="457200" cy="0"/>
          </a:xfrm>
          <a:prstGeom xmlns:a="http://schemas.openxmlformats.org/drawingml/2006/main" prst="straightConnector1">
            <a:avLst/>
          </a:prstGeom>
          <a:ln xmlns:a="http://schemas.openxmlformats.org/drawingml/2006/main" w="21908">
            <a:solidFill>
              <a:srgbClr val="F5B61C"/>
            </a:solidFill>
            <a:prstDash val="solid"/>
            <a:tailEnd type="triangle" w="med" len="med"/>
          </a:ln>
        </p:spPr>
      </p:cxnSp>
      <p:cxnSp>
        <p:nvCxnSpPr>
          <p:cNvPr id="72" name=""/>
          <p:cNvCxnSpPr>
            <a:stCxn xmlns:a="http://schemas.openxmlformats.org/drawingml/2006/main" id="27" idx="0"/>
            <a:endCxn xmlns:a="http://schemas.openxmlformats.org/drawingml/2006/main" id="8" idx="2"/>
          </p:cNvCxnSpPr>
          <p:nvPr/>
        </p:nvCxnSpPr>
        <p:spPr>
          <a:xfrm xmlns:a="http://schemas.openxmlformats.org/drawingml/2006/main" flipV="1">
            <a:off x="4667250" y="3143250"/>
            <a:ext cx="0" cy="990600"/>
          </a:xfrm>
          <a:prstGeom xmlns:a="http://schemas.openxmlformats.org/drawingml/2006/main" prst="straightConnector1">
            <a:avLst/>
          </a:prstGeom>
          <a:ln xmlns:a="http://schemas.openxmlformats.org/drawingml/2006/main" w="21908">
            <a:solidFill>
              <a:srgbClr val="F5B61C"/>
            </a:solidFill>
            <a:prstDash val="solid"/>
            <a:tailEnd type="triangle" w="med" len="med"/>
          </a:ln>
        </p:spPr>
      </p:cxnSp>
      <p:sp>
        <p:nvSpPr>
          <p:cNvPr id="34" name="">
            <a:extLst xmlns:a="http://schemas.openxmlformats.org/drawingml/2006/main">
              <a:ext uri="{FF2B5EF4-FFF2-40B4-BE49-F238E27FC236}">
                <a16:creationId xmlns:a16="http://schemas.microsoft.com/office/drawing/2014/main" id="{DE6960C3-F0AB-4E54-9686-2594D878B45E}"/>
              </a:ext>
            </a:extLst>
          </p:cNvPr>
          <p:cNvSpPr>
            <a:spLocks xmlns:a="http://schemas.openxmlformats.org/drawingml/2006/main" noGrp="1"/>
          </p:cNvSpPr>
          <p:nvPr/>
        </p:nvSpPr>
        <p:spPr>
          <a:xfrm xmlns:a="http://schemas.openxmlformats.org/drawingml/2006/main">
            <a:off x="609600" y="49625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1">
                <a:solidFill>
                  <a:srgbClr val="28C7F7"/>
                </a:solidFill>
                <a:latin typeface="Roboto"/>
                <a:ea typeface="Roboto"/>
                <a:cs typeface="Roboto"/>
              </a:defRPr>
            </a:pPr>
            <a:r>
              <a:rPr sz="1500" b="1">
                <a:solidFill>
                  <a:srgbClr val="28C7F7"/>
                </a:solidFill>
                <a:latin typeface="Roboto"/>
                <a:ea typeface="Roboto"/>
                <a:cs typeface="Roboto"/>
              </a:rPr>
              <a:t>HUMAN IN THE LOOP IS AN ARCHITECTURAL DEPENDENCY</a:t>
            </a:r>
          </a:p>
        </p:txBody>
      </p:sp>
      <p:sp>
        <p:nvSpPr>
          <p:cNvPr id="35" name="">
            <a:extLst xmlns:a="http://schemas.openxmlformats.org/drawingml/2006/main">
              <a:ext uri="{FF2B5EF4-FFF2-40B4-BE49-F238E27FC236}">
                <a16:creationId xmlns:a16="http://schemas.microsoft.com/office/drawing/2014/main" id="{07EB9379-F7E9-4D17-9CB6-E6B765B6916B}"/>
              </a:ext>
            </a:extLst>
          </p:cNvPr>
          <p:cNvSpPr>
            <a:spLocks xmlns:a="http://schemas.openxmlformats.org/drawingml/2006/main" noGrp="1"/>
          </p:cNvSpPr>
          <p:nvPr/>
        </p:nvSpPr>
        <p:spPr>
          <a:xfrm xmlns:a="http://schemas.openxmlformats.org/drawingml/2006/main">
            <a:off x="609600" y="5248275"/>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F4F7FA"/>
                </a:solidFill>
                <a:latin typeface="Roboto"/>
                <a:ea typeface="Roboto"/>
                <a:cs typeface="Roboto"/>
              </a:defRPr>
            </a:pPr>
            <a:r>
              <a:rPr sz="1575" b="0">
                <a:solidFill>
                  <a:srgbClr val="F4F7FA"/>
                </a:solidFill>
                <a:latin typeface="Roboto"/>
                <a:ea typeface="Roboto"/>
                <a:cs typeface="Roboto"/>
              </a:rPr>
              <a:t>Owner + authority + context + response time + peak capacity + backup</a:t>
            </a:r>
          </a:p>
        </p:txBody>
      </p:sp>
      <p:sp>
        <p:nvSpPr>
          <p:cNvPr id="36" name="">
            <a:extLst xmlns:a="http://schemas.openxmlformats.org/drawingml/2006/main">
              <a:ext uri="{FF2B5EF4-FFF2-40B4-BE49-F238E27FC236}">
                <a16:creationId xmlns:a16="http://schemas.microsoft.com/office/drawing/2014/main" id="{4E653CF0-E0A7-4F93-9523-3C72A28F0707}"/>
              </a:ext>
            </a:extLst>
          </p:cNvPr>
          <p:cNvSpPr>
            <a:spLocks xmlns:a="http://schemas.openxmlformats.org/drawingml/2006/main" noGrp="1"/>
          </p:cNvSpPr>
          <p:nvPr/>
        </p:nvSpPr>
        <p:spPr>
          <a:xfrm xmlns:a="http://schemas.openxmlformats.org/drawingml/2006/main">
            <a:off x="609600" y="554355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Roboto"/>
                <a:ea typeface="Roboto"/>
                <a:cs typeface="Roboto"/>
              </a:defRPr>
            </a:pPr>
            <a:r>
              <a:rPr sz="1500" b="0">
                <a:solidFill>
                  <a:srgbClr val="ADB8C5"/>
                </a:solidFill>
                <a:latin typeface="Roboto"/>
                <a:ea typeface="Roboto"/>
                <a:cs typeface="Roboto"/>
              </a:rPr>
              <a:t>Rollback / disable tool / manual fallback · inside delegated authority</a:t>
            </a:r>
          </a:p>
        </p:txBody>
      </p:sp>
      <p:sp>
        <p:nvSpPr>
          <p:cNvPr id="37" name="">
            <a:extLst xmlns:a="http://schemas.openxmlformats.org/drawingml/2006/main">
              <a:ext uri="{FF2B5EF4-FFF2-40B4-BE49-F238E27FC236}">
                <a16:creationId xmlns:a16="http://schemas.microsoft.com/office/drawing/2014/main" id="{5609F85E-B1E6-4804-B6B2-E6420D88B95E}"/>
              </a:ext>
            </a:extLst>
          </p:cNvPr>
          <p:cNvSpPr>
            <a:spLocks xmlns:a="http://schemas.openxmlformats.org/drawingml/2006/main" noGrp="1"/>
          </p:cNvSpPr>
          <p:nvPr/>
        </p:nvSpPr>
        <p:spPr>
          <a:xfrm xmlns:a="http://schemas.openxmlformats.org/drawingml/2006/main">
            <a:off x="609600" y="585787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F4F7FA"/>
                </a:solidFill>
                <a:latin typeface="Roboto"/>
                <a:ea typeface="Roboto"/>
                <a:cs typeface="Roboto"/>
              </a:defRPr>
            </a:pPr>
            <a:r>
              <a:rPr sz="1500" b="0">
                <a:solidFill>
                  <a:srgbClr val="F4F7FA"/>
                </a:solidFill>
                <a:latin typeface="Roboto"/>
                <a:ea typeface="Roboto"/>
                <a:cs typeface="Roboto"/>
              </a:rPr>
              <a:t>Unknown load: a bounded, authorized trial needs working controls and stop limits.</a:t>
            </a:r>
          </a:p>
        </p:txBody>
      </p:sp>
      <p:sp>
        <p:nvSpPr>
          <p:cNvPr id="38" name="">
            <a:extLst xmlns:a="http://schemas.openxmlformats.org/drawingml/2006/main">
              <a:ext uri="{FF2B5EF4-FFF2-40B4-BE49-F238E27FC236}">
                <a16:creationId xmlns:a16="http://schemas.microsoft.com/office/drawing/2014/main" id="{21A779B6-53C6-4A08-B42F-34B9657292A5}"/>
              </a:ext>
            </a:extLst>
          </p:cNvPr>
          <p:cNvSpPr>
            <a:spLocks xmlns:a="http://schemas.openxmlformats.org/drawingml/2006/main" noGrp="1"/>
          </p:cNvSpPr>
          <p:nvPr/>
        </p:nvSpPr>
        <p:spPr>
          <a:xfrm xmlns:a="http://schemas.openxmlformats.org/drawingml/2006/main">
            <a:off x="609600" y="6124575"/>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F5B61C"/>
                </a:solidFill>
                <a:latin typeface="Roboto"/>
                <a:ea typeface="Roboto"/>
                <a:cs typeface="Roboto"/>
              </a:defRPr>
            </a:pPr>
            <a:r>
              <a:rPr sz="1500" b="0">
                <a:solidFill>
                  <a:srgbClr val="F5B61C"/>
                </a:solidFill>
                <a:latin typeface="Roboto"/>
                <a:ea typeface="Roboto"/>
                <a:cs typeface="Roboto"/>
              </a:rPr>
              <a:t>Canary limits exposure. If the control path is missing, block the AI path.</a:t>
            </a:r>
          </a:p>
        </p:txBody>
      </p:sp>
      <p:sp>
        <p:nvSpPr>
          <p:cNvPr id="39" name="">
            <a:extLst xmlns:a="http://schemas.openxmlformats.org/drawingml/2006/main">
              <a:ext uri="{FF2B5EF4-FFF2-40B4-BE49-F238E27FC236}">
                <a16:creationId xmlns:a16="http://schemas.microsoft.com/office/drawing/2014/main" id="{FD0CFF06-9D7E-4AC4-8A78-AE3A0CC716B6}"/>
              </a:ext>
            </a:extLst>
          </p:cNvPr>
          <p:cNvSpPr>
            <a:spLocks xmlns:a="http://schemas.openxmlformats.org/drawingml/2006/main" noGrp="1"/>
          </p:cNvSpPr>
          <p:nvPr/>
        </p:nvSpPr>
        <p:spPr>
          <a:xfrm xmlns:a="http://schemas.openxmlformats.org/drawingml/2006/main">
            <a:off x="609600" y="6457950"/>
            <a:ext cx="106489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00" b="1">
                <a:solidFill>
                  <a:srgbClr val="F4F7FA"/>
                </a:solidFill>
                <a:latin typeface="Roboto"/>
                <a:ea typeface="Roboto"/>
                <a:cs typeface="Roboto"/>
              </a:defRPr>
            </a:pPr>
            <a:r>
              <a:rPr sz="1800" b="1">
                <a:solidFill>
                  <a:srgbClr val="F4F7FA"/>
                </a:solidFill>
                <a:latin typeface="Roboto"/>
                <a:ea typeface="Roboto"/>
                <a:cs typeface="Roboto"/>
              </a:rPr>
              <a:t>Production readiness requires a complete, operable control path.</a:t>
            </a:r>
          </a:p>
        </p:txBody>
      </p:sp>
    </p:spTree>
    <p:extLst>
      <p:ext uri="{BB962C8B-B14F-4D97-AF65-F5344CB8AC3E}">
        <p14:creationId xmlns:p14="http://schemas.microsoft.com/office/powerpoint/2010/main" val="1705121223"/>
      </p:ext>
    </p:extLst>
  </p:cSld>
</p:sld>
</file>

<file path=ppt/slides/slide13.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DC64398-A323-4F49-B49A-8EE39B2E180C}"/>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Roboto"/>
                <a:ea typeface="Roboto"/>
                <a:cs typeface="Roboto"/>
              </a:defRPr>
            </a:pPr>
            <a:r>
              <a:rPr sz="3000" b="1">
                <a:solidFill>
                  <a:srgbClr val="F4F7FA"/>
                </a:solidFill>
                <a:latin typeface="Roboto"/>
                <a:ea typeface="Roboto"/>
                <a:cs typeface="Roboto"/>
              </a:rPr>
              <a:t>The Roles Move With the System</a:t>
            </a:r>
          </a:p>
        </p:txBody>
      </p:sp>
      <p:sp>
        <p:nvSpPr>
          <p:cNvPr id="2" name="">
            <a:extLst xmlns:a="http://schemas.openxmlformats.org/drawingml/2006/main">
              <a:ext uri="{FF2B5EF4-FFF2-40B4-BE49-F238E27FC236}">
                <a16:creationId xmlns:a16="http://schemas.microsoft.com/office/drawing/2014/main" id="{D84850C5-103E-4848-99A9-1AD8D0103E1F}"/>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9C92758E-089E-4F60-A0A2-201375E663C8}"/>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Roboto"/>
                <a:ea typeface="Roboto"/>
                <a:cs typeface="Roboto"/>
              </a:defRPr>
            </a:pPr>
            <a:r>
              <a:rPr sz="1200" b="0">
                <a:solidFill>
                  <a:srgbClr val="ADB8C5"/>
                </a:solidFill>
                <a:latin typeface="Roboto"/>
                <a:ea typeface="Roboto"/>
                <a:cs typeface="Roboto"/>
              </a:rPr>
              <a:t>13</a:t>
            </a:r>
          </a:p>
        </p:txBody>
      </p:sp>
      <p:sp>
        <p:nvSpPr>
          <p:cNvPr id="4" name="">
            <a:extLst xmlns:a="http://schemas.openxmlformats.org/drawingml/2006/main">
              <a:ext uri="{FF2B5EF4-FFF2-40B4-BE49-F238E27FC236}">
                <a16:creationId xmlns:a16="http://schemas.microsoft.com/office/drawing/2014/main" id="{C4D30B07-F185-4B39-8164-9121C0CE8AC3}"/>
              </a:ext>
            </a:extLst>
          </p:cNvPr>
          <p:cNvSpPr>
            <a:spLocks xmlns:a="http://schemas.openxmlformats.org/drawingml/2006/main" noGrp="1"/>
          </p:cNvSpPr>
          <p:nvPr/>
        </p:nvSpPr>
        <p:spPr>
          <a:xfrm xmlns:a="http://schemas.openxmlformats.org/drawingml/2006/main">
            <a:off x="609600" y="16764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28C7F7"/>
                </a:solidFill>
                <a:latin typeface="Roboto"/>
                <a:ea typeface="Roboto"/>
                <a:cs typeface="Roboto"/>
              </a:defRPr>
            </a:pPr>
            <a:r>
              <a:rPr sz="1650" b="1">
                <a:solidFill>
                  <a:srgbClr val="28C7F7"/>
                </a:solidFill>
                <a:latin typeface="Roboto"/>
                <a:ea typeface="Roboto"/>
                <a:cs typeface="Roboto"/>
              </a:rPr>
              <a:t>PROJECT MANAGER · the scope of management expands</a:t>
            </a:r>
          </a:p>
        </p:txBody>
      </p:sp>
      <p:sp>
        <p:nvSpPr>
          <p:cNvPr id="5" name="">
            <a:extLst xmlns:a="http://schemas.openxmlformats.org/drawingml/2006/main">
              <a:ext uri="{FF2B5EF4-FFF2-40B4-BE49-F238E27FC236}">
                <a16:creationId xmlns:a16="http://schemas.microsoft.com/office/drawing/2014/main" id="{3614AD1C-403A-4A66-ABDB-032C723E7E47}"/>
              </a:ext>
            </a:extLst>
          </p:cNvPr>
          <p:cNvSpPr>
            <a:spLocks xmlns:a="http://schemas.openxmlformats.org/drawingml/2006/main" noGrp="1"/>
          </p:cNvSpPr>
          <p:nvPr/>
        </p:nvSpPr>
        <p:spPr>
          <a:xfrm xmlns:a="http://schemas.openxmlformats.org/drawingml/2006/main">
            <a:off x="609600" y="20574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F4F7FA"/>
                </a:solidFill>
                <a:latin typeface="Roboto"/>
                <a:ea typeface="Roboto"/>
                <a:cs typeface="Roboto"/>
              </a:defRPr>
            </a:pPr>
            <a:r>
              <a:rPr sz="1650" b="0">
                <a:solidFill>
                  <a:srgbClr val="F4F7FA"/>
                </a:solidFill>
                <a:latin typeface="Roboto"/>
                <a:ea typeface="Roboto"/>
                <a:cs typeface="Roboto"/>
              </a:rPr>
              <a:t>Project management theory still matters: scope, schedule, cost, risk and stakeholders.</a:t>
            </a:r>
          </a:p>
        </p:txBody>
      </p:sp>
      <p:sp>
        <p:nvSpPr>
          <p:cNvPr id="6" name="">
            <a:extLst xmlns:a="http://schemas.openxmlformats.org/drawingml/2006/main">
              <a:ext uri="{FF2B5EF4-FFF2-40B4-BE49-F238E27FC236}">
                <a16:creationId xmlns:a16="http://schemas.microsoft.com/office/drawing/2014/main" id="{CC55C0B9-C6B7-4188-8B05-2CDF016F8C3E}"/>
              </a:ext>
            </a:extLst>
          </p:cNvPr>
          <p:cNvSpPr>
            <a:spLocks xmlns:a="http://schemas.openxmlformats.org/drawingml/2006/main" noGrp="1"/>
          </p:cNvSpPr>
          <p:nvPr/>
        </p:nvSpPr>
        <p:spPr>
          <a:xfrm xmlns:a="http://schemas.openxmlformats.org/drawingml/2006/main">
            <a:off x="609600" y="241935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1">
                <a:solidFill>
                  <a:srgbClr val="ADB8C5"/>
                </a:solidFill>
                <a:latin typeface="Roboto"/>
                <a:ea typeface="Roboto"/>
                <a:cs typeface="Roboto"/>
              </a:defRPr>
            </a:pPr>
            <a:r>
              <a:rPr sz="1425" b="1">
                <a:solidFill>
                  <a:srgbClr val="ADB8C5"/>
                </a:solidFill>
                <a:latin typeface="Roboto"/>
                <a:ea typeface="Roboto"/>
                <a:cs typeface="Roboto"/>
              </a:rPr>
              <a:t>THREE OVERLAPPING HORIZONS</a:t>
            </a:r>
          </a:p>
        </p:txBody>
      </p:sp>
      <p:graphicFrame>
        <p:nvGraphicFramePr>
          <p:cNvPr id="17" name=""/>
          <p:cNvGraphicFramePr/>
          <p:nvPr/>
        </p:nvGraphicFramePr>
        <p:xfrm>
          <a:off xmlns:a="http://schemas.openxmlformats.org/drawingml/2006/main" x="609600" y="2752725"/>
          <a:ext xmlns:a="http://schemas.openxmlformats.org/drawingml/2006/main" cx="10972800" cy="2952750"/>
        </p:xfrm>
        <a:graphic xmlns:a="http://schemas.openxmlformats.org/drawingml/2006/main">
          <a:graphicData uri="http://schemas.openxmlformats.org/drawingml/2006/table">
            <a:tbl>
              <a:tblPr/>
              <a:tblGrid>
                <a:gridCol w="2009775"/>
                <a:gridCol w="4667250"/>
                <a:gridCol w="4295775"/>
              </a:tblGrid>
              <a:tr h="381000">
                <a:tc>
                  <a:txBody>
                    <a:bodyPr lIns="171450" tIns="57150" rIns="171450" bIns="57150">
                      <a:noAutofit/>
                    </a:bodyPr>
                    <a:lstStyle/>
                    <a:p>
                      <a:r>
                        <a:rPr sz="1575" b="1">
                          <a:solidFill>
                            <a:srgbClr val="F4F7FA"/>
                          </a:solidFill>
                          <a:latin typeface="Roboto"/>
                          <a:ea typeface="Roboto"/>
                          <a:cs typeface="Roboto"/>
                        </a:rPr>
                        <a:t>HORIZON</a:t>
                      </a:r>
                    </a:p>
                  </a:txBody>
                  <a:tcPr marL="91440" marR="91440" marT="45720" marB="45720" anchor="ctr">
                    <a:solidFill>
                      <a:srgbClr val="1A2734"/>
                    </a:solidFill>
                  </a:tcPr>
                </a:tc>
                <a:tc>
                  <a:txBody>
                    <a:bodyPr lIns="171450" tIns="57150" rIns="171450" bIns="57150">
                      <a:noAutofit/>
                    </a:bodyPr>
                    <a:lstStyle/>
                    <a:p>
                      <a:r>
                        <a:rPr sz="1575" b="1">
                          <a:solidFill>
                            <a:srgbClr val="F4F7FA"/>
                          </a:solidFill>
                          <a:latin typeface="Roboto"/>
                          <a:ea typeface="Roboto"/>
                          <a:cs typeface="Roboto"/>
                        </a:rPr>
                        <a:t>WHAT THE PM MUST UNDERSTAND</a:t>
                      </a:r>
                    </a:p>
                  </a:txBody>
                  <a:tcPr marL="91440" marR="91440" marT="45720" marB="45720" anchor="ctr">
                    <a:solidFill>
                      <a:srgbClr val="1A2734"/>
                    </a:solidFill>
                  </a:tcPr>
                </a:tc>
                <a:tc>
                  <a:txBody>
                    <a:bodyPr lIns="171450" tIns="57150" rIns="171450" bIns="57150">
                      <a:noAutofit/>
                    </a:bodyPr>
                    <a:lstStyle/>
                    <a:p>
                      <a:r>
                        <a:rPr sz="1575" b="1">
                          <a:solidFill>
                            <a:srgbClr val="28C7F7"/>
                          </a:solidFill>
                          <a:latin typeface="Roboto"/>
                          <a:ea typeface="Roboto"/>
                          <a:cs typeface="Roboto"/>
                        </a:rPr>
                        <a:t>WHAT THE PM WATCHES</a:t>
                      </a:r>
                    </a:p>
                  </a:txBody>
                  <a:tcPr marL="91440" marR="91440" marT="45720" marB="45720" anchor="ctr">
                    <a:solidFill>
                      <a:srgbClr val="1A2734"/>
                    </a:solidFill>
                  </a:tcPr>
                </a:tc>
              </a:tr>
              <a:tr h="857250">
                <a:tc>
                  <a:txBody>
                    <a:bodyPr lIns="171450" tIns="57150" rIns="171450" bIns="57150">
                      <a:noAutofit/>
                    </a:bodyPr>
                    <a:lstStyle/>
                    <a:p>
                      <a:r>
                        <a:rPr sz="1500" b="1">
                          <a:solidFill>
                            <a:srgbClr val="F4F7FA"/>
                          </a:solidFill>
                          <a:latin typeface="Roboto"/>
                          <a:ea typeface="Roboto"/>
                          <a:cs typeface="Roboto"/>
                        </a:rPr>
                        <a:t>AI-assisted SDLC</a:t>
                      </a:r>
                    </a:p>
                  </a:txBody>
                  <a:tcPr marL="91440" marR="91440" marT="45720" marB="45720" anchor="ctr">
                    <a:solidFill>
                      <a:srgbClr val="0B0F14"/>
                    </a:solidFill>
                  </a:tcPr>
                </a:tc>
                <a:tc>
                  <a:txBody>
                    <a:bodyPr lIns="171450" tIns="57150" rIns="171450" bIns="57150">
                      <a:noAutofit/>
                    </a:bodyPr>
                    <a:lstStyle/>
                    <a:p>
                      <a:r>
                        <a:rPr sz="1500" b="0">
                          <a:solidFill>
                            <a:srgbClr val="F4F7FA"/>
                          </a:solidFill>
                          <a:latin typeface="Roboto"/>
                          <a:ea typeface="Roboto"/>
                          <a:cs typeface="Roboto"/>
                        </a:rPr>
                        <a:t>Generation moves bottlenecks.</a:t>
                      </a:r>
                    </a:p>
                    <a:p>
                      <a:r>
                        <a:rPr sz="1500" b="0">
                          <a:solidFill>
                            <a:srgbClr val="F4F7FA"/>
                          </a:solidFill>
                          <a:latin typeface="Roboto"/>
                          <a:ea typeface="Roboto"/>
                          <a:cs typeface="Roboto"/>
                        </a:rPr>
                        <a:t>Rebalance review, QA and ownership.</a:t>
                      </a:r>
                    </a:p>
                  </a:txBody>
                  <a:tcPr marL="91440" marR="91440" marT="45720" marB="45720" anchor="ctr">
                    <a:solidFill>
                      <a:srgbClr val="0B0F14"/>
                    </a:solidFill>
                  </a:tcPr>
                </a:tc>
                <a:tc>
                  <a:txBody>
                    <a:bodyPr lIns="171450" tIns="57150" rIns="171450" bIns="57150">
                      <a:noAutofit/>
                    </a:bodyPr>
                    <a:lstStyle/>
                    <a:p>
                      <a:r>
                        <a:rPr sz="1500" b="0">
                          <a:solidFill>
                            <a:srgbClr val="28C7F7"/>
                          </a:solidFill>
                          <a:latin typeface="Roboto"/>
                          <a:ea typeface="Roboto"/>
                          <a:cs typeface="Roboto"/>
                        </a:rPr>
                        <a:t>Lead time, review queues, rework,</a:t>
                      </a:r>
                    </a:p>
                    <a:p>
                      <a:r>
                        <a:rPr sz="1500" b="0">
                          <a:solidFill>
                            <a:srgbClr val="28C7F7"/>
                          </a:solidFill>
                          <a:latin typeface="Roboto"/>
                          <a:ea typeface="Roboto"/>
                          <a:cs typeface="Roboto"/>
                        </a:rPr>
                        <a:t>stability + retained understanding</a:t>
                      </a:r>
                    </a:p>
                  </a:txBody>
                  <a:tcPr marL="91440" marR="91440" marT="45720" marB="45720" anchor="ctr">
                    <a:solidFill>
                      <a:srgbClr val="0B0F14"/>
                    </a:solidFill>
                  </a:tcPr>
                </a:tc>
              </a:tr>
              <a:tr h="857250">
                <a:tc>
                  <a:txBody>
                    <a:bodyPr lIns="171450" tIns="57150" rIns="171450" bIns="57150">
                      <a:noAutofit/>
                    </a:bodyPr>
                    <a:lstStyle/>
                    <a:p>
                      <a:r>
                        <a:rPr sz="1500" b="1">
                          <a:solidFill>
                            <a:srgbClr val="F4F7FA"/>
                          </a:solidFill>
                          <a:latin typeface="Roboto"/>
                          <a:ea typeface="Roboto"/>
                          <a:cs typeface="Roboto"/>
                        </a:rPr>
                        <a:t>Thinking Systems</a:t>
                      </a:r>
                    </a:p>
                  </a:txBody>
                  <a:tcPr marL="91440" marR="91440" marT="45720" marB="45720" anchor="ctr">
                    <a:solidFill>
                      <a:srgbClr val="0B0F14"/>
                    </a:solidFill>
                  </a:tcPr>
                </a:tc>
                <a:tc>
                  <a:txBody>
                    <a:bodyPr lIns="171450" tIns="57150" rIns="171450" bIns="57150">
                      <a:noAutofit/>
                    </a:bodyPr>
                    <a:lstStyle/>
                    <a:p>
                      <a:r>
                        <a:rPr sz="1500" b="0">
                          <a:solidFill>
                            <a:srgbClr val="F4F7FA"/>
                          </a:solidFill>
                          <a:latin typeface="Roboto"/>
                          <a:ea typeface="Roboto"/>
                          <a:cs typeface="Roboto"/>
                        </a:rPr>
                        <a:t>An added engineering discipline:</a:t>
                      </a:r>
                    </a:p>
                    <a:p>
                      <a:r>
                        <a:rPr sz="1500" b="0">
                          <a:solidFill>
                            <a:srgbClr val="F4F7FA"/>
                          </a:solidFill>
                          <a:latin typeface="Roboto"/>
                          <a:ea typeface="Roboto"/>
                          <a:cs typeface="Roboto"/>
                        </a:rPr>
                        <a:t>requirements, evals and control design.</a:t>
                      </a:r>
                    </a:p>
                    <a:p>
                      <a:r>
                        <a:rPr sz="1500" b="0">
                          <a:solidFill>
                            <a:srgbClr val="F4F7FA"/>
                          </a:solidFill>
                          <a:latin typeface="Roboto"/>
                          <a:ea typeface="Roboto"/>
                          <a:cs typeface="Roboto"/>
                        </a:rPr>
                        <a:t>People + authority are system dependencies.</a:t>
                      </a:r>
                    </a:p>
                  </a:txBody>
                  <a:tcPr marL="91440" marR="91440" marT="45720" marB="45720" anchor="ctr">
                    <a:solidFill>
                      <a:srgbClr val="0B0F14"/>
                    </a:solidFill>
                  </a:tcPr>
                </a:tc>
                <a:tc>
                  <a:txBody>
                    <a:bodyPr lIns="171450" tIns="57150" rIns="171450" bIns="57150">
                      <a:noAutofit/>
                    </a:bodyPr>
                    <a:lstStyle/>
                    <a:p>
                      <a:r>
                        <a:rPr sz="1500" b="0">
                          <a:solidFill>
                            <a:srgbClr val="28C7F7"/>
                          </a:solidFill>
                          <a:latin typeface="Roboto"/>
                          <a:ea typeface="Roboto"/>
                          <a:cs typeface="Roboto"/>
                        </a:rPr>
                        <a:t>Outcome frequency + severity,</a:t>
                      </a:r>
                    </a:p>
                    <a:p>
                      <a:r>
                        <a:rPr sz="1500" b="0">
                          <a:solidFill>
                            <a:srgbClr val="28C7F7"/>
                          </a:solidFill>
                          <a:latin typeface="Roboto"/>
                          <a:ea typeface="Roboto"/>
                          <a:cs typeface="Roboto"/>
                        </a:rPr>
                        <a:t>cost / latency, human workload</a:t>
                      </a:r>
                    </a:p>
                  </a:txBody>
                  <a:tcPr marL="91440" marR="91440" marT="45720" marB="45720" anchor="ctr">
                    <a:solidFill>
                      <a:srgbClr val="0B0F14"/>
                    </a:solidFill>
                  </a:tcPr>
                </a:tc>
              </a:tr>
              <a:tr h="857250">
                <a:tc>
                  <a:txBody>
                    <a:bodyPr lIns="171450" tIns="57150" rIns="171450" bIns="57150">
                      <a:noAutofit/>
                    </a:bodyPr>
                    <a:lstStyle/>
                    <a:p>
                      <a:r>
                        <a:rPr sz="1500" b="1">
                          <a:solidFill>
                            <a:srgbClr val="F4F7FA"/>
                          </a:solidFill>
                          <a:latin typeface="Roboto"/>
                          <a:ea typeface="Roboto"/>
                          <a:cs typeface="Roboto"/>
                        </a:rPr>
                        <a:t>Operating model</a:t>
                      </a:r>
                    </a:p>
                  </a:txBody>
                  <a:tcPr marL="91440" marR="91440" marT="45720" marB="45720" anchor="ctr">
                    <a:solidFill>
                      <a:srgbClr val="0B0F14"/>
                    </a:solidFill>
                  </a:tcPr>
                </a:tc>
                <a:tc>
                  <a:txBody>
                    <a:bodyPr lIns="171450" tIns="57150" rIns="171450" bIns="57150">
                      <a:noAutofit/>
                    </a:bodyPr>
                    <a:lstStyle/>
                    <a:p>
                      <a:r>
                        <a:rPr sz="1500" b="0">
                          <a:solidFill>
                            <a:srgbClr val="F4F7FA"/>
                          </a:solidFill>
                          <a:latin typeface="Roboto"/>
                          <a:ea typeface="Roboto"/>
                          <a:cs typeface="Roboto"/>
                        </a:rPr>
                        <a:t>Changed roles, evidence and decision rights.</a:t>
                      </a:r>
                    </a:p>
                    <a:p>
                      <a:r>
                        <a:rPr sz="1500" b="0">
                          <a:solidFill>
                            <a:srgbClr val="F4F7FA"/>
                          </a:solidFill>
                          <a:latin typeface="Roboto"/>
                          <a:ea typeface="Roboto"/>
                          <a:cs typeface="Roboto"/>
                        </a:rPr>
                        <a:t>Find gaps in process and team organization.</a:t>
                      </a:r>
                    </a:p>
                  </a:txBody>
                  <a:tcPr marL="91440" marR="91440" marT="45720" marB="45720" anchor="ctr">
                    <a:solidFill>
                      <a:srgbClr val="0B0F14"/>
                    </a:solidFill>
                  </a:tcPr>
                </a:tc>
                <a:tc>
                  <a:txBody>
                    <a:bodyPr lIns="171450" tIns="57150" rIns="171450" bIns="57150">
                      <a:noAutofit/>
                    </a:bodyPr>
                    <a:lstStyle/>
                    <a:p>
                      <a:r>
                        <a:rPr sz="1500" b="0">
                          <a:solidFill>
                            <a:srgbClr val="28C7F7"/>
                          </a:solidFill>
                          <a:latin typeface="Roboto"/>
                          <a:ea typeface="Roboto"/>
                          <a:cs typeface="Roboto"/>
                        </a:rPr>
                        <a:t>Coverage, response time, control health,</a:t>
                      </a:r>
                    </a:p>
                    <a:p>
                      <a:r>
                        <a:rPr sz="1500" b="0">
                          <a:solidFill>
                            <a:srgbClr val="28C7F7"/>
                          </a:solidFill>
                          <a:latin typeface="Roboto"/>
                          <a:ea typeface="Roboto"/>
                          <a:cs typeface="Roboto"/>
                        </a:rPr>
                        <a:t>incidents + decisions to reassess</a:t>
                      </a:r>
                    </a:p>
                  </a:txBody>
                  <a:tcPr marL="91440" marR="91440" marT="45720" marB="45720" anchor="ctr">
                    <a:solidFill>
                      <a:srgbClr val="0B0F14"/>
                    </a:solidFill>
                  </a:tcPr>
                </a:tc>
              </a:tr>
            </a:tbl>
          </a:graphicData>
        </a:graphic>
      </p:graphicFrame>
      <p:sp>
        <p:nvSpPr>
          <p:cNvPr id="8" name="">
            <a:extLst xmlns:a="http://schemas.openxmlformats.org/drawingml/2006/main">
              <a:ext uri="{FF2B5EF4-FFF2-40B4-BE49-F238E27FC236}">
                <a16:creationId xmlns:a16="http://schemas.microsoft.com/office/drawing/2014/main" id="{839F51B3-555F-45C2-8B0A-F20715C6257F}"/>
              </a:ext>
            </a:extLst>
          </p:cNvPr>
          <p:cNvSpPr>
            <a:spLocks xmlns:a="http://schemas.openxmlformats.org/drawingml/2006/main" noGrp="1"/>
          </p:cNvSpPr>
          <p:nvPr/>
        </p:nvSpPr>
        <p:spPr>
          <a:xfrm xmlns:a="http://schemas.openxmlformats.org/drawingml/2006/main">
            <a:off x="609600" y="5838825"/>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F5B61C"/>
                </a:solidFill>
                <a:latin typeface="Roboto"/>
                <a:ea typeface="Roboto"/>
                <a:cs typeface="Roboto"/>
              </a:defRPr>
            </a:pPr>
            <a:r>
              <a:rPr sz="1575" b="0">
                <a:solidFill>
                  <a:srgbClr val="F5B61C"/>
                </a:solidFill>
                <a:latin typeface="Roboto"/>
                <a:ea typeface="Roboto"/>
                <a:cs typeface="Roboto"/>
              </a:rPr>
              <a:t>Statistical literacy: question sampling, uncertainty, thresholds and the strength of evidence.</a:t>
            </a:r>
          </a:p>
        </p:txBody>
      </p:sp>
      <p:sp>
        <p:nvSpPr>
          <p:cNvPr id="9" name="">
            <a:extLst xmlns:a="http://schemas.openxmlformats.org/drawingml/2006/main">
              <a:ext uri="{FF2B5EF4-FFF2-40B4-BE49-F238E27FC236}">
                <a16:creationId xmlns:a16="http://schemas.microsoft.com/office/drawing/2014/main" id="{A39F0B89-9ED8-45B7-8FA4-16A1E61C8739}"/>
              </a:ext>
            </a:extLst>
          </p:cNvPr>
          <p:cNvSpPr>
            <a:spLocks xmlns:a="http://schemas.openxmlformats.org/drawingml/2006/main" noGrp="1"/>
          </p:cNvSpPr>
          <p:nvPr/>
        </p:nvSpPr>
        <p:spPr>
          <a:xfrm xmlns:a="http://schemas.openxmlformats.org/drawingml/2006/main">
            <a:off x="609600" y="6162675"/>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Roboto"/>
                <a:ea typeface="Roboto"/>
                <a:cs typeface="Roboto"/>
              </a:defRPr>
            </a:pPr>
            <a:r>
              <a:rPr sz="1500" b="0">
                <a:solidFill>
                  <a:srgbClr val="ADB8C5"/>
                </a:solidFill>
                <a:latin typeface="Roboto"/>
                <a:ea typeface="Roboto"/>
                <a:cs typeface="Roboto"/>
              </a:rPr>
              <a:t>Coordinate specialists and business owners. Make missing evidence and control capacity visible.</a:t>
            </a:r>
          </a:p>
        </p:txBody>
      </p:sp>
      <p:sp>
        <p:nvSpPr>
          <p:cNvPr id="10" name="">
            <a:extLst xmlns:a="http://schemas.openxmlformats.org/drawingml/2006/main">
              <a:ext uri="{FF2B5EF4-FFF2-40B4-BE49-F238E27FC236}">
                <a16:creationId xmlns:a16="http://schemas.microsoft.com/office/drawing/2014/main" id="{3E4E9CA2-C5D8-485B-AF6D-9A2A1F82D359}"/>
              </a:ext>
            </a:extLst>
          </p:cNvPr>
          <p:cNvSpPr>
            <a:spLocks xmlns:a="http://schemas.openxmlformats.org/drawingml/2006/main" noGrp="1"/>
          </p:cNvSpPr>
          <p:nvPr/>
        </p:nvSpPr>
        <p:spPr>
          <a:xfrm xmlns:a="http://schemas.openxmlformats.org/drawingml/2006/main">
            <a:off x="609600" y="6496050"/>
            <a:ext cx="106489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F4F7FA"/>
                </a:solidFill>
                <a:latin typeface="Roboto"/>
                <a:ea typeface="Roboto"/>
                <a:cs typeface="Roboto"/>
              </a:defRPr>
            </a:pPr>
            <a:r>
              <a:rPr sz="1725" b="1">
                <a:solidFill>
                  <a:srgbClr val="F4F7FA"/>
                </a:solidFill>
                <a:latin typeface="Roboto"/>
                <a:ea typeface="Roboto"/>
                <a:cs typeface="Roboto"/>
              </a:rPr>
              <a:t>Progress = working capability + reduced uncertainty + explicit decisions.</a:t>
            </a:r>
          </a:p>
        </p:txBody>
      </p:sp>
    </p:spTree>
    <p:extLst>
      <p:ext uri="{BB962C8B-B14F-4D97-AF65-F5344CB8AC3E}">
        <p14:creationId xmlns:p14="http://schemas.microsoft.com/office/powerpoint/2010/main" val="936891009"/>
      </p:ext>
    </p:extLst>
  </p:cSld>
</p:sld>
</file>

<file path=ppt/slides/slide14.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9BB3FC9E-35AD-41F5-A07C-96A5E3BA605E}"/>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Roboto"/>
                <a:ea typeface="Roboto"/>
                <a:cs typeface="Roboto"/>
              </a:defRPr>
            </a:pPr>
            <a:r>
              <a:rPr sz="3000" b="1">
                <a:solidFill>
                  <a:srgbClr val="F4F7FA"/>
                </a:solidFill>
                <a:latin typeface="Roboto"/>
                <a:ea typeface="Roboto"/>
                <a:cs typeface="Roboto"/>
              </a:rPr>
              <a:t>Engineering Rigor Moves —</a:t>
            </a:r>
          </a:p>
          <a:p xmlns:a="http://schemas.openxmlformats.org/drawingml/2006/main">
            <a:pPr algn="l">
              <a:defRPr sz="3000" b="1">
                <a:solidFill>
                  <a:srgbClr val="F4F7FA"/>
                </a:solidFill>
                <a:latin typeface="Roboto"/>
                <a:ea typeface="Roboto"/>
                <a:cs typeface="Roboto"/>
              </a:defRPr>
            </a:pPr>
            <a:r>
              <a:rPr sz="3000" b="1">
                <a:solidFill>
                  <a:srgbClr val="F4F7FA"/>
                </a:solidFill>
                <a:latin typeface="Roboto"/>
                <a:ea typeface="Roboto"/>
                <a:cs typeface="Roboto"/>
              </a:rPr>
              <a:t>It Doesn’t Disappear</a:t>
            </a:r>
          </a:p>
        </p:txBody>
      </p:sp>
      <p:sp>
        <p:nvSpPr>
          <p:cNvPr id="2" name="">
            <a:extLst xmlns:a="http://schemas.openxmlformats.org/drawingml/2006/main">
              <a:ext uri="{FF2B5EF4-FFF2-40B4-BE49-F238E27FC236}">
                <a16:creationId xmlns:a16="http://schemas.microsoft.com/office/drawing/2014/main" id="{E676AFEB-38FB-4EE1-9B8D-28CB5F219935}"/>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C9F66858-46ED-4C13-8EA3-74B252877748}"/>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Roboto"/>
                <a:ea typeface="Roboto"/>
                <a:cs typeface="Roboto"/>
              </a:defRPr>
            </a:pPr>
            <a:r>
              <a:rPr sz="1200" b="0">
                <a:solidFill>
                  <a:srgbClr val="ADB8C5"/>
                </a:solidFill>
                <a:latin typeface="Roboto"/>
                <a:ea typeface="Roboto"/>
                <a:cs typeface="Roboto"/>
              </a:rPr>
              <a:t>14</a:t>
            </a:r>
          </a:p>
        </p:txBody>
      </p:sp>
      <p:sp>
        <p:nvSpPr>
          <p:cNvPr id="4" name="">
            <a:extLst xmlns:a="http://schemas.openxmlformats.org/drawingml/2006/main">
              <a:ext uri="{FF2B5EF4-FFF2-40B4-BE49-F238E27FC236}">
                <a16:creationId xmlns:a16="http://schemas.microsoft.com/office/drawing/2014/main" id="{CCCDD9F9-4DDC-4EDE-B9D4-445163A36B85}"/>
              </a:ext>
            </a:extLst>
          </p:cNvPr>
          <p:cNvSpPr>
            <a:spLocks xmlns:a="http://schemas.openxmlformats.org/drawingml/2006/main" noGrp="1"/>
          </p:cNvSpPr>
          <p:nvPr/>
        </p:nvSpPr>
        <p:spPr>
          <a:xfrm xmlns:a="http://schemas.openxmlformats.org/drawingml/2006/main">
            <a:off x="609600" y="1943100"/>
            <a:ext cx="438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1">
                <a:solidFill>
                  <a:srgbClr val="ADB8C5"/>
                </a:solidFill>
                <a:latin typeface="Roboto"/>
                <a:ea typeface="Roboto"/>
                <a:cs typeface="Roboto"/>
              </a:defRPr>
            </a:pPr>
            <a:r>
              <a:rPr sz="1575" b="1">
                <a:solidFill>
                  <a:srgbClr val="ADB8C5"/>
                </a:solidFill>
                <a:latin typeface="Roboto"/>
                <a:ea typeface="Roboto"/>
                <a:cs typeface="Roboto"/>
              </a:rPr>
              <a:t>DELIVERY CONTINUES</a:t>
            </a:r>
          </a:p>
        </p:txBody>
      </p:sp>
      <p:sp>
        <p:nvSpPr>
          <p:cNvPr id="5" name="">
            <a:extLst xmlns:a="http://schemas.openxmlformats.org/drawingml/2006/main">
              <a:ext uri="{FF2B5EF4-FFF2-40B4-BE49-F238E27FC236}">
                <a16:creationId xmlns:a16="http://schemas.microsoft.com/office/drawing/2014/main" id="{40D1426A-9252-401C-AD13-50B36677FDA0}"/>
              </a:ext>
            </a:extLst>
          </p:cNvPr>
          <p:cNvSpPr>
            <a:spLocks xmlns:a="http://schemas.openxmlformats.org/drawingml/2006/main" noGrp="1"/>
          </p:cNvSpPr>
          <p:nvPr/>
        </p:nvSpPr>
        <p:spPr>
          <a:xfrm xmlns:a="http://schemas.openxmlformats.org/drawingml/2006/main">
            <a:off x="609600" y="2362200"/>
            <a:ext cx="4381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1">
                <a:solidFill>
                  <a:srgbClr val="F4F7FA"/>
                </a:solidFill>
                <a:latin typeface="Roboto"/>
                <a:ea typeface="Roboto"/>
                <a:cs typeface="Roboto"/>
              </a:defRPr>
            </a:pPr>
            <a:r>
              <a:rPr sz="1875" b="1">
                <a:solidFill>
                  <a:srgbClr val="F4F7FA"/>
                </a:solidFill>
                <a:latin typeface="Roboto"/>
                <a:ea typeface="Roboto"/>
                <a:cs typeface="Roboto"/>
              </a:rPr>
              <a:t>Plan → Build → Verify → Ship</a:t>
            </a:r>
          </a:p>
        </p:txBody>
      </p:sp>
      <p:sp>
        <p:nvSpPr>
          <p:cNvPr id="6" name="">
            <a:extLst xmlns:a="http://schemas.openxmlformats.org/drawingml/2006/main">
              <a:ext uri="{FF2B5EF4-FFF2-40B4-BE49-F238E27FC236}">
                <a16:creationId xmlns:a16="http://schemas.microsoft.com/office/drawing/2014/main" id="{5CBB85D3-8E03-4689-9753-3DB209E26BFE}"/>
              </a:ext>
            </a:extLst>
          </p:cNvPr>
          <p:cNvSpPr>
            <a:spLocks xmlns:a="http://schemas.openxmlformats.org/drawingml/2006/main" noGrp="1"/>
          </p:cNvSpPr>
          <p:nvPr/>
        </p:nvSpPr>
        <p:spPr>
          <a:xfrm xmlns:a="http://schemas.openxmlformats.org/drawingml/2006/main">
            <a:off x="609600" y="2800350"/>
            <a:ext cx="4381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ADB8C5"/>
                </a:solidFill>
                <a:latin typeface="Roboto"/>
                <a:ea typeface="Roboto"/>
                <a:cs typeface="Roboto"/>
              </a:defRPr>
            </a:pPr>
            <a:r>
              <a:rPr sz="1725" b="0">
                <a:solidFill>
                  <a:srgbClr val="ADB8C5"/>
                </a:solidFill>
                <a:latin typeface="Roboto"/>
                <a:ea typeface="Roboto"/>
                <a:cs typeface="Roboto"/>
              </a:rPr>
              <a:t>Scope, quality, cost and schedule</a:t>
            </a:r>
          </a:p>
          <a:p xmlns:a="http://schemas.openxmlformats.org/drawingml/2006/main">
            <a:pPr algn="l">
              <a:defRPr sz="1725" b="0">
                <a:solidFill>
                  <a:srgbClr val="ADB8C5"/>
                </a:solidFill>
                <a:latin typeface="Roboto"/>
                <a:ea typeface="Roboto"/>
                <a:cs typeface="Roboto"/>
              </a:defRPr>
            </a:pPr>
            <a:r>
              <a:rPr sz="1725" b="0">
                <a:solidFill>
                  <a:srgbClr val="ADB8C5"/>
                </a:solidFill>
                <a:latin typeface="Roboto"/>
                <a:ea typeface="Roboto"/>
                <a:cs typeface="Roboto"/>
              </a:rPr>
              <a:t>remain part of the job.</a:t>
            </a:r>
          </a:p>
        </p:txBody>
      </p:sp>
      <p:sp>
        <p:nvSpPr>
          <p:cNvPr id="7" name="">
            <a:extLst xmlns:a="http://schemas.openxmlformats.org/drawingml/2006/main">
              <a:ext uri="{FF2B5EF4-FFF2-40B4-BE49-F238E27FC236}">
                <a16:creationId xmlns:a16="http://schemas.microsoft.com/office/drawing/2014/main" id="{5496CF23-DE15-4E08-8A22-AAAEA6F9A297}"/>
              </a:ext>
            </a:extLst>
          </p:cNvPr>
          <p:cNvSpPr>
            <a:spLocks xmlns:a="http://schemas.openxmlformats.org/drawingml/2006/main" noGrp="1"/>
          </p:cNvSpPr>
          <p:nvPr/>
        </p:nvSpPr>
        <p:spPr>
          <a:xfrm xmlns:a="http://schemas.openxmlformats.org/drawingml/2006/main">
            <a:off x="609600" y="3705225"/>
            <a:ext cx="438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1">
                <a:solidFill>
                  <a:srgbClr val="28C7F7"/>
                </a:solidFill>
                <a:latin typeface="Roboto"/>
                <a:ea typeface="Roboto"/>
                <a:cs typeface="Roboto"/>
              </a:defRPr>
            </a:pPr>
            <a:r>
              <a:rPr sz="1575" b="1">
                <a:solidFill>
                  <a:srgbClr val="28C7F7"/>
                </a:solidFill>
                <a:latin typeface="Roboto"/>
                <a:ea typeface="Roboto"/>
                <a:cs typeface="Roboto"/>
              </a:rPr>
              <a:t>THE LABORATORY STAYS OPEN</a:t>
            </a:r>
          </a:p>
        </p:txBody>
      </p:sp>
      <p:sp>
        <p:nvSpPr>
          <p:cNvPr id="8" name="">
            <a:extLst xmlns:a="http://schemas.openxmlformats.org/drawingml/2006/main">
              <a:ext uri="{FF2B5EF4-FFF2-40B4-BE49-F238E27FC236}">
                <a16:creationId xmlns:a16="http://schemas.microsoft.com/office/drawing/2014/main" id="{247DCA3F-067F-4F0E-9E79-9F5B01A446C0}"/>
              </a:ext>
            </a:extLst>
          </p:cNvPr>
          <p:cNvSpPr>
            <a:spLocks xmlns:a="http://schemas.openxmlformats.org/drawingml/2006/main" noGrp="1"/>
          </p:cNvSpPr>
          <p:nvPr/>
        </p:nvSpPr>
        <p:spPr>
          <a:xfrm xmlns:a="http://schemas.openxmlformats.org/drawingml/2006/main">
            <a:off x="609600" y="4095750"/>
            <a:ext cx="43815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00" b="0">
                <a:solidFill>
                  <a:srgbClr val="F4F7FA"/>
                </a:solidFill>
                <a:latin typeface="Roboto"/>
                <a:ea typeface="Roboto"/>
                <a:cs typeface="Roboto"/>
              </a:defRPr>
            </a:pPr>
            <a:r>
              <a:rPr sz="1800" b="0">
                <a:solidFill>
                  <a:srgbClr val="F4F7FA"/>
                </a:solidFill>
                <a:latin typeface="Roboto"/>
                <a:ea typeface="Roboto"/>
                <a:cs typeface="Roboto"/>
              </a:rPr>
              <a:t>Evidence reopens assumptions.</a:t>
            </a:r>
          </a:p>
          <a:p xmlns:a="http://schemas.openxmlformats.org/drawingml/2006/main">
            <a:pPr algn="l">
              <a:defRPr sz="1800" b="0">
                <a:solidFill>
                  <a:srgbClr val="F4F7FA"/>
                </a:solidFill>
                <a:latin typeface="Roboto"/>
                <a:ea typeface="Roboto"/>
                <a:cs typeface="Roboto"/>
              </a:defRPr>
            </a:pPr>
            <a:r>
              <a:rPr sz="1800" b="0">
                <a:solidFill>
                  <a:srgbClr val="F4F7FA"/>
                </a:solidFill>
                <a:latin typeface="Roboto"/>
                <a:ea typeface="Roboto"/>
                <a:cs typeface="Roboto"/>
              </a:rPr>
              <a:t>Release feeds the next experiment.</a:t>
            </a:r>
          </a:p>
        </p:txBody>
      </p:sp>
      <p:sp>
        <p:nvSpPr>
          <p:cNvPr id="9" name="">
            <a:extLst xmlns:a="http://schemas.openxmlformats.org/drawingml/2006/main">
              <a:ext uri="{FF2B5EF4-FFF2-40B4-BE49-F238E27FC236}">
                <a16:creationId xmlns:a16="http://schemas.microsoft.com/office/drawing/2014/main" id="{A8EB57E0-709B-4BF4-AC4B-BC19F347B338}"/>
              </a:ext>
            </a:extLst>
          </p:cNvPr>
          <p:cNvSpPr>
            <a:spLocks xmlns:a="http://schemas.openxmlformats.org/drawingml/2006/main" noGrp="1"/>
          </p:cNvSpPr>
          <p:nvPr/>
        </p:nvSpPr>
        <p:spPr>
          <a:xfrm xmlns:a="http://schemas.openxmlformats.org/drawingml/2006/main" flipH="0" flipV="0">
            <a:off x="5143500" y="1971675"/>
            <a:ext cx="0" cy="270510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10" name="">
            <a:extLst xmlns:a="http://schemas.openxmlformats.org/drawingml/2006/main">
              <a:ext uri="{FF2B5EF4-FFF2-40B4-BE49-F238E27FC236}">
                <a16:creationId xmlns:a16="http://schemas.microsoft.com/office/drawing/2014/main" id="{28E9B54B-8944-499B-98C7-10F756F92523}"/>
              </a:ext>
            </a:extLst>
          </p:cNvPr>
          <p:cNvSpPr>
            <a:spLocks xmlns:a="http://schemas.openxmlformats.org/drawingml/2006/main" noGrp="1"/>
          </p:cNvSpPr>
          <p:nvPr/>
        </p:nvSpPr>
        <p:spPr>
          <a:xfrm xmlns:a="http://schemas.openxmlformats.org/drawingml/2006/main">
            <a:off x="5543550" y="2095500"/>
            <a:ext cx="2305050" cy="64770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11" name="">
            <a:extLst xmlns:a="http://schemas.openxmlformats.org/drawingml/2006/main">
              <a:ext uri="{FF2B5EF4-FFF2-40B4-BE49-F238E27FC236}">
                <a16:creationId xmlns:a16="http://schemas.microsoft.com/office/drawing/2014/main" id="{08354446-B036-4544-A828-3C19A74E7A7F}"/>
              </a:ext>
            </a:extLst>
          </p:cNvPr>
          <p:cNvSpPr>
            <a:spLocks xmlns:a="http://schemas.openxmlformats.org/drawingml/2006/main" noGrp="1"/>
          </p:cNvSpPr>
          <p:nvPr/>
        </p:nvSpPr>
        <p:spPr>
          <a:xfrm xmlns:a="http://schemas.openxmlformats.org/drawingml/2006/main">
            <a:off x="5657850" y="2171700"/>
            <a:ext cx="20764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650" b="1">
                <a:solidFill>
                  <a:srgbClr val="F4F7FA"/>
                </a:solidFill>
                <a:latin typeface="Roboto"/>
                <a:ea typeface="Roboto"/>
                <a:cs typeface="Roboto"/>
              </a:defRPr>
            </a:pPr>
            <a:r>
              <a:rPr sz="1650" b="1">
                <a:solidFill>
                  <a:srgbClr val="F4F7FA"/>
                </a:solidFill>
                <a:latin typeface="Roboto"/>
                <a:ea typeface="Roboto"/>
                <a:cs typeface="Roboto"/>
              </a:rPr>
              <a:t>Hypothesize</a:t>
            </a:r>
          </a:p>
          <a:p xmlns:a="http://schemas.openxmlformats.org/drawingml/2006/main">
            <a:pPr algn="ctr">
              <a:defRPr sz="1650" b="1">
                <a:solidFill>
                  <a:srgbClr val="F4F7FA"/>
                </a:solidFill>
                <a:latin typeface="Roboto"/>
                <a:ea typeface="Roboto"/>
                <a:cs typeface="Roboto"/>
              </a:defRPr>
            </a:pPr>
            <a:r>
              <a:rPr sz="1650" b="1">
                <a:solidFill>
                  <a:srgbClr val="F4F7FA"/>
                </a:solidFill>
                <a:latin typeface="Roboto"/>
                <a:ea typeface="Roboto"/>
                <a:cs typeface="Roboto"/>
              </a:rPr>
              <a:t>+ bounded trial</a:t>
            </a:r>
          </a:p>
        </p:txBody>
      </p:sp>
      <p:sp>
        <p:nvSpPr>
          <p:cNvPr id="12" name="">
            <a:extLst xmlns:a="http://schemas.openxmlformats.org/drawingml/2006/main">
              <a:ext uri="{FF2B5EF4-FFF2-40B4-BE49-F238E27FC236}">
                <a16:creationId xmlns:a16="http://schemas.microsoft.com/office/drawing/2014/main" id="{568E1DC3-5542-44FD-8811-A109C5C4DA6E}"/>
              </a:ext>
            </a:extLst>
          </p:cNvPr>
          <p:cNvSpPr>
            <a:spLocks xmlns:a="http://schemas.openxmlformats.org/drawingml/2006/main" noGrp="1"/>
          </p:cNvSpPr>
          <p:nvPr/>
        </p:nvSpPr>
        <p:spPr>
          <a:xfrm xmlns:a="http://schemas.openxmlformats.org/drawingml/2006/main">
            <a:off x="9086850" y="2095500"/>
            <a:ext cx="2305050" cy="64770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13" name="">
            <a:extLst xmlns:a="http://schemas.openxmlformats.org/drawingml/2006/main">
              <a:ext uri="{FF2B5EF4-FFF2-40B4-BE49-F238E27FC236}">
                <a16:creationId xmlns:a16="http://schemas.microsoft.com/office/drawing/2014/main" id="{60A2A0FA-2DA5-4FCB-854A-CDC95E2249DC}"/>
              </a:ext>
            </a:extLst>
          </p:cNvPr>
          <p:cNvSpPr>
            <a:spLocks xmlns:a="http://schemas.openxmlformats.org/drawingml/2006/main" noGrp="1"/>
          </p:cNvSpPr>
          <p:nvPr/>
        </p:nvSpPr>
        <p:spPr>
          <a:xfrm xmlns:a="http://schemas.openxmlformats.org/drawingml/2006/main">
            <a:off x="9201150" y="2171700"/>
            <a:ext cx="20764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00" b="1">
                <a:solidFill>
                  <a:srgbClr val="F4F7FA"/>
                </a:solidFill>
                <a:latin typeface="Roboto"/>
                <a:ea typeface="Roboto"/>
                <a:cs typeface="Roboto"/>
              </a:defRPr>
            </a:pPr>
            <a:r>
              <a:rPr sz="1800" b="1">
                <a:solidFill>
                  <a:srgbClr val="F4F7FA"/>
                </a:solidFill>
                <a:latin typeface="Roboto"/>
                <a:ea typeface="Roboto"/>
                <a:cs typeface="Roboto"/>
              </a:rPr>
              <a:t>Measure</a:t>
            </a:r>
          </a:p>
        </p:txBody>
      </p:sp>
      <p:sp>
        <p:nvSpPr>
          <p:cNvPr id="14" name="">
            <a:extLst xmlns:a="http://schemas.openxmlformats.org/drawingml/2006/main">
              <a:ext uri="{FF2B5EF4-FFF2-40B4-BE49-F238E27FC236}">
                <a16:creationId xmlns:a16="http://schemas.microsoft.com/office/drawing/2014/main" id="{4BBA6D3E-F732-4C5C-A16F-09580190C55A}"/>
              </a:ext>
            </a:extLst>
          </p:cNvPr>
          <p:cNvSpPr>
            <a:spLocks xmlns:a="http://schemas.openxmlformats.org/drawingml/2006/main" noGrp="1"/>
          </p:cNvSpPr>
          <p:nvPr/>
        </p:nvSpPr>
        <p:spPr>
          <a:xfrm xmlns:a="http://schemas.openxmlformats.org/drawingml/2006/main">
            <a:off x="9086850" y="3943350"/>
            <a:ext cx="2305050" cy="647700"/>
          </a:xfrm>
          <a:prstGeom xmlns:a="http://schemas.openxmlformats.org/drawingml/2006/main" prst="rect">
            <a:avLst/>
          </a:prstGeom>
          <a:solidFill xmlns:a="http://schemas.openxmlformats.org/drawingml/2006/main">
            <a:srgbClr val="141C26"/>
          </a:solidFill>
          <a:ln xmlns:a="http://schemas.openxmlformats.org/drawingml/2006/main" w="14288">
            <a:solidFill>
              <a:srgbClr val="F5B61C"/>
            </a:solidFill>
            <a:prstDash val="solid"/>
          </a:ln>
        </p:spPr>
      </p:sp>
      <p:sp>
        <p:nvSpPr>
          <p:cNvPr id="15" name="">
            <a:extLst xmlns:a="http://schemas.openxmlformats.org/drawingml/2006/main">
              <a:ext uri="{FF2B5EF4-FFF2-40B4-BE49-F238E27FC236}">
                <a16:creationId xmlns:a16="http://schemas.microsoft.com/office/drawing/2014/main" id="{3BBA948B-9E50-42A4-BBB9-97B8BA54E929}"/>
              </a:ext>
            </a:extLst>
          </p:cNvPr>
          <p:cNvSpPr>
            <a:spLocks xmlns:a="http://schemas.openxmlformats.org/drawingml/2006/main" noGrp="1"/>
          </p:cNvSpPr>
          <p:nvPr/>
        </p:nvSpPr>
        <p:spPr>
          <a:xfrm xmlns:a="http://schemas.openxmlformats.org/drawingml/2006/main">
            <a:off x="9201150" y="4019550"/>
            <a:ext cx="20764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00" b="1">
                <a:solidFill>
                  <a:srgbClr val="F4F7FA"/>
                </a:solidFill>
                <a:latin typeface="Roboto"/>
                <a:ea typeface="Roboto"/>
                <a:cs typeface="Roboto"/>
              </a:defRPr>
            </a:pPr>
            <a:r>
              <a:rPr sz="1800" b="1">
                <a:solidFill>
                  <a:srgbClr val="F4F7FA"/>
                </a:solidFill>
                <a:latin typeface="Roboto"/>
                <a:ea typeface="Roboto"/>
                <a:cs typeface="Roboto"/>
              </a:rPr>
              <a:t>Decide</a:t>
            </a:r>
          </a:p>
        </p:txBody>
      </p:sp>
      <p:sp>
        <p:nvSpPr>
          <p:cNvPr id="16" name="">
            <a:extLst xmlns:a="http://schemas.openxmlformats.org/drawingml/2006/main">
              <a:ext uri="{FF2B5EF4-FFF2-40B4-BE49-F238E27FC236}">
                <a16:creationId xmlns:a16="http://schemas.microsoft.com/office/drawing/2014/main" id="{9388D8FB-517D-4843-84C3-5D2E77DE57EE}"/>
              </a:ext>
            </a:extLst>
          </p:cNvPr>
          <p:cNvSpPr>
            <a:spLocks xmlns:a="http://schemas.openxmlformats.org/drawingml/2006/main" noGrp="1"/>
          </p:cNvSpPr>
          <p:nvPr/>
        </p:nvSpPr>
        <p:spPr>
          <a:xfrm xmlns:a="http://schemas.openxmlformats.org/drawingml/2006/main">
            <a:off x="5543550" y="3943350"/>
            <a:ext cx="2305050" cy="647700"/>
          </a:xfrm>
          <a:prstGeom xmlns:a="http://schemas.openxmlformats.org/drawingml/2006/main" prst="rect">
            <a:avLst/>
          </a:prstGeom>
          <a:solidFill xmlns:a="http://schemas.openxmlformats.org/drawingml/2006/main">
            <a:srgbClr val="141C26"/>
          </a:solidFill>
          <a:ln xmlns:a="http://schemas.openxmlformats.org/drawingml/2006/main" w="14288">
            <a:solidFill>
              <a:srgbClr val="F5B61C"/>
            </a:solidFill>
            <a:prstDash val="solid"/>
          </a:ln>
        </p:spPr>
      </p:sp>
      <p:sp>
        <p:nvSpPr>
          <p:cNvPr id="17" name="">
            <a:extLst xmlns:a="http://schemas.openxmlformats.org/drawingml/2006/main">
              <a:ext uri="{FF2B5EF4-FFF2-40B4-BE49-F238E27FC236}">
                <a16:creationId xmlns:a16="http://schemas.microsoft.com/office/drawing/2014/main" id="{3E8D3B84-69F5-4809-AD81-3C3DC13129D8}"/>
              </a:ext>
            </a:extLst>
          </p:cNvPr>
          <p:cNvSpPr>
            <a:spLocks xmlns:a="http://schemas.openxmlformats.org/drawingml/2006/main" noGrp="1"/>
          </p:cNvSpPr>
          <p:nvPr/>
        </p:nvSpPr>
        <p:spPr>
          <a:xfrm xmlns:a="http://schemas.openxmlformats.org/drawingml/2006/main">
            <a:off x="5657850" y="4019550"/>
            <a:ext cx="20764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00" b="1">
                <a:solidFill>
                  <a:srgbClr val="F4F7FA"/>
                </a:solidFill>
                <a:latin typeface="Roboto"/>
                <a:ea typeface="Roboto"/>
                <a:cs typeface="Roboto"/>
              </a:defRPr>
            </a:pPr>
            <a:r>
              <a:rPr sz="1800" b="1">
                <a:solidFill>
                  <a:srgbClr val="F4F7FA"/>
                </a:solidFill>
                <a:latin typeface="Roboto"/>
                <a:ea typeface="Roboto"/>
                <a:cs typeface="Roboto"/>
              </a:rPr>
              <a:t>Adapt</a:t>
            </a:r>
          </a:p>
        </p:txBody>
      </p:sp>
      <p:cxnSp>
        <p:nvCxnSpPr>
          <p:cNvPr id="46" name=""/>
          <p:cNvCxnSpPr>
            <a:stCxn xmlns:a="http://schemas.openxmlformats.org/drawingml/2006/main" id="10" idx="3"/>
            <a:endCxn xmlns:a="http://schemas.openxmlformats.org/drawingml/2006/main" id="12" idx="1"/>
          </p:cNvCxnSpPr>
          <p:nvPr/>
        </p:nvCxnSpPr>
        <p:spPr>
          <a:xfrm xmlns:a="http://schemas.openxmlformats.org/drawingml/2006/main">
            <a:off x="7848600" y="2419350"/>
            <a:ext cx="1238250" cy="0"/>
          </a:xfrm>
          <a:prstGeom xmlns:a="http://schemas.openxmlformats.org/drawingml/2006/main" prst="straightConnector1">
            <a:avLst/>
          </a:prstGeom>
          <a:ln xmlns:a="http://schemas.openxmlformats.org/drawingml/2006/main" w="21908">
            <a:solidFill>
              <a:srgbClr val="28C7F7"/>
            </a:solidFill>
            <a:prstDash val="solid"/>
            <a:tailEnd type="triangle" w="med" len="med"/>
          </a:ln>
        </p:spPr>
      </p:cxnSp>
      <p:cxnSp>
        <p:nvCxnSpPr>
          <p:cNvPr id="47" name=""/>
          <p:cNvCxnSpPr>
            <a:stCxn xmlns:a="http://schemas.openxmlformats.org/drawingml/2006/main" id="12" idx="2"/>
            <a:endCxn xmlns:a="http://schemas.openxmlformats.org/drawingml/2006/main" id="14" idx="0"/>
          </p:cNvCxnSpPr>
          <p:nvPr/>
        </p:nvCxnSpPr>
        <p:spPr>
          <a:xfrm xmlns:a="http://schemas.openxmlformats.org/drawingml/2006/main">
            <a:off x="10239375" y="2743200"/>
            <a:ext cx="0" cy="1200150"/>
          </a:xfrm>
          <a:prstGeom xmlns:a="http://schemas.openxmlformats.org/drawingml/2006/main" prst="straightConnector1">
            <a:avLst/>
          </a:prstGeom>
          <a:ln xmlns:a="http://schemas.openxmlformats.org/drawingml/2006/main" w="21908">
            <a:solidFill>
              <a:srgbClr val="28C7F7"/>
            </a:solidFill>
            <a:prstDash val="solid"/>
            <a:tailEnd type="triangle" w="med" len="med"/>
          </a:ln>
        </p:spPr>
      </p:cxnSp>
      <p:cxnSp>
        <p:nvCxnSpPr>
          <p:cNvPr id="48" name=""/>
          <p:cNvCxnSpPr>
            <a:stCxn xmlns:a="http://schemas.openxmlformats.org/drawingml/2006/main" id="14" idx="1"/>
            <a:endCxn xmlns:a="http://schemas.openxmlformats.org/drawingml/2006/main" id="16" idx="3"/>
          </p:cNvCxnSpPr>
          <p:nvPr/>
        </p:nvCxnSpPr>
        <p:spPr>
          <a:xfrm xmlns:a="http://schemas.openxmlformats.org/drawingml/2006/main" flipH="1">
            <a:off x="7848600" y="4267200"/>
            <a:ext cx="1238250" cy="0"/>
          </a:xfrm>
          <a:prstGeom xmlns:a="http://schemas.openxmlformats.org/drawingml/2006/main" prst="straightConnector1">
            <a:avLst/>
          </a:prstGeom>
          <a:ln xmlns:a="http://schemas.openxmlformats.org/drawingml/2006/main" w="21908">
            <a:solidFill>
              <a:srgbClr val="F5B61C"/>
            </a:solidFill>
            <a:prstDash val="solid"/>
            <a:tailEnd type="triangle" w="med" len="med"/>
          </a:ln>
        </p:spPr>
      </p:cxnSp>
      <p:cxnSp>
        <p:nvCxnSpPr>
          <p:cNvPr id="49" name=""/>
          <p:cNvCxnSpPr>
            <a:stCxn xmlns:a="http://schemas.openxmlformats.org/drawingml/2006/main" id="16" idx="0"/>
            <a:endCxn xmlns:a="http://schemas.openxmlformats.org/drawingml/2006/main" id="10" idx="2"/>
          </p:cNvCxnSpPr>
          <p:nvPr/>
        </p:nvCxnSpPr>
        <p:spPr>
          <a:xfrm xmlns:a="http://schemas.openxmlformats.org/drawingml/2006/main" flipV="1">
            <a:off x="6696075" y="2743200"/>
            <a:ext cx="0" cy="1200150"/>
          </a:xfrm>
          <a:prstGeom xmlns:a="http://schemas.openxmlformats.org/drawingml/2006/main" prst="straightConnector1">
            <a:avLst/>
          </a:prstGeom>
          <a:ln xmlns:a="http://schemas.openxmlformats.org/drawingml/2006/main" w="21908">
            <a:solidFill>
              <a:srgbClr val="F5B61C"/>
            </a:solidFill>
            <a:prstDash val="solid"/>
            <a:tailEnd type="triangle" w="med" len="med"/>
          </a:ln>
        </p:spPr>
      </p:cxnSp>
      <p:sp>
        <p:nvSpPr>
          <p:cNvPr id="22" name="">
            <a:extLst xmlns:a="http://schemas.openxmlformats.org/drawingml/2006/main">
              <a:ext uri="{FF2B5EF4-FFF2-40B4-BE49-F238E27FC236}">
                <a16:creationId xmlns:a16="http://schemas.microsoft.com/office/drawing/2014/main" id="{47F92BDE-39E0-4536-9571-8FEA09BF6F32}"/>
              </a:ext>
            </a:extLst>
          </p:cNvPr>
          <p:cNvSpPr>
            <a:spLocks xmlns:a="http://schemas.openxmlformats.org/drawingml/2006/main" noGrp="1"/>
          </p:cNvSpPr>
          <p:nvPr/>
        </p:nvSpPr>
        <p:spPr>
          <a:xfrm xmlns:a="http://schemas.openxmlformats.org/drawingml/2006/main">
            <a:off x="6000750" y="3028950"/>
            <a:ext cx="4905375"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75" b="1">
                <a:solidFill>
                  <a:srgbClr val="F4F7FA"/>
                </a:solidFill>
                <a:latin typeface="Roboto"/>
                <a:ea typeface="Roboto"/>
                <a:cs typeface="Roboto"/>
              </a:defRPr>
            </a:pPr>
            <a:r>
              <a:rPr sz="1875" b="1">
                <a:solidFill>
                  <a:srgbClr val="F4F7FA"/>
                </a:solidFill>
                <a:latin typeface="Roboto"/>
                <a:ea typeface="Roboto"/>
                <a:cs typeface="Roboto"/>
              </a:rPr>
              <a:t>Production evidence</a:t>
            </a:r>
          </a:p>
          <a:p xmlns:a="http://schemas.openxmlformats.org/drawingml/2006/main">
            <a:pPr algn="ctr">
              <a:defRPr sz="1875" b="1">
                <a:solidFill>
                  <a:srgbClr val="F4F7FA"/>
                </a:solidFill>
                <a:latin typeface="Roboto"/>
                <a:ea typeface="Roboto"/>
                <a:cs typeface="Roboto"/>
              </a:defRPr>
            </a:pPr>
            <a:r>
              <a:rPr sz="1875" b="1">
                <a:solidFill>
                  <a:srgbClr val="F4F7FA"/>
                </a:solidFill>
                <a:latin typeface="Roboto"/>
                <a:ea typeface="Roboto"/>
                <a:cs typeface="Roboto"/>
              </a:rPr>
              <a:t>returns to the team</a:t>
            </a:r>
          </a:p>
        </p:txBody>
      </p:sp>
      <p:sp>
        <p:nvSpPr>
          <p:cNvPr id="23" name="">
            <a:extLst xmlns:a="http://schemas.openxmlformats.org/drawingml/2006/main">
              <a:ext uri="{FF2B5EF4-FFF2-40B4-BE49-F238E27FC236}">
                <a16:creationId xmlns:a16="http://schemas.microsoft.com/office/drawing/2014/main" id="{D3BD2CE3-F072-4D37-A3E3-F21D93CE6F13}"/>
              </a:ext>
            </a:extLst>
          </p:cNvPr>
          <p:cNvSpPr>
            <a:spLocks xmlns:a="http://schemas.openxmlformats.org/drawingml/2006/main" noGrp="1"/>
          </p:cNvSpPr>
          <p:nvPr/>
        </p:nvSpPr>
        <p:spPr>
          <a:xfrm xmlns:a="http://schemas.openxmlformats.org/drawingml/2006/main" flipH="0" flipV="0">
            <a:off x="609600" y="4886325"/>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4" name="">
            <a:extLst xmlns:a="http://schemas.openxmlformats.org/drawingml/2006/main">
              <a:ext uri="{FF2B5EF4-FFF2-40B4-BE49-F238E27FC236}">
                <a16:creationId xmlns:a16="http://schemas.microsoft.com/office/drawing/2014/main" id="{CC439DEF-4B18-4C2F-A749-13E3BE0C5DC3}"/>
              </a:ext>
            </a:extLst>
          </p:cNvPr>
          <p:cNvSpPr>
            <a:spLocks xmlns:a="http://schemas.openxmlformats.org/drawingml/2006/main" noGrp="1"/>
          </p:cNvSpPr>
          <p:nvPr/>
        </p:nvSpPr>
        <p:spPr>
          <a:xfrm xmlns:a="http://schemas.openxmlformats.org/drawingml/2006/main">
            <a:off x="609600" y="501015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1">
                <a:solidFill>
                  <a:srgbClr val="28C7F7"/>
                </a:solidFill>
                <a:latin typeface="Roboto"/>
                <a:ea typeface="Roboto"/>
                <a:cs typeface="Roboto"/>
              </a:defRPr>
            </a:pPr>
            <a:r>
              <a:rPr sz="1500" b="1">
                <a:solidFill>
                  <a:srgbClr val="28C7F7"/>
                </a:solidFill>
                <a:latin typeface="Roboto"/>
                <a:ea typeface="Roboto"/>
                <a:cs typeface="Roboto"/>
              </a:rPr>
              <a:t>HOW WE BUILD · while AI changes the SDLC</a:t>
            </a:r>
          </a:p>
        </p:txBody>
      </p:sp>
      <p:sp>
        <p:nvSpPr>
          <p:cNvPr id="25" name="">
            <a:extLst xmlns:a="http://schemas.openxmlformats.org/drawingml/2006/main">
              <a:ext uri="{FF2B5EF4-FFF2-40B4-BE49-F238E27FC236}">
                <a16:creationId xmlns:a16="http://schemas.microsoft.com/office/drawing/2014/main" id="{ABEABCA6-929F-4FB2-BEC4-F7AEE546946D}"/>
              </a:ext>
            </a:extLst>
          </p:cNvPr>
          <p:cNvSpPr>
            <a:spLocks xmlns:a="http://schemas.openxmlformats.org/drawingml/2006/main" noGrp="1"/>
          </p:cNvSpPr>
          <p:nvPr/>
        </p:nvSpPr>
        <p:spPr>
          <a:xfrm xmlns:a="http://schemas.openxmlformats.org/drawingml/2006/main">
            <a:off x="609600" y="5286375"/>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F4F7FA"/>
                </a:solidFill>
                <a:latin typeface="Roboto"/>
                <a:ea typeface="Roboto"/>
                <a:cs typeface="Roboto"/>
              </a:defRPr>
            </a:pPr>
            <a:r>
              <a:rPr sz="1575" b="0">
                <a:solidFill>
                  <a:srgbClr val="F4F7FA"/>
                </a:solidFill>
                <a:latin typeface="Roboto"/>
                <a:ea typeface="Roboto"/>
                <a:cs typeface="Roboto"/>
              </a:rPr>
              <a:t>Measure flow, rework, stability and the team’s retained understanding.</a:t>
            </a:r>
          </a:p>
        </p:txBody>
      </p:sp>
      <p:sp>
        <p:nvSpPr>
          <p:cNvPr id="26" name="">
            <a:extLst xmlns:a="http://schemas.openxmlformats.org/drawingml/2006/main">
              <a:ext uri="{FF2B5EF4-FFF2-40B4-BE49-F238E27FC236}">
                <a16:creationId xmlns:a16="http://schemas.microsoft.com/office/drawing/2014/main" id="{5EC72D4F-9D76-4055-AB71-B2878FF2147D}"/>
              </a:ext>
            </a:extLst>
          </p:cNvPr>
          <p:cNvSpPr>
            <a:spLocks xmlns:a="http://schemas.openxmlformats.org/drawingml/2006/main" noGrp="1"/>
          </p:cNvSpPr>
          <p:nvPr/>
        </p:nvSpPr>
        <p:spPr>
          <a:xfrm xmlns:a="http://schemas.openxmlformats.org/drawingml/2006/main">
            <a:off x="609600" y="563880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1">
                <a:solidFill>
                  <a:srgbClr val="F5B61C"/>
                </a:solidFill>
                <a:latin typeface="Roboto"/>
                <a:ea typeface="Roboto"/>
                <a:cs typeface="Roboto"/>
              </a:defRPr>
            </a:pPr>
            <a:r>
              <a:rPr sz="1500" b="1">
                <a:solidFill>
                  <a:srgbClr val="F5B61C"/>
                </a:solidFill>
                <a:latin typeface="Roboto"/>
                <a:ea typeface="Roboto"/>
                <a:cs typeface="Roboto"/>
              </a:rPr>
              <a:t>WHAT WE BUILD · throughout Thinking Systems operation</a:t>
            </a:r>
          </a:p>
        </p:txBody>
      </p:sp>
      <p:sp>
        <p:nvSpPr>
          <p:cNvPr id="27" name="">
            <a:extLst xmlns:a="http://schemas.openxmlformats.org/drawingml/2006/main">
              <a:ext uri="{FF2B5EF4-FFF2-40B4-BE49-F238E27FC236}">
                <a16:creationId xmlns:a16="http://schemas.microsoft.com/office/drawing/2014/main" id="{54629CB6-85EA-4DF8-8018-B25B3C99BD96}"/>
              </a:ext>
            </a:extLst>
          </p:cNvPr>
          <p:cNvSpPr>
            <a:spLocks xmlns:a="http://schemas.openxmlformats.org/drawingml/2006/main" noGrp="1"/>
          </p:cNvSpPr>
          <p:nvPr/>
        </p:nvSpPr>
        <p:spPr>
          <a:xfrm xmlns:a="http://schemas.openxmlformats.org/drawingml/2006/main">
            <a:off x="609600" y="5915025"/>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F4F7FA"/>
                </a:solidFill>
                <a:latin typeface="Roboto"/>
                <a:ea typeface="Roboto"/>
                <a:cs typeface="Roboto"/>
              </a:defRPr>
            </a:pPr>
            <a:r>
              <a:rPr sz="1575" b="0">
                <a:solidFill>
                  <a:srgbClr val="F4F7FA"/>
                </a:solidFill>
                <a:latin typeface="Roboto"/>
                <a:ea typeface="Roboto"/>
                <a:cs typeface="Roboto"/>
              </a:rPr>
              <a:t>Measure outcomes, control capacity and cost. Incidents revise tests and control rules.</a:t>
            </a:r>
          </a:p>
        </p:txBody>
      </p:sp>
      <p:sp>
        <p:nvSpPr>
          <p:cNvPr id="28" name="">
            <a:extLst xmlns:a="http://schemas.openxmlformats.org/drawingml/2006/main">
              <a:ext uri="{FF2B5EF4-FFF2-40B4-BE49-F238E27FC236}">
                <a16:creationId xmlns:a16="http://schemas.microsoft.com/office/drawing/2014/main" id="{BD4E43F1-6BC0-4CCF-AA0F-B6689903A7C5}"/>
              </a:ext>
            </a:extLst>
          </p:cNvPr>
          <p:cNvSpPr>
            <a:spLocks xmlns:a="http://schemas.openxmlformats.org/drawingml/2006/main" noGrp="1"/>
          </p:cNvSpPr>
          <p:nvPr/>
        </p:nvSpPr>
        <p:spPr>
          <a:xfrm xmlns:a="http://schemas.openxmlformats.org/drawingml/2006/main">
            <a:off x="609600" y="6410325"/>
            <a:ext cx="106489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1">
                <a:solidFill>
                  <a:srgbClr val="F4F7FA"/>
                </a:solidFill>
                <a:latin typeface="Roboto"/>
                <a:ea typeface="Roboto"/>
                <a:cs typeface="Roboto"/>
              </a:defRPr>
            </a:pPr>
            <a:r>
              <a:rPr sz="1875" b="1">
                <a:solidFill>
                  <a:srgbClr val="F4F7FA"/>
                </a:solidFill>
                <a:latin typeface="Roboto"/>
                <a:ea typeface="Roboto"/>
                <a:cs typeface="Roboto"/>
              </a:rPr>
              <a:t>The learning cycle continues after release. The team remains accountable.</a:t>
            </a:r>
          </a:p>
        </p:txBody>
      </p:sp>
    </p:spTree>
    <p:extLst>
      <p:ext uri="{BB962C8B-B14F-4D97-AF65-F5344CB8AC3E}">
        <p14:creationId xmlns:p14="http://schemas.microsoft.com/office/powerpoint/2010/main" val="179089419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2026-09-22T14:28:50.8800000Z</dcterms:created>
  <dcterms:modified xsi:type="dcterms:W3CDTF">2026-09-22T14:28:50.8800000Z</dcterms:modified>
</coreProperties>
</file>