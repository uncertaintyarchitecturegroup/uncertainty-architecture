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6b972ae610e4bb3" /><Relationship Type="http://schemas.openxmlformats.org/officeDocument/2006/relationships/extended-properties" Target="/docProps/app.xml" Id="R3408b0eb89244bec" /><Relationship Type="http://schemas.openxmlformats.org/officeDocument/2006/relationships/officeDocument" Target="/ppt/presentation.xml" Id="R475d5af8c95f4dce" /></Relationships>
</file>

<file path=ppt/presentation.xml><?xml version="1.0" encoding="utf-8"?>
<p:presentation xmlns:p="http://schemas.openxmlformats.org/presentationml/2006/main">
  <p:sldMasterIdLst>
    <p:sldMasterId xmlns:r="http://schemas.openxmlformats.org/officeDocument/2006/relationships" id="2147483648" r:id="Rcdbafba5644e45cd"/>
  </p:sldMasterIdLst>
  <p:notesMasterIdLst>
    <p:notesMasterId xmlns:r="http://schemas.openxmlformats.org/officeDocument/2006/relationships" r:id="Rfb0ffc1bd50b45ce"/>
  </p:notesMasterIdLst>
  <p:sldIdLst>
    <p:sldId xmlns:r="http://schemas.openxmlformats.org/officeDocument/2006/relationships" id="256" r:id="R0a38689979564b62"/>
    <p:sldId xmlns:r="http://schemas.openxmlformats.org/officeDocument/2006/relationships" id="257" r:id="R76e5721705444e80"/>
    <p:sldId xmlns:r="http://schemas.openxmlformats.org/officeDocument/2006/relationships" id="258" r:id="R055daf68fb19460c"/>
    <p:sldId xmlns:r="http://schemas.openxmlformats.org/officeDocument/2006/relationships" id="259" r:id="R30c22ba127f6444f"/>
    <p:sldId xmlns:r="http://schemas.openxmlformats.org/officeDocument/2006/relationships" id="260" r:id="Rf3460f5e17d547fc"/>
    <p:sldId xmlns:r="http://schemas.openxmlformats.org/officeDocument/2006/relationships" id="261" r:id="Rc57d2a2d3330422d"/>
    <p:sldId xmlns:r="http://schemas.openxmlformats.org/officeDocument/2006/relationships" id="262" r:id="R0c64a2ca02bf4f0c"/>
    <p:sldId xmlns:r="http://schemas.openxmlformats.org/officeDocument/2006/relationships" id="263" r:id="R8f3fab679094461b"/>
    <p:sldId xmlns:r="http://schemas.openxmlformats.org/officeDocument/2006/relationships" id="264" r:id="Rad3d1b52d13d4487"/>
    <p:sldId xmlns:r="http://schemas.openxmlformats.org/officeDocument/2006/relationships" id="265" r:id="Rd57b6a20190b4c80"/>
    <p:sldId xmlns:r="http://schemas.openxmlformats.org/officeDocument/2006/relationships" id="266" r:id="R44e2bc0553834196"/>
    <p:sldId xmlns:r="http://schemas.openxmlformats.org/officeDocument/2006/relationships" id="267" r:id="Rb0e5f8610f854ca1"/>
    <p:sldId xmlns:r="http://schemas.openxmlformats.org/officeDocument/2006/relationships" id="268" r:id="R7e226f4ab3a041b4"/>
    <p:sldId xmlns:r="http://schemas.openxmlformats.org/officeDocument/2006/relationships" id="269" r:id="R73b79dc836c041c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a898468e86f4521" /><Relationship Type="http://schemas.openxmlformats.org/officeDocument/2006/relationships/slideMaster" Target="/ppt/slideMasters/slideMaster1.xml" Id="Rcdbafba5644e45cd" /><Relationship Type="http://schemas.openxmlformats.org/officeDocument/2006/relationships/notesMaster" Target="/ppt/notesMasters/notesMaster1.xml" Id="Rfb0ffc1bd50b45ce" /><Relationship Type="http://schemas.openxmlformats.org/officeDocument/2006/relationships/presProps" Target="/ppt/presProps.xml" Id="R813a68e2734c4ee9" /><Relationship Type="http://schemas.openxmlformats.org/officeDocument/2006/relationships/tableStyles" Target="/ppt/tableStyles.xml" Id="R8b7face52b2640ab" /><Relationship Type="http://schemas.openxmlformats.org/officeDocument/2006/relationships/slide" Target="/ppt/slides/slide1.xml" Id="R0a38689979564b62" /><Relationship Type="http://schemas.openxmlformats.org/officeDocument/2006/relationships/slide" Target="/ppt/slides/slide2.xml" Id="R76e5721705444e80" /><Relationship Type="http://schemas.openxmlformats.org/officeDocument/2006/relationships/slide" Target="/ppt/slides/slide3.xml" Id="R055daf68fb19460c" /><Relationship Type="http://schemas.openxmlformats.org/officeDocument/2006/relationships/slide" Target="/ppt/slides/slide4.xml" Id="R30c22ba127f6444f" /><Relationship Type="http://schemas.openxmlformats.org/officeDocument/2006/relationships/slide" Target="/ppt/slides/slide5.xml" Id="Rf3460f5e17d547fc" /><Relationship Type="http://schemas.openxmlformats.org/officeDocument/2006/relationships/slide" Target="/ppt/slides/slide6.xml" Id="Rc57d2a2d3330422d" /><Relationship Type="http://schemas.openxmlformats.org/officeDocument/2006/relationships/slide" Target="/ppt/slides/slide7.xml" Id="R0c64a2ca02bf4f0c" /><Relationship Type="http://schemas.openxmlformats.org/officeDocument/2006/relationships/slide" Target="/ppt/slides/slide8.xml" Id="R8f3fab679094461b" /><Relationship Type="http://schemas.openxmlformats.org/officeDocument/2006/relationships/slide" Target="/ppt/slides/slide9.xml" Id="Rad3d1b52d13d4487" /><Relationship Type="http://schemas.openxmlformats.org/officeDocument/2006/relationships/slide" Target="/ppt/slides/slide10.xml" Id="Rd57b6a20190b4c80" /><Relationship Type="http://schemas.openxmlformats.org/officeDocument/2006/relationships/slide" Target="/ppt/slides/slide11.xml" Id="R44e2bc0553834196" /><Relationship Type="http://schemas.openxmlformats.org/officeDocument/2006/relationships/slide" Target="/ppt/slides/slide12.xml" Id="Rb0e5f8610f854ca1" /><Relationship Type="http://schemas.openxmlformats.org/officeDocument/2006/relationships/slide" Target="/ppt/slides/slide13.xml" Id="R7e226f4ab3a041b4" /><Relationship Type="http://schemas.openxmlformats.org/officeDocument/2006/relationships/slide" Target="/ppt/slides/slide14.xml" Id="R73b79dc836c041c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4e1fc57cc294e5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822caae9c784872" /><Relationship Type="http://schemas.openxmlformats.org/officeDocument/2006/relationships/notesMaster" Target="/ppt/notesMasters/notesMaster1.xml" Id="R0cb8b3a643e94cba" /></Relationships>
</file>

<file path=ppt/notesSlides/_rels/notesSlide2.xml.rels>&#65279;<?xml version="1.0" encoding="utf-8"?><Relationships xmlns="http://schemas.openxmlformats.org/package/2006/relationships"><Relationship Type="http://schemas.openxmlformats.org/officeDocument/2006/relationships/slide" Target="/ppt/slides/slide2.xml" Id="R917a295fdacc48c5" /><Relationship Type="http://schemas.openxmlformats.org/officeDocument/2006/relationships/notesMaster" Target="/ppt/notesMasters/notesMaster1.xml" Id="R27fc1ffae9b64e27" /></Relationships>
</file>

<file path=ppt/notesSlides/_rels/notesSlide3.xml.rels>&#65279;<?xml version="1.0" encoding="utf-8"?><Relationships xmlns="http://schemas.openxmlformats.org/package/2006/relationships"><Relationship Type="http://schemas.openxmlformats.org/officeDocument/2006/relationships/slide" Target="/ppt/slides/slide3.xml" Id="R8803e48ebe4546a0" /><Relationship Type="http://schemas.openxmlformats.org/officeDocument/2006/relationships/notesMaster" Target="/ppt/notesMasters/notesMaster1.xml" Id="R854f96ee4d794ec0" /></Relationships>
</file>

<file path=ppt/notesSlides/_rels/notesSlide4.xml.rels>&#65279;<?xml version="1.0" encoding="utf-8"?><Relationships xmlns="http://schemas.openxmlformats.org/package/2006/relationships"><Relationship Type="http://schemas.openxmlformats.org/officeDocument/2006/relationships/slide" Target="/ppt/slides/slide4.xml" Id="R43bc1879a2d54343" /><Relationship Type="http://schemas.openxmlformats.org/officeDocument/2006/relationships/notesMaster" Target="/ppt/notesMasters/notesMaster1.xml" Id="R66257b4ac8764bf0" /></Relationships>
</file>

<file path=ppt/notesSlides/_rels/notesSlide5.xml.rels>&#65279;<?xml version="1.0" encoding="utf-8"?><Relationships xmlns="http://schemas.openxmlformats.org/package/2006/relationships"><Relationship Type="http://schemas.openxmlformats.org/officeDocument/2006/relationships/slide" Target="/ppt/slides/slide5.xml" Id="R6767f4cddcd941d6" /><Relationship Type="http://schemas.openxmlformats.org/officeDocument/2006/relationships/notesMaster" Target="/ppt/notesMasters/notesMaster1.xml" Id="R092664d048ad4856" /></Relationships>
</file>

<file path=ppt/notesSlides/_rels/notesSlide6.xml.rels>&#65279;<?xml version="1.0" encoding="utf-8"?><Relationships xmlns="http://schemas.openxmlformats.org/package/2006/relationships"><Relationship Type="http://schemas.openxmlformats.org/officeDocument/2006/relationships/slide" Target="/ppt/slides/slide6.xml" Id="Re95d2f9c5786471f" /><Relationship Type="http://schemas.openxmlformats.org/officeDocument/2006/relationships/notesMaster" Target="/ppt/notesMasters/notesMaster1.xml" Id="R9c30de7629a54fa9" /></Relationships>
</file>

<file path=ppt/notesSlides/_rels/notesSlide7.xml.rels>&#65279;<?xml version="1.0" encoding="utf-8"?><Relationships xmlns="http://schemas.openxmlformats.org/package/2006/relationships"><Relationship Type="http://schemas.openxmlformats.org/officeDocument/2006/relationships/slide" Target="/ppt/slides/slide7.xml" Id="R87244b290c964133" /><Relationship Type="http://schemas.openxmlformats.org/officeDocument/2006/relationships/notesMaster" Target="/ppt/notesMasters/notesMaster1.xml" Id="Ra27df56f2ee94030" /></Relationships>
</file>

<file path=ppt/notesSlides/_rels/notesSlide8.xml.rels>&#65279;<?xml version="1.0" encoding="utf-8"?><Relationships xmlns="http://schemas.openxmlformats.org/package/2006/relationships"><Relationship Type="http://schemas.openxmlformats.org/officeDocument/2006/relationships/slide" Target="/ppt/slides/slide8.xml" Id="R6034fa9b0d1441a8" /><Relationship Type="http://schemas.openxmlformats.org/officeDocument/2006/relationships/notesMaster" Target="/ppt/notesMasters/notesMaster1.xml" Id="R4c5a6f2e4c6445df" /></Relationships>
</file>

<file path=ppt/notesSlides/_rels/notesSlide9.xml.rels>&#65279;<?xml version="1.0" encoding="utf-8"?><Relationships xmlns="http://schemas.openxmlformats.org/package/2006/relationships"><Relationship Type="http://schemas.openxmlformats.org/officeDocument/2006/relationships/slide" Target="/ppt/slides/slide9.xml" Id="R628ad3e49672499a" /><Relationship Type="http://schemas.openxmlformats.org/officeDocument/2006/relationships/notesMaster" Target="/ppt/notesMasters/notesMaster1.xml" Id="R0bc93522d6cc41a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d6781d7ef8d4cb7" /><Relationship Type="http://schemas.openxmlformats.org/officeDocument/2006/relationships/notesMaster" Target="/ppt/notesMasters/notesMaster1.xml" Id="R74ddb22bc8e2427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311ba9dfea94a81" /><Relationship Type="http://schemas.openxmlformats.org/officeDocument/2006/relationships/notesMaster" Target="/ppt/notesMasters/notesMaster1.xml" Id="R49c875387e234d5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f974ef9bb204c13" /><Relationship Type="http://schemas.openxmlformats.org/officeDocument/2006/relationships/notesMaster" Target="/ppt/notesMasters/notesMaster1.xml" Id="R7bea307332104e0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66ae9b7f4164d29" /><Relationship Type="http://schemas.openxmlformats.org/officeDocument/2006/relationships/notesMaster" Target="/ppt/notesMasters/notesMaster1.xml" Id="Rea72bcdd310a438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eea5550d0454eaf" /><Relationship Type="http://schemas.openxmlformats.org/officeDocument/2006/relationships/notesMaster" Target="/ppt/notesMasters/notesMaster1.xml" Id="R6fa560e2d722460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Відділити AI для розробки від Model Judgment усередині продукту. Перше змінює виробництво software, друге — поведінку системи. Не починати з реклами UA чи anti-AI тези.</a:t>
            </a:r>
          </a:p>
          <a:p xmlns:a="http://schemas.openxmlformats.org/drawingml/2006/main">
            <a:r>
              <a:t>Ілюстрація — концептуальна метафора двох ролей AI, не схема архітектури. AI-generated illustration, OpenAI imagegen, 21 September 2026. Джерело та prompt: artwork/PROVENANCE.md.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transition — функціональна рамка, не фізичний закон. Cognition-like operations: інтерпретація запиту, зіставлення контексту, пропозиція коду чи плану. Engineering consequence: ми задаємо контекст, інструменти, межі та перевірку поведінки.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Theory of Constraints (Goldratt): оптимізуємо потік через реальне обмеження системи. Якщо coding не bottleneck, його прискорення саме по собі не збільшує пропускну здатність delivery. Якщо був bottleneck, після зміни обмеження може переміститися. AI може змінювати Intent і Design так само, як Review, Test, Integration, Deploy та Operate; знак і величину ефекту треба вимірювати.</a:t>
            </a:r>
          </a:p>
          <a:p xmlns:a="http://schemas.openxmlformats.org/drawingml/2006/main">
            <a:r>
              <a:t>Навчальний приклад, не дослідження: 100 зіставних змін надходять за тиждень, лише 8 інтегруються. За незмінної потужності та push без WIP limits/відкидання роботи загальний backlog зростає на 100 − 8 = 92 зміни за тиждень. Integration позначено як умовний bottleneck, не універсальний bottleneck команд.</a:t>
            </a:r>
          </a:p>
          <a:p xmlns:a="http://schemas.openxmlformats.org/drawingml/2006/main">
            <a:r>
              <a:t>Це не твердження, що будь-яка оптимізація не-bottleneck автоматично погіршує систему: економія витрат або вільна потужність теж можуть бути корисні. Черга виникає, коли реально збільшується надходження понад вихід. Rework, більші batches, затриманий feedback і тиск на review можуть погіршити якість; це механізм ризику, а не математично неминучий ефект. Джерела й межі: evidence/toc-wip.md.</a:t>
            </a:r>
          </a:p>
          <a:p xmlns:a="http://schemas.openxmlformats.org/drawingml/2006/main">
            <a:r>
              <a:t/>
            </a:r>
          </a:p>
          <a:p xmlns:a="http://schemas.openxmlformats.org/drawingml/2006/main">
            <a:r>
              <a:t>Sources:</a:t>
            </a:r>
          </a:p>
          <a:p xmlns:a="http://schemas.openxmlformats.org/drawingml/2006/main">
            <a:r>
              <a:t>https://dora.dev/capabilities/wip-limits/</a:t>
            </a:r>
          </a:p>
          <a:p xmlns:a="http://schemas.openxmlformats.org/drawingml/2006/main">
            <a:r>
              <a:t>https://dora.dev/capabilities/working-in-small-batches/</a:t>
            </a:r>
          </a:p>
          <a:p xmlns:a="http://schemas.openxmlformats.org/drawingml/2006/main">
            <a:r>
              <a:t>https://www.nber.org/papers/w35275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NBER: понад 100 тисяч GitHub developers; matched event study, не RCT. Changed LOC = additions + deletions, не чисте зростання кодової бази.</a:t>
            </a:r>
          </a:p>
          <a:p xmlns:a="http://schemas.openxmlformats.org/drawingml/2006/main">
            <a:r>
              <a:t>Table 5, друкована с. 33, тижні 21–30: Autocomplete — LOC +228.2%, commits +35.9%, PRs +11.0%, releases +10.2%. Synchronous agents — LOC +741.3%, commits +109.1%, PRs +65.5%, releases +20.3%. Asynchronous agents — LOC +658.3%, commits +33.6%, PRs +71.8%; releases не оцінено окремо. Figure 1, с. 3: cumulative LOC 17.3×, files 3.9×, commits 2.8×, PRs 2.5×, repos 1.5×, releases 1.3×. Не перемножувати компоненти.</a:t>
            </a:r>
          </a:p>
          <a:p xmlns:a="http://schemas.openxmlformats.org/drawingml/2006/main">
            <a:r>
              <a:t>Figure 12, с. 41; §8.2, с. 42–43: iOS — 30–50 тисяч нових apps/month → близько 100 тисяч у квітні 2026; Android — 42 тисячі у січні 2025 → близько 60 тисяч у середині 2026; Chrome — 5 тисяч у 2023 → близько 13 тисяч у середині 2026. Total cohort usage за перші 3 місяці стабільне або знижується. Частка iOS apps із &lt;10 ratings: 79→86%; Chrome extensions із &lt;10 downloads: 18→31%. SourceForge без прискорення entry, не входить у три usage panels. Це не всі existing apps, не весь software market і не пряме вимірювання consumer welfare. Chrome decline передував agentic era.</a:t>
            </a:r>
          </a:p>
          <a:p xmlns:a="http://schemas.openxmlformats.org/drawingml/2006/main">
            <a:r>
              <a:t>DORA 2025: в офіційній інфографіці понад 80% респондентів повідомляють про підвищення продуктивності, 59% — про позитивний вплив на якість коду. Це частки респондентів, а не +80% швидкості чи +59% якості. Майже 5 000 респондентів. Авторське резюме окремо описує позитивну association adoption із delivery throughput і негативну зі stability. Delivery stability не тотожна code quality. Перевіреного числового коефіцієнта stability у доступному матеріалі немає; не приписуємо відсоток падіння та не переносимо coefficients 2024. Повний звіт за формою не отримано; інфографіку завантажено в evidence/originals/dora-2025-infographic.pdf. Деталі: evidence/dora-2025.md.</a:t>
            </a:r>
          </a:p>
          <a:p xmlns:a="http://schemas.openxmlformats.org/drawingml/2006/main">
            <a:r>
              <a:t>METR, травень 2026: 349 technical workers; 1.4–2× median self-reported work value залежно від питання, 3× self-reported speed; є selection bias. Старий RCT 2025 із +19% часу — лише історичний контекст.</a:t>
            </a:r>
          </a:p>
          <a:p xmlns:a="http://schemas.openxmlformats.org/drawingml/2006/main">
            <a:r>
              <a:t>GitClear 2026: частка moved code у changed lines 13% (2023) → 3.8% (YTD 2026), не кількість refactoring tasks і не весь reuse. Частота duplicated blocks приблизно +81% за цей період. Copy/paste share 9.4% (2022) → 15.7% (H1 2026), інший baseline. У звіті 2025 на даних 2020–24 окремо описані зростання short-term churn, більше клонів і падіння moved-code share; числового churn effect із публічної сторінки не виводимо. Не змішувати churn, duplication та refactoring. Текст і графік 2026 суперечать щодо абсолютної одиниці duplication, тому залишаємо тільки відносні +81%. Це observational proxies, не причинний ефект AI. Деталі: evidence/gitclear.md.</a:t>
            </a:r>
          </a:p>
          <a:p xmlns:a="http://schemas.openxmlformats.org/drawingml/2006/main">
            <a:r>
              <a:t>Xu, v3 від січня 2026, дані 2020–22: top activity quartile — commits −19%, reviews +6.5%; bottom quartile — commits +43.5%, PRs +17.7%; rework +2.4%. Це не кадрові грейди й не агенти 2026 року.</a:t>
            </a:r>
          </a:p>
          <a:p xmlns:a="http://schemas.openxmlformats.org/drawingml/2006/main">
            <a:r>
              <a:t>Agarwal, v2, Table 2: complexity +34.85/+42.87%, warnings +17.73/+19.00%; зміна IDE-first warnings статистично незначуща. Не трактувати це як борг на одну фічу.</a:t>
            </a:r>
          </a:p>
          <a:p xmlns:a="http://schemas.openxmlformats.org/drawingml/2006/main">
            <a:r>
              <a:t/>
            </a:r>
          </a:p>
          <a:p xmlns:a="http://schemas.openxmlformats.org/drawingml/2006/main">
            <a:r>
              <a:t>Sources:</a:t>
            </a:r>
          </a:p>
          <a:p xmlns:a="http://schemas.openxmlformats.org/drawingml/2006/main">
            <a:r>
              <a:t>https://www.nber.org/papers/w35275</a:t>
            </a:r>
          </a:p>
          <a:p xmlns:a="http://schemas.openxmlformats.org/drawingml/2006/main">
            <a:r>
              <a:t>https://cloud.google.com/blog/products/ai-machine-learning/announcing-the-2025-dora-report</a:t>
            </a:r>
          </a:p>
          <a:p xmlns:a="http://schemas.openxmlformats.org/drawingml/2006/main">
            <a:r>
              <a:t>https://metr.org/blog/2026-05-11-ai-usage-survey/</a:t>
            </a:r>
          </a:p>
          <a:p xmlns:a="http://schemas.openxmlformats.org/drawingml/2006/main">
            <a:r>
              <a:t>https://www.gitclear.com/the_ai_code_quality_maintainability_gap</a:t>
            </a:r>
          </a:p>
          <a:p xmlns:a="http://schemas.openxmlformats.org/drawingml/2006/main">
            <a:r>
              <a:t>https://arxiv.org/html/2510.10165v3</a:t>
            </a:r>
          </a:p>
          <a:p xmlns:a="http://schemas.openxmlformats.org/drawingml/2006/main">
            <a:r>
              <a:t>https://arxiv.org/html/2601.13597v2</a:t>
            </a:r>
          </a:p>
          <a:p xmlns:a="http://schemas.openxmlformats.org/drawingml/2006/main">
            <a:r>
              <a:t>https://dora.dev/research/2025/2025-DORA-Report-Infographic.pdf</a:t>
            </a:r>
          </a:p>
          <a:p xmlns:a="http://schemas.openxmlformats.org/drawingml/2006/main">
            <a:r>
              <a:t>https://www.gitclear.com/ai_assistant_code_quality_2025_research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 може допомагати й comprehension. Криві не виміряні, людська спроможність не є незмінною. Comprehension debt — рамка ризику: прийняті зміни випереджають розуміння системи. Complexity, volume, duplication, ownership, architecture comprehension — signals, не прямий вимір боргу.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Умовний сценарій, не case study. Перевірити, хто розуміє інваріанти й залежності, хто може обмежити наслідки, зупинити зміни, відкотити й відновити систему. SDD = spec-driven development. Документація та repository intelligence — гіпотези/інструменти, не доведена універсальна відповідь.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Невідоме не те, чи AI допомагає взагалі. Позитивні результати реальні. Ми ще шукаємо умови стійкої конверсії локальних gains у командну продуктивність. Old equilibrium — спрощення, не заперечення попередньої автоматизації.</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Thinking Systems — інженерна категорія, не твердження про свідомість. Формули — спрощений контраст. Точніше P(y | x, c, m): контекст, модель і конфігурація також мають значення. Стабільне повторення не гарантує істинності. Наскрізний умовний кейс: IT-асистент використовує дозволені джерела, але не має права на неавторизовані зміни доступу.</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https://github.com/UncertaintyArchitectureGroup/uncertainty-architecture/blob/main/00-doctrine/uncertainty-in-the-controlled-object.md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Для IT-асистента: лише затверджені джерела й доступний цьому користувачу контекст. Можна перефразувати, але не вигадувати кроки чи прибирати approval. Недостатні докази означають уточнення або ескалацію. Заборони реалізуються також поза моделлю. Operating Envelope доповнює повний Requirement, не підміняє його. API, права доступу та детерміновані інваріанти залишаються.</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https://github.com/UncertaintyArchitectureGroup/uncertainty-architecture/blob/main/00-doctrine/requirements-correctness-and-bugs.md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Навчальний приклад: 99/100 routine, 39/40 ambiguous, 39/40 missing evidence, 19/20 access/privacy = 196/200 = 98%. Одна помилка — витік чужих даних. Загальний utility gate не перекриває critical boundary. Golden Set потребує покриття сценаріїв; repeated runs не роблять нерепрезентативні дані репрезентативними. Semantic judges калібруємо. Unit, integration і security tests залишаються.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Ready: scope, заборонені дії, ризики, рубрика, Golden Set, ескалація та decision owner. Done: зафіксована конфігурація model/prompt/retrieval/tools/policy, результати за сегментами, перевірені permissions і rollback. Release: погоджені аудиторія пілота, monitoring та умови зупинки. Класичний engineering також працює з ризиком. PM координує, але не привласнює security/business authority. Delivery release не розширює project authorization.</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https://github.com/UncertaintyArchitectureGroup/uncertainty-architecture/blob/main/01-patterns/thinking-system-review.md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Архітектура спрощена. Policy gate стоїть перед зовнішньою дією. Evidence саме по собі не control: потрібні reference conditions, уповноважене рішення й ефективний шлях виконання. Runtime не розширює меж вищого рівня. Retry має бюджет. Kill switch має owner і runbook. Монітор має false positives / false negatives. Інцидент після review поповнює Golden Set; автоматичного навчання на приватних даних не припускаємо.</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https://github.com/UncertaintyArchitectureGroup/uncertainty-architecture/blob/main/00-doctrine/control-loop-anatomy.md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Функції розширюються, а попередні обов'язки не зникають. PM координує tolerance. QA калібрує вимірювання. Architect визначає дозволений judgment, permissions і containment. Developer відповідає за implementation, ownership, instrumentation та runbooks. Це не вимога нового headcount і не передача всіх рішень PM.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 gives us extraordinary leverage. But leverage does not remove engineering responsibility. It moves where engineering rigor has to live. Для HOW: protect comprehension and ownership. Для WHAT: measure, bound and control judgment. Стрілки означають розширення предмета інженерії, не усунення tests або requirements.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0beb2cc7b07467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6d1aa0633a64436" /><Relationship Type="http://schemas.openxmlformats.org/officeDocument/2006/relationships/slideLayout" Target="/ppt/slideLayouts/slideLayout1.xml" Id="Raba046d41c0c421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ba046d41c0c421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369c95528554117" /><Relationship Type="http://schemas.openxmlformats.org/officeDocument/2006/relationships/image" Target="/ppt/media/image.png" Id="Rd9638afbb49348f0" /><Relationship Type="http://schemas.openxmlformats.org/officeDocument/2006/relationships/notesSlide" Target="/ppt/notesSlides/notesSlide1.xml" Id="R1b44fd0b92354ca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2b52f6580764b50" /><Relationship Type="http://schemas.openxmlformats.org/officeDocument/2006/relationships/notesSlide" Target="/ppt/notesSlides/notesSlide2.xml" Id="R315358400bd6406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3a5885e05884a82" /><Relationship Type="http://schemas.openxmlformats.org/officeDocument/2006/relationships/notesSlide" Target="/ppt/notesSlides/notesSlide3.xml" Id="Rc37b0bdfbeb140e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a080d1b167345a3" /><Relationship Type="http://schemas.openxmlformats.org/officeDocument/2006/relationships/notesSlide" Target="/ppt/notesSlides/notesSlide4.xml" Id="Ra6ae89c35cce47a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65a1bacdf83475c" /><Relationship Type="http://schemas.openxmlformats.org/officeDocument/2006/relationships/notesSlide" Target="/ppt/notesSlides/notesSlide5.xml" Id="R26d90a677a1c44b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f68e4823a7f41cd" /><Relationship Type="http://schemas.openxmlformats.org/officeDocument/2006/relationships/notesSlide" Target="/ppt/notesSlides/notesSlide6.xml" Id="R2ad6bfe43ed54bf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e2e0579897964666" /><Relationship Type="http://schemas.openxmlformats.org/officeDocument/2006/relationships/notesSlide" Target="/ppt/notesSlides/notesSlide7.xml" Id="Rdab1fd060b324eb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c0501686bd24db1" /><Relationship Type="http://schemas.openxmlformats.org/officeDocument/2006/relationships/notesSlide" Target="/ppt/notesSlides/notesSlide8.xml" Id="R8bda6149fcdc480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1780c91075fc49b6" /><Relationship Type="http://schemas.openxmlformats.org/officeDocument/2006/relationships/notesSlide" Target="/ppt/notesSlides/notesSlide9.xml" Id="R57ee98c8d8d043b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ea8e4bd8abc4212" /><Relationship Type="http://schemas.openxmlformats.org/officeDocument/2006/relationships/notesSlide" Target="/ppt/notesSlides/notesSlide10.xml" Id="R9ffbc640e6df461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22b3084cdbf413f" /><Relationship Type="http://schemas.openxmlformats.org/officeDocument/2006/relationships/notesSlide" Target="/ppt/notesSlides/notesSlide11.xml" Id="R53ea47616cc8428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fdaa4fd36a4d40ca" /><Relationship Type="http://schemas.openxmlformats.org/officeDocument/2006/relationships/notesSlide" Target="/ppt/notesSlides/notesSlide12.xml" Id="R09acf8f73aee4c1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d8afd4d5bc84a82" /><Relationship Type="http://schemas.openxmlformats.org/officeDocument/2006/relationships/notesSlide" Target="/ppt/notesSlides/notesSlide13.xml" Id="Rabebfb7f451a47b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70403520176e4009" /><Relationship Type="http://schemas.openxmlformats.org/officeDocument/2006/relationships/notesSlide" Target="/ppt/notesSlides/notesSlide14.xml" Id="Rdb392edea19b49c3" /></Relationships>
</file>

<file path=ppt/slides/slide1.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9E1AC51-DE67-49B7-9C7C-7B1C86FA8B56}"/>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01</a:t>
            </a:r>
          </a:p>
        </p:txBody>
      </p:sp>
      <p:sp>
        <p:nvSpPr>
          <p:cNvPr id="2" name="">
            <a:extLst xmlns:a="http://schemas.openxmlformats.org/drawingml/2006/main">
              <a:ext uri="{FF2B5EF4-FFF2-40B4-BE49-F238E27FC236}">
                <a16:creationId xmlns:a16="http://schemas.microsoft.com/office/drawing/2014/main" id="{8EDE3CB1-AAF3-4FA5-BEAA-87EE11A5B5DF}"/>
              </a:ext>
            </a:extLst>
          </p:cNvPr>
          <p:cNvSpPr>
            <a:spLocks xmlns:a="http://schemas.openxmlformats.org/drawingml/2006/main" noGrp="1"/>
          </p:cNvSpPr>
          <p:nvPr/>
        </p:nvSpPr>
        <p:spPr>
          <a:xfrm xmlns:a="http://schemas.openxmlformats.org/drawingml/2006/main">
            <a:off x="609600" y="476250"/>
            <a:ext cx="10572750"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750" b="1">
                <a:solidFill>
                  <a:srgbClr val="F4F7FA"/>
                </a:solidFill>
                <a:latin typeface="DejaVu Sans"/>
                <a:ea typeface="DejaVu Sans"/>
                <a:cs typeface="DejaVu Sans"/>
              </a:defRPr>
            </a:pPr>
            <a:r>
              <a:rPr sz="3750" b="1">
                <a:solidFill>
                  <a:srgbClr val="F4F7FA"/>
                </a:solidFill>
                <a:latin typeface="DejaVu Sans"/>
                <a:ea typeface="DejaVu Sans"/>
                <a:cs typeface="DejaVu Sans"/>
              </a:rPr>
              <a:t>AI Changes Both Sides</a:t>
            </a:r>
          </a:p>
          <a:p xmlns:a="http://schemas.openxmlformats.org/drawingml/2006/main">
            <a:pPr algn="l">
              <a:defRPr sz="3750" b="1">
                <a:solidFill>
                  <a:srgbClr val="F4F7FA"/>
                </a:solidFill>
                <a:latin typeface="DejaVu Sans"/>
                <a:ea typeface="DejaVu Sans"/>
                <a:cs typeface="DejaVu Sans"/>
              </a:defRPr>
            </a:pPr>
            <a:r>
              <a:rPr sz="3750" b="1">
                <a:solidFill>
                  <a:srgbClr val="F4F7FA"/>
                </a:solidFill>
                <a:latin typeface="DejaVu Sans"/>
                <a:ea typeface="DejaVu Sans"/>
                <a:cs typeface="DejaVu Sans"/>
              </a:rPr>
              <a:t>of Software Engineering</a:t>
            </a:r>
          </a:p>
        </p:txBody>
      </p:sp>
      <p:sp>
        <p:nvSpPr>
          <p:cNvPr id="3" name="">
            <a:extLst xmlns:a="http://schemas.openxmlformats.org/drawingml/2006/main">
              <a:ext uri="{FF2B5EF4-FFF2-40B4-BE49-F238E27FC236}">
                <a16:creationId xmlns:a16="http://schemas.microsoft.com/office/drawing/2014/main" id="{5A59E287-AE2F-49F2-918A-CCB836F7BF6F}"/>
              </a:ext>
            </a:extLst>
          </p:cNvPr>
          <p:cNvSpPr>
            <a:spLocks xmlns:a="http://schemas.openxmlformats.org/drawingml/2006/main" noGrp="1"/>
          </p:cNvSpPr>
          <p:nvPr/>
        </p:nvSpPr>
        <p:spPr>
          <a:xfrm xmlns:a="http://schemas.openxmlformats.org/drawingml/2006/main">
            <a:off x="609600" y="208597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0">
                <a:solidFill>
                  <a:srgbClr val="ADB8C5"/>
                </a:solidFill>
                <a:latin typeface="DejaVu Sans"/>
                <a:ea typeface="DejaVu Sans"/>
                <a:cs typeface="DejaVu Sans"/>
              </a:defRPr>
            </a:pPr>
            <a:r>
              <a:rPr sz="2100" b="0">
                <a:solidFill>
                  <a:srgbClr val="ADB8C5"/>
                </a:solidFill>
                <a:latin typeface="DejaVu Sans"/>
                <a:ea typeface="DejaVu Sans"/>
                <a:cs typeface="DejaVu Sans"/>
              </a:rPr>
              <a:t>How we build software. And what software is.</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d9638afbb49348f0"/>
          <a:stretch xmlns:a="http://schemas.openxmlformats.org/drawingml/2006/main"/>
        </p:blipFill>
        <p:spPr>
          <a:xfrm xmlns:a="http://schemas.openxmlformats.org/drawingml/2006/main">
            <a:off x="5695950" y="2600325"/>
            <a:ext cx="5886450" cy="39243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F36537E1-7A8E-4444-BF77-9B3760FECB45}"/>
              </a:ext>
            </a:extLst>
          </p:cNvPr>
          <p:cNvSpPr>
            <a:spLocks xmlns:a="http://schemas.openxmlformats.org/drawingml/2006/main" noGrp="1"/>
          </p:cNvSpPr>
          <p:nvPr/>
        </p:nvSpPr>
        <p:spPr>
          <a:xfrm xmlns:a="http://schemas.openxmlformats.org/drawingml/2006/main">
            <a:off x="609600" y="3086100"/>
            <a:ext cx="4857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28C7F7"/>
                </a:solidFill>
                <a:latin typeface="DejaVu Sans"/>
                <a:ea typeface="DejaVu Sans"/>
                <a:cs typeface="DejaVu Sans"/>
              </a:defRPr>
            </a:pPr>
            <a:r>
              <a:rPr sz="1725" b="1">
                <a:solidFill>
                  <a:srgbClr val="28C7F7"/>
                </a:solidFill>
                <a:latin typeface="DejaVu Sans"/>
                <a:ea typeface="DejaVu Sans"/>
                <a:cs typeface="DejaVu Sans"/>
              </a:rPr>
              <a:t>HOW WE BUILD</a:t>
            </a:r>
          </a:p>
        </p:txBody>
      </p:sp>
      <p:sp>
        <p:nvSpPr>
          <p:cNvPr id="6" name="">
            <a:extLst xmlns:a="http://schemas.openxmlformats.org/drawingml/2006/main">
              <a:ext uri="{FF2B5EF4-FFF2-40B4-BE49-F238E27FC236}">
                <a16:creationId xmlns:a16="http://schemas.microsoft.com/office/drawing/2014/main" id="{C1A9180D-F059-4BB7-93EC-1FD758B4CB23}"/>
              </a:ext>
            </a:extLst>
          </p:cNvPr>
          <p:cNvSpPr>
            <a:spLocks xmlns:a="http://schemas.openxmlformats.org/drawingml/2006/main" noGrp="1"/>
          </p:cNvSpPr>
          <p:nvPr/>
        </p:nvSpPr>
        <p:spPr>
          <a:xfrm xmlns:a="http://schemas.openxmlformats.org/drawingml/2006/main">
            <a:off x="609600" y="34480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4F7FA"/>
                </a:solidFill>
                <a:latin typeface="DejaVu Sans"/>
                <a:ea typeface="DejaVu Sans"/>
                <a:cs typeface="DejaVu Sans"/>
              </a:defRPr>
            </a:pPr>
            <a:r>
              <a:rPr sz="2325" b="1">
                <a:solidFill>
                  <a:srgbClr val="F4F7FA"/>
                </a:solidFill>
                <a:latin typeface="DejaVu Sans"/>
                <a:ea typeface="DejaVu Sans"/>
                <a:cs typeface="DejaVu Sans"/>
              </a:rPr>
              <a:t>AI-assisted engineering</a:t>
            </a:r>
          </a:p>
        </p:txBody>
      </p:sp>
      <p:sp>
        <p:nvSpPr>
          <p:cNvPr id="7" name="">
            <a:extLst xmlns:a="http://schemas.openxmlformats.org/drawingml/2006/main">
              <a:ext uri="{FF2B5EF4-FFF2-40B4-BE49-F238E27FC236}">
                <a16:creationId xmlns:a16="http://schemas.microsoft.com/office/drawing/2014/main" id="{6FB983E5-CC02-424E-B8D4-408641369329}"/>
              </a:ext>
            </a:extLst>
          </p:cNvPr>
          <p:cNvSpPr>
            <a:spLocks xmlns:a="http://schemas.openxmlformats.org/drawingml/2006/main" noGrp="1"/>
          </p:cNvSpPr>
          <p:nvPr/>
        </p:nvSpPr>
        <p:spPr>
          <a:xfrm xmlns:a="http://schemas.openxmlformats.org/drawingml/2006/main">
            <a:off x="609600" y="3886200"/>
            <a:ext cx="47148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ADB8C5"/>
                </a:solidFill>
                <a:latin typeface="DejaVu Sans"/>
                <a:ea typeface="DejaVu Sans"/>
                <a:cs typeface="DejaVu Sans"/>
              </a:defRPr>
            </a:pPr>
            <a:r>
              <a:rPr sz="1800" b="0">
                <a:solidFill>
                  <a:srgbClr val="ADB8C5"/>
                </a:solidFill>
                <a:latin typeface="DejaVu Sans"/>
                <a:ea typeface="DejaVu Sans"/>
                <a:cs typeface="DejaVu Sans"/>
              </a:rPr>
              <a:t>More work can be generated.</a:t>
            </a:r>
          </a:p>
          <a:p xmlns:a="http://schemas.openxmlformats.org/drawingml/2006/main">
            <a:pPr algn="l">
              <a:defRPr sz="1800" b="0">
                <a:solidFill>
                  <a:srgbClr val="ADB8C5"/>
                </a:solidFill>
                <a:latin typeface="DejaVu Sans"/>
                <a:ea typeface="DejaVu Sans"/>
                <a:cs typeface="DejaVu Sans"/>
              </a:defRPr>
            </a:pPr>
            <a:r>
              <a:rPr sz="1800" b="0">
                <a:solidFill>
                  <a:srgbClr val="ADB8C5"/>
                </a:solidFill>
                <a:latin typeface="DejaVu Sans"/>
                <a:ea typeface="DejaVu Sans"/>
                <a:cs typeface="DejaVu Sans"/>
              </a:rPr>
              <a:t>The whole pipeline still matters.</a:t>
            </a:r>
          </a:p>
        </p:txBody>
      </p:sp>
      <p:sp>
        <p:nvSpPr>
          <p:cNvPr id="8" name="">
            <a:extLst xmlns:a="http://schemas.openxmlformats.org/drawingml/2006/main">
              <a:ext uri="{FF2B5EF4-FFF2-40B4-BE49-F238E27FC236}">
                <a16:creationId xmlns:a16="http://schemas.microsoft.com/office/drawing/2014/main" id="{DF9170B5-1099-4B22-986E-6CCF6B7CC846}"/>
              </a:ext>
            </a:extLst>
          </p:cNvPr>
          <p:cNvSpPr>
            <a:spLocks xmlns:a="http://schemas.openxmlformats.org/drawingml/2006/main" noGrp="1"/>
          </p:cNvSpPr>
          <p:nvPr/>
        </p:nvSpPr>
        <p:spPr>
          <a:xfrm xmlns:a="http://schemas.openxmlformats.org/drawingml/2006/main">
            <a:off x="609600" y="4610100"/>
            <a:ext cx="4857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5B61C"/>
                </a:solidFill>
                <a:latin typeface="DejaVu Sans"/>
                <a:ea typeface="DejaVu Sans"/>
                <a:cs typeface="DejaVu Sans"/>
              </a:defRPr>
            </a:pPr>
            <a:r>
              <a:rPr sz="1725" b="1">
                <a:solidFill>
                  <a:srgbClr val="F5B61C"/>
                </a:solidFill>
                <a:latin typeface="DejaVu Sans"/>
                <a:ea typeface="DejaVu Sans"/>
                <a:cs typeface="DejaVu Sans"/>
              </a:rPr>
              <a:t>WHAT WE BUILD</a:t>
            </a:r>
          </a:p>
        </p:txBody>
      </p:sp>
      <p:sp>
        <p:nvSpPr>
          <p:cNvPr id="9" name="">
            <a:extLst xmlns:a="http://schemas.openxmlformats.org/drawingml/2006/main">
              <a:ext uri="{FF2B5EF4-FFF2-40B4-BE49-F238E27FC236}">
                <a16:creationId xmlns:a16="http://schemas.microsoft.com/office/drawing/2014/main" id="{65F79937-6C0B-4585-8793-418162231076}"/>
              </a:ext>
            </a:extLst>
          </p:cNvPr>
          <p:cNvSpPr>
            <a:spLocks xmlns:a="http://schemas.openxmlformats.org/drawingml/2006/main" noGrp="1"/>
          </p:cNvSpPr>
          <p:nvPr/>
        </p:nvSpPr>
        <p:spPr>
          <a:xfrm xmlns:a="http://schemas.openxmlformats.org/drawingml/2006/main">
            <a:off x="609600" y="49720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4F7FA"/>
                </a:solidFill>
                <a:latin typeface="DejaVu Sans"/>
                <a:ea typeface="DejaVu Sans"/>
                <a:cs typeface="DejaVu Sans"/>
              </a:defRPr>
            </a:pPr>
            <a:r>
              <a:rPr sz="2325" b="1">
                <a:solidFill>
                  <a:srgbClr val="F4F7FA"/>
                </a:solidFill>
                <a:latin typeface="DejaVu Sans"/>
                <a:ea typeface="DejaVu Sans"/>
                <a:cs typeface="DejaVu Sans"/>
              </a:rPr>
              <a:t>Thinking Systems</a:t>
            </a:r>
          </a:p>
        </p:txBody>
      </p:sp>
      <p:sp>
        <p:nvSpPr>
          <p:cNvPr id="10" name="">
            <a:extLst xmlns:a="http://schemas.openxmlformats.org/drawingml/2006/main">
              <a:ext uri="{FF2B5EF4-FFF2-40B4-BE49-F238E27FC236}">
                <a16:creationId xmlns:a16="http://schemas.microsoft.com/office/drawing/2014/main" id="{B0E1CEF0-77B4-4DC9-B74B-CFB8884849B5}"/>
              </a:ext>
            </a:extLst>
          </p:cNvPr>
          <p:cNvSpPr>
            <a:spLocks xmlns:a="http://schemas.openxmlformats.org/drawingml/2006/main" noGrp="1"/>
          </p:cNvSpPr>
          <p:nvPr/>
        </p:nvSpPr>
        <p:spPr>
          <a:xfrm xmlns:a="http://schemas.openxmlformats.org/drawingml/2006/main">
            <a:off x="609600" y="5410200"/>
            <a:ext cx="47148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ADB8C5"/>
                </a:solidFill>
                <a:latin typeface="DejaVu Sans"/>
                <a:ea typeface="DejaVu Sans"/>
                <a:cs typeface="DejaVu Sans"/>
              </a:defRPr>
            </a:pPr>
            <a:r>
              <a:rPr sz="1800" b="0">
                <a:solidFill>
                  <a:srgbClr val="ADB8C5"/>
                </a:solidFill>
                <a:latin typeface="DejaVu Sans"/>
                <a:ea typeface="DejaVu Sans"/>
                <a:cs typeface="DejaVu Sans"/>
              </a:rPr>
              <a:t>The product delegates judgment.</a:t>
            </a:r>
          </a:p>
          <a:p xmlns:a="http://schemas.openxmlformats.org/drawingml/2006/main">
            <a:pPr algn="l">
              <a:defRPr sz="1800" b="0">
                <a:solidFill>
                  <a:srgbClr val="ADB8C5"/>
                </a:solidFill>
                <a:latin typeface="DejaVu Sans"/>
                <a:ea typeface="DejaVu Sans"/>
                <a:cs typeface="DejaVu Sans"/>
              </a:defRPr>
            </a:pPr>
            <a:r>
              <a:rPr sz="1800" b="0">
                <a:solidFill>
                  <a:srgbClr val="ADB8C5"/>
                </a:solidFill>
                <a:latin typeface="DejaVu Sans"/>
                <a:ea typeface="DejaVu Sans"/>
                <a:cs typeface="DejaVu Sans"/>
              </a:rPr>
              <a:t>Its boundaries still matter.</a:t>
            </a:r>
          </a:p>
        </p:txBody>
      </p:sp>
      <p:sp>
        <p:nvSpPr>
          <p:cNvPr id="11" name="">
            <a:extLst xmlns:a="http://schemas.openxmlformats.org/drawingml/2006/main">
              <a:ext uri="{FF2B5EF4-FFF2-40B4-BE49-F238E27FC236}">
                <a16:creationId xmlns:a16="http://schemas.microsoft.com/office/drawing/2014/main" id="{A031B51C-BE59-478F-9EF2-01A17BBF1460}"/>
              </a:ext>
            </a:extLst>
          </p:cNvPr>
          <p:cNvSpPr>
            <a:spLocks xmlns:a="http://schemas.openxmlformats.org/drawingml/2006/main" noGrp="1"/>
          </p:cNvSpPr>
          <p:nvPr/>
        </p:nvSpPr>
        <p:spPr>
          <a:xfrm xmlns:a="http://schemas.openxmlformats.org/drawingml/2006/main">
            <a:off x="609600" y="6457950"/>
            <a:ext cx="10096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Vitalii Oborskyi · PMDay</a:t>
            </a:r>
          </a:p>
        </p:txBody>
      </p:sp>
    </p:spTree>
    <p:extLst>
      <p:ext uri="{BB962C8B-B14F-4D97-AF65-F5344CB8AC3E}">
        <p14:creationId xmlns:p14="http://schemas.microsoft.com/office/powerpoint/2010/main" val="214947695"/>
      </p:ext>
    </p:extLst>
  </p:cSld>
</p:sld>
</file>

<file path=ppt/slides/slide2.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B0B01F98-74A6-4503-BC05-27EFD0855A25}"/>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This Is a Real Phase Transition</a:t>
            </a:r>
          </a:p>
        </p:txBody>
      </p:sp>
      <p:sp>
        <p:nvSpPr>
          <p:cNvPr id="2" name="">
            <a:extLst xmlns:a="http://schemas.openxmlformats.org/drawingml/2006/main">
              <a:ext uri="{FF2B5EF4-FFF2-40B4-BE49-F238E27FC236}">
                <a16:creationId xmlns:a16="http://schemas.microsoft.com/office/drawing/2014/main" id="{1D984AAC-853F-4008-94FB-81E1AA5B0B7F}"/>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42EFEDD7-4F93-4A58-A6A6-12704E80F13C}"/>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02</a:t>
            </a:r>
          </a:p>
        </p:txBody>
      </p:sp>
      <p:sp>
        <p:nvSpPr>
          <p:cNvPr id="4" name="">
            <a:extLst xmlns:a="http://schemas.openxmlformats.org/drawingml/2006/main">
              <a:ext uri="{FF2B5EF4-FFF2-40B4-BE49-F238E27FC236}">
                <a16:creationId xmlns:a16="http://schemas.microsoft.com/office/drawing/2014/main" id="{79499144-CC2E-4138-A21F-B3F9B33BB2C4}"/>
              </a:ext>
            </a:extLst>
          </p:cNvPr>
          <p:cNvSpPr>
            <a:spLocks xmlns:a="http://schemas.openxmlformats.org/drawingml/2006/main" noGrp="1"/>
          </p:cNvSpPr>
          <p:nvPr/>
        </p:nvSpPr>
        <p:spPr>
          <a:xfrm xmlns:a="http://schemas.openxmlformats.org/drawingml/2006/main">
            <a:off x="609600" y="2200275"/>
            <a:ext cx="31623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5" name="">
            <a:extLst xmlns:a="http://schemas.openxmlformats.org/drawingml/2006/main">
              <a:ext uri="{FF2B5EF4-FFF2-40B4-BE49-F238E27FC236}">
                <a16:creationId xmlns:a16="http://schemas.microsoft.com/office/drawing/2014/main" id="{EBFC2056-35CF-4E57-9FDF-70CD47E1E0C5}"/>
              </a:ext>
            </a:extLst>
          </p:cNvPr>
          <p:cNvSpPr>
            <a:spLocks xmlns:a="http://schemas.openxmlformats.org/drawingml/2006/main" noGrp="1"/>
          </p:cNvSpPr>
          <p:nvPr/>
        </p:nvSpPr>
        <p:spPr>
          <a:xfrm xmlns:a="http://schemas.openxmlformats.org/drawingml/2006/main">
            <a:off x="838200" y="237172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4F7FA"/>
                </a:solidFill>
                <a:latin typeface="DejaVu Sans"/>
                <a:ea typeface="DejaVu Sans"/>
                <a:cs typeface="DejaVu Sans"/>
              </a:defRPr>
            </a:pPr>
            <a:r>
              <a:rPr sz="2325" b="1">
                <a:solidFill>
                  <a:srgbClr val="F4F7FA"/>
                </a:solidFill>
                <a:latin typeface="DejaVu Sans"/>
                <a:ea typeface="DejaVu Sans"/>
                <a:cs typeface="DejaVu Sans"/>
              </a:rPr>
              <a:t>Writing</a:t>
            </a:r>
          </a:p>
        </p:txBody>
      </p:sp>
      <p:sp>
        <p:nvSpPr>
          <p:cNvPr id="6" name="">
            <a:extLst xmlns:a="http://schemas.openxmlformats.org/drawingml/2006/main">
              <a:ext uri="{FF2B5EF4-FFF2-40B4-BE49-F238E27FC236}">
                <a16:creationId xmlns:a16="http://schemas.microsoft.com/office/drawing/2014/main" id="{48A91D4B-E7DD-4BD0-A77E-051F58FAA85D}"/>
              </a:ext>
            </a:extLst>
          </p:cNvPr>
          <p:cNvSpPr>
            <a:spLocks xmlns:a="http://schemas.openxmlformats.org/drawingml/2006/main" noGrp="1"/>
          </p:cNvSpPr>
          <p:nvPr/>
        </p:nvSpPr>
        <p:spPr>
          <a:xfrm xmlns:a="http://schemas.openxmlformats.org/drawingml/2006/main">
            <a:off x="838200" y="2981325"/>
            <a:ext cx="27051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8C7F7"/>
                </a:solidFill>
                <a:latin typeface="DejaVu Sans"/>
                <a:ea typeface="DejaVu Sans"/>
                <a:cs typeface="DejaVu Sans"/>
              </a:defRPr>
            </a:pPr>
            <a:r>
              <a:rPr sz="2025" b="1">
                <a:solidFill>
                  <a:srgbClr val="28C7F7"/>
                </a:solidFill>
                <a:latin typeface="DejaVu Sans"/>
                <a:ea typeface="DejaVu Sans"/>
                <a:cs typeface="DejaVu Sans"/>
              </a:rPr>
              <a:t>Externalized</a:t>
            </a:r>
          </a:p>
          <a:p xmlns:a="http://schemas.openxmlformats.org/drawingml/2006/main">
            <a:pPr algn="l">
              <a:defRPr sz="2025" b="1">
                <a:solidFill>
                  <a:srgbClr val="28C7F7"/>
                </a:solidFill>
                <a:latin typeface="DejaVu Sans"/>
                <a:ea typeface="DejaVu Sans"/>
                <a:cs typeface="DejaVu Sans"/>
              </a:defRPr>
            </a:pPr>
            <a:r>
              <a:rPr sz="2025" b="1">
                <a:solidFill>
                  <a:srgbClr val="28C7F7"/>
                </a:solidFill>
                <a:latin typeface="DejaVu Sans"/>
                <a:ea typeface="DejaVu Sans"/>
                <a:cs typeface="DejaVu Sans"/>
              </a:rPr>
              <a:t>Memory</a:t>
            </a:r>
          </a:p>
        </p:txBody>
      </p:sp>
      <p:sp>
        <p:nvSpPr>
          <p:cNvPr id="7" name="">
            <a:extLst xmlns:a="http://schemas.openxmlformats.org/drawingml/2006/main">
              <a:ext uri="{FF2B5EF4-FFF2-40B4-BE49-F238E27FC236}">
                <a16:creationId xmlns:a16="http://schemas.microsoft.com/office/drawing/2014/main" id="{3AF98120-55DA-4A51-B3F0-EB3B1466E43B}"/>
              </a:ext>
            </a:extLst>
          </p:cNvPr>
          <p:cNvSpPr>
            <a:spLocks xmlns:a="http://schemas.openxmlformats.org/drawingml/2006/main" noGrp="1"/>
          </p:cNvSpPr>
          <p:nvPr/>
        </p:nvSpPr>
        <p:spPr>
          <a:xfrm xmlns:a="http://schemas.openxmlformats.org/drawingml/2006/main">
            <a:off x="838200" y="3762375"/>
            <a:ext cx="27051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DejaVu Sans"/>
                <a:ea typeface="DejaVu Sans"/>
                <a:cs typeface="DejaVu Sans"/>
              </a:defRPr>
            </a:pPr>
            <a:r>
              <a:rPr sz="1725" b="0">
                <a:solidFill>
                  <a:srgbClr val="ADB8C5"/>
                </a:solidFill>
                <a:latin typeface="DejaVu Sans"/>
                <a:ea typeface="DejaVu Sans"/>
                <a:cs typeface="DejaVu Sans"/>
              </a:rPr>
              <a:t>Records we can retrieve</a:t>
            </a:r>
          </a:p>
        </p:txBody>
      </p:sp>
      <p:sp>
        <p:nvSpPr>
          <p:cNvPr id="8" name="">
            <a:extLst xmlns:a="http://schemas.openxmlformats.org/drawingml/2006/main">
              <a:ext uri="{FF2B5EF4-FFF2-40B4-BE49-F238E27FC236}">
                <a16:creationId xmlns:a16="http://schemas.microsoft.com/office/drawing/2014/main" id="{04C50067-6E77-45C3-8431-C9B1463716E4}"/>
              </a:ext>
            </a:extLst>
          </p:cNvPr>
          <p:cNvSpPr>
            <a:spLocks xmlns:a="http://schemas.openxmlformats.org/drawingml/2006/main" noGrp="1"/>
          </p:cNvSpPr>
          <p:nvPr/>
        </p:nvSpPr>
        <p:spPr>
          <a:xfrm xmlns:a="http://schemas.openxmlformats.org/drawingml/2006/main">
            <a:off x="4514850" y="2200275"/>
            <a:ext cx="31623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9" name="">
            <a:extLst xmlns:a="http://schemas.openxmlformats.org/drawingml/2006/main">
              <a:ext uri="{FF2B5EF4-FFF2-40B4-BE49-F238E27FC236}">
                <a16:creationId xmlns:a16="http://schemas.microsoft.com/office/drawing/2014/main" id="{40945584-1810-41C8-8755-0EABC130DD9E}"/>
              </a:ext>
            </a:extLst>
          </p:cNvPr>
          <p:cNvSpPr>
            <a:spLocks xmlns:a="http://schemas.openxmlformats.org/drawingml/2006/main" noGrp="1"/>
          </p:cNvSpPr>
          <p:nvPr/>
        </p:nvSpPr>
        <p:spPr>
          <a:xfrm xmlns:a="http://schemas.openxmlformats.org/drawingml/2006/main">
            <a:off x="4743450" y="237172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4F7FA"/>
                </a:solidFill>
                <a:latin typeface="DejaVu Sans"/>
                <a:ea typeface="DejaVu Sans"/>
                <a:cs typeface="DejaVu Sans"/>
              </a:defRPr>
            </a:pPr>
            <a:r>
              <a:rPr sz="2325" b="1">
                <a:solidFill>
                  <a:srgbClr val="F4F7FA"/>
                </a:solidFill>
                <a:latin typeface="DejaVu Sans"/>
                <a:ea typeface="DejaVu Sans"/>
                <a:cs typeface="DejaVu Sans"/>
              </a:rPr>
              <a:t>Computers</a:t>
            </a:r>
          </a:p>
        </p:txBody>
      </p:sp>
      <p:sp>
        <p:nvSpPr>
          <p:cNvPr id="10" name="">
            <a:extLst xmlns:a="http://schemas.openxmlformats.org/drawingml/2006/main">
              <a:ext uri="{FF2B5EF4-FFF2-40B4-BE49-F238E27FC236}">
                <a16:creationId xmlns:a16="http://schemas.microsoft.com/office/drawing/2014/main" id="{AED0F21B-ECC1-41B4-A3B1-F1867CC36EBB}"/>
              </a:ext>
            </a:extLst>
          </p:cNvPr>
          <p:cNvSpPr>
            <a:spLocks xmlns:a="http://schemas.openxmlformats.org/drawingml/2006/main" noGrp="1"/>
          </p:cNvSpPr>
          <p:nvPr/>
        </p:nvSpPr>
        <p:spPr>
          <a:xfrm xmlns:a="http://schemas.openxmlformats.org/drawingml/2006/main">
            <a:off x="4743450" y="2981325"/>
            <a:ext cx="27051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8C7F7"/>
                </a:solidFill>
                <a:latin typeface="DejaVu Sans"/>
                <a:ea typeface="DejaVu Sans"/>
                <a:cs typeface="DejaVu Sans"/>
              </a:defRPr>
            </a:pPr>
            <a:r>
              <a:rPr sz="2025" b="1">
                <a:solidFill>
                  <a:srgbClr val="28C7F7"/>
                </a:solidFill>
                <a:latin typeface="DejaVu Sans"/>
                <a:ea typeface="DejaVu Sans"/>
                <a:cs typeface="DejaVu Sans"/>
              </a:rPr>
              <a:t>Externalized</a:t>
            </a:r>
          </a:p>
          <a:p xmlns:a="http://schemas.openxmlformats.org/drawingml/2006/main">
            <a:pPr algn="l">
              <a:defRPr sz="2025" b="1">
                <a:solidFill>
                  <a:srgbClr val="28C7F7"/>
                </a:solidFill>
                <a:latin typeface="DejaVu Sans"/>
                <a:ea typeface="DejaVu Sans"/>
                <a:cs typeface="DejaVu Sans"/>
              </a:defRPr>
            </a:pPr>
            <a:r>
              <a:rPr sz="2025" b="1">
                <a:solidFill>
                  <a:srgbClr val="28C7F7"/>
                </a:solidFill>
                <a:latin typeface="DejaVu Sans"/>
                <a:ea typeface="DejaVu Sans"/>
                <a:cs typeface="DejaVu Sans"/>
              </a:rPr>
              <a:t>Calculation</a:t>
            </a:r>
          </a:p>
        </p:txBody>
      </p:sp>
      <p:sp>
        <p:nvSpPr>
          <p:cNvPr id="11" name="">
            <a:extLst xmlns:a="http://schemas.openxmlformats.org/drawingml/2006/main">
              <a:ext uri="{FF2B5EF4-FFF2-40B4-BE49-F238E27FC236}">
                <a16:creationId xmlns:a16="http://schemas.microsoft.com/office/drawing/2014/main" id="{8656462C-398B-4D05-AD8F-DCE619963491}"/>
              </a:ext>
            </a:extLst>
          </p:cNvPr>
          <p:cNvSpPr>
            <a:spLocks xmlns:a="http://schemas.openxmlformats.org/drawingml/2006/main" noGrp="1"/>
          </p:cNvSpPr>
          <p:nvPr/>
        </p:nvSpPr>
        <p:spPr>
          <a:xfrm xmlns:a="http://schemas.openxmlformats.org/drawingml/2006/main">
            <a:off x="4743450" y="3762375"/>
            <a:ext cx="27051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DejaVu Sans"/>
                <a:ea typeface="DejaVu Sans"/>
                <a:cs typeface="DejaVu Sans"/>
              </a:defRPr>
            </a:pPr>
            <a:r>
              <a:rPr sz="1725" b="0">
                <a:solidFill>
                  <a:srgbClr val="ADB8C5"/>
                </a:solidFill>
                <a:latin typeface="DejaVu Sans"/>
                <a:ea typeface="DejaVu Sans"/>
                <a:cs typeface="DejaVu Sans"/>
              </a:rPr>
              <a:t>Rules we explicitly encode</a:t>
            </a:r>
          </a:p>
        </p:txBody>
      </p:sp>
      <p:sp>
        <p:nvSpPr>
          <p:cNvPr id="12" name="">
            <a:extLst xmlns:a="http://schemas.openxmlformats.org/drawingml/2006/main">
              <a:ext uri="{FF2B5EF4-FFF2-40B4-BE49-F238E27FC236}">
                <a16:creationId xmlns:a16="http://schemas.microsoft.com/office/drawing/2014/main" id="{53EEA161-5CA7-40CD-BDD3-662CE4B90D3A}"/>
              </a:ext>
            </a:extLst>
          </p:cNvPr>
          <p:cNvSpPr>
            <a:spLocks xmlns:a="http://schemas.openxmlformats.org/drawingml/2006/main" noGrp="1"/>
          </p:cNvSpPr>
          <p:nvPr/>
        </p:nvSpPr>
        <p:spPr>
          <a:xfrm xmlns:a="http://schemas.openxmlformats.org/drawingml/2006/main">
            <a:off x="8420100" y="2200275"/>
            <a:ext cx="31623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3" name="">
            <a:extLst xmlns:a="http://schemas.openxmlformats.org/drawingml/2006/main">
              <a:ext uri="{FF2B5EF4-FFF2-40B4-BE49-F238E27FC236}">
                <a16:creationId xmlns:a16="http://schemas.microsoft.com/office/drawing/2014/main" id="{EBC9F598-5F74-4448-8AEB-0F69570C7E1B}"/>
              </a:ext>
            </a:extLst>
          </p:cNvPr>
          <p:cNvSpPr>
            <a:spLocks xmlns:a="http://schemas.openxmlformats.org/drawingml/2006/main" noGrp="1"/>
          </p:cNvSpPr>
          <p:nvPr/>
        </p:nvSpPr>
        <p:spPr>
          <a:xfrm xmlns:a="http://schemas.openxmlformats.org/drawingml/2006/main">
            <a:off x="8648700" y="237172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4F7FA"/>
                </a:solidFill>
                <a:latin typeface="DejaVu Sans"/>
                <a:ea typeface="DejaVu Sans"/>
                <a:cs typeface="DejaVu Sans"/>
              </a:defRPr>
            </a:pPr>
            <a:r>
              <a:rPr sz="2325" b="1">
                <a:solidFill>
                  <a:srgbClr val="F4F7FA"/>
                </a:solidFill>
                <a:latin typeface="DejaVu Sans"/>
                <a:ea typeface="DejaVu Sans"/>
                <a:cs typeface="DejaVu Sans"/>
              </a:rPr>
              <a:t>Large Models</a:t>
            </a:r>
          </a:p>
        </p:txBody>
      </p:sp>
      <p:sp>
        <p:nvSpPr>
          <p:cNvPr id="14" name="">
            <a:extLst xmlns:a="http://schemas.openxmlformats.org/drawingml/2006/main">
              <a:ext uri="{FF2B5EF4-FFF2-40B4-BE49-F238E27FC236}">
                <a16:creationId xmlns:a16="http://schemas.microsoft.com/office/drawing/2014/main" id="{DF8DA8FD-EE3C-4FB4-996B-EA52C5167D4E}"/>
              </a:ext>
            </a:extLst>
          </p:cNvPr>
          <p:cNvSpPr>
            <a:spLocks xmlns:a="http://schemas.openxmlformats.org/drawingml/2006/main" noGrp="1"/>
          </p:cNvSpPr>
          <p:nvPr/>
        </p:nvSpPr>
        <p:spPr>
          <a:xfrm xmlns:a="http://schemas.openxmlformats.org/drawingml/2006/main">
            <a:off x="8648700" y="2981325"/>
            <a:ext cx="27051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5B61C"/>
                </a:solidFill>
                <a:latin typeface="DejaVu Sans"/>
                <a:ea typeface="DejaVu Sans"/>
                <a:cs typeface="DejaVu Sans"/>
              </a:defRPr>
            </a:pPr>
            <a:r>
              <a:rPr sz="2025" b="1">
                <a:solidFill>
                  <a:srgbClr val="F5B61C"/>
                </a:solidFill>
                <a:latin typeface="DejaVu Sans"/>
                <a:ea typeface="DejaVu Sans"/>
                <a:cs typeface="DejaVu Sans"/>
              </a:rPr>
              <a:t>Externalized</a:t>
            </a:r>
          </a:p>
          <a:p xmlns:a="http://schemas.openxmlformats.org/drawingml/2006/main">
            <a:pPr algn="l">
              <a:defRPr sz="2025" b="1">
                <a:solidFill>
                  <a:srgbClr val="F5B61C"/>
                </a:solidFill>
                <a:latin typeface="DejaVu Sans"/>
                <a:ea typeface="DejaVu Sans"/>
                <a:cs typeface="DejaVu Sans"/>
              </a:defRPr>
            </a:pPr>
            <a:r>
              <a:rPr sz="2025" b="1">
                <a:solidFill>
                  <a:srgbClr val="F5B61C"/>
                </a:solidFill>
                <a:latin typeface="DejaVu Sans"/>
                <a:ea typeface="DejaVu Sans"/>
                <a:cs typeface="DejaVu Sans"/>
              </a:rPr>
              <a:t>Cognition</a:t>
            </a:r>
          </a:p>
        </p:txBody>
      </p:sp>
      <p:sp>
        <p:nvSpPr>
          <p:cNvPr id="15" name="">
            <a:extLst xmlns:a="http://schemas.openxmlformats.org/drawingml/2006/main">
              <a:ext uri="{FF2B5EF4-FFF2-40B4-BE49-F238E27FC236}">
                <a16:creationId xmlns:a16="http://schemas.microsoft.com/office/drawing/2014/main" id="{5998AE99-23AC-4519-8892-4B06426A77D9}"/>
              </a:ext>
            </a:extLst>
          </p:cNvPr>
          <p:cNvSpPr>
            <a:spLocks xmlns:a="http://schemas.openxmlformats.org/drawingml/2006/main" noGrp="1"/>
          </p:cNvSpPr>
          <p:nvPr/>
        </p:nvSpPr>
        <p:spPr>
          <a:xfrm xmlns:a="http://schemas.openxmlformats.org/drawingml/2006/main">
            <a:off x="8648700" y="3762375"/>
            <a:ext cx="27051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DejaVu Sans"/>
                <a:ea typeface="DejaVu Sans"/>
                <a:cs typeface="DejaVu Sans"/>
              </a:defRPr>
            </a:pPr>
            <a:r>
              <a:rPr sz="1725" b="0">
                <a:solidFill>
                  <a:srgbClr val="ADB8C5"/>
                </a:solidFill>
                <a:latin typeface="DejaVu Sans"/>
                <a:ea typeface="DejaVu Sans"/>
                <a:cs typeface="DejaVu Sans"/>
              </a:rPr>
              <a:t>Judgment shaped</a:t>
            </a:r>
          </a:p>
          <a:p xmlns:a="http://schemas.openxmlformats.org/drawingml/2006/main">
            <a:pPr algn="l">
              <a:defRPr sz="1725" b="0">
                <a:solidFill>
                  <a:srgbClr val="ADB8C5"/>
                </a:solidFill>
                <a:latin typeface="DejaVu Sans"/>
                <a:ea typeface="DejaVu Sans"/>
                <a:cs typeface="DejaVu Sans"/>
              </a:defRPr>
            </a:pPr>
            <a:r>
              <a:rPr sz="1725" b="0">
                <a:solidFill>
                  <a:srgbClr val="ADB8C5"/>
                </a:solidFill>
                <a:latin typeface="DejaVu Sans"/>
                <a:ea typeface="DejaVu Sans"/>
                <a:cs typeface="DejaVu Sans"/>
              </a:rPr>
              <a:t>by context</a:t>
            </a:r>
          </a:p>
        </p:txBody>
      </p:sp>
      <p:cxnSp>
        <p:nvCxnSpPr>
          <p:cNvPr id="36" name=""/>
          <p:cNvCxnSpPr>
            <a:stCxn xmlns:a="http://schemas.openxmlformats.org/drawingml/2006/main" id="4" idx="3"/>
            <a:endCxn xmlns:a="http://schemas.openxmlformats.org/drawingml/2006/main" id="8" idx="1"/>
          </p:cNvCxnSpPr>
          <p:nvPr/>
        </p:nvCxnSpPr>
        <p:spPr>
          <a:xfrm xmlns:a="http://schemas.openxmlformats.org/drawingml/2006/main">
            <a:off x="3771900" y="3367088"/>
            <a:ext cx="742950" cy="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37" name=""/>
          <p:cNvCxnSpPr>
            <a:stCxn xmlns:a="http://schemas.openxmlformats.org/drawingml/2006/main" id="8" idx="3"/>
            <a:endCxn xmlns:a="http://schemas.openxmlformats.org/drawingml/2006/main" id="12" idx="1"/>
          </p:cNvCxnSpPr>
          <p:nvPr/>
        </p:nvCxnSpPr>
        <p:spPr>
          <a:xfrm xmlns:a="http://schemas.openxmlformats.org/drawingml/2006/main">
            <a:off x="7677150" y="3367088"/>
            <a:ext cx="74295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sp>
        <p:nvSpPr>
          <p:cNvPr id="18" name="">
            <a:extLst xmlns:a="http://schemas.openxmlformats.org/drawingml/2006/main">
              <a:ext uri="{FF2B5EF4-FFF2-40B4-BE49-F238E27FC236}">
                <a16:creationId xmlns:a16="http://schemas.microsoft.com/office/drawing/2014/main" id="{6129C45D-F282-4A02-95B0-DFABAEE45999}"/>
              </a:ext>
            </a:extLst>
          </p:cNvPr>
          <p:cNvSpPr>
            <a:spLocks xmlns:a="http://schemas.openxmlformats.org/drawingml/2006/main" noGrp="1"/>
          </p:cNvSpPr>
          <p:nvPr/>
        </p:nvSpPr>
        <p:spPr>
          <a:xfrm xmlns:a="http://schemas.openxmlformats.org/drawingml/2006/main">
            <a:off x="609600" y="49720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No assumption of will, consciousness or human-like understanding is required.</a:t>
            </a:r>
          </a:p>
        </p:txBody>
      </p:sp>
      <p:sp>
        <p:nvSpPr>
          <p:cNvPr id="19" name="">
            <a:extLst xmlns:a="http://schemas.openxmlformats.org/drawingml/2006/main">
              <a:ext uri="{FF2B5EF4-FFF2-40B4-BE49-F238E27FC236}">
                <a16:creationId xmlns:a16="http://schemas.microsoft.com/office/drawing/2014/main" id="{12E68C0A-8FCA-4E75-808D-1D2F2D9827D1}"/>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16787830-EA4E-44E8-926B-D484B1B0A12D}"/>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We design the environment in which behavior is generated at runtime.</a:t>
            </a:r>
          </a:p>
        </p:txBody>
      </p:sp>
    </p:spTree>
    <p:extLst>
      <p:ext uri="{BB962C8B-B14F-4D97-AF65-F5344CB8AC3E}">
        <p14:creationId xmlns:p14="http://schemas.microsoft.com/office/powerpoint/2010/main" val="115839764"/>
      </p:ext>
    </p:extLst>
  </p:cSld>
</p:sld>
</file>

<file path=ppt/slides/slide3.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44" name="">
            <a:extLst xmlns:a="http://schemas.openxmlformats.org/drawingml/2006/main">
              <a:ext uri="{FF2B5EF4-FFF2-40B4-BE49-F238E27FC236}">
                <a16:creationId xmlns:a16="http://schemas.microsoft.com/office/drawing/2014/main" id="{A083C99F-4462-4A2E-A30D-8178962B0286}"/>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We Accelerated a Step. Not the System.</a:t>
            </a:r>
          </a:p>
        </p:txBody>
      </p:sp>
      <p:sp>
        <p:nvSpPr>
          <p:cNvPr id="2" name="">
            <a:extLst xmlns:a="http://schemas.openxmlformats.org/drawingml/2006/main">
              <a:ext uri="{FF2B5EF4-FFF2-40B4-BE49-F238E27FC236}">
                <a16:creationId xmlns:a16="http://schemas.microsoft.com/office/drawing/2014/main" id="{307A19E1-C9E6-4DF4-886D-FEC006B1722D}"/>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807569C0-4816-42CD-90FF-655457C376CD}"/>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03</a:t>
            </a:r>
          </a:p>
        </p:txBody>
      </p:sp>
      <p:sp>
        <p:nvSpPr>
          <p:cNvPr id="4" name="">
            <a:extLst xmlns:a="http://schemas.openxmlformats.org/drawingml/2006/main">
              <a:ext uri="{FF2B5EF4-FFF2-40B4-BE49-F238E27FC236}">
                <a16:creationId xmlns:a16="http://schemas.microsoft.com/office/drawing/2014/main" id="{BF2E07A3-BB32-4E15-AB14-D3B27979B852}"/>
              </a:ext>
            </a:extLst>
          </p:cNvPr>
          <p:cNvSpPr>
            <a:spLocks xmlns:a="http://schemas.openxmlformats.org/drawingml/2006/main" noGrp="1"/>
          </p:cNvSpPr>
          <p:nvPr/>
        </p:nvSpPr>
        <p:spPr>
          <a:xfrm xmlns:a="http://schemas.openxmlformats.org/drawingml/2006/main">
            <a:off x="609600" y="17430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DejaVu Sans"/>
                <a:ea typeface="DejaVu Sans"/>
                <a:cs typeface="DejaVu Sans"/>
              </a:defRPr>
            </a:pPr>
            <a:r>
              <a:rPr sz="1725" b="0">
                <a:solidFill>
                  <a:srgbClr val="ADB8C5"/>
                </a:solidFill>
                <a:latin typeface="DejaVu Sans"/>
                <a:ea typeface="DejaVu Sans"/>
                <a:cs typeface="DejaVu Sans"/>
              </a:rPr>
              <a:t>AI can affect every stage. The net effect must be measured.</a:t>
            </a:r>
          </a:p>
        </p:txBody>
      </p:sp>
      <p:sp>
        <p:nvSpPr>
          <p:cNvPr id="5" name="">
            <a:extLst xmlns:a="http://schemas.openxmlformats.org/drawingml/2006/main">
              <a:ext uri="{FF2B5EF4-FFF2-40B4-BE49-F238E27FC236}">
                <a16:creationId xmlns:a16="http://schemas.microsoft.com/office/drawing/2014/main" id="{484D3E30-7BD1-4CB3-941C-A1F17C7F4CAA}"/>
              </a:ext>
            </a:extLst>
          </p:cNvPr>
          <p:cNvSpPr>
            <a:spLocks xmlns:a="http://schemas.openxmlformats.org/drawingml/2006/main" noGrp="1"/>
          </p:cNvSpPr>
          <p:nvPr/>
        </p:nvSpPr>
        <p:spPr>
          <a:xfrm xmlns:a="http://schemas.openxmlformats.org/drawingml/2006/main">
            <a:off x="609600" y="2571750"/>
            <a:ext cx="1238250" cy="78105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6" name="">
            <a:extLst xmlns:a="http://schemas.openxmlformats.org/drawingml/2006/main">
              <a:ext uri="{FF2B5EF4-FFF2-40B4-BE49-F238E27FC236}">
                <a16:creationId xmlns:a16="http://schemas.microsoft.com/office/drawing/2014/main" id="{7FB5A154-68B2-4664-B6C1-2272E80ADF84}"/>
              </a:ext>
            </a:extLst>
          </p:cNvPr>
          <p:cNvSpPr>
            <a:spLocks xmlns:a="http://schemas.openxmlformats.org/drawingml/2006/main" noGrp="1"/>
          </p:cNvSpPr>
          <p:nvPr/>
        </p:nvSpPr>
        <p:spPr>
          <a:xfrm xmlns:a="http://schemas.openxmlformats.org/drawingml/2006/main">
            <a:off x="723900" y="2647950"/>
            <a:ext cx="1009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DejaVu Sans"/>
                <a:ea typeface="DejaVu Sans"/>
                <a:cs typeface="DejaVu Sans"/>
              </a:defRPr>
            </a:pPr>
            <a:r>
              <a:rPr sz="1575" b="1">
                <a:solidFill>
                  <a:srgbClr val="F4F7FA"/>
                </a:solidFill>
                <a:latin typeface="DejaVu Sans"/>
                <a:ea typeface="DejaVu Sans"/>
                <a:cs typeface="DejaVu Sans"/>
              </a:rPr>
              <a:t>Intent</a:t>
            </a:r>
          </a:p>
        </p:txBody>
      </p:sp>
      <p:sp>
        <p:nvSpPr>
          <p:cNvPr id="7" name="">
            <a:extLst xmlns:a="http://schemas.openxmlformats.org/drawingml/2006/main">
              <a:ext uri="{FF2B5EF4-FFF2-40B4-BE49-F238E27FC236}">
                <a16:creationId xmlns:a16="http://schemas.microsoft.com/office/drawing/2014/main" id="{D772C0FE-8C84-4394-9D13-6250BAF1255C}"/>
              </a:ext>
            </a:extLst>
          </p:cNvPr>
          <p:cNvSpPr>
            <a:spLocks xmlns:a="http://schemas.openxmlformats.org/drawingml/2006/main" noGrp="1"/>
          </p:cNvSpPr>
          <p:nvPr/>
        </p:nvSpPr>
        <p:spPr>
          <a:xfrm xmlns:a="http://schemas.openxmlformats.org/drawingml/2006/main">
            <a:off x="1990725" y="2571750"/>
            <a:ext cx="1238250" cy="78105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8" name="">
            <a:extLst xmlns:a="http://schemas.openxmlformats.org/drawingml/2006/main">
              <a:ext uri="{FF2B5EF4-FFF2-40B4-BE49-F238E27FC236}">
                <a16:creationId xmlns:a16="http://schemas.microsoft.com/office/drawing/2014/main" id="{C75BF592-C9CD-409C-A0A5-172420C5B40C}"/>
              </a:ext>
            </a:extLst>
          </p:cNvPr>
          <p:cNvSpPr>
            <a:spLocks xmlns:a="http://schemas.openxmlformats.org/drawingml/2006/main" noGrp="1"/>
          </p:cNvSpPr>
          <p:nvPr/>
        </p:nvSpPr>
        <p:spPr>
          <a:xfrm xmlns:a="http://schemas.openxmlformats.org/drawingml/2006/main">
            <a:off x="2105025" y="2647950"/>
            <a:ext cx="1009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DejaVu Sans"/>
                <a:ea typeface="DejaVu Sans"/>
                <a:cs typeface="DejaVu Sans"/>
              </a:defRPr>
            </a:pPr>
            <a:r>
              <a:rPr sz="1575" b="1">
                <a:solidFill>
                  <a:srgbClr val="F4F7FA"/>
                </a:solidFill>
                <a:latin typeface="DejaVu Sans"/>
                <a:ea typeface="DejaVu Sans"/>
                <a:cs typeface="DejaVu Sans"/>
              </a:rPr>
              <a:t>Design</a:t>
            </a:r>
          </a:p>
        </p:txBody>
      </p:sp>
      <p:sp>
        <p:nvSpPr>
          <p:cNvPr id="9" name="">
            <a:extLst xmlns:a="http://schemas.openxmlformats.org/drawingml/2006/main">
              <a:ext uri="{FF2B5EF4-FFF2-40B4-BE49-F238E27FC236}">
                <a16:creationId xmlns:a16="http://schemas.microsoft.com/office/drawing/2014/main" id="{0A403837-31FE-4124-ACC8-BEC158FBC99F}"/>
              </a:ext>
            </a:extLst>
          </p:cNvPr>
          <p:cNvSpPr>
            <a:spLocks xmlns:a="http://schemas.openxmlformats.org/drawingml/2006/main" noGrp="1"/>
          </p:cNvSpPr>
          <p:nvPr/>
        </p:nvSpPr>
        <p:spPr>
          <a:xfrm xmlns:a="http://schemas.openxmlformats.org/drawingml/2006/main">
            <a:off x="3371850" y="2571750"/>
            <a:ext cx="1238250" cy="7810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0" name="">
            <a:extLst xmlns:a="http://schemas.openxmlformats.org/drawingml/2006/main">
              <a:ext uri="{FF2B5EF4-FFF2-40B4-BE49-F238E27FC236}">
                <a16:creationId xmlns:a16="http://schemas.microsoft.com/office/drawing/2014/main" id="{4BF1A2D6-8462-497F-AC31-1368CDD0D4A3}"/>
              </a:ext>
            </a:extLst>
          </p:cNvPr>
          <p:cNvSpPr>
            <a:spLocks xmlns:a="http://schemas.openxmlformats.org/drawingml/2006/main" noGrp="1"/>
          </p:cNvSpPr>
          <p:nvPr/>
        </p:nvSpPr>
        <p:spPr>
          <a:xfrm xmlns:a="http://schemas.openxmlformats.org/drawingml/2006/main">
            <a:off x="3486150" y="2647950"/>
            <a:ext cx="1009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DejaVu Sans"/>
                <a:ea typeface="DejaVu Sans"/>
                <a:cs typeface="DejaVu Sans"/>
              </a:defRPr>
            </a:pPr>
            <a:r>
              <a:rPr sz="1575" b="1">
                <a:solidFill>
                  <a:srgbClr val="F4F7FA"/>
                </a:solidFill>
                <a:latin typeface="DejaVu Sans"/>
                <a:ea typeface="DejaVu Sans"/>
                <a:cs typeface="DejaVu Sans"/>
              </a:rPr>
              <a:t>Code</a:t>
            </a:r>
          </a:p>
        </p:txBody>
      </p:sp>
      <p:sp>
        <p:nvSpPr>
          <p:cNvPr id="11" name="">
            <a:extLst xmlns:a="http://schemas.openxmlformats.org/drawingml/2006/main">
              <a:ext uri="{FF2B5EF4-FFF2-40B4-BE49-F238E27FC236}">
                <a16:creationId xmlns:a16="http://schemas.microsoft.com/office/drawing/2014/main" id="{CE79B1F6-68D7-403F-84E0-67FF82F7AD47}"/>
              </a:ext>
            </a:extLst>
          </p:cNvPr>
          <p:cNvSpPr>
            <a:spLocks xmlns:a="http://schemas.openxmlformats.org/drawingml/2006/main" noGrp="1"/>
          </p:cNvSpPr>
          <p:nvPr/>
        </p:nvSpPr>
        <p:spPr>
          <a:xfrm xmlns:a="http://schemas.openxmlformats.org/drawingml/2006/main">
            <a:off x="4752975" y="2571750"/>
            <a:ext cx="1238250" cy="78105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2" name="">
            <a:extLst xmlns:a="http://schemas.openxmlformats.org/drawingml/2006/main">
              <a:ext uri="{FF2B5EF4-FFF2-40B4-BE49-F238E27FC236}">
                <a16:creationId xmlns:a16="http://schemas.microsoft.com/office/drawing/2014/main" id="{750AB427-32AE-44B0-9FCC-5FB082DB96BA}"/>
              </a:ext>
            </a:extLst>
          </p:cNvPr>
          <p:cNvSpPr>
            <a:spLocks xmlns:a="http://schemas.openxmlformats.org/drawingml/2006/main" noGrp="1"/>
          </p:cNvSpPr>
          <p:nvPr/>
        </p:nvSpPr>
        <p:spPr>
          <a:xfrm xmlns:a="http://schemas.openxmlformats.org/drawingml/2006/main">
            <a:off x="4867275" y="2647950"/>
            <a:ext cx="1009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DejaVu Sans"/>
                <a:ea typeface="DejaVu Sans"/>
                <a:cs typeface="DejaVu Sans"/>
              </a:defRPr>
            </a:pPr>
            <a:r>
              <a:rPr sz="1575" b="1">
                <a:solidFill>
                  <a:srgbClr val="F4F7FA"/>
                </a:solidFill>
                <a:latin typeface="DejaVu Sans"/>
                <a:ea typeface="DejaVu Sans"/>
                <a:cs typeface="DejaVu Sans"/>
              </a:rPr>
              <a:t>Review</a:t>
            </a:r>
          </a:p>
        </p:txBody>
      </p:sp>
      <p:sp>
        <p:nvSpPr>
          <p:cNvPr id="13" name="">
            <a:extLst xmlns:a="http://schemas.openxmlformats.org/drawingml/2006/main">
              <a:ext uri="{FF2B5EF4-FFF2-40B4-BE49-F238E27FC236}">
                <a16:creationId xmlns:a16="http://schemas.microsoft.com/office/drawing/2014/main" id="{65629171-5DA8-47E1-AA67-A3CF343AB207}"/>
              </a:ext>
            </a:extLst>
          </p:cNvPr>
          <p:cNvSpPr>
            <a:spLocks xmlns:a="http://schemas.openxmlformats.org/drawingml/2006/main" noGrp="1"/>
          </p:cNvSpPr>
          <p:nvPr/>
        </p:nvSpPr>
        <p:spPr>
          <a:xfrm xmlns:a="http://schemas.openxmlformats.org/drawingml/2006/main">
            <a:off x="6134100" y="2571750"/>
            <a:ext cx="1238250" cy="78105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4" name="">
            <a:extLst xmlns:a="http://schemas.openxmlformats.org/drawingml/2006/main">
              <a:ext uri="{FF2B5EF4-FFF2-40B4-BE49-F238E27FC236}">
                <a16:creationId xmlns:a16="http://schemas.microsoft.com/office/drawing/2014/main" id="{44E2B108-DA0C-4113-B579-0231BD6C8C1B}"/>
              </a:ext>
            </a:extLst>
          </p:cNvPr>
          <p:cNvSpPr>
            <a:spLocks xmlns:a="http://schemas.openxmlformats.org/drawingml/2006/main" noGrp="1"/>
          </p:cNvSpPr>
          <p:nvPr/>
        </p:nvSpPr>
        <p:spPr>
          <a:xfrm xmlns:a="http://schemas.openxmlformats.org/drawingml/2006/main">
            <a:off x="6248400" y="2647950"/>
            <a:ext cx="1009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DejaVu Sans"/>
                <a:ea typeface="DejaVu Sans"/>
                <a:cs typeface="DejaVu Sans"/>
              </a:defRPr>
            </a:pPr>
            <a:r>
              <a:rPr sz="1575" b="1">
                <a:solidFill>
                  <a:srgbClr val="F4F7FA"/>
                </a:solidFill>
                <a:latin typeface="DejaVu Sans"/>
                <a:ea typeface="DejaVu Sans"/>
                <a:cs typeface="DejaVu Sans"/>
              </a:rPr>
              <a:t>Test</a:t>
            </a:r>
          </a:p>
        </p:txBody>
      </p:sp>
      <p:sp>
        <p:nvSpPr>
          <p:cNvPr id="15" name="">
            <a:extLst xmlns:a="http://schemas.openxmlformats.org/drawingml/2006/main">
              <a:ext uri="{FF2B5EF4-FFF2-40B4-BE49-F238E27FC236}">
                <a16:creationId xmlns:a16="http://schemas.microsoft.com/office/drawing/2014/main" id="{DF7B84D0-9941-45E3-A347-4C4DFD58162C}"/>
              </a:ext>
            </a:extLst>
          </p:cNvPr>
          <p:cNvSpPr>
            <a:spLocks xmlns:a="http://schemas.openxmlformats.org/drawingml/2006/main" noGrp="1"/>
          </p:cNvSpPr>
          <p:nvPr/>
        </p:nvSpPr>
        <p:spPr>
          <a:xfrm xmlns:a="http://schemas.openxmlformats.org/drawingml/2006/main">
            <a:off x="7515225" y="2571750"/>
            <a:ext cx="1238250" cy="78105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6" name="">
            <a:extLst xmlns:a="http://schemas.openxmlformats.org/drawingml/2006/main">
              <a:ext uri="{FF2B5EF4-FFF2-40B4-BE49-F238E27FC236}">
                <a16:creationId xmlns:a16="http://schemas.microsoft.com/office/drawing/2014/main" id="{6849740C-EE17-4226-9D5D-DE11B9F2DF32}"/>
              </a:ext>
            </a:extLst>
          </p:cNvPr>
          <p:cNvSpPr>
            <a:spLocks xmlns:a="http://schemas.openxmlformats.org/drawingml/2006/main" noGrp="1"/>
          </p:cNvSpPr>
          <p:nvPr/>
        </p:nvSpPr>
        <p:spPr>
          <a:xfrm xmlns:a="http://schemas.openxmlformats.org/drawingml/2006/main">
            <a:off x="7629525" y="2647950"/>
            <a:ext cx="1009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DejaVu Sans"/>
                <a:ea typeface="DejaVu Sans"/>
                <a:cs typeface="DejaVu Sans"/>
              </a:defRPr>
            </a:pPr>
            <a:r>
              <a:rPr sz="1425" b="1">
                <a:solidFill>
                  <a:srgbClr val="F4F7FA"/>
                </a:solidFill>
                <a:latin typeface="DejaVu Sans"/>
                <a:ea typeface="DejaVu Sans"/>
                <a:cs typeface="DejaVu Sans"/>
              </a:rPr>
              <a:t>Integrate</a:t>
            </a:r>
          </a:p>
        </p:txBody>
      </p:sp>
      <p:sp>
        <p:nvSpPr>
          <p:cNvPr id="17" name="">
            <a:extLst xmlns:a="http://schemas.openxmlformats.org/drawingml/2006/main">
              <a:ext uri="{FF2B5EF4-FFF2-40B4-BE49-F238E27FC236}">
                <a16:creationId xmlns:a16="http://schemas.microsoft.com/office/drawing/2014/main" id="{09898B43-E597-4899-A4B2-6FAD9C43E43D}"/>
              </a:ext>
            </a:extLst>
          </p:cNvPr>
          <p:cNvSpPr>
            <a:spLocks xmlns:a="http://schemas.openxmlformats.org/drawingml/2006/main" noGrp="1"/>
          </p:cNvSpPr>
          <p:nvPr/>
        </p:nvSpPr>
        <p:spPr>
          <a:xfrm xmlns:a="http://schemas.openxmlformats.org/drawingml/2006/main">
            <a:off x="8896350" y="2571750"/>
            <a:ext cx="1238250" cy="78105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8" name="">
            <a:extLst xmlns:a="http://schemas.openxmlformats.org/drawingml/2006/main">
              <a:ext uri="{FF2B5EF4-FFF2-40B4-BE49-F238E27FC236}">
                <a16:creationId xmlns:a16="http://schemas.microsoft.com/office/drawing/2014/main" id="{3913D50F-6BB5-4240-983B-41984E4FAED2}"/>
              </a:ext>
            </a:extLst>
          </p:cNvPr>
          <p:cNvSpPr>
            <a:spLocks xmlns:a="http://schemas.openxmlformats.org/drawingml/2006/main" noGrp="1"/>
          </p:cNvSpPr>
          <p:nvPr/>
        </p:nvSpPr>
        <p:spPr>
          <a:xfrm xmlns:a="http://schemas.openxmlformats.org/drawingml/2006/main">
            <a:off x="9010650" y="2647950"/>
            <a:ext cx="1009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DejaVu Sans"/>
                <a:ea typeface="DejaVu Sans"/>
                <a:cs typeface="DejaVu Sans"/>
              </a:defRPr>
            </a:pPr>
            <a:r>
              <a:rPr sz="1575" b="1">
                <a:solidFill>
                  <a:srgbClr val="F4F7FA"/>
                </a:solidFill>
                <a:latin typeface="DejaVu Sans"/>
                <a:ea typeface="DejaVu Sans"/>
                <a:cs typeface="DejaVu Sans"/>
              </a:rPr>
              <a:t>Deploy</a:t>
            </a:r>
          </a:p>
        </p:txBody>
      </p:sp>
      <p:sp>
        <p:nvSpPr>
          <p:cNvPr id="19" name="">
            <a:extLst xmlns:a="http://schemas.openxmlformats.org/drawingml/2006/main">
              <a:ext uri="{FF2B5EF4-FFF2-40B4-BE49-F238E27FC236}">
                <a16:creationId xmlns:a16="http://schemas.microsoft.com/office/drawing/2014/main" id="{13837FA6-5270-4929-A7B2-42360CBDC23F}"/>
              </a:ext>
            </a:extLst>
          </p:cNvPr>
          <p:cNvSpPr>
            <a:spLocks xmlns:a="http://schemas.openxmlformats.org/drawingml/2006/main" noGrp="1"/>
          </p:cNvSpPr>
          <p:nvPr/>
        </p:nvSpPr>
        <p:spPr>
          <a:xfrm xmlns:a="http://schemas.openxmlformats.org/drawingml/2006/main">
            <a:off x="10277475" y="2571750"/>
            <a:ext cx="1238250" cy="78105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20" name="">
            <a:extLst xmlns:a="http://schemas.openxmlformats.org/drawingml/2006/main">
              <a:ext uri="{FF2B5EF4-FFF2-40B4-BE49-F238E27FC236}">
                <a16:creationId xmlns:a16="http://schemas.microsoft.com/office/drawing/2014/main" id="{D0517CA3-D2B0-484D-845D-3F9C86CA03B0}"/>
              </a:ext>
            </a:extLst>
          </p:cNvPr>
          <p:cNvSpPr>
            <a:spLocks xmlns:a="http://schemas.openxmlformats.org/drawingml/2006/main" noGrp="1"/>
          </p:cNvSpPr>
          <p:nvPr/>
        </p:nvSpPr>
        <p:spPr>
          <a:xfrm xmlns:a="http://schemas.openxmlformats.org/drawingml/2006/main">
            <a:off x="10391775" y="2647950"/>
            <a:ext cx="1009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DejaVu Sans"/>
                <a:ea typeface="DejaVu Sans"/>
                <a:cs typeface="DejaVu Sans"/>
              </a:defRPr>
            </a:pPr>
            <a:r>
              <a:rPr sz="1575" b="1">
                <a:solidFill>
                  <a:srgbClr val="F4F7FA"/>
                </a:solidFill>
                <a:latin typeface="DejaVu Sans"/>
                <a:ea typeface="DejaVu Sans"/>
                <a:cs typeface="DejaVu Sans"/>
              </a:rPr>
              <a:t>Operate</a:t>
            </a:r>
          </a:p>
        </p:txBody>
      </p:sp>
      <p:cxnSp>
        <p:nvCxnSpPr>
          <p:cNvPr id="64" name=""/>
          <p:cNvCxnSpPr>
            <a:stCxn xmlns:a="http://schemas.openxmlformats.org/drawingml/2006/main" id="5" idx="3"/>
            <a:endCxn xmlns:a="http://schemas.openxmlformats.org/drawingml/2006/main" id="7" idx="1"/>
          </p:cNvCxnSpPr>
          <p:nvPr/>
        </p:nvCxnSpPr>
        <p:spPr>
          <a:xfrm xmlns:a="http://schemas.openxmlformats.org/drawingml/2006/main">
            <a:off x="1847850" y="2962275"/>
            <a:ext cx="142875"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65" name=""/>
          <p:cNvCxnSpPr>
            <a:stCxn xmlns:a="http://schemas.openxmlformats.org/drawingml/2006/main" id="7" idx="3"/>
            <a:endCxn xmlns:a="http://schemas.openxmlformats.org/drawingml/2006/main" id="9" idx="1"/>
          </p:cNvCxnSpPr>
          <p:nvPr/>
        </p:nvCxnSpPr>
        <p:spPr>
          <a:xfrm xmlns:a="http://schemas.openxmlformats.org/drawingml/2006/main">
            <a:off x="3228975" y="2962275"/>
            <a:ext cx="142875"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66" name=""/>
          <p:cNvCxnSpPr>
            <a:stCxn xmlns:a="http://schemas.openxmlformats.org/drawingml/2006/main" id="9" idx="3"/>
            <a:endCxn xmlns:a="http://schemas.openxmlformats.org/drawingml/2006/main" id="11" idx="1"/>
          </p:cNvCxnSpPr>
          <p:nvPr/>
        </p:nvCxnSpPr>
        <p:spPr>
          <a:xfrm xmlns:a="http://schemas.openxmlformats.org/drawingml/2006/main">
            <a:off x="4610100" y="2962275"/>
            <a:ext cx="142875"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67" name=""/>
          <p:cNvCxnSpPr>
            <a:stCxn xmlns:a="http://schemas.openxmlformats.org/drawingml/2006/main" id="11" idx="3"/>
            <a:endCxn xmlns:a="http://schemas.openxmlformats.org/drawingml/2006/main" id="13" idx="1"/>
          </p:cNvCxnSpPr>
          <p:nvPr/>
        </p:nvCxnSpPr>
        <p:spPr>
          <a:xfrm xmlns:a="http://schemas.openxmlformats.org/drawingml/2006/main">
            <a:off x="5991225" y="2962275"/>
            <a:ext cx="142875"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68" name=""/>
          <p:cNvCxnSpPr>
            <a:stCxn xmlns:a="http://schemas.openxmlformats.org/drawingml/2006/main" id="13" idx="3"/>
            <a:endCxn xmlns:a="http://schemas.openxmlformats.org/drawingml/2006/main" id="15" idx="1"/>
          </p:cNvCxnSpPr>
          <p:nvPr/>
        </p:nvCxnSpPr>
        <p:spPr>
          <a:xfrm xmlns:a="http://schemas.openxmlformats.org/drawingml/2006/main">
            <a:off x="7372350" y="2962275"/>
            <a:ext cx="142875"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69" name=""/>
          <p:cNvCxnSpPr>
            <a:stCxn xmlns:a="http://schemas.openxmlformats.org/drawingml/2006/main" id="15" idx="3"/>
            <a:endCxn xmlns:a="http://schemas.openxmlformats.org/drawingml/2006/main" id="17" idx="1"/>
          </p:cNvCxnSpPr>
          <p:nvPr/>
        </p:nvCxnSpPr>
        <p:spPr>
          <a:xfrm xmlns:a="http://schemas.openxmlformats.org/drawingml/2006/main">
            <a:off x="8753475" y="2962275"/>
            <a:ext cx="142875"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70" name=""/>
          <p:cNvCxnSpPr>
            <a:stCxn xmlns:a="http://schemas.openxmlformats.org/drawingml/2006/main" id="17" idx="3"/>
            <a:endCxn xmlns:a="http://schemas.openxmlformats.org/drawingml/2006/main" id="19" idx="1"/>
          </p:cNvCxnSpPr>
          <p:nvPr/>
        </p:nvCxnSpPr>
        <p:spPr>
          <a:xfrm xmlns:a="http://schemas.openxmlformats.org/drawingml/2006/main">
            <a:off x="10134600" y="2962275"/>
            <a:ext cx="142875"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28" name="">
            <a:extLst xmlns:a="http://schemas.openxmlformats.org/drawingml/2006/main">
              <a:ext uri="{FF2B5EF4-FFF2-40B4-BE49-F238E27FC236}">
                <a16:creationId xmlns:a16="http://schemas.microsoft.com/office/drawing/2014/main" id="{B3518A78-C7B4-4442-B1E2-165C7174F85C}"/>
              </a:ext>
            </a:extLst>
          </p:cNvPr>
          <p:cNvSpPr>
            <a:spLocks xmlns:a="http://schemas.openxmlformats.org/drawingml/2006/main" noGrp="1"/>
          </p:cNvSpPr>
          <p:nvPr/>
        </p:nvSpPr>
        <p:spPr>
          <a:xfrm xmlns:a="http://schemas.openxmlformats.org/drawingml/2006/main">
            <a:off x="609600" y="2143125"/>
            <a:ext cx="123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5B61C"/>
                </a:solidFill>
                <a:latin typeface="DejaVu Sans"/>
                <a:ea typeface="DejaVu Sans"/>
                <a:cs typeface="DejaVu Sans"/>
              </a:defRPr>
            </a:pPr>
            <a:r>
              <a:rPr sz="1875" b="1">
                <a:solidFill>
                  <a:srgbClr val="F5B61C"/>
                </a:solidFill>
                <a:latin typeface="DejaVu Sans"/>
                <a:ea typeface="DejaVu Sans"/>
                <a:cs typeface="DejaVu Sans"/>
              </a:rPr>
              <a:t>?</a:t>
            </a:r>
          </a:p>
        </p:txBody>
      </p:sp>
      <p:sp>
        <p:nvSpPr>
          <p:cNvPr id="29" name="">
            <a:extLst xmlns:a="http://schemas.openxmlformats.org/drawingml/2006/main">
              <a:ext uri="{FF2B5EF4-FFF2-40B4-BE49-F238E27FC236}">
                <a16:creationId xmlns:a16="http://schemas.microsoft.com/office/drawing/2014/main" id="{FA6B14D6-F970-464C-A366-D4E67480BD09}"/>
              </a:ext>
            </a:extLst>
          </p:cNvPr>
          <p:cNvSpPr>
            <a:spLocks xmlns:a="http://schemas.openxmlformats.org/drawingml/2006/main" noGrp="1"/>
          </p:cNvSpPr>
          <p:nvPr/>
        </p:nvSpPr>
        <p:spPr>
          <a:xfrm xmlns:a="http://schemas.openxmlformats.org/drawingml/2006/main">
            <a:off x="1990725" y="2143125"/>
            <a:ext cx="123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5B61C"/>
                </a:solidFill>
                <a:latin typeface="DejaVu Sans"/>
                <a:ea typeface="DejaVu Sans"/>
                <a:cs typeface="DejaVu Sans"/>
              </a:defRPr>
            </a:pPr>
            <a:r>
              <a:rPr sz="1875" b="1">
                <a:solidFill>
                  <a:srgbClr val="F5B61C"/>
                </a:solidFill>
                <a:latin typeface="DejaVu Sans"/>
                <a:ea typeface="DejaVu Sans"/>
                <a:cs typeface="DejaVu Sans"/>
              </a:rPr>
              <a:t>?</a:t>
            </a:r>
          </a:p>
        </p:txBody>
      </p:sp>
      <p:sp>
        <p:nvSpPr>
          <p:cNvPr id="30" name="">
            <a:extLst xmlns:a="http://schemas.openxmlformats.org/drawingml/2006/main">
              <a:ext uri="{FF2B5EF4-FFF2-40B4-BE49-F238E27FC236}">
                <a16:creationId xmlns:a16="http://schemas.microsoft.com/office/drawing/2014/main" id="{D6D5C201-5591-40D1-9833-0C5937363B4D}"/>
              </a:ext>
            </a:extLst>
          </p:cNvPr>
          <p:cNvSpPr>
            <a:spLocks xmlns:a="http://schemas.openxmlformats.org/drawingml/2006/main" noGrp="1"/>
          </p:cNvSpPr>
          <p:nvPr/>
        </p:nvSpPr>
        <p:spPr>
          <a:xfrm xmlns:a="http://schemas.openxmlformats.org/drawingml/2006/main">
            <a:off x="4752975" y="2143125"/>
            <a:ext cx="123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5B61C"/>
                </a:solidFill>
                <a:latin typeface="DejaVu Sans"/>
                <a:ea typeface="DejaVu Sans"/>
                <a:cs typeface="DejaVu Sans"/>
              </a:defRPr>
            </a:pPr>
            <a:r>
              <a:rPr sz="1875" b="1">
                <a:solidFill>
                  <a:srgbClr val="F5B61C"/>
                </a:solidFill>
                <a:latin typeface="DejaVu Sans"/>
                <a:ea typeface="DejaVu Sans"/>
                <a:cs typeface="DejaVu Sans"/>
              </a:rPr>
              <a:t>?</a:t>
            </a:r>
          </a:p>
        </p:txBody>
      </p:sp>
      <p:sp>
        <p:nvSpPr>
          <p:cNvPr id="31" name="">
            <a:extLst xmlns:a="http://schemas.openxmlformats.org/drawingml/2006/main">
              <a:ext uri="{FF2B5EF4-FFF2-40B4-BE49-F238E27FC236}">
                <a16:creationId xmlns:a16="http://schemas.microsoft.com/office/drawing/2014/main" id="{E5BBF0CA-4D24-4AAF-A57F-376AF593924A}"/>
              </a:ext>
            </a:extLst>
          </p:cNvPr>
          <p:cNvSpPr>
            <a:spLocks xmlns:a="http://schemas.openxmlformats.org/drawingml/2006/main" noGrp="1"/>
          </p:cNvSpPr>
          <p:nvPr/>
        </p:nvSpPr>
        <p:spPr>
          <a:xfrm xmlns:a="http://schemas.openxmlformats.org/drawingml/2006/main">
            <a:off x="6134100" y="2143125"/>
            <a:ext cx="123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5B61C"/>
                </a:solidFill>
                <a:latin typeface="DejaVu Sans"/>
                <a:ea typeface="DejaVu Sans"/>
                <a:cs typeface="DejaVu Sans"/>
              </a:defRPr>
            </a:pPr>
            <a:r>
              <a:rPr sz="1875" b="1">
                <a:solidFill>
                  <a:srgbClr val="F5B61C"/>
                </a:solidFill>
                <a:latin typeface="DejaVu Sans"/>
                <a:ea typeface="DejaVu Sans"/>
                <a:cs typeface="DejaVu Sans"/>
              </a:rPr>
              <a:t>?</a:t>
            </a:r>
          </a:p>
        </p:txBody>
      </p:sp>
      <p:sp>
        <p:nvSpPr>
          <p:cNvPr id="32" name="">
            <a:extLst xmlns:a="http://schemas.openxmlformats.org/drawingml/2006/main">
              <a:ext uri="{FF2B5EF4-FFF2-40B4-BE49-F238E27FC236}">
                <a16:creationId xmlns:a16="http://schemas.microsoft.com/office/drawing/2014/main" id="{B6C46C04-BEFA-4843-8751-CA47D18C569C}"/>
              </a:ext>
            </a:extLst>
          </p:cNvPr>
          <p:cNvSpPr>
            <a:spLocks xmlns:a="http://schemas.openxmlformats.org/drawingml/2006/main" noGrp="1"/>
          </p:cNvSpPr>
          <p:nvPr/>
        </p:nvSpPr>
        <p:spPr>
          <a:xfrm xmlns:a="http://schemas.openxmlformats.org/drawingml/2006/main">
            <a:off x="7515225" y="2143125"/>
            <a:ext cx="123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5B61C"/>
                </a:solidFill>
                <a:latin typeface="DejaVu Sans"/>
                <a:ea typeface="DejaVu Sans"/>
                <a:cs typeface="DejaVu Sans"/>
              </a:defRPr>
            </a:pPr>
            <a:r>
              <a:rPr sz="1875" b="1">
                <a:solidFill>
                  <a:srgbClr val="F5B61C"/>
                </a:solidFill>
                <a:latin typeface="DejaVu Sans"/>
                <a:ea typeface="DejaVu Sans"/>
                <a:cs typeface="DejaVu Sans"/>
              </a:rPr>
              <a:t>?</a:t>
            </a:r>
          </a:p>
        </p:txBody>
      </p:sp>
      <p:sp>
        <p:nvSpPr>
          <p:cNvPr id="33" name="">
            <a:extLst xmlns:a="http://schemas.openxmlformats.org/drawingml/2006/main">
              <a:ext uri="{FF2B5EF4-FFF2-40B4-BE49-F238E27FC236}">
                <a16:creationId xmlns:a16="http://schemas.microsoft.com/office/drawing/2014/main" id="{89C91AAE-4103-415A-B63C-9F65848EEF99}"/>
              </a:ext>
            </a:extLst>
          </p:cNvPr>
          <p:cNvSpPr>
            <a:spLocks xmlns:a="http://schemas.openxmlformats.org/drawingml/2006/main" noGrp="1"/>
          </p:cNvSpPr>
          <p:nvPr/>
        </p:nvSpPr>
        <p:spPr>
          <a:xfrm xmlns:a="http://schemas.openxmlformats.org/drawingml/2006/main">
            <a:off x="8896350" y="2143125"/>
            <a:ext cx="123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5B61C"/>
                </a:solidFill>
                <a:latin typeface="DejaVu Sans"/>
                <a:ea typeface="DejaVu Sans"/>
                <a:cs typeface="DejaVu Sans"/>
              </a:defRPr>
            </a:pPr>
            <a:r>
              <a:rPr sz="1875" b="1">
                <a:solidFill>
                  <a:srgbClr val="F5B61C"/>
                </a:solidFill>
                <a:latin typeface="DejaVu Sans"/>
                <a:ea typeface="DejaVu Sans"/>
                <a:cs typeface="DejaVu Sans"/>
              </a:rPr>
              <a:t>?</a:t>
            </a:r>
          </a:p>
        </p:txBody>
      </p:sp>
      <p:sp>
        <p:nvSpPr>
          <p:cNvPr id="34" name="">
            <a:extLst xmlns:a="http://schemas.openxmlformats.org/drawingml/2006/main">
              <a:ext uri="{FF2B5EF4-FFF2-40B4-BE49-F238E27FC236}">
                <a16:creationId xmlns:a16="http://schemas.microsoft.com/office/drawing/2014/main" id="{DA1E79AE-367B-4054-91B9-76D1519141C2}"/>
              </a:ext>
            </a:extLst>
          </p:cNvPr>
          <p:cNvSpPr>
            <a:spLocks xmlns:a="http://schemas.openxmlformats.org/drawingml/2006/main" noGrp="1"/>
          </p:cNvSpPr>
          <p:nvPr/>
        </p:nvSpPr>
        <p:spPr>
          <a:xfrm xmlns:a="http://schemas.openxmlformats.org/drawingml/2006/main">
            <a:off x="10277475" y="2143125"/>
            <a:ext cx="123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5B61C"/>
                </a:solidFill>
                <a:latin typeface="DejaVu Sans"/>
                <a:ea typeface="DejaVu Sans"/>
                <a:cs typeface="DejaVu Sans"/>
              </a:defRPr>
            </a:pPr>
            <a:r>
              <a:rPr sz="1875" b="1">
                <a:solidFill>
                  <a:srgbClr val="F5B61C"/>
                </a:solidFill>
                <a:latin typeface="DejaVu Sans"/>
                <a:ea typeface="DejaVu Sans"/>
                <a:cs typeface="DejaVu Sans"/>
              </a:rPr>
              <a:t>?</a:t>
            </a:r>
          </a:p>
        </p:txBody>
      </p:sp>
      <p:sp>
        <p:nvSpPr>
          <p:cNvPr id="35" name="">
            <a:extLst xmlns:a="http://schemas.openxmlformats.org/drawingml/2006/main">
              <a:ext uri="{FF2B5EF4-FFF2-40B4-BE49-F238E27FC236}">
                <a16:creationId xmlns:a16="http://schemas.microsoft.com/office/drawing/2014/main" id="{FDDDB5B5-9E5F-4C65-A6CC-407E9DD64D0D}"/>
              </a:ext>
            </a:extLst>
          </p:cNvPr>
          <p:cNvSpPr>
            <a:spLocks xmlns:a="http://schemas.openxmlformats.org/drawingml/2006/main" noGrp="1"/>
          </p:cNvSpPr>
          <p:nvPr/>
        </p:nvSpPr>
        <p:spPr>
          <a:xfrm xmlns:a="http://schemas.openxmlformats.org/drawingml/2006/main">
            <a:off x="3238500" y="3409950"/>
            <a:ext cx="15049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28C7F7"/>
                </a:solidFill>
                <a:latin typeface="DejaVu Sans"/>
                <a:ea typeface="DejaVu Sans"/>
                <a:cs typeface="DejaVu Sans"/>
              </a:defRPr>
            </a:pPr>
            <a:r>
              <a:rPr sz="1575" b="1">
                <a:solidFill>
                  <a:srgbClr val="28C7F7"/>
                </a:solidFill>
                <a:latin typeface="DejaVu Sans"/>
                <a:ea typeface="DejaVu Sans"/>
                <a:cs typeface="DejaVu Sans"/>
              </a:rPr>
              <a:t>100 changes</a:t>
            </a:r>
          </a:p>
          <a:p xmlns:a="http://schemas.openxmlformats.org/drawingml/2006/main">
            <a:pPr algn="ctr">
              <a:defRPr sz="1575" b="1">
                <a:solidFill>
                  <a:srgbClr val="28C7F7"/>
                </a:solidFill>
                <a:latin typeface="DejaVu Sans"/>
                <a:ea typeface="DejaVu Sans"/>
                <a:cs typeface="DejaVu Sans"/>
              </a:defRPr>
            </a:pPr>
            <a:r>
              <a:rPr sz="1575" b="1">
                <a:solidFill>
                  <a:srgbClr val="28C7F7"/>
                </a:solidFill>
                <a:latin typeface="DejaVu Sans"/>
                <a:ea typeface="DejaVu Sans"/>
                <a:cs typeface="DejaVu Sans"/>
              </a:rPr>
              <a:t>per week</a:t>
            </a:r>
          </a:p>
        </p:txBody>
      </p:sp>
      <p:sp>
        <p:nvSpPr>
          <p:cNvPr id="36" name="">
            <a:extLst xmlns:a="http://schemas.openxmlformats.org/drawingml/2006/main">
              <a:ext uri="{FF2B5EF4-FFF2-40B4-BE49-F238E27FC236}">
                <a16:creationId xmlns:a16="http://schemas.microsoft.com/office/drawing/2014/main" id="{1053BA94-8125-4C3D-9DB4-EFFB478EE76C}"/>
              </a:ext>
            </a:extLst>
          </p:cNvPr>
          <p:cNvSpPr>
            <a:spLocks xmlns:a="http://schemas.openxmlformats.org/drawingml/2006/main" noGrp="1"/>
          </p:cNvSpPr>
          <p:nvPr/>
        </p:nvSpPr>
        <p:spPr>
          <a:xfrm xmlns:a="http://schemas.openxmlformats.org/drawingml/2006/main">
            <a:off x="7381875" y="3409950"/>
            <a:ext cx="15049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DejaVu Sans"/>
                <a:ea typeface="DejaVu Sans"/>
                <a:cs typeface="DejaVu Sans"/>
              </a:defRPr>
            </a:pPr>
            <a:r>
              <a:rPr sz="1575" b="1">
                <a:solidFill>
                  <a:srgbClr val="F5B61C"/>
                </a:solidFill>
                <a:latin typeface="DejaVu Sans"/>
                <a:ea typeface="DejaVu Sans"/>
                <a:cs typeface="DejaVu Sans"/>
              </a:rPr>
              <a:t>8 changes</a:t>
            </a:r>
          </a:p>
          <a:p xmlns:a="http://schemas.openxmlformats.org/drawingml/2006/main">
            <a:pPr algn="ctr">
              <a:defRPr sz="1575" b="1">
                <a:solidFill>
                  <a:srgbClr val="F5B61C"/>
                </a:solidFill>
                <a:latin typeface="DejaVu Sans"/>
                <a:ea typeface="DejaVu Sans"/>
                <a:cs typeface="DejaVu Sans"/>
              </a:defRPr>
            </a:pPr>
            <a:r>
              <a:rPr sz="1575" b="1">
                <a:solidFill>
                  <a:srgbClr val="F5B61C"/>
                </a:solidFill>
                <a:latin typeface="DejaVu Sans"/>
                <a:ea typeface="DejaVu Sans"/>
                <a:cs typeface="DejaVu Sans"/>
              </a:rPr>
              <a:t>per week</a:t>
            </a:r>
          </a:p>
        </p:txBody>
      </p:sp>
      <p:sp>
        <p:nvSpPr>
          <p:cNvPr id="37" name="">
            <a:extLst xmlns:a="http://schemas.openxmlformats.org/drawingml/2006/main">
              <a:ext uri="{FF2B5EF4-FFF2-40B4-BE49-F238E27FC236}">
                <a16:creationId xmlns:a16="http://schemas.microsoft.com/office/drawing/2014/main" id="{E641CFBD-B236-4649-8658-C1A8B6D67F8D}"/>
              </a:ext>
            </a:extLst>
          </p:cNvPr>
          <p:cNvSpPr>
            <a:spLocks xmlns:a="http://schemas.openxmlformats.org/drawingml/2006/main" noGrp="1"/>
          </p:cNvSpPr>
          <p:nvPr/>
        </p:nvSpPr>
        <p:spPr>
          <a:xfrm xmlns:a="http://schemas.openxmlformats.org/drawingml/2006/main">
            <a:off x="609600" y="4114800"/>
            <a:ext cx="7029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DejaVu Sans"/>
                <a:ea typeface="DejaVu Sans"/>
                <a:cs typeface="DejaVu Sans"/>
              </a:defRPr>
            </a:pPr>
            <a:r>
              <a:rPr sz="1650" b="1">
                <a:solidFill>
                  <a:srgbClr val="28C7F7"/>
                </a:solidFill>
                <a:latin typeface="DejaVu Sans"/>
                <a:ea typeface="DejaVu Sans"/>
                <a:cs typeface="DejaVu Sans"/>
              </a:rPr>
              <a:t>THEORY OF CONSTRAINTS</a:t>
            </a:r>
          </a:p>
        </p:txBody>
      </p:sp>
      <p:sp>
        <p:nvSpPr>
          <p:cNvPr id="38" name="">
            <a:extLst xmlns:a="http://schemas.openxmlformats.org/drawingml/2006/main">
              <a:ext uri="{FF2B5EF4-FFF2-40B4-BE49-F238E27FC236}">
                <a16:creationId xmlns:a16="http://schemas.microsoft.com/office/drawing/2014/main" id="{9B0CDC50-DDD8-44CE-9138-E5AAAE2DB296}"/>
              </a:ext>
            </a:extLst>
          </p:cNvPr>
          <p:cNvSpPr>
            <a:spLocks xmlns:a="http://schemas.openxmlformats.org/drawingml/2006/main" noGrp="1"/>
          </p:cNvSpPr>
          <p:nvPr/>
        </p:nvSpPr>
        <p:spPr>
          <a:xfrm xmlns:a="http://schemas.openxmlformats.org/drawingml/2006/main">
            <a:off x="609600" y="4476750"/>
            <a:ext cx="676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1">
                <a:solidFill>
                  <a:srgbClr val="F4F7FA"/>
                </a:solidFill>
                <a:latin typeface="DejaVu Sans"/>
                <a:ea typeface="DejaVu Sans"/>
                <a:cs typeface="DejaVu Sans"/>
              </a:defRPr>
            </a:pPr>
            <a:r>
              <a:rPr sz="1950" b="1">
                <a:solidFill>
                  <a:srgbClr val="F4F7FA"/>
                </a:solidFill>
                <a:latin typeface="DejaVu Sans"/>
                <a:ea typeface="DejaVu Sans"/>
                <a:cs typeface="DejaVu Sans"/>
              </a:rPr>
              <a:t>Faster work outside the bottleneck</a:t>
            </a:r>
          </a:p>
          <a:p xmlns:a="http://schemas.openxmlformats.org/drawingml/2006/main">
            <a:pPr algn="l">
              <a:defRPr sz="1950" b="1">
                <a:solidFill>
                  <a:srgbClr val="F4F7FA"/>
                </a:solidFill>
                <a:latin typeface="DejaVu Sans"/>
                <a:ea typeface="DejaVu Sans"/>
                <a:cs typeface="DejaVu Sans"/>
              </a:defRPr>
            </a:pPr>
            <a:r>
              <a:rPr sz="1950" b="1">
                <a:solidFill>
                  <a:srgbClr val="F4F7FA"/>
                </a:solidFill>
                <a:latin typeface="DejaVu Sans"/>
                <a:ea typeface="DejaVu Sans"/>
                <a:cs typeface="DejaVu Sans"/>
              </a:rPr>
              <a:t>does not increase delivery capacity.</a:t>
            </a:r>
          </a:p>
        </p:txBody>
      </p:sp>
      <p:sp>
        <p:nvSpPr>
          <p:cNvPr id="39" name="">
            <a:extLst xmlns:a="http://schemas.openxmlformats.org/drawingml/2006/main">
              <a:ext uri="{FF2B5EF4-FFF2-40B4-BE49-F238E27FC236}">
                <a16:creationId xmlns:a16="http://schemas.microsoft.com/office/drawing/2014/main" id="{04750798-E5AA-417E-96EF-CE7A85887BFD}"/>
              </a:ext>
            </a:extLst>
          </p:cNvPr>
          <p:cNvSpPr>
            <a:spLocks xmlns:a="http://schemas.openxmlformats.org/drawingml/2006/main" noGrp="1"/>
          </p:cNvSpPr>
          <p:nvPr/>
        </p:nvSpPr>
        <p:spPr>
          <a:xfrm xmlns:a="http://schemas.openxmlformats.org/drawingml/2006/main">
            <a:off x="609600" y="5410200"/>
            <a:ext cx="685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DejaVu Sans"/>
                <a:ea typeface="DejaVu Sans"/>
                <a:cs typeface="DejaVu Sans"/>
              </a:defRPr>
            </a:pPr>
            <a:r>
              <a:rPr sz="1725" b="0">
                <a:solidFill>
                  <a:srgbClr val="ADB8C5"/>
                </a:solidFill>
                <a:latin typeface="DejaVu Sans"/>
                <a:ea typeface="DejaVu Sans"/>
                <a:cs typeface="DejaVu Sans"/>
              </a:rPr>
              <a:t>Pushing more work into a fixed bottleneck builds</a:t>
            </a:r>
          </a:p>
          <a:p xmlns:a="http://schemas.openxmlformats.org/drawingml/2006/main">
            <a:pPr algn="l">
              <a:defRPr sz="1725" b="0">
                <a:solidFill>
                  <a:srgbClr val="ADB8C5"/>
                </a:solidFill>
                <a:latin typeface="DejaVu Sans"/>
                <a:ea typeface="DejaVu Sans"/>
                <a:cs typeface="DejaVu Sans"/>
              </a:defRPr>
            </a:pPr>
            <a:r>
              <a:rPr sz="1725" b="0">
                <a:solidFill>
                  <a:srgbClr val="ADB8C5"/>
                </a:solidFill>
                <a:latin typeface="DejaVu Sans"/>
                <a:ea typeface="DejaVu Sans"/>
                <a:cs typeface="DejaVu Sans"/>
              </a:rPr>
              <a:t>WIP and waiting time. Quality can suffer under overload.</a:t>
            </a:r>
          </a:p>
        </p:txBody>
      </p:sp>
      <p:sp>
        <p:nvSpPr>
          <p:cNvPr id="40" name="">
            <a:extLst xmlns:a="http://schemas.openxmlformats.org/drawingml/2006/main">
              <a:ext uri="{FF2B5EF4-FFF2-40B4-BE49-F238E27FC236}">
                <a16:creationId xmlns:a16="http://schemas.microsoft.com/office/drawing/2014/main" id="{B5900CBC-EB42-4265-BFF4-65FCF50D0D36}"/>
              </a:ext>
            </a:extLst>
          </p:cNvPr>
          <p:cNvSpPr>
            <a:spLocks xmlns:a="http://schemas.openxmlformats.org/drawingml/2006/main" noGrp="1"/>
          </p:cNvSpPr>
          <p:nvPr/>
        </p:nvSpPr>
        <p:spPr>
          <a:xfrm xmlns:a="http://schemas.openxmlformats.org/drawingml/2006/main" flipH="0" flipV="0">
            <a:off x="7867650" y="4114800"/>
            <a:ext cx="0" cy="2085975"/>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41" name="">
            <a:extLst xmlns:a="http://schemas.openxmlformats.org/drawingml/2006/main">
              <a:ext uri="{FF2B5EF4-FFF2-40B4-BE49-F238E27FC236}">
                <a16:creationId xmlns:a16="http://schemas.microsoft.com/office/drawing/2014/main" id="{6BA615B9-1750-42C8-A67D-97610DAD83D0}"/>
              </a:ext>
            </a:extLst>
          </p:cNvPr>
          <p:cNvSpPr>
            <a:spLocks xmlns:a="http://schemas.openxmlformats.org/drawingml/2006/main" noGrp="1"/>
          </p:cNvSpPr>
          <p:nvPr/>
        </p:nvSpPr>
        <p:spPr>
          <a:xfrm xmlns:a="http://schemas.openxmlformats.org/drawingml/2006/main">
            <a:off x="8248650" y="4238625"/>
            <a:ext cx="3333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750" b="1">
                <a:solidFill>
                  <a:srgbClr val="F5B61C"/>
                </a:solidFill>
                <a:latin typeface="DejaVu Sans"/>
                <a:ea typeface="DejaVu Sans"/>
                <a:cs typeface="DejaVu Sans"/>
              </a:defRPr>
            </a:pPr>
            <a:r>
              <a:rPr sz="3750" b="1">
                <a:solidFill>
                  <a:srgbClr val="F5B61C"/>
                </a:solidFill>
                <a:latin typeface="DejaVu Sans"/>
                <a:ea typeface="DejaVu Sans"/>
                <a:cs typeface="DejaVu Sans"/>
              </a:rPr>
              <a:t>+92 / week</a:t>
            </a:r>
          </a:p>
        </p:txBody>
      </p:sp>
      <p:sp>
        <p:nvSpPr>
          <p:cNvPr id="42" name="">
            <a:extLst xmlns:a="http://schemas.openxmlformats.org/drawingml/2006/main">
              <a:ext uri="{FF2B5EF4-FFF2-40B4-BE49-F238E27FC236}">
                <a16:creationId xmlns:a16="http://schemas.microsoft.com/office/drawing/2014/main" id="{B541D0FE-294C-4578-AF3A-6E8E032D694A}"/>
              </a:ext>
            </a:extLst>
          </p:cNvPr>
          <p:cNvSpPr>
            <a:spLocks xmlns:a="http://schemas.openxmlformats.org/drawingml/2006/main" noGrp="1"/>
          </p:cNvSpPr>
          <p:nvPr/>
        </p:nvSpPr>
        <p:spPr>
          <a:xfrm xmlns:a="http://schemas.openxmlformats.org/drawingml/2006/main">
            <a:off x="8248650" y="4895850"/>
            <a:ext cx="3333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unfinished changes</a:t>
            </a:r>
          </a:p>
          <a:p xmlns:a="http://schemas.openxmlformats.org/drawingml/2006/main">
            <a:pPr algn="l">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accumulate</a:t>
            </a:r>
          </a:p>
        </p:txBody>
      </p:sp>
      <p:sp>
        <p:nvSpPr>
          <p:cNvPr id="43" name="">
            <a:extLst xmlns:a="http://schemas.openxmlformats.org/drawingml/2006/main">
              <a:ext uri="{FF2B5EF4-FFF2-40B4-BE49-F238E27FC236}">
                <a16:creationId xmlns:a16="http://schemas.microsoft.com/office/drawing/2014/main" id="{3A41095A-19F0-4F7C-BA82-CA2A276A9499}"/>
              </a:ext>
            </a:extLst>
          </p:cNvPr>
          <p:cNvSpPr>
            <a:spLocks xmlns:a="http://schemas.openxmlformats.org/drawingml/2006/main" noGrp="1"/>
          </p:cNvSpPr>
          <p:nvPr/>
        </p:nvSpPr>
        <p:spPr>
          <a:xfrm xmlns:a="http://schemas.openxmlformats.org/drawingml/2006/main">
            <a:off x="8248650" y="5543550"/>
            <a:ext cx="3333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Illustrative: 100 in, 8 out.</a:t>
            </a:r>
          </a:p>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Fixed rates, comparable work.</a:t>
            </a:r>
          </a:p>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No WIP limit, no discarded work.</a:t>
            </a:r>
          </a:p>
        </p:txBody>
      </p:sp>
    </p:spTree>
    <p:extLst>
      <p:ext uri="{BB962C8B-B14F-4D97-AF65-F5344CB8AC3E}">
        <p14:creationId xmlns:p14="http://schemas.microsoft.com/office/powerpoint/2010/main" val="849262705"/>
      </p:ext>
    </p:extLst>
  </p:cSld>
</p:sld>
</file>

<file path=ppt/slides/slide4.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710304D6-A771-423D-9F44-A7076FEB65B4}"/>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The Evidence Is Already Messy</a:t>
            </a:r>
          </a:p>
        </p:txBody>
      </p:sp>
      <p:sp>
        <p:nvSpPr>
          <p:cNvPr id="2" name="">
            <a:extLst xmlns:a="http://schemas.openxmlformats.org/drawingml/2006/main">
              <a:ext uri="{FF2B5EF4-FFF2-40B4-BE49-F238E27FC236}">
                <a16:creationId xmlns:a16="http://schemas.microsoft.com/office/drawing/2014/main" id="{05A235A6-3E24-449E-AE01-62AE6AEDBB6B}"/>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F3432B29-5027-4405-8751-AF76BB7B8717}"/>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04</a:t>
            </a:r>
          </a:p>
        </p:txBody>
      </p:sp>
      <p:sp>
        <p:nvSpPr>
          <p:cNvPr id="4" name="">
            <a:extLst xmlns:a="http://schemas.openxmlformats.org/drawingml/2006/main">
              <a:ext uri="{FF2B5EF4-FFF2-40B4-BE49-F238E27FC236}">
                <a16:creationId xmlns:a16="http://schemas.microsoft.com/office/drawing/2014/main" id="{F55EB63C-17FE-4407-BCF2-016A94F02BCA}"/>
              </a:ext>
            </a:extLst>
          </p:cNvPr>
          <p:cNvSpPr>
            <a:spLocks xmlns:a="http://schemas.openxmlformats.org/drawingml/2006/main" noGrp="1"/>
          </p:cNvSpPr>
          <p:nvPr/>
        </p:nvSpPr>
        <p:spPr>
          <a:xfrm xmlns:a="http://schemas.openxmlformats.org/drawingml/2006/main" flipH="0" flipV="0">
            <a:off x="5553075" y="1847850"/>
            <a:ext cx="0" cy="43434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5" name="">
            <a:extLst xmlns:a="http://schemas.openxmlformats.org/drawingml/2006/main">
              <a:ext uri="{FF2B5EF4-FFF2-40B4-BE49-F238E27FC236}">
                <a16:creationId xmlns:a16="http://schemas.microsoft.com/office/drawing/2014/main" id="{897F0617-8010-40E2-B5CA-EAE4E814BD4A}"/>
              </a:ext>
            </a:extLst>
          </p:cNvPr>
          <p:cNvSpPr>
            <a:spLocks xmlns:a="http://schemas.openxmlformats.org/drawingml/2006/main" noGrp="1"/>
          </p:cNvSpPr>
          <p:nvPr/>
        </p:nvSpPr>
        <p:spPr>
          <a:xfrm xmlns:a="http://schemas.openxmlformats.org/drawingml/2006/main">
            <a:off x="609600" y="1857375"/>
            <a:ext cx="476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DejaVu Sans"/>
                <a:ea typeface="DejaVu Sans"/>
                <a:cs typeface="DejaVu Sans"/>
              </a:defRPr>
            </a:pPr>
            <a:r>
              <a:rPr sz="1650" b="1">
                <a:solidFill>
                  <a:srgbClr val="28C7F7"/>
                </a:solidFill>
                <a:latin typeface="DejaVu Sans"/>
                <a:ea typeface="DejaVu Sans"/>
                <a:cs typeface="DejaVu Sans"/>
              </a:rPr>
              <a:t>NBER · 2026</a:t>
            </a:r>
          </a:p>
        </p:txBody>
      </p:sp>
      <p:sp>
        <p:nvSpPr>
          <p:cNvPr id="6" name="">
            <a:extLst xmlns:a="http://schemas.openxmlformats.org/drawingml/2006/main">
              <a:ext uri="{FF2B5EF4-FFF2-40B4-BE49-F238E27FC236}">
                <a16:creationId xmlns:a16="http://schemas.microsoft.com/office/drawing/2014/main" id="{5EE4D21A-C789-4EB5-A4A6-FE6A6A580BCE}"/>
              </a:ext>
            </a:extLst>
          </p:cNvPr>
          <p:cNvSpPr>
            <a:spLocks xmlns:a="http://schemas.openxmlformats.org/drawingml/2006/main" noGrp="1"/>
          </p:cNvSpPr>
          <p:nvPr/>
        </p:nvSpPr>
        <p:spPr>
          <a:xfrm xmlns:a="http://schemas.openxmlformats.org/drawingml/2006/main">
            <a:off x="609600" y="2343150"/>
            <a:ext cx="14954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225" b="1">
                <a:solidFill>
                  <a:srgbClr val="F4F7FA"/>
                </a:solidFill>
                <a:latin typeface="DejaVu Sans"/>
                <a:ea typeface="DejaVu Sans"/>
                <a:cs typeface="DejaVu Sans"/>
              </a:defRPr>
            </a:pPr>
            <a:r>
              <a:rPr sz="3225" b="1">
                <a:solidFill>
                  <a:srgbClr val="F4F7FA"/>
                </a:solidFill>
                <a:latin typeface="DejaVu Sans"/>
                <a:ea typeface="DejaVu Sans"/>
                <a:cs typeface="DejaVu Sans"/>
              </a:rPr>
              <a:t>17.3×</a:t>
            </a:r>
          </a:p>
        </p:txBody>
      </p:sp>
      <p:sp>
        <p:nvSpPr>
          <p:cNvPr id="7" name="">
            <a:extLst xmlns:a="http://schemas.openxmlformats.org/drawingml/2006/main">
              <a:ext uri="{FF2B5EF4-FFF2-40B4-BE49-F238E27FC236}">
                <a16:creationId xmlns:a16="http://schemas.microsoft.com/office/drawing/2014/main" id="{F54C00BF-1568-4FC7-9703-EB1CFE439831}"/>
              </a:ext>
            </a:extLst>
          </p:cNvPr>
          <p:cNvSpPr>
            <a:spLocks xmlns:a="http://schemas.openxmlformats.org/drawingml/2006/main" noGrp="1"/>
          </p:cNvSpPr>
          <p:nvPr/>
        </p:nvSpPr>
        <p:spPr>
          <a:xfrm xmlns:a="http://schemas.openxmlformats.org/drawingml/2006/main">
            <a:off x="609600" y="2924175"/>
            <a:ext cx="1495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DejaVu Sans"/>
                <a:ea typeface="DejaVu Sans"/>
                <a:cs typeface="DejaVu Sans"/>
              </a:defRPr>
            </a:pPr>
            <a:r>
              <a:rPr sz="1575" b="0">
                <a:solidFill>
                  <a:srgbClr val="ADB8C5"/>
                </a:solidFill>
                <a:latin typeface="DejaVu Sans"/>
                <a:ea typeface="DejaVu Sans"/>
                <a:cs typeface="DejaVu Sans"/>
              </a:rPr>
              <a:t>changed LOC</a:t>
            </a:r>
          </a:p>
        </p:txBody>
      </p:sp>
      <p:sp>
        <p:nvSpPr>
          <p:cNvPr id="8" name="">
            <a:extLst xmlns:a="http://schemas.openxmlformats.org/drawingml/2006/main">
              <a:ext uri="{FF2B5EF4-FFF2-40B4-BE49-F238E27FC236}">
                <a16:creationId xmlns:a16="http://schemas.microsoft.com/office/drawing/2014/main" id="{0FBAE462-8D5C-4586-B4D3-D474F2712C6C}"/>
              </a:ext>
            </a:extLst>
          </p:cNvPr>
          <p:cNvSpPr>
            <a:spLocks xmlns:a="http://schemas.openxmlformats.org/drawingml/2006/main" noGrp="1"/>
          </p:cNvSpPr>
          <p:nvPr/>
        </p:nvSpPr>
        <p:spPr>
          <a:xfrm xmlns:a="http://schemas.openxmlformats.org/drawingml/2006/main">
            <a:off x="2219325" y="2343150"/>
            <a:ext cx="14954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225" b="1">
                <a:solidFill>
                  <a:srgbClr val="F4F7FA"/>
                </a:solidFill>
                <a:latin typeface="DejaVu Sans"/>
                <a:ea typeface="DejaVu Sans"/>
                <a:cs typeface="DejaVu Sans"/>
              </a:defRPr>
            </a:pPr>
            <a:r>
              <a:rPr sz="3225" b="1">
                <a:solidFill>
                  <a:srgbClr val="F4F7FA"/>
                </a:solidFill>
                <a:latin typeface="DejaVu Sans"/>
                <a:ea typeface="DejaVu Sans"/>
                <a:cs typeface="DejaVu Sans"/>
              </a:rPr>
              <a:t>2.8×</a:t>
            </a:r>
          </a:p>
        </p:txBody>
      </p:sp>
      <p:sp>
        <p:nvSpPr>
          <p:cNvPr id="9" name="">
            <a:extLst xmlns:a="http://schemas.openxmlformats.org/drawingml/2006/main">
              <a:ext uri="{FF2B5EF4-FFF2-40B4-BE49-F238E27FC236}">
                <a16:creationId xmlns:a16="http://schemas.microsoft.com/office/drawing/2014/main" id="{4713B25E-8539-4483-82F1-2D2E23B9FFCA}"/>
              </a:ext>
            </a:extLst>
          </p:cNvPr>
          <p:cNvSpPr>
            <a:spLocks xmlns:a="http://schemas.openxmlformats.org/drawingml/2006/main" noGrp="1"/>
          </p:cNvSpPr>
          <p:nvPr/>
        </p:nvSpPr>
        <p:spPr>
          <a:xfrm xmlns:a="http://schemas.openxmlformats.org/drawingml/2006/main">
            <a:off x="2219325" y="2924175"/>
            <a:ext cx="1495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DejaVu Sans"/>
                <a:ea typeface="DejaVu Sans"/>
                <a:cs typeface="DejaVu Sans"/>
              </a:defRPr>
            </a:pPr>
            <a:r>
              <a:rPr sz="1575" b="0">
                <a:solidFill>
                  <a:srgbClr val="ADB8C5"/>
                </a:solidFill>
                <a:latin typeface="DejaVu Sans"/>
                <a:ea typeface="DejaVu Sans"/>
                <a:cs typeface="DejaVu Sans"/>
              </a:rPr>
              <a:t>commits</a:t>
            </a:r>
          </a:p>
        </p:txBody>
      </p:sp>
      <p:sp>
        <p:nvSpPr>
          <p:cNvPr id="10" name="">
            <a:extLst xmlns:a="http://schemas.openxmlformats.org/drawingml/2006/main">
              <a:ext uri="{FF2B5EF4-FFF2-40B4-BE49-F238E27FC236}">
                <a16:creationId xmlns:a16="http://schemas.microsoft.com/office/drawing/2014/main" id="{379BFE28-F9E8-4DB9-89A4-E5A685CECD52}"/>
              </a:ext>
            </a:extLst>
          </p:cNvPr>
          <p:cNvSpPr>
            <a:spLocks xmlns:a="http://schemas.openxmlformats.org/drawingml/2006/main" noGrp="1"/>
          </p:cNvSpPr>
          <p:nvPr/>
        </p:nvSpPr>
        <p:spPr>
          <a:xfrm xmlns:a="http://schemas.openxmlformats.org/drawingml/2006/main">
            <a:off x="3829050" y="2343150"/>
            <a:ext cx="14954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225" b="1">
                <a:solidFill>
                  <a:srgbClr val="F4F7FA"/>
                </a:solidFill>
                <a:latin typeface="DejaVu Sans"/>
                <a:ea typeface="DejaVu Sans"/>
                <a:cs typeface="DejaVu Sans"/>
              </a:defRPr>
            </a:pPr>
            <a:r>
              <a:rPr sz="3225" b="1">
                <a:solidFill>
                  <a:srgbClr val="F4F7FA"/>
                </a:solidFill>
                <a:latin typeface="DejaVu Sans"/>
                <a:ea typeface="DejaVu Sans"/>
                <a:cs typeface="DejaVu Sans"/>
              </a:rPr>
              <a:t>1.3×</a:t>
            </a:r>
          </a:p>
        </p:txBody>
      </p:sp>
      <p:sp>
        <p:nvSpPr>
          <p:cNvPr id="11" name="">
            <a:extLst xmlns:a="http://schemas.openxmlformats.org/drawingml/2006/main">
              <a:ext uri="{FF2B5EF4-FFF2-40B4-BE49-F238E27FC236}">
                <a16:creationId xmlns:a16="http://schemas.microsoft.com/office/drawing/2014/main" id="{5A77A9F1-CD3B-4A06-A6BB-726566B33126}"/>
              </a:ext>
            </a:extLst>
          </p:cNvPr>
          <p:cNvSpPr>
            <a:spLocks xmlns:a="http://schemas.openxmlformats.org/drawingml/2006/main" noGrp="1"/>
          </p:cNvSpPr>
          <p:nvPr/>
        </p:nvSpPr>
        <p:spPr>
          <a:xfrm xmlns:a="http://schemas.openxmlformats.org/drawingml/2006/main">
            <a:off x="3829050" y="2924175"/>
            <a:ext cx="1495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DejaVu Sans"/>
                <a:ea typeface="DejaVu Sans"/>
                <a:cs typeface="DejaVu Sans"/>
              </a:defRPr>
            </a:pPr>
            <a:r>
              <a:rPr sz="1575" b="0">
                <a:solidFill>
                  <a:srgbClr val="ADB8C5"/>
                </a:solidFill>
                <a:latin typeface="DejaVu Sans"/>
                <a:ea typeface="DejaVu Sans"/>
                <a:cs typeface="DejaVu Sans"/>
              </a:rPr>
              <a:t>releases</a:t>
            </a:r>
          </a:p>
        </p:txBody>
      </p:sp>
      <p:sp>
        <p:nvSpPr>
          <p:cNvPr id="12" name="">
            <a:extLst xmlns:a="http://schemas.openxmlformats.org/drawingml/2006/main">
              <a:ext uri="{FF2B5EF4-FFF2-40B4-BE49-F238E27FC236}">
                <a16:creationId xmlns:a16="http://schemas.microsoft.com/office/drawing/2014/main" id="{3DC064D5-7879-4A62-8886-9730B32E8D1C}"/>
              </a:ext>
            </a:extLst>
          </p:cNvPr>
          <p:cNvSpPr>
            <a:spLocks xmlns:a="http://schemas.openxmlformats.org/drawingml/2006/main" noGrp="1"/>
          </p:cNvSpPr>
          <p:nvPr/>
        </p:nvSpPr>
        <p:spPr>
          <a:xfrm xmlns:a="http://schemas.openxmlformats.org/drawingml/2006/main">
            <a:off x="609600" y="3352800"/>
            <a:ext cx="47244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DejaVu Sans"/>
                <a:ea typeface="DejaVu Sans"/>
                <a:cs typeface="DejaVu Sans"/>
              </a:defRPr>
            </a:pPr>
            <a:r>
              <a:rPr sz="1650" b="1">
                <a:solidFill>
                  <a:srgbClr val="28C7F7"/>
                </a:solidFill>
                <a:latin typeface="DejaVu Sans"/>
                <a:ea typeface="DejaVu Sans"/>
                <a:cs typeface="DejaVu Sans"/>
              </a:rPr>
              <a:t>Cumulative estimates across</a:t>
            </a:r>
          </a:p>
          <a:p xmlns:a="http://schemas.openxmlformats.org/drawingml/2006/main">
            <a:pPr algn="l">
              <a:defRPr sz="1650" b="1">
                <a:solidFill>
                  <a:srgbClr val="28C7F7"/>
                </a:solidFill>
                <a:latin typeface="DejaVu Sans"/>
                <a:ea typeface="DejaVu Sans"/>
                <a:cs typeface="DejaVu Sans"/>
              </a:defRPr>
            </a:pPr>
            <a:r>
              <a:rPr sz="1650" b="1">
                <a:solidFill>
                  <a:srgbClr val="28C7F7"/>
                </a:solidFill>
                <a:latin typeface="DejaVu Sans"/>
                <a:ea typeface="DejaVu Sans"/>
                <a:cs typeface="DejaVu Sans"/>
              </a:rPr>
              <a:t>autocomplete + sync + async</a:t>
            </a:r>
          </a:p>
        </p:txBody>
      </p:sp>
      <p:sp>
        <p:nvSpPr>
          <p:cNvPr id="13" name="">
            <a:extLst xmlns:a="http://schemas.openxmlformats.org/drawingml/2006/main">
              <a:ext uri="{FF2B5EF4-FFF2-40B4-BE49-F238E27FC236}">
                <a16:creationId xmlns:a16="http://schemas.microsoft.com/office/drawing/2014/main" id="{8A48F464-F589-4F6F-972D-F6F1CD0675C5}"/>
              </a:ext>
            </a:extLst>
          </p:cNvPr>
          <p:cNvSpPr>
            <a:spLocks xmlns:a="http://schemas.openxmlformats.org/drawingml/2006/main" noGrp="1"/>
          </p:cNvSpPr>
          <p:nvPr/>
        </p:nvSpPr>
        <p:spPr>
          <a:xfrm xmlns:a="http://schemas.openxmlformats.org/drawingml/2006/main">
            <a:off x="609600" y="3914775"/>
            <a:ext cx="4724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Changed LOC = additions + deletions.</a:t>
            </a:r>
          </a:p>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Separate async release effect not estimated.</a:t>
            </a:r>
          </a:p>
        </p:txBody>
      </p:sp>
      <p:sp>
        <p:nvSpPr>
          <p:cNvPr id="14" name="">
            <a:extLst xmlns:a="http://schemas.openxmlformats.org/drawingml/2006/main">
              <a:ext uri="{FF2B5EF4-FFF2-40B4-BE49-F238E27FC236}">
                <a16:creationId xmlns:a16="http://schemas.microsoft.com/office/drawing/2014/main" id="{C19A8826-F2A7-4928-9F5B-A5B6B07B10D5}"/>
              </a:ext>
            </a:extLst>
          </p:cNvPr>
          <p:cNvSpPr>
            <a:spLocks xmlns:a="http://schemas.openxmlformats.org/drawingml/2006/main" noGrp="1"/>
          </p:cNvSpPr>
          <p:nvPr/>
        </p:nvSpPr>
        <p:spPr>
          <a:xfrm xmlns:a="http://schemas.openxmlformats.org/drawingml/2006/main">
            <a:off x="609600" y="4543425"/>
            <a:ext cx="47244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More apps. Aggregate usage</a:t>
            </a:r>
          </a:p>
          <a:p xmlns:a="http://schemas.openxmlformats.org/drawingml/2006/main">
            <a:pPr algn="l">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flat or lower in these cohorts.</a:t>
            </a:r>
          </a:p>
        </p:txBody>
      </p:sp>
      <p:sp>
        <p:nvSpPr>
          <p:cNvPr id="15" name="">
            <a:extLst xmlns:a="http://schemas.openxmlformats.org/drawingml/2006/main">
              <a:ext uri="{FF2B5EF4-FFF2-40B4-BE49-F238E27FC236}">
                <a16:creationId xmlns:a16="http://schemas.microsoft.com/office/drawing/2014/main" id="{DD06AF9E-5384-4B6C-A7E3-0869245EF48B}"/>
              </a:ext>
            </a:extLst>
          </p:cNvPr>
          <p:cNvSpPr>
            <a:spLocks xmlns:a="http://schemas.openxmlformats.org/drawingml/2006/main" noGrp="1"/>
          </p:cNvSpPr>
          <p:nvPr/>
        </p:nvSpPr>
        <p:spPr>
          <a:xfrm xmlns:a="http://schemas.openxmlformats.org/drawingml/2006/main">
            <a:off x="609600" y="5248275"/>
            <a:ext cx="2428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iOS: &lt;10 ratings</a:t>
            </a:r>
          </a:p>
        </p:txBody>
      </p:sp>
      <p:sp>
        <p:nvSpPr>
          <p:cNvPr id="16" name="">
            <a:extLst xmlns:a="http://schemas.openxmlformats.org/drawingml/2006/main">
              <a:ext uri="{FF2B5EF4-FFF2-40B4-BE49-F238E27FC236}">
                <a16:creationId xmlns:a16="http://schemas.microsoft.com/office/drawing/2014/main" id="{A866D678-1302-470C-BB32-AE87028D11EC}"/>
              </a:ext>
            </a:extLst>
          </p:cNvPr>
          <p:cNvSpPr>
            <a:spLocks xmlns:a="http://schemas.openxmlformats.org/drawingml/2006/main" noGrp="1"/>
          </p:cNvSpPr>
          <p:nvPr/>
        </p:nvSpPr>
        <p:spPr>
          <a:xfrm xmlns:a="http://schemas.openxmlformats.org/drawingml/2006/main">
            <a:off x="3038475" y="5248275"/>
            <a:ext cx="22955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725" b="1">
                <a:solidFill>
                  <a:srgbClr val="F5B61C"/>
                </a:solidFill>
                <a:latin typeface="DejaVu Sans"/>
                <a:ea typeface="DejaVu Sans"/>
                <a:cs typeface="DejaVu Sans"/>
              </a:defRPr>
            </a:pPr>
            <a:r>
              <a:rPr sz="1725" b="1">
                <a:solidFill>
                  <a:srgbClr val="F5B61C"/>
                </a:solidFill>
                <a:latin typeface="DejaVu Sans"/>
                <a:ea typeface="DejaVu Sans"/>
                <a:cs typeface="DejaVu Sans"/>
              </a:rPr>
              <a:t>79% → 86%</a:t>
            </a:r>
          </a:p>
        </p:txBody>
      </p:sp>
      <p:sp>
        <p:nvSpPr>
          <p:cNvPr id="17" name="">
            <a:extLst xmlns:a="http://schemas.openxmlformats.org/drawingml/2006/main">
              <a:ext uri="{FF2B5EF4-FFF2-40B4-BE49-F238E27FC236}">
                <a16:creationId xmlns:a16="http://schemas.microsoft.com/office/drawing/2014/main" id="{3151578C-BE5E-4CD9-80CE-82AD805A091E}"/>
              </a:ext>
            </a:extLst>
          </p:cNvPr>
          <p:cNvSpPr>
            <a:spLocks xmlns:a="http://schemas.openxmlformats.org/drawingml/2006/main" noGrp="1"/>
          </p:cNvSpPr>
          <p:nvPr/>
        </p:nvSpPr>
        <p:spPr>
          <a:xfrm xmlns:a="http://schemas.openxmlformats.org/drawingml/2006/main">
            <a:off x="609600" y="5581650"/>
            <a:ext cx="2428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Chrome: &lt;10 downloads</a:t>
            </a:r>
          </a:p>
        </p:txBody>
      </p:sp>
      <p:sp>
        <p:nvSpPr>
          <p:cNvPr id="18" name="">
            <a:extLst xmlns:a="http://schemas.openxmlformats.org/drawingml/2006/main">
              <a:ext uri="{FF2B5EF4-FFF2-40B4-BE49-F238E27FC236}">
                <a16:creationId xmlns:a16="http://schemas.microsoft.com/office/drawing/2014/main" id="{027C38DA-D218-4B2A-9221-ABFDAE846734}"/>
              </a:ext>
            </a:extLst>
          </p:cNvPr>
          <p:cNvSpPr>
            <a:spLocks xmlns:a="http://schemas.openxmlformats.org/drawingml/2006/main" noGrp="1"/>
          </p:cNvSpPr>
          <p:nvPr/>
        </p:nvSpPr>
        <p:spPr>
          <a:xfrm xmlns:a="http://schemas.openxmlformats.org/drawingml/2006/main">
            <a:off x="3038475" y="5581650"/>
            <a:ext cx="22955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725" b="1">
                <a:solidFill>
                  <a:srgbClr val="F5B61C"/>
                </a:solidFill>
                <a:latin typeface="DejaVu Sans"/>
                <a:ea typeface="DejaVu Sans"/>
                <a:cs typeface="DejaVu Sans"/>
              </a:defRPr>
            </a:pPr>
            <a:r>
              <a:rPr sz="1725" b="1">
                <a:solidFill>
                  <a:srgbClr val="F5B61C"/>
                </a:solidFill>
                <a:latin typeface="DejaVu Sans"/>
                <a:ea typeface="DejaVu Sans"/>
                <a:cs typeface="DejaVu Sans"/>
              </a:rPr>
              <a:t>18% → 31%</a:t>
            </a:r>
          </a:p>
        </p:txBody>
      </p:sp>
      <p:sp>
        <p:nvSpPr>
          <p:cNvPr id="19" name="">
            <a:extLst xmlns:a="http://schemas.openxmlformats.org/drawingml/2006/main">
              <a:ext uri="{FF2B5EF4-FFF2-40B4-BE49-F238E27FC236}">
                <a16:creationId xmlns:a16="http://schemas.microsoft.com/office/drawing/2014/main" id="{8FFE4DF5-6765-4194-814C-703A3FBA44AD}"/>
              </a:ext>
            </a:extLst>
          </p:cNvPr>
          <p:cNvSpPr>
            <a:spLocks xmlns:a="http://schemas.openxmlformats.org/drawingml/2006/main" noGrp="1"/>
          </p:cNvSpPr>
          <p:nvPr/>
        </p:nvSpPr>
        <p:spPr>
          <a:xfrm xmlns:a="http://schemas.openxmlformats.org/drawingml/2006/main">
            <a:off x="609600" y="5953125"/>
            <a:ext cx="472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New cohorts; first 3 months. Usage proxies.</a:t>
            </a:r>
          </a:p>
        </p:txBody>
      </p:sp>
      <p:sp>
        <p:nvSpPr>
          <p:cNvPr id="20" name="">
            <a:extLst xmlns:a="http://schemas.openxmlformats.org/drawingml/2006/main">
              <a:ext uri="{FF2B5EF4-FFF2-40B4-BE49-F238E27FC236}">
                <a16:creationId xmlns:a16="http://schemas.microsoft.com/office/drawing/2014/main" id="{6859F961-3112-453E-B0F5-9879FCD193DA}"/>
              </a:ext>
            </a:extLst>
          </p:cNvPr>
          <p:cNvSpPr>
            <a:spLocks xmlns:a="http://schemas.openxmlformats.org/drawingml/2006/main" noGrp="1"/>
          </p:cNvSpPr>
          <p:nvPr/>
        </p:nvSpPr>
        <p:spPr>
          <a:xfrm xmlns:a="http://schemas.openxmlformats.org/drawingml/2006/main">
            <a:off x="5867400" y="1857375"/>
            <a:ext cx="571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DejaVu Sans"/>
                <a:ea typeface="DejaVu Sans"/>
                <a:cs typeface="DejaVu Sans"/>
              </a:defRPr>
            </a:pPr>
            <a:r>
              <a:rPr sz="1650" b="1">
                <a:solidFill>
                  <a:srgbClr val="28C7F7"/>
                </a:solidFill>
                <a:latin typeface="DejaVu Sans"/>
                <a:ea typeface="DejaVu Sans"/>
                <a:cs typeface="DejaVu Sans"/>
              </a:rPr>
              <a:t>DORA · 2025</a:t>
            </a:r>
          </a:p>
        </p:txBody>
      </p:sp>
      <p:sp>
        <p:nvSpPr>
          <p:cNvPr id="21" name="">
            <a:extLst xmlns:a="http://schemas.openxmlformats.org/drawingml/2006/main">
              <a:ext uri="{FF2B5EF4-FFF2-40B4-BE49-F238E27FC236}">
                <a16:creationId xmlns:a16="http://schemas.microsoft.com/office/drawing/2014/main" id="{DBC1E5A6-724F-4689-9C9A-40491E2F7056}"/>
              </a:ext>
            </a:extLst>
          </p:cNvPr>
          <p:cNvSpPr>
            <a:spLocks xmlns:a="http://schemas.openxmlformats.org/drawingml/2006/main" noGrp="1"/>
          </p:cNvSpPr>
          <p:nvPr/>
        </p:nvSpPr>
        <p:spPr>
          <a:xfrm xmlns:a="http://schemas.openxmlformats.org/drawingml/2006/main">
            <a:off x="5867400" y="2209800"/>
            <a:ext cx="2686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625" b="1">
                <a:solidFill>
                  <a:srgbClr val="F4F7FA"/>
                </a:solidFill>
                <a:latin typeface="DejaVu Sans"/>
                <a:ea typeface="DejaVu Sans"/>
                <a:cs typeface="DejaVu Sans"/>
              </a:defRPr>
            </a:pPr>
            <a:r>
              <a:rPr sz="2625" b="1">
                <a:solidFill>
                  <a:srgbClr val="F4F7FA"/>
                </a:solidFill>
                <a:latin typeface="DejaVu Sans"/>
                <a:ea typeface="DejaVu Sans"/>
                <a:cs typeface="DejaVu Sans"/>
              </a:rPr>
              <a:t>&gt;80%</a:t>
            </a:r>
          </a:p>
        </p:txBody>
      </p:sp>
      <p:sp>
        <p:nvSpPr>
          <p:cNvPr id="22" name="">
            <a:extLst xmlns:a="http://schemas.openxmlformats.org/drawingml/2006/main">
              <a:ext uri="{FF2B5EF4-FFF2-40B4-BE49-F238E27FC236}">
                <a16:creationId xmlns:a16="http://schemas.microsoft.com/office/drawing/2014/main" id="{33FE97EC-0B8E-42FE-8783-CCC9829ECD77}"/>
              </a:ext>
            </a:extLst>
          </p:cNvPr>
          <p:cNvSpPr>
            <a:spLocks xmlns:a="http://schemas.openxmlformats.org/drawingml/2006/main" noGrp="1"/>
          </p:cNvSpPr>
          <p:nvPr/>
        </p:nvSpPr>
        <p:spPr>
          <a:xfrm xmlns:a="http://schemas.openxmlformats.org/drawingml/2006/main">
            <a:off x="5867400" y="2667000"/>
            <a:ext cx="26860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DejaVu Sans"/>
                <a:ea typeface="DejaVu Sans"/>
                <a:cs typeface="DejaVu Sans"/>
              </a:defRPr>
            </a:pPr>
            <a:r>
              <a:rPr sz="1575" b="0">
                <a:solidFill>
                  <a:srgbClr val="ADB8C5"/>
                </a:solidFill>
                <a:latin typeface="DejaVu Sans"/>
                <a:ea typeface="DejaVu Sans"/>
                <a:cs typeface="DejaVu Sans"/>
              </a:rPr>
              <a:t>report productivity</a:t>
            </a:r>
          </a:p>
          <a:p xmlns:a="http://schemas.openxmlformats.org/drawingml/2006/main">
            <a:pPr algn="l">
              <a:defRPr sz="1575" b="0">
                <a:solidFill>
                  <a:srgbClr val="ADB8C5"/>
                </a:solidFill>
                <a:latin typeface="DejaVu Sans"/>
                <a:ea typeface="DejaVu Sans"/>
                <a:cs typeface="DejaVu Sans"/>
              </a:defRPr>
            </a:pPr>
            <a:r>
              <a:rPr sz="1575" b="0">
                <a:solidFill>
                  <a:srgbClr val="ADB8C5"/>
                </a:solidFill>
                <a:latin typeface="DejaVu Sans"/>
                <a:ea typeface="DejaVu Sans"/>
                <a:cs typeface="DejaVu Sans"/>
              </a:rPr>
              <a:t>improvement</a:t>
            </a:r>
          </a:p>
        </p:txBody>
      </p:sp>
      <p:sp>
        <p:nvSpPr>
          <p:cNvPr id="23" name="">
            <a:extLst xmlns:a="http://schemas.openxmlformats.org/drawingml/2006/main">
              <a:ext uri="{FF2B5EF4-FFF2-40B4-BE49-F238E27FC236}">
                <a16:creationId xmlns:a16="http://schemas.microsoft.com/office/drawing/2014/main" id="{76F2EB1E-236F-4ECC-8A00-DD3DF7D217ED}"/>
              </a:ext>
            </a:extLst>
          </p:cNvPr>
          <p:cNvSpPr>
            <a:spLocks xmlns:a="http://schemas.openxmlformats.org/drawingml/2006/main" noGrp="1"/>
          </p:cNvSpPr>
          <p:nvPr/>
        </p:nvSpPr>
        <p:spPr>
          <a:xfrm xmlns:a="http://schemas.openxmlformats.org/drawingml/2006/main">
            <a:off x="8724900" y="2209800"/>
            <a:ext cx="2686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625" b="1">
                <a:solidFill>
                  <a:srgbClr val="F4F7FA"/>
                </a:solidFill>
                <a:latin typeface="DejaVu Sans"/>
                <a:ea typeface="DejaVu Sans"/>
                <a:cs typeface="DejaVu Sans"/>
              </a:defRPr>
            </a:pPr>
            <a:r>
              <a:rPr sz="2625" b="1">
                <a:solidFill>
                  <a:srgbClr val="F4F7FA"/>
                </a:solidFill>
                <a:latin typeface="DejaVu Sans"/>
                <a:ea typeface="DejaVu Sans"/>
                <a:cs typeface="DejaVu Sans"/>
              </a:rPr>
              <a:t>59%</a:t>
            </a:r>
          </a:p>
        </p:txBody>
      </p:sp>
      <p:sp>
        <p:nvSpPr>
          <p:cNvPr id="24" name="">
            <a:extLst xmlns:a="http://schemas.openxmlformats.org/drawingml/2006/main">
              <a:ext uri="{FF2B5EF4-FFF2-40B4-BE49-F238E27FC236}">
                <a16:creationId xmlns:a16="http://schemas.microsoft.com/office/drawing/2014/main" id="{A632DDD1-6654-469F-A12A-FBBD706D0914}"/>
              </a:ext>
            </a:extLst>
          </p:cNvPr>
          <p:cNvSpPr>
            <a:spLocks xmlns:a="http://schemas.openxmlformats.org/drawingml/2006/main" noGrp="1"/>
          </p:cNvSpPr>
          <p:nvPr/>
        </p:nvSpPr>
        <p:spPr>
          <a:xfrm xmlns:a="http://schemas.openxmlformats.org/drawingml/2006/main">
            <a:off x="8724900" y="2667000"/>
            <a:ext cx="26860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DejaVu Sans"/>
                <a:ea typeface="DejaVu Sans"/>
                <a:cs typeface="DejaVu Sans"/>
              </a:defRPr>
            </a:pPr>
            <a:r>
              <a:rPr sz="1575" b="0">
                <a:solidFill>
                  <a:srgbClr val="ADB8C5"/>
                </a:solidFill>
                <a:latin typeface="DejaVu Sans"/>
                <a:ea typeface="DejaVu Sans"/>
                <a:cs typeface="DejaVu Sans"/>
              </a:rPr>
              <a:t>report code-quality</a:t>
            </a:r>
          </a:p>
          <a:p xmlns:a="http://schemas.openxmlformats.org/drawingml/2006/main">
            <a:pPr algn="l">
              <a:defRPr sz="1575" b="0">
                <a:solidFill>
                  <a:srgbClr val="ADB8C5"/>
                </a:solidFill>
                <a:latin typeface="DejaVu Sans"/>
                <a:ea typeface="DejaVu Sans"/>
                <a:cs typeface="DejaVu Sans"/>
              </a:defRPr>
            </a:pPr>
            <a:r>
              <a:rPr sz="1575" b="0">
                <a:solidFill>
                  <a:srgbClr val="ADB8C5"/>
                </a:solidFill>
                <a:latin typeface="DejaVu Sans"/>
                <a:ea typeface="DejaVu Sans"/>
                <a:cs typeface="DejaVu Sans"/>
              </a:rPr>
              <a:t>improvement</a:t>
            </a:r>
          </a:p>
        </p:txBody>
      </p:sp>
      <p:sp>
        <p:nvSpPr>
          <p:cNvPr id="25" name="">
            <a:extLst xmlns:a="http://schemas.openxmlformats.org/drawingml/2006/main">
              <a:ext uri="{FF2B5EF4-FFF2-40B4-BE49-F238E27FC236}">
                <a16:creationId xmlns:a16="http://schemas.microsoft.com/office/drawing/2014/main" id="{AAFC766E-899F-4A96-810F-FB556037BD4E}"/>
              </a:ext>
            </a:extLst>
          </p:cNvPr>
          <p:cNvSpPr>
            <a:spLocks xmlns:a="http://schemas.openxmlformats.org/drawingml/2006/main" noGrp="1"/>
          </p:cNvSpPr>
          <p:nvPr/>
        </p:nvSpPr>
        <p:spPr>
          <a:xfrm xmlns:a="http://schemas.openxmlformats.org/drawingml/2006/main">
            <a:off x="5867400" y="3238500"/>
            <a:ext cx="5715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5B61C"/>
                </a:solidFill>
                <a:latin typeface="DejaVu Sans"/>
                <a:ea typeface="DejaVu Sans"/>
                <a:cs typeface="DejaVu Sans"/>
              </a:defRPr>
            </a:pPr>
            <a:r>
              <a:rPr sz="1500" b="0">
                <a:solidFill>
                  <a:srgbClr val="F5B61C"/>
                </a:solidFill>
                <a:latin typeface="DejaVu Sans"/>
                <a:ea typeface="DejaVu Sans"/>
                <a:cs typeface="DejaVu Sans"/>
              </a:rPr>
              <a:t>Self-reports. Adoption is also associated</a:t>
            </a:r>
          </a:p>
          <a:p xmlns:a="http://schemas.openxmlformats.org/drawingml/2006/main">
            <a:pPr algn="l">
              <a:defRPr sz="1500" b="0">
                <a:solidFill>
                  <a:srgbClr val="F5B61C"/>
                </a:solidFill>
                <a:latin typeface="DejaVu Sans"/>
                <a:ea typeface="DejaVu Sans"/>
                <a:cs typeface="DejaVu Sans"/>
              </a:defRPr>
            </a:pPr>
            <a:r>
              <a:rPr sz="1500" b="0">
                <a:solidFill>
                  <a:srgbClr val="F5B61C"/>
                </a:solidFill>
                <a:latin typeface="DejaVu Sans"/>
                <a:ea typeface="DejaVu Sans"/>
                <a:cs typeface="DejaVu Sans"/>
              </a:rPr>
              <a:t>with lower delivery stability.</a:t>
            </a:r>
          </a:p>
        </p:txBody>
      </p:sp>
      <p:sp>
        <p:nvSpPr>
          <p:cNvPr id="26" name="">
            <a:extLst xmlns:a="http://schemas.openxmlformats.org/drawingml/2006/main">
              <a:ext uri="{FF2B5EF4-FFF2-40B4-BE49-F238E27FC236}">
                <a16:creationId xmlns:a16="http://schemas.microsoft.com/office/drawing/2014/main" id="{723C02EF-757C-4C34-92AE-924CFCEF419F}"/>
              </a:ext>
            </a:extLst>
          </p:cNvPr>
          <p:cNvSpPr>
            <a:spLocks xmlns:a="http://schemas.openxmlformats.org/drawingml/2006/main" noGrp="1"/>
          </p:cNvSpPr>
          <p:nvPr/>
        </p:nvSpPr>
        <p:spPr>
          <a:xfrm xmlns:a="http://schemas.openxmlformats.org/drawingml/2006/main" flipH="0" flipV="0">
            <a:off x="5867400" y="3733800"/>
            <a:ext cx="57150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7" name="">
            <a:extLst xmlns:a="http://schemas.openxmlformats.org/drawingml/2006/main">
              <a:ext uri="{FF2B5EF4-FFF2-40B4-BE49-F238E27FC236}">
                <a16:creationId xmlns:a16="http://schemas.microsoft.com/office/drawing/2014/main" id="{39C821AE-E516-4C81-85EC-F2D26FC724EB}"/>
              </a:ext>
            </a:extLst>
          </p:cNvPr>
          <p:cNvSpPr>
            <a:spLocks xmlns:a="http://schemas.openxmlformats.org/drawingml/2006/main" noGrp="1"/>
          </p:cNvSpPr>
          <p:nvPr/>
        </p:nvSpPr>
        <p:spPr>
          <a:xfrm xmlns:a="http://schemas.openxmlformats.org/drawingml/2006/main">
            <a:off x="5867400" y="386715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DejaVu Sans"/>
                <a:ea typeface="DejaVu Sans"/>
                <a:cs typeface="DejaVu Sans"/>
              </a:defRPr>
            </a:pPr>
            <a:r>
              <a:rPr sz="1650" b="1">
                <a:solidFill>
                  <a:srgbClr val="28C7F7"/>
                </a:solidFill>
                <a:latin typeface="DejaVu Sans"/>
                <a:ea typeface="DejaVu Sans"/>
                <a:cs typeface="DejaVu Sans"/>
              </a:rPr>
              <a:t>GITCLEAR · JUN 2026</a:t>
            </a:r>
          </a:p>
        </p:txBody>
      </p:sp>
      <p:sp>
        <p:nvSpPr>
          <p:cNvPr id="28" name="">
            <a:extLst xmlns:a="http://schemas.openxmlformats.org/drawingml/2006/main">
              <a:ext uri="{FF2B5EF4-FFF2-40B4-BE49-F238E27FC236}">
                <a16:creationId xmlns:a16="http://schemas.microsoft.com/office/drawing/2014/main" id="{1954C17A-8EC1-4E50-842C-2F020A8D3041}"/>
              </a:ext>
            </a:extLst>
          </p:cNvPr>
          <p:cNvSpPr>
            <a:spLocks xmlns:a="http://schemas.openxmlformats.org/drawingml/2006/main" noGrp="1"/>
          </p:cNvSpPr>
          <p:nvPr/>
        </p:nvSpPr>
        <p:spPr>
          <a:xfrm xmlns:a="http://schemas.openxmlformats.org/drawingml/2006/main">
            <a:off x="5867400" y="4219575"/>
            <a:ext cx="5715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4F7FA"/>
                </a:solidFill>
                <a:latin typeface="DejaVu Sans"/>
                <a:ea typeface="DejaVu Sans"/>
                <a:cs typeface="DejaVu Sans"/>
              </a:defRPr>
            </a:pPr>
            <a:r>
              <a:rPr sz="2025" b="1">
                <a:solidFill>
                  <a:srgbClr val="F4F7FA"/>
                </a:solidFill>
                <a:latin typeface="DejaVu Sans"/>
                <a:ea typeface="DejaVu Sans"/>
                <a:cs typeface="DejaVu Sans"/>
              </a:rPr>
              <a:t>Moved-code share: 13% → 3.8%</a:t>
            </a:r>
          </a:p>
        </p:txBody>
      </p:sp>
      <p:sp>
        <p:nvSpPr>
          <p:cNvPr id="29" name="">
            <a:extLst xmlns:a="http://schemas.openxmlformats.org/drawingml/2006/main">
              <a:ext uri="{FF2B5EF4-FFF2-40B4-BE49-F238E27FC236}">
                <a16:creationId xmlns:a16="http://schemas.microsoft.com/office/drawing/2014/main" id="{7EFAC698-9BE1-481A-9C25-2F3E75D268AD}"/>
              </a:ext>
            </a:extLst>
          </p:cNvPr>
          <p:cNvSpPr>
            <a:spLocks xmlns:a="http://schemas.openxmlformats.org/drawingml/2006/main" noGrp="1"/>
          </p:cNvSpPr>
          <p:nvPr/>
        </p:nvSpPr>
        <p:spPr>
          <a:xfrm xmlns:a="http://schemas.openxmlformats.org/drawingml/2006/main">
            <a:off x="5867400" y="4591050"/>
            <a:ext cx="571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4F7FA"/>
                </a:solidFill>
                <a:latin typeface="DejaVu Sans"/>
                <a:ea typeface="DejaVu Sans"/>
                <a:cs typeface="DejaVu Sans"/>
              </a:defRPr>
            </a:pPr>
            <a:r>
              <a:rPr sz="2025" b="1">
                <a:solidFill>
                  <a:srgbClr val="F4F7FA"/>
                </a:solidFill>
                <a:latin typeface="DejaVu Sans"/>
                <a:ea typeface="DejaVu Sans"/>
                <a:cs typeface="DejaVu Sans"/>
              </a:rPr>
              <a:t>Duplicated blocks: +81%</a:t>
            </a:r>
          </a:p>
        </p:txBody>
      </p:sp>
      <p:sp>
        <p:nvSpPr>
          <p:cNvPr id="30" name="">
            <a:extLst xmlns:a="http://schemas.openxmlformats.org/drawingml/2006/main">
              <a:ext uri="{FF2B5EF4-FFF2-40B4-BE49-F238E27FC236}">
                <a16:creationId xmlns:a16="http://schemas.microsoft.com/office/drawing/2014/main" id="{A712DF09-64BD-4CBB-AACE-3636B1148EE6}"/>
              </a:ext>
            </a:extLst>
          </p:cNvPr>
          <p:cNvSpPr>
            <a:spLocks xmlns:a="http://schemas.openxmlformats.org/drawingml/2006/main" noGrp="1"/>
          </p:cNvSpPr>
          <p:nvPr/>
        </p:nvSpPr>
        <p:spPr>
          <a:xfrm xmlns:a="http://schemas.openxmlformats.org/drawingml/2006/main">
            <a:off x="5867400" y="4962525"/>
            <a:ext cx="5715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2023 vs YTD 2026. Reuse/refactoring proxy,</a:t>
            </a:r>
          </a:p>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not a count of refactoring tasks.</a:t>
            </a:r>
          </a:p>
        </p:txBody>
      </p:sp>
      <p:sp>
        <p:nvSpPr>
          <p:cNvPr id="31" name="">
            <a:extLst xmlns:a="http://schemas.openxmlformats.org/drawingml/2006/main">
              <a:ext uri="{FF2B5EF4-FFF2-40B4-BE49-F238E27FC236}">
                <a16:creationId xmlns:a16="http://schemas.microsoft.com/office/drawing/2014/main" id="{27660343-3E91-4D4F-9521-6A49D776CB43}"/>
              </a:ext>
            </a:extLst>
          </p:cNvPr>
          <p:cNvSpPr>
            <a:spLocks xmlns:a="http://schemas.openxmlformats.org/drawingml/2006/main" noGrp="1"/>
          </p:cNvSpPr>
          <p:nvPr/>
        </p:nvSpPr>
        <p:spPr>
          <a:xfrm xmlns:a="http://schemas.openxmlformats.org/drawingml/2006/main" flipH="0" flipV="0">
            <a:off x="5867400" y="5457825"/>
            <a:ext cx="57150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2" name="">
            <a:extLst xmlns:a="http://schemas.openxmlformats.org/drawingml/2006/main">
              <a:ext uri="{FF2B5EF4-FFF2-40B4-BE49-F238E27FC236}">
                <a16:creationId xmlns:a16="http://schemas.microsoft.com/office/drawing/2014/main" id="{30AE3C11-D8B3-43B9-8DDF-180E116F426F}"/>
              </a:ext>
            </a:extLst>
          </p:cNvPr>
          <p:cNvSpPr>
            <a:spLocks xmlns:a="http://schemas.openxmlformats.org/drawingml/2006/main" noGrp="1"/>
          </p:cNvSpPr>
          <p:nvPr/>
        </p:nvSpPr>
        <p:spPr>
          <a:xfrm xmlns:a="http://schemas.openxmlformats.org/drawingml/2006/main">
            <a:off x="5867400" y="5562600"/>
            <a:ext cx="2800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DejaVu Sans"/>
                <a:ea typeface="DejaVu Sans"/>
                <a:cs typeface="DejaVu Sans"/>
              </a:defRPr>
            </a:pPr>
            <a:r>
              <a:rPr sz="1500" b="1">
                <a:solidFill>
                  <a:srgbClr val="28C7F7"/>
                </a:solidFill>
                <a:latin typeface="DejaVu Sans"/>
                <a:ea typeface="DejaVu Sans"/>
                <a:cs typeface="DejaVu Sans"/>
              </a:rPr>
              <a:t>METR · MAY 2026</a:t>
            </a:r>
          </a:p>
        </p:txBody>
      </p:sp>
      <p:sp>
        <p:nvSpPr>
          <p:cNvPr id="33" name="">
            <a:extLst xmlns:a="http://schemas.openxmlformats.org/drawingml/2006/main">
              <a:ext uri="{FF2B5EF4-FFF2-40B4-BE49-F238E27FC236}">
                <a16:creationId xmlns:a16="http://schemas.microsoft.com/office/drawing/2014/main" id="{1CFE4651-F94B-4BA8-9359-B874CE6DD4FF}"/>
              </a:ext>
            </a:extLst>
          </p:cNvPr>
          <p:cNvSpPr>
            <a:spLocks xmlns:a="http://schemas.openxmlformats.org/drawingml/2006/main" noGrp="1"/>
          </p:cNvSpPr>
          <p:nvPr/>
        </p:nvSpPr>
        <p:spPr>
          <a:xfrm xmlns:a="http://schemas.openxmlformats.org/drawingml/2006/main">
            <a:off x="5867400" y="5819775"/>
            <a:ext cx="28003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1.4–2× work value</a:t>
            </a:r>
          </a:p>
        </p:txBody>
      </p:sp>
      <p:sp>
        <p:nvSpPr>
          <p:cNvPr id="34" name="">
            <a:extLst xmlns:a="http://schemas.openxmlformats.org/drawingml/2006/main">
              <a:ext uri="{FF2B5EF4-FFF2-40B4-BE49-F238E27FC236}">
                <a16:creationId xmlns:a16="http://schemas.microsoft.com/office/drawing/2014/main" id="{72B0BC0D-D80D-46D8-84DE-09089B92BF4D}"/>
              </a:ext>
            </a:extLst>
          </p:cNvPr>
          <p:cNvSpPr>
            <a:spLocks xmlns:a="http://schemas.openxmlformats.org/drawingml/2006/main" noGrp="1"/>
          </p:cNvSpPr>
          <p:nvPr/>
        </p:nvSpPr>
        <p:spPr>
          <a:xfrm xmlns:a="http://schemas.openxmlformats.org/drawingml/2006/main">
            <a:off x="5867400" y="6134100"/>
            <a:ext cx="2800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Median self-report; survey</a:t>
            </a:r>
          </a:p>
        </p:txBody>
      </p:sp>
      <p:sp>
        <p:nvSpPr>
          <p:cNvPr id="35" name="">
            <a:extLst xmlns:a="http://schemas.openxmlformats.org/drawingml/2006/main">
              <a:ext uri="{FF2B5EF4-FFF2-40B4-BE49-F238E27FC236}">
                <a16:creationId xmlns:a16="http://schemas.microsoft.com/office/drawing/2014/main" id="{A6C0A1EA-ED31-4C0D-AD41-8B69DA09A7DB}"/>
              </a:ext>
            </a:extLst>
          </p:cNvPr>
          <p:cNvSpPr>
            <a:spLocks xmlns:a="http://schemas.openxmlformats.org/drawingml/2006/main" noGrp="1"/>
          </p:cNvSpPr>
          <p:nvPr/>
        </p:nvSpPr>
        <p:spPr>
          <a:xfrm xmlns:a="http://schemas.openxmlformats.org/drawingml/2006/main">
            <a:off x="8782050" y="5562600"/>
            <a:ext cx="2800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DejaVu Sans"/>
                <a:ea typeface="DejaVu Sans"/>
                <a:cs typeface="DejaVu Sans"/>
              </a:defRPr>
            </a:pPr>
            <a:r>
              <a:rPr sz="1500" b="1">
                <a:solidFill>
                  <a:srgbClr val="28C7F7"/>
                </a:solidFill>
                <a:latin typeface="DejaVu Sans"/>
                <a:ea typeface="DejaVu Sans"/>
                <a:cs typeface="DejaVu Sans"/>
              </a:rPr>
              <a:t>XU + AGARWAL · 2026</a:t>
            </a:r>
          </a:p>
        </p:txBody>
      </p:sp>
      <p:sp>
        <p:nvSpPr>
          <p:cNvPr id="36" name="">
            <a:extLst xmlns:a="http://schemas.openxmlformats.org/drawingml/2006/main">
              <a:ext uri="{FF2B5EF4-FFF2-40B4-BE49-F238E27FC236}">
                <a16:creationId xmlns:a16="http://schemas.microsoft.com/office/drawing/2014/main" id="{52959990-82AD-4D34-BBA3-7100343C1A3A}"/>
              </a:ext>
            </a:extLst>
          </p:cNvPr>
          <p:cNvSpPr>
            <a:spLocks xmlns:a="http://schemas.openxmlformats.org/drawingml/2006/main" noGrp="1"/>
          </p:cNvSpPr>
          <p:nvPr/>
        </p:nvSpPr>
        <p:spPr>
          <a:xfrm xmlns:a="http://schemas.openxmlformats.org/drawingml/2006/main">
            <a:off x="8782050" y="5819775"/>
            <a:ext cx="28003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+35% / +43%</a:t>
            </a:r>
          </a:p>
        </p:txBody>
      </p:sp>
      <p:sp>
        <p:nvSpPr>
          <p:cNvPr id="37" name="">
            <a:extLst xmlns:a="http://schemas.openxmlformats.org/drawingml/2006/main">
              <a:ext uri="{FF2B5EF4-FFF2-40B4-BE49-F238E27FC236}">
                <a16:creationId xmlns:a16="http://schemas.microsoft.com/office/drawing/2014/main" id="{AFE9C197-CD42-45EA-A185-DDDA4735DCA4}"/>
              </a:ext>
            </a:extLst>
          </p:cNvPr>
          <p:cNvSpPr>
            <a:spLocks xmlns:a="http://schemas.openxmlformats.org/drawingml/2006/main" noGrp="1"/>
          </p:cNvSpPr>
          <p:nvPr/>
        </p:nvSpPr>
        <p:spPr>
          <a:xfrm xmlns:a="http://schemas.openxmlformats.org/drawingml/2006/main">
            <a:off x="8782050" y="6134100"/>
            <a:ext cx="2800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Agarwal: complexity proxy</a:t>
            </a:r>
          </a:p>
        </p:txBody>
      </p:sp>
      <p:sp>
        <p:nvSpPr>
          <p:cNvPr id="38" name="">
            <a:extLst xmlns:a="http://schemas.openxmlformats.org/drawingml/2006/main">
              <a:ext uri="{FF2B5EF4-FFF2-40B4-BE49-F238E27FC236}">
                <a16:creationId xmlns:a16="http://schemas.microsoft.com/office/drawing/2014/main" id="{84F96D58-F844-455F-BEF4-E767D8FFEEA8}"/>
              </a:ext>
            </a:extLst>
          </p:cNvPr>
          <p:cNvSpPr>
            <a:spLocks xmlns:a="http://schemas.openxmlformats.org/drawingml/2006/main" noGrp="1"/>
          </p:cNvSpPr>
          <p:nvPr/>
        </p:nvSpPr>
        <p:spPr>
          <a:xfrm xmlns:a="http://schemas.openxmlformats.org/drawingml/2006/main">
            <a:off x="609600" y="6448425"/>
            <a:ext cx="104298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F4F7FA"/>
                </a:solidFill>
                <a:latin typeface="DejaVu Sans"/>
                <a:ea typeface="DejaVu Sans"/>
                <a:cs typeface="DejaVu Sans"/>
              </a:defRPr>
            </a:pPr>
            <a:r>
              <a:rPr sz="1650" b="1">
                <a:solidFill>
                  <a:srgbClr val="F4F7FA"/>
                </a:solidFill>
                <a:latin typeface="DejaVu Sans"/>
                <a:ea typeface="DejaVu Sans"/>
                <a:cs typeface="DejaVu Sans"/>
              </a:rPr>
              <a:t>Code activity, delivery and user value are different outcomes.</a:t>
            </a:r>
          </a:p>
        </p:txBody>
      </p:sp>
    </p:spTree>
    <p:extLst>
      <p:ext uri="{BB962C8B-B14F-4D97-AF65-F5344CB8AC3E}">
        <p14:creationId xmlns:p14="http://schemas.microsoft.com/office/powerpoint/2010/main" val="1108874476"/>
      </p:ext>
    </p:extLst>
  </p:cSld>
</p:sld>
</file>

<file path=ppt/slides/slide5.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B40CA088-72F9-4438-B4A9-9DEF9F6C26BA}"/>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The New Scarcity Is Human Comprehension</a:t>
            </a:r>
          </a:p>
        </p:txBody>
      </p:sp>
      <p:sp>
        <p:nvSpPr>
          <p:cNvPr id="2" name="">
            <a:extLst xmlns:a="http://schemas.openxmlformats.org/drawingml/2006/main">
              <a:ext uri="{FF2B5EF4-FFF2-40B4-BE49-F238E27FC236}">
                <a16:creationId xmlns:a16="http://schemas.microsoft.com/office/drawing/2014/main" id="{93FB1217-2B58-4546-8DA7-7555A058A9B1}"/>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7B20EE35-8953-4491-B36F-1E1F48E0EC74}"/>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05</a:t>
            </a:r>
          </a:p>
        </p:txBody>
      </p:sp>
      <p:sp>
        <p:nvSpPr>
          <p:cNvPr id="4" name="">
            <a:extLst xmlns:a="http://schemas.openxmlformats.org/drawingml/2006/main">
              <a:ext uri="{FF2B5EF4-FFF2-40B4-BE49-F238E27FC236}">
                <a16:creationId xmlns:a16="http://schemas.microsoft.com/office/drawing/2014/main" id="{6A2E152F-FE48-40DD-991C-3F67D2BEC360}"/>
              </a:ext>
            </a:extLst>
          </p:cNvPr>
          <p:cNvSpPr>
            <a:spLocks xmlns:a="http://schemas.openxmlformats.org/drawingml/2006/main" noGrp="1"/>
          </p:cNvSpPr>
          <p:nvPr/>
        </p:nvSpPr>
        <p:spPr>
          <a:xfrm xmlns:a="http://schemas.openxmlformats.org/drawingml/2006/main" flipH="0" flipV="0">
            <a:off x="838200" y="4629150"/>
            <a:ext cx="67056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5" name="">
            <a:extLst xmlns:a="http://schemas.openxmlformats.org/drawingml/2006/main">
              <a:ext uri="{FF2B5EF4-FFF2-40B4-BE49-F238E27FC236}">
                <a16:creationId xmlns:a16="http://schemas.microsoft.com/office/drawing/2014/main" id="{893F7AD7-B96B-45D3-89F3-2FE0A588A725}"/>
              </a:ext>
            </a:extLst>
          </p:cNvPr>
          <p:cNvSpPr>
            <a:spLocks xmlns:a="http://schemas.openxmlformats.org/drawingml/2006/main" noGrp="1"/>
          </p:cNvSpPr>
          <p:nvPr/>
        </p:nvSpPr>
        <p:spPr>
          <a:xfrm xmlns:a="http://schemas.openxmlformats.org/drawingml/2006/main" flipH="0" flipV="1">
            <a:off x="838200" y="2114550"/>
            <a:ext cx="0" cy="251460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 name="">
            <a:extLst xmlns:a="http://schemas.openxmlformats.org/drawingml/2006/main">
              <a:ext uri="{FF2B5EF4-FFF2-40B4-BE49-F238E27FC236}">
                <a16:creationId xmlns:a16="http://schemas.microsoft.com/office/drawing/2014/main" id="{82923048-C34B-4691-81D7-51F737524349}"/>
              </a:ext>
            </a:extLst>
          </p:cNvPr>
          <p:cNvSpPr>
            <a:spLocks xmlns:a="http://schemas.openxmlformats.org/drawingml/2006/main" noGrp="1"/>
          </p:cNvSpPr>
          <p:nvPr/>
        </p:nvSpPr>
        <p:spPr>
          <a:xfrm xmlns:a="http://schemas.openxmlformats.org/drawingml/2006/main" flipH="0" flipV="1">
            <a:off x="952500" y="4200525"/>
            <a:ext cx="1333500" cy="266700"/>
          </a:xfrm>
          <a:prstGeom xmlns:a="http://schemas.openxmlformats.org/drawingml/2006/main" prst="line">
            <a:avLst/>
          </a:prstGeom>
          <a:noFill xmlns:a="http://schemas.openxmlformats.org/drawingml/2006/main"/>
          <a:ln xmlns:a="http://schemas.openxmlformats.org/drawingml/2006/main" w="38100">
            <a:solidFill>
              <a:srgbClr val="28C7F7"/>
            </a:solidFill>
            <a:prstDash val="solid"/>
          </a:ln>
        </p:spPr>
      </p:sp>
      <p:sp>
        <p:nvSpPr>
          <p:cNvPr id="7" name="">
            <a:extLst xmlns:a="http://schemas.openxmlformats.org/drawingml/2006/main">
              <a:ext uri="{FF2B5EF4-FFF2-40B4-BE49-F238E27FC236}">
                <a16:creationId xmlns:a16="http://schemas.microsoft.com/office/drawing/2014/main" id="{5F43168B-5B02-4F55-B45F-DC2D6C56053C}"/>
              </a:ext>
            </a:extLst>
          </p:cNvPr>
          <p:cNvSpPr>
            <a:spLocks xmlns:a="http://schemas.openxmlformats.org/drawingml/2006/main" noGrp="1"/>
          </p:cNvSpPr>
          <p:nvPr/>
        </p:nvSpPr>
        <p:spPr>
          <a:xfrm xmlns:a="http://schemas.openxmlformats.org/drawingml/2006/main" flipH="0" flipV="1">
            <a:off x="2286000" y="3695700"/>
            <a:ext cx="1428750" cy="504825"/>
          </a:xfrm>
          <a:prstGeom xmlns:a="http://schemas.openxmlformats.org/drawingml/2006/main" prst="line">
            <a:avLst/>
          </a:prstGeom>
          <a:noFill xmlns:a="http://schemas.openxmlformats.org/drawingml/2006/main"/>
          <a:ln xmlns:a="http://schemas.openxmlformats.org/drawingml/2006/main" w="38100">
            <a:solidFill>
              <a:srgbClr val="28C7F7"/>
            </a:solidFill>
            <a:prstDash val="solid"/>
          </a:ln>
        </p:spPr>
      </p:sp>
      <p:sp>
        <p:nvSpPr>
          <p:cNvPr id="8" name="">
            <a:extLst xmlns:a="http://schemas.openxmlformats.org/drawingml/2006/main">
              <a:ext uri="{FF2B5EF4-FFF2-40B4-BE49-F238E27FC236}">
                <a16:creationId xmlns:a16="http://schemas.microsoft.com/office/drawing/2014/main" id="{CF2CDA1D-CADA-4CF7-A762-A65A52A76BBE}"/>
              </a:ext>
            </a:extLst>
          </p:cNvPr>
          <p:cNvSpPr>
            <a:spLocks xmlns:a="http://schemas.openxmlformats.org/drawingml/2006/main" noGrp="1"/>
          </p:cNvSpPr>
          <p:nvPr/>
        </p:nvSpPr>
        <p:spPr>
          <a:xfrm xmlns:a="http://schemas.openxmlformats.org/drawingml/2006/main" flipH="0" flipV="1">
            <a:off x="3714750" y="2876550"/>
            <a:ext cx="1476375" cy="819150"/>
          </a:xfrm>
          <a:prstGeom xmlns:a="http://schemas.openxmlformats.org/drawingml/2006/main" prst="line">
            <a:avLst/>
          </a:prstGeom>
          <a:noFill xmlns:a="http://schemas.openxmlformats.org/drawingml/2006/main"/>
          <a:ln xmlns:a="http://schemas.openxmlformats.org/drawingml/2006/main" w="38100">
            <a:solidFill>
              <a:srgbClr val="28C7F7"/>
            </a:solidFill>
            <a:prstDash val="solid"/>
          </a:ln>
        </p:spPr>
      </p:sp>
      <p:sp>
        <p:nvSpPr>
          <p:cNvPr id="9" name="">
            <a:extLst xmlns:a="http://schemas.openxmlformats.org/drawingml/2006/main">
              <a:ext uri="{FF2B5EF4-FFF2-40B4-BE49-F238E27FC236}">
                <a16:creationId xmlns:a16="http://schemas.microsoft.com/office/drawing/2014/main" id="{7001DFAE-AA8E-4D7A-80BA-7143C923F2C5}"/>
              </a:ext>
            </a:extLst>
          </p:cNvPr>
          <p:cNvSpPr>
            <a:spLocks xmlns:a="http://schemas.openxmlformats.org/drawingml/2006/main" noGrp="1"/>
          </p:cNvSpPr>
          <p:nvPr/>
        </p:nvSpPr>
        <p:spPr>
          <a:xfrm xmlns:a="http://schemas.openxmlformats.org/drawingml/2006/main" flipH="0" flipV="1">
            <a:off x="5191125" y="2124075"/>
            <a:ext cx="1905000" cy="752475"/>
          </a:xfrm>
          <a:prstGeom xmlns:a="http://schemas.openxmlformats.org/drawingml/2006/main" prst="line">
            <a:avLst/>
          </a:prstGeom>
          <a:noFill xmlns:a="http://schemas.openxmlformats.org/drawingml/2006/main"/>
          <a:ln xmlns:a="http://schemas.openxmlformats.org/drawingml/2006/main" w="38100">
            <a:solidFill>
              <a:srgbClr val="28C7F7"/>
            </a:solidFill>
            <a:prstDash val="solid"/>
          </a:ln>
        </p:spPr>
      </p:sp>
      <p:sp>
        <p:nvSpPr>
          <p:cNvPr id="10" name="">
            <a:extLst xmlns:a="http://schemas.openxmlformats.org/drawingml/2006/main">
              <a:ext uri="{FF2B5EF4-FFF2-40B4-BE49-F238E27FC236}">
                <a16:creationId xmlns:a16="http://schemas.microsoft.com/office/drawing/2014/main" id="{38AB8372-2ACE-49DB-9B20-617DD4F29DA2}"/>
              </a:ext>
            </a:extLst>
          </p:cNvPr>
          <p:cNvSpPr>
            <a:spLocks xmlns:a="http://schemas.openxmlformats.org/drawingml/2006/main" noGrp="1"/>
          </p:cNvSpPr>
          <p:nvPr/>
        </p:nvSpPr>
        <p:spPr>
          <a:xfrm xmlns:a="http://schemas.openxmlformats.org/drawingml/2006/main" flipH="0" flipV="1">
            <a:off x="952500" y="4352925"/>
            <a:ext cx="1333500" cy="114300"/>
          </a:xfrm>
          <a:prstGeom xmlns:a="http://schemas.openxmlformats.org/drawingml/2006/main" prst="line">
            <a:avLst/>
          </a:prstGeom>
          <a:noFill xmlns:a="http://schemas.openxmlformats.org/drawingml/2006/main"/>
          <a:ln xmlns:a="http://schemas.openxmlformats.org/drawingml/2006/main" w="38100">
            <a:solidFill>
              <a:srgbClr val="F5B61C"/>
            </a:solidFill>
            <a:prstDash val="solid"/>
          </a:ln>
        </p:spPr>
      </p:sp>
      <p:sp>
        <p:nvSpPr>
          <p:cNvPr id="11" name="">
            <a:extLst xmlns:a="http://schemas.openxmlformats.org/drawingml/2006/main">
              <a:ext uri="{FF2B5EF4-FFF2-40B4-BE49-F238E27FC236}">
                <a16:creationId xmlns:a16="http://schemas.microsoft.com/office/drawing/2014/main" id="{A1B70A63-9AE7-4D4A-B363-F6ED5DFF5B09}"/>
              </a:ext>
            </a:extLst>
          </p:cNvPr>
          <p:cNvSpPr>
            <a:spLocks xmlns:a="http://schemas.openxmlformats.org/drawingml/2006/main" noGrp="1"/>
          </p:cNvSpPr>
          <p:nvPr/>
        </p:nvSpPr>
        <p:spPr>
          <a:xfrm xmlns:a="http://schemas.openxmlformats.org/drawingml/2006/main" flipH="0" flipV="1">
            <a:off x="2286000" y="4181475"/>
            <a:ext cx="1428750" cy="171450"/>
          </a:xfrm>
          <a:prstGeom xmlns:a="http://schemas.openxmlformats.org/drawingml/2006/main" prst="line">
            <a:avLst/>
          </a:prstGeom>
          <a:noFill xmlns:a="http://schemas.openxmlformats.org/drawingml/2006/main"/>
          <a:ln xmlns:a="http://schemas.openxmlformats.org/drawingml/2006/main" w="38100">
            <a:solidFill>
              <a:srgbClr val="F5B61C"/>
            </a:solidFill>
            <a:prstDash val="solid"/>
          </a:ln>
        </p:spPr>
      </p:sp>
      <p:sp>
        <p:nvSpPr>
          <p:cNvPr id="12" name="">
            <a:extLst xmlns:a="http://schemas.openxmlformats.org/drawingml/2006/main">
              <a:ext uri="{FF2B5EF4-FFF2-40B4-BE49-F238E27FC236}">
                <a16:creationId xmlns:a16="http://schemas.microsoft.com/office/drawing/2014/main" id="{8868DF8C-1708-4A97-97A2-EA68AF61FAAE}"/>
              </a:ext>
            </a:extLst>
          </p:cNvPr>
          <p:cNvSpPr>
            <a:spLocks xmlns:a="http://schemas.openxmlformats.org/drawingml/2006/main" noGrp="1"/>
          </p:cNvSpPr>
          <p:nvPr/>
        </p:nvSpPr>
        <p:spPr>
          <a:xfrm xmlns:a="http://schemas.openxmlformats.org/drawingml/2006/main" flipH="0" flipV="1">
            <a:off x="3714750" y="3943350"/>
            <a:ext cx="1476375" cy="238125"/>
          </a:xfrm>
          <a:prstGeom xmlns:a="http://schemas.openxmlformats.org/drawingml/2006/main" prst="line">
            <a:avLst/>
          </a:prstGeom>
          <a:noFill xmlns:a="http://schemas.openxmlformats.org/drawingml/2006/main"/>
          <a:ln xmlns:a="http://schemas.openxmlformats.org/drawingml/2006/main" w="38100">
            <a:solidFill>
              <a:srgbClr val="F5B61C"/>
            </a:solidFill>
            <a:prstDash val="solid"/>
          </a:ln>
        </p:spPr>
      </p:sp>
      <p:sp>
        <p:nvSpPr>
          <p:cNvPr id="13" name="">
            <a:extLst xmlns:a="http://schemas.openxmlformats.org/drawingml/2006/main">
              <a:ext uri="{FF2B5EF4-FFF2-40B4-BE49-F238E27FC236}">
                <a16:creationId xmlns:a16="http://schemas.microsoft.com/office/drawing/2014/main" id="{92AB5AE1-DB7B-4C8F-B6E9-E3BC58CD17C2}"/>
              </a:ext>
            </a:extLst>
          </p:cNvPr>
          <p:cNvSpPr>
            <a:spLocks xmlns:a="http://schemas.openxmlformats.org/drawingml/2006/main" noGrp="1"/>
          </p:cNvSpPr>
          <p:nvPr/>
        </p:nvSpPr>
        <p:spPr>
          <a:xfrm xmlns:a="http://schemas.openxmlformats.org/drawingml/2006/main" flipH="0" flipV="1">
            <a:off x="5191125" y="3667125"/>
            <a:ext cx="1905000" cy="276225"/>
          </a:xfrm>
          <a:prstGeom xmlns:a="http://schemas.openxmlformats.org/drawingml/2006/main" prst="line">
            <a:avLst/>
          </a:prstGeom>
          <a:noFill xmlns:a="http://schemas.openxmlformats.org/drawingml/2006/main"/>
          <a:ln xmlns:a="http://schemas.openxmlformats.org/drawingml/2006/main" w="38100">
            <a:solidFill>
              <a:srgbClr val="F5B61C"/>
            </a:solidFill>
            <a:prstDash val="solid"/>
          </a:ln>
        </p:spPr>
      </p:sp>
      <p:sp>
        <p:nvSpPr>
          <p:cNvPr id="14" name="">
            <a:extLst xmlns:a="http://schemas.openxmlformats.org/drawingml/2006/main">
              <a:ext uri="{FF2B5EF4-FFF2-40B4-BE49-F238E27FC236}">
                <a16:creationId xmlns:a16="http://schemas.microsoft.com/office/drawing/2014/main" id="{7C6D3483-14A0-4F9A-9C61-E7E539A6DAD3}"/>
              </a:ext>
            </a:extLst>
          </p:cNvPr>
          <p:cNvSpPr>
            <a:spLocks xmlns:a="http://schemas.openxmlformats.org/drawingml/2006/main" noGrp="1"/>
          </p:cNvSpPr>
          <p:nvPr/>
        </p:nvSpPr>
        <p:spPr>
          <a:xfrm xmlns:a="http://schemas.openxmlformats.org/drawingml/2006/main">
            <a:off x="1047750" y="1838325"/>
            <a:ext cx="6000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28C7F7"/>
                </a:solidFill>
                <a:latin typeface="DejaVu Sans"/>
                <a:ea typeface="DejaVu Sans"/>
                <a:cs typeface="DejaVu Sans"/>
              </a:defRPr>
            </a:pPr>
            <a:r>
              <a:rPr sz="1875" b="1">
                <a:solidFill>
                  <a:srgbClr val="28C7F7"/>
                </a:solidFill>
                <a:latin typeface="DejaVu Sans"/>
                <a:ea typeface="DejaVu Sans"/>
                <a:cs typeface="DejaVu Sans"/>
              </a:rPr>
              <a:t>Machine generation capacity</a:t>
            </a:r>
          </a:p>
        </p:txBody>
      </p:sp>
      <p:sp>
        <p:nvSpPr>
          <p:cNvPr id="15" name="">
            <a:extLst xmlns:a="http://schemas.openxmlformats.org/drawingml/2006/main">
              <a:ext uri="{FF2B5EF4-FFF2-40B4-BE49-F238E27FC236}">
                <a16:creationId xmlns:a16="http://schemas.microsoft.com/office/drawing/2014/main" id="{8FC9233F-2E64-449C-836E-6D760E87AC65}"/>
              </a:ext>
            </a:extLst>
          </p:cNvPr>
          <p:cNvSpPr>
            <a:spLocks xmlns:a="http://schemas.openxmlformats.org/drawingml/2006/main" noGrp="1"/>
          </p:cNvSpPr>
          <p:nvPr/>
        </p:nvSpPr>
        <p:spPr>
          <a:xfrm xmlns:a="http://schemas.openxmlformats.org/drawingml/2006/main">
            <a:off x="1028700" y="4781550"/>
            <a:ext cx="647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5B61C"/>
                </a:solidFill>
                <a:latin typeface="DejaVu Sans"/>
                <a:ea typeface="DejaVu Sans"/>
                <a:cs typeface="DejaVu Sans"/>
              </a:defRPr>
            </a:pPr>
            <a:r>
              <a:rPr sz="1725" b="0">
                <a:solidFill>
                  <a:srgbClr val="F5B61C"/>
                </a:solidFill>
                <a:latin typeface="DejaVu Sans"/>
                <a:ea typeface="DejaVu Sans"/>
                <a:cs typeface="DejaVu Sans"/>
              </a:rPr>
              <a:t>Human comprehension capacity</a:t>
            </a:r>
          </a:p>
        </p:txBody>
      </p:sp>
      <p:sp>
        <p:nvSpPr>
          <p:cNvPr id="16" name="">
            <a:extLst xmlns:a="http://schemas.openxmlformats.org/drawingml/2006/main">
              <a:ext uri="{FF2B5EF4-FFF2-40B4-BE49-F238E27FC236}">
                <a16:creationId xmlns:a16="http://schemas.microsoft.com/office/drawing/2014/main" id="{0DECC077-308D-44D1-85C6-BEB23B3545FA}"/>
              </a:ext>
            </a:extLst>
          </p:cNvPr>
          <p:cNvSpPr>
            <a:spLocks xmlns:a="http://schemas.openxmlformats.org/drawingml/2006/main" noGrp="1"/>
          </p:cNvSpPr>
          <p:nvPr/>
        </p:nvSpPr>
        <p:spPr>
          <a:xfrm xmlns:a="http://schemas.openxmlformats.org/drawingml/2006/main">
            <a:off x="5143500" y="2952750"/>
            <a:ext cx="2286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Potential</a:t>
            </a:r>
          </a:p>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comprehension gap</a:t>
            </a:r>
          </a:p>
        </p:txBody>
      </p:sp>
      <p:sp>
        <p:nvSpPr>
          <p:cNvPr id="17" name="">
            <a:extLst xmlns:a="http://schemas.openxmlformats.org/drawingml/2006/main">
              <a:ext uri="{FF2B5EF4-FFF2-40B4-BE49-F238E27FC236}">
                <a16:creationId xmlns:a16="http://schemas.microsoft.com/office/drawing/2014/main" id="{AAD6FE78-BE48-4CBD-AEBD-F9951F003AA3}"/>
              </a:ext>
            </a:extLst>
          </p:cNvPr>
          <p:cNvSpPr>
            <a:spLocks xmlns:a="http://schemas.openxmlformats.org/drawingml/2006/main" noGrp="1"/>
          </p:cNvSpPr>
          <p:nvPr/>
        </p:nvSpPr>
        <p:spPr>
          <a:xfrm xmlns:a="http://schemas.openxmlformats.org/drawingml/2006/main">
            <a:off x="8096250" y="2181225"/>
            <a:ext cx="3333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0">
                <a:solidFill>
                  <a:srgbClr val="ADB8C5"/>
                </a:solidFill>
                <a:latin typeface="DejaVu Sans"/>
                <a:ea typeface="DejaVu Sans"/>
                <a:cs typeface="DejaVu Sans"/>
              </a:defRPr>
            </a:pPr>
            <a:r>
              <a:rPr sz="2250" b="0">
                <a:solidFill>
                  <a:srgbClr val="ADB8C5"/>
                </a:solidFill>
                <a:latin typeface="DejaVu Sans"/>
                <a:ea typeface="DejaVu Sans"/>
                <a:cs typeface="DejaVu Sans"/>
              </a:rPr>
              <a:t>Can we generate it?</a:t>
            </a:r>
          </a:p>
        </p:txBody>
      </p:sp>
      <p:sp>
        <p:nvSpPr>
          <p:cNvPr id="18" name="">
            <a:extLst xmlns:a="http://schemas.openxmlformats.org/drawingml/2006/main">
              <a:ext uri="{FF2B5EF4-FFF2-40B4-BE49-F238E27FC236}">
                <a16:creationId xmlns:a16="http://schemas.microsoft.com/office/drawing/2014/main" id="{8823621C-E03C-4D10-B847-6CA8CD7A176C}"/>
              </a:ext>
            </a:extLst>
          </p:cNvPr>
          <p:cNvSpPr>
            <a:spLocks xmlns:a="http://schemas.openxmlformats.org/drawingml/2006/main" noGrp="1"/>
          </p:cNvSpPr>
          <p:nvPr/>
        </p:nvSpPr>
        <p:spPr>
          <a:xfrm xmlns:a="http://schemas.openxmlformats.org/drawingml/2006/main">
            <a:off x="8096250" y="3276600"/>
            <a:ext cx="3333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0">
                <a:solidFill>
                  <a:srgbClr val="ADB8C5"/>
                </a:solidFill>
                <a:latin typeface="DejaVu Sans"/>
                <a:ea typeface="DejaVu Sans"/>
                <a:cs typeface="DejaVu Sans"/>
              </a:defRPr>
            </a:pPr>
            <a:r>
              <a:rPr sz="2250" b="0">
                <a:solidFill>
                  <a:srgbClr val="ADB8C5"/>
                </a:solidFill>
                <a:latin typeface="DejaVu Sans"/>
                <a:ea typeface="DejaVu Sans"/>
                <a:cs typeface="DejaVu Sans"/>
              </a:rPr>
              <a:t>Can we review it?</a:t>
            </a:r>
          </a:p>
        </p:txBody>
      </p:sp>
      <p:sp>
        <p:nvSpPr>
          <p:cNvPr id="19" name="">
            <a:extLst xmlns:a="http://schemas.openxmlformats.org/drawingml/2006/main">
              <a:ext uri="{FF2B5EF4-FFF2-40B4-BE49-F238E27FC236}">
                <a16:creationId xmlns:a16="http://schemas.microsoft.com/office/drawing/2014/main" id="{D3D52316-0886-4924-B655-1A4671FFD557}"/>
              </a:ext>
            </a:extLst>
          </p:cNvPr>
          <p:cNvSpPr>
            <a:spLocks xmlns:a="http://schemas.openxmlformats.org/drawingml/2006/main" noGrp="1"/>
          </p:cNvSpPr>
          <p:nvPr/>
        </p:nvSpPr>
        <p:spPr>
          <a:xfrm xmlns:a="http://schemas.openxmlformats.org/drawingml/2006/main">
            <a:off x="8096250" y="4371975"/>
            <a:ext cx="3333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DejaVu Sans"/>
                <a:ea typeface="DejaVu Sans"/>
                <a:cs typeface="DejaVu Sans"/>
              </a:defRPr>
            </a:pPr>
            <a:r>
              <a:rPr sz="2250" b="1">
                <a:solidFill>
                  <a:srgbClr val="F4F7FA"/>
                </a:solidFill>
                <a:latin typeface="DejaVu Sans"/>
                <a:ea typeface="DejaVu Sans"/>
                <a:cs typeface="DejaVu Sans"/>
              </a:rPr>
              <a:t>Can we own it for 5 years?</a:t>
            </a:r>
          </a:p>
        </p:txBody>
      </p:sp>
      <p:sp>
        <p:nvSpPr>
          <p:cNvPr id="20" name="">
            <a:extLst xmlns:a="http://schemas.openxmlformats.org/drawingml/2006/main">
              <a:ext uri="{FF2B5EF4-FFF2-40B4-BE49-F238E27FC236}">
                <a16:creationId xmlns:a16="http://schemas.microsoft.com/office/drawing/2014/main" id="{123F3C71-C80D-42EE-BE66-9FEE17708501}"/>
              </a:ext>
            </a:extLst>
          </p:cNvPr>
          <p:cNvSpPr>
            <a:spLocks xmlns:a="http://schemas.openxmlformats.org/drawingml/2006/main" noGrp="1"/>
          </p:cNvSpPr>
          <p:nvPr/>
        </p:nvSpPr>
        <p:spPr>
          <a:xfrm xmlns:a="http://schemas.openxmlformats.org/drawingml/2006/main">
            <a:off x="838200" y="5257800"/>
            <a:ext cx="1038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DejaVu Sans"/>
                <a:ea typeface="DejaVu Sans"/>
                <a:cs typeface="DejaVu Sans"/>
              </a:defRPr>
            </a:pPr>
            <a:r>
              <a:rPr sz="1575" b="0">
                <a:solidFill>
                  <a:srgbClr val="ADB8C5"/>
                </a:solidFill>
                <a:latin typeface="DejaVu Sans"/>
                <a:ea typeface="DejaVu Sans"/>
                <a:cs typeface="DejaVu Sans"/>
              </a:rPr>
              <a:t>Conceptual illustration; not measured trend data.</a:t>
            </a:r>
          </a:p>
        </p:txBody>
      </p:sp>
      <p:sp>
        <p:nvSpPr>
          <p:cNvPr id="21" name="">
            <a:extLst xmlns:a="http://schemas.openxmlformats.org/drawingml/2006/main">
              <a:ext uri="{FF2B5EF4-FFF2-40B4-BE49-F238E27FC236}">
                <a16:creationId xmlns:a16="http://schemas.microsoft.com/office/drawing/2014/main" id="{D93F72EB-463C-4F0E-A26C-BD20D3ECA439}"/>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2" name="">
            <a:extLst xmlns:a="http://schemas.openxmlformats.org/drawingml/2006/main">
              <a:ext uri="{FF2B5EF4-FFF2-40B4-BE49-F238E27FC236}">
                <a16:creationId xmlns:a16="http://schemas.microsoft.com/office/drawing/2014/main" id="{DEB6B3A4-5222-44C3-BDE9-E488B9526482}"/>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Generation scales differently from comprehension.</a:t>
            </a:r>
          </a:p>
        </p:txBody>
      </p:sp>
    </p:spTree>
    <p:extLst>
      <p:ext uri="{BB962C8B-B14F-4D97-AF65-F5344CB8AC3E}">
        <p14:creationId xmlns:p14="http://schemas.microsoft.com/office/powerpoint/2010/main" val="1175337324"/>
      </p:ext>
    </p:extLst>
  </p:cSld>
</p:sld>
</file>

<file path=ppt/slides/slide6.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1B1C7D43-C5FA-4027-862F-180AC1955E87}"/>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The Team Is the Last Line of Defense</a:t>
            </a:r>
          </a:p>
        </p:txBody>
      </p:sp>
      <p:sp>
        <p:nvSpPr>
          <p:cNvPr id="2" name="">
            <a:extLst xmlns:a="http://schemas.openxmlformats.org/drawingml/2006/main">
              <a:ext uri="{FF2B5EF4-FFF2-40B4-BE49-F238E27FC236}">
                <a16:creationId xmlns:a16="http://schemas.microsoft.com/office/drawing/2014/main" id="{15EC291D-6E2D-47DD-9163-BFD1C849A502}"/>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216FB1CB-2640-4C7B-899E-F33EDFCB4130}"/>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06</a:t>
            </a:r>
          </a:p>
        </p:txBody>
      </p:sp>
      <p:sp>
        <p:nvSpPr>
          <p:cNvPr id="4" name="">
            <a:extLst xmlns:a="http://schemas.openxmlformats.org/drawingml/2006/main">
              <a:ext uri="{FF2B5EF4-FFF2-40B4-BE49-F238E27FC236}">
                <a16:creationId xmlns:a16="http://schemas.microsoft.com/office/drawing/2014/main" id="{5EB4C98B-726F-4F44-97CE-3B00DB3A07BC}"/>
              </a:ext>
            </a:extLst>
          </p:cNvPr>
          <p:cNvSpPr>
            <a:spLocks xmlns:a="http://schemas.openxmlformats.org/drawingml/2006/main" noGrp="1"/>
          </p:cNvSpPr>
          <p:nvPr/>
        </p:nvSpPr>
        <p:spPr>
          <a:xfrm xmlns:a="http://schemas.openxmlformats.org/drawingml/2006/main">
            <a:off x="609600" y="2114550"/>
            <a:ext cx="6667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550" b="0">
                <a:solidFill>
                  <a:srgbClr val="F4F7FA"/>
                </a:solidFill>
                <a:latin typeface="DejaVu Sans"/>
                <a:ea typeface="DejaVu Sans"/>
                <a:cs typeface="DejaVu Sans"/>
              </a:defRPr>
            </a:pPr>
            <a:r>
              <a:rPr sz="2550" b="0">
                <a:solidFill>
                  <a:srgbClr val="F4F7FA"/>
                </a:solidFill>
                <a:latin typeface="DejaVu Sans"/>
                <a:ea typeface="DejaVu Sans"/>
                <a:cs typeface="DejaVu Sans"/>
              </a:rPr>
              <a:t>Production is down.</a:t>
            </a:r>
          </a:p>
        </p:txBody>
      </p:sp>
      <p:sp>
        <p:nvSpPr>
          <p:cNvPr id="5" name="">
            <a:extLst xmlns:a="http://schemas.openxmlformats.org/drawingml/2006/main">
              <a:ext uri="{FF2B5EF4-FFF2-40B4-BE49-F238E27FC236}">
                <a16:creationId xmlns:a16="http://schemas.microsoft.com/office/drawing/2014/main" id="{BE49E7EA-D252-420D-BED0-8F016D89A50D}"/>
              </a:ext>
            </a:extLst>
          </p:cNvPr>
          <p:cNvSpPr>
            <a:spLocks xmlns:a="http://schemas.openxmlformats.org/drawingml/2006/main" noGrp="1"/>
          </p:cNvSpPr>
          <p:nvPr/>
        </p:nvSpPr>
        <p:spPr>
          <a:xfrm xmlns:a="http://schemas.openxmlformats.org/drawingml/2006/main">
            <a:off x="609600" y="2857500"/>
            <a:ext cx="6667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550" b="0">
                <a:solidFill>
                  <a:srgbClr val="F4F7FA"/>
                </a:solidFill>
                <a:latin typeface="DejaVu Sans"/>
                <a:ea typeface="DejaVu Sans"/>
                <a:cs typeface="DejaVu Sans"/>
              </a:defRPr>
            </a:pPr>
            <a:r>
              <a:rPr sz="2550" b="0">
                <a:solidFill>
                  <a:srgbClr val="F4F7FA"/>
                </a:solidFill>
                <a:latin typeface="DejaVu Sans"/>
                <a:ea typeface="DejaVu Sans"/>
                <a:cs typeface="DejaVu Sans"/>
              </a:rPr>
              <a:t>Three agent fixes fail.</a:t>
            </a:r>
          </a:p>
        </p:txBody>
      </p:sp>
      <p:sp>
        <p:nvSpPr>
          <p:cNvPr id="6" name="">
            <a:extLst xmlns:a="http://schemas.openxmlformats.org/drawingml/2006/main">
              <a:ext uri="{FF2B5EF4-FFF2-40B4-BE49-F238E27FC236}">
                <a16:creationId xmlns:a16="http://schemas.microsoft.com/office/drawing/2014/main" id="{77BC3590-C8BF-4CE3-9FF0-6168BF202F9B}"/>
              </a:ext>
            </a:extLst>
          </p:cNvPr>
          <p:cNvSpPr>
            <a:spLocks xmlns:a="http://schemas.openxmlformats.org/drawingml/2006/main" noGrp="1"/>
          </p:cNvSpPr>
          <p:nvPr/>
        </p:nvSpPr>
        <p:spPr>
          <a:xfrm xmlns:a="http://schemas.openxmlformats.org/drawingml/2006/main">
            <a:off x="609600" y="3600450"/>
            <a:ext cx="6667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600" b="1">
                <a:solidFill>
                  <a:srgbClr val="F5B61C"/>
                </a:solidFill>
                <a:latin typeface="DejaVu Sans"/>
                <a:ea typeface="DejaVu Sans"/>
                <a:cs typeface="DejaVu Sans"/>
              </a:defRPr>
            </a:pPr>
            <a:r>
              <a:rPr sz="3600" b="1">
                <a:solidFill>
                  <a:srgbClr val="F5B61C"/>
                </a:solidFill>
                <a:latin typeface="DejaVu Sans"/>
                <a:ea typeface="DejaVu Sans"/>
                <a:cs typeface="DejaVu Sans"/>
              </a:rPr>
              <a:t>Now what?</a:t>
            </a:r>
          </a:p>
        </p:txBody>
      </p:sp>
      <p:sp>
        <p:nvSpPr>
          <p:cNvPr id="7" name="">
            <a:extLst xmlns:a="http://schemas.openxmlformats.org/drawingml/2006/main">
              <a:ext uri="{FF2B5EF4-FFF2-40B4-BE49-F238E27FC236}">
                <a16:creationId xmlns:a16="http://schemas.microsoft.com/office/drawing/2014/main" id="{44B5E77B-E345-4FFB-80B5-98E079F62053}"/>
              </a:ext>
            </a:extLst>
          </p:cNvPr>
          <p:cNvSpPr>
            <a:spLocks xmlns:a="http://schemas.openxmlformats.org/drawingml/2006/main" noGrp="1"/>
          </p:cNvSpPr>
          <p:nvPr/>
        </p:nvSpPr>
        <p:spPr>
          <a:xfrm xmlns:a="http://schemas.openxmlformats.org/drawingml/2006/main">
            <a:off x="8667750" y="2057400"/>
            <a:ext cx="2667000" cy="704850"/>
          </a:xfrm>
          <a:prstGeom xmlns:a="http://schemas.openxmlformats.org/drawingml/2006/main" prst="rect">
            <a:avLst/>
          </a:prstGeom>
          <a:solidFill xmlns:a="http://schemas.openxmlformats.org/drawingml/2006/main">
            <a:srgbClr val="141C26"/>
          </a:solidFill>
          <a:ln xmlns:a="http://schemas.openxmlformats.org/drawingml/2006/main" w="14288">
            <a:solidFill>
              <a:srgbClr val="FF6B75"/>
            </a:solidFill>
            <a:prstDash val="solid"/>
          </a:ln>
        </p:spPr>
      </p:sp>
      <p:sp>
        <p:nvSpPr>
          <p:cNvPr id="8" name="">
            <a:extLst xmlns:a="http://schemas.openxmlformats.org/drawingml/2006/main">
              <a:ext uri="{FF2B5EF4-FFF2-40B4-BE49-F238E27FC236}">
                <a16:creationId xmlns:a16="http://schemas.microsoft.com/office/drawing/2014/main" id="{2CF45533-F693-4152-AFD5-D6861A97D357}"/>
              </a:ext>
            </a:extLst>
          </p:cNvPr>
          <p:cNvSpPr>
            <a:spLocks xmlns:a="http://schemas.openxmlformats.org/drawingml/2006/main" noGrp="1"/>
          </p:cNvSpPr>
          <p:nvPr/>
        </p:nvSpPr>
        <p:spPr>
          <a:xfrm xmlns:a="http://schemas.openxmlformats.org/drawingml/2006/main">
            <a:off x="8782050" y="2133600"/>
            <a:ext cx="2438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AI AGENT</a:t>
            </a:r>
          </a:p>
        </p:txBody>
      </p:sp>
      <p:sp>
        <p:nvSpPr>
          <p:cNvPr id="9" name="">
            <a:extLst xmlns:a="http://schemas.openxmlformats.org/drawingml/2006/main">
              <a:ext uri="{FF2B5EF4-FFF2-40B4-BE49-F238E27FC236}">
                <a16:creationId xmlns:a16="http://schemas.microsoft.com/office/drawing/2014/main" id="{F2B6D82C-A694-47F5-9261-4E4DFED9589C}"/>
              </a:ext>
            </a:extLst>
          </p:cNvPr>
          <p:cNvSpPr>
            <a:spLocks xmlns:a="http://schemas.openxmlformats.org/drawingml/2006/main" noGrp="1"/>
          </p:cNvSpPr>
          <p:nvPr/>
        </p:nvSpPr>
        <p:spPr>
          <a:xfrm xmlns:a="http://schemas.openxmlformats.org/drawingml/2006/main">
            <a:off x="8667750" y="3676650"/>
            <a:ext cx="2667000" cy="74295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0" name="">
            <a:extLst xmlns:a="http://schemas.openxmlformats.org/drawingml/2006/main">
              <a:ext uri="{FF2B5EF4-FFF2-40B4-BE49-F238E27FC236}">
                <a16:creationId xmlns:a16="http://schemas.microsoft.com/office/drawing/2014/main" id="{F39040DF-4D6A-4E0A-BB10-C4E19A08B0E5}"/>
              </a:ext>
            </a:extLst>
          </p:cNvPr>
          <p:cNvSpPr>
            <a:spLocks xmlns:a="http://schemas.openxmlformats.org/drawingml/2006/main" noGrp="1"/>
          </p:cNvSpPr>
          <p:nvPr/>
        </p:nvSpPr>
        <p:spPr>
          <a:xfrm xmlns:a="http://schemas.openxmlformats.org/drawingml/2006/main">
            <a:off x="8782050" y="3752850"/>
            <a:ext cx="2438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50" b="1">
                <a:solidFill>
                  <a:srgbClr val="F4F7FA"/>
                </a:solidFill>
                <a:latin typeface="DejaVu Sans"/>
                <a:ea typeface="DejaVu Sans"/>
                <a:cs typeface="DejaVu Sans"/>
              </a:defRPr>
            </a:pPr>
            <a:r>
              <a:rPr sz="2550" b="1">
                <a:solidFill>
                  <a:srgbClr val="F4F7FA"/>
                </a:solidFill>
                <a:latin typeface="DejaVu Sans"/>
                <a:ea typeface="DejaVu Sans"/>
                <a:cs typeface="DejaVu Sans"/>
              </a:rPr>
              <a:t>TEAM</a:t>
            </a:r>
          </a:p>
        </p:txBody>
      </p:sp>
      <p:cxnSp>
        <p:nvCxnSpPr>
          <p:cNvPr id="30" name=""/>
          <p:cNvCxnSpPr>
            <a:stCxn xmlns:a="http://schemas.openxmlformats.org/drawingml/2006/main" id="7" idx="2"/>
            <a:endCxn xmlns:a="http://schemas.openxmlformats.org/drawingml/2006/main" id="9" idx="0"/>
          </p:cNvCxnSpPr>
          <p:nvPr/>
        </p:nvCxnSpPr>
        <p:spPr>
          <a:xfrm xmlns:a="http://schemas.openxmlformats.org/drawingml/2006/main">
            <a:off x="10001250" y="2762250"/>
            <a:ext cx="0" cy="91440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sp>
        <p:nvSpPr>
          <p:cNvPr id="12" name="">
            <a:extLst xmlns:a="http://schemas.openxmlformats.org/drawingml/2006/main">
              <a:ext uri="{FF2B5EF4-FFF2-40B4-BE49-F238E27FC236}">
                <a16:creationId xmlns:a16="http://schemas.microsoft.com/office/drawing/2014/main" id="{055D59F3-4CB7-453E-BFEC-D26FA49726B6}"/>
              </a:ext>
            </a:extLst>
          </p:cNvPr>
          <p:cNvSpPr>
            <a:spLocks xmlns:a="http://schemas.openxmlformats.org/drawingml/2006/main" noGrp="1"/>
          </p:cNvSpPr>
          <p:nvPr/>
        </p:nvSpPr>
        <p:spPr>
          <a:xfrm xmlns:a="http://schemas.openxmlformats.org/drawingml/2006/main">
            <a:off x="7410450" y="2933700"/>
            <a:ext cx="2095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DejaVu Sans"/>
                <a:ea typeface="DejaVu Sans"/>
                <a:cs typeface="DejaVu Sans"/>
              </a:defRPr>
            </a:pPr>
            <a:r>
              <a:rPr sz="1725" b="0">
                <a:solidFill>
                  <a:srgbClr val="ADB8C5"/>
                </a:solidFill>
                <a:latin typeface="DejaVu Sans"/>
                <a:ea typeface="DejaVu Sans"/>
                <a:cs typeface="DejaVu Sans"/>
              </a:rPr>
              <a:t>Recovery</a:t>
            </a:r>
          </a:p>
          <a:p xmlns:a="http://schemas.openxmlformats.org/drawingml/2006/main">
            <a:pPr algn="l">
              <a:defRPr sz="1725" b="0">
                <a:solidFill>
                  <a:srgbClr val="ADB8C5"/>
                </a:solidFill>
                <a:latin typeface="DejaVu Sans"/>
                <a:ea typeface="DejaVu Sans"/>
                <a:cs typeface="DejaVu Sans"/>
              </a:defRPr>
            </a:pPr>
            <a:r>
              <a:rPr sz="1725" b="0">
                <a:solidFill>
                  <a:srgbClr val="ADB8C5"/>
                </a:solidFill>
                <a:latin typeface="DejaVu Sans"/>
                <a:ea typeface="DejaVu Sans"/>
                <a:cs typeface="DejaVu Sans"/>
              </a:rPr>
              <a:t>fails</a:t>
            </a:r>
          </a:p>
        </p:txBody>
      </p:sp>
      <p:sp>
        <p:nvSpPr>
          <p:cNvPr id="13" name="">
            <a:extLst xmlns:a="http://schemas.openxmlformats.org/drawingml/2006/main">
              <a:ext uri="{FF2B5EF4-FFF2-40B4-BE49-F238E27FC236}">
                <a16:creationId xmlns:a16="http://schemas.microsoft.com/office/drawing/2014/main" id="{10704EBE-CB90-44DD-884C-578B005E2C98}"/>
              </a:ext>
            </a:extLst>
          </p:cNvPr>
          <p:cNvSpPr>
            <a:spLocks xmlns:a="http://schemas.openxmlformats.org/drawingml/2006/main" noGrp="1"/>
          </p:cNvSpPr>
          <p:nvPr/>
        </p:nvSpPr>
        <p:spPr>
          <a:xfrm xmlns:a="http://schemas.openxmlformats.org/drawingml/2006/main">
            <a:off x="609600" y="4371975"/>
            <a:ext cx="5810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Hypothetical incident</a:t>
            </a:r>
          </a:p>
        </p:txBody>
      </p:sp>
      <p:sp>
        <p:nvSpPr>
          <p:cNvPr id="14" name="">
            <a:extLst xmlns:a="http://schemas.openxmlformats.org/drawingml/2006/main">
              <a:ext uri="{FF2B5EF4-FFF2-40B4-BE49-F238E27FC236}">
                <a16:creationId xmlns:a16="http://schemas.microsoft.com/office/drawing/2014/main" id="{109081F5-483D-4BF7-A24A-AB3F10498A53}"/>
              </a:ext>
            </a:extLst>
          </p:cNvPr>
          <p:cNvSpPr>
            <a:spLocks xmlns:a="http://schemas.openxmlformats.org/drawingml/2006/main" noGrp="1"/>
          </p:cNvSpPr>
          <p:nvPr/>
        </p:nvSpPr>
        <p:spPr>
          <a:xfrm xmlns:a="http://schemas.openxmlformats.org/drawingml/2006/main">
            <a:off x="609600" y="4876800"/>
            <a:ext cx="11239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F5B61C"/>
                </a:solidFill>
                <a:latin typeface="DejaVu Sans"/>
                <a:ea typeface="DejaVu Sans"/>
                <a:cs typeface="DejaVu Sans"/>
              </a:defRPr>
            </a:pPr>
            <a:r>
              <a:rPr sz="1650" b="1">
                <a:solidFill>
                  <a:srgbClr val="F5B61C"/>
                </a:solidFill>
                <a:latin typeface="DejaVu Sans"/>
                <a:ea typeface="DejaVu Sans"/>
                <a:cs typeface="DejaVu Sans"/>
              </a:rPr>
              <a:t>Watch</a:t>
            </a:r>
          </a:p>
        </p:txBody>
      </p:sp>
      <p:sp>
        <p:nvSpPr>
          <p:cNvPr id="15" name="">
            <a:extLst xmlns:a="http://schemas.openxmlformats.org/drawingml/2006/main">
              <a:ext uri="{FF2B5EF4-FFF2-40B4-BE49-F238E27FC236}">
                <a16:creationId xmlns:a16="http://schemas.microsoft.com/office/drawing/2014/main" id="{394C9C06-1334-468E-A3BB-D873AD6B106E}"/>
              </a:ext>
            </a:extLst>
          </p:cNvPr>
          <p:cNvSpPr>
            <a:spLocks xmlns:a="http://schemas.openxmlformats.org/drawingml/2006/main" noGrp="1"/>
          </p:cNvSpPr>
          <p:nvPr/>
        </p:nvSpPr>
        <p:spPr>
          <a:xfrm xmlns:a="http://schemas.openxmlformats.org/drawingml/2006/main">
            <a:off x="1866900" y="4772025"/>
            <a:ext cx="96583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DejaVu Sans"/>
                <a:ea typeface="DejaVu Sans"/>
                <a:cs typeface="DejaVu Sans"/>
              </a:defRPr>
            </a:pPr>
            <a:r>
              <a:rPr sz="1725" b="0">
                <a:solidFill>
                  <a:srgbClr val="ADB8C5"/>
                </a:solidFill>
                <a:latin typeface="DejaVu Sans"/>
                <a:ea typeface="DejaVu Sans"/>
                <a:cs typeface="DejaVu Sans"/>
              </a:rPr>
              <a:t>Complexity / volume / duplication / reuse / ownership / comprehension</a:t>
            </a:r>
          </a:p>
        </p:txBody>
      </p:sp>
      <p:sp>
        <p:nvSpPr>
          <p:cNvPr id="16" name="">
            <a:extLst xmlns:a="http://schemas.openxmlformats.org/drawingml/2006/main">
              <a:ext uri="{FF2B5EF4-FFF2-40B4-BE49-F238E27FC236}">
                <a16:creationId xmlns:a16="http://schemas.microsoft.com/office/drawing/2014/main" id="{3309F5A2-D34B-4283-BAD9-98B338E823FD}"/>
              </a:ext>
            </a:extLst>
          </p:cNvPr>
          <p:cNvSpPr>
            <a:spLocks xmlns:a="http://schemas.openxmlformats.org/drawingml/2006/main" noGrp="1"/>
          </p:cNvSpPr>
          <p:nvPr/>
        </p:nvSpPr>
        <p:spPr>
          <a:xfrm xmlns:a="http://schemas.openxmlformats.org/drawingml/2006/main">
            <a:off x="609600" y="5353050"/>
            <a:ext cx="11239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DejaVu Sans"/>
                <a:ea typeface="DejaVu Sans"/>
                <a:cs typeface="DejaVu Sans"/>
              </a:defRPr>
            </a:pPr>
            <a:r>
              <a:rPr sz="1650" b="1">
                <a:solidFill>
                  <a:srgbClr val="28C7F7"/>
                </a:solidFill>
                <a:latin typeface="DejaVu Sans"/>
                <a:ea typeface="DejaVu Sans"/>
                <a:cs typeface="DejaVu Sans"/>
              </a:rPr>
              <a:t>Explore</a:t>
            </a:r>
          </a:p>
        </p:txBody>
      </p:sp>
      <p:sp>
        <p:nvSpPr>
          <p:cNvPr id="17" name="">
            <a:extLst xmlns:a="http://schemas.openxmlformats.org/drawingml/2006/main">
              <a:ext uri="{FF2B5EF4-FFF2-40B4-BE49-F238E27FC236}">
                <a16:creationId xmlns:a16="http://schemas.microsoft.com/office/drawing/2014/main" id="{8CD652D2-E76A-4641-B4C1-7AC9B7A4FDF2}"/>
              </a:ext>
            </a:extLst>
          </p:cNvPr>
          <p:cNvSpPr>
            <a:spLocks xmlns:a="http://schemas.openxmlformats.org/drawingml/2006/main" noGrp="1"/>
          </p:cNvSpPr>
          <p:nvPr/>
        </p:nvSpPr>
        <p:spPr>
          <a:xfrm xmlns:a="http://schemas.openxmlformats.org/drawingml/2006/main">
            <a:off x="1866900" y="5248275"/>
            <a:ext cx="96583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DejaVu Sans"/>
                <a:ea typeface="DejaVu Sans"/>
                <a:cs typeface="DejaVu Sans"/>
              </a:defRPr>
            </a:pPr>
            <a:r>
              <a:rPr sz="1725" b="0">
                <a:solidFill>
                  <a:srgbClr val="ADB8C5"/>
                </a:solidFill>
                <a:latin typeface="DejaVu Sans"/>
                <a:ea typeface="DejaVu Sans"/>
                <a:cs typeface="DejaVu Sans"/>
              </a:rPr>
              <a:t>SDD / living architecture docs / code + docs / repository intelligence</a:t>
            </a:r>
          </a:p>
        </p:txBody>
      </p:sp>
      <p:sp>
        <p:nvSpPr>
          <p:cNvPr id="18" name="">
            <a:extLst xmlns:a="http://schemas.openxmlformats.org/drawingml/2006/main">
              <a:ext uri="{FF2B5EF4-FFF2-40B4-BE49-F238E27FC236}">
                <a16:creationId xmlns:a16="http://schemas.microsoft.com/office/drawing/2014/main" id="{6349E69B-F99A-4968-B01C-03471FE305C8}"/>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9" name="">
            <a:extLst xmlns:a="http://schemas.openxmlformats.org/drawingml/2006/main">
              <a:ext uri="{FF2B5EF4-FFF2-40B4-BE49-F238E27FC236}">
                <a16:creationId xmlns:a16="http://schemas.microsoft.com/office/drawing/2014/main" id="{1F00F072-1084-485E-A9A0-29DCF34BB043}"/>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If AI cannot recover the system, the team still must.</a:t>
            </a:r>
          </a:p>
        </p:txBody>
      </p:sp>
    </p:spTree>
    <p:extLst>
      <p:ext uri="{BB962C8B-B14F-4D97-AF65-F5344CB8AC3E}">
        <p14:creationId xmlns:p14="http://schemas.microsoft.com/office/powerpoint/2010/main" val="988219005"/>
      </p:ext>
    </p:extLst>
  </p:cSld>
</p:sld>
</file>

<file path=ppt/slides/slide7.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08746542-82A3-4643-8F05-E46D34F5C452}"/>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We Are Searching for a New</a:t>
            </a:r>
          </a:p>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SDLC Equilibrium</a:t>
            </a:r>
          </a:p>
        </p:txBody>
      </p:sp>
      <p:sp>
        <p:nvSpPr>
          <p:cNvPr id="2" name="">
            <a:extLst xmlns:a="http://schemas.openxmlformats.org/drawingml/2006/main">
              <a:ext uri="{FF2B5EF4-FFF2-40B4-BE49-F238E27FC236}">
                <a16:creationId xmlns:a16="http://schemas.microsoft.com/office/drawing/2014/main" id="{F91E5EBB-58AF-4088-BF68-416EA54DAF80}"/>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1EC854C1-C701-4B4B-9AA9-A1E6FE6BFEBB}"/>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07</a:t>
            </a:r>
          </a:p>
        </p:txBody>
      </p:sp>
      <p:sp>
        <p:nvSpPr>
          <p:cNvPr id="4" name="">
            <a:extLst xmlns:a="http://schemas.openxmlformats.org/drawingml/2006/main">
              <a:ext uri="{FF2B5EF4-FFF2-40B4-BE49-F238E27FC236}">
                <a16:creationId xmlns:a16="http://schemas.microsoft.com/office/drawing/2014/main" id="{46EB117A-A40C-4D21-B29D-C739E7FEA773}"/>
              </a:ext>
            </a:extLst>
          </p:cNvPr>
          <p:cNvSpPr>
            <a:spLocks xmlns:a="http://schemas.openxmlformats.org/drawingml/2006/main" noGrp="1"/>
          </p:cNvSpPr>
          <p:nvPr/>
        </p:nvSpPr>
        <p:spPr>
          <a:xfrm xmlns:a="http://schemas.openxmlformats.org/drawingml/2006/main">
            <a:off x="609600" y="2076450"/>
            <a:ext cx="335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ADB8C5"/>
                </a:solidFill>
                <a:latin typeface="DejaVu Sans"/>
                <a:ea typeface="DejaVu Sans"/>
                <a:cs typeface="DejaVu Sans"/>
              </a:defRPr>
            </a:pPr>
            <a:r>
              <a:rPr sz="1725" b="1">
                <a:solidFill>
                  <a:srgbClr val="ADB8C5"/>
                </a:solidFill>
                <a:latin typeface="DejaVu Sans"/>
                <a:ea typeface="DejaVu Sans"/>
                <a:cs typeface="DejaVu Sans"/>
              </a:rPr>
              <a:t>OLD EQUILIBRIUM</a:t>
            </a:r>
          </a:p>
        </p:txBody>
      </p:sp>
      <p:sp>
        <p:nvSpPr>
          <p:cNvPr id="5" name="">
            <a:extLst xmlns:a="http://schemas.openxmlformats.org/drawingml/2006/main">
              <a:ext uri="{FF2B5EF4-FFF2-40B4-BE49-F238E27FC236}">
                <a16:creationId xmlns:a16="http://schemas.microsoft.com/office/drawing/2014/main" id="{30F5C5EF-398C-4217-AC5E-4916CDC38F9E}"/>
              </a:ext>
            </a:extLst>
          </p:cNvPr>
          <p:cNvSpPr>
            <a:spLocks xmlns:a="http://schemas.openxmlformats.org/drawingml/2006/main" noGrp="1"/>
          </p:cNvSpPr>
          <p:nvPr/>
        </p:nvSpPr>
        <p:spPr>
          <a:xfrm xmlns:a="http://schemas.openxmlformats.org/drawingml/2006/main" flipH="0" flipV="0">
            <a:off x="609600" y="2705100"/>
            <a:ext cx="33528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 name="">
            <a:extLst xmlns:a="http://schemas.openxmlformats.org/drawingml/2006/main">
              <a:ext uri="{FF2B5EF4-FFF2-40B4-BE49-F238E27FC236}">
                <a16:creationId xmlns:a16="http://schemas.microsoft.com/office/drawing/2014/main" id="{FF158B1C-7735-4A6E-B41C-8035611CF8F7}"/>
              </a:ext>
            </a:extLst>
          </p:cNvPr>
          <p:cNvSpPr>
            <a:spLocks xmlns:a="http://schemas.openxmlformats.org/drawingml/2006/main" noGrp="1"/>
          </p:cNvSpPr>
          <p:nvPr/>
        </p:nvSpPr>
        <p:spPr>
          <a:xfrm xmlns:a="http://schemas.openxmlformats.org/drawingml/2006/main">
            <a:off x="609600" y="3076575"/>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0">
                <a:solidFill>
                  <a:srgbClr val="F4F7FA"/>
                </a:solidFill>
                <a:latin typeface="DejaVu Sans"/>
                <a:ea typeface="DejaVu Sans"/>
                <a:cs typeface="DejaVu Sans"/>
              </a:defRPr>
            </a:pPr>
            <a:r>
              <a:rPr sz="2100" b="0">
                <a:solidFill>
                  <a:srgbClr val="F4F7FA"/>
                </a:solidFill>
                <a:latin typeface="DejaVu Sans"/>
                <a:ea typeface="DejaVu Sans"/>
                <a:cs typeface="DejaVu Sans"/>
              </a:rPr>
              <a:t>Human writes</a:t>
            </a:r>
          </a:p>
        </p:txBody>
      </p:sp>
      <p:sp>
        <p:nvSpPr>
          <p:cNvPr id="7" name="">
            <a:extLst xmlns:a="http://schemas.openxmlformats.org/drawingml/2006/main">
              <a:ext uri="{FF2B5EF4-FFF2-40B4-BE49-F238E27FC236}">
                <a16:creationId xmlns:a16="http://schemas.microsoft.com/office/drawing/2014/main" id="{7A2927DD-A61A-41B8-B407-25492C1027A5}"/>
              </a:ext>
            </a:extLst>
          </p:cNvPr>
          <p:cNvSpPr>
            <a:spLocks xmlns:a="http://schemas.openxmlformats.org/drawingml/2006/main" noGrp="1"/>
          </p:cNvSpPr>
          <p:nvPr/>
        </p:nvSpPr>
        <p:spPr>
          <a:xfrm xmlns:a="http://schemas.openxmlformats.org/drawingml/2006/main">
            <a:off x="609600" y="3571875"/>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0">
                <a:solidFill>
                  <a:srgbClr val="F4F7FA"/>
                </a:solidFill>
                <a:latin typeface="DejaVu Sans"/>
                <a:ea typeface="DejaVu Sans"/>
                <a:cs typeface="DejaVu Sans"/>
              </a:defRPr>
            </a:pPr>
            <a:r>
              <a:rPr sz="2100" b="0">
                <a:solidFill>
                  <a:srgbClr val="F4F7FA"/>
                </a:solidFill>
                <a:latin typeface="DejaVu Sans"/>
                <a:ea typeface="DejaVu Sans"/>
                <a:cs typeface="DejaVu Sans"/>
              </a:rPr>
              <a:t>Human reviews</a:t>
            </a:r>
          </a:p>
        </p:txBody>
      </p:sp>
      <p:sp>
        <p:nvSpPr>
          <p:cNvPr id="8" name="">
            <a:extLst xmlns:a="http://schemas.openxmlformats.org/drawingml/2006/main">
              <a:ext uri="{FF2B5EF4-FFF2-40B4-BE49-F238E27FC236}">
                <a16:creationId xmlns:a16="http://schemas.microsoft.com/office/drawing/2014/main" id="{634ABA3C-73AE-4D03-B49A-E45FEFD7199D}"/>
              </a:ext>
            </a:extLst>
          </p:cNvPr>
          <p:cNvSpPr>
            <a:spLocks xmlns:a="http://schemas.openxmlformats.org/drawingml/2006/main" noGrp="1"/>
          </p:cNvSpPr>
          <p:nvPr/>
        </p:nvSpPr>
        <p:spPr>
          <a:xfrm xmlns:a="http://schemas.openxmlformats.org/drawingml/2006/main">
            <a:off x="609600" y="4067175"/>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0">
                <a:solidFill>
                  <a:srgbClr val="F4F7FA"/>
                </a:solidFill>
                <a:latin typeface="DejaVu Sans"/>
                <a:ea typeface="DejaVu Sans"/>
                <a:cs typeface="DejaVu Sans"/>
              </a:defRPr>
            </a:pPr>
            <a:r>
              <a:rPr sz="2100" b="0">
                <a:solidFill>
                  <a:srgbClr val="F4F7FA"/>
                </a:solidFill>
                <a:latin typeface="DejaVu Sans"/>
                <a:ea typeface="DejaVu Sans"/>
                <a:cs typeface="DejaVu Sans"/>
              </a:rPr>
              <a:t>Human tests</a:t>
            </a:r>
          </a:p>
        </p:txBody>
      </p:sp>
      <p:sp>
        <p:nvSpPr>
          <p:cNvPr id="9" name="">
            <a:extLst xmlns:a="http://schemas.openxmlformats.org/drawingml/2006/main">
              <a:ext uri="{FF2B5EF4-FFF2-40B4-BE49-F238E27FC236}">
                <a16:creationId xmlns:a16="http://schemas.microsoft.com/office/drawing/2014/main" id="{87D8DF61-F682-4CCA-88D9-896B4A639CB6}"/>
              </a:ext>
            </a:extLst>
          </p:cNvPr>
          <p:cNvSpPr>
            <a:spLocks xmlns:a="http://schemas.openxmlformats.org/drawingml/2006/main" noGrp="1"/>
          </p:cNvSpPr>
          <p:nvPr/>
        </p:nvSpPr>
        <p:spPr>
          <a:xfrm xmlns:a="http://schemas.openxmlformats.org/drawingml/2006/main">
            <a:off x="609600" y="4562475"/>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0">
                <a:solidFill>
                  <a:srgbClr val="F4F7FA"/>
                </a:solidFill>
                <a:latin typeface="DejaVu Sans"/>
                <a:ea typeface="DejaVu Sans"/>
                <a:cs typeface="DejaVu Sans"/>
              </a:defRPr>
            </a:pPr>
            <a:r>
              <a:rPr sz="2100" b="0">
                <a:solidFill>
                  <a:srgbClr val="F4F7FA"/>
                </a:solidFill>
                <a:latin typeface="DejaVu Sans"/>
                <a:ea typeface="DejaVu Sans"/>
                <a:cs typeface="DejaVu Sans"/>
              </a:rPr>
              <a:t>Human operates</a:t>
            </a:r>
          </a:p>
        </p:txBody>
      </p:sp>
      <p:sp>
        <p:nvSpPr>
          <p:cNvPr id="10" name="">
            <a:extLst xmlns:a="http://schemas.openxmlformats.org/drawingml/2006/main">
              <a:ext uri="{FF2B5EF4-FFF2-40B4-BE49-F238E27FC236}">
                <a16:creationId xmlns:a16="http://schemas.microsoft.com/office/drawing/2014/main" id="{1875C7AE-8914-4525-BFCD-DAF9294FA996}"/>
              </a:ext>
            </a:extLst>
          </p:cNvPr>
          <p:cNvSpPr>
            <a:spLocks xmlns:a="http://schemas.openxmlformats.org/drawingml/2006/main" noGrp="1"/>
          </p:cNvSpPr>
          <p:nvPr/>
        </p:nvSpPr>
        <p:spPr>
          <a:xfrm xmlns:a="http://schemas.openxmlformats.org/drawingml/2006/main">
            <a:off x="4419600" y="2076450"/>
            <a:ext cx="335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28C7F7"/>
                </a:solidFill>
                <a:latin typeface="DejaVu Sans"/>
                <a:ea typeface="DejaVu Sans"/>
                <a:cs typeface="DejaVu Sans"/>
              </a:defRPr>
            </a:pPr>
            <a:r>
              <a:rPr sz="1725" b="1">
                <a:solidFill>
                  <a:srgbClr val="28C7F7"/>
                </a:solidFill>
                <a:latin typeface="DejaVu Sans"/>
                <a:ea typeface="DejaVu Sans"/>
                <a:cs typeface="DejaVu Sans"/>
              </a:rPr>
              <a:t>TODAY</a:t>
            </a:r>
          </a:p>
        </p:txBody>
      </p:sp>
      <p:sp>
        <p:nvSpPr>
          <p:cNvPr id="11" name="">
            <a:extLst xmlns:a="http://schemas.openxmlformats.org/drawingml/2006/main">
              <a:ext uri="{FF2B5EF4-FFF2-40B4-BE49-F238E27FC236}">
                <a16:creationId xmlns:a16="http://schemas.microsoft.com/office/drawing/2014/main" id="{86222AAB-1DCE-44A5-953D-F7A9B1CA3E00}"/>
              </a:ext>
            </a:extLst>
          </p:cNvPr>
          <p:cNvSpPr>
            <a:spLocks xmlns:a="http://schemas.openxmlformats.org/drawingml/2006/main" noGrp="1"/>
          </p:cNvSpPr>
          <p:nvPr/>
        </p:nvSpPr>
        <p:spPr>
          <a:xfrm xmlns:a="http://schemas.openxmlformats.org/drawingml/2006/main" flipH="0" flipV="0">
            <a:off x="4419600" y="2705100"/>
            <a:ext cx="3352800" cy="0"/>
          </a:xfrm>
          <a:prstGeom xmlns:a="http://schemas.openxmlformats.org/drawingml/2006/main" prst="line">
            <a:avLst/>
          </a:prstGeom>
          <a:noFill xmlns:a="http://schemas.openxmlformats.org/drawingml/2006/main"/>
          <a:ln xmlns:a="http://schemas.openxmlformats.org/drawingml/2006/main" w="19050">
            <a:solidFill>
              <a:srgbClr val="28C7F7"/>
            </a:solidFill>
            <a:prstDash val="solid"/>
          </a:ln>
        </p:spPr>
      </p:sp>
      <p:sp>
        <p:nvSpPr>
          <p:cNvPr id="12" name="">
            <a:extLst xmlns:a="http://schemas.openxmlformats.org/drawingml/2006/main">
              <a:ext uri="{FF2B5EF4-FFF2-40B4-BE49-F238E27FC236}">
                <a16:creationId xmlns:a16="http://schemas.microsoft.com/office/drawing/2014/main" id="{E4FCD0D9-8B45-4FAA-B1B1-B0D862E848BC}"/>
              </a:ext>
            </a:extLst>
          </p:cNvPr>
          <p:cNvSpPr>
            <a:spLocks xmlns:a="http://schemas.openxmlformats.org/drawingml/2006/main" noGrp="1"/>
          </p:cNvSpPr>
          <p:nvPr/>
        </p:nvSpPr>
        <p:spPr>
          <a:xfrm xmlns:a="http://schemas.openxmlformats.org/drawingml/2006/main">
            <a:off x="4419600" y="3076575"/>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0">
                <a:solidFill>
                  <a:srgbClr val="F4F7FA"/>
                </a:solidFill>
                <a:latin typeface="DejaVu Sans"/>
                <a:ea typeface="DejaVu Sans"/>
                <a:cs typeface="DejaVu Sans"/>
              </a:defRPr>
            </a:pPr>
            <a:r>
              <a:rPr sz="2100" b="0">
                <a:solidFill>
                  <a:srgbClr val="F4F7FA"/>
                </a:solidFill>
                <a:latin typeface="DejaVu Sans"/>
                <a:ea typeface="DejaVu Sans"/>
                <a:cs typeface="DejaVu Sans"/>
              </a:rPr>
              <a:t>AI generation ↑↑</a:t>
            </a:r>
          </a:p>
        </p:txBody>
      </p:sp>
      <p:sp>
        <p:nvSpPr>
          <p:cNvPr id="13" name="">
            <a:extLst xmlns:a="http://schemas.openxmlformats.org/drawingml/2006/main">
              <a:ext uri="{FF2B5EF4-FFF2-40B4-BE49-F238E27FC236}">
                <a16:creationId xmlns:a16="http://schemas.microsoft.com/office/drawing/2014/main" id="{3833516C-22EE-442C-A18D-53BE20BAF5EA}"/>
              </a:ext>
            </a:extLst>
          </p:cNvPr>
          <p:cNvSpPr>
            <a:spLocks xmlns:a="http://schemas.openxmlformats.org/drawingml/2006/main" noGrp="1"/>
          </p:cNvSpPr>
          <p:nvPr/>
        </p:nvSpPr>
        <p:spPr>
          <a:xfrm xmlns:a="http://schemas.openxmlformats.org/drawingml/2006/main">
            <a:off x="4419600" y="3571875"/>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0">
                <a:solidFill>
                  <a:srgbClr val="F4F7FA"/>
                </a:solidFill>
                <a:latin typeface="DejaVu Sans"/>
                <a:ea typeface="DejaVu Sans"/>
                <a:cs typeface="DejaVu Sans"/>
              </a:defRPr>
            </a:pPr>
            <a:r>
              <a:rPr sz="2100" b="0">
                <a:solidFill>
                  <a:srgbClr val="F4F7FA"/>
                </a:solidFill>
                <a:latin typeface="DejaVu Sans"/>
                <a:ea typeface="DejaVu Sans"/>
                <a:cs typeface="DejaVu Sans"/>
              </a:rPr>
              <a:t>Review adapting</a:t>
            </a:r>
          </a:p>
        </p:txBody>
      </p:sp>
      <p:sp>
        <p:nvSpPr>
          <p:cNvPr id="14" name="">
            <a:extLst xmlns:a="http://schemas.openxmlformats.org/drawingml/2006/main">
              <a:ext uri="{FF2B5EF4-FFF2-40B4-BE49-F238E27FC236}">
                <a16:creationId xmlns:a16="http://schemas.microsoft.com/office/drawing/2014/main" id="{D727D3AB-E26A-4912-985B-103BDC4ACD0B}"/>
              </a:ext>
            </a:extLst>
          </p:cNvPr>
          <p:cNvSpPr>
            <a:spLocks xmlns:a="http://schemas.openxmlformats.org/drawingml/2006/main" noGrp="1"/>
          </p:cNvSpPr>
          <p:nvPr/>
        </p:nvSpPr>
        <p:spPr>
          <a:xfrm xmlns:a="http://schemas.openxmlformats.org/drawingml/2006/main">
            <a:off x="4419600" y="4067175"/>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0">
                <a:solidFill>
                  <a:srgbClr val="F4F7FA"/>
                </a:solidFill>
                <a:latin typeface="DejaVu Sans"/>
                <a:ea typeface="DejaVu Sans"/>
                <a:cs typeface="DejaVu Sans"/>
              </a:defRPr>
            </a:pPr>
            <a:r>
              <a:rPr sz="2100" b="0">
                <a:solidFill>
                  <a:srgbClr val="F4F7FA"/>
                </a:solidFill>
                <a:latin typeface="DejaVu Sans"/>
                <a:ea typeface="DejaVu Sans"/>
                <a:cs typeface="DejaVu Sans"/>
              </a:rPr>
              <a:t>Testing adapting</a:t>
            </a:r>
          </a:p>
        </p:txBody>
      </p:sp>
      <p:sp>
        <p:nvSpPr>
          <p:cNvPr id="15" name="">
            <a:extLst xmlns:a="http://schemas.openxmlformats.org/drawingml/2006/main">
              <a:ext uri="{FF2B5EF4-FFF2-40B4-BE49-F238E27FC236}">
                <a16:creationId xmlns:a16="http://schemas.microsoft.com/office/drawing/2014/main" id="{FE89503B-A5C0-48E9-95F4-AECDC48316E5}"/>
              </a:ext>
            </a:extLst>
          </p:cNvPr>
          <p:cNvSpPr>
            <a:spLocks xmlns:a="http://schemas.openxmlformats.org/drawingml/2006/main" noGrp="1"/>
          </p:cNvSpPr>
          <p:nvPr/>
        </p:nvSpPr>
        <p:spPr>
          <a:xfrm xmlns:a="http://schemas.openxmlformats.org/drawingml/2006/main">
            <a:off x="4419600" y="4562475"/>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0">
                <a:solidFill>
                  <a:srgbClr val="F4F7FA"/>
                </a:solidFill>
                <a:latin typeface="DejaVu Sans"/>
                <a:ea typeface="DejaVu Sans"/>
                <a:cs typeface="DejaVu Sans"/>
              </a:defRPr>
            </a:pPr>
            <a:r>
              <a:rPr sz="2100" b="0">
                <a:solidFill>
                  <a:srgbClr val="F4F7FA"/>
                </a:solidFill>
                <a:latin typeface="DejaVu Sans"/>
                <a:ea typeface="DejaVu Sans"/>
                <a:cs typeface="DejaVu Sans"/>
              </a:rPr>
              <a:t>Ownership adapting</a:t>
            </a:r>
          </a:p>
        </p:txBody>
      </p:sp>
      <p:sp>
        <p:nvSpPr>
          <p:cNvPr id="16" name="">
            <a:extLst xmlns:a="http://schemas.openxmlformats.org/drawingml/2006/main">
              <a:ext uri="{FF2B5EF4-FFF2-40B4-BE49-F238E27FC236}">
                <a16:creationId xmlns:a16="http://schemas.microsoft.com/office/drawing/2014/main" id="{25322CCB-DD10-4BD6-8E10-39D3B25AF65B}"/>
              </a:ext>
            </a:extLst>
          </p:cNvPr>
          <p:cNvSpPr>
            <a:spLocks xmlns:a="http://schemas.openxmlformats.org/drawingml/2006/main" noGrp="1"/>
          </p:cNvSpPr>
          <p:nvPr/>
        </p:nvSpPr>
        <p:spPr>
          <a:xfrm xmlns:a="http://schemas.openxmlformats.org/drawingml/2006/main">
            <a:off x="8229600" y="2076450"/>
            <a:ext cx="335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ADB8C5"/>
                </a:solidFill>
                <a:latin typeface="DejaVu Sans"/>
                <a:ea typeface="DejaVu Sans"/>
                <a:cs typeface="DejaVu Sans"/>
              </a:defRPr>
            </a:pPr>
            <a:r>
              <a:rPr sz="1725" b="1">
                <a:solidFill>
                  <a:srgbClr val="ADB8C5"/>
                </a:solidFill>
                <a:latin typeface="DejaVu Sans"/>
                <a:ea typeface="DejaVu Sans"/>
                <a:cs typeface="DejaVu Sans"/>
              </a:rPr>
              <a:t>NEW EQUILIBRIUM</a:t>
            </a:r>
          </a:p>
        </p:txBody>
      </p:sp>
      <p:sp>
        <p:nvSpPr>
          <p:cNvPr id="17" name="">
            <a:extLst xmlns:a="http://schemas.openxmlformats.org/drawingml/2006/main">
              <a:ext uri="{FF2B5EF4-FFF2-40B4-BE49-F238E27FC236}">
                <a16:creationId xmlns:a16="http://schemas.microsoft.com/office/drawing/2014/main" id="{041641C7-F75F-4C01-A4C0-65854EF966DF}"/>
              </a:ext>
            </a:extLst>
          </p:cNvPr>
          <p:cNvSpPr>
            <a:spLocks xmlns:a="http://schemas.openxmlformats.org/drawingml/2006/main" noGrp="1"/>
          </p:cNvSpPr>
          <p:nvPr/>
        </p:nvSpPr>
        <p:spPr>
          <a:xfrm xmlns:a="http://schemas.openxmlformats.org/drawingml/2006/main" flipH="0" flipV="0">
            <a:off x="8229600" y="2705100"/>
            <a:ext cx="33528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18" name="">
            <a:extLst xmlns:a="http://schemas.openxmlformats.org/drawingml/2006/main">
              <a:ext uri="{FF2B5EF4-FFF2-40B4-BE49-F238E27FC236}">
                <a16:creationId xmlns:a16="http://schemas.microsoft.com/office/drawing/2014/main" id="{B68A754B-AA2E-4119-9AFA-922F0F8ACDBE}"/>
              </a:ext>
            </a:extLst>
          </p:cNvPr>
          <p:cNvSpPr>
            <a:spLocks xmlns:a="http://schemas.openxmlformats.org/drawingml/2006/main" noGrp="1"/>
          </p:cNvSpPr>
          <p:nvPr/>
        </p:nvSpPr>
        <p:spPr>
          <a:xfrm xmlns:a="http://schemas.openxmlformats.org/drawingml/2006/main">
            <a:off x="8229600" y="3152775"/>
            <a:ext cx="3352800" cy="1600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8850" b="1">
                <a:solidFill>
                  <a:srgbClr val="F5B61C"/>
                </a:solidFill>
                <a:latin typeface="DejaVu Sans"/>
                <a:ea typeface="DejaVu Sans"/>
                <a:cs typeface="DejaVu Sans"/>
              </a:defRPr>
            </a:pPr>
            <a:r>
              <a:rPr sz="8850" b="1">
                <a:solidFill>
                  <a:srgbClr val="F5B61C"/>
                </a:solidFill>
                <a:latin typeface="DejaVu Sans"/>
                <a:ea typeface="DejaVu Sans"/>
                <a:cs typeface="DejaVu Sans"/>
              </a:rPr>
              <a:t>?</a:t>
            </a:r>
          </a:p>
        </p:txBody>
      </p:sp>
      <p:sp>
        <p:nvSpPr>
          <p:cNvPr id="19" name="">
            <a:extLst xmlns:a="http://schemas.openxmlformats.org/drawingml/2006/main">
              <a:ext uri="{FF2B5EF4-FFF2-40B4-BE49-F238E27FC236}">
                <a16:creationId xmlns:a16="http://schemas.microsoft.com/office/drawing/2014/main" id="{CAB9441C-5074-45C9-AFFD-D06575F5400E}"/>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13A6B546-FFC4-4DF3-82E4-F627CF29870E}"/>
              </a:ext>
            </a:extLst>
          </p:cNvPr>
          <p:cNvSpPr>
            <a:spLocks xmlns:a="http://schemas.openxmlformats.org/drawingml/2006/main" noGrp="1"/>
          </p:cNvSpPr>
          <p:nvPr/>
        </p:nvSpPr>
        <p:spPr>
          <a:xfrm xmlns:a="http://schemas.openxmlformats.org/drawingml/2006/main">
            <a:off x="609600" y="58578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4F7FA"/>
                </a:solidFill>
                <a:latin typeface="DejaVu Sans"/>
                <a:ea typeface="DejaVu Sans"/>
                <a:cs typeface="DejaVu Sans"/>
              </a:defRPr>
            </a:pPr>
            <a:r>
              <a:rPr sz="2325" b="1">
                <a:solidFill>
                  <a:srgbClr val="F4F7FA"/>
                </a:solidFill>
                <a:latin typeface="DejaVu Sans"/>
                <a:ea typeface="DejaVu Sans"/>
                <a:cs typeface="DejaVu Sans"/>
              </a:rPr>
              <a:t>But this is only half of the transition.</a:t>
            </a:r>
          </a:p>
        </p:txBody>
      </p:sp>
      <p:sp>
        <p:nvSpPr>
          <p:cNvPr id="21" name="">
            <a:extLst xmlns:a="http://schemas.openxmlformats.org/drawingml/2006/main">
              <a:ext uri="{FF2B5EF4-FFF2-40B4-BE49-F238E27FC236}">
                <a16:creationId xmlns:a16="http://schemas.microsoft.com/office/drawing/2014/main" id="{23A28569-3DE0-4FD7-A4F3-8D77D3581FD5}"/>
              </a:ext>
            </a:extLst>
          </p:cNvPr>
          <p:cNvSpPr>
            <a:spLocks xmlns:a="http://schemas.openxmlformats.org/drawingml/2006/main" noGrp="1"/>
          </p:cNvSpPr>
          <p:nvPr/>
        </p:nvSpPr>
        <p:spPr>
          <a:xfrm xmlns:a="http://schemas.openxmlformats.org/drawingml/2006/main">
            <a:off x="609600" y="6296025"/>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0">
                <a:solidFill>
                  <a:srgbClr val="28C7F7"/>
                </a:solidFill>
                <a:latin typeface="DejaVu Sans"/>
                <a:ea typeface="DejaVu Sans"/>
                <a:cs typeface="DejaVu Sans"/>
              </a:defRPr>
            </a:pPr>
            <a:r>
              <a:rPr sz="2025" b="0">
                <a:solidFill>
                  <a:srgbClr val="28C7F7"/>
                </a:solidFill>
                <a:latin typeface="DejaVu Sans"/>
                <a:ea typeface="DejaVu Sans"/>
                <a:cs typeface="DejaVu Sans"/>
              </a:rPr>
              <a:t>AI is entering the software itself.</a:t>
            </a:r>
          </a:p>
        </p:txBody>
      </p:sp>
    </p:spTree>
    <p:extLst>
      <p:ext uri="{BB962C8B-B14F-4D97-AF65-F5344CB8AC3E}">
        <p14:creationId xmlns:p14="http://schemas.microsoft.com/office/powerpoint/2010/main" val="1442209617"/>
      </p:ext>
    </p:extLst>
  </p:cSld>
</p:sld>
</file>

<file path=ppt/slides/slide8.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8413F2C-DBB6-486F-B008-83DA94C438BE}"/>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When Software Starts Thinking</a:t>
            </a:r>
          </a:p>
        </p:txBody>
      </p:sp>
      <p:sp>
        <p:nvSpPr>
          <p:cNvPr id="2" name="">
            <a:extLst xmlns:a="http://schemas.openxmlformats.org/drawingml/2006/main">
              <a:ext uri="{FF2B5EF4-FFF2-40B4-BE49-F238E27FC236}">
                <a16:creationId xmlns:a16="http://schemas.microsoft.com/office/drawing/2014/main" id="{F7B34010-F979-4BA8-A410-93564BD19400}"/>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09482CDA-659C-47EE-93C8-1F8F6978C8A2}"/>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08</a:t>
            </a:r>
          </a:p>
        </p:txBody>
      </p:sp>
      <p:sp>
        <p:nvSpPr>
          <p:cNvPr id="4" name="">
            <a:extLst xmlns:a="http://schemas.openxmlformats.org/drawingml/2006/main">
              <a:ext uri="{FF2B5EF4-FFF2-40B4-BE49-F238E27FC236}">
                <a16:creationId xmlns:a16="http://schemas.microsoft.com/office/drawing/2014/main" id="{03439260-AF7F-4F03-AC19-B1A288CDB573}"/>
              </a:ext>
            </a:extLst>
          </p:cNvPr>
          <p:cNvSpPr>
            <a:spLocks xmlns:a="http://schemas.openxmlformats.org/drawingml/2006/main" noGrp="1"/>
          </p:cNvSpPr>
          <p:nvPr/>
        </p:nvSpPr>
        <p:spPr>
          <a:xfrm xmlns:a="http://schemas.openxmlformats.org/drawingml/2006/main">
            <a:off x="609600" y="1924050"/>
            <a:ext cx="106489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28C7F7"/>
                </a:solidFill>
                <a:latin typeface="DejaVu Sans"/>
                <a:ea typeface="DejaVu Sans"/>
                <a:cs typeface="DejaVu Sans"/>
              </a:defRPr>
            </a:pPr>
            <a:r>
              <a:rPr sz="1725" b="1">
                <a:solidFill>
                  <a:srgbClr val="28C7F7"/>
                </a:solidFill>
                <a:latin typeface="DejaVu Sans"/>
                <a:ea typeface="DejaVu Sans"/>
                <a:cs typeface="DejaVu Sans"/>
              </a:rPr>
              <a:t>THINKING SYSTEMS</a:t>
            </a:r>
          </a:p>
        </p:txBody>
      </p:sp>
      <p:sp>
        <p:nvSpPr>
          <p:cNvPr id="5" name="">
            <a:extLst xmlns:a="http://schemas.openxmlformats.org/drawingml/2006/main">
              <a:ext uri="{FF2B5EF4-FFF2-40B4-BE49-F238E27FC236}">
                <a16:creationId xmlns:a16="http://schemas.microsoft.com/office/drawing/2014/main" id="{F0217BFD-BECE-4519-A579-142979690CC6}"/>
              </a:ext>
            </a:extLst>
          </p:cNvPr>
          <p:cNvSpPr>
            <a:spLocks xmlns:a="http://schemas.openxmlformats.org/drawingml/2006/main" noGrp="1"/>
          </p:cNvSpPr>
          <p:nvPr/>
        </p:nvSpPr>
        <p:spPr>
          <a:xfrm xmlns:a="http://schemas.openxmlformats.org/drawingml/2006/main">
            <a:off x="609600" y="2390775"/>
            <a:ext cx="105156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00" b="1">
                <a:solidFill>
                  <a:srgbClr val="F4F7FA"/>
                </a:solidFill>
                <a:latin typeface="DejaVu Sans"/>
                <a:ea typeface="DejaVu Sans"/>
                <a:cs typeface="DejaVu Sans"/>
              </a:defRPr>
            </a:pPr>
            <a:r>
              <a:rPr sz="2400" b="1">
                <a:solidFill>
                  <a:srgbClr val="F4F7FA"/>
                </a:solidFill>
                <a:latin typeface="DejaVu Sans"/>
                <a:ea typeface="DejaVu Sans"/>
                <a:cs typeface="DejaVu Sans"/>
              </a:rPr>
              <a:t>A system where consequential runtime responsibility partly depends on probabilistic Model Judgment.</a:t>
            </a:r>
          </a:p>
        </p:txBody>
      </p:sp>
      <p:sp>
        <p:nvSpPr>
          <p:cNvPr id="6" name="">
            <a:extLst xmlns:a="http://schemas.openxmlformats.org/drawingml/2006/main">
              <a:ext uri="{FF2B5EF4-FFF2-40B4-BE49-F238E27FC236}">
                <a16:creationId xmlns:a16="http://schemas.microsoft.com/office/drawing/2014/main" id="{357DCFA6-E85D-4147-900A-3DC8F4C1C91F}"/>
              </a:ext>
            </a:extLst>
          </p:cNvPr>
          <p:cNvSpPr>
            <a:spLocks xmlns:a="http://schemas.openxmlformats.org/drawingml/2006/main" noGrp="1"/>
          </p:cNvSpPr>
          <p:nvPr/>
        </p:nvSpPr>
        <p:spPr>
          <a:xfrm xmlns:a="http://schemas.openxmlformats.org/drawingml/2006/main">
            <a:off x="609600" y="369570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ADB8C5"/>
                </a:solidFill>
                <a:latin typeface="DejaVu Sans"/>
                <a:ea typeface="DejaVu Sans"/>
                <a:cs typeface="DejaVu Sans"/>
              </a:defRPr>
            </a:pPr>
            <a:r>
              <a:rPr sz="1800" b="0">
                <a:solidFill>
                  <a:srgbClr val="ADB8C5"/>
                </a:solidFill>
                <a:latin typeface="DejaVu Sans"/>
                <a:ea typeface="DejaVu Sans"/>
                <a:cs typeface="DejaVu Sans"/>
              </a:rPr>
              <a:t>Software 1.0</a:t>
            </a:r>
          </a:p>
        </p:txBody>
      </p:sp>
      <p:sp>
        <p:nvSpPr>
          <p:cNvPr id="7" name="">
            <a:extLst xmlns:a="http://schemas.openxmlformats.org/drawingml/2006/main">
              <a:ext uri="{FF2B5EF4-FFF2-40B4-BE49-F238E27FC236}">
                <a16:creationId xmlns:a16="http://schemas.microsoft.com/office/drawing/2014/main" id="{4CE33FB9-C7A1-48EA-AAFE-4DE8C9D3AFBA}"/>
              </a:ext>
            </a:extLst>
          </p:cNvPr>
          <p:cNvSpPr>
            <a:spLocks xmlns:a="http://schemas.openxmlformats.org/drawingml/2006/main" noGrp="1"/>
          </p:cNvSpPr>
          <p:nvPr/>
        </p:nvSpPr>
        <p:spPr>
          <a:xfrm xmlns:a="http://schemas.openxmlformats.org/drawingml/2006/main">
            <a:off x="609600" y="4257675"/>
            <a:ext cx="5143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4425" b="1">
                <a:solidFill>
                  <a:srgbClr val="28C7F7"/>
                </a:solidFill>
                <a:latin typeface="DejaVu Sans"/>
                <a:ea typeface="DejaVu Sans"/>
                <a:cs typeface="DejaVu Sans"/>
              </a:defRPr>
            </a:pPr>
            <a:r>
              <a:rPr sz="4425" b="1">
                <a:solidFill>
                  <a:srgbClr val="28C7F7"/>
                </a:solidFill>
                <a:latin typeface="DejaVu Sans"/>
                <a:ea typeface="DejaVu Sans"/>
                <a:cs typeface="DejaVu Sans"/>
              </a:rPr>
              <a:t>y = f(x)</a:t>
            </a:r>
          </a:p>
        </p:txBody>
      </p:sp>
      <p:sp>
        <p:nvSpPr>
          <p:cNvPr id="8" name="">
            <a:extLst xmlns:a="http://schemas.openxmlformats.org/drawingml/2006/main">
              <a:ext uri="{FF2B5EF4-FFF2-40B4-BE49-F238E27FC236}">
                <a16:creationId xmlns:a16="http://schemas.microsoft.com/office/drawing/2014/main" id="{23D4C4D3-E22C-4836-A0E3-6B0CDB4107F9}"/>
              </a:ext>
            </a:extLst>
          </p:cNvPr>
          <p:cNvSpPr>
            <a:spLocks xmlns:a="http://schemas.openxmlformats.org/drawingml/2006/main" noGrp="1"/>
          </p:cNvSpPr>
          <p:nvPr/>
        </p:nvSpPr>
        <p:spPr>
          <a:xfrm xmlns:a="http://schemas.openxmlformats.org/drawingml/2006/main">
            <a:off x="6324600" y="369570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ADB8C5"/>
                </a:solidFill>
                <a:latin typeface="DejaVu Sans"/>
                <a:ea typeface="DejaVu Sans"/>
                <a:cs typeface="DejaVu Sans"/>
              </a:defRPr>
            </a:pPr>
            <a:r>
              <a:rPr sz="1800" b="0">
                <a:solidFill>
                  <a:srgbClr val="ADB8C5"/>
                </a:solidFill>
                <a:latin typeface="DejaVu Sans"/>
                <a:ea typeface="DejaVu Sans"/>
                <a:cs typeface="DejaVu Sans"/>
              </a:rPr>
              <a:t>Software with Model Judgment</a:t>
            </a:r>
          </a:p>
        </p:txBody>
      </p:sp>
      <p:sp>
        <p:nvSpPr>
          <p:cNvPr id="9" name="">
            <a:extLst xmlns:a="http://schemas.openxmlformats.org/drawingml/2006/main">
              <a:ext uri="{FF2B5EF4-FFF2-40B4-BE49-F238E27FC236}">
                <a16:creationId xmlns:a16="http://schemas.microsoft.com/office/drawing/2014/main" id="{90FECABC-A7EE-4BAC-8712-7EE00EACA798}"/>
              </a:ext>
            </a:extLst>
          </p:cNvPr>
          <p:cNvSpPr>
            <a:spLocks xmlns:a="http://schemas.openxmlformats.org/drawingml/2006/main" noGrp="1"/>
          </p:cNvSpPr>
          <p:nvPr/>
        </p:nvSpPr>
        <p:spPr>
          <a:xfrm xmlns:a="http://schemas.openxmlformats.org/drawingml/2006/main">
            <a:off x="6324600" y="4257675"/>
            <a:ext cx="5143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4425" b="1">
                <a:solidFill>
                  <a:srgbClr val="F5B61C"/>
                </a:solidFill>
                <a:latin typeface="DejaVu Sans"/>
                <a:ea typeface="DejaVu Sans"/>
                <a:cs typeface="DejaVu Sans"/>
              </a:defRPr>
            </a:pPr>
            <a:r>
              <a:rPr sz="4425" b="1">
                <a:solidFill>
                  <a:srgbClr val="F5B61C"/>
                </a:solidFill>
                <a:latin typeface="DejaVu Sans"/>
                <a:ea typeface="DejaVu Sans"/>
                <a:cs typeface="DejaVu Sans"/>
              </a:rPr>
              <a:t>y ~ P(y | x)</a:t>
            </a:r>
          </a:p>
        </p:txBody>
      </p:sp>
      <p:sp>
        <p:nvSpPr>
          <p:cNvPr id="10" name="">
            <a:extLst xmlns:a="http://schemas.openxmlformats.org/drawingml/2006/main">
              <a:ext uri="{FF2B5EF4-FFF2-40B4-BE49-F238E27FC236}">
                <a16:creationId xmlns:a16="http://schemas.microsoft.com/office/drawing/2014/main" id="{00536182-4722-4C78-BDC6-D377AC36EA76}"/>
              </a:ext>
            </a:extLst>
          </p:cNvPr>
          <p:cNvSpPr>
            <a:spLocks xmlns:a="http://schemas.openxmlformats.org/drawingml/2006/main" noGrp="1"/>
          </p:cNvSpPr>
          <p:nvPr/>
        </p:nvSpPr>
        <p:spPr>
          <a:xfrm xmlns:a="http://schemas.openxmlformats.org/drawingml/2006/main">
            <a:off x="609600" y="5276850"/>
            <a:ext cx="106489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Distribution also depends on context, model and configuration.</a:t>
            </a:r>
          </a:p>
        </p:txBody>
      </p:sp>
      <p:sp>
        <p:nvSpPr>
          <p:cNvPr id="11" name="">
            <a:extLst xmlns:a="http://schemas.openxmlformats.org/drawingml/2006/main">
              <a:ext uri="{FF2B5EF4-FFF2-40B4-BE49-F238E27FC236}">
                <a16:creationId xmlns:a16="http://schemas.microsoft.com/office/drawing/2014/main" id="{ABE7FB23-266F-43EB-B347-05DC3FC8C0AC}"/>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2" name="">
            <a:extLst xmlns:a="http://schemas.openxmlformats.org/drawingml/2006/main">
              <a:ext uri="{FF2B5EF4-FFF2-40B4-BE49-F238E27FC236}">
                <a16:creationId xmlns:a16="http://schemas.microsoft.com/office/drawing/2014/main" id="{332CB311-6E80-40B0-9C6A-5AEF3FDE07F8}"/>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Engineer the useful region of behavior.</a:t>
            </a:r>
          </a:p>
        </p:txBody>
      </p:sp>
    </p:spTree>
    <p:extLst>
      <p:ext uri="{BB962C8B-B14F-4D97-AF65-F5344CB8AC3E}">
        <p14:creationId xmlns:p14="http://schemas.microsoft.com/office/powerpoint/2010/main" val="1859476994"/>
      </p:ext>
    </p:extLst>
  </p:cSld>
</p:sld>
</file>

<file path=ppt/slides/slide9.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A749873E-1E9C-4C23-9D50-A56ABC4D6764}"/>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Requirements Become Boundaries</a:t>
            </a:r>
          </a:p>
        </p:txBody>
      </p:sp>
      <p:sp>
        <p:nvSpPr>
          <p:cNvPr id="2" name="">
            <a:extLst xmlns:a="http://schemas.openxmlformats.org/drawingml/2006/main">
              <a:ext uri="{FF2B5EF4-FFF2-40B4-BE49-F238E27FC236}">
                <a16:creationId xmlns:a16="http://schemas.microsoft.com/office/drawing/2014/main" id="{409A72A6-681D-4376-8628-29167B0C8C21}"/>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E2A6FB15-37BC-4129-9CA5-D88F0BBD57BD}"/>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09</a:t>
            </a:r>
          </a:p>
        </p:txBody>
      </p:sp>
      <p:sp>
        <p:nvSpPr>
          <p:cNvPr id="4" name="">
            <a:extLst xmlns:a="http://schemas.openxmlformats.org/drawingml/2006/main">
              <a:ext uri="{FF2B5EF4-FFF2-40B4-BE49-F238E27FC236}">
                <a16:creationId xmlns:a16="http://schemas.microsoft.com/office/drawing/2014/main" id="{6F1C2FA6-46C3-4F5E-9AFB-D3C0C9FEE67C}"/>
              </a:ext>
            </a:extLst>
          </p:cNvPr>
          <p:cNvSpPr>
            <a:spLocks xmlns:a="http://schemas.openxmlformats.org/drawingml/2006/main" noGrp="1"/>
          </p:cNvSpPr>
          <p:nvPr/>
        </p:nvSpPr>
        <p:spPr>
          <a:xfrm xmlns:a="http://schemas.openxmlformats.org/drawingml/2006/main">
            <a:off x="609600" y="1990725"/>
            <a:ext cx="3143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ADB8C5"/>
                </a:solidFill>
                <a:latin typeface="DejaVu Sans"/>
                <a:ea typeface="DejaVu Sans"/>
                <a:cs typeface="DejaVu Sans"/>
              </a:defRPr>
            </a:pPr>
            <a:r>
              <a:rPr sz="1725" b="1">
                <a:solidFill>
                  <a:srgbClr val="ADB8C5"/>
                </a:solidFill>
                <a:latin typeface="DejaVu Sans"/>
                <a:ea typeface="DejaVu Sans"/>
                <a:cs typeface="DejaVu Sans"/>
              </a:rPr>
              <a:t>OLD</a:t>
            </a:r>
          </a:p>
        </p:txBody>
      </p:sp>
      <p:sp>
        <p:nvSpPr>
          <p:cNvPr id="5" name="">
            <a:extLst xmlns:a="http://schemas.openxmlformats.org/drawingml/2006/main">
              <a:ext uri="{FF2B5EF4-FFF2-40B4-BE49-F238E27FC236}">
                <a16:creationId xmlns:a16="http://schemas.microsoft.com/office/drawing/2014/main" id="{ABE18D7A-D6C4-4FB5-8C6C-B27EB1BCE181}"/>
              </a:ext>
            </a:extLst>
          </p:cNvPr>
          <p:cNvSpPr>
            <a:spLocks xmlns:a="http://schemas.openxmlformats.org/drawingml/2006/main" noGrp="1"/>
          </p:cNvSpPr>
          <p:nvPr/>
        </p:nvSpPr>
        <p:spPr>
          <a:xfrm xmlns:a="http://schemas.openxmlformats.org/drawingml/2006/main">
            <a:off x="609600" y="2724150"/>
            <a:ext cx="3143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700" b="1">
                <a:solidFill>
                  <a:srgbClr val="F4F7FA"/>
                </a:solidFill>
                <a:latin typeface="DejaVu Sans"/>
                <a:ea typeface="DejaVu Sans"/>
                <a:cs typeface="DejaVu Sans"/>
              </a:defRPr>
            </a:pPr>
            <a:r>
              <a:rPr sz="2700" b="1">
                <a:solidFill>
                  <a:srgbClr val="F4F7FA"/>
                </a:solidFill>
                <a:latin typeface="DejaVu Sans"/>
                <a:ea typeface="DejaVu Sans"/>
                <a:cs typeface="DejaVu Sans"/>
              </a:rPr>
              <a:t>Button A</a:t>
            </a:r>
          </a:p>
          <a:p xmlns:a="http://schemas.openxmlformats.org/drawingml/2006/main">
            <a:pPr algn="l">
              <a:defRPr sz="2700" b="1">
                <a:solidFill>
                  <a:srgbClr val="F4F7FA"/>
                </a:solidFill>
                <a:latin typeface="DejaVu Sans"/>
                <a:ea typeface="DejaVu Sans"/>
                <a:cs typeface="DejaVu Sans"/>
              </a:defRPr>
            </a:pPr>
            <a:r>
              <a:rPr sz="2700" b="1">
                <a:solidFill>
                  <a:srgbClr val="F4F7FA"/>
                </a:solidFill>
                <a:latin typeface="DejaVu Sans"/>
                <a:ea typeface="DejaVu Sans"/>
                <a:cs typeface="DejaVu Sans"/>
              </a:rPr>
              <a:t>→ Window B</a:t>
            </a:r>
          </a:p>
        </p:txBody>
      </p:sp>
      <p:sp>
        <p:nvSpPr>
          <p:cNvPr id="6" name="">
            <a:extLst xmlns:a="http://schemas.openxmlformats.org/drawingml/2006/main">
              <a:ext uri="{FF2B5EF4-FFF2-40B4-BE49-F238E27FC236}">
                <a16:creationId xmlns:a16="http://schemas.microsoft.com/office/drawing/2014/main" id="{391F752E-BC98-4AFC-909E-EE42A6FEC2E8}"/>
              </a:ext>
            </a:extLst>
          </p:cNvPr>
          <p:cNvSpPr>
            <a:spLocks xmlns:a="http://schemas.openxmlformats.org/drawingml/2006/main" noGrp="1"/>
          </p:cNvSpPr>
          <p:nvPr/>
        </p:nvSpPr>
        <p:spPr>
          <a:xfrm xmlns:a="http://schemas.openxmlformats.org/drawingml/2006/main">
            <a:off x="4152900" y="1990725"/>
            <a:ext cx="685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28C7F7"/>
                </a:solidFill>
                <a:latin typeface="DejaVu Sans"/>
                <a:ea typeface="DejaVu Sans"/>
                <a:cs typeface="DejaVu Sans"/>
              </a:defRPr>
            </a:pPr>
            <a:r>
              <a:rPr sz="1725" b="1">
                <a:solidFill>
                  <a:srgbClr val="28C7F7"/>
                </a:solidFill>
                <a:latin typeface="DejaVu Sans"/>
                <a:ea typeface="DejaVu Sans"/>
                <a:cs typeface="DejaVu Sans"/>
              </a:rPr>
              <a:t>NEW</a:t>
            </a:r>
          </a:p>
        </p:txBody>
      </p:sp>
      <p:sp>
        <p:nvSpPr>
          <p:cNvPr id="7" name="">
            <a:extLst xmlns:a="http://schemas.openxmlformats.org/drawingml/2006/main">
              <a:ext uri="{FF2B5EF4-FFF2-40B4-BE49-F238E27FC236}">
                <a16:creationId xmlns:a16="http://schemas.microsoft.com/office/drawing/2014/main" id="{6C5F6F55-8466-403A-A919-480B67562279}"/>
              </a:ext>
            </a:extLst>
          </p:cNvPr>
          <p:cNvSpPr>
            <a:spLocks xmlns:a="http://schemas.openxmlformats.org/drawingml/2006/main" noGrp="1"/>
          </p:cNvSpPr>
          <p:nvPr/>
        </p:nvSpPr>
        <p:spPr>
          <a:xfrm xmlns:a="http://schemas.openxmlformats.org/drawingml/2006/main">
            <a:off x="4152900" y="2524125"/>
            <a:ext cx="5238750" cy="2828925"/>
          </a:xfrm>
          <a:prstGeom xmlns:a="http://schemas.openxmlformats.org/drawingml/2006/main" prst="rect">
            <a:avLst/>
          </a:prstGeom>
          <a:solidFill xmlns:a="http://schemas.openxmlformats.org/drawingml/2006/main">
            <a:srgbClr val="0B0F14"/>
          </a:solidFill>
          <a:ln xmlns:a="http://schemas.openxmlformats.org/drawingml/2006/main" w="19050">
            <a:solidFill>
              <a:srgbClr val="F5B61C"/>
            </a:solidFill>
            <a:prstDash val="solid"/>
          </a:ln>
        </p:spPr>
      </p:sp>
      <p:sp>
        <p:nvSpPr>
          <p:cNvPr id="8" name="">
            <a:extLst xmlns:a="http://schemas.openxmlformats.org/drawingml/2006/main">
              <a:ext uri="{FF2B5EF4-FFF2-40B4-BE49-F238E27FC236}">
                <a16:creationId xmlns:a16="http://schemas.microsoft.com/office/drawing/2014/main" id="{C457A1C3-524B-4245-A8B1-018111D3C0C0}"/>
              </a:ext>
            </a:extLst>
          </p:cNvPr>
          <p:cNvSpPr>
            <a:spLocks xmlns:a="http://schemas.openxmlformats.org/drawingml/2006/main" noGrp="1"/>
          </p:cNvSpPr>
          <p:nvPr/>
        </p:nvSpPr>
        <p:spPr>
          <a:xfrm xmlns:a="http://schemas.openxmlformats.org/drawingml/2006/main">
            <a:off x="4362450" y="2705100"/>
            <a:ext cx="4857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F5B61C"/>
                </a:solidFill>
                <a:latin typeface="DejaVu Sans"/>
                <a:ea typeface="DejaVu Sans"/>
                <a:cs typeface="DejaVu Sans"/>
              </a:defRPr>
            </a:pPr>
            <a:r>
              <a:rPr sz="1875" b="0">
                <a:solidFill>
                  <a:srgbClr val="F5B61C"/>
                </a:solidFill>
                <a:latin typeface="DejaVu Sans"/>
                <a:ea typeface="DejaVu Sans"/>
                <a:cs typeface="DejaVu Sans"/>
              </a:rPr>
              <a:t>Clarify / escalate</a:t>
            </a:r>
          </a:p>
        </p:txBody>
      </p:sp>
      <p:sp>
        <p:nvSpPr>
          <p:cNvPr id="9" name="">
            <a:extLst xmlns:a="http://schemas.openxmlformats.org/drawingml/2006/main">
              <a:ext uri="{FF2B5EF4-FFF2-40B4-BE49-F238E27FC236}">
                <a16:creationId xmlns:a16="http://schemas.microsoft.com/office/drawing/2014/main" id="{F1CE5C02-54BD-480E-A9A6-AE5D70A3830C}"/>
              </a:ext>
            </a:extLst>
          </p:cNvPr>
          <p:cNvSpPr>
            <a:spLocks xmlns:a="http://schemas.openxmlformats.org/drawingml/2006/main" noGrp="1"/>
          </p:cNvSpPr>
          <p:nvPr/>
        </p:nvSpPr>
        <p:spPr>
          <a:xfrm xmlns:a="http://schemas.openxmlformats.org/drawingml/2006/main">
            <a:off x="4362450" y="3267075"/>
            <a:ext cx="4819650" cy="1866900"/>
          </a:xfrm>
          <a:prstGeom xmlns:a="http://schemas.openxmlformats.org/drawingml/2006/main" prst="rect">
            <a:avLst/>
          </a:prstGeom>
          <a:solidFill xmlns:a="http://schemas.openxmlformats.org/drawingml/2006/main">
            <a:srgbClr val="141C26"/>
          </a:solidFill>
          <a:ln xmlns:a="http://schemas.openxmlformats.org/drawingml/2006/main" w="19050">
            <a:solidFill>
              <a:srgbClr val="28C7F7"/>
            </a:solidFill>
            <a:prstDash val="solid"/>
          </a:ln>
        </p:spPr>
      </p:sp>
      <p:sp>
        <p:nvSpPr>
          <p:cNvPr id="10" name="">
            <a:extLst xmlns:a="http://schemas.openxmlformats.org/drawingml/2006/main">
              <a:ext uri="{FF2B5EF4-FFF2-40B4-BE49-F238E27FC236}">
                <a16:creationId xmlns:a16="http://schemas.microsoft.com/office/drawing/2014/main" id="{8C76C922-AFDA-4710-B2A9-D28C1116AF3D}"/>
              </a:ext>
            </a:extLst>
          </p:cNvPr>
          <p:cNvSpPr>
            <a:spLocks xmlns:a="http://schemas.openxmlformats.org/drawingml/2006/main" noGrp="1"/>
          </p:cNvSpPr>
          <p:nvPr/>
        </p:nvSpPr>
        <p:spPr>
          <a:xfrm xmlns:a="http://schemas.openxmlformats.org/drawingml/2006/main">
            <a:off x="4552950" y="3390900"/>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DejaVu Sans"/>
                <a:ea typeface="DejaVu Sans"/>
                <a:cs typeface="DejaVu Sans"/>
              </a:defRPr>
            </a:pPr>
            <a:r>
              <a:rPr sz="1500" b="1">
                <a:solidFill>
                  <a:srgbClr val="28C7F7"/>
                </a:solidFill>
                <a:latin typeface="DejaVu Sans"/>
                <a:ea typeface="DejaVu Sans"/>
                <a:cs typeface="DejaVu Sans"/>
              </a:rPr>
              <a:t>APPROVED OPERATING ENVELOPE</a:t>
            </a:r>
          </a:p>
        </p:txBody>
      </p:sp>
      <p:sp>
        <p:nvSpPr>
          <p:cNvPr id="11" name="">
            <a:extLst xmlns:a="http://schemas.openxmlformats.org/drawingml/2006/main">
              <a:ext uri="{FF2B5EF4-FFF2-40B4-BE49-F238E27FC236}">
                <a16:creationId xmlns:a16="http://schemas.microsoft.com/office/drawing/2014/main" id="{AE9FE60D-3A72-43A6-978A-F17C8242A23A}"/>
              </a:ext>
            </a:extLst>
          </p:cNvPr>
          <p:cNvSpPr>
            <a:spLocks xmlns:a="http://schemas.openxmlformats.org/drawingml/2006/main" noGrp="1"/>
          </p:cNvSpPr>
          <p:nvPr/>
        </p:nvSpPr>
        <p:spPr>
          <a:xfrm xmlns:a="http://schemas.openxmlformats.org/drawingml/2006/main">
            <a:off x="4552950" y="3810000"/>
            <a:ext cx="4438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DejaVu Sans"/>
                <a:ea typeface="DejaVu Sans"/>
                <a:cs typeface="DejaVu Sans"/>
              </a:defRPr>
            </a:pPr>
            <a:r>
              <a:rPr sz="1650" b="0">
                <a:solidFill>
                  <a:srgbClr val="F4F7FA"/>
                </a:solidFill>
                <a:latin typeface="DejaVu Sans"/>
                <a:ea typeface="DejaVu Sans"/>
                <a:cs typeface="DejaVu Sans"/>
              </a:rPr>
              <a:t>Topics &amp; sources</a:t>
            </a:r>
          </a:p>
        </p:txBody>
      </p:sp>
      <p:sp>
        <p:nvSpPr>
          <p:cNvPr id="12" name="">
            <a:extLst xmlns:a="http://schemas.openxmlformats.org/drawingml/2006/main">
              <a:ext uri="{FF2B5EF4-FFF2-40B4-BE49-F238E27FC236}">
                <a16:creationId xmlns:a16="http://schemas.microsoft.com/office/drawing/2014/main" id="{E4D1EB29-E5D7-4CB1-B503-3D79130E2D28}"/>
              </a:ext>
            </a:extLst>
          </p:cNvPr>
          <p:cNvSpPr>
            <a:spLocks xmlns:a="http://schemas.openxmlformats.org/drawingml/2006/main" noGrp="1"/>
          </p:cNvSpPr>
          <p:nvPr/>
        </p:nvSpPr>
        <p:spPr>
          <a:xfrm xmlns:a="http://schemas.openxmlformats.org/drawingml/2006/main">
            <a:off x="4552950" y="4095750"/>
            <a:ext cx="4438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DejaVu Sans"/>
                <a:ea typeface="DejaVu Sans"/>
                <a:cs typeface="DejaVu Sans"/>
              </a:defRPr>
            </a:pPr>
            <a:r>
              <a:rPr sz="1650" b="0">
                <a:solidFill>
                  <a:srgbClr val="F4F7FA"/>
                </a:solidFill>
                <a:latin typeface="DejaVu Sans"/>
                <a:ea typeface="DejaVu Sans"/>
                <a:cs typeface="DejaVu Sans"/>
              </a:rPr>
              <a:t>Constraints</a:t>
            </a:r>
          </a:p>
        </p:txBody>
      </p:sp>
      <p:sp>
        <p:nvSpPr>
          <p:cNvPr id="13" name="">
            <a:extLst xmlns:a="http://schemas.openxmlformats.org/drawingml/2006/main">
              <a:ext uri="{FF2B5EF4-FFF2-40B4-BE49-F238E27FC236}">
                <a16:creationId xmlns:a16="http://schemas.microsoft.com/office/drawing/2014/main" id="{A86BB566-7C76-4A5D-BD05-DA289486BCF8}"/>
              </a:ext>
            </a:extLst>
          </p:cNvPr>
          <p:cNvSpPr>
            <a:spLocks xmlns:a="http://schemas.openxmlformats.org/drawingml/2006/main" noGrp="1"/>
          </p:cNvSpPr>
          <p:nvPr/>
        </p:nvSpPr>
        <p:spPr>
          <a:xfrm xmlns:a="http://schemas.openxmlformats.org/drawingml/2006/main">
            <a:off x="4552950" y="4381500"/>
            <a:ext cx="4438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DejaVu Sans"/>
                <a:ea typeface="DejaVu Sans"/>
                <a:cs typeface="DejaVu Sans"/>
              </a:defRPr>
            </a:pPr>
            <a:r>
              <a:rPr sz="1650" b="0">
                <a:solidFill>
                  <a:srgbClr val="F4F7FA"/>
                </a:solidFill>
                <a:latin typeface="DejaVu Sans"/>
                <a:ea typeface="DejaVu Sans"/>
                <a:cs typeface="DejaVu Sans"/>
              </a:rPr>
              <a:t>Acceptable semantic movement</a:t>
            </a:r>
          </a:p>
        </p:txBody>
      </p:sp>
      <p:sp>
        <p:nvSpPr>
          <p:cNvPr id="14" name="">
            <a:extLst xmlns:a="http://schemas.openxmlformats.org/drawingml/2006/main">
              <a:ext uri="{FF2B5EF4-FFF2-40B4-BE49-F238E27FC236}">
                <a16:creationId xmlns:a16="http://schemas.microsoft.com/office/drawing/2014/main" id="{81707C82-5285-44D9-908D-9AD85D30EC40}"/>
              </a:ext>
            </a:extLst>
          </p:cNvPr>
          <p:cNvSpPr>
            <a:spLocks xmlns:a="http://schemas.openxmlformats.org/drawingml/2006/main" noGrp="1"/>
          </p:cNvSpPr>
          <p:nvPr/>
        </p:nvSpPr>
        <p:spPr>
          <a:xfrm xmlns:a="http://schemas.openxmlformats.org/drawingml/2006/main">
            <a:off x="4552950" y="4667250"/>
            <a:ext cx="4438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DejaVu Sans"/>
                <a:ea typeface="DejaVu Sans"/>
                <a:cs typeface="DejaVu Sans"/>
              </a:defRPr>
            </a:pPr>
            <a:r>
              <a:rPr sz="1650" b="0">
                <a:solidFill>
                  <a:srgbClr val="F4F7FA"/>
                </a:solidFill>
                <a:latin typeface="DejaVu Sans"/>
                <a:ea typeface="DejaVu Sans"/>
                <a:cs typeface="DejaVu Sans"/>
              </a:rPr>
              <a:t>Business risk</a:t>
            </a:r>
          </a:p>
        </p:txBody>
      </p:sp>
      <p:sp>
        <p:nvSpPr>
          <p:cNvPr id="15" name="">
            <a:extLst xmlns:a="http://schemas.openxmlformats.org/drawingml/2006/main">
              <a:ext uri="{FF2B5EF4-FFF2-40B4-BE49-F238E27FC236}">
                <a16:creationId xmlns:a16="http://schemas.microsoft.com/office/drawing/2014/main" id="{7B745CA2-72A7-45AB-BF4B-CE7D1EC5D101}"/>
              </a:ext>
            </a:extLst>
          </p:cNvPr>
          <p:cNvSpPr>
            <a:spLocks xmlns:a="http://schemas.openxmlformats.org/drawingml/2006/main" noGrp="1"/>
          </p:cNvSpPr>
          <p:nvPr/>
        </p:nvSpPr>
        <p:spPr>
          <a:xfrm xmlns:a="http://schemas.openxmlformats.org/drawingml/2006/main">
            <a:off x="9620250" y="3362325"/>
            <a:ext cx="1962150" cy="1123950"/>
          </a:xfrm>
          <a:prstGeom xmlns:a="http://schemas.openxmlformats.org/drawingml/2006/main" prst="rect">
            <a:avLst/>
          </a:prstGeom>
          <a:solidFill xmlns:a="http://schemas.openxmlformats.org/drawingml/2006/main">
            <a:srgbClr val="0B0F14"/>
          </a:solidFill>
          <a:ln xmlns:a="http://schemas.openxmlformats.org/drawingml/2006/main" w="19050">
            <a:solidFill>
              <a:srgbClr val="FF6B75"/>
            </a:solidFill>
            <a:prstDash val="solid"/>
          </a:ln>
        </p:spPr>
      </p:sp>
      <p:sp>
        <p:nvSpPr>
          <p:cNvPr id="16" name="">
            <a:extLst xmlns:a="http://schemas.openxmlformats.org/drawingml/2006/main">
              <a:ext uri="{FF2B5EF4-FFF2-40B4-BE49-F238E27FC236}">
                <a16:creationId xmlns:a16="http://schemas.microsoft.com/office/drawing/2014/main" id="{87F45E82-8710-4A00-B4B3-2D10EF24761B}"/>
              </a:ext>
            </a:extLst>
          </p:cNvPr>
          <p:cNvSpPr>
            <a:spLocks xmlns:a="http://schemas.openxmlformats.org/drawingml/2006/main" noGrp="1"/>
          </p:cNvSpPr>
          <p:nvPr/>
        </p:nvSpPr>
        <p:spPr>
          <a:xfrm xmlns:a="http://schemas.openxmlformats.org/drawingml/2006/main">
            <a:off x="9772650" y="3648075"/>
            <a:ext cx="16573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F6B75"/>
                </a:solidFill>
                <a:latin typeface="DejaVu Sans"/>
                <a:ea typeface="DejaVu Sans"/>
                <a:cs typeface="DejaVu Sans"/>
              </a:defRPr>
            </a:pPr>
            <a:r>
              <a:rPr sz="1575" b="1">
                <a:solidFill>
                  <a:srgbClr val="FF6B75"/>
                </a:solidFill>
                <a:latin typeface="DejaVu Sans"/>
                <a:ea typeface="DejaVu Sans"/>
                <a:cs typeface="DejaVu Sans"/>
              </a:rPr>
              <a:t>FORBIDDEN</a:t>
            </a:r>
          </a:p>
        </p:txBody>
      </p:sp>
      <p:sp>
        <p:nvSpPr>
          <p:cNvPr id="17" name="">
            <a:extLst xmlns:a="http://schemas.openxmlformats.org/drawingml/2006/main">
              <a:ext uri="{FF2B5EF4-FFF2-40B4-BE49-F238E27FC236}">
                <a16:creationId xmlns:a16="http://schemas.microsoft.com/office/drawing/2014/main" id="{286AC7DA-0ED6-48CF-9EE7-90F431A7E50F}"/>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8" name="">
            <a:extLst xmlns:a="http://schemas.openxmlformats.org/drawingml/2006/main">
              <a:ext uri="{FF2B5EF4-FFF2-40B4-BE49-F238E27FC236}">
                <a16:creationId xmlns:a16="http://schemas.microsoft.com/office/drawing/2014/main" id="{72BDDA3C-3F04-4C8A-A602-27756D615F27}"/>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Requirements define where acceptable behavior may exist.</a:t>
            </a:r>
          </a:p>
        </p:txBody>
      </p:sp>
    </p:spTree>
    <p:extLst>
      <p:ext uri="{BB962C8B-B14F-4D97-AF65-F5344CB8AC3E}">
        <p14:creationId xmlns:p14="http://schemas.microsoft.com/office/powerpoint/2010/main" val="64278385"/>
      </p:ext>
    </p:extLst>
  </p:cSld>
</p:sld>
</file>

<file path=ppt/slides/slide10.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C893D971-A53E-4141-84B6-E0CE2571B24E}"/>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One Green Test Proves Almost Nothing</a:t>
            </a:r>
          </a:p>
        </p:txBody>
      </p:sp>
      <p:sp>
        <p:nvSpPr>
          <p:cNvPr id="2" name="">
            <a:extLst xmlns:a="http://schemas.openxmlformats.org/drawingml/2006/main">
              <a:ext uri="{FF2B5EF4-FFF2-40B4-BE49-F238E27FC236}">
                <a16:creationId xmlns:a16="http://schemas.microsoft.com/office/drawing/2014/main" id="{6C92BCD1-65DC-4DC7-8C38-DE421737D49A}"/>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D33718E7-F45E-466E-99DC-E72C6D56A9F2}"/>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10</a:t>
            </a:r>
          </a:p>
        </p:txBody>
      </p:sp>
      <p:sp>
        <p:nvSpPr>
          <p:cNvPr id="4" name="">
            <a:extLst xmlns:a="http://schemas.openxmlformats.org/drawingml/2006/main">
              <a:ext uri="{FF2B5EF4-FFF2-40B4-BE49-F238E27FC236}">
                <a16:creationId xmlns:a16="http://schemas.microsoft.com/office/drawing/2014/main" id="{F02B9379-916D-4D2E-9A2B-F0CDB8AFB8F0}"/>
              </a:ext>
            </a:extLst>
          </p:cNvPr>
          <p:cNvSpPr>
            <a:spLocks xmlns:a="http://schemas.openxmlformats.org/drawingml/2006/main" noGrp="1"/>
          </p:cNvSpPr>
          <p:nvPr/>
        </p:nvSpPr>
        <p:spPr>
          <a:xfrm xmlns:a="http://schemas.openxmlformats.org/drawingml/2006/main">
            <a:off x="609600" y="19335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0">
                <a:solidFill>
                  <a:srgbClr val="ADB8C5"/>
                </a:solidFill>
                <a:latin typeface="DejaVu Sans"/>
                <a:ea typeface="DejaVu Sans"/>
                <a:cs typeface="DejaVu Sans"/>
              </a:defRPr>
            </a:pPr>
            <a:r>
              <a:rPr sz="2025" b="0">
                <a:solidFill>
                  <a:srgbClr val="ADB8C5"/>
                </a:solidFill>
                <a:latin typeface="DejaVu Sans"/>
                <a:ea typeface="DejaVu Sans"/>
                <a:cs typeface="DejaVu Sans"/>
              </a:rPr>
              <a:t>Input → Expected Output → PASS</a:t>
            </a:r>
          </a:p>
        </p:txBody>
      </p:sp>
      <p:sp>
        <p:nvSpPr>
          <p:cNvPr id="5" name="">
            <a:extLst xmlns:a="http://schemas.openxmlformats.org/drawingml/2006/main">
              <a:ext uri="{FF2B5EF4-FFF2-40B4-BE49-F238E27FC236}">
                <a16:creationId xmlns:a16="http://schemas.microsoft.com/office/drawing/2014/main" id="{3F686445-583D-4944-96D5-83FB0807255D}"/>
              </a:ext>
            </a:extLst>
          </p:cNvPr>
          <p:cNvSpPr>
            <a:spLocks xmlns:a="http://schemas.openxmlformats.org/drawingml/2006/main" noGrp="1"/>
          </p:cNvSpPr>
          <p:nvPr/>
        </p:nvSpPr>
        <p:spPr>
          <a:xfrm xmlns:a="http://schemas.openxmlformats.org/drawingml/2006/main">
            <a:off x="609600" y="2667000"/>
            <a:ext cx="1981200" cy="8191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6" name="">
            <a:extLst xmlns:a="http://schemas.openxmlformats.org/drawingml/2006/main">
              <a:ext uri="{FF2B5EF4-FFF2-40B4-BE49-F238E27FC236}">
                <a16:creationId xmlns:a16="http://schemas.microsoft.com/office/drawing/2014/main" id="{16F857D6-7696-4D2B-B3F5-1B3CFBC5E996}"/>
              </a:ext>
            </a:extLst>
          </p:cNvPr>
          <p:cNvSpPr>
            <a:spLocks xmlns:a="http://schemas.openxmlformats.org/drawingml/2006/main" noGrp="1"/>
          </p:cNvSpPr>
          <p:nvPr/>
        </p:nvSpPr>
        <p:spPr>
          <a:xfrm xmlns:a="http://schemas.openxmlformats.org/drawingml/2006/main">
            <a:off x="723900" y="2743200"/>
            <a:ext cx="17526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Golden Set</a:t>
            </a:r>
          </a:p>
        </p:txBody>
      </p:sp>
      <p:sp>
        <p:nvSpPr>
          <p:cNvPr id="7" name="">
            <a:extLst xmlns:a="http://schemas.openxmlformats.org/drawingml/2006/main">
              <a:ext uri="{FF2B5EF4-FFF2-40B4-BE49-F238E27FC236}">
                <a16:creationId xmlns:a16="http://schemas.microsoft.com/office/drawing/2014/main" id="{FFA815D4-E608-4BF6-BC33-D12D82D17518}"/>
              </a:ext>
            </a:extLst>
          </p:cNvPr>
          <p:cNvSpPr>
            <a:spLocks xmlns:a="http://schemas.openxmlformats.org/drawingml/2006/main" noGrp="1"/>
          </p:cNvSpPr>
          <p:nvPr/>
        </p:nvSpPr>
        <p:spPr>
          <a:xfrm xmlns:a="http://schemas.openxmlformats.org/drawingml/2006/main">
            <a:off x="2857500" y="2667000"/>
            <a:ext cx="1981200" cy="8191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8" name="">
            <a:extLst xmlns:a="http://schemas.openxmlformats.org/drawingml/2006/main">
              <a:ext uri="{FF2B5EF4-FFF2-40B4-BE49-F238E27FC236}">
                <a16:creationId xmlns:a16="http://schemas.microsoft.com/office/drawing/2014/main" id="{4ABD31C5-711B-47B1-839A-9231FEE0078E}"/>
              </a:ext>
            </a:extLst>
          </p:cNvPr>
          <p:cNvSpPr>
            <a:spLocks xmlns:a="http://schemas.openxmlformats.org/drawingml/2006/main" noGrp="1"/>
          </p:cNvSpPr>
          <p:nvPr/>
        </p:nvSpPr>
        <p:spPr>
          <a:xfrm xmlns:a="http://schemas.openxmlformats.org/drawingml/2006/main">
            <a:off x="2971800" y="2743200"/>
            <a:ext cx="17526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Repeated runs</a:t>
            </a:r>
          </a:p>
        </p:txBody>
      </p:sp>
      <p:sp>
        <p:nvSpPr>
          <p:cNvPr id="9" name="">
            <a:extLst xmlns:a="http://schemas.openxmlformats.org/drawingml/2006/main">
              <a:ext uri="{FF2B5EF4-FFF2-40B4-BE49-F238E27FC236}">
                <a16:creationId xmlns:a16="http://schemas.microsoft.com/office/drawing/2014/main" id="{67917495-7677-46BF-B413-661F21832F2C}"/>
              </a:ext>
            </a:extLst>
          </p:cNvPr>
          <p:cNvSpPr>
            <a:spLocks xmlns:a="http://schemas.openxmlformats.org/drawingml/2006/main" noGrp="1"/>
          </p:cNvSpPr>
          <p:nvPr/>
        </p:nvSpPr>
        <p:spPr>
          <a:xfrm xmlns:a="http://schemas.openxmlformats.org/drawingml/2006/main">
            <a:off x="5105400" y="2667000"/>
            <a:ext cx="1981200" cy="8191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0" name="">
            <a:extLst xmlns:a="http://schemas.openxmlformats.org/drawingml/2006/main">
              <a:ext uri="{FF2B5EF4-FFF2-40B4-BE49-F238E27FC236}">
                <a16:creationId xmlns:a16="http://schemas.microsoft.com/office/drawing/2014/main" id="{483925AB-C886-41E1-8AB6-B119F0A4E59A}"/>
              </a:ext>
            </a:extLst>
          </p:cNvPr>
          <p:cNvSpPr>
            <a:spLocks xmlns:a="http://schemas.openxmlformats.org/drawingml/2006/main" noGrp="1"/>
          </p:cNvSpPr>
          <p:nvPr/>
        </p:nvSpPr>
        <p:spPr>
          <a:xfrm xmlns:a="http://schemas.openxmlformats.org/drawingml/2006/main">
            <a:off x="5219700" y="2743200"/>
            <a:ext cx="17526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Distribution</a:t>
            </a:r>
          </a:p>
        </p:txBody>
      </p:sp>
      <p:sp>
        <p:nvSpPr>
          <p:cNvPr id="11" name="">
            <a:extLst xmlns:a="http://schemas.openxmlformats.org/drawingml/2006/main">
              <a:ext uri="{FF2B5EF4-FFF2-40B4-BE49-F238E27FC236}">
                <a16:creationId xmlns:a16="http://schemas.microsoft.com/office/drawing/2014/main" id="{D2771BDA-C0E1-4095-B336-277B10ABDA64}"/>
              </a:ext>
            </a:extLst>
          </p:cNvPr>
          <p:cNvSpPr>
            <a:spLocks xmlns:a="http://schemas.openxmlformats.org/drawingml/2006/main" noGrp="1"/>
          </p:cNvSpPr>
          <p:nvPr/>
        </p:nvSpPr>
        <p:spPr>
          <a:xfrm xmlns:a="http://schemas.openxmlformats.org/drawingml/2006/main">
            <a:off x="7353300" y="2667000"/>
            <a:ext cx="1981200" cy="81915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2" name="">
            <a:extLst xmlns:a="http://schemas.openxmlformats.org/drawingml/2006/main">
              <a:ext uri="{FF2B5EF4-FFF2-40B4-BE49-F238E27FC236}">
                <a16:creationId xmlns:a16="http://schemas.microsoft.com/office/drawing/2014/main" id="{745F553E-F3EA-4D61-94D6-B75EA85FB48C}"/>
              </a:ext>
            </a:extLst>
          </p:cNvPr>
          <p:cNvSpPr>
            <a:spLocks xmlns:a="http://schemas.openxmlformats.org/drawingml/2006/main" noGrp="1"/>
          </p:cNvSpPr>
          <p:nvPr/>
        </p:nvSpPr>
        <p:spPr>
          <a:xfrm xmlns:a="http://schemas.openxmlformats.org/drawingml/2006/main">
            <a:off x="7467600" y="2743200"/>
            <a:ext cx="17526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Metric gates</a:t>
            </a:r>
          </a:p>
        </p:txBody>
      </p:sp>
      <p:sp>
        <p:nvSpPr>
          <p:cNvPr id="13" name="">
            <a:extLst xmlns:a="http://schemas.openxmlformats.org/drawingml/2006/main">
              <a:ext uri="{FF2B5EF4-FFF2-40B4-BE49-F238E27FC236}">
                <a16:creationId xmlns:a16="http://schemas.microsoft.com/office/drawing/2014/main" id="{33C1D130-B631-4F4B-BE99-260883993B35}"/>
              </a:ext>
            </a:extLst>
          </p:cNvPr>
          <p:cNvSpPr>
            <a:spLocks xmlns:a="http://schemas.openxmlformats.org/drawingml/2006/main" noGrp="1"/>
          </p:cNvSpPr>
          <p:nvPr/>
        </p:nvSpPr>
        <p:spPr>
          <a:xfrm xmlns:a="http://schemas.openxmlformats.org/drawingml/2006/main">
            <a:off x="9601200" y="2667000"/>
            <a:ext cx="1981200" cy="8191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4" name="">
            <a:extLst xmlns:a="http://schemas.openxmlformats.org/drawingml/2006/main">
              <a:ext uri="{FF2B5EF4-FFF2-40B4-BE49-F238E27FC236}">
                <a16:creationId xmlns:a16="http://schemas.microsoft.com/office/drawing/2014/main" id="{1833CE61-3368-4BC2-98A2-C2C14CDCEA67}"/>
              </a:ext>
            </a:extLst>
          </p:cNvPr>
          <p:cNvSpPr>
            <a:spLocks xmlns:a="http://schemas.openxmlformats.org/drawingml/2006/main" noGrp="1"/>
          </p:cNvSpPr>
          <p:nvPr/>
        </p:nvSpPr>
        <p:spPr>
          <a:xfrm xmlns:a="http://schemas.openxmlformats.org/drawingml/2006/main">
            <a:off x="9715500" y="2743200"/>
            <a:ext cx="17526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Release</a:t>
            </a:r>
          </a:p>
        </p:txBody>
      </p:sp>
      <p:cxnSp>
        <p:nvCxnSpPr>
          <p:cNvPr id="39" name=""/>
          <p:cNvCxnSpPr>
            <a:stCxn xmlns:a="http://schemas.openxmlformats.org/drawingml/2006/main" id="5" idx="3"/>
            <a:endCxn xmlns:a="http://schemas.openxmlformats.org/drawingml/2006/main" id="7" idx="1"/>
          </p:cNvCxnSpPr>
          <p:nvPr/>
        </p:nvCxnSpPr>
        <p:spPr>
          <a:xfrm xmlns:a="http://schemas.openxmlformats.org/drawingml/2006/main">
            <a:off x="2590800" y="3076575"/>
            <a:ext cx="2667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40" name=""/>
          <p:cNvCxnSpPr>
            <a:stCxn xmlns:a="http://schemas.openxmlformats.org/drawingml/2006/main" id="7" idx="3"/>
            <a:endCxn xmlns:a="http://schemas.openxmlformats.org/drawingml/2006/main" id="9" idx="1"/>
          </p:cNvCxnSpPr>
          <p:nvPr/>
        </p:nvCxnSpPr>
        <p:spPr>
          <a:xfrm xmlns:a="http://schemas.openxmlformats.org/drawingml/2006/main">
            <a:off x="4838700" y="3076575"/>
            <a:ext cx="2667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41" name=""/>
          <p:cNvCxnSpPr>
            <a:stCxn xmlns:a="http://schemas.openxmlformats.org/drawingml/2006/main" id="9" idx="3"/>
            <a:endCxn xmlns:a="http://schemas.openxmlformats.org/drawingml/2006/main" id="11" idx="1"/>
          </p:cNvCxnSpPr>
          <p:nvPr/>
        </p:nvCxnSpPr>
        <p:spPr>
          <a:xfrm xmlns:a="http://schemas.openxmlformats.org/drawingml/2006/main">
            <a:off x="7086600" y="3076575"/>
            <a:ext cx="2667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42" name=""/>
          <p:cNvCxnSpPr>
            <a:stCxn xmlns:a="http://schemas.openxmlformats.org/drawingml/2006/main" id="11" idx="3"/>
            <a:endCxn xmlns:a="http://schemas.openxmlformats.org/drawingml/2006/main" id="13" idx="1"/>
          </p:cNvCxnSpPr>
          <p:nvPr/>
        </p:nvCxnSpPr>
        <p:spPr>
          <a:xfrm xmlns:a="http://schemas.openxmlformats.org/drawingml/2006/main">
            <a:off x="9334500" y="3076575"/>
            <a:ext cx="2667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19" name="">
            <a:extLst xmlns:a="http://schemas.openxmlformats.org/drawingml/2006/main">
              <a:ext uri="{FF2B5EF4-FFF2-40B4-BE49-F238E27FC236}">
                <a16:creationId xmlns:a16="http://schemas.microsoft.com/office/drawing/2014/main" id="{876BAF17-6CB8-48FE-92CA-77FC9D028CF8}"/>
              </a:ext>
            </a:extLst>
          </p:cNvPr>
          <p:cNvSpPr>
            <a:spLocks xmlns:a="http://schemas.openxmlformats.org/drawingml/2006/main" noGrp="1"/>
          </p:cNvSpPr>
          <p:nvPr/>
        </p:nvSpPr>
        <p:spPr>
          <a:xfrm xmlns:a="http://schemas.openxmlformats.org/drawingml/2006/main">
            <a:off x="609600" y="4029075"/>
            <a:ext cx="43243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825" b="1">
                <a:solidFill>
                  <a:srgbClr val="28C7F7"/>
                </a:solidFill>
                <a:latin typeface="DejaVu Sans"/>
                <a:ea typeface="DejaVu Sans"/>
                <a:cs typeface="DejaVu Sans"/>
              </a:defRPr>
            </a:pPr>
            <a:r>
              <a:rPr sz="3825" b="1">
                <a:solidFill>
                  <a:srgbClr val="28C7F7"/>
                </a:solidFill>
                <a:latin typeface="DejaVu Sans"/>
                <a:ea typeface="DejaVu Sans"/>
                <a:cs typeface="DejaVu Sans"/>
              </a:rPr>
              <a:t>98% overall</a:t>
            </a:r>
          </a:p>
        </p:txBody>
      </p:sp>
      <p:sp>
        <p:nvSpPr>
          <p:cNvPr id="20" name="">
            <a:extLst xmlns:a="http://schemas.openxmlformats.org/drawingml/2006/main">
              <a:ext uri="{FF2B5EF4-FFF2-40B4-BE49-F238E27FC236}">
                <a16:creationId xmlns:a16="http://schemas.microsoft.com/office/drawing/2014/main" id="{B91B6170-ABE5-441F-80B8-E22F512B3478}"/>
              </a:ext>
            </a:extLst>
          </p:cNvPr>
          <p:cNvSpPr>
            <a:spLocks xmlns:a="http://schemas.openxmlformats.org/drawingml/2006/main" noGrp="1"/>
          </p:cNvSpPr>
          <p:nvPr/>
        </p:nvSpPr>
        <p:spPr>
          <a:xfrm xmlns:a="http://schemas.openxmlformats.org/drawingml/2006/main">
            <a:off x="5353050" y="3981450"/>
            <a:ext cx="6096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75" b="1">
                <a:solidFill>
                  <a:srgbClr val="F4F7FA"/>
                </a:solidFill>
                <a:latin typeface="DejaVu Sans"/>
                <a:ea typeface="DejaVu Sans"/>
                <a:cs typeface="DejaVu Sans"/>
              </a:defRPr>
            </a:pPr>
            <a:r>
              <a:rPr sz="2175" b="1">
                <a:solidFill>
                  <a:srgbClr val="F4F7FA"/>
                </a:solidFill>
                <a:latin typeface="DejaVu Sans"/>
                <a:ea typeface="DejaVu Sans"/>
                <a:cs typeface="DejaVu Sans"/>
              </a:rPr>
              <a:t>1 critical boundary violation</a:t>
            </a:r>
          </a:p>
        </p:txBody>
      </p:sp>
      <p:sp>
        <p:nvSpPr>
          <p:cNvPr id="21" name="">
            <a:extLst xmlns:a="http://schemas.openxmlformats.org/drawingml/2006/main">
              <a:ext uri="{FF2B5EF4-FFF2-40B4-BE49-F238E27FC236}">
                <a16:creationId xmlns:a16="http://schemas.microsoft.com/office/drawing/2014/main" id="{556EFBA7-4AA7-446D-BDDB-A7D431021B1B}"/>
              </a:ext>
            </a:extLst>
          </p:cNvPr>
          <p:cNvSpPr>
            <a:spLocks xmlns:a="http://schemas.openxmlformats.org/drawingml/2006/main" noGrp="1"/>
          </p:cNvSpPr>
          <p:nvPr/>
        </p:nvSpPr>
        <p:spPr>
          <a:xfrm xmlns:a="http://schemas.openxmlformats.org/drawingml/2006/main">
            <a:off x="5353050" y="4572000"/>
            <a:ext cx="6096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00" b="1">
                <a:solidFill>
                  <a:srgbClr val="FF6B75"/>
                </a:solidFill>
                <a:latin typeface="DejaVu Sans"/>
                <a:ea typeface="DejaVu Sans"/>
                <a:cs typeface="DejaVu Sans"/>
              </a:defRPr>
            </a:pPr>
            <a:r>
              <a:rPr sz="2400" b="1">
                <a:solidFill>
                  <a:srgbClr val="FF6B75"/>
                </a:solidFill>
                <a:latin typeface="DejaVu Sans"/>
                <a:ea typeface="DejaVu Sans"/>
                <a:cs typeface="DejaVu Sans"/>
              </a:rPr>
              <a:t>BLOCK RELEASE</a:t>
            </a:r>
          </a:p>
        </p:txBody>
      </p:sp>
      <p:sp>
        <p:nvSpPr>
          <p:cNvPr id="22" name="">
            <a:extLst xmlns:a="http://schemas.openxmlformats.org/drawingml/2006/main">
              <a:ext uri="{FF2B5EF4-FFF2-40B4-BE49-F238E27FC236}">
                <a16:creationId xmlns:a16="http://schemas.microsoft.com/office/drawing/2014/main" id="{260ED1DE-2D74-4F30-AA31-56B55988FFE1}"/>
              </a:ext>
            </a:extLst>
          </p:cNvPr>
          <p:cNvSpPr>
            <a:spLocks xmlns:a="http://schemas.openxmlformats.org/drawingml/2006/main" noGrp="1"/>
          </p:cNvSpPr>
          <p:nvPr/>
        </p:nvSpPr>
        <p:spPr>
          <a:xfrm xmlns:a="http://schemas.openxmlformats.org/drawingml/2006/main">
            <a:off x="609600" y="52197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DejaVu Sans"/>
                <a:ea typeface="DejaVu Sans"/>
                <a:cs typeface="DejaVu Sans"/>
              </a:defRPr>
            </a:pPr>
            <a:r>
              <a:rPr sz="1575" b="0">
                <a:solidFill>
                  <a:srgbClr val="ADB8C5"/>
                </a:solidFill>
                <a:latin typeface="DejaVu Sans"/>
                <a:ea typeface="DejaVu Sans"/>
                <a:cs typeface="DejaVu Sans"/>
              </a:rPr>
              <a:t>Illustrative: 196/200 acceptable evaluations; not a sample-size recommendation.</a:t>
            </a:r>
          </a:p>
        </p:txBody>
      </p:sp>
      <p:sp>
        <p:nvSpPr>
          <p:cNvPr id="23" name="">
            <a:extLst xmlns:a="http://schemas.openxmlformats.org/drawingml/2006/main">
              <a:ext uri="{FF2B5EF4-FFF2-40B4-BE49-F238E27FC236}">
                <a16:creationId xmlns:a16="http://schemas.microsoft.com/office/drawing/2014/main" id="{8593417D-2DB0-4049-8A1B-4194DB2CDA8D}"/>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4" name="">
            <a:extLst xmlns:a="http://schemas.openxmlformats.org/drawingml/2006/main">
              <a:ext uri="{FF2B5EF4-FFF2-40B4-BE49-F238E27FC236}">
                <a16:creationId xmlns:a16="http://schemas.microsoft.com/office/drawing/2014/main" id="{155A4FA6-4CE8-4F04-9B8A-A80B90C00919}"/>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Release evidence must match the risk being controlled.</a:t>
            </a:r>
          </a:p>
        </p:txBody>
      </p:sp>
    </p:spTree>
    <p:extLst>
      <p:ext uri="{BB962C8B-B14F-4D97-AF65-F5344CB8AC3E}">
        <p14:creationId xmlns:p14="http://schemas.microsoft.com/office/powerpoint/2010/main" val="652231063"/>
      </p:ext>
    </p:extLst>
  </p:cSld>
</p:sld>
</file>

<file path=ppt/slides/slide11.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AACD222-44BF-41E4-A255-E1CF3E888B7B}"/>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DoR / DoD Become Risk Contracts</a:t>
            </a:r>
          </a:p>
        </p:txBody>
      </p:sp>
      <p:sp>
        <p:nvSpPr>
          <p:cNvPr id="2" name="">
            <a:extLst xmlns:a="http://schemas.openxmlformats.org/drawingml/2006/main">
              <a:ext uri="{FF2B5EF4-FFF2-40B4-BE49-F238E27FC236}">
                <a16:creationId xmlns:a16="http://schemas.microsoft.com/office/drawing/2014/main" id="{FB175541-8A6A-4A85-BD25-9DFA2D9B29E4}"/>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CEE8C850-7B86-4E7A-862E-A3A812F459CE}"/>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11</a:t>
            </a:r>
          </a:p>
        </p:txBody>
      </p:sp>
      <p:graphicFrame>
        <p:nvGraphicFramePr>
          <p:cNvPr id="11" name=""/>
          <p:cNvGraphicFramePr/>
          <p:nvPr/>
        </p:nvGraphicFramePr>
        <p:xfrm>
          <a:off xmlns:a="http://schemas.openxmlformats.org/drawingml/2006/main" x="609600" y="1981200"/>
          <a:ext xmlns:a="http://schemas.openxmlformats.org/drawingml/2006/main" cx="10972800" cy="3105150"/>
        </p:xfrm>
        <a:graphic xmlns:a="http://schemas.openxmlformats.org/drawingml/2006/main">
          <a:graphicData uri="http://schemas.openxmlformats.org/drawingml/2006/table">
            <a:tbl>
              <a:tblPr/>
              <a:tblGrid>
                <a:gridCol w="1581150"/>
                <a:gridCol w="3333750"/>
                <a:gridCol w="6057900"/>
              </a:tblGrid>
              <a:tr h="776288">
                <a:tc>
                  <a:txBody>
                    <a:bodyPr lIns="171450" tIns="114300" rIns="171450" bIns="114300">
                      <a:noAutofit/>
                    </a:bodyPr>
                    <a:lstStyle/>
                    <a:p>
                      <a:r>
                        <a:rPr sz="1725" b="1">
                          <a:solidFill>
                            <a:srgbClr val="F4F7FA"/>
                          </a:solidFill>
                          <a:latin typeface="DejaVu Sans"/>
                          <a:ea typeface="DejaVu Sans"/>
                          <a:cs typeface="DejaVu Sans"/>
                        </a:rPr>
                        <a:t/>
                      </a:r>
                    </a:p>
                  </a:txBody>
                  <a:tcPr marL="91440" marR="91440" marT="45720" marB="45720" anchor="ctr">
                    <a:solidFill>
                      <a:srgbClr val="1A2734"/>
                    </a:solidFill>
                  </a:tcPr>
                </a:tc>
                <a:tc>
                  <a:txBody>
                    <a:bodyPr lIns="171450" tIns="114300" rIns="171450" bIns="114300">
                      <a:noAutofit/>
                    </a:bodyPr>
                    <a:lstStyle/>
                    <a:p>
                      <a:r>
                        <a:rPr sz="1725" b="1">
                          <a:solidFill>
                            <a:srgbClr val="F4F7FA"/>
                          </a:solidFill>
                          <a:latin typeface="DejaVu Sans"/>
                          <a:ea typeface="DejaVu Sans"/>
                          <a:cs typeface="DejaVu Sans"/>
                        </a:rPr>
                        <a:t>Traditional shorthand</a:t>
                      </a:r>
                    </a:p>
                  </a:txBody>
                  <a:tcPr marL="91440" marR="91440" marT="45720" marB="45720" anchor="ctr">
                    <a:solidFill>
                      <a:srgbClr val="1A2734"/>
                    </a:solidFill>
                  </a:tcPr>
                </a:tc>
                <a:tc>
                  <a:txBody>
                    <a:bodyPr lIns="171450" tIns="114300" rIns="171450" bIns="114300">
                      <a:noAutofit/>
                    </a:bodyPr>
                    <a:lstStyle/>
                    <a:p>
                      <a:r>
                        <a:rPr sz="1725" b="1">
                          <a:solidFill>
                            <a:srgbClr val="28C7F7"/>
                          </a:solidFill>
                          <a:latin typeface="DejaVu Sans"/>
                          <a:ea typeface="DejaVu Sans"/>
                          <a:cs typeface="DejaVu Sans"/>
                        </a:rPr>
                        <a:t>Thinking System</a:t>
                      </a:r>
                    </a:p>
                  </a:txBody>
                  <a:tcPr marL="91440" marR="91440" marT="45720" marB="45720" anchor="ctr">
                    <a:solidFill>
                      <a:srgbClr val="1A2734"/>
                    </a:solidFill>
                  </a:tcPr>
                </a:tc>
              </a:tr>
              <a:tr h="776288">
                <a:tc>
                  <a:txBody>
                    <a:bodyPr lIns="171450" tIns="114300" rIns="171450" bIns="114300">
                      <a:noAutofit/>
                    </a:bodyPr>
                    <a:lstStyle/>
                    <a:p>
                      <a:r>
                        <a:rPr sz="1875" b="1">
                          <a:solidFill>
                            <a:srgbClr val="F4F7FA"/>
                          </a:solidFill>
                          <a:latin typeface="DejaVu Sans"/>
                          <a:ea typeface="DejaVu Sans"/>
                          <a:cs typeface="DejaVu Sans"/>
                        </a:rPr>
                        <a:t>READY</a:t>
                      </a:r>
                    </a:p>
                  </a:txBody>
                  <a:tcPr marL="91440" marR="91440" marT="45720" marB="45720" anchor="ctr">
                    <a:solidFill>
                      <a:srgbClr val="0B0F14"/>
                    </a:solidFill>
                  </a:tcPr>
                </a:tc>
                <a:tc>
                  <a:txBody>
                    <a:bodyPr lIns="171450" tIns="114300" rIns="171450" bIns="114300">
                      <a:noAutofit/>
                    </a:bodyPr>
                    <a:lstStyle/>
                    <a:p>
                      <a:r>
                        <a:rPr sz="1875" b="0">
                          <a:solidFill>
                            <a:srgbClr val="F4F7FA"/>
                          </a:solidFill>
                          <a:latin typeface="DejaVu Sans"/>
                          <a:ea typeface="DejaVu Sans"/>
                          <a:cs typeface="DejaVu Sans"/>
                        </a:rPr>
                        <a:t>Specification known</a:t>
                      </a:r>
                    </a:p>
                  </a:txBody>
                  <a:tcPr marL="91440" marR="91440" marT="45720" marB="45720" anchor="ctr">
                    <a:solidFill>
                      <a:srgbClr val="0B0F14"/>
                    </a:solidFill>
                  </a:tcPr>
                </a:tc>
                <a:tc>
                  <a:txBody>
                    <a:bodyPr lIns="171450" tIns="114300" rIns="171450" bIns="114300">
                      <a:noAutofit/>
                    </a:bodyPr>
                    <a:lstStyle/>
                    <a:p>
                      <a:r>
                        <a:rPr sz="1875" b="0">
                          <a:solidFill>
                            <a:srgbClr val="28C7F7"/>
                          </a:solidFill>
                          <a:latin typeface="DejaVu Sans"/>
                          <a:ea typeface="DejaVu Sans"/>
                          <a:cs typeface="DejaVu Sans"/>
                        </a:rPr>
                        <a:t>Tolerance / risk envelope known</a:t>
                      </a:r>
                    </a:p>
                  </a:txBody>
                  <a:tcPr marL="91440" marR="91440" marT="45720" marB="45720" anchor="ctr">
                    <a:solidFill>
                      <a:srgbClr val="0B0F14"/>
                    </a:solidFill>
                  </a:tcPr>
                </a:tc>
              </a:tr>
              <a:tr h="776288">
                <a:tc>
                  <a:txBody>
                    <a:bodyPr lIns="171450" tIns="114300" rIns="171450" bIns="114300">
                      <a:noAutofit/>
                    </a:bodyPr>
                    <a:lstStyle/>
                    <a:p>
                      <a:r>
                        <a:rPr sz="1875" b="1">
                          <a:solidFill>
                            <a:srgbClr val="F4F7FA"/>
                          </a:solidFill>
                          <a:latin typeface="DejaVu Sans"/>
                          <a:ea typeface="DejaVu Sans"/>
                          <a:cs typeface="DejaVu Sans"/>
                        </a:rPr>
                        <a:t>DONE</a:t>
                      </a:r>
                    </a:p>
                  </a:txBody>
                  <a:tcPr marL="91440" marR="91440" marT="45720" marB="45720" anchor="ctr">
                    <a:solidFill>
                      <a:srgbClr val="0B0F14"/>
                    </a:solidFill>
                  </a:tcPr>
                </a:tc>
                <a:tc>
                  <a:txBody>
                    <a:bodyPr lIns="171450" tIns="114300" rIns="171450" bIns="114300">
                      <a:noAutofit/>
                    </a:bodyPr>
                    <a:lstStyle/>
                    <a:p>
                      <a:r>
                        <a:rPr sz="1875" b="0">
                          <a:solidFill>
                            <a:srgbClr val="F4F7FA"/>
                          </a:solidFill>
                          <a:latin typeface="DejaVu Sans"/>
                          <a:ea typeface="DejaVu Sans"/>
                          <a:cs typeface="DejaVu Sans"/>
                        </a:rPr>
                        <a:t>Tests pass</a:t>
                      </a:r>
                    </a:p>
                  </a:txBody>
                  <a:tcPr marL="91440" marR="91440" marT="45720" marB="45720" anchor="ctr">
                    <a:solidFill>
                      <a:srgbClr val="0B0F14"/>
                    </a:solidFill>
                  </a:tcPr>
                </a:tc>
                <a:tc>
                  <a:txBody>
                    <a:bodyPr lIns="171450" tIns="114300" rIns="171450" bIns="114300">
                      <a:noAutofit/>
                    </a:bodyPr>
                    <a:lstStyle/>
                    <a:p>
                      <a:r>
                        <a:rPr sz="1875" b="0">
                          <a:solidFill>
                            <a:srgbClr val="28C7F7"/>
                          </a:solidFill>
                          <a:latin typeface="DejaVu Sans"/>
                          <a:ea typeface="DejaVu Sans"/>
                          <a:cs typeface="DejaVu Sans"/>
                        </a:rPr>
                        <a:t>Evaluation evidence within boundaries</a:t>
                      </a:r>
                    </a:p>
                  </a:txBody>
                  <a:tcPr marL="91440" marR="91440" marT="45720" marB="45720" anchor="ctr">
                    <a:solidFill>
                      <a:srgbClr val="0B0F14"/>
                    </a:solidFill>
                  </a:tcPr>
                </a:tc>
              </a:tr>
              <a:tr h="776288">
                <a:tc>
                  <a:txBody>
                    <a:bodyPr lIns="171450" tIns="114300" rIns="171450" bIns="114300">
                      <a:noAutofit/>
                    </a:bodyPr>
                    <a:lstStyle/>
                    <a:p>
                      <a:r>
                        <a:rPr sz="1875" b="1">
                          <a:solidFill>
                            <a:srgbClr val="F4F7FA"/>
                          </a:solidFill>
                          <a:latin typeface="DejaVu Sans"/>
                          <a:ea typeface="DejaVu Sans"/>
                          <a:cs typeface="DejaVu Sans"/>
                        </a:rPr>
                        <a:t>RELEASE</a:t>
                      </a:r>
                    </a:p>
                  </a:txBody>
                  <a:tcPr marL="91440" marR="91440" marT="45720" marB="45720" anchor="ctr">
                    <a:solidFill>
                      <a:srgbClr val="0B0F14"/>
                    </a:solidFill>
                  </a:tcPr>
                </a:tc>
                <a:tc>
                  <a:txBody>
                    <a:bodyPr lIns="171450" tIns="114300" rIns="171450" bIns="114300">
                      <a:noAutofit/>
                    </a:bodyPr>
                    <a:lstStyle/>
                    <a:p>
                      <a:r>
                        <a:rPr sz="1875" b="0">
                          <a:solidFill>
                            <a:srgbClr val="F4F7FA"/>
                          </a:solidFill>
                          <a:latin typeface="DejaVu Sans"/>
                          <a:ea typeface="DejaVu Sans"/>
                          <a:cs typeface="DejaVu Sans"/>
                        </a:rPr>
                        <a:t>Yes / no</a:t>
                      </a:r>
                    </a:p>
                  </a:txBody>
                  <a:tcPr marL="91440" marR="91440" marT="45720" marB="45720" anchor="ctr">
                    <a:solidFill>
                      <a:srgbClr val="0B0F14"/>
                    </a:solidFill>
                  </a:tcPr>
                </a:tc>
                <a:tc>
                  <a:txBody>
                    <a:bodyPr lIns="171450" tIns="114300" rIns="171450" bIns="114300">
                      <a:noAutofit/>
                    </a:bodyPr>
                    <a:lstStyle/>
                    <a:p>
                      <a:r>
                        <a:rPr sz="1875" b="0">
                          <a:solidFill>
                            <a:srgbClr val="28C7F7"/>
                          </a:solidFill>
                          <a:latin typeface="DejaVu Sans"/>
                          <a:ea typeface="DejaVu Sans"/>
                          <a:cs typeface="DejaVu Sans"/>
                        </a:rPr>
                        <a:t>Measured risk accepted</a:t>
                      </a:r>
                    </a:p>
                  </a:txBody>
                  <a:tcPr marL="91440" marR="91440" marT="45720" marB="45720" anchor="ctr">
                    <a:solidFill>
                      <a:srgbClr val="0B0F14"/>
                    </a:solidFill>
                  </a:tcPr>
                </a:tc>
              </a:tr>
            </a:tbl>
          </a:graphicData>
        </a:graphic>
      </p:graphicFrame>
      <p:sp>
        <p:nvSpPr>
          <p:cNvPr id="5" name="">
            <a:extLst xmlns:a="http://schemas.openxmlformats.org/drawingml/2006/main">
              <a:ext uri="{FF2B5EF4-FFF2-40B4-BE49-F238E27FC236}">
                <a16:creationId xmlns:a16="http://schemas.microsoft.com/office/drawing/2014/main" id="{97075E90-CD5C-4A19-872E-D32245258232}"/>
              </a:ext>
            </a:extLst>
          </p:cNvPr>
          <p:cNvSpPr>
            <a:spLocks xmlns:a="http://schemas.openxmlformats.org/drawingml/2006/main" noGrp="1"/>
          </p:cNvSpPr>
          <p:nvPr/>
        </p:nvSpPr>
        <p:spPr>
          <a:xfrm xmlns:a="http://schemas.openxmlformats.org/drawingml/2006/main">
            <a:off x="609600" y="5257800"/>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DejaVu Sans"/>
                <a:ea typeface="DejaVu Sans"/>
                <a:cs typeface="DejaVu Sans"/>
              </a:defRPr>
            </a:pPr>
            <a:r>
              <a:rPr sz="1725" b="0">
                <a:solidFill>
                  <a:srgbClr val="ADB8C5"/>
                </a:solidFill>
                <a:latin typeface="DejaVu Sans"/>
                <a:ea typeface="DejaVu Sans"/>
                <a:cs typeface="DejaVu Sans"/>
              </a:rPr>
              <a:t>Evidence, decision owner and fallback belong in the contract.</a:t>
            </a:r>
          </a:p>
        </p:txBody>
      </p:sp>
      <p:sp>
        <p:nvSpPr>
          <p:cNvPr id="6" name="">
            <a:extLst xmlns:a="http://schemas.openxmlformats.org/drawingml/2006/main">
              <a:ext uri="{FF2B5EF4-FFF2-40B4-BE49-F238E27FC236}">
                <a16:creationId xmlns:a16="http://schemas.microsoft.com/office/drawing/2014/main" id="{7D4A05E5-4EF3-4DDA-B60C-16759CD38A3B}"/>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7" name="">
            <a:extLst xmlns:a="http://schemas.openxmlformats.org/drawingml/2006/main">
              <a:ext uri="{FF2B5EF4-FFF2-40B4-BE49-F238E27FC236}">
                <a16:creationId xmlns:a16="http://schemas.microsoft.com/office/drawing/2014/main" id="{01527FB1-1879-43B5-9534-E8120D6D8D2E}"/>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4F7FA"/>
                </a:solidFill>
                <a:latin typeface="DejaVu Sans"/>
                <a:ea typeface="DejaVu Sans"/>
                <a:cs typeface="DejaVu Sans"/>
              </a:defRPr>
            </a:pPr>
            <a:r>
              <a:rPr sz="2325" b="1">
                <a:solidFill>
                  <a:srgbClr val="F4F7FA"/>
                </a:solidFill>
                <a:latin typeface="DejaVu Sans"/>
                <a:ea typeface="DejaVu Sans"/>
                <a:cs typeface="DejaVu Sans"/>
              </a:rPr>
              <a:t>Quality is released as a measured distribution.</a:t>
            </a:r>
          </a:p>
        </p:txBody>
      </p:sp>
    </p:spTree>
    <p:extLst>
      <p:ext uri="{BB962C8B-B14F-4D97-AF65-F5344CB8AC3E}">
        <p14:creationId xmlns:p14="http://schemas.microsoft.com/office/powerpoint/2010/main" val="1511914749"/>
      </p:ext>
    </p:extLst>
  </p:cSld>
</p:sld>
</file>

<file path=ppt/slides/slide12.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C2B2A95A-6CC7-4DB3-B0DA-07E3D8C35AE2}"/>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Production Needs a Control Loop</a:t>
            </a:r>
          </a:p>
        </p:txBody>
      </p:sp>
      <p:sp>
        <p:nvSpPr>
          <p:cNvPr id="2" name="">
            <a:extLst xmlns:a="http://schemas.openxmlformats.org/drawingml/2006/main">
              <a:ext uri="{FF2B5EF4-FFF2-40B4-BE49-F238E27FC236}">
                <a16:creationId xmlns:a16="http://schemas.microsoft.com/office/drawing/2014/main" id="{D0BC7885-CD95-471A-943B-7DAF63E3044B}"/>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4582FF9E-8F8D-4A97-B86E-B25839D82FF5}"/>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12</a:t>
            </a:r>
          </a:p>
        </p:txBody>
      </p:sp>
      <p:sp>
        <p:nvSpPr>
          <p:cNvPr id="4" name="">
            <a:extLst xmlns:a="http://schemas.openxmlformats.org/drawingml/2006/main">
              <a:ext uri="{FF2B5EF4-FFF2-40B4-BE49-F238E27FC236}">
                <a16:creationId xmlns:a16="http://schemas.microsoft.com/office/drawing/2014/main" id="{23699433-7198-425D-9E42-BF6EC225E64B}"/>
              </a:ext>
            </a:extLst>
          </p:cNvPr>
          <p:cNvSpPr>
            <a:spLocks xmlns:a="http://schemas.openxmlformats.org/drawingml/2006/main" noGrp="1"/>
          </p:cNvSpPr>
          <p:nvPr/>
        </p:nvSpPr>
        <p:spPr>
          <a:xfrm xmlns:a="http://schemas.openxmlformats.org/drawingml/2006/main">
            <a:off x="609600" y="2095500"/>
            <a:ext cx="1981200" cy="7620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5" name="">
            <a:extLst xmlns:a="http://schemas.openxmlformats.org/drawingml/2006/main">
              <a:ext uri="{FF2B5EF4-FFF2-40B4-BE49-F238E27FC236}">
                <a16:creationId xmlns:a16="http://schemas.microsoft.com/office/drawing/2014/main" id="{BF891FDC-89FD-46B7-A4DC-0D891DDEED48}"/>
              </a:ext>
            </a:extLst>
          </p:cNvPr>
          <p:cNvSpPr>
            <a:spLocks xmlns:a="http://schemas.openxmlformats.org/drawingml/2006/main" noGrp="1"/>
          </p:cNvSpPr>
          <p:nvPr/>
        </p:nvSpPr>
        <p:spPr>
          <a:xfrm xmlns:a="http://schemas.openxmlformats.org/drawingml/2006/main">
            <a:off x="723900" y="2171700"/>
            <a:ext cx="1752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Intent</a:t>
            </a:r>
          </a:p>
        </p:txBody>
      </p:sp>
      <p:sp>
        <p:nvSpPr>
          <p:cNvPr id="6" name="">
            <a:extLst xmlns:a="http://schemas.openxmlformats.org/drawingml/2006/main">
              <a:ext uri="{FF2B5EF4-FFF2-40B4-BE49-F238E27FC236}">
                <a16:creationId xmlns:a16="http://schemas.microsoft.com/office/drawing/2014/main" id="{05372F77-A3FB-4790-B6A2-810783D116F0}"/>
              </a:ext>
            </a:extLst>
          </p:cNvPr>
          <p:cNvSpPr>
            <a:spLocks xmlns:a="http://schemas.openxmlformats.org/drawingml/2006/main" noGrp="1"/>
          </p:cNvSpPr>
          <p:nvPr/>
        </p:nvSpPr>
        <p:spPr>
          <a:xfrm xmlns:a="http://schemas.openxmlformats.org/drawingml/2006/main">
            <a:off x="2857500" y="2095500"/>
            <a:ext cx="1981200" cy="7620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7" name="">
            <a:extLst xmlns:a="http://schemas.openxmlformats.org/drawingml/2006/main">
              <a:ext uri="{FF2B5EF4-FFF2-40B4-BE49-F238E27FC236}">
                <a16:creationId xmlns:a16="http://schemas.microsoft.com/office/drawing/2014/main" id="{1B516460-F449-45D1-ACFB-F94691EEA9F9}"/>
              </a:ext>
            </a:extLst>
          </p:cNvPr>
          <p:cNvSpPr>
            <a:spLocks xmlns:a="http://schemas.openxmlformats.org/drawingml/2006/main" noGrp="1"/>
          </p:cNvSpPr>
          <p:nvPr/>
        </p:nvSpPr>
        <p:spPr>
          <a:xfrm xmlns:a="http://schemas.openxmlformats.org/drawingml/2006/main">
            <a:off x="2971800" y="2171700"/>
            <a:ext cx="1752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Model</a:t>
            </a:r>
          </a:p>
        </p:txBody>
      </p:sp>
      <p:sp>
        <p:nvSpPr>
          <p:cNvPr id="8" name="">
            <a:extLst xmlns:a="http://schemas.openxmlformats.org/drawingml/2006/main">
              <a:ext uri="{FF2B5EF4-FFF2-40B4-BE49-F238E27FC236}">
                <a16:creationId xmlns:a16="http://schemas.microsoft.com/office/drawing/2014/main" id="{15DC08E9-9CFF-4318-8198-663EB6018CC2}"/>
              </a:ext>
            </a:extLst>
          </p:cNvPr>
          <p:cNvSpPr>
            <a:spLocks xmlns:a="http://schemas.openxmlformats.org/drawingml/2006/main" noGrp="1"/>
          </p:cNvSpPr>
          <p:nvPr/>
        </p:nvSpPr>
        <p:spPr>
          <a:xfrm xmlns:a="http://schemas.openxmlformats.org/drawingml/2006/main">
            <a:off x="5105400" y="2095500"/>
            <a:ext cx="1981200" cy="7620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9" name="">
            <a:extLst xmlns:a="http://schemas.openxmlformats.org/drawingml/2006/main">
              <a:ext uri="{FF2B5EF4-FFF2-40B4-BE49-F238E27FC236}">
                <a16:creationId xmlns:a16="http://schemas.microsoft.com/office/drawing/2014/main" id="{4D9B67FC-D6A5-4D75-AD2B-D50532FBEDAA}"/>
              </a:ext>
            </a:extLst>
          </p:cNvPr>
          <p:cNvSpPr>
            <a:spLocks xmlns:a="http://schemas.openxmlformats.org/drawingml/2006/main" noGrp="1"/>
          </p:cNvSpPr>
          <p:nvPr/>
        </p:nvSpPr>
        <p:spPr>
          <a:xfrm xmlns:a="http://schemas.openxmlformats.org/drawingml/2006/main">
            <a:off x="5219700" y="2171700"/>
            <a:ext cx="1752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Proposed action</a:t>
            </a:r>
          </a:p>
        </p:txBody>
      </p:sp>
      <p:sp>
        <p:nvSpPr>
          <p:cNvPr id="10" name="">
            <a:extLst xmlns:a="http://schemas.openxmlformats.org/drawingml/2006/main">
              <a:ext uri="{FF2B5EF4-FFF2-40B4-BE49-F238E27FC236}">
                <a16:creationId xmlns:a16="http://schemas.microsoft.com/office/drawing/2014/main" id="{0041C3E4-34FC-4E1C-B885-DAB59448B180}"/>
              </a:ext>
            </a:extLst>
          </p:cNvPr>
          <p:cNvSpPr>
            <a:spLocks xmlns:a="http://schemas.openxmlformats.org/drawingml/2006/main" noGrp="1"/>
          </p:cNvSpPr>
          <p:nvPr/>
        </p:nvSpPr>
        <p:spPr>
          <a:xfrm xmlns:a="http://schemas.openxmlformats.org/drawingml/2006/main">
            <a:off x="7353300" y="2095500"/>
            <a:ext cx="1981200" cy="7620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1" name="">
            <a:extLst xmlns:a="http://schemas.openxmlformats.org/drawingml/2006/main">
              <a:ext uri="{FF2B5EF4-FFF2-40B4-BE49-F238E27FC236}">
                <a16:creationId xmlns:a16="http://schemas.microsoft.com/office/drawing/2014/main" id="{0B2B5F5E-E79F-43E1-8202-A8ED8B79FC7A}"/>
              </a:ext>
            </a:extLst>
          </p:cNvPr>
          <p:cNvSpPr>
            <a:spLocks xmlns:a="http://schemas.openxmlformats.org/drawingml/2006/main" noGrp="1"/>
          </p:cNvSpPr>
          <p:nvPr/>
        </p:nvSpPr>
        <p:spPr>
          <a:xfrm xmlns:a="http://schemas.openxmlformats.org/drawingml/2006/main">
            <a:off x="7467600" y="2171700"/>
            <a:ext cx="1752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Policy gate</a:t>
            </a:r>
          </a:p>
        </p:txBody>
      </p:sp>
      <p:sp>
        <p:nvSpPr>
          <p:cNvPr id="12" name="">
            <a:extLst xmlns:a="http://schemas.openxmlformats.org/drawingml/2006/main">
              <a:ext uri="{FF2B5EF4-FFF2-40B4-BE49-F238E27FC236}">
                <a16:creationId xmlns:a16="http://schemas.microsoft.com/office/drawing/2014/main" id="{A7D8131C-0F6B-448D-AC5D-74F4A5E398CF}"/>
              </a:ext>
            </a:extLst>
          </p:cNvPr>
          <p:cNvSpPr>
            <a:spLocks xmlns:a="http://schemas.openxmlformats.org/drawingml/2006/main" noGrp="1"/>
          </p:cNvSpPr>
          <p:nvPr/>
        </p:nvSpPr>
        <p:spPr>
          <a:xfrm xmlns:a="http://schemas.openxmlformats.org/drawingml/2006/main">
            <a:off x="9601200" y="2095500"/>
            <a:ext cx="1981200" cy="7620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3" name="">
            <a:extLst xmlns:a="http://schemas.openxmlformats.org/drawingml/2006/main">
              <a:ext uri="{FF2B5EF4-FFF2-40B4-BE49-F238E27FC236}">
                <a16:creationId xmlns:a16="http://schemas.microsoft.com/office/drawing/2014/main" id="{1E9382CB-1C03-4E3C-9A2D-58F130C81A83}"/>
              </a:ext>
            </a:extLst>
          </p:cNvPr>
          <p:cNvSpPr>
            <a:spLocks xmlns:a="http://schemas.openxmlformats.org/drawingml/2006/main" noGrp="1"/>
          </p:cNvSpPr>
          <p:nvPr/>
        </p:nvSpPr>
        <p:spPr>
          <a:xfrm xmlns:a="http://schemas.openxmlformats.org/drawingml/2006/main">
            <a:off x="9715500" y="2171700"/>
            <a:ext cx="1752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User / tool</a:t>
            </a:r>
          </a:p>
        </p:txBody>
      </p:sp>
      <p:cxnSp>
        <p:nvCxnSpPr>
          <p:cNvPr id="45" name=""/>
          <p:cNvCxnSpPr>
            <a:stCxn xmlns:a="http://schemas.openxmlformats.org/drawingml/2006/main" id="4" idx="3"/>
            <a:endCxn xmlns:a="http://schemas.openxmlformats.org/drawingml/2006/main" id="6" idx="1"/>
          </p:cNvCxnSpPr>
          <p:nvPr/>
        </p:nvCxnSpPr>
        <p:spPr>
          <a:xfrm xmlns:a="http://schemas.openxmlformats.org/drawingml/2006/main">
            <a:off x="2590800" y="2476500"/>
            <a:ext cx="2667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46" name=""/>
          <p:cNvCxnSpPr>
            <a:stCxn xmlns:a="http://schemas.openxmlformats.org/drawingml/2006/main" id="6" idx="3"/>
            <a:endCxn xmlns:a="http://schemas.openxmlformats.org/drawingml/2006/main" id="8" idx="1"/>
          </p:cNvCxnSpPr>
          <p:nvPr/>
        </p:nvCxnSpPr>
        <p:spPr>
          <a:xfrm xmlns:a="http://schemas.openxmlformats.org/drawingml/2006/main">
            <a:off x="4838700" y="2476500"/>
            <a:ext cx="2667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47" name=""/>
          <p:cNvCxnSpPr>
            <a:stCxn xmlns:a="http://schemas.openxmlformats.org/drawingml/2006/main" id="8" idx="3"/>
            <a:endCxn xmlns:a="http://schemas.openxmlformats.org/drawingml/2006/main" id="10" idx="1"/>
          </p:cNvCxnSpPr>
          <p:nvPr/>
        </p:nvCxnSpPr>
        <p:spPr>
          <a:xfrm xmlns:a="http://schemas.openxmlformats.org/drawingml/2006/main">
            <a:off x="7086600" y="2476500"/>
            <a:ext cx="2667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48" name=""/>
          <p:cNvCxnSpPr>
            <a:stCxn xmlns:a="http://schemas.openxmlformats.org/drawingml/2006/main" id="10" idx="3"/>
            <a:endCxn xmlns:a="http://schemas.openxmlformats.org/drawingml/2006/main" id="12" idx="1"/>
          </p:cNvCxnSpPr>
          <p:nvPr/>
        </p:nvCxnSpPr>
        <p:spPr>
          <a:xfrm xmlns:a="http://schemas.openxmlformats.org/drawingml/2006/main">
            <a:off x="9334500" y="2476500"/>
            <a:ext cx="2667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18" name="">
            <a:extLst xmlns:a="http://schemas.openxmlformats.org/drawingml/2006/main">
              <a:ext uri="{FF2B5EF4-FFF2-40B4-BE49-F238E27FC236}">
                <a16:creationId xmlns:a16="http://schemas.microsoft.com/office/drawing/2014/main" id="{85768F8B-8FFB-4868-A6BE-6C5E62BEB07E}"/>
              </a:ext>
            </a:extLst>
          </p:cNvPr>
          <p:cNvSpPr>
            <a:spLocks xmlns:a="http://schemas.openxmlformats.org/drawingml/2006/main" noGrp="1"/>
          </p:cNvSpPr>
          <p:nvPr/>
        </p:nvSpPr>
        <p:spPr>
          <a:xfrm xmlns:a="http://schemas.openxmlformats.org/drawingml/2006/main">
            <a:off x="9601200" y="3905250"/>
            <a:ext cx="1981200" cy="7620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9" name="">
            <a:extLst xmlns:a="http://schemas.openxmlformats.org/drawingml/2006/main">
              <a:ext uri="{FF2B5EF4-FFF2-40B4-BE49-F238E27FC236}">
                <a16:creationId xmlns:a16="http://schemas.microsoft.com/office/drawing/2014/main" id="{3BDFBF6D-10B3-4D39-AA1F-58C88AE69684}"/>
              </a:ext>
            </a:extLst>
          </p:cNvPr>
          <p:cNvSpPr>
            <a:spLocks xmlns:a="http://schemas.openxmlformats.org/drawingml/2006/main" noGrp="1"/>
          </p:cNvSpPr>
          <p:nvPr/>
        </p:nvSpPr>
        <p:spPr>
          <a:xfrm xmlns:a="http://schemas.openxmlformats.org/drawingml/2006/main">
            <a:off x="9715500" y="3981450"/>
            <a:ext cx="1752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950" b="1">
                <a:solidFill>
                  <a:srgbClr val="F4F7FA"/>
                </a:solidFill>
                <a:latin typeface="DejaVu Sans"/>
                <a:ea typeface="DejaVu Sans"/>
                <a:cs typeface="DejaVu Sans"/>
              </a:defRPr>
            </a:pPr>
            <a:r>
              <a:rPr sz="1950" b="1">
                <a:solidFill>
                  <a:srgbClr val="F4F7FA"/>
                </a:solidFill>
                <a:latin typeface="DejaVu Sans"/>
                <a:ea typeface="DejaVu Sans"/>
                <a:cs typeface="DejaVu Sans"/>
              </a:rPr>
              <a:t>Observe</a:t>
            </a:r>
          </a:p>
        </p:txBody>
      </p:sp>
      <p:sp>
        <p:nvSpPr>
          <p:cNvPr id="20" name="">
            <a:extLst xmlns:a="http://schemas.openxmlformats.org/drawingml/2006/main">
              <a:ext uri="{FF2B5EF4-FFF2-40B4-BE49-F238E27FC236}">
                <a16:creationId xmlns:a16="http://schemas.microsoft.com/office/drawing/2014/main" id="{DE3137DD-2275-4E34-9FC6-667623751A6A}"/>
              </a:ext>
            </a:extLst>
          </p:cNvPr>
          <p:cNvSpPr>
            <a:spLocks xmlns:a="http://schemas.openxmlformats.org/drawingml/2006/main" noGrp="1"/>
          </p:cNvSpPr>
          <p:nvPr/>
        </p:nvSpPr>
        <p:spPr>
          <a:xfrm xmlns:a="http://schemas.openxmlformats.org/drawingml/2006/main">
            <a:off x="6667500" y="3905250"/>
            <a:ext cx="2247900" cy="7620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21" name="">
            <a:extLst xmlns:a="http://schemas.openxmlformats.org/drawingml/2006/main">
              <a:ext uri="{FF2B5EF4-FFF2-40B4-BE49-F238E27FC236}">
                <a16:creationId xmlns:a16="http://schemas.microsoft.com/office/drawing/2014/main" id="{D73699D8-DA0E-4768-A111-683DBB85EAF6}"/>
              </a:ext>
            </a:extLst>
          </p:cNvPr>
          <p:cNvSpPr>
            <a:spLocks xmlns:a="http://schemas.openxmlformats.org/drawingml/2006/main" noGrp="1"/>
          </p:cNvSpPr>
          <p:nvPr/>
        </p:nvSpPr>
        <p:spPr>
          <a:xfrm xmlns:a="http://schemas.openxmlformats.org/drawingml/2006/main">
            <a:off x="6781800" y="3981450"/>
            <a:ext cx="2019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Evaluate / decide</a:t>
            </a:r>
          </a:p>
        </p:txBody>
      </p:sp>
      <p:sp>
        <p:nvSpPr>
          <p:cNvPr id="22" name="">
            <a:extLst xmlns:a="http://schemas.openxmlformats.org/drawingml/2006/main">
              <a:ext uri="{FF2B5EF4-FFF2-40B4-BE49-F238E27FC236}">
                <a16:creationId xmlns:a16="http://schemas.microsoft.com/office/drawing/2014/main" id="{2BD9188C-B1C1-440C-86CD-F85B620EA962}"/>
              </a:ext>
            </a:extLst>
          </p:cNvPr>
          <p:cNvSpPr>
            <a:spLocks xmlns:a="http://schemas.openxmlformats.org/drawingml/2006/main" noGrp="1"/>
          </p:cNvSpPr>
          <p:nvPr/>
        </p:nvSpPr>
        <p:spPr>
          <a:xfrm xmlns:a="http://schemas.openxmlformats.org/drawingml/2006/main">
            <a:off x="2857500" y="3905250"/>
            <a:ext cx="2667000" cy="7620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23" name="">
            <a:extLst xmlns:a="http://schemas.openxmlformats.org/drawingml/2006/main">
              <a:ext uri="{FF2B5EF4-FFF2-40B4-BE49-F238E27FC236}">
                <a16:creationId xmlns:a16="http://schemas.microsoft.com/office/drawing/2014/main" id="{DEAB9027-1B4A-404F-9BDE-6F946CF5D714}"/>
              </a:ext>
            </a:extLst>
          </p:cNvPr>
          <p:cNvSpPr>
            <a:spLocks xmlns:a="http://schemas.openxmlformats.org/drawingml/2006/main" noGrp="1"/>
          </p:cNvSpPr>
          <p:nvPr/>
        </p:nvSpPr>
        <p:spPr>
          <a:xfrm xmlns:a="http://schemas.openxmlformats.org/drawingml/2006/main">
            <a:off x="2971800" y="3981450"/>
            <a:ext cx="2438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Act within authority</a:t>
            </a:r>
          </a:p>
        </p:txBody>
      </p:sp>
      <p:cxnSp>
        <p:nvCxnSpPr>
          <p:cNvPr id="55" name=""/>
          <p:cNvCxnSpPr>
            <a:stCxn xmlns:a="http://schemas.openxmlformats.org/drawingml/2006/main" id="12" idx="2"/>
            <a:endCxn xmlns:a="http://schemas.openxmlformats.org/drawingml/2006/main" id="18" idx="0"/>
          </p:cNvCxnSpPr>
          <p:nvPr/>
        </p:nvCxnSpPr>
        <p:spPr>
          <a:xfrm xmlns:a="http://schemas.openxmlformats.org/drawingml/2006/main">
            <a:off x="10591800" y="2857500"/>
            <a:ext cx="0" cy="104775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56" name=""/>
          <p:cNvCxnSpPr>
            <a:stCxn xmlns:a="http://schemas.openxmlformats.org/drawingml/2006/main" id="18" idx="1"/>
            <a:endCxn xmlns:a="http://schemas.openxmlformats.org/drawingml/2006/main" id="20" idx="3"/>
          </p:cNvCxnSpPr>
          <p:nvPr/>
        </p:nvCxnSpPr>
        <p:spPr>
          <a:xfrm xmlns:a="http://schemas.openxmlformats.org/drawingml/2006/main" flipH="1">
            <a:off x="8915400" y="4286250"/>
            <a:ext cx="68580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57" name=""/>
          <p:cNvCxnSpPr>
            <a:stCxn xmlns:a="http://schemas.openxmlformats.org/drawingml/2006/main" id="20" idx="1"/>
            <a:endCxn xmlns:a="http://schemas.openxmlformats.org/drawingml/2006/main" id="22" idx="3"/>
          </p:cNvCxnSpPr>
          <p:nvPr/>
        </p:nvCxnSpPr>
        <p:spPr>
          <a:xfrm xmlns:a="http://schemas.openxmlformats.org/drawingml/2006/main" flipH="1">
            <a:off x="5524500" y="4286250"/>
            <a:ext cx="114300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58" name=""/>
          <p:cNvCxnSpPr>
            <a:stCxn xmlns:a="http://schemas.openxmlformats.org/drawingml/2006/main" id="22" idx="0"/>
            <a:endCxn xmlns:a="http://schemas.openxmlformats.org/drawingml/2006/main" id="6" idx="2"/>
          </p:cNvCxnSpPr>
          <p:nvPr/>
        </p:nvCxnSpPr>
        <p:spPr>
          <a:xfrm xmlns:a="http://schemas.openxmlformats.org/drawingml/2006/main" flipH="1" flipV="1">
            <a:off x="3848100" y="2857500"/>
            <a:ext cx="342900" cy="1047750"/>
          </a:xfrm>
          <a:prstGeom xmlns:a="http://schemas.openxmlformats.org/drawingml/2006/main" prst="bentConnector4">
            <a:avLst>
              <a:gd name="adj1" fmla="val 0"/>
              <a:gd name="adj2" fmla="val 50000"/>
            </a:avLst>
          </a:prstGeom>
          <a:ln xmlns:a="http://schemas.openxmlformats.org/drawingml/2006/main" w="21908">
            <a:solidFill>
              <a:srgbClr val="F5B61C"/>
            </a:solidFill>
            <a:prstDash val="solid"/>
            <a:tailEnd type="triangle" w="med" len="med"/>
          </a:ln>
        </p:spPr>
      </p:cxnSp>
      <p:sp>
        <p:nvSpPr>
          <p:cNvPr id="28" name="">
            <a:extLst xmlns:a="http://schemas.openxmlformats.org/drawingml/2006/main">
              <a:ext uri="{FF2B5EF4-FFF2-40B4-BE49-F238E27FC236}">
                <a16:creationId xmlns:a16="http://schemas.microsoft.com/office/drawing/2014/main" id="{691F22AE-3BCC-4614-9F92-34B86872D086}"/>
              </a:ext>
            </a:extLst>
          </p:cNvPr>
          <p:cNvSpPr>
            <a:spLocks xmlns:a="http://schemas.openxmlformats.org/drawingml/2006/main" noGrp="1"/>
          </p:cNvSpPr>
          <p:nvPr/>
        </p:nvSpPr>
        <p:spPr>
          <a:xfrm xmlns:a="http://schemas.openxmlformats.org/drawingml/2006/main">
            <a:off x="609600" y="4953000"/>
            <a:ext cx="10896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F4F7FA"/>
                </a:solidFill>
                <a:latin typeface="DejaVu Sans"/>
                <a:ea typeface="DejaVu Sans"/>
                <a:cs typeface="DejaVu Sans"/>
              </a:defRPr>
            </a:pPr>
            <a:r>
              <a:rPr sz="1950" b="0">
                <a:solidFill>
                  <a:srgbClr val="F4F7FA"/>
                </a:solidFill>
                <a:latin typeface="DejaVu Sans"/>
                <a:ea typeface="DejaVu Sans"/>
                <a:cs typeface="DejaVu Sans"/>
              </a:rPr>
              <a:t>Correct / retry / escalate / fallback / stop</a:t>
            </a:r>
          </a:p>
        </p:txBody>
      </p:sp>
      <p:sp>
        <p:nvSpPr>
          <p:cNvPr id="29" name="">
            <a:extLst xmlns:a="http://schemas.openxmlformats.org/drawingml/2006/main">
              <a:ext uri="{FF2B5EF4-FFF2-40B4-BE49-F238E27FC236}">
                <a16:creationId xmlns:a16="http://schemas.microsoft.com/office/drawing/2014/main" id="{D658DAF9-5E2E-481C-BF80-3CD2A133D117}"/>
              </a:ext>
            </a:extLst>
          </p:cNvPr>
          <p:cNvSpPr>
            <a:spLocks xmlns:a="http://schemas.openxmlformats.org/drawingml/2006/main" noGrp="1"/>
          </p:cNvSpPr>
          <p:nvPr/>
        </p:nvSpPr>
        <p:spPr>
          <a:xfrm xmlns:a="http://schemas.openxmlformats.org/drawingml/2006/main">
            <a:off x="609600" y="5400675"/>
            <a:ext cx="10896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DejaVu Sans"/>
                <a:ea typeface="DejaVu Sans"/>
                <a:cs typeface="DejaVu Sans"/>
              </a:defRPr>
            </a:pPr>
            <a:r>
              <a:rPr sz="1575" b="0">
                <a:solidFill>
                  <a:srgbClr val="ADB8C5"/>
                </a:solidFill>
                <a:latin typeface="DejaVu Sans"/>
                <a:ea typeface="DejaVu Sans"/>
                <a:cs typeface="DejaVu Sans"/>
              </a:rPr>
              <a:t>Gate consequential actions before execution. Review incidents into Golden Sets.</a:t>
            </a:r>
          </a:p>
        </p:txBody>
      </p:sp>
      <p:sp>
        <p:nvSpPr>
          <p:cNvPr id="30" name="">
            <a:extLst xmlns:a="http://schemas.openxmlformats.org/drawingml/2006/main">
              <a:ext uri="{FF2B5EF4-FFF2-40B4-BE49-F238E27FC236}">
                <a16:creationId xmlns:a16="http://schemas.microsoft.com/office/drawing/2014/main" id="{4E7A0F12-362C-4749-8902-D855895885D0}"/>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1" name="">
            <a:extLst xmlns:a="http://schemas.openxmlformats.org/drawingml/2006/main">
              <a:ext uri="{FF2B5EF4-FFF2-40B4-BE49-F238E27FC236}">
                <a16:creationId xmlns:a16="http://schemas.microsoft.com/office/drawing/2014/main" id="{EB63F333-04B0-4C7C-901F-B2D9FAED8464}"/>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Production needs evidence connected to corrective action.</a:t>
            </a:r>
          </a:p>
        </p:txBody>
      </p:sp>
    </p:spTree>
    <p:extLst>
      <p:ext uri="{BB962C8B-B14F-4D97-AF65-F5344CB8AC3E}">
        <p14:creationId xmlns:p14="http://schemas.microsoft.com/office/powerpoint/2010/main" val="2114468356"/>
      </p:ext>
    </p:extLst>
  </p:cSld>
</p:sld>
</file>

<file path=ppt/slides/slide13.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656E6A7-FB5D-40DE-9C28-D857409DA1FD}"/>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The Roles Move With the System</a:t>
            </a:r>
          </a:p>
        </p:txBody>
      </p:sp>
      <p:sp>
        <p:nvSpPr>
          <p:cNvPr id="2" name="">
            <a:extLst xmlns:a="http://schemas.openxmlformats.org/drawingml/2006/main">
              <a:ext uri="{FF2B5EF4-FFF2-40B4-BE49-F238E27FC236}">
                <a16:creationId xmlns:a16="http://schemas.microsoft.com/office/drawing/2014/main" id="{E68EB636-D3D0-4991-9042-2D9A57B9844E}"/>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D9A81F3E-8FE2-4AE3-BC29-41BE654D4FFC}"/>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13</a:t>
            </a:r>
          </a:p>
        </p:txBody>
      </p:sp>
      <p:graphicFrame>
        <p:nvGraphicFramePr>
          <p:cNvPr id="10" name=""/>
          <p:cNvGraphicFramePr/>
          <p:nvPr/>
        </p:nvGraphicFramePr>
        <p:xfrm>
          <a:off xmlns:a="http://schemas.openxmlformats.org/drawingml/2006/main" x="609600" y="2009775"/>
          <a:ext xmlns:a="http://schemas.openxmlformats.org/drawingml/2006/main" cx="10972800" cy="3429000"/>
        </p:xfrm>
        <a:graphic xmlns:a="http://schemas.openxmlformats.org/drawingml/2006/main">
          <a:graphicData uri="http://schemas.openxmlformats.org/drawingml/2006/table">
            <a:tbl>
              <a:tblPr/>
              <a:tblGrid>
                <a:gridCol w="1695450"/>
                <a:gridCol w="3276600"/>
                <a:gridCol w="6000750"/>
              </a:tblGrid>
              <a:tr h="685800">
                <a:tc>
                  <a:txBody>
                    <a:bodyPr lIns="171450" tIns="114300" rIns="171450" bIns="114300">
                      <a:noAutofit/>
                    </a:bodyPr>
                    <a:lstStyle/>
                    <a:p>
                      <a:r>
                        <a:rPr sz="1725" b="1">
                          <a:solidFill>
                            <a:srgbClr val="F4F7FA"/>
                          </a:solidFill>
                          <a:latin typeface="DejaVu Sans"/>
                          <a:ea typeface="DejaVu Sans"/>
                          <a:cs typeface="DejaVu Sans"/>
                        </a:rPr>
                        <a:t>Role</a:t>
                      </a:r>
                    </a:p>
                  </a:txBody>
                  <a:tcPr marL="91440" marR="91440" marT="45720" marB="45720" anchor="ctr">
                    <a:solidFill>
                      <a:srgbClr val="1A2734"/>
                    </a:solidFill>
                  </a:tcPr>
                </a:tc>
                <a:tc>
                  <a:txBody>
                    <a:bodyPr lIns="171450" tIns="114300" rIns="171450" bIns="114300">
                      <a:noAutofit/>
                    </a:bodyPr>
                    <a:lstStyle/>
                    <a:p>
                      <a:r>
                        <a:rPr sz="1725" b="1">
                          <a:solidFill>
                            <a:srgbClr val="F4F7FA"/>
                          </a:solidFill>
                          <a:latin typeface="DejaVu Sans"/>
                          <a:ea typeface="DejaVu Sans"/>
                          <a:cs typeface="DejaVu Sans"/>
                        </a:rPr>
                        <a:t>Before</a:t>
                      </a:r>
                    </a:p>
                  </a:txBody>
                  <a:tcPr marL="91440" marR="91440" marT="45720" marB="45720" anchor="ctr">
                    <a:solidFill>
                      <a:srgbClr val="1A2734"/>
                    </a:solidFill>
                  </a:tcPr>
                </a:tc>
                <a:tc>
                  <a:txBody>
                    <a:bodyPr lIns="171450" tIns="114300" rIns="171450" bIns="114300">
                      <a:noAutofit/>
                    </a:bodyPr>
                    <a:lstStyle/>
                    <a:p>
                      <a:r>
                        <a:rPr sz="1725" b="1">
                          <a:solidFill>
                            <a:srgbClr val="28C7F7"/>
                          </a:solidFill>
                          <a:latin typeface="DejaVu Sans"/>
                          <a:ea typeface="DejaVu Sans"/>
                          <a:cs typeface="DejaVu Sans"/>
                        </a:rPr>
                        <a:t>Increasingly owns</a:t>
                      </a:r>
                    </a:p>
                  </a:txBody>
                  <a:tcPr marL="91440" marR="91440" marT="45720" marB="45720" anchor="ctr">
                    <a:solidFill>
                      <a:srgbClr val="1A2734"/>
                    </a:solidFill>
                  </a:tcPr>
                </a:tc>
              </a:tr>
              <a:tr h="685800">
                <a:tc>
                  <a:txBody>
                    <a:bodyPr lIns="171450" tIns="114300" rIns="171450" bIns="114300">
                      <a:noAutofit/>
                    </a:bodyPr>
                    <a:lstStyle/>
                    <a:p>
                      <a:r>
                        <a:rPr sz="1875" b="1">
                          <a:solidFill>
                            <a:srgbClr val="F4F7FA"/>
                          </a:solidFill>
                          <a:latin typeface="DejaVu Sans"/>
                          <a:ea typeface="DejaVu Sans"/>
                          <a:cs typeface="DejaVu Sans"/>
                        </a:rPr>
                        <a:t>PM</a:t>
                      </a:r>
                    </a:p>
                  </a:txBody>
                  <a:tcPr marL="91440" marR="91440" marT="45720" marB="45720" anchor="ctr">
                    <a:solidFill>
                      <a:srgbClr val="0B0F14"/>
                    </a:solidFill>
                  </a:tcPr>
                </a:tc>
                <a:tc>
                  <a:txBody>
                    <a:bodyPr lIns="171450" tIns="114300" rIns="171450" bIns="114300">
                      <a:noAutofit/>
                    </a:bodyPr>
                    <a:lstStyle/>
                    <a:p>
                      <a:r>
                        <a:rPr sz="1875" b="0">
                          <a:solidFill>
                            <a:srgbClr val="F4F7FA"/>
                          </a:solidFill>
                          <a:latin typeface="DejaVu Sans"/>
                          <a:ea typeface="DejaVu Sans"/>
                          <a:cs typeface="DejaVu Sans"/>
                        </a:rPr>
                        <a:t>Story / acceptance</a:t>
                      </a:r>
                    </a:p>
                  </a:txBody>
                  <a:tcPr marL="91440" marR="91440" marT="45720" marB="45720" anchor="ctr">
                    <a:solidFill>
                      <a:srgbClr val="0B0F14"/>
                    </a:solidFill>
                  </a:tcPr>
                </a:tc>
                <a:tc>
                  <a:txBody>
                    <a:bodyPr lIns="171450" tIns="114300" rIns="171450" bIns="114300">
                      <a:noAutofit/>
                    </a:bodyPr>
                    <a:lstStyle/>
                    <a:p>
                      <a:r>
                        <a:rPr sz="1875" b="0">
                          <a:solidFill>
                            <a:srgbClr val="28C7F7"/>
                          </a:solidFill>
                          <a:latin typeface="DejaVu Sans"/>
                          <a:ea typeface="DejaVu Sans"/>
                          <a:cs typeface="DejaVu Sans"/>
                        </a:rPr>
                        <a:t>Risk &amp; tolerance</a:t>
                      </a:r>
                    </a:p>
                  </a:txBody>
                  <a:tcPr marL="91440" marR="91440" marT="45720" marB="45720" anchor="ctr">
                    <a:solidFill>
                      <a:srgbClr val="0B0F14"/>
                    </a:solidFill>
                  </a:tcPr>
                </a:tc>
              </a:tr>
              <a:tr h="685800">
                <a:tc>
                  <a:txBody>
                    <a:bodyPr lIns="171450" tIns="114300" rIns="171450" bIns="114300">
                      <a:noAutofit/>
                    </a:bodyPr>
                    <a:lstStyle/>
                    <a:p>
                      <a:r>
                        <a:rPr sz="1875" b="1">
                          <a:solidFill>
                            <a:srgbClr val="F4F7FA"/>
                          </a:solidFill>
                          <a:latin typeface="DejaVu Sans"/>
                          <a:ea typeface="DejaVu Sans"/>
                          <a:cs typeface="DejaVu Sans"/>
                        </a:rPr>
                        <a:t>QA</a:t>
                      </a:r>
                    </a:p>
                  </a:txBody>
                  <a:tcPr marL="91440" marR="91440" marT="45720" marB="45720" anchor="ctr">
                    <a:solidFill>
                      <a:srgbClr val="0B0F14"/>
                    </a:solidFill>
                  </a:tcPr>
                </a:tc>
                <a:tc>
                  <a:txBody>
                    <a:bodyPr lIns="171450" tIns="114300" rIns="171450" bIns="114300">
                      <a:noAutofit/>
                    </a:bodyPr>
                    <a:lstStyle/>
                    <a:p>
                      <a:r>
                        <a:rPr sz="1875" b="0">
                          <a:solidFill>
                            <a:srgbClr val="F4F7FA"/>
                          </a:solidFill>
                          <a:latin typeface="DejaVu Sans"/>
                          <a:ea typeface="DejaVu Sans"/>
                          <a:cs typeface="DejaVu Sans"/>
                        </a:rPr>
                        <a:t>Pass / fail cases</a:t>
                      </a:r>
                    </a:p>
                  </a:txBody>
                  <a:tcPr marL="91440" marR="91440" marT="45720" marB="45720" anchor="ctr">
                    <a:solidFill>
                      <a:srgbClr val="0B0F14"/>
                    </a:solidFill>
                  </a:tcPr>
                </a:tc>
                <a:tc>
                  <a:txBody>
                    <a:bodyPr lIns="171450" tIns="114300" rIns="171450" bIns="114300">
                      <a:noAutofit/>
                    </a:bodyPr>
                    <a:lstStyle/>
                    <a:p>
                      <a:r>
                        <a:rPr sz="1875" b="0">
                          <a:solidFill>
                            <a:srgbClr val="28C7F7"/>
                          </a:solidFill>
                          <a:latin typeface="DejaVu Sans"/>
                          <a:ea typeface="DejaVu Sans"/>
                          <a:cs typeface="DejaVu Sans"/>
                        </a:rPr>
                        <a:t>Measurement &amp; evaluation</a:t>
                      </a:r>
                    </a:p>
                  </a:txBody>
                  <a:tcPr marL="91440" marR="91440" marT="45720" marB="45720" anchor="ctr">
                    <a:solidFill>
                      <a:srgbClr val="0B0F14"/>
                    </a:solidFill>
                  </a:tcPr>
                </a:tc>
              </a:tr>
              <a:tr h="685800">
                <a:tc>
                  <a:txBody>
                    <a:bodyPr lIns="171450" tIns="114300" rIns="171450" bIns="114300">
                      <a:noAutofit/>
                    </a:bodyPr>
                    <a:lstStyle/>
                    <a:p>
                      <a:r>
                        <a:rPr sz="1875" b="1">
                          <a:solidFill>
                            <a:srgbClr val="F4F7FA"/>
                          </a:solidFill>
                          <a:latin typeface="DejaVu Sans"/>
                          <a:ea typeface="DejaVu Sans"/>
                          <a:cs typeface="DejaVu Sans"/>
                        </a:rPr>
                        <a:t>Architect</a:t>
                      </a:r>
                    </a:p>
                  </a:txBody>
                  <a:tcPr marL="91440" marR="91440" marT="45720" marB="45720" anchor="ctr">
                    <a:solidFill>
                      <a:srgbClr val="0B0F14"/>
                    </a:solidFill>
                  </a:tcPr>
                </a:tc>
                <a:tc>
                  <a:txBody>
                    <a:bodyPr lIns="171450" tIns="114300" rIns="171450" bIns="114300">
                      <a:noAutofit/>
                    </a:bodyPr>
                    <a:lstStyle/>
                    <a:p>
                      <a:r>
                        <a:rPr sz="1875" b="0">
                          <a:solidFill>
                            <a:srgbClr val="F4F7FA"/>
                          </a:solidFill>
                          <a:latin typeface="DejaVu Sans"/>
                          <a:ea typeface="DejaVu Sans"/>
                          <a:cs typeface="DejaVu Sans"/>
                        </a:rPr>
                        <a:t>Components &amp; flows</a:t>
                      </a:r>
                    </a:p>
                  </a:txBody>
                  <a:tcPr marL="91440" marR="91440" marT="45720" marB="45720" anchor="ctr">
                    <a:solidFill>
                      <a:srgbClr val="0B0F14"/>
                    </a:solidFill>
                  </a:tcPr>
                </a:tc>
                <a:tc>
                  <a:txBody>
                    <a:bodyPr lIns="171450" tIns="114300" rIns="171450" bIns="114300">
                      <a:noAutofit/>
                    </a:bodyPr>
                    <a:lstStyle/>
                    <a:p>
                      <a:r>
                        <a:rPr sz="1875" b="0">
                          <a:solidFill>
                            <a:srgbClr val="28C7F7"/>
                          </a:solidFill>
                          <a:latin typeface="DejaVu Sans"/>
                          <a:ea typeface="DejaVu Sans"/>
                          <a:cs typeface="DejaVu Sans"/>
                        </a:rPr>
                        <a:t>Boundaries &amp; failure containment</a:t>
                      </a:r>
                    </a:p>
                  </a:txBody>
                  <a:tcPr marL="91440" marR="91440" marT="45720" marB="45720" anchor="ctr">
                    <a:solidFill>
                      <a:srgbClr val="0B0F14"/>
                    </a:solidFill>
                  </a:tcPr>
                </a:tc>
              </a:tr>
              <a:tr h="685800">
                <a:tc>
                  <a:txBody>
                    <a:bodyPr lIns="171450" tIns="114300" rIns="171450" bIns="114300">
                      <a:noAutofit/>
                    </a:bodyPr>
                    <a:lstStyle/>
                    <a:p>
                      <a:r>
                        <a:rPr sz="1875" b="1">
                          <a:solidFill>
                            <a:srgbClr val="F4F7FA"/>
                          </a:solidFill>
                          <a:latin typeface="DejaVu Sans"/>
                          <a:ea typeface="DejaVu Sans"/>
                          <a:cs typeface="DejaVu Sans"/>
                        </a:rPr>
                        <a:t>Developer</a:t>
                      </a:r>
                    </a:p>
                  </a:txBody>
                  <a:tcPr marL="91440" marR="91440" marT="45720" marB="45720" anchor="ctr">
                    <a:solidFill>
                      <a:srgbClr val="0B0F14"/>
                    </a:solidFill>
                  </a:tcPr>
                </a:tc>
                <a:tc>
                  <a:txBody>
                    <a:bodyPr lIns="171450" tIns="114300" rIns="171450" bIns="114300">
                      <a:noAutofit/>
                    </a:bodyPr>
                    <a:lstStyle/>
                    <a:p>
                      <a:r>
                        <a:rPr sz="1875" b="0">
                          <a:solidFill>
                            <a:srgbClr val="F4F7FA"/>
                          </a:solidFill>
                          <a:latin typeface="DejaVu Sans"/>
                          <a:ea typeface="DejaVu Sans"/>
                          <a:cs typeface="DejaVu Sans"/>
                        </a:rPr>
                        <a:t>Implementation</a:t>
                      </a:r>
                    </a:p>
                  </a:txBody>
                  <a:tcPr marL="91440" marR="91440" marT="45720" marB="45720" anchor="ctr">
                    <a:solidFill>
                      <a:srgbClr val="0B0F14"/>
                    </a:solidFill>
                  </a:tcPr>
                </a:tc>
                <a:tc>
                  <a:txBody>
                    <a:bodyPr lIns="171450" tIns="114300" rIns="171450" bIns="114300">
                      <a:noAutofit/>
                    </a:bodyPr>
                    <a:lstStyle/>
                    <a:p>
                      <a:r>
                        <a:rPr sz="1875" b="0">
                          <a:solidFill>
                            <a:srgbClr val="28C7F7"/>
                          </a:solidFill>
                          <a:latin typeface="DejaVu Sans"/>
                          <a:ea typeface="DejaVu Sans"/>
                          <a:cs typeface="DejaVu Sans"/>
                        </a:rPr>
                        <a:t>Behavioral / operational ownership</a:t>
                      </a:r>
                    </a:p>
                  </a:txBody>
                  <a:tcPr marL="91440" marR="91440" marT="45720" marB="45720" anchor="ctr">
                    <a:solidFill>
                      <a:srgbClr val="0B0F14"/>
                    </a:solidFill>
                  </a:tcPr>
                </a:tc>
              </a:tr>
            </a:tbl>
          </a:graphicData>
        </a:graphic>
      </p:graphicFrame>
      <p:sp>
        <p:nvSpPr>
          <p:cNvPr id="5" name="">
            <a:extLst xmlns:a="http://schemas.openxmlformats.org/drawingml/2006/main">
              <a:ext uri="{FF2B5EF4-FFF2-40B4-BE49-F238E27FC236}">
                <a16:creationId xmlns:a16="http://schemas.microsoft.com/office/drawing/2014/main" id="{1D6C0ECB-EE28-44F8-8F87-95AA06CA9CB5}"/>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6" name="">
            <a:extLst xmlns:a="http://schemas.openxmlformats.org/drawingml/2006/main">
              <a:ext uri="{FF2B5EF4-FFF2-40B4-BE49-F238E27FC236}">
                <a16:creationId xmlns:a16="http://schemas.microsoft.com/office/drawing/2014/main" id="{39D18973-6430-4A40-899E-73C2440D53E3}"/>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The job titles may stay. The object of responsibility changes.</a:t>
            </a:r>
          </a:p>
        </p:txBody>
      </p:sp>
    </p:spTree>
    <p:extLst>
      <p:ext uri="{BB962C8B-B14F-4D97-AF65-F5344CB8AC3E}">
        <p14:creationId xmlns:p14="http://schemas.microsoft.com/office/powerpoint/2010/main" val="1858130324"/>
      </p:ext>
    </p:extLst>
  </p:cSld>
</p:sld>
</file>

<file path=ppt/slides/slide14.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9F99FC64-732E-45D9-A6C3-BEB65084EAFD}"/>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Engineering Rigor Moves —</a:t>
            </a:r>
          </a:p>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It Doesn’t Disappear</a:t>
            </a:r>
          </a:p>
        </p:txBody>
      </p:sp>
      <p:sp>
        <p:nvSpPr>
          <p:cNvPr id="2" name="">
            <a:extLst xmlns:a="http://schemas.openxmlformats.org/drawingml/2006/main">
              <a:ext uri="{FF2B5EF4-FFF2-40B4-BE49-F238E27FC236}">
                <a16:creationId xmlns:a16="http://schemas.microsoft.com/office/drawing/2014/main" id="{E195211B-C403-4DB1-BAB5-8C8F941C1F10}"/>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024F8481-D19F-41C3-9F8B-406978376892}"/>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14</a:t>
            </a:r>
          </a:p>
        </p:txBody>
      </p:sp>
      <p:sp>
        <p:nvSpPr>
          <p:cNvPr id="4" name="">
            <a:extLst xmlns:a="http://schemas.openxmlformats.org/drawingml/2006/main">
              <a:ext uri="{FF2B5EF4-FFF2-40B4-BE49-F238E27FC236}">
                <a16:creationId xmlns:a16="http://schemas.microsoft.com/office/drawing/2014/main" id="{FC26E807-78AD-4B3F-943E-1D918B3D1C95}"/>
              </a:ext>
            </a:extLst>
          </p:cNvPr>
          <p:cNvSpPr>
            <a:spLocks xmlns:a="http://schemas.openxmlformats.org/drawingml/2006/main" noGrp="1"/>
          </p:cNvSpPr>
          <p:nvPr/>
        </p:nvSpPr>
        <p:spPr>
          <a:xfrm xmlns:a="http://schemas.openxmlformats.org/drawingml/2006/main">
            <a:off x="609600" y="197167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28C7F7"/>
                </a:solidFill>
                <a:latin typeface="DejaVu Sans"/>
                <a:ea typeface="DejaVu Sans"/>
                <a:cs typeface="DejaVu Sans"/>
              </a:defRPr>
            </a:pPr>
            <a:r>
              <a:rPr sz="1725" b="1">
                <a:solidFill>
                  <a:srgbClr val="28C7F7"/>
                </a:solidFill>
                <a:latin typeface="DejaVu Sans"/>
                <a:ea typeface="DejaVu Sans"/>
                <a:cs typeface="DejaVu Sans"/>
              </a:rPr>
              <a:t>HOW WE BUILD</a:t>
            </a:r>
          </a:p>
        </p:txBody>
      </p:sp>
      <p:sp>
        <p:nvSpPr>
          <p:cNvPr id="5" name="">
            <a:extLst xmlns:a="http://schemas.openxmlformats.org/drawingml/2006/main">
              <a:ext uri="{FF2B5EF4-FFF2-40B4-BE49-F238E27FC236}">
                <a16:creationId xmlns:a16="http://schemas.microsoft.com/office/drawing/2014/main" id="{3C7E6323-5AB6-47DB-9A80-DD543931EB42}"/>
              </a:ext>
            </a:extLst>
          </p:cNvPr>
          <p:cNvSpPr>
            <a:spLocks xmlns:a="http://schemas.openxmlformats.org/drawingml/2006/main" noGrp="1"/>
          </p:cNvSpPr>
          <p:nvPr/>
        </p:nvSpPr>
        <p:spPr>
          <a:xfrm xmlns:a="http://schemas.openxmlformats.org/drawingml/2006/main">
            <a:off x="609600" y="2476500"/>
            <a:ext cx="5238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700" b="1">
                <a:solidFill>
                  <a:srgbClr val="F4F7FA"/>
                </a:solidFill>
                <a:latin typeface="DejaVu Sans"/>
                <a:ea typeface="DejaVu Sans"/>
                <a:cs typeface="DejaVu Sans"/>
              </a:defRPr>
            </a:pPr>
            <a:r>
              <a:rPr sz="2700" b="1">
                <a:solidFill>
                  <a:srgbClr val="F4F7FA"/>
                </a:solidFill>
                <a:latin typeface="DejaVu Sans"/>
                <a:ea typeface="DejaVu Sans"/>
                <a:cs typeface="DejaVu Sans"/>
              </a:rPr>
              <a:t>Scarcity moves</a:t>
            </a:r>
          </a:p>
        </p:txBody>
      </p:sp>
      <p:sp>
        <p:nvSpPr>
          <p:cNvPr id="6" name="">
            <a:extLst xmlns:a="http://schemas.openxmlformats.org/drawingml/2006/main">
              <a:ext uri="{FF2B5EF4-FFF2-40B4-BE49-F238E27FC236}">
                <a16:creationId xmlns:a16="http://schemas.microsoft.com/office/drawing/2014/main" id="{363C8D38-C22E-4B9C-85A8-4C41EED3E2BD}"/>
              </a:ext>
            </a:extLst>
          </p:cNvPr>
          <p:cNvSpPr>
            <a:spLocks xmlns:a="http://schemas.openxmlformats.org/drawingml/2006/main" noGrp="1"/>
          </p:cNvSpPr>
          <p:nvPr/>
        </p:nvSpPr>
        <p:spPr>
          <a:xfrm xmlns:a="http://schemas.openxmlformats.org/drawingml/2006/main" flipH="0" flipV="0">
            <a:off x="609600" y="3181350"/>
            <a:ext cx="5238750" cy="0"/>
          </a:xfrm>
          <a:prstGeom xmlns:a="http://schemas.openxmlformats.org/drawingml/2006/main" prst="line">
            <a:avLst/>
          </a:prstGeom>
          <a:noFill xmlns:a="http://schemas.openxmlformats.org/drawingml/2006/main"/>
          <a:ln xmlns:a="http://schemas.openxmlformats.org/drawingml/2006/main" w="19050">
            <a:solidFill>
              <a:srgbClr val="28C7F7"/>
            </a:solidFill>
            <a:prstDash val="solid"/>
          </a:ln>
        </p:spPr>
      </p:sp>
      <p:sp>
        <p:nvSpPr>
          <p:cNvPr id="7" name="">
            <a:extLst xmlns:a="http://schemas.openxmlformats.org/drawingml/2006/main">
              <a:ext uri="{FF2B5EF4-FFF2-40B4-BE49-F238E27FC236}">
                <a16:creationId xmlns:a16="http://schemas.microsoft.com/office/drawing/2014/main" id="{099995E7-798A-4057-963C-BF8A91C507FE}"/>
              </a:ext>
            </a:extLst>
          </p:cNvPr>
          <p:cNvSpPr>
            <a:spLocks xmlns:a="http://schemas.openxmlformats.org/drawingml/2006/main" noGrp="1"/>
          </p:cNvSpPr>
          <p:nvPr/>
        </p:nvSpPr>
        <p:spPr>
          <a:xfrm xmlns:a="http://schemas.openxmlformats.org/drawingml/2006/main">
            <a:off x="609600" y="33718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ADB8C5"/>
                </a:solidFill>
                <a:latin typeface="DejaVu Sans"/>
                <a:ea typeface="DejaVu Sans"/>
                <a:cs typeface="DejaVu Sans"/>
              </a:defRPr>
            </a:pPr>
            <a:r>
              <a:rPr sz="1950" b="0">
                <a:solidFill>
                  <a:srgbClr val="ADB8C5"/>
                </a:solidFill>
                <a:latin typeface="DejaVu Sans"/>
                <a:ea typeface="DejaVu Sans"/>
                <a:cs typeface="DejaVu Sans"/>
              </a:rPr>
              <a:t>Code generation gets cheaper</a:t>
            </a:r>
          </a:p>
        </p:txBody>
      </p:sp>
      <p:sp>
        <p:nvSpPr>
          <p:cNvPr id="8" name="">
            <a:extLst xmlns:a="http://schemas.openxmlformats.org/drawingml/2006/main">
              <a:ext uri="{FF2B5EF4-FFF2-40B4-BE49-F238E27FC236}">
                <a16:creationId xmlns:a16="http://schemas.microsoft.com/office/drawing/2014/main" id="{B495F9B9-E27B-48F6-A239-8F14E5B1452E}"/>
              </a:ext>
            </a:extLst>
          </p:cNvPr>
          <p:cNvSpPr>
            <a:spLocks xmlns:a="http://schemas.openxmlformats.org/drawingml/2006/main" noGrp="1"/>
          </p:cNvSpPr>
          <p:nvPr/>
        </p:nvSpPr>
        <p:spPr>
          <a:xfrm xmlns:a="http://schemas.openxmlformats.org/drawingml/2006/main">
            <a:off x="609600" y="37909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ADB8C5"/>
                </a:solidFill>
                <a:latin typeface="DejaVu Sans"/>
                <a:ea typeface="DejaVu Sans"/>
                <a:cs typeface="DejaVu Sans"/>
              </a:defRPr>
            </a:pPr>
            <a:r>
              <a:rPr sz="1950" b="0">
                <a:solidFill>
                  <a:srgbClr val="ADB8C5"/>
                </a:solidFill>
                <a:latin typeface="DejaVu Sans"/>
                <a:ea typeface="DejaVu Sans"/>
                <a:cs typeface="DejaVu Sans"/>
              </a:rPr>
              <a:t>Comprehension becomes scarce</a:t>
            </a:r>
          </a:p>
        </p:txBody>
      </p:sp>
      <p:sp>
        <p:nvSpPr>
          <p:cNvPr id="9" name="">
            <a:extLst xmlns:a="http://schemas.openxmlformats.org/drawingml/2006/main">
              <a:ext uri="{FF2B5EF4-FFF2-40B4-BE49-F238E27FC236}">
                <a16:creationId xmlns:a16="http://schemas.microsoft.com/office/drawing/2014/main" id="{63865055-6D47-4CF5-BD32-2853DF45F60D}"/>
              </a:ext>
            </a:extLst>
          </p:cNvPr>
          <p:cNvSpPr>
            <a:spLocks xmlns:a="http://schemas.openxmlformats.org/drawingml/2006/main" noGrp="1"/>
          </p:cNvSpPr>
          <p:nvPr/>
        </p:nvSpPr>
        <p:spPr>
          <a:xfrm xmlns:a="http://schemas.openxmlformats.org/drawingml/2006/main">
            <a:off x="609600" y="42100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ADB8C5"/>
                </a:solidFill>
                <a:latin typeface="DejaVu Sans"/>
                <a:ea typeface="DejaVu Sans"/>
                <a:cs typeface="DejaVu Sans"/>
              </a:defRPr>
            </a:pPr>
            <a:r>
              <a:rPr sz="1950" b="0">
                <a:solidFill>
                  <a:srgbClr val="ADB8C5"/>
                </a:solidFill>
                <a:latin typeface="DejaVu Sans"/>
                <a:ea typeface="DejaVu Sans"/>
                <a:cs typeface="DejaVu Sans"/>
              </a:rPr>
              <a:t>Bottlenecks move</a:t>
            </a:r>
          </a:p>
        </p:txBody>
      </p:sp>
      <p:sp>
        <p:nvSpPr>
          <p:cNvPr id="10" name="">
            <a:extLst xmlns:a="http://schemas.openxmlformats.org/drawingml/2006/main">
              <a:ext uri="{FF2B5EF4-FFF2-40B4-BE49-F238E27FC236}">
                <a16:creationId xmlns:a16="http://schemas.microsoft.com/office/drawing/2014/main" id="{6B4C3125-6212-4F95-8373-1DD3F9E6163D}"/>
              </a:ext>
            </a:extLst>
          </p:cNvPr>
          <p:cNvSpPr>
            <a:spLocks xmlns:a="http://schemas.openxmlformats.org/drawingml/2006/main" noGrp="1"/>
          </p:cNvSpPr>
          <p:nvPr/>
        </p:nvSpPr>
        <p:spPr>
          <a:xfrm xmlns:a="http://schemas.openxmlformats.org/drawingml/2006/main">
            <a:off x="609600" y="46291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ADB8C5"/>
                </a:solidFill>
                <a:latin typeface="DejaVu Sans"/>
                <a:ea typeface="DejaVu Sans"/>
                <a:cs typeface="DejaVu Sans"/>
              </a:defRPr>
            </a:pPr>
            <a:r>
              <a:rPr sz="1950" b="0">
                <a:solidFill>
                  <a:srgbClr val="ADB8C5"/>
                </a:solidFill>
                <a:latin typeface="DejaVu Sans"/>
                <a:ea typeface="DejaVu Sans"/>
                <a:cs typeface="DejaVu Sans"/>
              </a:rPr>
              <a:t>SDLC seeks a new equilibrium</a:t>
            </a:r>
          </a:p>
        </p:txBody>
      </p:sp>
      <p:sp>
        <p:nvSpPr>
          <p:cNvPr id="11" name="">
            <a:extLst xmlns:a="http://schemas.openxmlformats.org/drawingml/2006/main">
              <a:ext uri="{FF2B5EF4-FFF2-40B4-BE49-F238E27FC236}">
                <a16:creationId xmlns:a16="http://schemas.microsoft.com/office/drawing/2014/main" id="{B40A1718-9117-4D1C-8CE7-AB34181A992F}"/>
              </a:ext>
            </a:extLst>
          </p:cNvPr>
          <p:cNvSpPr>
            <a:spLocks xmlns:a="http://schemas.openxmlformats.org/drawingml/2006/main" noGrp="1"/>
          </p:cNvSpPr>
          <p:nvPr/>
        </p:nvSpPr>
        <p:spPr>
          <a:xfrm xmlns:a="http://schemas.openxmlformats.org/drawingml/2006/main">
            <a:off x="6324600" y="197167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5B61C"/>
                </a:solidFill>
                <a:latin typeface="DejaVu Sans"/>
                <a:ea typeface="DejaVu Sans"/>
                <a:cs typeface="DejaVu Sans"/>
              </a:defRPr>
            </a:pPr>
            <a:r>
              <a:rPr sz="1725" b="1">
                <a:solidFill>
                  <a:srgbClr val="F5B61C"/>
                </a:solidFill>
                <a:latin typeface="DejaVu Sans"/>
                <a:ea typeface="DejaVu Sans"/>
                <a:cs typeface="DejaVu Sans"/>
              </a:rPr>
              <a:t>WHAT WE BUILD</a:t>
            </a:r>
          </a:p>
        </p:txBody>
      </p:sp>
      <p:sp>
        <p:nvSpPr>
          <p:cNvPr id="12" name="">
            <a:extLst xmlns:a="http://schemas.openxmlformats.org/drawingml/2006/main">
              <a:ext uri="{FF2B5EF4-FFF2-40B4-BE49-F238E27FC236}">
                <a16:creationId xmlns:a16="http://schemas.microsoft.com/office/drawing/2014/main" id="{E6C989C8-59A7-4ACE-AB68-404C5953B038}"/>
              </a:ext>
            </a:extLst>
          </p:cNvPr>
          <p:cNvSpPr>
            <a:spLocks xmlns:a="http://schemas.openxmlformats.org/drawingml/2006/main" noGrp="1"/>
          </p:cNvSpPr>
          <p:nvPr/>
        </p:nvSpPr>
        <p:spPr>
          <a:xfrm xmlns:a="http://schemas.openxmlformats.org/drawingml/2006/main">
            <a:off x="6324600" y="2476500"/>
            <a:ext cx="5238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700" b="1">
                <a:solidFill>
                  <a:srgbClr val="F4F7FA"/>
                </a:solidFill>
                <a:latin typeface="DejaVu Sans"/>
                <a:ea typeface="DejaVu Sans"/>
                <a:cs typeface="DejaVu Sans"/>
              </a:defRPr>
            </a:pPr>
            <a:r>
              <a:rPr sz="2700" b="1">
                <a:solidFill>
                  <a:srgbClr val="F4F7FA"/>
                </a:solidFill>
                <a:latin typeface="DejaVu Sans"/>
                <a:ea typeface="DejaVu Sans"/>
                <a:cs typeface="DejaVu Sans"/>
              </a:rPr>
              <a:t>Rigor moves</a:t>
            </a:r>
          </a:p>
        </p:txBody>
      </p:sp>
      <p:sp>
        <p:nvSpPr>
          <p:cNvPr id="13" name="">
            <a:extLst xmlns:a="http://schemas.openxmlformats.org/drawingml/2006/main">
              <a:ext uri="{FF2B5EF4-FFF2-40B4-BE49-F238E27FC236}">
                <a16:creationId xmlns:a16="http://schemas.microsoft.com/office/drawing/2014/main" id="{5129A23F-7D06-4580-9700-E6E2B2B7A346}"/>
              </a:ext>
            </a:extLst>
          </p:cNvPr>
          <p:cNvSpPr>
            <a:spLocks xmlns:a="http://schemas.openxmlformats.org/drawingml/2006/main" noGrp="1"/>
          </p:cNvSpPr>
          <p:nvPr/>
        </p:nvSpPr>
        <p:spPr>
          <a:xfrm xmlns:a="http://schemas.openxmlformats.org/drawingml/2006/main" flipH="0" flipV="0">
            <a:off x="6324600" y="3181350"/>
            <a:ext cx="5238750" cy="0"/>
          </a:xfrm>
          <a:prstGeom xmlns:a="http://schemas.openxmlformats.org/drawingml/2006/main" prst="line">
            <a:avLst/>
          </a:prstGeom>
          <a:noFill xmlns:a="http://schemas.openxmlformats.org/drawingml/2006/main"/>
          <a:ln xmlns:a="http://schemas.openxmlformats.org/drawingml/2006/main" w="19050">
            <a:solidFill>
              <a:srgbClr val="F5B61C"/>
            </a:solidFill>
            <a:prstDash val="solid"/>
          </a:ln>
        </p:spPr>
      </p:sp>
      <p:sp>
        <p:nvSpPr>
          <p:cNvPr id="14" name="">
            <a:extLst xmlns:a="http://schemas.openxmlformats.org/drawingml/2006/main">
              <a:ext uri="{FF2B5EF4-FFF2-40B4-BE49-F238E27FC236}">
                <a16:creationId xmlns:a16="http://schemas.microsoft.com/office/drawing/2014/main" id="{88C939FC-A510-4495-A672-0B9741560360}"/>
              </a:ext>
            </a:extLst>
          </p:cNvPr>
          <p:cNvSpPr>
            <a:spLocks xmlns:a="http://schemas.openxmlformats.org/drawingml/2006/main" noGrp="1"/>
          </p:cNvSpPr>
          <p:nvPr/>
        </p:nvSpPr>
        <p:spPr>
          <a:xfrm xmlns:a="http://schemas.openxmlformats.org/drawingml/2006/main">
            <a:off x="6324600" y="33718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ADB8C5"/>
                </a:solidFill>
                <a:latin typeface="DejaVu Sans"/>
                <a:ea typeface="DejaVu Sans"/>
                <a:cs typeface="DejaVu Sans"/>
              </a:defRPr>
            </a:pPr>
            <a:r>
              <a:rPr sz="1950" b="0">
                <a:solidFill>
                  <a:srgbClr val="ADB8C5"/>
                </a:solidFill>
                <a:latin typeface="DejaVu Sans"/>
                <a:ea typeface="DejaVu Sans"/>
                <a:cs typeface="DejaVu Sans"/>
              </a:rPr>
              <a:t>Output → Distribution</a:t>
            </a:r>
          </a:p>
        </p:txBody>
      </p:sp>
      <p:sp>
        <p:nvSpPr>
          <p:cNvPr id="15" name="">
            <a:extLst xmlns:a="http://schemas.openxmlformats.org/drawingml/2006/main">
              <a:ext uri="{FF2B5EF4-FFF2-40B4-BE49-F238E27FC236}">
                <a16:creationId xmlns:a16="http://schemas.microsoft.com/office/drawing/2014/main" id="{089F9D9F-DC50-45F4-A33C-335D6F3E2C57}"/>
              </a:ext>
            </a:extLst>
          </p:cNvPr>
          <p:cNvSpPr>
            <a:spLocks xmlns:a="http://schemas.openxmlformats.org/drawingml/2006/main" noGrp="1"/>
          </p:cNvSpPr>
          <p:nvPr/>
        </p:nvSpPr>
        <p:spPr>
          <a:xfrm xmlns:a="http://schemas.openxmlformats.org/drawingml/2006/main">
            <a:off x="6324600" y="37909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ADB8C5"/>
                </a:solidFill>
                <a:latin typeface="DejaVu Sans"/>
                <a:ea typeface="DejaVu Sans"/>
                <a:cs typeface="DejaVu Sans"/>
              </a:defRPr>
            </a:pPr>
            <a:r>
              <a:rPr sz="1950" b="0">
                <a:solidFill>
                  <a:srgbClr val="ADB8C5"/>
                </a:solidFill>
                <a:latin typeface="DejaVu Sans"/>
                <a:ea typeface="DejaVu Sans"/>
                <a:cs typeface="DejaVu Sans"/>
              </a:rPr>
              <a:t>Requirement → Boundary</a:t>
            </a:r>
          </a:p>
        </p:txBody>
      </p:sp>
      <p:sp>
        <p:nvSpPr>
          <p:cNvPr id="16" name="">
            <a:extLst xmlns:a="http://schemas.openxmlformats.org/drawingml/2006/main">
              <a:ext uri="{FF2B5EF4-FFF2-40B4-BE49-F238E27FC236}">
                <a16:creationId xmlns:a16="http://schemas.microsoft.com/office/drawing/2014/main" id="{702CABAC-E9AD-493D-A65C-7B80C6B69579}"/>
              </a:ext>
            </a:extLst>
          </p:cNvPr>
          <p:cNvSpPr>
            <a:spLocks xmlns:a="http://schemas.openxmlformats.org/drawingml/2006/main" noGrp="1"/>
          </p:cNvSpPr>
          <p:nvPr/>
        </p:nvSpPr>
        <p:spPr>
          <a:xfrm xmlns:a="http://schemas.openxmlformats.org/drawingml/2006/main">
            <a:off x="6324600" y="42100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ADB8C5"/>
                </a:solidFill>
                <a:latin typeface="DejaVu Sans"/>
                <a:ea typeface="DejaVu Sans"/>
                <a:cs typeface="DejaVu Sans"/>
              </a:defRPr>
            </a:pPr>
            <a:r>
              <a:rPr sz="1950" b="0">
                <a:solidFill>
                  <a:srgbClr val="ADB8C5"/>
                </a:solidFill>
                <a:latin typeface="DejaVu Sans"/>
                <a:ea typeface="DejaVu Sans"/>
                <a:cs typeface="DejaVu Sans"/>
              </a:rPr>
              <a:t>Test → Measurement</a:t>
            </a:r>
          </a:p>
        </p:txBody>
      </p:sp>
      <p:sp>
        <p:nvSpPr>
          <p:cNvPr id="17" name="">
            <a:extLst xmlns:a="http://schemas.openxmlformats.org/drawingml/2006/main">
              <a:ext uri="{FF2B5EF4-FFF2-40B4-BE49-F238E27FC236}">
                <a16:creationId xmlns:a16="http://schemas.microsoft.com/office/drawing/2014/main" id="{07E345A0-0E1A-4438-8D61-BE0F7317B4F3}"/>
              </a:ext>
            </a:extLst>
          </p:cNvPr>
          <p:cNvSpPr>
            <a:spLocks xmlns:a="http://schemas.openxmlformats.org/drawingml/2006/main" noGrp="1"/>
          </p:cNvSpPr>
          <p:nvPr/>
        </p:nvSpPr>
        <p:spPr>
          <a:xfrm xmlns:a="http://schemas.openxmlformats.org/drawingml/2006/main">
            <a:off x="6324600" y="46291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ADB8C5"/>
                </a:solidFill>
                <a:latin typeface="DejaVu Sans"/>
                <a:ea typeface="DejaVu Sans"/>
                <a:cs typeface="DejaVu Sans"/>
              </a:defRPr>
            </a:pPr>
            <a:r>
              <a:rPr sz="1950" b="0">
                <a:solidFill>
                  <a:srgbClr val="ADB8C5"/>
                </a:solidFill>
                <a:latin typeface="DejaVu Sans"/>
                <a:ea typeface="DejaVu Sans"/>
                <a:cs typeface="DejaVu Sans"/>
              </a:rPr>
              <a:t>Release → Risk decision</a:t>
            </a:r>
          </a:p>
        </p:txBody>
      </p:sp>
      <p:sp>
        <p:nvSpPr>
          <p:cNvPr id="18" name="">
            <a:extLst xmlns:a="http://schemas.openxmlformats.org/drawingml/2006/main">
              <a:ext uri="{FF2B5EF4-FFF2-40B4-BE49-F238E27FC236}">
                <a16:creationId xmlns:a16="http://schemas.microsoft.com/office/drawing/2014/main" id="{924B7E30-BB95-4E4D-A0FD-046B62A8B74C}"/>
              </a:ext>
            </a:extLst>
          </p:cNvPr>
          <p:cNvSpPr>
            <a:spLocks xmlns:a="http://schemas.openxmlformats.org/drawingml/2006/main" noGrp="1"/>
          </p:cNvSpPr>
          <p:nvPr/>
        </p:nvSpPr>
        <p:spPr>
          <a:xfrm xmlns:a="http://schemas.openxmlformats.org/drawingml/2006/main">
            <a:off x="6324600" y="50482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ADB8C5"/>
                </a:solidFill>
                <a:latin typeface="DejaVu Sans"/>
                <a:ea typeface="DejaVu Sans"/>
                <a:cs typeface="DejaVu Sans"/>
              </a:defRPr>
            </a:pPr>
            <a:r>
              <a:rPr sz="1950" b="0">
                <a:solidFill>
                  <a:srgbClr val="ADB8C5"/>
                </a:solidFill>
                <a:latin typeface="DejaVu Sans"/>
                <a:ea typeface="DejaVu Sans"/>
                <a:cs typeface="DejaVu Sans"/>
              </a:rPr>
              <a:t>Production → Control loop</a:t>
            </a:r>
          </a:p>
        </p:txBody>
      </p:sp>
      <p:sp>
        <p:nvSpPr>
          <p:cNvPr id="19" name="">
            <a:extLst xmlns:a="http://schemas.openxmlformats.org/drawingml/2006/main">
              <a:ext uri="{FF2B5EF4-FFF2-40B4-BE49-F238E27FC236}">
                <a16:creationId xmlns:a16="http://schemas.microsoft.com/office/drawing/2014/main" id="{6EB7D9D3-6138-4A1D-9A1B-C54ED53C85D0}"/>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894C0192-67F0-4160-AD61-9A80D2D55CA2}"/>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DejaVu Sans"/>
                <a:ea typeface="DejaVu Sans"/>
                <a:cs typeface="DejaVu Sans"/>
              </a:defRPr>
            </a:pPr>
            <a:r>
              <a:rPr sz="2250" b="1">
                <a:solidFill>
                  <a:srgbClr val="F4F7FA"/>
                </a:solidFill>
                <a:latin typeface="DejaVu Sans"/>
                <a:ea typeface="DejaVu Sans"/>
                <a:cs typeface="DejaVu Sans"/>
              </a:rPr>
              <a:t>The team remains accountable for the whole system.</a:t>
            </a:r>
          </a:p>
        </p:txBody>
      </p:sp>
    </p:spTree>
    <p:extLst>
      <p:ext uri="{BB962C8B-B14F-4D97-AF65-F5344CB8AC3E}">
        <p14:creationId xmlns:p14="http://schemas.microsoft.com/office/powerpoint/2010/main" val="83721376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2026-09-21T11:25:43.7290000Z</dcterms:created>
  <dcterms:modified xsi:type="dcterms:W3CDTF">2026-09-21T11:25:43.7290000Z</dcterms:modified>
</coreProperties>
</file>