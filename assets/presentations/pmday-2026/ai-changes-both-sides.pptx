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cf6537eb1954cd7" /><Relationship Type="http://schemas.openxmlformats.org/officeDocument/2006/relationships/extended-properties" Target="/docProps/app.xml" Id="R9c4f32c78f3a46b7" /><Relationship Type="http://schemas.openxmlformats.org/officeDocument/2006/relationships/officeDocument" Target="/ppt/presentation.xml" Id="Rebd8db398cde4e7c" /></Relationships>
</file>

<file path=ppt/presentation.xml><?xml version="1.0" encoding="utf-8"?>
<p:presentation xmlns:p="http://schemas.openxmlformats.org/presentationml/2006/main">
  <p:sldMasterIdLst>
    <p:sldMasterId xmlns:r="http://schemas.openxmlformats.org/officeDocument/2006/relationships" id="2147483648" r:id="Re236cfbcd8de495b"/>
  </p:sldMasterIdLst>
  <p:notesMasterIdLst>
    <p:notesMasterId xmlns:r="http://schemas.openxmlformats.org/officeDocument/2006/relationships" r:id="R68bf61bd34734cd8"/>
  </p:notesMasterIdLst>
  <p:sldIdLst>
    <p:sldId xmlns:r="http://schemas.openxmlformats.org/officeDocument/2006/relationships" id="256" r:id="R56f5734e083f4d03"/>
    <p:sldId xmlns:r="http://schemas.openxmlformats.org/officeDocument/2006/relationships" id="257" r:id="Rc170d078b3a74250"/>
    <p:sldId xmlns:r="http://schemas.openxmlformats.org/officeDocument/2006/relationships" id="258" r:id="Raaded7f471a24c13"/>
    <p:sldId xmlns:r="http://schemas.openxmlformats.org/officeDocument/2006/relationships" id="259" r:id="R6d8b65e51f9e4778"/>
    <p:sldId xmlns:r="http://schemas.openxmlformats.org/officeDocument/2006/relationships" id="260" r:id="Rdea9830c010b4378"/>
    <p:sldId xmlns:r="http://schemas.openxmlformats.org/officeDocument/2006/relationships" id="261" r:id="R51e7469559b7483e"/>
    <p:sldId xmlns:r="http://schemas.openxmlformats.org/officeDocument/2006/relationships" id="262" r:id="R5ad7da01d4ca43b5"/>
    <p:sldId xmlns:r="http://schemas.openxmlformats.org/officeDocument/2006/relationships" id="263" r:id="R936332774b7340ed"/>
    <p:sldId xmlns:r="http://schemas.openxmlformats.org/officeDocument/2006/relationships" id="264" r:id="R8f54d043439d463d"/>
    <p:sldId xmlns:r="http://schemas.openxmlformats.org/officeDocument/2006/relationships" id="265" r:id="R21f67659b6d04b47"/>
    <p:sldId xmlns:r="http://schemas.openxmlformats.org/officeDocument/2006/relationships" id="266" r:id="Rc3dee2fcd6194cfa"/>
    <p:sldId xmlns:r="http://schemas.openxmlformats.org/officeDocument/2006/relationships" id="267" r:id="Rc6be020d0cbe4434"/>
    <p:sldId xmlns:r="http://schemas.openxmlformats.org/officeDocument/2006/relationships" id="268" r:id="Re57599d4dd75408a"/>
    <p:sldId xmlns:r="http://schemas.openxmlformats.org/officeDocument/2006/relationships" id="269" r:id="R3566406c5e63414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9db4daefb0248da" /><Relationship Type="http://schemas.openxmlformats.org/officeDocument/2006/relationships/slideMaster" Target="/ppt/slideMasters/slideMaster1.xml" Id="Re236cfbcd8de495b" /><Relationship Type="http://schemas.openxmlformats.org/officeDocument/2006/relationships/notesMaster" Target="/ppt/notesMasters/notesMaster1.xml" Id="R68bf61bd34734cd8" /><Relationship Type="http://schemas.openxmlformats.org/officeDocument/2006/relationships/presProps" Target="/ppt/presProps.xml" Id="R66f121dccf4f4e8a" /><Relationship Type="http://schemas.openxmlformats.org/officeDocument/2006/relationships/tableStyles" Target="/ppt/tableStyles.xml" Id="R797aee59deda4bcb" /><Relationship Type="http://schemas.openxmlformats.org/officeDocument/2006/relationships/slide" Target="/ppt/slides/slide1.xml" Id="R56f5734e083f4d03" /><Relationship Type="http://schemas.openxmlformats.org/officeDocument/2006/relationships/slide" Target="/ppt/slides/slide2.xml" Id="Rc170d078b3a74250" /><Relationship Type="http://schemas.openxmlformats.org/officeDocument/2006/relationships/slide" Target="/ppt/slides/slide3.xml" Id="Raaded7f471a24c13" /><Relationship Type="http://schemas.openxmlformats.org/officeDocument/2006/relationships/slide" Target="/ppt/slides/slide4.xml" Id="R6d8b65e51f9e4778" /><Relationship Type="http://schemas.openxmlformats.org/officeDocument/2006/relationships/slide" Target="/ppt/slides/slide5.xml" Id="Rdea9830c010b4378" /><Relationship Type="http://schemas.openxmlformats.org/officeDocument/2006/relationships/slide" Target="/ppt/slides/slide6.xml" Id="R51e7469559b7483e" /><Relationship Type="http://schemas.openxmlformats.org/officeDocument/2006/relationships/slide" Target="/ppt/slides/slide7.xml" Id="R5ad7da01d4ca43b5" /><Relationship Type="http://schemas.openxmlformats.org/officeDocument/2006/relationships/slide" Target="/ppt/slides/slide8.xml" Id="R936332774b7340ed" /><Relationship Type="http://schemas.openxmlformats.org/officeDocument/2006/relationships/slide" Target="/ppt/slides/slide9.xml" Id="R8f54d043439d463d" /><Relationship Type="http://schemas.openxmlformats.org/officeDocument/2006/relationships/slide" Target="/ppt/slides/slide10.xml" Id="R21f67659b6d04b47" /><Relationship Type="http://schemas.openxmlformats.org/officeDocument/2006/relationships/slide" Target="/ppt/slides/slide11.xml" Id="Rc3dee2fcd6194cfa" /><Relationship Type="http://schemas.openxmlformats.org/officeDocument/2006/relationships/slide" Target="/ppt/slides/slide12.xml" Id="Rc6be020d0cbe4434" /><Relationship Type="http://schemas.openxmlformats.org/officeDocument/2006/relationships/slide" Target="/ppt/slides/slide13.xml" Id="Re57599d4dd75408a" /><Relationship Type="http://schemas.openxmlformats.org/officeDocument/2006/relationships/slide" Target="/ppt/slides/slide14.xml" Id="R3566406c5e63414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3460d767cbf416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1efd03b86b7445a" /><Relationship Type="http://schemas.openxmlformats.org/officeDocument/2006/relationships/notesMaster" Target="/ppt/notesMasters/notesMaster1.xml" Id="R0c38606b616a49ba" /></Relationships>
</file>

<file path=ppt/notesSlides/_rels/notesSlide2.xml.rels>&#65279;<?xml version="1.0" encoding="utf-8"?><Relationships xmlns="http://schemas.openxmlformats.org/package/2006/relationships"><Relationship Type="http://schemas.openxmlformats.org/officeDocument/2006/relationships/slide" Target="/ppt/slides/slide2.xml" Id="R3f219bfac3c64fec" /><Relationship Type="http://schemas.openxmlformats.org/officeDocument/2006/relationships/notesMaster" Target="/ppt/notesMasters/notesMaster1.xml" Id="Rd1f515cb6d484f50" /></Relationships>
</file>

<file path=ppt/notesSlides/_rels/notesSlide3.xml.rels>&#65279;<?xml version="1.0" encoding="utf-8"?><Relationships xmlns="http://schemas.openxmlformats.org/package/2006/relationships"><Relationship Type="http://schemas.openxmlformats.org/officeDocument/2006/relationships/slide" Target="/ppt/slides/slide3.xml" Id="R9b9c7cd179784bb9" /><Relationship Type="http://schemas.openxmlformats.org/officeDocument/2006/relationships/notesMaster" Target="/ppt/notesMasters/notesMaster1.xml" Id="R191d0456d137463d" /></Relationships>
</file>

<file path=ppt/notesSlides/_rels/notesSlide4.xml.rels>&#65279;<?xml version="1.0" encoding="utf-8"?><Relationships xmlns="http://schemas.openxmlformats.org/package/2006/relationships"><Relationship Type="http://schemas.openxmlformats.org/officeDocument/2006/relationships/slide" Target="/ppt/slides/slide4.xml" Id="Rd35f45eb5e414f20" /><Relationship Type="http://schemas.openxmlformats.org/officeDocument/2006/relationships/notesMaster" Target="/ppt/notesMasters/notesMaster1.xml" Id="R666d4e2c20644ec4" /></Relationships>
</file>

<file path=ppt/notesSlides/_rels/notesSlide5.xml.rels>&#65279;<?xml version="1.0" encoding="utf-8"?><Relationships xmlns="http://schemas.openxmlformats.org/package/2006/relationships"><Relationship Type="http://schemas.openxmlformats.org/officeDocument/2006/relationships/slide" Target="/ppt/slides/slide5.xml" Id="R992ef09a1d7547d8" /><Relationship Type="http://schemas.openxmlformats.org/officeDocument/2006/relationships/notesMaster" Target="/ppt/notesMasters/notesMaster1.xml" Id="R8dcbe3a94ef04dc3" /></Relationships>
</file>

<file path=ppt/notesSlides/_rels/notesSlide6.xml.rels>&#65279;<?xml version="1.0" encoding="utf-8"?><Relationships xmlns="http://schemas.openxmlformats.org/package/2006/relationships"><Relationship Type="http://schemas.openxmlformats.org/officeDocument/2006/relationships/slide" Target="/ppt/slides/slide6.xml" Id="Rd568051fb9d64b04" /><Relationship Type="http://schemas.openxmlformats.org/officeDocument/2006/relationships/notesMaster" Target="/ppt/notesMasters/notesMaster1.xml" Id="R0c6788ce539849dd" /></Relationships>
</file>

<file path=ppt/notesSlides/_rels/notesSlide7.xml.rels>&#65279;<?xml version="1.0" encoding="utf-8"?><Relationships xmlns="http://schemas.openxmlformats.org/package/2006/relationships"><Relationship Type="http://schemas.openxmlformats.org/officeDocument/2006/relationships/slide" Target="/ppt/slides/slide7.xml" Id="R75ce4a0d5d2c47ee" /><Relationship Type="http://schemas.openxmlformats.org/officeDocument/2006/relationships/notesMaster" Target="/ppt/notesMasters/notesMaster1.xml" Id="R7cbe0d7f6c0346c9" /></Relationships>
</file>

<file path=ppt/notesSlides/_rels/notesSlide8.xml.rels>&#65279;<?xml version="1.0" encoding="utf-8"?><Relationships xmlns="http://schemas.openxmlformats.org/package/2006/relationships"><Relationship Type="http://schemas.openxmlformats.org/officeDocument/2006/relationships/slide" Target="/ppt/slides/slide8.xml" Id="Rfe6ec5a8e653452e" /><Relationship Type="http://schemas.openxmlformats.org/officeDocument/2006/relationships/notesMaster" Target="/ppt/notesMasters/notesMaster1.xml" Id="Rfaecc364a2fe4daa" /></Relationships>
</file>

<file path=ppt/notesSlides/_rels/notesSlide9.xml.rels>&#65279;<?xml version="1.0" encoding="utf-8"?><Relationships xmlns="http://schemas.openxmlformats.org/package/2006/relationships"><Relationship Type="http://schemas.openxmlformats.org/officeDocument/2006/relationships/slide" Target="/ppt/slides/slide9.xml" Id="R61e07df7cca24e27" /><Relationship Type="http://schemas.openxmlformats.org/officeDocument/2006/relationships/notesMaster" Target="/ppt/notesMasters/notesMaster1.xml" Id="R9d2557437c72403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1f42b9abb17437a" /><Relationship Type="http://schemas.openxmlformats.org/officeDocument/2006/relationships/notesMaster" Target="/ppt/notesMasters/notesMaster1.xml" Id="R144d6544238044d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f717fca07184aa0" /><Relationship Type="http://schemas.openxmlformats.org/officeDocument/2006/relationships/notesMaster" Target="/ppt/notesMasters/notesMaster1.xml" Id="R131e2e05e34c4c9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205eea4159143f1" /><Relationship Type="http://schemas.openxmlformats.org/officeDocument/2006/relationships/notesMaster" Target="/ppt/notesMasters/notesMaster1.xml" Id="R06a5d354534e46e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ffc85d04b5d49d3" /><Relationship Type="http://schemas.openxmlformats.org/officeDocument/2006/relationships/notesMaster" Target="/ppt/notesMasters/notesMaster1.xml" Id="Rbf8bd5025da7444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9bb945bdce74ba2" /><Relationship Type="http://schemas.openxmlformats.org/officeDocument/2006/relationships/notesMaster" Target="/ppt/notesMasters/notesMaster1.xml" Id="R569e8edd82bc4d3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Відділити AI для розробки від Model Judgment усередині продукту. Перше змінює виробництво software, друге — поведінку системи. Не починати з реклами UA чи anti-AI тези.</a:t>
            </a:r>
          </a:p>
          <a:p xmlns:a="http://schemas.openxmlformats.org/drawingml/2006/main">
            <a:r>
              <a:t>Ілюстрація показує конкретні ролі: зліва розробник працює з AI coding assistant, справа користувач просить продукт скласти план подорожі. AI-generated illustration, OpenAI imagegen, 21 September 2026. Вона не задає архітектуру системи. Prompt: artwork/PROVENANCE.md.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transition — функціональна рамка, не фізичний закон. Cognition-like operations: інтерпретація запиту, зіставлення контексту, пропозиція коду чи плану. Engineering consequence: ми задаємо контекст, інструменти, межі та перевірку поведінки.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Theory of Constraints (Goldratt): оптимізуємо потік через реальне обмеження системи. Якщо coding не bottleneck, його прискорення саме по собі не збільшує пропускну здатність delivery. Якщо був bottleneck, після зміни обмеження може переміститися. AI може змінювати Intent і Design так само, як Review, Test, Integration, Deploy та Operate; знак і величину ефекту треба вимірювати.</a:t>
            </a:r>
          </a:p>
          <a:p xmlns:a="http://schemas.openxmlformats.org/drawingml/2006/main">
            <a:r>
              <a:t>Навчальний приклад, не дослідження. ДО AI: code виробляє 8 змін/тиждень, review може опрацювати 8, integration може інтегрувати 8. Потік збалансований. ПІСЛЯ AI: генерація коду зростає до 100 зіставних змін/тиждень, але review та integration лишаються на 8. Інші етапи не прискорилися автоматично. За незмінної потужності та push без WIP limits/відкидання роботи загальний backlog зростає на 100 − 8 = 92 зміни за тиждень. Integration позначено як умовний bottleneck, не універсальний bottleneck команд.</a:t>
            </a:r>
          </a:p>
          <a:p xmlns:a="http://schemas.openxmlformats.org/drawingml/2006/main">
            <a:r>
              <a:t>Це не твердження, що будь-яка оптимізація не-bottleneck автоматично погіршує систему: економія витрат або вільна потужність теж можуть бути корисні. Черга виникає, коли реально збільшується надходження понад вихід. Rework, більші batches, затриманий feedback і тиск на review можуть погіршити якість; це механізм ризику, а не математично неминучий ефект. Джерела й межі: evidence/toc-wip.md.</a:t>
            </a:r>
          </a:p>
          <a:p xmlns:a="http://schemas.openxmlformats.org/drawingml/2006/main">
            <a:r>
              <a:t>На слайді немає фонового зображення чи стрілок: етапи з’єднані короткими нейтральними лініями.</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https://dora.dev/capabilities/working-in-small-batches/</a:t>
            </a:r>
          </a:p>
          <a:p xmlns:a="http://schemas.openxmlformats.org/drawingml/2006/main">
            <a:r>
              <a:t>https://www.nber.org/papers/w35275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NBER WP 35275: May 2026, revised September 2026; current official PDF downloaded 2026-09-21. Понад 500 тисяч GitHub developers; matched event study, не RCT. Попередні 17.3× / 2.8×, 79→86% та 18→31% належали старій редакції й замінені. Changed LOC = additions + deletions, не чисте зростання кодової бази.</a:t>
            </a:r>
          </a:p>
          <a:p xmlns:a="http://schemas.openxmlformats.org/drawingml/2006/main">
            <a:r>
              <a:t>Table 6, друкована с.33 / PDF p.35, тижні 21–30: Autocomplete — LOC +234.3%, files +50.0%, commits +30.2%, PRs +18.3%, repos +11.9%, releases +9.0%. Sync — LOC +957.5%, files +265.0%, commits +153.2%, PRs +86.0%, repos +47.3%, releases +19.8%. Async — LOC +1254.9%, files +83.3%, commits +60.7%, PRs +68.5%, repos +19.2%; releases не оцінено окремо. Figure 1, друкована с.2 / PDF p.4: авторські округлені cumulative levels — LOC 25.5×, files 5.0×, commits 3.4×, PRs 2.7×, repos 1.8×, releases 1.3×. Арифметика за округленою Table 6: 1+(234.3+957.5+1254.9)/100=25.467; commits 1+(30.2+153.2+60.7)/100=3.441; releases 1+(9.0+19.8)/100=1.288. Не перемножувати компоненти і не видавати ці суми за точні raw-data estimates. Прочерк async releases не означає нульового ефекту.</a:t>
            </a:r>
          </a:p>
          <a:p xmlns:a="http://schemas.openxmlformats.org/drawingml/2006/main">
            <a:r>
              <a:t>Figure 11, друкована с.44 / PDF p.46; §7.2, с.43–46: iOS нові apps/month приблизно 33–45 тисяч у 2023–early 2025 → 108 тисяч у квітні 2026; Android 42 тисячі у січні 2025 → 99 тисяч у mid-2026; Chrome приблизно семикратне зростання від 2023, що почалося до agentic era. SourceForge показує невелике зростання new projects і винесений у Figure OA-17, без надійної usage-панелі. Usage за перші 3 місяці: iOS cohort ratings приблизно стабільні; Android downloads помірно зростають, але значно повільніше за entry; Chrome downloads падають. Тому коректно «usage does not keep pace», а не «usage ніде не зростає».</a:t>
            </a:r>
          </a:p>
          <a:p xmlns:a="http://schemas.openxmlformats.org/drawingml/2006/main">
            <a:r>
              <a:t>§7.2.3, друкована с.46 / PDF p.48: January 2025 → April 2026, частка iOS із &lt;10 ratings приблизно 78% → 87%; Chrome із &lt;10 downloads 19% → 33%; Android із ≤100 downloads приблизно 22% → 26%. Авторські цілі відсотки; не точні частки з raw data. Це порівняння нових когорт за перші 3 місяці, не всіх existing apps, не весь software market і не пряме вимірювання consumer welfare. Зміни часток приблизно +9/+14/+4 відсоткових пункти відповідно.</a:t>
            </a:r>
          </a:p>
          <a:p xmlns:a="http://schemas.openxmlformats.org/drawingml/2006/main">
            <a:r>
              <a:t>DORA 2025 v.2025.2: повний звіт отримано через публічне дзеркало; source URL, license і SHA-256 записано в evidence/sources.json. Figure 28, p.38: software delivery instability має standardized estimate приблизно +0.10 SD, 89% credible interval приблизно +0.07…+0.13, на +1 SD AI adoption. Це округлене зчитування графіка, не точна опублікована числова таблиця. Векторні координати та арифметика — evidence/dora-2025-figure28.json. Footnote 23, p.48 визначає стандартизацію. Appendix p.139: instability об’єднує change failure rate та deployment rework rate, тобто частку незапланованих deployments для виправлення user-facing bugs. Це оцінки респондентів у cross-sectional survey, не телеметрія CI/CD і не доведений причинний ефект. Не перекладати +0.10 SD як +10% failures. &gt;80% і 59% — частки респондентів, які повідомляють про покращення productivity та code quality. Перевірений коефіцієнт 2024 +7.2% тут не підставляємо. Деталі: evidence/dora-2025.md.</a:t>
            </a:r>
          </a:p>
          <a:p xmlns:a="http://schemas.openxmlformats.org/drawingml/2006/main">
            <a:r>
              <a:t>METR, 11 травня 2026: 349 technical workers; 1.4–2× medians across 3 self-reported work-value questions; це не credible/confidence interval, 3× self-reported speed; є selection bias. Старий RCT 2025 із +19% часу — лише історичний контекст.</a:t>
            </a:r>
          </a:p>
          <a:p xmlns:a="http://schemas.openxmlformats.org/drawingml/2006/main">
            <a:r>
              <a:t>GitClear 2026: частка moved code у changed lines 13% (2023) → 3.8% (YTD 2026), не кількість refactoring tasks і не весь reuse. Частота duplicated blocks приблизно +81% за цей період. Copy/paste share 9.4% (2022) → 15.7% (H1 2026), інший baseline. Публічне резюме GitClear 2026 прямо повідомляє +15% two-week code churn: частка нещодавно написаних рядків, переписаних/видалених упродовж двох тижнів. Це відносна зміна, не +15 відсоткових пунктів і не частка дефектів. Резюме не дає окремої пари базових значень churn. Function connectivity: 343 → 223 calls/1000 changed lines, 2023 → YTD 2026, приблизно −35%. Це щільність викликів, не весь reuse. Legacy update share: 1.7% → 0.46%; вступ каже 2022, детальний абзац 2023, тому baseline суперечливий і показник лишається в нотатках. Не змішувати churn, duplication та refactoring. Текст і графік 2026 суперечать щодо абсолютної одиниці duplication, тому залишаємо тільки відносні +81%. Це observational proxies, не причинний ефект AI. Деталі: evidence/gitclear.md.</a:t>
            </a:r>
          </a:p>
          <a:p xmlns:a="http://schemas.openxmlformats.org/drawingml/2006/main">
            <a:r>
              <a:t>Xu, v3 від січня 2026, дані 2020–22: top activity quartile — commits −19%, reviews +6.5%; bottom quartile — commits +43.5%, PRs +17.7%; rework +2.4%. Це не кадрові грейди й не агенти 2026 року.</a:t>
            </a:r>
          </a:p>
          <a:p xmlns:a="http://schemas.openxmlformats.org/drawingml/2006/main">
            <a:r>
              <a:t>Agarwal, v2, Table 2: complexity Agent-first +34.85% / IDE-first +42.87%, warnings +17.73/+19.00%; зміна IDE-first warnings статистично незначуща. Не трактувати це як борг на одну фічу.</a:t>
            </a:r>
          </a:p>
          <a:p xmlns:a="http://schemas.openxmlformats.org/drawingml/2006/main">
            <a:r>
              <a:t>DORA: позитивний зв’язок AI adoption з throughput одночасно з негативним зі stability. Small batches, p.58: сильніший позитивний зв’язок AI із product performance та менше friction, хоча індивідуальні gains можуть бути меншими. ToC / review-testing-integration queues, p.81. Це мотивує системну оптимізацію на слайді 7, не доводить універсальну причинність.</a:t>
            </a:r>
          </a:p>
          <a:p xmlns:a="http://schemas.openxmlformats.org/drawingml/2006/main">
            <a:r>
              <a:t>Повторна числова перевірка 2026-09-21: DORA Fig.28 vector coordinates та сторінку звірено повторно; коефіцієнт і межі лише приблизні. &gt;80% збережено як авторський поріг: сума округлених bars 41+31+13=85 не встановлює точного агрегату. GitClear calls 343→223 дають приблизно −35%; +81% — авторське округлення, +15% churn — число з резюме без окремої baseline-пари. Точний місяць публікації GitClear не підтверджено на перевіреній сторінці, тому на екрані лише 2026. Див. EVIDENCE.md та відповідні локальні нотатки.</a:t>
            </a:r>
          </a:p>
          <a:p xmlns:a="http://schemas.openxmlformats.org/drawingml/2006/main">
            <a:r>
              <a:t/>
            </a:r>
          </a:p>
          <a:p xmlns:a="http://schemas.openxmlformats.org/drawingml/2006/main">
            <a:r>
              <a:t>Sources:</a:t>
            </a:r>
          </a:p>
          <a:p xmlns:a="http://schemas.openxmlformats.org/drawingml/2006/main">
            <a:r>
              <a:t>https://www.nber.org/papers/w35275</a:t>
            </a:r>
          </a:p>
          <a:p xmlns:a="http://schemas.openxmlformats.org/drawingml/2006/main">
            <a:r>
              <a:t>https://cloud.google.com/blog/products/ai-machine-learning/announcing-the-2025-dora-report</a:t>
            </a:r>
          </a:p>
          <a:p xmlns:a="http://schemas.openxmlformats.org/drawingml/2006/main">
            <a:r>
              <a:t>https://metr.org/blog/2026-05-11-ai-usage-survey/</a:t>
            </a:r>
          </a:p>
          <a:p xmlns:a="http://schemas.openxmlformats.org/drawingml/2006/main">
            <a:r>
              <a:t>https://www.gitclear.com/the_ai_code_quality_maintainability_gap</a:t>
            </a:r>
          </a:p>
          <a:p xmlns:a="http://schemas.openxmlformats.org/drawingml/2006/main">
            <a:r>
              <a:t>https://arxiv.org/html/2510.10165v3</a:t>
            </a:r>
          </a:p>
          <a:p xmlns:a="http://schemas.openxmlformats.org/drawingml/2006/main">
            <a:r>
              <a:t>https://arxiv.org/html/2601.13597v2</a:t>
            </a:r>
          </a:p>
          <a:p xmlns:a="http://schemas.openxmlformats.org/drawingml/2006/main">
            <a:r>
              <a:t>https://dora.dev/research/2025/2025-DORA-Report-Infographic.pdf</a:t>
            </a:r>
          </a:p>
          <a:p xmlns:a="http://schemas.openxmlformats.org/drawingml/2006/main">
            <a:r>
              <a:t>https://www.gitclear.com/ai_assistant_code_quality_2025_research</a:t>
            </a:r>
          </a:p>
          <a:p xmlns:a="http://schemas.openxmlformats.org/drawingml/2006/main">
            <a:r>
              <a:t>https://www.shaunabram.com/wp-content/uploads/2025/10/2025_state_of_ai_assisted_software_development.pdf</a:t>
            </a:r>
          </a:p>
          <a:p xmlns:a="http://schemas.openxmlformats.org/drawingml/2006/main">
            <a:r>
              <a:t>https://dora.dev/research/2025/questions/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Концептуальний сценарій: генерація зростає значно швидше за майже незмінну спроможність цієї команди розуміти й перевіряти код. Горизонтальна людська лінія — припущення сценарію, не біологічна межа: AI, навчання й кращі інструменти можуть допомагати comprehension. YES стосується прискорення генерації; NOT AT THIS RATE — нездатності review в цьому сценарії встигати за заданим потоком. Знак питання про 5 років — ризик довгострокового розуміння, не емпіричний прогноз втрати знань. Comprehension debt тут рамка ризику, не готова метрика. Ні NBER, ні GitClear не вимірювали ці криві.</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кодогенератор сам є технічною системою: обмеження контексту, доступних інструментів, модельних можливостей і надійності роблять його потенційною точкою відмови у delivery та recovery. Особливо в складному проекті ця залежність належить risk analysis і плану реагування. Умовний інцидент: сервіс недоступний; AI не знаходить придатного fix у межах дозволеного бюджету спроб. Команда спершу обмежує наслідки, використовує безпечний rollback/fallback де можливо, зупиняє безрезультатний цикл. Далі люди відновлюють розуміння задуму, інваріантів і залежностей, локалізують причину та пропонують fix. Перевірка repair і відновлення відбуваються під incident owner. Containment може йти паралельно з діагностикою; схема показує відповідальність, а не обов’язкове очікування відмови AI перед реагуванням. Генератор може продовжувати допомагати, але команда мусить мати перевірену спроможність діяти без його успіху. Не кожна людина пам’ятає всі рядки: потрібна достатня колективна спроможність. Watch / Explore перенесено на слайд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Watch і Explore перенесено зі слайда 6 та конкретизовано. Watch: review age, batch size, WIP; churn/duplication/reuse/complexity; зміни без owner та застаріла документація; практична здатність людей діагностувати й відновити систему. Це індикатори, не готовий індекс comprehension. Explore: small batches/WIP limits, spec-driven development та living architecture з code+docs review, repository intelligence для залежностей/owners, recovery drills без успішного AI. Для кожної практики перевіряти end-to-end lead time, rework, stability і recovery, а не generated LOC. DORA 2025 p.58 мотивує small batches, p.81 розглядає ToC і downstream queues. Документація й RI не мають тут доведеної універсальної ефективності. Потрібні baseline, актуальність і практична перевірка. Old equilibrium спрощений; попередня автоматизація не заперечується. Pivot: AI змінює не лише спосіб розробки, а й сам продукт.</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https://www.shaunabram.com/wp-content/uploads/2025/10/2025_state_of_ai_assisted_software_development.pdf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Thinking Systems — інженерна категорія, не твердження про свідомість. Формули — спрощений контраст. Точніше P(y | x, c, m): контекст, модель і конфігурація також мають значення. Стабільне повторення не гарантує істинності. Наскрізний умовний кейс: IT-асистент використовує дозволені джерела, але не має права на неавторизовані зміни доступу.</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https://github.com/UncertaintyArchitectureGroup/uncertainty-architecture/blob/main/00-doctrine/uncertainty-in-the-controlled-object.md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Для IT-асистента: лише затверджені джерела й доступний цьому користувачу контекст. Можна перефразувати, але не вигадувати кроки чи прибирати approval. Недостатні докази означають уточнення або ескалацію. Заборони реалізуються також поза моделлю. Operating Envelope доповнює повний Requirement, не підміняє його. API, права доступу та детерміновані інваріанти залишаються.</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https://github.com/UncertaintyArchitectureGroup/uncertainty-architecture/blob/main/00-doctrine/requirements-correctness-and-bugs.md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Навчальний приклад: 99/100 routine, 39/40 ambiguous, 39/40 missing evidence, 19/20 access/privacy = 196/200 = 98%. Одна помилка — витік чужих даних. Загальний utility gate не перекриває critical boundary. Golden Set потребує покриття сценаріїв; repeated runs не роблять нерепрезентативні дані репрезентативними. Semantic judges калібруємо. Unit, integration і security tests залишаються.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Ready: scope, заборонені дії, ризики, рубрика, Golden Set, ескалація та decision owner. Done: зафіксована конфігурація model/prompt/retrieval/tools/policy, результати за сегментами, перевірені permissions і rollback. Release: погоджені аудиторія пілота, monitoring та умови зупинки. Класичний engineering також працює з ризиком. PM координує, але не привласнює security/business authority. Delivery release не розширює project authorization.</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Архітектура спрощена. Policy gate стоїть перед зовнішньою дією. Evidence саме по собі не control: потрібні reference conditions, уповноважене рішення й ефективний шлях виконання. Runtime не розширює меж вищого рівня. Retry має бюджет. Kill switch має owner і runbook. Монітор має false positives / false negatives. Інцидент після review поповнює Golden Set; автоматичного навчання на приватних даних не припускаємо.</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https://github.com/UncertaintyArchitectureGroup/uncertainty-architecture/blob/main/00-doctrine/control-loop-anatomy.md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Функції розширюються, а попередні обов'язки не зникають. PM координує tolerance. QA калібрує вимірювання. Architect визначає дозволений judgment, permissions і containment. Developer відповідає за implementation, ownership, instrumentation та runbooks. Це не вимога нового headcount і не передача всіх рішень PM.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gives us extraordinary leverage. But leverage does not remove engineering responsibility. It moves where engineering rigor has to live. Для HOW: protect comprehension and ownership. Для WHAT: measure, bound and control judgment. Стрілки означають розширення предмета інженерії, не усунення tests або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0b35e8851b4496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74d06ef59ff487c" /><Relationship Type="http://schemas.openxmlformats.org/officeDocument/2006/relationships/slideLayout" Target="/ppt/slideLayouts/slideLayout1.xml" Id="R39cf953be6ca4bf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9cf953be6ca4bf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0547e474d8d47f9" /><Relationship Type="http://schemas.openxmlformats.org/officeDocument/2006/relationships/image" Target="/ppt/media/image.png" Id="R93a8465d1ed74d84" /><Relationship Type="http://schemas.openxmlformats.org/officeDocument/2006/relationships/notesSlide" Target="/ppt/notesSlides/notesSlide1.xml" Id="R9a4b940a1f1e46f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e58ae25aed24fa3" /><Relationship Type="http://schemas.openxmlformats.org/officeDocument/2006/relationships/notesSlide" Target="/ppt/notesSlides/notesSlide2.xml" Id="R68754772fd1645e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0b9db9faa4a4001" /><Relationship Type="http://schemas.openxmlformats.org/officeDocument/2006/relationships/notesSlide" Target="/ppt/notesSlides/notesSlide3.xml" Id="Rb99563e2bdf04fc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10906733540412b" /><Relationship Type="http://schemas.openxmlformats.org/officeDocument/2006/relationships/notesSlide" Target="/ppt/notesSlides/notesSlide4.xml" Id="R4b3ace08096d413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a4c1b5810544e0a" /><Relationship Type="http://schemas.openxmlformats.org/officeDocument/2006/relationships/notesSlide" Target="/ppt/notesSlides/notesSlide5.xml" Id="R9d7c68f863eb438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abe6021894146aa" /><Relationship Type="http://schemas.openxmlformats.org/officeDocument/2006/relationships/notesSlide" Target="/ppt/notesSlides/notesSlide6.xml" Id="R68cc27077f06418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85804235c014753" /><Relationship Type="http://schemas.openxmlformats.org/officeDocument/2006/relationships/notesSlide" Target="/ppt/notesSlides/notesSlide7.xml" Id="R7c9a0a7d2c534ad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a6f2c19debb4b49" /><Relationship Type="http://schemas.openxmlformats.org/officeDocument/2006/relationships/notesSlide" Target="/ppt/notesSlides/notesSlide8.xml" Id="Rde6d14dd51c84ae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acfb88e8c4e4251" /><Relationship Type="http://schemas.openxmlformats.org/officeDocument/2006/relationships/notesSlide" Target="/ppt/notesSlides/notesSlide9.xml" Id="Re2bb1c0043b743a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cbbc72d43454633" /><Relationship Type="http://schemas.openxmlformats.org/officeDocument/2006/relationships/notesSlide" Target="/ppt/notesSlides/notesSlide10.xml" Id="Rb12c8f1b60754c1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f782bc6ce5d4073" /><Relationship Type="http://schemas.openxmlformats.org/officeDocument/2006/relationships/notesSlide" Target="/ppt/notesSlides/notesSlide11.xml" Id="R0b16c89ae992450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7f41eb0132f4e06" /><Relationship Type="http://schemas.openxmlformats.org/officeDocument/2006/relationships/notesSlide" Target="/ppt/notesSlides/notesSlide12.xml" Id="R1bc686d120774f8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bdb186968604894" /><Relationship Type="http://schemas.openxmlformats.org/officeDocument/2006/relationships/notesSlide" Target="/ppt/notesSlides/notesSlide13.xml" Id="R0770300cfa3147e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3d2df2b38a1a44a0" /><Relationship Type="http://schemas.openxmlformats.org/officeDocument/2006/relationships/notesSlide" Target="/ppt/notesSlides/notesSlide14.xml" Id="R22ab588642074635" /></Relationships>
</file>

<file path=ppt/slides/slide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33D9586-CA0E-411F-8CF9-AC646562074E}"/>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01</a:t>
            </a:r>
          </a:p>
        </p:txBody>
      </p:sp>
      <p:sp>
        <p:nvSpPr>
          <p:cNvPr id="2" name="">
            <a:extLst xmlns:a="http://schemas.openxmlformats.org/drawingml/2006/main">
              <a:ext uri="{FF2B5EF4-FFF2-40B4-BE49-F238E27FC236}">
                <a16:creationId xmlns:a16="http://schemas.microsoft.com/office/drawing/2014/main" id="{9F4AB7D5-D652-4F45-B8BE-9F9D302CE7F6}"/>
              </a:ext>
            </a:extLst>
          </p:cNvPr>
          <p:cNvSpPr>
            <a:spLocks xmlns:a="http://schemas.openxmlformats.org/drawingml/2006/main" noGrp="1"/>
          </p:cNvSpPr>
          <p:nvPr/>
        </p:nvSpPr>
        <p:spPr>
          <a:xfrm xmlns:a="http://schemas.openxmlformats.org/drawingml/2006/main">
            <a:off x="609600" y="342900"/>
            <a:ext cx="105727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450" b="1">
                <a:solidFill>
                  <a:srgbClr val="F4F7FA"/>
                </a:solidFill>
                <a:latin typeface="DejaVu Sans"/>
                <a:ea typeface="DejaVu Sans"/>
                <a:cs typeface="DejaVu Sans"/>
              </a:defRPr>
            </a:pPr>
            <a:r>
              <a:rPr sz="3450" b="1">
                <a:solidFill>
                  <a:srgbClr val="F4F7FA"/>
                </a:solidFill>
                <a:latin typeface="DejaVu Sans"/>
                <a:ea typeface="DejaVu Sans"/>
                <a:cs typeface="DejaVu Sans"/>
              </a:rPr>
              <a:t>AI Changes Both Sides</a:t>
            </a:r>
          </a:p>
          <a:p xmlns:a="http://schemas.openxmlformats.org/drawingml/2006/main">
            <a:pPr algn="l">
              <a:defRPr sz="3450" b="1">
                <a:solidFill>
                  <a:srgbClr val="F4F7FA"/>
                </a:solidFill>
                <a:latin typeface="DejaVu Sans"/>
                <a:ea typeface="DejaVu Sans"/>
                <a:cs typeface="DejaVu Sans"/>
              </a:defRPr>
            </a:pPr>
            <a:r>
              <a:rPr sz="3450" b="1">
                <a:solidFill>
                  <a:srgbClr val="F4F7FA"/>
                </a:solidFill>
                <a:latin typeface="DejaVu Sans"/>
                <a:ea typeface="DejaVu Sans"/>
                <a:cs typeface="DejaVu Sans"/>
              </a:rPr>
              <a:t>of Software Engineering</a:t>
            </a:r>
          </a:p>
        </p:txBody>
      </p:sp>
      <p:sp>
        <p:nvSpPr>
          <p:cNvPr id="3" name="">
            <a:extLst xmlns:a="http://schemas.openxmlformats.org/drawingml/2006/main">
              <a:ext uri="{FF2B5EF4-FFF2-40B4-BE49-F238E27FC236}">
                <a16:creationId xmlns:a16="http://schemas.microsoft.com/office/drawing/2014/main" id="{03466D3D-491C-4292-990F-47A838A71D0B}"/>
              </a:ext>
            </a:extLst>
          </p:cNvPr>
          <p:cNvSpPr>
            <a:spLocks xmlns:a="http://schemas.openxmlformats.org/drawingml/2006/main" noGrp="1"/>
          </p:cNvSpPr>
          <p:nvPr/>
        </p:nvSpPr>
        <p:spPr>
          <a:xfrm xmlns:a="http://schemas.openxmlformats.org/drawingml/2006/main">
            <a:off x="609600" y="1704975"/>
            <a:ext cx="1057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DejaVu Sans"/>
                <a:ea typeface="DejaVu Sans"/>
                <a:cs typeface="DejaVu Sans"/>
              </a:defRPr>
            </a:pPr>
            <a:r>
              <a:rPr sz="2025" b="0">
                <a:solidFill>
                  <a:srgbClr val="ADB8C5"/>
                </a:solidFill>
                <a:latin typeface="DejaVu Sans"/>
                <a:ea typeface="DejaVu Sans"/>
                <a:cs typeface="DejaVu Sans"/>
              </a:rPr>
              <a:t>How we build software. And what software is.</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93a8465d1ed74d84"/>
          <a:stretch xmlns:a="http://schemas.openxmlformats.org/drawingml/2006/main"/>
        </p:blipFill>
        <p:spPr>
          <a:xfrm xmlns:a="http://schemas.openxmlformats.org/drawingml/2006/main">
            <a:off x="914400" y="2201863"/>
            <a:ext cx="10363200" cy="34544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9E3D5945-30DE-4E69-8EB0-745EFC3FC808}"/>
              </a:ext>
            </a:extLst>
          </p:cNvPr>
          <p:cNvSpPr>
            <a:spLocks xmlns:a="http://schemas.openxmlformats.org/drawingml/2006/main" noGrp="1"/>
          </p:cNvSpPr>
          <p:nvPr/>
        </p:nvSpPr>
        <p:spPr>
          <a:xfrm xmlns:a="http://schemas.openxmlformats.org/drawingml/2006/main">
            <a:off x="914400" y="573405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HOW WE BUILD</a:t>
            </a:r>
          </a:p>
        </p:txBody>
      </p:sp>
      <p:sp>
        <p:nvSpPr>
          <p:cNvPr id="6" name="">
            <a:extLst xmlns:a="http://schemas.openxmlformats.org/drawingml/2006/main">
              <a:ext uri="{FF2B5EF4-FFF2-40B4-BE49-F238E27FC236}">
                <a16:creationId xmlns:a16="http://schemas.microsoft.com/office/drawing/2014/main" id="{2A36A5E0-88FF-4851-9F4E-E6A726C636A6}"/>
              </a:ext>
            </a:extLst>
          </p:cNvPr>
          <p:cNvSpPr>
            <a:spLocks xmlns:a="http://schemas.openxmlformats.org/drawingml/2006/main" noGrp="1"/>
          </p:cNvSpPr>
          <p:nvPr/>
        </p:nvSpPr>
        <p:spPr>
          <a:xfrm xmlns:a="http://schemas.openxmlformats.org/drawingml/2006/main">
            <a:off x="914400" y="606742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DejaVu Sans"/>
                <a:ea typeface="DejaVu Sans"/>
                <a:cs typeface="DejaVu Sans"/>
              </a:defRPr>
            </a:pPr>
            <a:r>
              <a:rPr sz="1800" b="0">
                <a:solidFill>
                  <a:srgbClr val="F4F7FA"/>
                </a:solidFill>
                <a:latin typeface="DejaVu Sans"/>
                <a:ea typeface="DejaVu Sans"/>
                <a:cs typeface="DejaVu Sans"/>
              </a:rPr>
              <a:t>AI helps a developer write software.</a:t>
            </a:r>
          </a:p>
        </p:txBody>
      </p:sp>
      <p:sp>
        <p:nvSpPr>
          <p:cNvPr id="7" name="">
            <a:extLst xmlns:a="http://schemas.openxmlformats.org/drawingml/2006/main">
              <a:ext uri="{FF2B5EF4-FFF2-40B4-BE49-F238E27FC236}">
                <a16:creationId xmlns:a16="http://schemas.microsoft.com/office/drawing/2014/main" id="{E99FD36D-374D-42D9-B35E-760321CF0A80}"/>
              </a:ext>
            </a:extLst>
          </p:cNvPr>
          <p:cNvSpPr>
            <a:spLocks xmlns:a="http://schemas.openxmlformats.org/drawingml/2006/main" noGrp="1"/>
          </p:cNvSpPr>
          <p:nvPr/>
        </p:nvSpPr>
        <p:spPr>
          <a:xfrm xmlns:a="http://schemas.openxmlformats.org/drawingml/2006/main">
            <a:off x="6477000" y="573405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5B61C"/>
                </a:solidFill>
                <a:latin typeface="DejaVu Sans"/>
                <a:ea typeface="DejaVu Sans"/>
                <a:cs typeface="DejaVu Sans"/>
              </a:defRPr>
            </a:pPr>
            <a:r>
              <a:rPr sz="1650" b="1">
                <a:solidFill>
                  <a:srgbClr val="F5B61C"/>
                </a:solidFill>
                <a:latin typeface="DejaVu Sans"/>
                <a:ea typeface="DejaVu Sans"/>
                <a:cs typeface="DejaVu Sans"/>
              </a:rPr>
              <a:t>WHAT WE BUILD</a:t>
            </a:r>
          </a:p>
        </p:txBody>
      </p:sp>
      <p:sp>
        <p:nvSpPr>
          <p:cNvPr id="8" name="">
            <a:extLst xmlns:a="http://schemas.openxmlformats.org/drawingml/2006/main">
              <a:ext uri="{FF2B5EF4-FFF2-40B4-BE49-F238E27FC236}">
                <a16:creationId xmlns:a16="http://schemas.microsoft.com/office/drawing/2014/main" id="{A83E2D34-1297-483D-9246-948A551D387C}"/>
              </a:ext>
            </a:extLst>
          </p:cNvPr>
          <p:cNvSpPr>
            <a:spLocks xmlns:a="http://schemas.openxmlformats.org/drawingml/2006/main" noGrp="1"/>
          </p:cNvSpPr>
          <p:nvPr/>
        </p:nvSpPr>
        <p:spPr>
          <a:xfrm xmlns:a="http://schemas.openxmlformats.org/drawingml/2006/main">
            <a:off x="6477000" y="606742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DejaVu Sans"/>
                <a:ea typeface="DejaVu Sans"/>
                <a:cs typeface="DejaVu Sans"/>
              </a:defRPr>
            </a:pPr>
            <a:r>
              <a:rPr sz="1800" b="0">
                <a:solidFill>
                  <a:srgbClr val="F4F7FA"/>
                </a:solidFill>
                <a:latin typeface="DejaVu Sans"/>
                <a:ea typeface="DejaVu Sans"/>
                <a:cs typeface="DejaVu Sans"/>
              </a:rPr>
              <a:t>AI interprets a user’s request at runtime.</a:t>
            </a:r>
          </a:p>
        </p:txBody>
      </p:sp>
      <p:sp>
        <p:nvSpPr>
          <p:cNvPr id="9" name="">
            <a:extLst xmlns:a="http://schemas.openxmlformats.org/drawingml/2006/main">
              <a:ext uri="{FF2B5EF4-FFF2-40B4-BE49-F238E27FC236}">
                <a16:creationId xmlns:a16="http://schemas.microsoft.com/office/drawing/2014/main" id="{9C253FE1-75CA-439A-95B1-975765FECCBA}"/>
              </a:ext>
            </a:extLst>
          </p:cNvPr>
          <p:cNvSpPr>
            <a:spLocks xmlns:a="http://schemas.openxmlformats.org/drawingml/2006/main" noGrp="1"/>
          </p:cNvSpPr>
          <p:nvPr/>
        </p:nvSpPr>
        <p:spPr>
          <a:xfrm xmlns:a="http://schemas.openxmlformats.org/drawingml/2006/main">
            <a:off x="609600" y="6457950"/>
            <a:ext cx="10096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Vitalii Oborskyi · PMDay</a:t>
            </a:r>
          </a:p>
        </p:txBody>
      </p:sp>
    </p:spTree>
    <p:extLst>
      <p:ext uri="{BB962C8B-B14F-4D97-AF65-F5344CB8AC3E}">
        <p14:creationId xmlns:p14="http://schemas.microsoft.com/office/powerpoint/2010/main" val="1290162583"/>
      </p:ext>
    </p:extLst>
  </p:cSld>
</p:sld>
</file>

<file path=ppt/slides/slide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ACE5E03B-C13A-4D8F-92DC-2B3D4C784D5F}"/>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This Is a Real Phase Transition</a:t>
            </a:r>
          </a:p>
        </p:txBody>
      </p:sp>
      <p:sp>
        <p:nvSpPr>
          <p:cNvPr id="2" name="">
            <a:extLst xmlns:a="http://schemas.openxmlformats.org/drawingml/2006/main">
              <a:ext uri="{FF2B5EF4-FFF2-40B4-BE49-F238E27FC236}">
                <a16:creationId xmlns:a16="http://schemas.microsoft.com/office/drawing/2014/main" id="{6B487388-8F63-435A-B154-30D9E1B233C2}"/>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2A22C287-AC15-4FF6-9046-3B8299F34A1D}"/>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02</a:t>
            </a:r>
          </a:p>
        </p:txBody>
      </p:sp>
      <p:sp>
        <p:nvSpPr>
          <p:cNvPr id="4" name="">
            <a:extLst xmlns:a="http://schemas.openxmlformats.org/drawingml/2006/main">
              <a:ext uri="{FF2B5EF4-FFF2-40B4-BE49-F238E27FC236}">
                <a16:creationId xmlns:a16="http://schemas.microsoft.com/office/drawing/2014/main" id="{614829E3-F90D-4B7A-BBED-D3052F7FCE55}"/>
              </a:ext>
            </a:extLst>
          </p:cNvPr>
          <p:cNvSpPr>
            <a:spLocks xmlns:a="http://schemas.openxmlformats.org/drawingml/2006/main" noGrp="1"/>
          </p:cNvSpPr>
          <p:nvPr/>
        </p:nvSpPr>
        <p:spPr>
          <a:xfrm xmlns:a="http://schemas.openxmlformats.org/drawingml/2006/main">
            <a:off x="10668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 name="">
            <a:extLst xmlns:a="http://schemas.openxmlformats.org/drawingml/2006/main">
              <a:ext uri="{FF2B5EF4-FFF2-40B4-BE49-F238E27FC236}">
                <a16:creationId xmlns:a16="http://schemas.microsoft.com/office/drawing/2014/main" id="{090C7CC3-C9FB-41C0-A077-FCAD36068E95}"/>
              </a:ext>
            </a:extLst>
          </p:cNvPr>
          <p:cNvSpPr>
            <a:spLocks xmlns:a="http://schemas.openxmlformats.org/drawingml/2006/main" noGrp="1"/>
          </p:cNvSpPr>
          <p:nvPr/>
        </p:nvSpPr>
        <p:spPr>
          <a:xfrm xmlns:a="http://schemas.openxmlformats.org/drawingml/2006/main">
            <a:off x="12954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DejaVu Sans"/>
                <a:ea typeface="DejaVu Sans"/>
                <a:cs typeface="DejaVu Sans"/>
              </a:defRPr>
            </a:pPr>
            <a:r>
              <a:rPr sz="2250" b="1">
                <a:solidFill>
                  <a:srgbClr val="F4F7FA"/>
                </a:solidFill>
                <a:latin typeface="DejaVu Sans"/>
                <a:ea typeface="DejaVu Sans"/>
                <a:cs typeface="DejaVu Sans"/>
              </a:rPr>
              <a:t>Writing</a:t>
            </a:r>
          </a:p>
        </p:txBody>
      </p:sp>
      <p:sp>
        <p:nvSpPr>
          <p:cNvPr id="6" name="">
            <a:extLst xmlns:a="http://schemas.openxmlformats.org/drawingml/2006/main">
              <a:ext uri="{FF2B5EF4-FFF2-40B4-BE49-F238E27FC236}">
                <a16:creationId xmlns:a16="http://schemas.microsoft.com/office/drawing/2014/main" id="{F2E9C6BA-53E5-4D41-8443-40356FC16E4D}"/>
              </a:ext>
            </a:extLst>
          </p:cNvPr>
          <p:cNvSpPr>
            <a:spLocks xmlns:a="http://schemas.openxmlformats.org/drawingml/2006/main" noGrp="1"/>
          </p:cNvSpPr>
          <p:nvPr/>
        </p:nvSpPr>
        <p:spPr>
          <a:xfrm xmlns:a="http://schemas.openxmlformats.org/drawingml/2006/main">
            <a:off x="12954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DejaVu Sans"/>
                <a:ea typeface="DejaVu Sans"/>
                <a:cs typeface="DejaVu Sans"/>
              </a:defRPr>
            </a:pPr>
            <a:r>
              <a:rPr sz="2025" b="1">
                <a:solidFill>
                  <a:srgbClr val="28C7F7"/>
                </a:solidFill>
                <a:latin typeface="DejaVu Sans"/>
                <a:ea typeface="DejaVu Sans"/>
                <a:cs typeface="DejaVu Sans"/>
              </a:rPr>
              <a:t>Externalized</a:t>
            </a:r>
          </a:p>
          <a:p xmlns:a="http://schemas.openxmlformats.org/drawingml/2006/main">
            <a:pPr algn="l">
              <a:defRPr sz="2025" b="1">
                <a:solidFill>
                  <a:srgbClr val="28C7F7"/>
                </a:solidFill>
                <a:latin typeface="DejaVu Sans"/>
                <a:ea typeface="DejaVu Sans"/>
                <a:cs typeface="DejaVu Sans"/>
              </a:defRPr>
            </a:pPr>
            <a:r>
              <a:rPr sz="2025" b="1">
                <a:solidFill>
                  <a:srgbClr val="28C7F7"/>
                </a:solidFill>
                <a:latin typeface="DejaVu Sans"/>
                <a:ea typeface="DejaVu Sans"/>
                <a:cs typeface="DejaVu Sans"/>
              </a:rPr>
              <a:t>Memory</a:t>
            </a:r>
          </a:p>
        </p:txBody>
      </p:sp>
      <p:sp>
        <p:nvSpPr>
          <p:cNvPr id="7" name="">
            <a:extLst xmlns:a="http://schemas.openxmlformats.org/drawingml/2006/main">
              <a:ext uri="{FF2B5EF4-FFF2-40B4-BE49-F238E27FC236}">
                <a16:creationId xmlns:a16="http://schemas.microsoft.com/office/drawing/2014/main" id="{3216F2EF-3652-4B68-AEDD-6865A2203451}"/>
              </a:ext>
            </a:extLst>
          </p:cNvPr>
          <p:cNvSpPr>
            <a:spLocks xmlns:a="http://schemas.openxmlformats.org/drawingml/2006/main" noGrp="1"/>
          </p:cNvSpPr>
          <p:nvPr/>
        </p:nvSpPr>
        <p:spPr>
          <a:xfrm xmlns:a="http://schemas.openxmlformats.org/drawingml/2006/main">
            <a:off x="12954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Records we</a:t>
            </a:r>
          </a:p>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can retrieve</a:t>
            </a:r>
          </a:p>
        </p:txBody>
      </p:sp>
      <p:sp>
        <p:nvSpPr>
          <p:cNvPr id="8" name="">
            <a:extLst xmlns:a="http://schemas.openxmlformats.org/drawingml/2006/main">
              <a:ext uri="{FF2B5EF4-FFF2-40B4-BE49-F238E27FC236}">
                <a16:creationId xmlns:a16="http://schemas.microsoft.com/office/drawing/2014/main" id="{C1E2CC17-B8C5-4CE0-9B26-C9606DB087EE}"/>
              </a:ext>
            </a:extLst>
          </p:cNvPr>
          <p:cNvSpPr>
            <a:spLocks xmlns:a="http://schemas.openxmlformats.org/drawingml/2006/main" noGrp="1"/>
          </p:cNvSpPr>
          <p:nvPr/>
        </p:nvSpPr>
        <p:spPr>
          <a:xfrm xmlns:a="http://schemas.openxmlformats.org/drawingml/2006/main">
            <a:off x="466725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7DE38FF1-6FAB-49D5-A4A4-E6D00C2EDACE}"/>
              </a:ext>
            </a:extLst>
          </p:cNvPr>
          <p:cNvSpPr>
            <a:spLocks xmlns:a="http://schemas.openxmlformats.org/drawingml/2006/main" noGrp="1"/>
          </p:cNvSpPr>
          <p:nvPr/>
        </p:nvSpPr>
        <p:spPr>
          <a:xfrm xmlns:a="http://schemas.openxmlformats.org/drawingml/2006/main">
            <a:off x="489585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DejaVu Sans"/>
                <a:ea typeface="DejaVu Sans"/>
                <a:cs typeface="DejaVu Sans"/>
              </a:defRPr>
            </a:pPr>
            <a:r>
              <a:rPr sz="2250" b="1">
                <a:solidFill>
                  <a:srgbClr val="F4F7FA"/>
                </a:solidFill>
                <a:latin typeface="DejaVu Sans"/>
                <a:ea typeface="DejaVu Sans"/>
                <a:cs typeface="DejaVu Sans"/>
              </a:rPr>
              <a:t>Computers</a:t>
            </a:r>
          </a:p>
        </p:txBody>
      </p:sp>
      <p:sp>
        <p:nvSpPr>
          <p:cNvPr id="10" name="">
            <a:extLst xmlns:a="http://schemas.openxmlformats.org/drawingml/2006/main">
              <a:ext uri="{FF2B5EF4-FFF2-40B4-BE49-F238E27FC236}">
                <a16:creationId xmlns:a16="http://schemas.microsoft.com/office/drawing/2014/main" id="{B108BFC4-DE8D-4C5F-A602-1BD0B009468A}"/>
              </a:ext>
            </a:extLst>
          </p:cNvPr>
          <p:cNvSpPr>
            <a:spLocks xmlns:a="http://schemas.openxmlformats.org/drawingml/2006/main" noGrp="1"/>
          </p:cNvSpPr>
          <p:nvPr/>
        </p:nvSpPr>
        <p:spPr>
          <a:xfrm xmlns:a="http://schemas.openxmlformats.org/drawingml/2006/main">
            <a:off x="489585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DejaVu Sans"/>
                <a:ea typeface="DejaVu Sans"/>
                <a:cs typeface="DejaVu Sans"/>
              </a:defRPr>
            </a:pPr>
            <a:r>
              <a:rPr sz="2025" b="1">
                <a:solidFill>
                  <a:srgbClr val="28C7F7"/>
                </a:solidFill>
                <a:latin typeface="DejaVu Sans"/>
                <a:ea typeface="DejaVu Sans"/>
                <a:cs typeface="DejaVu Sans"/>
              </a:rPr>
              <a:t>Externalized</a:t>
            </a:r>
          </a:p>
          <a:p xmlns:a="http://schemas.openxmlformats.org/drawingml/2006/main">
            <a:pPr algn="l">
              <a:defRPr sz="2025" b="1">
                <a:solidFill>
                  <a:srgbClr val="28C7F7"/>
                </a:solidFill>
                <a:latin typeface="DejaVu Sans"/>
                <a:ea typeface="DejaVu Sans"/>
                <a:cs typeface="DejaVu Sans"/>
              </a:defRPr>
            </a:pPr>
            <a:r>
              <a:rPr sz="2025" b="1">
                <a:solidFill>
                  <a:srgbClr val="28C7F7"/>
                </a:solidFill>
                <a:latin typeface="DejaVu Sans"/>
                <a:ea typeface="DejaVu Sans"/>
                <a:cs typeface="DejaVu Sans"/>
              </a:rPr>
              <a:t>Calculation</a:t>
            </a:r>
          </a:p>
        </p:txBody>
      </p:sp>
      <p:sp>
        <p:nvSpPr>
          <p:cNvPr id="11" name="">
            <a:extLst xmlns:a="http://schemas.openxmlformats.org/drawingml/2006/main">
              <a:ext uri="{FF2B5EF4-FFF2-40B4-BE49-F238E27FC236}">
                <a16:creationId xmlns:a16="http://schemas.microsoft.com/office/drawing/2014/main" id="{4384744C-795E-4A49-9B42-6AEB437B9512}"/>
              </a:ext>
            </a:extLst>
          </p:cNvPr>
          <p:cNvSpPr>
            <a:spLocks xmlns:a="http://schemas.openxmlformats.org/drawingml/2006/main" noGrp="1"/>
          </p:cNvSpPr>
          <p:nvPr/>
        </p:nvSpPr>
        <p:spPr>
          <a:xfrm xmlns:a="http://schemas.openxmlformats.org/drawingml/2006/main">
            <a:off x="489585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Rules we</a:t>
            </a:r>
          </a:p>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explicitly encode</a:t>
            </a:r>
          </a:p>
        </p:txBody>
      </p:sp>
      <p:sp>
        <p:nvSpPr>
          <p:cNvPr id="12" name="">
            <a:extLst xmlns:a="http://schemas.openxmlformats.org/drawingml/2006/main">
              <a:ext uri="{FF2B5EF4-FFF2-40B4-BE49-F238E27FC236}">
                <a16:creationId xmlns:a16="http://schemas.microsoft.com/office/drawing/2014/main" id="{575C24AE-EF17-44A5-8C56-9324458F5CF0}"/>
              </a:ext>
            </a:extLst>
          </p:cNvPr>
          <p:cNvSpPr>
            <a:spLocks xmlns:a="http://schemas.openxmlformats.org/drawingml/2006/main" noGrp="1"/>
          </p:cNvSpPr>
          <p:nvPr/>
        </p:nvSpPr>
        <p:spPr>
          <a:xfrm xmlns:a="http://schemas.openxmlformats.org/drawingml/2006/main">
            <a:off x="82677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D47C7F9C-6CD0-4E1A-9569-3ACFE6AF6B87}"/>
              </a:ext>
            </a:extLst>
          </p:cNvPr>
          <p:cNvSpPr>
            <a:spLocks xmlns:a="http://schemas.openxmlformats.org/drawingml/2006/main" noGrp="1"/>
          </p:cNvSpPr>
          <p:nvPr/>
        </p:nvSpPr>
        <p:spPr>
          <a:xfrm xmlns:a="http://schemas.openxmlformats.org/drawingml/2006/main">
            <a:off x="84963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DejaVu Sans"/>
                <a:ea typeface="DejaVu Sans"/>
                <a:cs typeface="DejaVu Sans"/>
              </a:defRPr>
            </a:pPr>
            <a:r>
              <a:rPr sz="2250" b="1">
                <a:solidFill>
                  <a:srgbClr val="F4F7FA"/>
                </a:solidFill>
                <a:latin typeface="DejaVu Sans"/>
                <a:ea typeface="DejaVu Sans"/>
                <a:cs typeface="DejaVu Sans"/>
              </a:rPr>
              <a:t>Large Models</a:t>
            </a:r>
          </a:p>
        </p:txBody>
      </p:sp>
      <p:sp>
        <p:nvSpPr>
          <p:cNvPr id="14" name="">
            <a:extLst xmlns:a="http://schemas.openxmlformats.org/drawingml/2006/main">
              <a:ext uri="{FF2B5EF4-FFF2-40B4-BE49-F238E27FC236}">
                <a16:creationId xmlns:a16="http://schemas.microsoft.com/office/drawing/2014/main" id="{3335F5DF-BB9C-4BE7-ABE5-BA041AA5E86A}"/>
              </a:ext>
            </a:extLst>
          </p:cNvPr>
          <p:cNvSpPr>
            <a:spLocks xmlns:a="http://schemas.openxmlformats.org/drawingml/2006/main" noGrp="1"/>
          </p:cNvSpPr>
          <p:nvPr/>
        </p:nvSpPr>
        <p:spPr>
          <a:xfrm xmlns:a="http://schemas.openxmlformats.org/drawingml/2006/main">
            <a:off x="84963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DejaVu Sans"/>
                <a:ea typeface="DejaVu Sans"/>
                <a:cs typeface="DejaVu Sans"/>
              </a:defRPr>
            </a:pPr>
            <a:r>
              <a:rPr sz="2025" b="1">
                <a:solidFill>
                  <a:srgbClr val="F5B61C"/>
                </a:solidFill>
                <a:latin typeface="DejaVu Sans"/>
                <a:ea typeface="DejaVu Sans"/>
                <a:cs typeface="DejaVu Sans"/>
              </a:rPr>
              <a:t>Externalized</a:t>
            </a:r>
          </a:p>
          <a:p xmlns:a="http://schemas.openxmlformats.org/drawingml/2006/main">
            <a:pPr algn="l">
              <a:defRPr sz="2025" b="1">
                <a:solidFill>
                  <a:srgbClr val="F5B61C"/>
                </a:solidFill>
                <a:latin typeface="DejaVu Sans"/>
                <a:ea typeface="DejaVu Sans"/>
                <a:cs typeface="DejaVu Sans"/>
              </a:defRPr>
            </a:pPr>
            <a:r>
              <a:rPr sz="2025" b="1">
                <a:solidFill>
                  <a:srgbClr val="F5B61C"/>
                </a:solidFill>
                <a:latin typeface="DejaVu Sans"/>
                <a:ea typeface="DejaVu Sans"/>
                <a:cs typeface="DejaVu Sans"/>
              </a:rPr>
              <a:t>Cognition</a:t>
            </a:r>
          </a:p>
        </p:txBody>
      </p:sp>
      <p:sp>
        <p:nvSpPr>
          <p:cNvPr id="15" name="">
            <a:extLst xmlns:a="http://schemas.openxmlformats.org/drawingml/2006/main">
              <a:ext uri="{FF2B5EF4-FFF2-40B4-BE49-F238E27FC236}">
                <a16:creationId xmlns:a16="http://schemas.microsoft.com/office/drawing/2014/main" id="{DD427B2C-1D15-4315-AE47-073447CE467B}"/>
              </a:ext>
            </a:extLst>
          </p:cNvPr>
          <p:cNvSpPr>
            <a:spLocks xmlns:a="http://schemas.openxmlformats.org/drawingml/2006/main" noGrp="1"/>
          </p:cNvSpPr>
          <p:nvPr/>
        </p:nvSpPr>
        <p:spPr>
          <a:xfrm xmlns:a="http://schemas.openxmlformats.org/drawingml/2006/main">
            <a:off x="84963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Judgment shaped</a:t>
            </a:r>
          </a:p>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by context</a:t>
            </a:r>
          </a:p>
        </p:txBody>
      </p:sp>
      <p:cxnSp>
        <p:nvCxnSpPr>
          <p:cNvPr id="36" name=""/>
          <p:cNvCxnSpPr>
            <a:stCxn xmlns:a="http://schemas.openxmlformats.org/drawingml/2006/main" id="4" idx="3"/>
            <a:endCxn xmlns:a="http://schemas.openxmlformats.org/drawingml/2006/main" id="8" idx="1"/>
          </p:cNvCxnSpPr>
          <p:nvPr/>
        </p:nvCxnSpPr>
        <p:spPr>
          <a:xfrm xmlns:a="http://schemas.openxmlformats.org/drawingml/2006/main">
            <a:off x="3924300" y="3367088"/>
            <a:ext cx="74295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37" name=""/>
          <p:cNvCxnSpPr>
            <a:stCxn xmlns:a="http://schemas.openxmlformats.org/drawingml/2006/main" id="8" idx="3"/>
            <a:endCxn xmlns:a="http://schemas.openxmlformats.org/drawingml/2006/main" id="12" idx="1"/>
          </p:cNvCxnSpPr>
          <p:nvPr/>
        </p:nvCxnSpPr>
        <p:spPr>
          <a:xfrm xmlns:a="http://schemas.openxmlformats.org/drawingml/2006/main">
            <a:off x="7524750" y="3367088"/>
            <a:ext cx="74295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18" name="">
            <a:extLst xmlns:a="http://schemas.openxmlformats.org/drawingml/2006/main">
              <a:ext uri="{FF2B5EF4-FFF2-40B4-BE49-F238E27FC236}">
                <a16:creationId xmlns:a16="http://schemas.microsoft.com/office/drawing/2014/main" id="{62FC3679-BAE4-4D9F-AA4F-FB921C4F84BB}"/>
              </a:ext>
            </a:extLst>
          </p:cNvPr>
          <p:cNvSpPr>
            <a:spLocks xmlns:a="http://schemas.openxmlformats.org/drawingml/2006/main" noGrp="1"/>
          </p:cNvSpPr>
          <p:nvPr/>
        </p:nvSpPr>
        <p:spPr>
          <a:xfrm xmlns:a="http://schemas.openxmlformats.org/drawingml/2006/main">
            <a:off x="609600" y="49720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No assumption of will, consciousness or human-like understanding is required.</a:t>
            </a:r>
          </a:p>
        </p:txBody>
      </p:sp>
      <p:sp>
        <p:nvSpPr>
          <p:cNvPr id="19" name="">
            <a:extLst xmlns:a="http://schemas.openxmlformats.org/drawingml/2006/main">
              <a:ext uri="{FF2B5EF4-FFF2-40B4-BE49-F238E27FC236}">
                <a16:creationId xmlns:a16="http://schemas.microsoft.com/office/drawing/2014/main" id="{00569DF3-F674-4007-B8DC-FBFE77A209B4}"/>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2E4A15EE-4D1C-45DE-B78C-F647FA55EC3E}"/>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We design the environment in which behavior is generated at runtime.</a:t>
            </a:r>
          </a:p>
        </p:txBody>
      </p:sp>
    </p:spTree>
    <p:extLst>
      <p:ext uri="{BB962C8B-B14F-4D97-AF65-F5344CB8AC3E}">
        <p14:creationId xmlns:p14="http://schemas.microsoft.com/office/powerpoint/2010/main" val="1094194874"/>
      </p:ext>
    </p:extLst>
  </p:cSld>
</p:sld>
</file>

<file path=ppt/slides/slide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68" name="">
            <a:extLst xmlns:a="http://schemas.openxmlformats.org/drawingml/2006/main">
              <a:ext uri="{FF2B5EF4-FFF2-40B4-BE49-F238E27FC236}">
                <a16:creationId xmlns:a16="http://schemas.microsoft.com/office/drawing/2014/main" id="{DDAAA0C6-DDB3-4165-8609-87BBEB0D8208}"/>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We Accelerated a Step. Not the System.</a:t>
            </a:r>
          </a:p>
        </p:txBody>
      </p:sp>
      <p:sp>
        <p:nvSpPr>
          <p:cNvPr id="2" name="">
            <a:extLst xmlns:a="http://schemas.openxmlformats.org/drawingml/2006/main">
              <a:ext uri="{FF2B5EF4-FFF2-40B4-BE49-F238E27FC236}">
                <a16:creationId xmlns:a16="http://schemas.microsoft.com/office/drawing/2014/main" id="{1E72C741-8CEC-4ACD-84BA-8D61ACC45F34}"/>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3019C8A7-53E6-4E0D-8ECD-BA2433991E78}"/>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03</a:t>
            </a:r>
          </a:p>
        </p:txBody>
      </p:sp>
      <p:sp>
        <p:nvSpPr>
          <p:cNvPr id="4" name="">
            <a:extLst xmlns:a="http://schemas.openxmlformats.org/drawingml/2006/main">
              <a:ext uri="{FF2B5EF4-FFF2-40B4-BE49-F238E27FC236}">
                <a16:creationId xmlns:a16="http://schemas.microsoft.com/office/drawing/2014/main" id="{850D2980-D248-44F0-9169-B94723C53ABD}"/>
              </a:ext>
            </a:extLst>
          </p:cNvPr>
          <p:cNvSpPr>
            <a:spLocks xmlns:a="http://schemas.openxmlformats.org/drawingml/2006/main" noGrp="1"/>
          </p:cNvSpPr>
          <p:nvPr/>
        </p:nvSpPr>
        <p:spPr>
          <a:xfrm xmlns:a="http://schemas.openxmlformats.org/drawingml/2006/main">
            <a:off x="914400" y="1714500"/>
            <a:ext cx="10363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AI can affect every stage. Downstream gains are not automatic.</a:t>
            </a:r>
          </a:p>
        </p:txBody>
      </p:sp>
      <p:sp>
        <p:nvSpPr>
          <p:cNvPr id="5" name="">
            <a:extLst xmlns:a="http://schemas.openxmlformats.org/drawingml/2006/main">
              <a:ext uri="{FF2B5EF4-FFF2-40B4-BE49-F238E27FC236}">
                <a16:creationId xmlns:a16="http://schemas.microsoft.com/office/drawing/2014/main" id="{1D32B1E1-275E-40A2-92D2-883C7E8DFA95}"/>
              </a:ext>
            </a:extLst>
          </p:cNvPr>
          <p:cNvSpPr>
            <a:spLocks xmlns:a="http://schemas.openxmlformats.org/drawingml/2006/main" noGrp="1"/>
          </p:cNvSpPr>
          <p:nvPr/>
        </p:nvSpPr>
        <p:spPr>
          <a:xfrm xmlns:a="http://schemas.openxmlformats.org/drawingml/2006/main">
            <a:off x="9144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6" name="">
            <a:extLst xmlns:a="http://schemas.openxmlformats.org/drawingml/2006/main">
              <a:ext uri="{FF2B5EF4-FFF2-40B4-BE49-F238E27FC236}">
                <a16:creationId xmlns:a16="http://schemas.microsoft.com/office/drawing/2014/main" id="{610709A0-E509-454E-BF74-C3D7C0E5177E}"/>
              </a:ext>
            </a:extLst>
          </p:cNvPr>
          <p:cNvSpPr>
            <a:spLocks xmlns:a="http://schemas.openxmlformats.org/drawingml/2006/main" noGrp="1"/>
          </p:cNvSpPr>
          <p:nvPr/>
        </p:nvSpPr>
        <p:spPr>
          <a:xfrm xmlns:a="http://schemas.openxmlformats.org/drawingml/2006/main">
            <a:off x="10287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DejaVu Sans"/>
                <a:ea typeface="DejaVu Sans"/>
                <a:cs typeface="DejaVu Sans"/>
              </a:defRPr>
            </a:pPr>
            <a:r>
              <a:rPr sz="1425" b="1">
                <a:solidFill>
                  <a:srgbClr val="F4F7FA"/>
                </a:solidFill>
                <a:latin typeface="DejaVu Sans"/>
                <a:ea typeface="DejaVu Sans"/>
                <a:cs typeface="DejaVu Sans"/>
              </a:rPr>
              <a:t>Intent</a:t>
            </a:r>
          </a:p>
        </p:txBody>
      </p:sp>
      <p:sp>
        <p:nvSpPr>
          <p:cNvPr id="7" name="">
            <a:extLst xmlns:a="http://schemas.openxmlformats.org/drawingml/2006/main">
              <a:ext uri="{FF2B5EF4-FFF2-40B4-BE49-F238E27FC236}">
                <a16:creationId xmlns:a16="http://schemas.microsoft.com/office/drawing/2014/main" id="{88BDCF18-F41B-4D34-B78A-E8751E3F50ED}"/>
              </a:ext>
            </a:extLst>
          </p:cNvPr>
          <p:cNvSpPr>
            <a:spLocks xmlns:a="http://schemas.openxmlformats.org/drawingml/2006/main" noGrp="1"/>
          </p:cNvSpPr>
          <p:nvPr/>
        </p:nvSpPr>
        <p:spPr>
          <a:xfrm xmlns:a="http://schemas.openxmlformats.org/drawingml/2006/main">
            <a:off x="22288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8" name="">
            <a:extLst xmlns:a="http://schemas.openxmlformats.org/drawingml/2006/main">
              <a:ext uri="{FF2B5EF4-FFF2-40B4-BE49-F238E27FC236}">
                <a16:creationId xmlns:a16="http://schemas.microsoft.com/office/drawing/2014/main" id="{925A8029-FCEC-458F-BFC6-66A3DF9F2A84}"/>
              </a:ext>
            </a:extLst>
          </p:cNvPr>
          <p:cNvSpPr>
            <a:spLocks xmlns:a="http://schemas.openxmlformats.org/drawingml/2006/main" noGrp="1"/>
          </p:cNvSpPr>
          <p:nvPr/>
        </p:nvSpPr>
        <p:spPr>
          <a:xfrm xmlns:a="http://schemas.openxmlformats.org/drawingml/2006/main">
            <a:off x="23431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DejaVu Sans"/>
                <a:ea typeface="DejaVu Sans"/>
                <a:cs typeface="DejaVu Sans"/>
              </a:defRPr>
            </a:pPr>
            <a:r>
              <a:rPr sz="1425" b="1">
                <a:solidFill>
                  <a:srgbClr val="F4F7FA"/>
                </a:solidFill>
                <a:latin typeface="DejaVu Sans"/>
                <a:ea typeface="DejaVu Sans"/>
                <a:cs typeface="DejaVu Sans"/>
              </a:rPr>
              <a:t>Design</a:t>
            </a:r>
          </a:p>
        </p:txBody>
      </p:sp>
      <p:sp>
        <p:nvSpPr>
          <p:cNvPr id="9" name="">
            <a:extLst xmlns:a="http://schemas.openxmlformats.org/drawingml/2006/main">
              <a:ext uri="{FF2B5EF4-FFF2-40B4-BE49-F238E27FC236}">
                <a16:creationId xmlns:a16="http://schemas.microsoft.com/office/drawing/2014/main" id="{4A33CFB0-47E9-4F6D-88D6-EBD5D362CB79}"/>
              </a:ext>
            </a:extLst>
          </p:cNvPr>
          <p:cNvSpPr>
            <a:spLocks xmlns:a="http://schemas.openxmlformats.org/drawingml/2006/main" noGrp="1"/>
          </p:cNvSpPr>
          <p:nvPr/>
        </p:nvSpPr>
        <p:spPr>
          <a:xfrm xmlns:a="http://schemas.openxmlformats.org/drawingml/2006/main">
            <a:off x="35433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0" name="">
            <a:extLst xmlns:a="http://schemas.openxmlformats.org/drawingml/2006/main">
              <a:ext uri="{FF2B5EF4-FFF2-40B4-BE49-F238E27FC236}">
                <a16:creationId xmlns:a16="http://schemas.microsoft.com/office/drawing/2014/main" id="{6EE60F58-7800-423B-81E3-228922D162E4}"/>
              </a:ext>
            </a:extLst>
          </p:cNvPr>
          <p:cNvSpPr>
            <a:spLocks xmlns:a="http://schemas.openxmlformats.org/drawingml/2006/main" noGrp="1"/>
          </p:cNvSpPr>
          <p:nvPr/>
        </p:nvSpPr>
        <p:spPr>
          <a:xfrm xmlns:a="http://schemas.openxmlformats.org/drawingml/2006/main">
            <a:off x="36576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DejaVu Sans"/>
                <a:ea typeface="DejaVu Sans"/>
                <a:cs typeface="DejaVu Sans"/>
              </a:defRPr>
            </a:pPr>
            <a:r>
              <a:rPr sz="1425" b="1">
                <a:solidFill>
                  <a:srgbClr val="F4F7FA"/>
                </a:solidFill>
                <a:latin typeface="DejaVu Sans"/>
                <a:ea typeface="DejaVu Sans"/>
                <a:cs typeface="DejaVu Sans"/>
              </a:rPr>
              <a:t>Code</a:t>
            </a:r>
          </a:p>
        </p:txBody>
      </p:sp>
      <p:sp>
        <p:nvSpPr>
          <p:cNvPr id="11" name="">
            <a:extLst xmlns:a="http://schemas.openxmlformats.org/drawingml/2006/main">
              <a:ext uri="{FF2B5EF4-FFF2-40B4-BE49-F238E27FC236}">
                <a16:creationId xmlns:a16="http://schemas.microsoft.com/office/drawing/2014/main" id="{51716EF4-940E-4E91-AAEF-E4E581D6801A}"/>
              </a:ext>
            </a:extLst>
          </p:cNvPr>
          <p:cNvSpPr>
            <a:spLocks xmlns:a="http://schemas.openxmlformats.org/drawingml/2006/main" noGrp="1"/>
          </p:cNvSpPr>
          <p:nvPr/>
        </p:nvSpPr>
        <p:spPr>
          <a:xfrm xmlns:a="http://schemas.openxmlformats.org/drawingml/2006/main">
            <a:off x="48577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2" name="">
            <a:extLst xmlns:a="http://schemas.openxmlformats.org/drawingml/2006/main">
              <a:ext uri="{FF2B5EF4-FFF2-40B4-BE49-F238E27FC236}">
                <a16:creationId xmlns:a16="http://schemas.microsoft.com/office/drawing/2014/main" id="{5377ACDD-BEFC-4BCC-97F7-2DD61C424EFB}"/>
              </a:ext>
            </a:extLst>
          </p:cNvPr>
          <p:cNvSpPr>
            <a:spLocks xmlns:a="http://schemas.openxmlformats.org/drawingml/2006/main" noGrp="1"/>
          </p:cNvSpPr>
          <p:nvPr/>
        </p:nvSpPr>
        <p:spPr>
          <a:xfrm xmlns:a="http://schemas.openxmlformats.org/drawingml/2006/main">
            <a:off x="49720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DejaVu Sans"/>
                <a:ea typeface="DejaVu Sans"/>
                <a:cs typeface="DejaVu Sans"/>
              </a:defRPr>
            </a:pPr>
            <a:r>
              <a:rPr sz="1425" b="1">
                <a:solidFill>
                  <a:srgbClr val="F4F7FA"/>
                </a:solidFill>
                <a:latin typeface="DejaVu Sans"/>
                <a:ea typeface="DejaVu Sans"/>
                <a:cs typeface="DejaVu Sans"/>
              </a:rPr>
              <a:t>Review</a:t>
            </a:r>
          </a:p>
        </p:txBody>
      </p:sp>
      <p:sp>
        <p:nvSpPr>
          <p:cNvPr id="13" name="">
            <a:extLst xmlns:a="http://schemas.openxmlformats.org/drawingml/2006/main">
              <a:ext uri="{FF2B5EF4-FFF2-40B4-BE49-F238E27FC236}">
                <a16:creationId xmlns:a16="http://schemas.microsoft.com/office/drawing/2014/main" id="{A046E72D-559D-40B2-9AA0-0A9735F90E50}"/>
              </a:ext>
            </a:extLst>
          </p:cNvPr>
          <p:cNvSpPr>
            <a:spLocks xmlns:a="http://schemas.openxmlformats.org/drawingml/2006/main" noGrp="1"/>
          </p:cNvSpPr>
          <p:nvPr/>
        </p:nvSpPr>
        <p:spPr>
          <a:xfrm xmlns:a="http://schemas.openxmlformats.org/drawingml/2006/main">
            <a:off x="61722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4" name="">
            <a:extLst xmlns:a="http://schemas.openxmlformats.org/drawingml/2006/main">
              <a:ext uri="{FF2B5EF4-FFF2-40B4-BE49-F238E27FC236}">
                <a16:creationId xmlns:a16="http://schemas.microsoft.com/office/drawing/2014/main" id="{73AE2115-5386-4AB8-ADFF-DCE7BACF0F5C}"/>
              </a:ext>
            </a:extLst>
          </p:cNvPr>
          <p:cNvSpPr>
            <a:spLocks xmlns:a="http://schemas.openxmlformats.org/drawingml/2006/main" noGrp="1"/>
          </p:cNvSpPr>
          <p:nvPr/>
        </p:nvSpPr>
        <p:spPr>
          <a:xfrm xmlns:a="http://schemas.openxmlformats.org/drawingml/2006/main">
            <a:off x="62865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DejaVu Sans"/>
                <a:ea typeface="DejaVu Sans"/>
                <a:cs typeface="DejaVu Sans"/>
              </a:defRPr>
            </a:pPr>
            <a:r>
              <a:rPr sz="1425" b="1">
                <a:solidFill>
                  <a:srgbClr val="F4F7FA"/>
                </a:solidFill>
                <a:latin typeface="DejaVu Sans"/>
                <a:ea typeface="DejaVu Sans"/>
                <a:cs typeface="DejaVu Sans"/>
              </a:rPr>
              <a:t>Test</a:t>
            </a:r>
          </a:p>
        </p:txBody>
      </p:sp>
      <p:sp>
        <p:nvSpPr>
          <p:cNvPr id="15" name="">
            <a:extLst xmlns:a="http://schemas.openxmlformats.org/drawingml/2006/main">
              <a:ext uri="{FF2B5EF4-FFF2-40B4-BE49-F238E27FC236}">
                <a16:creationId xmlns:a16="http://schemas.microsoft.com/office/drawing/2014/main" id="{21CE3474-E6E1-43BA-BE6C-117C1798DB73}"/>
              </a:ext>
            </a:extLst>
          </p:cNvPr>
          <p:cNvSpPr>
            <a:spLocks xmlns:a="http://schemas.openxmlformats.org/drawingml/2006/main" noGrp="1"/>
          </p:cNvSpPr>
          <p:nvPr/>
        </p:nvSpPr>
        <p:spPr>
          <a:xfrm xmlns:a="http://schemas.openxmlformats.org/drawingml/2006/main">
            <a:off x="74866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6" name="">
            <a:extLst xmlns:a="http://schemas.openxmlformats.org/drawingml/2006/main">
              <a:ext uri="{FF2B5EF4-FFF2-40B4-BE49-F238E27FC236}">
                <a16:creationId xmlns:a16="http://schemas.microsoft.com/office/drawing/2014/main" id="{B27B0486-E40F-43F6-A649-63FFA51F4FFF}"/>
              </a:ext>
            </a:extLst>
          </p:cNvPr>
          <p:cNvSpPr>
            <a:spLocks xmlns:a="http://schemas.openxmlformats.org/drawingml/2006/main" noGrp="1"/>
          </p:cNvSpPr>
          <p:nvPr/>
        </p:nvSpPr>
        <p:spPr>
          <a:xfrm xmlns:a="http://schemas.openxmlformats.org/drawingml/2006/main">
            <a:off x="76009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4F7FA"/>
                </a:solidFill>
                <a:latin typeface="DejaVu Sans"/>
                <a:ea typeface="DejaVu Sans"/>
                <a:cs typeface="DejaVu Sans"/>
              </a:defRPr>
            </a:pPr>
            <a:r>
              <a:rPr sz="1350" b="1">
                <a:solidFill>
                  <a:srgbClr val="F4F7FA"/>
                </a:solidFill>
                <a:latin typeface="DejaVu Sans"/>
                <a:ea typeface="DejaVu Sans"/>
                <a:cs typeface="DejaVu Sans"/>
              </a:rPr>
              <a:t>Integrate</a:t>
            </a:r>
          </a:p>
        </p:txBody>
      </p:sp>
      <p:sp>
        <p:nvSpPr>
          <p:cNvPr id="17" name="">
            <a:extLst xmlns:a="http://schemas.openxmlformats.org/drawingml/2006/main">
              <a:ext uri="{FF2B5EF4-FFF2-40B4-BE49-F238E27FC236}">
                <a16:creationId xmlns:a16="http://schemas.microsoft.com/office/drawing/2014/main" id="{CCB72435-481F-436F-B7A0-ED68D66BB0FA}"/>
              </a:ext>
            </a:extLst>
          </p:cNvPr>
          <p:cNvSpPr>
            <a:spLocks xmlns:a="http://schemas.openxmlformats.org/drawingml/2006/main" noGrp="1"/>
          </p:cNvSpPr>
          <p:nvPr/>
        </p:nvSpPr>
        <p:spPr>
          <a:xfrm xmlns:a="http://schemas.openxmlformats.org/drawingml/2006/main">
            <a:off x="88011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8" name="">
            <a:extLst xmlns:a="http://schemas.openxmlformats.org/drawingml/2006/main">
              <a:ext uri="{FF2B5EF4-FFF2-40B4-BE49-F238E27FC236}">
                <a16:creationId xmlns:a16="http://schemas.microsoft.com/office/drawing/2014/main" id="{C0F13EDC-8C96-4C05-A082-4EF760A503E6}"/>
              </a:ext>
            </a:extLst>
          </p:cNvPr>
          <p:cNvSpPr>
            <a:spLocks xmlns:a="http://schemas.openxmlformats.org/drawingml/2006/main" noGrp="1"/>
          </p:cNvSpPr>
          <p:nvPr/>
        </p:nvSpPr>
        <p:spPr>
          <a:xfrm xmlns:a="http://schemas.openxmlformats.org/drawingml/2006/main">
            <a:off x="89154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DejaVu Sans"/>
                <a:ea typeface="DejaVu Sans"/>
                <a:cs typeface="DejaVu Sans"/>
              </a:defRPr>
            </a:pPr>
            <a:r>
              <a:rPr sz="1425" b="1">
                <a:solidFill>
                  <a:srgbClr val="F4F7FA"/>
                </a:solidFill>
                <a:latin typeface="DejaVu Sans"/>
                <a:ea typeface="DejaVu Sans"/>
                <a:cs typeface="DejaVu Sans"/>
              </a:rPr>
              <a:t>Deploy</a:t>
            </a:r>
          </a:p>
        </p:txBody>
      </p:sp>
      <p:sp>
        <p:nvSpPr>
          <p:cNvPr id="19" name="">
            <a:extLst xmlns:a="http://schemas.openxmlformats.org/drawingml/2006/main">
              <a:ext uri="{FF2B5EF4-FFF2-40B4-BE49-F238E27FC236}">
                <a16:creationId xmlns:a16="http://schemas.microsoft.com/office/drawing/2014/main" id="{14113902-4315-4E75-BF43-FE9A715ECAAC}"/>
              </a:ext>
            </a:extLst>
          </p:cNvPr>
          <p:cNvSpPr>
            <a:spLocks xmlns:a="http://schemas.openxmlformats.org/drawingml/2006/main" noGrp="1"/>
          </p:cNvSpPr>
          <p:nvPr/>
        </p:nvSpPr>
        <p:spPr>
          <a:xfrm xmlns:a="http://schemas.openxmlformats.org/drawingml/2006/main">
            <a:off x="101155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20" name="">
            <a:extLst xmlns:a="http://schemas.openxmlformats.org/drawingml/2006/main">
              <a:ext uri="{FF2B5EF4-FFF2-40B4-BE49-F238E27FC236}">
                <a16:creationId xmlns:a16="http://schemas.microsoft.com/office/drawing/2014/main" id="{CB0EF4B6-202B-4586-9722-DFC4FE5D46C0}"/>
              </a:ext>
            </a:extLst>
          </p:cNvPr>
          <p:cNvSpPr>
            <a:spLocks xmlns:a="http://schemas.openxmlformats.org/drawingml/2006/main" noGrp="1"/>
          </p:cNvSpPr>
          <p:nvPr/>
        </p:nvSpPr>
        <p:spPr>
          <a:xfrm xmlns:a="http://schemas.openxmlformats.org/drawingml/2006/main">
            <a:off x="102298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DejaVu Sans"/>
                <a:ea typeface="DejaVu Sans"/>
                <a:cs typeface="DejaVu Sans"/>
              </a:defRPr>
            </a:pPr>
            <a:r>
              <a:rPr sz="1425" b="1">
                <a:solidFill>
                  <a:srgbClr val="F4F7FA"/>
                </a:solidFill>
                <a:latin typeface="DejaVu Sans"/>
                <a:ea typeface="DejaVu Sans"/>
                <a:cs typeface="DejaVu Sans"/>
              </a:rPr>
              <a:t>Operate</a:t>
            </a:r>
          </a:p>
        </p:txBody>
      </p:sp>
      <p:sp>
        <p:nvSpPr>
          <p:cNvPr id="21" name="">
            <a:extLst xmlns:a="http://schemas.openxmlformats.org/drawingml/2006/main">
              <a:ext uri="{FF2B5EF4-FFF2-40B4-BE49-F238E27FC236}">
                <a16:creationId xmlns:a16="http://schemas.microsoft.com/office/drawing/2014/main" id="{0449FC4C-1A24-410B-BECD-B8C7BE4F4356}"/>
              </a:ext>
            </a:extLst>
          </p:cNvPr>
          <p:cNvSpPr>
            <a:spLocks xmlns:a="http://schemas.openxmlformats.org/drawingml/2006/main" noGrp="1"/>
          </p:cNvSpPr>
          <p:nvPr/>
        </p:nvSpPr>
        <p:spPr>
          <a:xfrm xmlns:a="http://schemas.openxmlformats.org/drawingml/2006/main" flipH="0" flipV="0">
            <a:off x="20764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2" name="">
            <a:extLst xmlns:a="http://schemas.openxmlformats.org/drawingml/2006/main">
              <a:ext uri="{FF2B5EF4-FFF2-40B4-BE49-F238E27FC236}">
                <a16:creationId xmlns:a16="http://schemas.microsoft.com/office/drawing/2014/main" id="{41502BED-4272-490F-BD6F-F3A263D7BB1B}"/>
              </a:ext>
            </a:extLst>
          </p:cNvPr>
          <p:cNvSpPr>
            <a:spLocks xmlns:a="http://schemas.openxmlformats.org/drawingml/2006/main" noGrp="1"/>
          </p:cNvSpPr>
          <p:nvPr/>
        </p:nvSpPr>
        <p:spPr>
          <a:xfrm xmlns:a="http://schemas.openxmlformats.org/drawingml/2006/main" flipH="0" flipV="0">
            <a:off x="33909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3" name="">
            <a:extLst xmlns:a="http://schemas.openxmlformats.org/drawingml/2006/main">
              <a:ext uri="{FF2B5EF4-FFF2-40B4-BE49-F238E27FC236}">
                <a16:creationId xmlns:a16="http://schemas.microsoft.com/office/drawing/2014/main" id="{7FFAF795-CD79-460B-8A78-35CFA1A24E3A}"/>
              </a:ext>
            </a:extLst>
          </p:cNvPr>
          <p:cNvSpPr>
            <a:spLocks xmlns:a="http://schemas.openxmlformats.org/drawingml/2006/main" noGrp="1"/>
          </p:cNvSpPr>
          <p:nvPr/>
        </p:nvSpPr>
        <p:spPr>
          <a:xfrm xmlns:a="http://schemas.openxmlformats.org/drawingml/2006/main" flipH="0" flipV="0">
            <a:off x="47053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4" name="">
            <a:extLst xmlns:a="http://schemas.openxmlformats.org/drawingml/2006/main">
              <a:ext uri="{FF2B5EF4-FFF2-40B4-BE49-F238E27FC236}">
                <a16:creationId xmlns:a16="http://schemas.microsoft.com/office/drawing/2014/main" id="{2D8B0E24-9B6E-4688-98B7-80814EFD9C36}"/>
              </a:ext>
            </a:extLst>
          </p:cNvPr>
          <p:cNvSpPr>
            <a:spLocks xmlns:a="http://schemas.openxmlformats.org/drawingml/2006/main" noGrp="1"/>
          </p:cNvSpPr>
          <p:nvPr/>
        </p:nvSpPr>
        <p:spPr>
          <a:xfrm xmlns:a="http://schemas.openxmlformats.org/drawingml/2006/main" flipH="0" flipV="0">
            <a:off x="60198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5" name="">
            <a:extLst xmlns:a="http://schemas.openxmlformats.org/drawingml/2006/main">
              <a:ext uri="{FF2B5EF4-FFF2-40B4-BE49-F238E27FC236}">
                <a16:creationId xmlns:a16="http://schemas.microsoft.com/office/drawing/2014/main" id="{E4878F89-AC79-4B5A-B7E2-844C07593343}"/>
              </a:ext>
            </a:extLst>
          </p:cNvPr>
          <p:cNvSpPr>
            <a:spLocks xmlns:a="http://schemas.openxmlformats.org/drawingml/2006/main" noGrp="1"/>
          </p:cNvSpPr>
          <p:nvPr/>
        </p:nvSpPr>
        <p:spPr>
          <a:xfrm xmlns:a="http://schemas.openxmlformats.org/drawingml/2006/main" flipH="0" flipV="0">
            <a:off x="73342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6" name="">
            <a:extLst xmlns:a="http://schemas.openxmlformats.org/drawingml/2006/main">
              <a:ext uri="{FF2B5EF4-FFF2-40B4-BE49-F238E27FC236}">
                <a16:creationId xmlns:a16="http://schemas.microsoft.com/office/drawing/2014/main" id="{1C7D8CBD-6317-41B7-B0C0-2FCE0F065AE2}"/>
              </a:ext>
            </a:extLst>
          </p:cNvPr>
          <p:cNvSpPr>
            <a:spLocks xmlns:a="http://schemas.openxmlformats.org/drawingml/2006/main" noGrp="1"/>
          </p:cNvSpPr>
          <p:nvPr/>
        </p:nvSpPr>
        <p:spPr>
          <a:xfrm xmlns:a="http://schemas.openxmlformats.org/drawingml/2006/main" flipH="0" flipV="0">
            <a:off x="86487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3AEB435B-70EA-4C16-BD6A-F92E197B6DE8}"/>
              </a:ext>
            </a:extLst>
          </p:cNvPr>
          <p:cNvSpPr>
            <a:spLocks xmlns:a="http://schemas.openxmlformats.org/drawingml/2006/main" noGrp="1"/>
          </p:cNvSpPr>
          <p:nvPr/>
        </p:nvSpPr>
        <p:spPr>
          <a:xfrm xmlns:a="http://schemas.openxmlformats.org/drawingml/2006/main" flipH="0" flipV="0">
            <a:off x="99631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8" name="">
            <a:extLst xmlns:a="http://schemas.openxmlformats.org/drawingml/2006/main">
              <a:ext uri="{FF2B5EF4-FFF2-40B4-BE49-F238E27FC236}">
                <a16:creationId xmlns:a16="http://schemas.microsoft.com/office/drawing/2014/main" id="{039DF332-C727-41E0-BDF4-55774EAC2090}"/>
              </a:ext>
            </a:extLst>
          </p:cNvPr>
          <p:cNvSpPr>
            <a:spLocks xmlns:a="http://schemas.openxmlformats.org/drawingml/2006/main" noGrp="1"/>
          </p:cNvSpPr>
          <p:nvPr/>
        </p:nvSpPr>
        <p:spPr>
          <a:xfrm xmlns:a="http://schemas.openxmlformats.org/drawingml/2006/main">
            <a:off x="9144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DejaVu Sans"/>
                <a:ea typeface="DejaVu Sans"/>
                <a:cs typeface="DejaVu Sans"/>
              </a:defRPr>
            </a:pPr>
            <a:r>
              <a:rPr sz="1575" b="1">
                <a:solidFill>
                  <a:srgbClr val="F5B61C"/>
                </a:solidFill>
                <a:latin typeface="DejaVu Sans"/>
                <a:ea typeface="DejaVu Sans"/>
                <a:cs typeface="DejaVu Sans"/>
              </a:rPr>
              <a:t>?</a:t>
            </a:r>
          </a:p>
        </p:txBody>
      </p:sp>
      <p:sp>
        <p:nvSpPr>
          <p:cNvPr id="29" name="">
            <a:extLst xmlns:a="http://schemas.openxmlformats.org/drawingml/2006/main">
              <a:ext uri="{FF2B5EF4-FFF2-40B4-BE49-F238E27FC236}">
                <a16:creationId xmlns:a16="http://schemas.microsoft.com/office/drawing/2014/main" id="{E7257718-12D7-4301-AA67-2D199F183365}"/>
              </a:ext>
            </a:extLst>
          </p:cNvPr>
          <p:cNvSpPr>
            <a:spLocks xmlns:a="http://schemas.openxmlformats.org/drawingml/2006/main" noGrp="1"/>
          </p:cNvSpPr>
          <p:nvPr/>
        </p:nvSpPr>
        <p:spPr>
          <a:xfrm xmlns:a="http://schemas.openxmlformats.org/drawingml/2006/main">
            <a:off x="22288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DejaVu Sans"/>
                <a:ea typeface="DejaVu Sans"/>
                <a:cs typeface="DejaVu Sans"/>
              </a:defRPr>
            </a:pPr>
            <a:r>
              <a:rPr sz="1575" b="1">
                <a:solidFill>
                  <a:srgbClr val="F5B61C"/>
                </a:solidFill>
                <a:latin typeface="DejaVu Sans"/>
                <a:ea typeface="DejaVu Sans"/>
                <a:cs typeface="DejaVu Sans"/>
              </a:rPr>
              <a:t>?</a:t>
            </a:r>
          </a:p>
        </p:txBody>
      </p:sp>
      <p:sp>
        <p:nvSpPr>
          <p:cNvPr id="30" name="">
            <a:extLst xmlns:a="http://schemas.openxmlformats.org/drawingml/2006/main">
              <a:ext uri="{FF2B5EF4-FFF2-40B4-BE49-F238E27FC236}">
                <a16:creationId xmlns:a16="http://schemas.microsoft.com/office/drawing/2014/main" id="{6244509D-2B1B-400A-A717-98E270C58C87}"/>
              </a:ext>
            </a:extLst>
          </p:cNvPr>
          <p:cNvSpPr>
            <a:spLocks xmlns:a="http://schemas.openxmlformats.org/drawingml/2006/main" noGrp="1"/>
          </p:cNvSpPr>
          <p:nvPr/>
        </p:nvSpPr>
        <p:spPr>
          <a:xfrm xmlns:a="http://schemas.openxmlformats.org/drawingml/2006/main">
            <a:off x="48577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DejaVu Sans"/>
                <a:ea typeface="DejaVu Sans"/>
                <a:cs typeface="DejaVu Sans"/>
              </a:defRPr>
            </a:pPr>
            <a:r>
              <a:rPr sz="1575" b="1">
                <a:solidFill>
                  <a:srgbClr val="F5B61C"/>
                </a:solidFill>
                <a:latin typeface="DejaVu Sans"/>
                <a:ea typeface="DejaVu Sans"/>
                <a:cs typeface="DejaVu Sans"/>
              </a:rPr>
              <a:t>?</a:t>
            </a:r>
          </a:p>
        </p:txBody>
      </p:sp>
      <p:sp>
        <p:nvSpPr>
          <p:cNvPr id="31" name="">
            <a:extLst xmlns:a="http://schemas.openxmlformats.org/drawingml/2006/main">
              <a:ext uri="{FF2B5EF4-FFF2-40B4-BE49-F238E27FC236}">
                <a16:creationId xmlns:a16="http://schemas.microsoft.com/office/drawing/2014/main" id="{0A92537E-8430-42DD-818F-492B75165A55}"/>
              </a:ext>
            </a:extLst>
          </p:cNvPr>
          <p:cNvSpPr>
            <a:spLocks xmlns:a="http://schemas.openxmlformats.org/drawingml/2006/main" noGrp="1"/>
          </p:cNvSpPr>
          <p:nvPr/>
        </p:nvSpPr>
        <p:spPr>
          <a:xfrm xmlns:a="http://schemas.openxmlformats.org/drawingml/2006/main">
            <a:off x="61722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DejaVu Sans"/>
                <a:ea typeface="DejaVu Sans"/>
                <a:cs typeface="DejaVu Sans"/>
              </a:defRPr>
            </a:pPr>
            <a:r>
              <a:rPr sz="1575" b="1">
                <a:solidFill>
                  <a:srgbClr val="F5B61C"/>
                </a:solidFill>
                <a:latin typeface="DejaVu Sans"/>
                <a:ea typeface="DejaVu Sans"/>
                <a:cs typeface="DejaVu Sans"/>
              </a:rPr>
              <a:t>?</a:t>
            </a:r>
          </a:p>
        </p:txBody>
      </p:sp>
      <p:sp>
        <p:nvSpPr>
          <p:cNvPr id="32" name="">
            <a:extLst xmlns:a="http://schemas.openxmlformats.org/drawingml/2006/main">
              <a:ext uri="{FF2B5EF4-FFF2-40B4-BE49-F238E27FC236}">
                <a16:creationId xmlns:a16="http://schemas.microsoft.com/office/drawing/2014/main" id="{B85E4242-55ED-4C31-88C7-5AC50809A36A}"/>
              </a:ext>
            </a:extLst>
          </p:cNvPr>
          <p:cNvSpPr>
            <a:spLocks xmlns:a="http://schemas.openxmlformats.org/drawingml/2006/main" noGrp="1"/>
          </p:cNvSpPr>
          <p:nvPr/>
        </p:nvSpPr>
        <p:spPr>
          <a:xfrm xmlns:a="http://schemas.openxmlformats.org/drawingml/2006/main">
            <a:off x="74866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DejaVu Sans"/>
                <a:ea typeface="DejaVu Sans"/>
                <a:cs typeface="DejaVu Sans"/>
              </a:defRPr>
            </a:pPr>
            <a:r>
              <a:rPr sz="1575" b="1">
                <a:solidFill>
                  <a:srgbClr val="F5B61C"/>
                </a:solidFill>
                <a:latin typeface="DejaVu Sans"/>
                <a:ea typeface="DejaVu Sans"/>
                <a:cs typeface="DejaVu Sans"/>
              </a:rPr>
              <a:t>?</a:t>
            </a:r>
          </a:p>
        </p:txBody>
      </p:sp>
      <p:sp>
        <p:nvSpPr>
          <p:cNvPr id="33" name="">
            <a:extLst xmlns:a="http://schemas.openxmlformats.org/drawingml/2006/main">
              <a:ext uri="{FF2B5EF4-FFF2-40B4-BE49-F238E27FC236}">
                <a16:creationId xmlns:a16="http://schemas.microsoft.com/office/drawing/2014/main" id="{6CA1F079-D723-415C-89A6-6246BD062A5C}"/>
              </a:ext>
            </a:extLst>
          </p:cNvPr>
          <p:cNvSpPr>
            <a:spLocks xmlns:a="http://schemas.openxmlformats.org/drawingml/2006/main" noGrp="1"/>
          </p:cNvSpPr>
          <p:nvPr/>
        </p:nvSpPr>
        <p:spPr>
          <a:xfrm xmlns:a="http://schemas.openxmlformats.org/drawingml/2006/main">
            <a:off x="88011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DejaVu Sans"/>
                <a:ea typeface="DejaVu Sans"/>
                <a:cs typeface="DejaVu Sans"/>
              </a:defRPr>
            </a:pPr>
            <a:r>
              <a:rPr sz="1575" b="1">
                <a:solidFill>
                  <a:srgbClr val="F5B61C"/>
                </a:solidFill>
                <a:latin typeface="DejaVu Sans"/>
                <a:ea typeface="DejaVu Sans"/>
                <a:cs typeface="DejaVu Sans"/>
              </a:rPr>
              <a:t>?</a:t>
            </a:r>
          </a:p>
        </p:txBody>
      </p:sp>
      <p:sp>
        <p:nvSpPr>
          <p:cNvPr id="34" name="">
            <a:extLst xmlns:a="http://schemas.openxmlformats.org/drawingml/2006/main">
              <a:ext uri="{FF2B5EF4-FFF2-40B4-BE49-F238E27FC236}">
                <a16:creationId xmlns:a16="http://schemas.microsoft.com/office/drawing/2014/main" id="{7FB98EBA-8D46-449C-A3FB-12087A5B2161}"/>
              </a:ext>
            </a:extLst>
          </p:cNvPr>
          <p:cNvSpPr>
            <a:spLocks xmlns:a="http://schemas.openxmlformats.org/drawingml/2006/main" noGrp="1"/>
          </p:cNvSpPr>
          <p:nvPr/>
        </p:nvSpPr>
        <p:spPr>
          <a:xfrm xmlns:a="http://schemas.openxmlformats.org/drawingml/2006/main">
            <a:off x="101155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DejaVu Sans"/>
                <a:ea typeface="DejaVu Sans"/>
                <a:cs typeface="DejaVu Sans"/>
              </a:defRPr>
            </a:pPr>
            <a:r>
              <a:rPr sz="1575" b="1">
                <a:solidFill>
                  <a:srgbClr val="F5B61C"/>
                </a:solidFill>
                <a:latin typeface="DejaVu Sans"/>
                <a:ea typeface="DejaVu Sans"/>
                <a:cs typeface="DejaVu Sans"/>
              </a:rPr>
              <a:t>?</a:t>
            </a:r>
          </a:p>
        </p:txBody>
      </p:sp>
      <p:sp>
        <p:nvSpPr>
          <p:cNvPr id="35" name="">
            <a:extLst xmlns:a="http://schemas.openxmlformats.org/drawingml/2006/main">
              <a:ext uri="{FF2B5EF4-FFF2-40B4-BE49-F238E27FC236}">
                <a16:creationId xmlns:a16="http://schemas.microsoft.com/office/drawing/2014/main" id="{383E0E43-3E7C-41E4-9154-392F5C11E2B2}"/>
              </a:ext>
            </a:extLst>
          </p:cNvPr>
          <p:cNvSpPr>
            <a:spLocks xmlns:a="http://schemas.openxmlformats.org/drawingml/2006/main" noGrp="1"/>
          </p:cNvSpPr>
          <p:nvPr/>
        </p:nvSpPr>
        <p:spPr>
          <a:xfrm xmlns:a="http://schemas.openxmlformats.org/drawingml/2006/main">
            <a:off x="914400" y="3067050"/>
            <a:ext cx="10363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Illustrative team: changes per week; comparable work, fixed downstream capacity.</a:t>
            </a:r>
          </a:p>
        </p:txBody>
      </p:sp>
      <p:sp>
        <p:nvSpPr>
          <p:cNvPr id="36" name="">
            <a:extLst xmlns:a="http://schemas.openxmlformats.org/drawingml/2006/main">
              <a:ext uri="{FF2B5EF4-FFF2-40B4-BE49-F238E27FC236}">
                <a16:creationId xmlns:a16="http://schemas.microsoft.com/office/drawing/2014/main" id="{4258C02F-026C-4A22-B9C7-A78A3AE83DF2}"/>
              </a:ext>
            </a:extLst>
          </p:cNvPr>
          <p:cNvSpPr>
            <a:spLocks xmlns:a="http://schemas.openxmlformats.org/drawingml/2006/main" noGrp="1"/>
          </p:cNvSpPr>
          <p:nvPr/>
        </p:nvSpPr>
        <p:spPr>
          <a:xfrm xmlns:a="http://schemas.openxmlformats.org/drawingml/2006/main">
            <a:off x="32385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DejaVu Sans"/>
                <a:ea typeface="DejaVu Sans"/>
                <a:cs typeface="DejaVu Sans"/>
              </a:defRPr>
            </a:pPr>
            <a:r>
              <a:rPr sz="1650" b="1">
                <a:solidFill>
                  <a:srgbClr val="F4F7FA"/>
                </a:solidFill>
                <a:latin typeface="DejaVu Sans"/>
                <a:ea typeface="DejaVu Sans"/>
                <a:cs typeface="DejaVu Sans"/>
              </a:rPr>
              <a:t>Code</a:t>
            </a:r>
          </a:p>
        </p:txBody>
      </p:sp>
      <p:sp>
        <p:nvSpPr>
          <p:cNvPr id="37" name="">
            <a:extLst xmlns:a="http://schemas.openxmlformats.org/drawingml/2006/main">
              <a:ext uri="{FF2B5EF4-FFF2-40B4-BE49-F238E27FC236}">
                <a16:creationId xmlns:a16="http://schemas.microsoft.com/office/drawing/2014/main" id="{193269A6-8E22-4A5E-93B6-ABF611FCBB73}"/>
              </a:ext>
            </a:extLst>
          </p:cNvPr>
          <p:cNvSpPr>
            <a:spLocks xmlns:a="http://schemas.openxmlformats.org/drawingml/2006/main" noGrp="1"/>
          </p:cNvSpPr>
          <p:nvPr/>
        </p:nvSpPr>
        <p:spPr>
          <a:xfrm xmlns:a="http://schemas.openxmlformats.org/drawingml/2006/main">
            <a:off x="531495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DejaVu Sans"/>
                <a:ea typeface="DejaVu Sans"/>
                <a:cs typeface="DejaVu Sans"/>
              </a:defRPr>
            </a:pPr>
            <a:r>
              <a:rPr sz="1650" b="1">
                <a:solidFill>
                  <a:srgbClr val="F4F7FA"/>
                </a:solidFill>
                <a:latin typeface="DejaVu Sans"/>
                <a:ea typeface="DejaVu Sans"/>
                <a:cs typeface="DejaVu Sans"/>
              </a:rPr>
              <a:t>Review</a:t>
            </a:r>
          </a:p>
        </p:txBody>
      </p:sp>
      <p:sp>
        <p:nvSpPr>
          <p:cNvPr id="38" name="">
            <a:extLst xmlns:a="http://schemas.openxmlformats.org/drawingml/2006/main">
              <a:ext uri="{FF2B5EF4-FFF2-40B4-BE49-F238E27FC236}">
                <a16:creationId xmlns:a16="http://schemas.microsoft.com/office/drawing/2014/main" id="{EA917623-A3FC-4EF4-9131-8798B581690F}"/>
              </a:ext>
            </a:extLst>
          </p:cNvPr>
          <p:cNvSpPr>
            <a:spLocks xmlns:a="http://schemas.openxmlformats.org/drawingml/2006/main" noGrp="1"/>
          </p:cNvSpPr>
          <p:nvPr/>
        </p:nvSpPr>
        <p:spPr>
          <a:xfrm xmlns:a="http://schemas.openxmlformats.org/drawingml/2006/main">
            <a:off x="73914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DejaVu Sans"/>
                <a:ea typeface="DejaVu Sans"/>
                <a:cs typeface="DejaVu Sans"/>
              </a:defRPr>
            </a:pPr>
            <a:r>
              <a:rPr sz="1650" b="1">
                <a:solidFill>
                  <a:srgbClr val="F4F7FA"/>
                </a:solidFill>
                <a:latin typeface="DejaVu Sans"/>
                <a:ea typeface="DejaVu Sans"/>
                <a:cs typeface="DejaVu Sans"/>
              </a:rPr>
              <a:t>Integrate</a:t>
            </a:r>
          </a:p>
        </p:txBody>
      </p:sp>
      <p:sp>
        <p:nvSpPr>
          <p:cNvPr id="39" name="">
            <a:extLst xmlns:a="http://schemas.openxmlformats.org/drawingml/2006/main">
              <a:ext uri="{FF2B5EF4-FFF2-40B4-BE49-F238E27FC236}">
                <a16:creationId xmlns:a16="http://schemas.microsoft.com/office/drawing/2014/main" id="{33365B40-EA1C-4D84-ACE6-9E4F98EB9102}"/>
              </a:ext>
            </a:extLst>
          </p:cNvPr>
          <p:cNvSpPr>
            <a:spLocks xmlns:a="http://schemas.openxmlformats.org/drawingml/2006/main" noGrp="1"/>
          </p:cNvSpPr>
          <p:nvPr/>
        </p:nvSpPr>
        <p:spPr>
          <a:xfrm xmlns:a="http://schemas.openxmlformats.org/drawingml/2006/main">
            <a:off x="9582150" y="342900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ADB8C5"/>
                </a:solidFill>
                <a:latin typeface="DejaVu Sans"/>
                <a:ea typeface="DejaVu Sans"/>
                <a:cs typeface="DejaVu Sans"/>
              </a:defRPr>
            </a:pPr>
            <a:r>
              <a:rPr sz="1500" b="1">
                <a:solidFill>
                  <a:srgbClr val="ADB8C5"/>
                </a:solidFill>
                <a:latin typeface="DejaVu Sans"/>
                <a:ea typeface="DejaVu Sans"/>
                <a:cs typeface="DejaVu Sans"/>
              </a:rPr>
              <a:t>BACKLOG</a:t>
            </a:r>
          </a:p>
        </p:txBody>
      </p:sp>
      <p:sp>
        <p:nvSpPr>
          <p:cNvPr id="40" name="">
            <a:extLst xmlns:a="http://schemas.openxmlformats.org/drawingml/2006/main">
              <a:ext uri="{FF2B5EF4-FFF2-40B4-BE49-F238E27FC236}">
                <a16:creationId xmlns:a16="http://schemas.microsoft.com/office/drawing/2014/main" id="{639FEBA1-8499-4D9F-B472-80ED68059B06}"/>
              </a:ext>
            </a:extLst>
          </p:cNvPr>
          <p:cNvSpPr>
            <a:spLocks xmlns:a="http://schemas.openxmlformats.org/drawingml/2006/main" noGrp="1"/>
          </p:cNvSpPr>
          <p:nvPr/>
        </p:nvSpPr>
        <p:spPr>
          <a:xfrm xmlns:a="http://schemas.openxmlformats.org/drawingml/2006/main">
            <a:off x="914400" y="38290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ADB8C5"/>
                </a:solidFill>
                <a:latin typeface="DejaVu Sans"/>
                <a:ea typeface="DejaVu Sans"/>
                <a:cs typeface="DejaVu Sans"/>
              </a:defRPr>
            </a:pPr>
            <a:r>
              <a:rPr sz="1650" b="1">
                <a:solidFill>
                  <a:srgbClr val="ADB8C5"/>
                </a:solidFill>
                <a:latin typeface="DejaVu Sans"/>
                <a:ea typeface="DejaVu Sans"/>
                <a:cs typeface="DejaVu Sans"/>
              </a:rPr>
              <a:t>BEFORE</a:t>
            </a:r>
          </a:p>
        </p:txBody>
      </p:sp>
      <p:sp>
        <p:nvSpPr>
          <p:cNvPr id="41" name="">
            <a:extLst xmlns:a="http://schemas.openxmlformats.org/drawingml/2006/main">
              <a:ext uri="{FF2B5EF4-FFF2-40B4-BE49-F238E27FC236}">
                <a16:creationId xmlns:a16="http://schemas.microsoft.com/office/drawing/2014/main" id="{F3ED3325-D643-402B-912C-0F424125350B}"/>
              </a:ext>
            </a:extLst>
          </p:cNvPr>
          <p:cNvSpPr>
            <a:spLocks xmlns:a="http://schemas.openxmlformats.org/drawingml/2006/main" noGrp="1"/>
          </p:cNvSpPr>
          <p:nvPr/>
        </p:nvSpPr>
        <p:spPr>
          <a:xfrm xmlns:a="http://schemas.openxmlformats.org/drawingml/2006/main">
            <a:off x="914400" y="41529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Balanced flow</a:t>
            </a:r>
          </a:p>
        </p:txBody>
      </p:sp>
      <p:sp>
        <p:nvSpPr>
          <p:cNvPr id="42" name="">
            <a:extLst xmlns:a="http://schemas.openxmlformats.org/drawingml/2006/main">
              <a:ext uri="{FF2B5EF4-FFF2-40B4-BE49-F238E27FC236}">
                <a16:creationId xmlns:a16="http://schemas.microsoft.com/office/drawing/2014/main" id="{3B395B1F-F60F-477E-96AF-BA5E770BFFB1}"/>
              </a:ext>
            </a:extLst>
          </p:cNvPr>
          <p:cNvSpPr>
            <a:spLocks xmlns:a="http://schemas.openxmlformats.org/drawingml/2006/main" noGrp="1"/>
          </p:cNvSpPr>
          <p:nvPr/>
        </p:nvSpPr>
        <p:spPr>
          <a:xfrm xmlns:a="http://schemas.openxmlformats.org/drawingml/2006/main">
            <a:off x="32385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3" name="">
            <a:extLst xmlns:a="http://schemas.openxmlformats.org/drawingml/2006/main">
              <a:ext uri="{FF2B5EF4-FFF2-40B4-BE49-F238E27FC236}">
                <a16:creationId xmlns:a16="http://schemas.microsoft.com/office/drawing/2014/main" id="{AD8430CC-412C-4944-BDC2-31C73BF7CD40}"/>
              </a:ext>
            </a:extLst>
          </p:cNvPr>
          <p:cNvSpPr>
            <a:spLocks xmlns:a="http://schemas.openxmlformats.org/drawingml/2006/main" noGrp="1"/>
          </p:cNvSpPr>
          <p:nvPr/>
        </p:nvSpPr>
        <p:spPr>
          <a:xfrm xmlns:a="http://schemas.openxmlformats.org/drawingml/2006/main">
            <a:off x="33528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8</a:t>
            </a:r>
          </a:p>
        </p:txBody>
      </p:sp>
      <p:sp>
        <p:nvSpPr>
          <p:cNvPr id="44" name="">
            <a:extLst xmlns:a="http://schemas.openxmlformats.org/drawingml/2006/main">
              <a:ext uri="{FF2B5EF4-FFF2-40B4-BE49-F238E27FC236}">
                <a16:creationId xmlns:a16="http://schemas.microsoft.com/office/drawing/2014/main" id="{F2CFA8BF-5D7E-4D19-8819-156134BE52D4}"/>
              </a:ext>
            </a:extLst>
          </p:cNvPr>
          <p:cNvSpPr>
            <a:spLocks xmlns:a="http://schemas.openxmlformats.org/drawingml/2006/main" noGrp="1"/>
          </p:cNvSpPr>
          <p:nvPr/>
        </p:nvSpPr>
        <p:spPr>
          <a:xfrm xmlns:a="http://schemas.openxmlformats.org/drawingml/2006/main">
            <a:off x="531495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5" name="">
            <a:extLst xmlns:a="http://schemas.openxmlformats.org/drawingml/2006/main">
              <a:ext uri="{FF2B5EF4-FFF2-40B4-BE49-F238E27FC236}">
                <a16:creationId xmlns:a16="http://schemas.microsoft.com/office/drawing/2014/main" id="{16810AED-DDC4-4A26-8874-B92B71C0F333}"/>
              </a:ext>
            </a:extLst>
          </p:cNvPr>
          <p:cNvSpPr>
            <a:spLocks xmlns:a="http://schemas.openxmlformats.org/drawingml/2006/main" noGrp="1"/>
          </p:cNvSpPr>
          <p:nvPr/>
        </p:nvSpPr>
        <p:spPr>
          <a:xfrm xmlns:a="http://schemas.openxmlformats.org/drawingml/2006/main">
            <a:off x="542925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8</a:t>
            </a:r>
          </a:p>
        </p:txBody>
      </p:sp>
      <p:sp>
        <p:nvSpPr>
          <p:cNvPr id="46" name="">
            <a:extLst xmlns:a="http://schemas.openxmlformats.org/drawingml/2006/main">
              <a:ext uri="{FF2B5EF4-FFF2-40B4-BE49-F238E27FC236}">
                <a16:creationId xmlns:a16="http://schemas.microsoft.com/office/drawing/2014/main" id="{1A165016-81CE-4B29-9816-C5C43649385C}"/>
              </a:ext>
            </a:extLst>
          </p:cNvPr>
          <p:cNvSpPr>
            <a:spLocks xmlns:a="http://schemas.openxmlformats.org/drawingml/2006/main" noGrp="1"/>
          </p:cNvSpPr>
          <p:nvPr/>
        </p:nvSpPr>
        <p:spPr>
          <a:xfrm xmlns:a="http://schemas.openxmlformats.org/drawingml/2006/main">
            <a:off x="73914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7" name="">
            <a:extLst xmlns:a="http://schemas.openxmlformats.org/drawingml/2006/main">
              <a:ext uri="{FF2B5EF4-FFF2-40B4-BE49-F238E27FC236}">
                <a16:creationId xmlns:a16="http://schemas.microsoft.com/office/drawing/2014/main" id="{D95BA70A-446B-42EB-B456-EDF52F38E04E}"/>
              </a:ext>
            </a:extLst>
          </p:cNvPr>
          <p:cNvSpPr>
            <a:spLocks xmlns:a="http://schemas.openxmlformats.org/drawingml/2006/main" noGrp="1"/>
          </p:cNvSpPr>
          <p:nvPr/>
        </p:nvSpPr>
        <p:spPr>
          <a:xfrm xmlns:a="http://schemas.openxmlformats.org/drawingml/2006/main">
            <a:off x="75057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8</a:t>
            </a:r>
          </a:p>
        </p:txBody>
      </p:sp>
      <p:sp>
        <p:nvSpPr>
          <p:cNvPr id="48" name="">
            <a:extLst xmlns:a="http://schemas.openxmlformats.org/drawingml/2006/main">
              <a:ext uri="{FF2B5EF4-FFF2-40B4-BE49-F238E27FC236}">
                <a16:creationId xmlns:a16="http://schemas.microsoft.com/office/drawing/2014/main" id="{D0907226-60F9-4118-8097-0AEFC9254320}"/>
              </a:ext>
            </a:extLst>
          </p:cNvPr>
          <p:cNvSpPr>
            <a:spLocks xmlns:a="http://schemas.openxmlformats.org/drawingml/2006/main" noGrp="1"/>
          </p:cNvSpPr>
          <p:nvPr/>
        </p:nvSpPr>
        <p:spPr>
          <a:xfrm xmlns:a="http://schemas.openxmlformats.org/drawingml/2006/main" flipH="0" flipV="0">
            <a:off x="487680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49" name="">
            <a:extLst xmlns:a="http://schemas.openxmlformats.org/drawingml/2006/main">
              <a:ext uri="{FF2B5EF4-FFF2-40B4-BE49-F238E27FC236}">
                <a16:creationId xmlns:a16="http://schemas.microsoft.com/office/drawing/2014/main" id="{B6AE0B66-CFAE-408C-BB40-AB29744237D8}"/>
              </a:ext>
            </a:extLst>
          </p:cNvPr>
          <p:cNvSpPr>
            <a:spLocks xmlns:a="http://schemas.openxmlformats.org/drawingml/2006/main" noGrp="1"/>
          </p:cNvSpPr>
          <p:nvPr/>
        </p:nvSpPr>
        <p:spPr>
          <a:xfrm xmlns:a="http://schemas.openxmlformats.org/drawingml/2006/main" flipH="0" flipV="0">
            <a:off x="695325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0" name="">
            <a:extLst xmlns:a="http://schemas.openxmlformats.org/drawingml/2006/main">
              <a:ext uri="{FF2B5EF4-FFF2-40B4-BE49-F238E27FC236}">
                <a16:creationId xmlns:a16="http://schemas.microsoft.com/office/drawing/2014/main" id="{09EC4EB0-A93C-4705-AF50-172801D08FCB}"/>
              </a:ext>
            </a:extLst>
          </p:cNvPr>
          <p:cNvSpPr>
            <a:spLocks xmlns:a="http://schemas.openxmlformats.org/drawingml/2006/main" noGrp="1"/>
          </p:cNvSpPr>
          <p:nvPr/>
        </p:nvSpPr>
        <p:spPr>
          <a:xfrm xmlns:a="http://schemas.openxmlformats.org/drawingml/2006/main">
            <a:off x="9582150" y="38290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ADB8C5"/>
                </a:solidFill>
                <a:latin typeface="DejaVu Sans"/>
                <a:ea typeface="DejaVu Sans"/>
                <a:cs typeface="DejaVu Sans"/>
              </a:defRPr>
            </a:pPr>
            <a:r>
              <a:rPr sz="2925" b="1">
                <a:solidFill>
                  <a:srgbClr val="ADB8C5"/>
                </a:solidFill>
                <a:latin typeface="DejaVu Sans"/>
                <a:ea typeface="DejaVu Sans"/>
                <a:cs typeface="DejaVu Sans"/>
              </a:rPr>
              <a:t>0</a:t>
            </a:r>
          </a:p>
        </p:txBody>
      </p:sp>
      <p:sp>
        <p:nvSpPr>
          <p:cNvPr id="51" name="">
            <a:extLst xmlns:a="http://schemas.openxmlformats.org/drawingml/2006/main">
              <a:ext uri="{FF2B5EF4-FFF2-40B4-BE49-F238E27FC236}">
                <a16:creationId xmlns:a16="http://schemas.microsoft.com/office/drawing/2014/main" id="{5652CC55-B0B1-4679-BF42-6154A32425D6}"/>
              </a:ext>
            </a:extLst>
          </p:cNvPr>
          <p:cNvSpPr>
            <a:spLocks xmlns:a="http://schemas.openxmlformats.org/drawingml/2006/main" noGrp="1"/>
          </p:cNvSpPr>
          <p:nvPr/>
        </p:nvSpPr>
        <p:spPr>
          <a:xfrm xmlns:a="http://schemas.openxmlformats.org/drawingml/2006/main">
            <a:off x="9582150" y="42862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DejaVu Sans"/>
                <a:ea typeface="DejaVu Sans"/>
                <a:cs typeface="DejaVu Sans"/>
              </a:defRPr>
            </a:pPr>
            <a:r>
              <a:rPr sz="1275" b="0">
                <a:solidFill>
                  <a:srgbClr val="ADB8C5"/>
                </a:solidFill>
                <a:latin typeface="DejaVu Sans"/>
                <a:ea typeface="DejaVu Sans"/>
                <a:cs typeface="DejaVu Sans"/>
              </a:rPr>
              <a:t>no accumulation</a:t>
            </a:r>
          </a:p>
        </p:txBody>
      </p:sp>
      <p:sp>
        <p:nvSpPr>
          <p:cNvPr id="52" name="">
            <a:extLst xmlns:a="http://schemas.openxmlformats.org/drawingml/2006/main">
              <a:ext uri="{FF2B5EF4-FFF2-40B4-BE49-F238E27FC236}">
                <a16:creationId xmlns:a16="http://schemas.microsoft.com/office/drawing/2014/main" id="{A65C1DDA-6E07-4F3B-9171-0F6D0598289A}"/>
              </a:ext>
            </a:extLst>
          </p:cNvPr>
          <p:cNvSpPr>
            <a:spLocks xmlns:a="http://schemas.openxmlformats.org/drawingml/2006/main" noGrp="1"/>
          </p:cNvSpPr>
          <p:nvPr/>
        </p:nvSpPr>
        <p:spPr>
          <a:xfrm xmlns:a="http://schemas.openxmlformats.org/drawingml/2006/main">
            <a:off x="914400" y="48196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AFTER AI</a:t>
            </a:r>
          </a:p>
        </p:txBody>
      </p:sp>
      <p:sp>
        <p:nvSpPr>
          <p:cNvPr id="53" name="">
            <a:extLst xmlns:a="http://schemas.openxmlformats.org/drawingml/2006/main">
              <a:ext uri="{FF2B5EF4-FFF2-40B4-BE49-F238E27FC236}">
                <a16:creationId xmlns:a16="http://schemas.microsoft.com/office/drawing/2014/main" id="{F7F00F5F-F130-4031-99D5-0611DF2EEAE9}"/>
              </a:ext>
            </a:extLst>
          </p:cNvPr>
          <p:cNvSpPr>
            <a:spLocks xmlns:a="http://schemas.openxmlformats.org/drawingml/2006/main" noGrp="1"/>
          </p:cNvSpPr>
          <p:nvPr/>
        </p:nvSpPr>
        <p:spPr>
          <a:xfrm xmlns:a="http://schemas.openxmlformats.org/drawingml/2006/main">
            <a:off x="914400" y="51435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Other stages have</a:t>
            </a:r>
          </a:p>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not sped up</a:t>
            </a:r>
          </a:p>
        </p:txBody>
      </p:sp>
      <p:sp>
        <p:nvSpPr>
          <p:cNvPr id="54" name="">
            <a:extLst xmlns:a="http://schemas.openxmlformats.org/drawingml/2006/main">
              <a:ext uri="{FF2B5EF4-FFF2-40B4-BE49-F238E27FC236}">
                <a16:creationId xmlns:a16="http://schemas.microsoft.com/office/drawing/2014/main" id="{9C420BD5-CF01-4E9E-A657-86EA724009C1}"/>
              </a:ext>
            </a:extLst>
          </p:cNvPr>
          <p:cNvSpPr>
            <a:spLocks xmlns:a="http://schemas.openxmlformats.org/drawingml/2006/main" noGrp="1"/>
          </p:cNvSpPr>
          <p:nvPr/>
        </p:nvSpPr>
        <p:spPr>
          <a:xfrm xmlns:a="http://schemas.openxmlformats.org/drawingml/2006/main">
            <a:off x="32385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5" name="">
            <a:extLst xmlns:a="http://schemas.openxmlformats.org/drawingml/2006/main">
              <a:ext uri="{FF2B5EF4-FFF2-40B4-BE49-F238E27FC236}">
                <a16:creationId xmlns:a16="http://schemas.microsoft.com/office/drawing/2014/main" id="{B9188751-4DC0-4681-85E7-A82149099762}"/>
              </a:ext>
            </a:extLst>
          </p:cNvPr>
          <p:cNvSpPr>
            <a:spLocks xmlns:a="http://schemas.openxmlformats.org/drawingml/2006/main" noGrp="1"/>
          </p:cNvSpPr>
          <p:nvPr/>
        </p:nvSpPr>
        <p:spPr>
          <a:xfrm xmlns:a="http://schemas.openxmlformats.org/drawingml/2006/main">
            <a:off x="33528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28C7F7"/>
                </a:solidFill>
                <a:latin typeface="DejaVu Sans"/>
                <a:ea typeface="DejaVu Sans"/>
                <a:cs typeface="DejaVu Sans"/>
              </a:defRPr>
            </a:pPr>
            <a:r>
              <a:rPr sz="2700" b="1">
                <a:solidFill>
                  <a:srgbClr val="28C7F7"/>
                </a:solidFill>
                <a:latin typeface="DejaVu Sans"/>
                <a:ea typeface="DejaVu Sans"/>
                <a:cs typeface="DejaVu Sans"/>
              </a:rPr>
              <a:t>100</a:t>
            </a:r>
          </a:p>
        </p:txBody>
      </p:sp>
      <p:sp>
        <p:nvSpPr>
          <p:cNvPr id="56" name="">
            <a:extLst xmlns:a="http://schemas.openxmlformats.org/drawingml/2006/main">
              <a:ext uri="{FF2B5EF4-FFF2-40B4-BE49-F238E27FC236}">
                <a16:creationId xmlns:a16="http://schemas.microsoft.com/office/drawing/2014/main" id="{FE0CB03C-D5E6-47BF-8B9A-A923E4BC10DD}"/>
              </a:ext>
            </a:extLst>
          </p:cNvPr>
          <p:cNvSpPr>
            <a:spLocks xmlns:a="http://schemas.openxmlformats.org/drawingml/2006/main" noGrp="1"/>
          </p:cNvSpPr>
          <p:nvPr/>
        </p:nvSpPr>
        <p:spPr>
          <a:xfrm xmlns:a="http://schemas.openxmlformats.org/drawingml/2006/main">
            <a:off x="531495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7" name="">
            <a:extLst xmlns:a="http://schemas.openxmlformats.org/drawingml/2006/main">
              <a:ext uri="{FF2B5EF4-FFF2-40B4-BE49-F238E27FC236}">
                <a16:creationId xmlns:a16="http://schemas.microsoft.com/office/drawing/2014/main" id="{843EB952-557A-4B85-B092-A18C73182791}"/>
              </a:ext>
            </a:extLst>
          </p:cNvPr>
          <p:cNvSpPr>
            <a:spLocks xmlns:a="http://schemas.openxmlformats.org/drawingml/2006/main" noGrp="1"/>
          </p:cNvSpPr>
          <p:nvPr/>
        </p:nvSpPr>
        <p:spPr>
          <a:xfrm xmlns:a="http://schemas.openxmlformats.org/drawingml/2006/main">
            <a:off x="542925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8</a:t>
            </a:r>
          </a:p>
        </p:txBody>
      </p:sp>
      <p:sp>
        <p:nvSpPr>
          <p:cNvPr id="58" name="">
            <a:extLst xmlns:a="http://schemas.openxmlformats.org/drawingml/2006/main">
              <a:ext uri="{FF2B5EF4-FFF2-40B4-BE49-F238E27FC236}">
                <a16:creationId xmlns:a16="http://schemas.microsoft.com/office/drawing/2014/main" id="{FA59DAA5-5565-468B-926E-A3B9FD789FE9}"/>
              </a:ext>
            </a:extLst>
          </p:cNvPr>
          <p:cNvSpPr>
            <a:spLocks xmlns:a="http://schemas.openxmlformats.org/drawingml/2006/main" noGrp="1"/>
          </p:cNvSpPr>
          <p:nvPr/>
        </p:nvSpPr>
        <p:spPr>
          <a:xfrm xmlns:a="http://schemas.openxmlformats.org/drawingml/2006/main">
            <a:off x="73914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9" name="">
            <a:extLst xmlns:a="http://schemas.openxmlformats.org/drawingml/2006/main">
              <a:ext uri="{FF2B5EF4-FFF2-40B4-BE49-F238E27FC236}">
                <a16:creationId xmlns:a16="http://schemas.microsoft.com/office/drawing/2014/main" id="{A1F2D2F7-EE8A-410B-B132-063130423C7E}"/>
              </a:ext>
            </a:extLst>
          </p:cNvPr>
          <p:cNvSpPr>
            <a:spLocks xmlns:a="http://schemas.openxmlformats.org/drawingml/2006/main" noGrp="1"/>
          </p:cNvSpPr>
          <p:nvPr/>
        </p:nvSpPr>
        <p:spPr>
          <a:xfrm xmlns:a="http://schemas.openxmlformats.org/drawingml/2006/main">
            <a:off x="75057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8</a:t>
            </a:r>
          </a:p>
        </p:txBody>
      </p:sp>
      <p:sp>
        <p:nvSpPr>
          <p:cNvPr id="60" name="">
            <a:extLst xmlns:a="http://schemas.openxmlformats.org/drawingml/2006/main">
              <a:ext uri="{FF2B5EF4-FFF2-40B4-BE49-F238E27FC236}">
                <a16:creationId xmlns:a16="http://schemas.microsoft.com/office/drawing/2014/main" id="{E5E3841E-A28C-4FA2-871B-82B1E375DF22}"/>
              </a:ext>
            </a:extLst>
          </p:cNvPr>
          <p:cNvSpPr>
            <a:spLocks xmlns:a="http://schemas.openxmlformats.org/drawingml/2006/main" noGrp="1"/>
          </p:cNvSpPr>
          <p:nvPr/>
        </p:nvSpPr>
        <p:spPr>
          <a:xfrm xmlns:a="http://schemas.openxmlformats.org/drawingml/2006/main" flipH="0" flipV="0">
            <a:off x="487680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1" name="">
            <a:extLst xmlns:a="http://schemas.openxmlformats.org/drawingml/2006/main">
              <a:ext uri="{FF2B5EF4-FFF2-40B4-BE49-F238E27FC236}">
                <a16:creationId xmlns:a16="http://schemas.microsoft.com/office/drawing/2014/main" id="{DE604B14-6B27-4AAD-9B01-1CA9CC73C7FA}"/>
              </a:ext>
            </a:extLst>
          </p:cNvPr>
          <p:cNvSpPr>
            <a:spLocks xmlns:a="http://schemas.openxmlformats.org/drawingml/2006/main" noGrp="1"/>
          </p:cNvSpPr>
          <p:nvPr/>
        </p:nvSpPr>
        <p:spPr>
          <a:xfrm xmlns:a="http://schemas.openxmlformats.org/drawingml/2006/main" flipH="0" flipV="0">
            <a:off x="695325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2" name="">
            <a:extLst xmlns:a="http://schemas.openxmlformats.org/drawingml/2006/main">
              <a:ext uri="{FF2B5EF4-FFF2-40B4-BE49-F238E27FC236}">
                <a16:creationId xmlns:a16="http://schemas.microsoft.com/office/drawing/2014/main" id="{29536A47-6C34-4F76-9619-3464625ABD25}"/>
              </a:ext>
            </a:extLst>
          </p:cNvPr>
          <p:cNvSpPr>
            <a:spLocks xmlns:a="http://schemas.openxmlformats.org/drawingml/2006/main" noGrp="1"/>
          </p:cNvSpPr>
          <p:nvPr/>
        </p:nvSpPr>
        <p:spPr>
          <a:xfrm xmlns:a="http://schemas.openxmlformats.org/drawingml/2006/main">
            <a:off x="9582150" y="48196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F5B61C"/>
                </a:solidFill>
                <a:latin typeface="DejaVu Sans"/>
                <a:ea typeface="DejaVu Sans"/>
                <a:cs typeface="DejaVu Sans"/>
              </a:defRPr>
            </a:pPr>
            <a:r>
              <a:rPr sz="2925" b="1">
                <a:solidFill>
                  <a:srgbClr val="F5B61C"/>
                </a:solidFill>
                <a:latin typeface="DejaVu Sans"/>
                <a:ea typeface="DejaVu Sans"/>
                <a:cs typeface="DejaVu Sans"/>
              </a:rPr>
              <a:t>+92</a:t>
            </a:r>
          </a:p>
        </p:txBody>
      </p:sp>
      <p:sp>
        <p:nvSpPr>
          <p:cNvPr id="63" name="">
            <a:extLst xmlns:a="http://schemas.openxmlformats.org/drawingml/2006/main">
              <a:ext uri="{FF2B5EF4-FFF2-40B4-BE49-F238E27FC236}">
                <a16:creationId xmlns:a16="http://schemas.microsoft.com/office/drawing/2014/main" id="{8A1702A8-FE80-475A-9FE7-275EE471BC07}"/>
              </a:ext>
            </a:extLst>
          </p:cNvPr>
          <p:cNvSpPr>
            <a:spLocks xmlns:a="http://schemas.openxmlformats.org/drawingml/2006/main" noGrp="1"/>
          </p:cNvSpPr>
          <p:nvPr/>
        </p:nvSpPr>
        <p:spPr>
          <a:xfrm xmlns:a="http://schemas.openxmlformats.org/drawingml/2006/main">
            <a:off x="9582150" y="52768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DejaVu Sans"/>
                <a:ea typeface="DejaVu Sans"/>
                <a:cs typeface="DejaVu Sans"/>
              </a:defRPr>
            </a:pPr>
            <a:r>
              <a:rPr sz="1275" b="0">
                <a:solidFill>
                  <a:srgbClr val="ADB8C5"/>
                </a:solidFill>
                <a:latin typeface="DejaVu Sans"/>
                <a:ea typeface="DejaVu Sans"/>
                <a:cs typeface="DejaVu Sans"/>
              </a:rPr>
              <a:t>unfinished / week</a:t>
            </a:r>
          </a:p>
        </p:txBody>
      </p:sp>
      <p:sp>
        <p:nvSpPr>
          <p:cNvPr id="64" name="">
            <a:extLst xmlns:a="http://schemas.openxmlformats.org/drawingml/2006/main">
              <a:ext uri="{FF2B5EF4-FFF2-40B4-BE49-F238E27FC236}">
                <a16:creationId xmlns:a16="http://schemas.microsoft.com/office/drawing/2014/main" id="{E8518028-B0C8-4ACA-BE9D-E8932F2AA8D9}"/>
              </a:ext>
            </a:extLst>
          </p:cNvPr>
          <p:cNvSpPr>
            <a:spLocks xmlns:a="http://schemas.openxmlformats.org/drawingml/2006/main" noGrp="1"/>
          </p:cNvSpPr>
          <p:nvPr/>
        </p:nvSpPr>
        <p:spPr>
          <a:xfrm xmlns:a="http://schemas.openxmlformats.org/drawingml/2006/main" flipH="0" flipV="0">
            <a:off x="914400" y="5705475"/>
            <a:ext cx="10363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5" name="">
            <a:extLst xmlns:a="http://schemas.openxmlformats.org/drawingml/2006/main">
              <a:ext uri="{FF2B5EF4-FFF2-40B4-BE49-F238E27FC236}">
                <a16:creationId xmlns:a16="http://schemas.microsoft.com/office/drawing/2014/main" id="{463D5A1D-23EF-4FEF-8A38-9F994F1F4CC9}"/>
              </a:ext>
            </a:extLst>
          </p:cNvPr>
          <p:cNvSpPr>
            <a:spLocks xmlns:a="http://schemas.openxmlformats.org/drawingml/2006/main" noGrp="1"/>
          </p:cNvSpPr>
          <p:nvPr/>
        </p:nvSpPr>
        <p:spPr>
          <a:xfrm xmlns:a="http://schemas.openxmlformats.org/drawingml/2006/main">
            <a:off x="914400" y="5829300"/>
            <a:ext cx="50958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DejaVu Sans"/>
                <a:ea typeface="DejaVu Sans"/>
                <a:cs typeface="DejaVu Sans"/>
              </a:defRPr>
            </a:pPr>
            <a:r>
              <a:rPr sz="1500" b="1">
                <a:solidFill>
                  <a:srgbClr val="28C7F7"/>
                </a:solidFill>
                <a:latin typeface="DejaVu Sans"/>
                <a:ea typeface="DejaVu Sans"/>
                <a:cs typeface="DejaVu Sans"/>
              </a:rPr>
              <a:t>THEORY OF CONSTRAINTS</a:t>
            </a:r>
          </a:p>
        </p:txBody>
      </p:sp>
      <p:sp>
        <p:nvSpPr>
          <p:cNvPr id="66" name="">
            <a:extLst xmlns:a="http://schemas.openxmlformats.org/drawingml/2006/main">
              <a:ext uri="{FF2B5EF4-FFF2-40B4-BE49-F238E27FC236}">
                <a16:creationId xmlns:a16="http://schemas.microsoft.com/office/drawing/2014/main" id="{53D108B7-EA56-4213-A80D-5AB95F158739}"/>
              </a:ext>
            </a:extLst>
          </p:cNvPr>
          <p:cNvSpPr>
            <a:spLocks xmlns:a="http://schemas.openxmlformats.org/drawingml/2006/main" noGrp="1"/>
          </p:cNvSpPr>
          <p:nvPr/>
        </p:nvSpPr>
        <p:spPr>
          <a:xfrm xmlns:a="http://schemas.openxmlformats.org/drawingml/2006/main">
            <a:off x="914400" y="6143625"/>
            <a:ext cx="10363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Delivery stays at 8/week. WIP grows; overload can reduce quality.</a:t>
            </a:r>
          </a:p>
        </p:txBody>
      </p:sp>
      <p:sp>
        <p:nvSpPr>
          <p:cNvPr id="67" name="">
            <a:extLst xmlns:a="http://schemas.openxmlformats.org/drawingml/2006/main">
              <a:ext uri="{FF2B5EF4-FFF2-40B4-BE49-F238E27FC236}">
                <a16:creationId xmlns:a16="http://schemas.microsoft.com/office/drawing/2014/main" id="{5A96461D-7465-464F-BA64-D4E8F53D062B}"/>
              </a:ext>
            </a:extLst>
          </p:cNvPr>
          <p:cNvSpPr>
            <a:spLocks xmlns:a="http://schemas.openxmlformats.org/drawingml/2006/main" noGrp="1"/>
          </p:cNvSpPr>
          <p:nvPr/>
        </p:nvSpPr>
        <p:spPr>
          <a:xfrm xmlns:a="http://schemas.openxmlformats.org/drawingml/2006/main">
            <a:off x="6381750" y="5829300"/>
            <a:ext cx="4895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Push system: no WIP limit, no discarded work.</a:t>
            </a:r>
          </a:p>
        </p:txBody>
      </p:sp>
    </p:spTree>
    <p:extLst>
      <p:ext uri="{BB962C8B-B14F-4D97-AF65-F5344CB8AC3E}">
        <p14:creationId xmlns:p14="http://schemas.microsoft.com/office/powerpoint/2010/main" val="2069666540"/>
      </p:ext>
    </p:extLst>
  </p:cSld>
</p:sld>
</file>

<file path=ppt/slides/slide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BB9B2193-6489-4321-A210-A412036BA0A7}"/>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The Evidence Is Already Messy</a:t>
            </a:r>
          </a:p>
        </p:txBody>
      </p:sp>
      <p:sp>
        <p:nvSpPr>
          <p:cNvPr id="2" name="">
            <a:extLst xmlns:a="http://schemas.openxmlformats.org/drawingml/2006/main">
              <a:ext uri="{FF2B5EF4-FFF2-40B4-BE49-F238E27FC236}">
                <a16:creationId xmlns:a16="http://schemas.microsoft.com/office/drawing/2014/main" id="{F468E70C-F617-4DA0-81A2-EA37D6A495BF}"/>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5A6F0219-E244-41FE-A79E-9C0502187029}"/>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04</a:t>
            </a:r>
          </a:p>
        </p:txBody>
      </p:sp>
      <p:sp>
        <p:nvSpPr>
          <p:cNvPr id="4" name="">
            <a:extLst xmlns:a="http://schemas.openxmlformats.org/drawingml/2006/main">
              <a:ext uri="{FF2B5EF4-FFF2-40B4-BE49-F238E27FC236}">
                <a16:creationId xmlns:a16="http://schemas.microsoft.com/office/drawing/2014/main" id="{404667B7-73C5-4142-B290-AAD68E6AE2FD}"/>
              </a:ext>
            </a:extLst>
          </p:cNvPr>
          <p:cNvSpPr>
            <a:spLocks xmlns:a="http://schemas.openxmlformats.org/drawingml/2006/main" noGrp="1"/>
          </p:cNvSpPr>
          <p:nvPr/>
        </p:nvSpPr>
        <p:spPr>
          <a:xfrm xmlns:a="http://schemas.openxmlformats.org/drawingml/2006/main" flipH="0" flipV="0">
            <a:off x="5553075" y="1847850"/>
            <a:ext cx="0" cy="39433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5" name="">
            <a:extLst xmlns:a="http://schemas.openxmlformats.org/drawingml/2006/main">
              <a:ext uri="{FF2B5EF4-FFF2-40B4-BE49-F238E27FC236}">
                <a16:creationId xmlns:a16="http://schemas.microsoft.com/office/drawing/2014/main" id="{9BB1D8E0-945F-4936-B114-1EC894880443}"/>
              </a:ext>
            </a:extLst>
          </p:cNvPr>
          <p:cNvSpPr>
            <a:spLocks xmlns:a="http://schemas.openxmlformats.org/drawingml/2006/main" noGrp="1"/>
          </p:cNvSpPr>
          <p:nvPr/>
        </p:nvSpPr>
        <p:spPr>
          <a:xfrm xmlns:a="http://schemas.openxmlformats.org/drawingml/2006/main">
            <a:off x="609600" y="1857375"/>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NBER · SEP 2026 REVISION</a:t>
            </a:r>
          </a:p>
        </p:txBody>
      </p:sp>
      <p:sp>
        <p:nvSpPr>
          <p:cNvPr id="6" name="">
            <a:extLst xmlns:a="http://schemas.openxmlformats.org/drawingml/2006/main">
              <a:ext uri="{FF2B5EF4-FFF2-40B4-BE49-F238E27FC236}">
                <a16:creationId xmlns:a16="http://schemas.microsoft.com/office/drawing/2014/main" id="{5522FA1F-2F0E-44C7-9E6B-93BA2F03DFB9}"/>
              </a:ext>
            </a:extLst>
          </p:cNvPr>
          <p:cNvSpPr>
            <a:spLocks xmlns:a="http://schemas.openxmlformats.org/drawingml/2006/main" noGrp="1"/>
          </p:cNvSpPr>
          <p:nvPr/>
        </p:nvSpPr>
        <p:spPr>
          <a:xfrm xmlns:a="http://schemas.openxmlformats.org/drawingml/2006/main">
            <a:off x="60960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DejaVu Sans"/>
                <a:ea typeface="DejaVu Sans"/>
                <a:cs typeface="DejaVu Sans"/>
              </a:defRPr>
            </a:pPr>
            <a:r>
              <a:rPr sz="3225" b="1">
                <a:solidFill>
                  <a:srgbClr val="F4F7FA"/>
                </a:solidFill>
                <a:latin typeface="DejaVu Sans"/>
                <a:ea typeface="DejaVu Sans"/>
                <a:cs typeface="DejaVu Sans"/>
              </a:rPr>
              <a:t>25.5×</a:t>
            </a:r>
          </a:p>
        </p:txBody>
      </p:sp>
      <p:sp>
        <p:nvSpPr>
          <p:cNvPr id="7" name="">
            <a:extLst xmlns:a="http://schemas.openxmlformats.org/drawingml/2006/main">
              <a:ext uri="{FF2B5EF4-FFF2-40B4-BE49-F238E27FC236}">
                <a16:creationId xmlns:a16="http://schemas.microsoft.com/office/drawing/2014/main" id="{93C59127-4D91-46E5-B0C3-6BA98BBF8BAC}"/>
              </a:ext>
            </a:extLst>
          </p:cNvPr>
          <p:cNvSpPr>
            <a:spLocks xmlns:a="http://schemas.openxmlformats.org/drawingml/2006/main" noGrp="1"/>
          </p:cNvSpPr>
          <p:nvPr/>
        </p:nvSpPr>
        <p:spPr>
          <a:xfrm xmlns:a="http://schemas.openxmlformats.org/drawingml/2006/main">
            <a:off x="60960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changed LOC</a:t>
            </a:r>
          </a:p>
        </p:txBody>
      </p:sp>
      <p:sp>
        <p:nvSpPr>
          <p:cNvPr id="8" name="">
            <a:extLst xmlns:a="http://schemas.openxmlformats.org/drawingml/2006/main">
              <a:ext uri="{FF2B5EF4-FFF2-40B4-BE49-F238E27FC236}">
                <a16:creationId xmlns:a16="http://schemas.microsoft.com/office/drawing/2014/main" id="{7EAFE741-0C72-49AE-93D8-1315C317AE50}"/>
              </a:ext>
            </a:extLst>
          </p:cNvPr>
          <p:cNvSpPr>
            <a:spLocks xmlns:a="http://schemas.openxmlformats.org/drawingml/2006/main" noGrp="1"/>
          </p:cNvSpPr>
          <p:nvPr/>
        </p:nvSpPr>
        <p:spPr>
          <a:xfrm xmlns:a="http://schemas.openxmlformats.org/drawingml/2006/main">
            <a:off x="2219325"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DejaVu Sans"/>
                <a:ea typeface="DejaVu Sans"/>
                <a:cs typeface="DejaVu Sans"/>
              </a:defRPr>
            </a:pPr>
            <a:r>
              <a:rPr sz="3225" b="1">
                <a:solidFill>
                  <a:srgbClr val="F4F7FA"/>
                </a:solidFill>
                <a:latin typeface="DejaVu Sans"/>
                <a:ea typeface="DejaVu Sans"/>
                <a:cs typeface="DejaVu Sans"/>
              </a:rPr>
              <a:t>3.4×</a:t>
            </a:r>
          </a:p>
        </p:txBody>
      </p:sp>
      <p:sp>
        <p:nvSpPr>
          <p:cNvPr id="9" name="">
            <a:extLst xmlns:a="http://schemas.openxmlformats.org/drawingml/2006/main">
              <a:ext uri="{FF2B5EF4-FFF2-40B4-BE49-F238E27FC236}">
                <a16:creationId xmlns:a16="http://schemas.microsoft.com/office/drawing/2014/main" id="{DCAAEE87-86AE-4AFB-8107-CFC7B4EC9E05}"/>
              </a:ext>
            </a:extLst>
          </p:cNvPr>
          <p:cNvSpPr>
            <a:spLocks xmlns:a="http://schemas.openxmlformats.org/drawingml/2006/main" noGrp="1"/>
          </p:cNvSpPr>
          <p:nvPr/>
        </p:nvSpPr>
        <p:spPr>
          <a:xfrm xmlns:a="http://schemas.openxmlformats.org/drawingml/2006/main">
            <a:off x="2219325"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commits</a:t>
            </a:r>
          </a:p>
        </p:txBody>
      </p:sp>
      <p:sp>
        <p:nvSpPr>
          <p:cNvPr id="10" name="">
            <a:extLst xmlns:a="http://schemas.openxmlformats.org/drawingml/2006/main">
              <a:ext uri="{FF2B5EF4-FFF2-40B4-BE49-F238E27FC236}">
                <a16:creationId xmlns:a16="http://schemas.microsoft.com/office/drawing/2014/main" id="{7F755B50-E5E1-43DE-A6B3-30D194C1DFF4}"/>
              </a:ext>
            </a:extLst>
          </p:cNvPr>
          <p:cNvSpPr>
            <a:spLocks xmlns:a="http://schemas.openxmlformats.org/drawingml/2006/main" noGrp="1"/>
          </p:cNvSpPr>
          <p:nvPr/>
        </p:nvSpPr>
        <p:spPr>
          <a:xfrm xmlns:a="http://schemas.openxmlformats.org/drawingml/2006/main">
            <a:off x="382905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DejaVu Sans"/>
                <a:ea typeface="DejaVu Sans"/>
                <a:cs typeface="DejaVu Sans"/>
              </a:defRPr>
            </a:pPr>
            <a:r>
              <a:rPr sz="3225" b="1">
                <a:solidFill>
                  <a:srgbClr val="F4F7FA"/>
                </a:solidFill>
                <a:latin typeface="DejaVu Sans"/>
                <a:ea typeface="DejaVu Sans"/>
                <a:cs typeface="DejaVu Sans"/>
              </a:rPr>
              <a:t>1.3×</a:t>
            </a:r>
          </a:p>
        </p:txBody>
      </p:sp>
      <p:sp>
        <p:nvSpPr>
          <p:cNvPr id="11" name="">
            <a:extLst xmlns:a="http://schemas.openxmlformats.org/drawingml/2006/main">
              <a:ext uri="{FF2B5EF4-FFF2-40B4-BE49-F238E27FC236}">
                <a16:creationId xmlns:a16="http://schemas.microsoft.com/office/drawing/2014/main" id="{066B57FD-94FA-4B02-BFF6-91C4D2BE0D53}"/>
              </a:ext>
            </a:extLst>
          </p:cNvPr>
          <p:cNvSpPr>
            <a:spLocks xmlns:a="http://schemas.openxmlformats.org/drawingml/2006/main" noGrp="1"/>
          </p:cNvSpPr>
          <p:nvPr/>
        </p:nvSpPr>
        <p:spPr>
          <a:xfrm xmlns:a="http://schemas.openxmlformats.org/drawingml/2006/main">
            <a:off x="382905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releases</a:t>
            </a:r>
          </a:p>
        </p:txBody>
      </p:sp>
      <p:sp>
        <p:nvSpPr>
          <p:cNvPr id="12" name="">
            <a:extLst xmlns:a="http://schemas.openxmlformats.org/drawingml/2006/main">
              <a:ext uri="{FF2B5EF4-FFF2-40B4-BE49-F238E27FC236}">
                <a16:creationId xmlns:a16="http://schemas.microsoft.com/office/drawing/2014/main" id="{1222BDCB-2B12-485A-9F90-441C8224DDA5}"/>
              </a:ext>
            </a:extLst>
          </p:cNvPr>
          <p:cNvSpPr>
            <a:spLocks xmlns:a="http://schemas.openxmlformats.org/drawingml/2006/main" noGrp="1"/>
          </p:cNvSpPr>
          <p:nvPr/>
        </p:nvSpPr>
        <p:spPr>
          <a:xfrm xmlns:a="http://schemas.openxmlformats.org/drawingml/2006/main">
            <a:off x="609600" y="3324225"/>
            <a:ext cx="472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DejaVu Sans"/>
                <a:ea typeface="DejaVu Sans"/>
                <a:cs typeface="DejaVu Sans"/>
              </a:defRPr>
            </a:pPr>
            <a:r>
              <a:rPr sz="1575" b="1">
                <a:solidFill>
                  <a:srgbClr val="28C7F7"/>
                </a:solidFill>
                <a:latin typeface="DejaVu Sans"/>
                <a:ea typeface="DejaVu Sans"/>
                <a:cs typeface="DejaVu Sans"/>
              </a:rPr>
              <a:t>Cumulative across three tool generations</a:t>
            </a:r>
          </a:p>
        </p:txBody>
      </p:sp>
      <p:sp>
        <p:nvSpPr>
          <p:cNvPr id="13" name="">
            <a:extLst xmlns:a="http://schemas.openxmlformats.org/drawingml/2006/main">
              <a:ext uri="{FF2B5EF4-FFF2-40B4-BE49-F238E27FC236}">
                <a16:creationId xmlns:a16="http://schemas.microsoft.com/office/drawing/2014/main" id="{44FBE73A-42A4-4B4C-80B3-B57D2DA6C9C0}"/>
              </a:ext>
            </a:extLst>
          </p:cNvPr>
          <p:cNvSpPr>
            <a:spLocks xmlns:a="http://schemas.openxmlformats.org/drawingml/2006/main" noGrp="1"/>
          </p:cNvSpPr>
          <p:nvPr/>
        </p:nvSpPr>
        <p:spPr>
          <a:xfrm xmlns:a="http://schemas.openxmlformats.org/drawingml/2006/main">
            <a:off x="609600" y="3657600"/>
            <a:ext cx="4724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Fig. 1 rounded; LOC = additions + deletions.</a:t>
            </a:r>
          </a:p>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Async release effect not estimated.</a:t>
            </a:r>
          </a:p>
        </p:txBody>
      </p:sp>
      <p:sp>
        <p:nvSpPr>
          <p:cNvPr id="14" name="">
            <a:extLst xmlns:a="http://schemas.openxmlformats.org/drawingml/2006/main">
              <a:ext uri="{FF2B5EF4-FFF2-40B4-BE49-F238E27FC236}">
                <a16:creationId xmlns:a16="http://schemas.microsoft.com/office/drawing/2014/main" id="{FD9D0A36-67B1-461C-BF64-B9B54DCFC5E2}"/>
              </a:ext>
            </a:extLst>
          </p:cNvPr>
          <p:cNvSpPr>
            <a:spLocks xmlns:a="http://schemas.openxmlformats.org/drawingml/2006/main" noGrp="1"/>
          </p:cNvSpPr>
          <p:nvPr/>
        </p:nvSpPr>
        <p:spPr>
          <a:xfrm xmlns:a="http://schemas.openxmlformats.org/drawingml/2006/main">
            <a:off x="609600" y="4257675"/>
            <a:ext cx="4724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More apps. Usage does not</a:t>
            </a:r>
          </a:p>
          <a:p xmlns:a="http://schemas.openxmlformats.org/drawingml/2006/main">
            <a:pPr algn="l">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keep pace with new releases.</a:t>
            </a:r>
          </a:p>
        </p:txBody>
      </p:sp>
      <p:sp>
        <p:nvSpPr>
          <p:cNvPr id="15" name="">
            <a:extLst xmlns:a="http://schemas.openxmlformats.org/drawingml/2006/main">
              <a:ext uri="{FF2B5EF4-FFF2-40B4-BE49-F238E27FC236}">
                <a16:creationId xmlns:a16="http://schemas.microsoft.com/office/drawing/2014/main" id="{392CCC39-9E5D-4FCE-9E68-EB7497DBD4C0}"/>
              </a:ext>
            </a:extLst>
          </p:cNvPr>
          <p:cNvSpPr>
            <a:spLocks xmlns:a="http://schemas.openxmlformats.org/drawingml/2006/main" noGrp="1"/>
          </p:cNvSpPr>
          <p:nvPr/>
        </p:nvSpPr>
        <p:spPr>
          <a:xfrm xmlns:a="http://schemas.openxmlformats.org/drawingml/2006/main">
            <a:off x="609600" y="493395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iOS: &lt;10 ratings</a:t>
            </a:r>
          </a:p>
        </p:txBody>
      </p:sp>
      <p:sp>
        <p:nvSpPr>
          <p:cNvPr id="16" name="">
            <a:extLst xmlns:a="http://schemas.openxmlformats.org/drawingml/2006/main">
              <a:ext uri="{FF2B5EF4-FFF2-40B4-BE49-F238E27FC236}">
                <a16:creationId xmlns:a16="http://schemas.microsoft.com/office/drawing/2014/main" id="{87210894-86B9-4629-A82C-166C70D12AD7}"/>
              </a:ext>
            </a:extLst>
          </p:cNvPr>
          <p:cNvSpPr>
            <a:spLocks xmlns:a="http://schemas.openxmlformats.org/drawingml/2006/main" noGrp="1"/>
          </p:cNvSpPr>
          <p:nvPr/>
        </p:nvSpPr>
        <p:spPr>
          <a:xfrm xmlns:a="http://schemas.openxmlformats.org/drawingml/2006/main">
            <a:off x="3038475" y="493395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DejaVu Sans"/>
                <a:ea typeface="DejaVu Sans"/>
                <a:cs typeface="DejaVu Sans"/>
              </a:defRPr>
            </a:pPr>
            <a:r>
              <a:rPr sz="1725" b="1">
                <a:solidFill>
                  <a:srgbClr val="F5B61C"/>
                </a:solidFill>
                <a:latin typeface="DejaVu Sans"/>
                <a:ea typeface="DejaVu Sans"/>
                <a:cs typeface="DejaVu Sans"/>
              </a:rPr>
              <a:t>≈78% → 87%</a:t>
            </a:r>
          </a:p>
        </p:txBody>
      </p:sp>
      <p:sp>
        <p:nvSpPr>
          <p:cNvPr id="17" name="">
            <a:extLst xmlns:a="http://schemas.openxmlformats.org/drawingml/2006/main">
              <a:ext uri="{FF2B5EF4-FFF2-40B4-BE49-F238E27FC236}">
                <a16:creationId xmlns:a16="http://schemas.microsoft.com/office/drawing/2014/main" id="{97AF7967-F81F-407A-BE09-2B0A32DBC865}"/>
              </a:ext>
            </a:extLst>
          </p:cNvPr>
          <p:cNvSpPr>
            <a:spLocks xmlns:a="http://schemas.openxmlformats.org/drawingml/2006/main" noGrp="1"/>
          </p:cNvSpPr>
          <p:nvPr/>
        </p:nvSpPr>
        <p:spPr>
          <a:xfrm xmlns:a="http://schemas.openxmlformats.org/drawingml/2006/main">
            <a:off x="609600" y="525780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Chrome: &lt;10 downloads</a:t>
            </a:r>
          </a:p>
        </p:txBody>
      </p:sp>
      <p:sp>
        <p:nvSpPr>
          <p:cNvPr id="18" name="">
            <a:extLst xmlns:a="http://schemas.openxmlformats.org/drawingml/2006/main">
              <a:ext uri="{FF2B5EF4-FFF2-40B4-BE49-F238E27FC236}">
                <a16:creationId xmlns:a16="http://schemas.microsoft.com/office/drawing/2014/main" id="{75E750E9-D00C-4BBD-A60E-72FD4FACD6F6}"/>
              </a:ext>
            </a:extLst>
          </p:cNvPr>
          <p:cNvSpPr>
            <a:spLocks xmlns:a="http://schemas.openxmlformats.org/drawingml/2006/main" noGrp="1"/>
          </p:cNvSpPr>
          <p:nvPr/>
        </p:nvSpPr>
        <p:spPr>
          <a:xfrm xmlns:a="http://schemas.openxmlformats.org/drawingml/2006/main">
            <a:off x="3038475" y="525780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DejaVu Sans"/>
                <a:ea typeface="DejaVu Sans"/>
                <a:cs typeface="DejaVu Sans"/>
              </a:defRPr>
            </a:pPr>
            <a:r>
              <a:rPr sz="1725" b="1">
                <a:solidFill>
                  <a:srgbClr val="F5B61C"/>
                </a:solidFill>
                <a:latin typeface="DejaVu Sans"/>
                <a:ea typeface="DejaVu Sans"/>
                <a:cs typeface="DejaVu Sans"/>
              </a:rPr>
              <a:t>19% → 33%</a:t>
            </a:r>
          </a:p>
        </p:txBody>
      </p:sp>
      <p:sp>
        <p:nvSpPr>
          <p:cNvPr id="19" name="">
            <a:extLst xmlns:a="http://schemas.openxmlformats.org/drawingml/2006/main">
              <a:ext uri="{FF2B5EF4-FFF2-40B4-BE49-F238E27FC236}">
                <a16:creationId xmlns:a16="http://schemas.microsoft.com/office/drawing/2014/main" id="{1895FB02-CC91-4A82-B5A7-812A5252577A}"/>
              </a:ext>
            </a:extLst>
          </p:cNvPr>
          <p:cNvSpPr>
            <a:spLocks xmlns:a="http://schemas.openxmlformats.org/drawingml/2006/main" noGrp="1"/>
          </p:cNvSpPr>
          <p:nvPr/>
        </p:nvSpPr>
        <p:spPr>
          <a:xfrm xmlns:a="http://schemas.openxmlformats.org/drawingml/2006/main">
            <a:off x="609600" y="5572125"/>
            <a:ext cx="472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DejaVu Sans"/>
                <a:ea typeface="DejaVu Sans"/>
                <a:cs typeface="DejaVu Sans"/>
              </a:defRPr>
            </a:pPr>
            <a:r>
              <a:rPr sz="1425" b="0">
                <a:solidFill>
                  <a:srgbClr val="ADB8C5"/>
                </a:solidFill>
                <a:latin typeface="DejaVu Sans"/>
                <a:ea typeface="DejaVu Sans"/>
                <a:cs typeface="DejaVu Sans"/>
              </a:rPr>
              <a:t>Jan 2025 → Apr 2026; first 3 months.</a:t>
            </a:r>
          </a:p>
        </p:txBody>
      </p:sp>
      <p:sp>
        <p:nvSpPr>
          <p:cNvPr id="20" name="">
            <a:extLst xmlns:a="http://schemas.openxmlformats.org/drawingml/2006/main">
              <a:ext uri="{FF2B5EF4-FFF2-40B4-BE49-F238E27FC236}">
                <a16:creationId xmlns:a16="http://schemas.microsoft.com/office/drawing/2014/main" id="{DC5A7E1A-9D32-4AF0-A702-FC0B63987E74}"/>
              </a:ext>
            </a:extLst>
          </p:cNvPr>
          <p:cNvSpPr>
            <a:spLocks xmlns:a="http://schemas.openxmlformats.org/drawingml/2006/main" noGrp="1"/>
          </p:cNvSpPr>
          <p:nvPr/>
        </p:nvSpPr>
        <p:spPr>
          <a:xfrm xmlns:a="http://schemas.openxmlformats.org/drawingml/2006/main">
            <a:off x="5867400" y="1857375"/>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DORA · 2025</a:t>
            </a:r>
          </a:p>
        </p:txBody>
      </p:sp>
      <p:sp>
        <p:nvSpPr>
          <p:cNvPr id="21" name="">
            <a:extLst xmlns:a="http://schemas.openxmlformats.org/drawingml/2006/main">
              <a:ext uri="{FF2B5EF4-FFF2-40B4-BE49-F238E27FC236}">
                <a16:creationId xmlns:a16="http://schemas.microsoft.com/office/drawing/2014/main" id="{DEF76610-66C0-441F-B0C1-88DD2571DDF7}"/>
              </a:ext>
            </a:extLst>
          </p:cNvPr>
          <p:cNvSpPr>
            <a:spLocks xmlns:a="http://schemas.openxmlformats.org/drawingml/2006/main" noGrp="1"/>
          </p:cNvSpPr>
          <p:nvPr/>
        </p:nvSpPr>
        <p:spPr>
          <a:xfrm xmlns:a="http://schemas.openxmlformats.org/drawingml/2006/main">
            <a:off x="5867400" y="2190750"/>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DejaVu Sans"/>
                <a:ea typeface="DejaVu Sans"/>
                <a:cs typeface="DejaVu Sans"/>
              </a:defRPr>
            </a:pPr>
            <a:r>
              <a:rPr sz="2025" b="1">
                <a:solidFill>
                  <a:srgbClr val="F4F7FA"/>
                </a:solidFill>
                <a:latin typeface="DejaVu Sans"/>
                <a:ea typeface="DejaVu Sans"/>
                <a:cs typeface="DejaVu Sans"/>
              </a:rPr>
              <a:t>Higher throughput</a:t>
            </a:r>
          </a:p>
        </p:txBody>
      </p:sp>
      <p:sp>
        <p:nvSpPr>
          <p:cNvPr id="22" name="">
            <a:extLst xmlns:a="http://schemas.openxmlformats.org/drawingml/2006/main">
              <a:ext uri="{FF2B5EF4-FFF2-40B4-BE49-F238E27FC236}">
                <a16:creationId xmlns:a16="http://schemas.microsoft.com/office/drawing/2014/main" id="{F516D23C-2C4B-4BDE-815D-9707B51DB0D2}"/>
              </a:ext>
            </a:extLst>
          </p:cNvPr>
          <p:cNvSpPr>
            <a:spLocks xmlns:a="http://schemas.openxmlformats.org/drawingml/2006/main" noGrp="1"/>
          </p:cNvSpPr>
          <p:nvPr/>
        </p:nvSpPr>
        <p:spPr>
          <a:xfrm xmlns:a="http://schemas.openxmlformats.org/drawingml/2006/main">
            <a:off x="5867400" y="2505075"/>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DejaVu Sans"/>
                <a:ea typeface="DejaVu Sans"/>
                <a:cs typeface="DejaVu Sans"/>
              </a:defRPr>
            </a:pPr>
            <a:r>
              <a:rPr sz="2025" b="1">
                <a:solidFill>
                  <a:srgbClr val="F5B61C"/>
                </a:solidFill>
                <a:latin typeface="DejaVu Sans"/>
                <a:ea typeface="DejaVu Sans"/>
                <a:cs typeface="DejaVu Sans"/>
              </a:rPr>
              <a:t>Lower delivery stability</a:t>
            </a:r>
          </a:p>
        </p:txBody>
      </p:sp>
      <p:sp>
        <p:nvSpPr>
          <p:cNvPr id="23" name="">
            <a:extLst xmlns:a="http://schemas.openxmlformats.org/drawingml/2006/main">
              <a:ext uri="{FF2B5EF4-FFF2-40B4-BE49-F238E27FC236}">
                <a16:creationId xmlns:a16="http://schemas.microsoft.com/office/drawing/2014/main" id="{62675F50-C290-4D11-B3EE-3D8AECF37D87}"/>
              </a:ext>
            </a:extLst>
          </p:cNvPr>
          <p:cNvSpPr>
            <a:spLocks xmlns:a="http://schemas.openxmlformats.org/drawingml/2006/main" noGrp="1"/>
          </p:cNvSpPr>
          <p:nvPr/>
        </p:nvSpPr>
        <p:spPr>
          <a:xfrm xmlns:a="http://schemas.openxmlformats.org/drawingml/2006/main">
            <a:off x="5867400" y="2895600"/>
            <a:ext cx="571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5B61C"/>
                </a:solidFill>
                <a:latin typeface="DejaVu Sans"/>
                <a:ea typeface="DejaVu Sans"/>
                <a:cs typeface="DejaVu Sans"/>
              </a:defRPr>
            </a:pPr>
            <a:r>
              <a:rPr sz="1425" b="0">
                <a:solidFill>
                  <a:srgbClr val="F5B61C"/>
                </a:solidFill>
                <a:latin typeface="DejaVu Sans"/>
                <a:ea typeface="DejaVu Sans"/>
                <a:cs typeface="DejaVu Sans"/>
              </a:rPr>
              <a:t>≈ +0.10 SD instability per +1 SD AI adoption</a:t>
            </a:r>
          </a:p>
        </p:txBody>
      </p:sp>
      <p:sp>
        <p:nvSpPr>
          <p:cNvPr id="24" name="">
            <a:extLst xmlns:a="http://schemas.openxmlformats.org/drawingml/2006/main">
              <a:ext uri="{FF2B5EF4-FFF2-40B4-BE49-F238E27FC236}">
                <a16:creationId xmlns:a16="http://schemas.microsoft.com/office/drawing/2014/main" id="{9EEF1418-1BCC-4961-B3F0-CF14E22B2C04}"/>
              </a:ext>
            </a:extLst>
          </p:cNvPr>
          <p:cNvSpPr>
            <a:spLocks xmlns:a="http://schemas.openxmlformats.org/drawingml/2006/main" noGrp="1"/>
          </p:cNvSpPr>
          <p:nvPr/>
        </p:nvSpPr>
        <p:spPr>
          <a:xfrm xmlns:a="http://schemas.openxmlformats.org/drawingml/2006/main">
            <a:off x="5867400" y="316230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89% credible interval ≈ +0.07 to +0.13</a:t>
            </a:r>
          </a:p>
        </p:txBody>
      </p:sp>
      <p:sp>
        <p:nvSpPr>
          <p:cNvPr id="25" name="">
            <a:extLst xmlns:a="http://schemas.openxmlformats.org/drawingml/2006/main">
              <a:ext uri="{FF2B5EF4-FFF2-40B4-BE49-F238E27FC236}">
                <a16:creationId xmlns:a16="http://schemas.microsoft.com/office/drawing/2014/main" id="{10E11E63-EFA1-405F-A56F-B5753CAE9386}"/>
              </a:ext>
            </a:extLst>
          </p:cNvPr>
          <p:cNvSpPr>
            <a:spLocks xmlns:a="http://schemas.openxmlformats.org/drawingml/2006/main" noGrp="1"/>
          </p:cNvSpPr>
          <p:nvPr/>
        </p:nvSpPr>
        <p:spPr>
          <a:xfrm xmlns:a="http://schemas.openxmlformats.org/drawingml/2006/main">
            <a:off x="5867400" y="3448050"/>
            <a:ext cx="571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Survey model, rounded reading of Fig. 28.</a:t>
            </a:r>
          </a:p>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SD = standard deviation, not a failure percentage.</a:t>
            </a:r>
          </a:p>
        </p:txBody>
      </p:sp>
      <p:sp>
        <p:nvSpPr>
          <p:cNvPr id="26" name="">
            <a:extLst xmlns:a="http://schemas.openxmlformats.org/drawingml/2006/main">
              <a:ext uri="{FF2B5EF4-FFF2-40B4-BE49-F238E27FC236}">
                <a16:creationId xmlns:a16="http://schemas.microsoft.com/office/drawing/2014/main" id="{4A32CBA8-2143-4A5A-B3B1-601478FF95E2}"/>
              </a:ext>
            </a:extLst>
          </p:cNvPr>
          <p:cNvSpPr>
            <a:spLocks xmlns:a="http://schemas.openxmlformats.org/drawingml/2006/main" noGrp="1"/>
          </p:cNvSpPr>
          <p:nvPr/>
        </p:nvSpPr>
        <p:spPr>
          <a:xfrm xmlns:a="http://schemas.openxmlformats.org/drawingml/2006/main">
            <a:off x="5867400" y="3867150"/>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DejaVu Sans"/>
                <a:ea typeface="DejaVu Sans"/>
                <a:cs typeface="DejaVu Sans"/>
              </a:defRPr>
            </a:pPr>
            <a:r>
              <a:rPr sz="1275" b="0">
                <a:solidFill>
                  <a:srgbClr val="ADB8C5"/>
                </a:solidFill>
                <a:latin typeface="DejaVu Sans"/>
                <a:ea typeface="DejaVu Sans"/>
                <a:cs typeface="DejaVu Sans"/>
              </a:rPr>
              <a:t>Respondents reporting improvement: &gt;80% productivity; 59% quality.</a:t>
            </a:r>
          </a:p>
        </p:txBody>
      </p:sp>
      <p:sp>
        <p:nvSpPr>
          <p:cNvPr id="27" name="">
            <a:extLst xmlns:a="http://schemas.openxmlformats.org/drawingml/2006/main">
              <a:ext uri="{FF2B5EF4-FFF2-40B4-BE49-F238E27FC236}">
                <a16:creationId xmlns:a16="http://schemas.microsoft.com/office/drawing/2014/main" id="{989B8691-522A-4F97-A61B-256205E6E7AB}"/>
              </a:ext>
            </a:extLst>
          </p:cNvPr>
          <p:cNvSpPr>
            <a:spLocks xmlns:a="http://schemas.openxmlformats.org/drawingml/2006/main" noGrp="1"/>
          </p:cNvSpPr>
          <p:nvPr/>
        </p:nvSpPr>
        <p:spPr>
          <a:xfrm xmlns:a="http://schemas.openxmlformats.org/drawingml/2006/main" flipH="0" flipV="0">
            <a:off x="5867400" y="4200525"/>
            <a:ext cx="57150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8" name="">
            <a:extLst xmlns:a="http://schemas.openxmlformats.org/drawingml/2006/main">
              <a:ext uri="{FF2B5EF4-FFF2-40B4-BE49-F238E27FC236}">
                <a16:creationId xmlns:a16="http://schemas.microsoft.com/office/drawing/2014/main" id="{AAD44F22-40C1-44EA-9F07-74FDD9790672}"/>
              </a:ext>
            </a:extLst>
          </p:cNvPr>
          <p:cNvSpPr>
            <a:spLocks xmlns:a="http://schemas.openxmlformats.org/drawingml/2006/main" noGrp="1"/>
          </p:cNvSpPr>
          <p:nvPr/>
        </p:nvSpPr>
        <p:spPr>
          <a:xfrm xmlns:a="http://schemas.openxmlformats.org/drawingml/2006/main">
            <a:off x="5867400" y="43053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GITCLEAR · 2026 SUMMARY</a:t>
            </a:r>
          </a:p>
        </p:txBody>
      </p:sp>
      <p:sp>
        <p:nvSpPr>
          <p:cNvPr id="29" name="">
            <a:extLst xmlns:a="http://schemas.openxmlformats.org/drawingml/2006/main">
              <a:ext uri="{FF2B5EF4-FFF2-40B4-BE49-F238E27FC236}">
                <a16:creationId xmlns:a16="http://schemas.microsoft.com/office/drawing/2014/main" id="{72382F8D-1922-4F54-9FAC-EBCC641BB3E9}"/>
              </a:ext>
            </a:extLst>
          </p:cNvPr>
          <p:cNvSpPr>
            <a:spLocks xmlns:a="http://schemas.openxmlformats.org/drawingml/2006/main" noGrp="1"/>
          </p:cNvSpPr>
          <p:nvPr/>
        </p:nvSpPr>
        <p:spPr>
          <a:xfrm xmlns:a="http://schemas.openxmlformats.org/drawingml/2006/main">
            <a:off x="5867400" y="4600575"/>
            <a:ext cx="3857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DejaVu Sans"/>
                <a:ea typeface="DejaVu Sans"/>
                <a:cs typeface="DejaVu Sans"/>
              </a:defRPr>
            </a:pPr>
            <a:r>
              <a:rPr sz="1725" b="0">
                <a:solidFill>
                  <a:srgbClr val="F4F7FA"/>
                </a:solidFill>
                <a:latin typeface="DejaVu Sans"/>
                <a:ea typeface="DejaVu Sans"/>
                <a:cs typeface="DejaVu Sans"/>
              </a:rPr>
              <a:t>Moved-code share</a:t>
            </a:r>
          </a:p>
        </p:txBody>
      </p:sp>
      <p:sp>
        <p:nvSpPr>
          <p:cNvPr id="30" name="">
            <a:extLst xmlns:a="http://schemas.openxmlformats.org/drawingml/2006/main">
              <a:ext uri="{FF2B5EF4-FFF2-40B4-BE49-F238E27FC236}">
                <a16:creationId xmlns:a16="http://schemas.microsoft.com/office/drawing/2014/main" id="{A30D65EF-C32B-4498-A988-65C4252F5251}"/>
              </a:ext>
            </a:extLst>
          </p:cNvPr>
          <p:cNvSpPr>
            <a:spLocks xmlns:a="http://schemas.openxmlformats.org/drawingml/2006/main" noGrp="1"/>
          </p:cNvSpPr>
          <p:nvPr/>
        </p:nvSpPr>
        <p:spPr>
          <a:xfrm xmlns:a="http://schemas.openxmlformats.org/drawingml/2006/main">
            <a:off x="9667875" y="4600575"/>
            <a:ext cx="19145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13% → 3.8%</a:t>
            </a:r>
          </a:p>
        </p:txBody>
      </p:sp>
      <p:sp>
        <p:nvSpPr>
          <p:cNvPr id="31" name="">
            <a:extLst xmlns:a="http://schemas.openxmlformats.org/drawingml/2006/main">
              <a:ext uri="{FF2B5EF4-FFF2-40B4-BE49-F238E27FC236}">
                <a16:creationId xmlns:a16="http://schemas.microsoft.com/office/drawing/2014/main" id="{ADBC052E-80EA-4910-9A4A-63D55AC2D449}"/>
              </a:ext>
            </a:extLst>
          </p:cNvPr>
          <p:cNvSpPr>
            <a:spLocks xmlns:a="http://schemas.openxmlformats.org/drawingml/2006/main" noGrp="1"/>
          </p:cNvSpPr>
          <p:nvPr/>
        </p:nvSpPr>
        <p:spPr>
          <a:xfrm xmlns:a="http://schemas.openxmlformats.org/drawingml/2006/main">
            <a:off x="5867400" y="4848225"/>
            <a:ext cx="3857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DejaVu Sans"/>
                <a:ea typeface="DejaVu Sans"/>
                <a:cs typeface="DejaVu Sans"/>
              </a:defRPr>
            </a:pPr>
            <a:r>
              <a:rPr sz="1725" b="0">
                <a:solidFill>
                  <a:srgbClr val="F4F7FA"/>
                </a:solidFill>
                <a:latin typeface="DejaVu Sans"/>
                <a:ea typeface="DejaVu Sans"/>
                <a:cs typeface="DejaVu Sans"/>
              </a:rPr>
              <a:t>Calls / 1k changed lines</a:t>
            </a:r>
          </a:p>
        </p:txBody>
      </p:sp>
      <p:sp>
        <p:nvSpPr>
          <p:cNvPr id="32" name="">
            <a:extLst xmlns:a="http://schemas.openxmlformats.org/drawingml/2006/main">
              <a:ext uri="{FF2B5EF4-FFF2-40B4-BE49-F238E27FC236}">
                <a16:creationId xmlns:a16="http://schemas.microsoft.com/office/drawing/2014/main" id="{F8045808-0D1F-43B1-9D5C-482239D462A1}"/>
              </a:ext>
            </a:extLst>
          </p:cNvPr>
          <p:cNvSpPr>
            <a:spLocks xmlns:a="http://schemas.openxmlformats.org/drawingml/2006/main" noGrp="1"/>
          </p:cNvSpPr>
          <p:nvPr/>
        </p:nvSpPr>
        <p:spPr>
          <a:xfrm xmlns:a="http://schemas.openxmlformats.org/drawingml/2006/main">
            <a:off x="9667875" y="4848225"/>
            <a:ext cx="19145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343 → 223</a:t>
            </a:r>
          </a:p>
        </p:txBody>
      </p:sp>
      <p:sp>
        <p:nvSpPr>
          <p:cNvPr id="33" name="">
            <a:extLst xmlns:a="http://schemas.openxmlformats.org/drawingml/2006/main">
              <a:ext uri="{FF2B5EF4-FFF2-40B4-BE49-F238E27FC236}">
                <a16:creationId xmlns:a16="http://schemas.microsoft.com/office/drawing/2014/main" id="{0FA0E384-4A87-49AB-9FBB-DD4AB4BCB82C}"/>
              </a:ext>
            </a:extLst>
          </p:cNvPr>
          <p:cNvSpPr>
            <a:spLocks xmlns:a="http://schemas.openxmlformats.org/drawingml/2006/main" noGrp="1"/>
          </p:cNvSpPr>
          <p:nvPr/>
        </p:nvSpPr>
        <p:spPr>
          <a:xfrm xmlns:a="http://schemas.openxmlformats.org/drawingml/2006/main">
            <a:off x="5867400" y="5095875"/>
            <a:ext cx="3857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DejaVu Sans"/>
                <a:ea typeface="DejaVu Sans"/>
                <a:cs typeface="DejaVu Sans"/>
              </a:defRPr>
            </a:pPr>
            <a:r>
              <a:rPr sz="1725" b="0">
                <a:solidFill>
                  <a:srgbClr val="F4F7FA"/>
                </a:solidFill>
                <a:latin typeface="DejaVu Sans"/>
                <a:ea typeface="DejaVu Sans"/>
                <a:cs typeface="DejaVu Sans"/>
              </a:rPr>
              <a:t>Duplicated blocks</a:t>
            </a:r>
          </a:p>
        </p:txBody>
      </p:sp>
      <p:sp>
        <p:nvSpPr>
          <p:cNvPr id="34" name="">
            <a:extLst xmlns:a="http://schemas.openxmlformats.org/drawingml/2006/main">
              <a:ext uri="{FF2B5EF4-FFF2-40B4-BE49-F238E27FC236}">
                <a16:creationId xmlns:a16="http://schemas.microsoft.com/office/drawing/2014/main" id="{7670474E-4F3A-49EE-A502-72D61D8EDD33}"/>
              </a:ext>
            </a:extLst>
          </p:cNvPr>
          <p:cNvSpPr>
            <a:spLocks xmlns:a="http://schemas.openxmlformats.org/drawingml/2006/main" noGrp="1"/>
          </p:cNvSpPr>
          <p:nvPr/>
        </p:nvSpPr>
        <p:spPr>
          <a:xfrm xmlns:a="http://schemas.openxmlformats.org/drawingml/2006/main">
            <a:off x="9667875" y="5095875"/>
            <a:ext cx="19145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≈+81%</a:t>
            </a:r>
          </a:p>
        </p:txBody>
      </p:sp>
      <p:sp>
        <p:nvSpPr>
          <p:cNvPr id="35" name="">
            <a:extLst xmlns:a="http://schemas.openxmlformats.org/drawingml/2006/main">
              <a:ext uri="{FF2B5EF4-FFF2-40B4-BE49-F238E27FC236}">
                <a16:creationId xmlns:a16="http://schemas.microsoft.com/office/drawing/2014/main" id="{A89B2D42-73E7-4543-9190-8760070A3927}"/>
              </a:ext>
            </a:extLst>
          </p:cNvPr>
          <p:cNvSpPr>
            <a:spLocks xmlns:a="http://schemas.openxmlformats.org/drawingml/2006/main" noGrp="1"/>
          </p:cNvSpPr>
          <p:nvPr/>
        </p:nvSpPr>
        <p:spPr>
          <a:xfrm xmlns:a="http://schemas.openxmlformats.org/drawingml/2006/main">
            <a:off x="5867400" y="5343525"/>
            <a:ext cx="3857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DejaVu Sans"/>
                <a:ea typeface="DejaVu Sans"/>
                <a:cs typeface="DejaVu Sans"/>
              </a:defRPr>
            </a:pPr>
            <a:r>
              <a:rPr sz="1725" b="0">
                <a:solidFill>
                  <a:srgbClr val="F4F7FA"/>
                </a:solidFill>
                <a:latin typeface="DejaVu Sans"/>
                <a:ea typeface="DejaVu Sans"/>
                <a:cs typeface="DejaVu Sans"/>
              </a:rPr>
              <a:t>Two-week churn (reported)</a:t>
            </a:r>
          </a:p>
        </p:txBody>
      </p:sp>
      <p:sp>
        <p:nvSpPr>
          <p:cNvPr id="36" name="">
            <a:extLst xmlns:a="http://schemas.openxmlformats.org/drawingml/2006/main">
              <a:ext uri="{FF2B5EF4-FFF2-40B4-BE49-F238E27FC236}">
                <a16:creationId xmlns:a16="http://schemas.microsoft.com/office/drawing/2014/main" id="{35175BBE-4848-4A31-8A25-C4C1D4FCB566}"/>
              </a:ext>
            </a:extLst>
          </p:cNvPr>
          <p:cNvSpPr>
            <a:spLocks xmlns:a="http://schemas.openxmlformats.org/drawingml/2006/main" noGrp="1"/>
          </p:cNvSpPr>
          <p:nvPr/>
        </p:nvSpPr>
        <p:spPr>
          <a:xfrm xmlns:a="http://schemas.openxmlformats.org/drawingml/2006/main">
            <a:off x="9667875" y="5343525"/>
            <a:ext cx="19145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+15%</a:t>
            </a:r>
          </a:p>
        </p:txBody>
      </p:sp>
      <p:sp>
        <p:nvSpPr>
          <p:cNvPr id="37" name="">
            <a:extLst xmlns:a="http://schemas.openxmlformats.org/drawingml/2006/main">
              <a:ext uri="{FF2B5EF4-FFF2-40B4-BE49-F238E27FC236}">
                <a16:creationId xmlns:a16="http://schemas.microsoft.com/office/drawing/2014/main" id="{581260C8-2621-41CE-B432-95667BF38215}"/>
              </a:ext>
            </a:extLst>
          </p:cNvPr>
          <p:cNvSpPr>
            <a:spLocks xmlns:a="http://schemas.openxmlformats.org/drawingml/2006/main" noGrp="1"/>
          </p:cNvSpPr>
          <p:nvPr/>
        </p:nvSpPr>
        <p:spPr>
          <a:xfrm xmlns:a="http://schemas.openxmlformats.org/drawingml/2006/main">
            <a:off x="5867400" y="5629275"/>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2023 → YTD 2026; churn baseline unstated. Observational.</a:t>
            </a:r>
          </a:p>
        </p:txBody>
      </p:sp>
      <p:sp>
        <p:nvSpPr>
          <p:cNvPr id="38" name="">
            <a:extLst xmlns:a="http://schemas.openxmlformats.org/drawingml/2006/main">
              <a:ext uri="{FF2B5EF4-FFF2-40B4-BE49-F238E27FC236}">
                <a16:creationId xmlns:a16="http://schemas.microsoft.com/office/drawing/2014/main" id="{70EAA8D8-0E28-4141-A9B7-39223DB2860E}"/>
              </a:ext>
            </a:extLst>
          </p:cNvPr>
          <p:cNvSpPr>
            <a:spLocks xmlns:a="http://schemas.openxmlformats.org/drawingml/2006/main" noGrp="1"/>
          </p:cNvSpPr>
          <p:nvPr/>
        </p:nvSpPr>
        <p:spPr>
          <a:xfrm xmlns:a="http://schemas.openxmlformats.org/drawingml/2006/main" flipH="0" flipV="0">
            <a:off x="609600" y="58864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9" name="">
            <a:extLst xmlns:a="http://schemas.openxmlformats.org/drawingml/2006/main">
              <a:ext uri="{FF2B5EF4-FFF2-40B4-BE49-F238E27FC236}">
                <a16:creationId xmlns:a16="http://schemas.microsoft.com/office/drawing/2014/main" id="{5FAA1CDC-F1BA-43A7-8507-C53CC5715A71}"/>
              </a:ext>
            </a:extLst>
          </p:cNvPr>
          <p:cNvSpPr>
            <a:spLocks xmlns:a="http://schemas.openxmlformats.org/drawingml/2006/main" noGrp="1"/>
          </p:cNvSpPr>
          <p:nvPr/>
        </p:nvSpPr>
        <p:spPr>
          <a:xfrm xmlns:a="http://schemas.openxmlformats.org/drawingml/2006/main">
            <a:off x="609600" y="5981700"/>
            <a:ext cx="2895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DejaVu Sans"/>
                <a:ea typeface="DejaVu Sans"/>
                <a:cs typeface="DejaVu Sans"/>
              </a:defRPr>
            </a:pPr>
            <a:r>
              <a:rPr sz="1500" b="1">
                <a:solidFill>
                  <a:srgbClr val="28C7F7"/>
                </a:solidFill>
                <a:latin typeface="DejaVu Sans"/>
                <a:ea typeface="DejaVu Sans"/>
                <a:cs typeface="DejaVu Sans"/>
              </a:rPr>
              <a:t>METR · MAY 2026</a:t>
            </a:r>
          </a:p>
        </p:txBody>
      </p:sp>
      <p:sp>
        <p:nvSpPr>
          <p:cNvPr id="40" name="">
            <a:extLst xmlns:a="http://schemas.openxmlformats.org/drawingml/2006/main">
              <a:ext uri="{FF2B5EF4-FFF2-40B4-BE49-F238E27FC236}">
                <a16:creationId xmlns:a16="http://schemas.microsoft.com/office/drawing/2014/main" id="{E265188D-167F-4CAF-A128-BDE1D0A417C0}"/>
              </a:ext>
            </a:extLst>
          </p:cNvPr>
          <p:cNvSpPr>
            <a:spLocks xmlns:a="http://schemas.openxmlformats.org/drawingml/2006/main" noGrp="1"/>
          </p:cNvSpPr>
          <p:nvPr/>
        </p:nvSpPr>
        <p:spPr>
          <a:xfrm xmlns:a="http://schemas.openxmlformats.org/drawingml/2006/main">
            <a:off x="3543300" y="59626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1.4–2× work value</a:t>
            </a:r>
          </a:p>
        </p:txBody>
      </p:sp>
      <p:sp>
        <p:nvSpPr>
          <p:cNvPr id="41" name="">
            <a:extLst xmlns:a="http://schemas.openxmlformats.org/drawingml/2006/main">
              <a:ext uri="{FF2B5EF4-FFF2-40B4-BE49-F238E27FC236}">
                <a16:creationId xmlns:a16="http://schemas.microsoft.com/office/drawing/2014/main" id="{C91D6A3F-F158-4518-9241-C78A10F914DB}"/>
              </a:ext>
            </a:extLst>
          </p:cNvPr>
          <p:cNvSpPr>
            <a:spLocks xmlns:a="http://schemas.openxmlformats.org/drawingml/2006/main" noGrp="1"/>
          </p:cNvSpPr>
          <p:nvPr/>
        </p:nvSpPr>
        <p:spPr>
          <a:xfrm xmlns:a="http://schemas.openxmlformats.org/drawingml/2006/main">
            <a:off x="609600" y="62674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Medians across 3 questions; self-reported, not causal.</a:t>
            </a:r>
          </a:p>
        </p:txBody>
      </p:sp>
      <p:sp>
        <p:nvSpPr>
          <p:cNvPr id="42" name="">
            <a:extLst xmlns:a="http://schemas.openxmlformats.org/drawingml/2006/main">
              <a:ext uri="{FF2B5EF4-FFF2-40B4-BE49-F238E27FC236}">
                <a16:creationId xmlns:a16="http://schemas.microsoft.com/office/drawing/2014/main" id="{A2DBB079-3373-4598-B4F2-798AD7B06BBD}"/>
              </a:ext>
            </a:extLst>
          </p:cNvPr>
          <p:cNvSpPr>
            <a:spLocks xmlns:a="http://schemas.openxmlformats.org/drawingml/2006/main" noGrp="1"/>
          </p:cNvSpPr>
          <p:nvPr/>
        </p:nvSpPr>
        <p:spPr>
          <a:xfrm xmlns:a="http://schemas.openxmlformats.org/drawingml/2006/main">
            <a:off x="6153150" y="5981700"/>
            <a:ext cx="2895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DejaVu Sans"/>
                <a:ea typeface="DejaVu Sans"/>
                <a:cs typeface="DejaVu Sans"/>
              </a:defRPr>
            </a:pPr>
            <a:r>
              <a:rPr sz="1500" b="1">
                <a:solidFill>
                  <a:srgbClr val="28C7F7"/>
                </a:solidFill>
                <a:latin typeface="DejaVu Sans"/>
                <a:ea typeface="DejaVu Sans"/>
                <a:cs typeface="DejaVu Sans"/>
              </a:rPr>
              <a:t>AGARWAL · JAN 2026</a:t>
            </a:r>
          </a:p>
        </p:txBody>
      </p:sp>
      <p:sp>
        <p:nvSpPr>
          <p:cNvPr id="43" name="">
            <a:extLst xmlns:a="http://schemas.openxmlformats.org/drawingml/2006/main">
              <a:ext uri="{FF2B5EF4-FFF2-40B4-BE49-F238E27FC236}">
                <a16:creationId xmlns:a16="http://schemas.microsoft.com/office/drawing/2014/main" id="{74A04938-1C68-4948-9CB5-BE2824401D0D}"/>
              </a:ext>
            </a:extLst>
          </p:cNvPr>
          <p:cNvSpPr>
            <a:spLocks xmlns:a="http://schemas.openxmlformats.org/drawingml/2006/main" noGrp="1"/>
          </p:cNvSpPr>
          <p:nvPr/>
        </p:nvSpPr>
        <p:spPr>
          <a:xfrm xmlns:a="http://schemas.openxmlformats.org/drawingml/2006/main">
            <a:off x="9086850" y="59626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575" b="1">
                <a:solidFill>
                  <a:srgbClr val="F4F7FA"/>
                </a:solidFill>
                <a:latin typeface="DejaVu Sans"/>
                <a:ea typeface="DejaVu Sans"/>
                <a:cs typeface="DejaVu Sans"/>
              </a:defRPr>
            </a:pPr>
            <a:r>
              <a:rPr sz="1575" b="1">
                <a:solidFill>
                  <a:srgbClr val="F4F7FA"/>
                </a:solidFill>
                <a:latin typeface="DejaVu Sans"/>
                <a:ea typeface="DejaVu Sans"/>
                <a:cs typeface="DejaVu Sans"/>
              </a:rPr>
              <a:t>+34.85% / +42.87%</a:t>
            </a:r>
          </a:p>
        </p:txBody>
      </p:sp>
      <p:sp>
        <p:nvSpPr>
          <p:cNvPr id="44" name="">
            <a:extLst xmlns:a="http://schemas.openxmlformats.org/drawingml/2006/main">
              <a:ext uri="{FF2B5EF4-FFF2-40B4-BE49-F238E27FC236}">
                <a16:creationId xmlns:a16="http://schemas.microsoft.com/office/drawing/2014/main" id="{762B7AF6-4109-44A5-B5C6-774F9017B577}"/>
              </a:ext>
            </a:extLst>
          </p:cNvPr>
          <p:cNvSpPr>
            <a:spLocks xmlns:a="http://schemas.openxmlformats.org/drawingml/2006/main" noGrp="1"/>
          </p:cNvSpPr>
          <p:nvPr/>
        </p:nvSpPr>
        <p:spPr>
          <a:xfrm xmlns:a="http://schemas.openxmlformats.org/drawingml/2006/main">
            <a:off x="6153150" y="62674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Complexity: Agent-first / IDE-first. Xu: workload shifts.</a:t>
            </a:r>
          </a:p>
        </p:txBody>
      </p:sp>
      <p:sp>
        <p:nvSpPr>
          <p:cNvPr id="45" name="">
            <a:extLst xmlns:a="http://schemas.openxmlformats.org/drawingml/2006/main">
              <a:ext uri="{FF2B5EF4-FFF2-40B4-BE49-F238E27FC236}">
                <a16:creationId xmlns:a16="http://schemas.microsoft.com/office/drawing/2014/main" id="{27558AFD-09D6-4244-9333-F6DCED5B7161}"/>
              </a:ext>
            </a:extLst>
          </p:cNvPr>
          <p:cNvSpPr>
            <a:spLocks xmlns:a="http://schemas.openxmlformats.org/drawingml/2006/main" noGrp="1"/>
          </p:cNvSpPr>
          <p:nvPr/>
        </p:nvSpPr>
        <p:spPr>
          <a:xfrm xmlns:a="http://schemas.openxmlformats.org/drawingml/2006/main">
            <a:off x="609600" y="6562725"/>
            <a:ext cx="10429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DejaVu Sans"/>
                <a:ea typeface="DejaVu Sans"/>
                <a:cs typeface="DejaVu Sans"/>
              </a:defRPr>
            </a:pPr>
            <a:r>
              <a:rPr sz="1500" b="1">
                <a:solidFill>
                  <a:srgbClr val="F4F7FA"/>
                </a:solidFill>
                <a:latin typeface="DejaVu Sans"/>
                <a:ea typeface="DejaVu Sans"/>
                <a:cs typeface="DejaVu Sans"/>
              </a:rPr>
              <a:t>Code activity, delivery and user value are different outcomes.</a:t>
            </a:r>
          </a:p>
        </p:txBody>
      </p:sp>
    </p:spTree>
    <p:extLst>
      <p:ext uri="{BB962C8B-B14F-4D97-AF65-F5344CB8AC3E}">
        <p14:creationId xmlns:p14="http://schemas.microsoft.com/office/powerpoint/2010/main" val="586916912"/>
      </p:ext>
    </p:extLst>
  </p:cSld>
</p:sld>
</file>

<file path=ppt/slides/slide5.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AD0438DD-0743-48CC-B6D9-5246D82B9449}"/>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The New Scarcity Is Human Comprehension</a:t>
            </a:r>
          </a:p>
        </p:txBody>
      </p:sp>
      <p:sp>
        <p:nvSpPr>
          <p:cNvPr id="2" name="">
            <a:extLst xmlns:a="http://schemas.openxmlformats.org/drawingml/2006/main">
              <a:ext uri="{FF2B5EF4-FFF2-40B4-BE49-F238E27FC236}">
                <a16:creationId xmlns:a16="http://schemas.microsoft.com/office/drawing/2014/main" id="{3AB995F6-D4DF-4189-A4DC-920FAB913C52}"/>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B8CACF29-AECD-48DD-9793-914169465D5B}"/>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05</a:t>
            </a:r>
          </a:p>
        </p:txBody>
      </p:sp>
      <p:sp>
        <p:nvSpPr>
          <p:cNvPr id="4" name="">
            <a:extLst xmlns:a="http://schemas.openxmlformats.org/drawingml/2006/main">
              <a:ext uri="{FF2B5EF4-FFF2-40B4-BE49-F238E27FC236}">
                <a16:creationId xmlns:a16="http://schemas.microsoft.com/office/drawing/2014/main" id="{1531D7E0-C531-4D7D-B15F-11D904C67B3B}"/>
              </a:ext>
            </a:extLst>
          </p:cNvPr>
          <p:cNvSpPr>
            <a:spLocks xmlns:a="http://schemas.openxmlformats.org/drawingml/2006/main" noGrp="1"/>
          </p:cNvSpPr>
          <p:nvPr/>
        </p:nvSpPr>
        <p:spPr>
          <a:xfrm xmlns:a="http://schemas.openxmlformats.org/drawingml/2006/main" flipH="0" flipV="0">
            <a:off x="838200" y="4695825"/>
            <a:ext cx="66865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 name="">
            <a:extLst xmlns:a="http://schemas.openxmlformats.org/drawingml/2006/main">
              <a:ext uri="{FF2B5EF4-FFF2-40B4-BE49-F238E27FC236}">
                <a16:creationId xmlns:a16="http://schemas.microsoft.com/office/drawing/2014/main" id="{70B2695D-990A-4212-8B27-415FF73BCC6C}"/>
              </a:ext>
            </a:extLst>
          </p:cNvPr>
          <p:cNvSpPr>
            <a:spLocks xmlns:a="http://schemas.openxmlformats.org/drawingml/2006/main" noGrp="1"/>
          </p:cNvSpPr>
          <p:nvPr/>
        </p:nvSpPr>
        <p:spPr>
          <a:xfrm xmlns:a="http://schemas.openxmlformats.org/drawingml/2006/main" flipH="0" flipV="1">
            <a:off x="838200" y="2171700"/>
            <a:ext cx="0" cy="2524125"/>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 name="">
            <a:extLst xmlns:a="http://schemas.openxmlformats.org/drawingml/2006/main">
              <a:ext uri="{FF2B5EF4-FFF2-40B4-BE49-F238E27FC236}">
                <a16:creationId xmlns:a16="http://schemas.microsoft.com/office/drawing/2014/main" id="{50F24B08-38FF-473D-B260-787637E24C52}"/>
              </a:ext>
            </a:extLst>
          </p:cNvPr>
          <p:cNvSpPr>
            <a:spLocks xmlns:a="http://schemas.openxmlformats.org/drawingml/2006/main" noGrp="1"/>
          </p:cNvSpPr>
          <p:nvPr/>
        </p:nvSpPr>
        <p:spPr>
          <a:xfrm xmlns:a="http://schemas.openxmlformats.org/drawingml/2006/main">
            <a:off x="952500" y="2238375"/>
            <a:ext cx="6143625" cy="2190750"/>
          </a:xfrm>
          <a:custGeom xmlns:a="http://schemas.openxmlformats.org/drawingml/2006/main">
            <a:pathLst>
              <a:path w="6143625" h="2190750">
                <a:moveTo>
                  <a:pt x="0" y="2190750"/>
                </a:moveTo>
                <a:lnTo>
                  <a:pt x="51197" y="2187339"/>
                </a:lnTo>
                <a:lnTo>
                  <a:pt x="102394" y="2183679"/>
                </a:lnTo>
                <a:lnTo>
                  <a:pt x="153591" y="2179769"/>
                </a:lnTo>
                <a:lnTo>
                  <a:pt x="204788" y="2175609"/>
                </a:lnTo>
                <a:lnTo>
                  <a:pt x="255984" y="2171201"/>
                </a:lnTo>
                <a:lnTo>
                  <a:pt x="307181" y="2166542"/>
                </a:lnTo>
                <a:lnTo>
                  <a:pt x="358378" y="2161634"/>
                </a:lnTo>
                <a:lnTo>
                  <a:pt x="409575" y="2156477"/>
                </a:lnTo>
                <a:lnTo>
                  <a:pt x="460772" y="2151070"/>
                </a:lnTo>
                <a:lnTo>
                  <a:pt x="511969" y="2145414"/>
                </a:lnTo>
                <a:lnTo>
                  <a:pt x="563166" y="2139508"/>
                </a:lnTo>
                <a:lnTo>
                  <a:pt x="614363" y="2133352"/>
                </a:lnTo>
                <a:lnTo>
                  <a:pt x="665559" y="2126947"/>
                </a:lnTo>
                <a:lnTo>
                  <a:pt x="716756" y="2120293"/>
                </a:lnTo>
                <a:lnTo>
                  <a:pt x="767953" y="2113389"/>
                </a:lnTo>
                <a:lnTo>
                  <a:pt x="819150" y="2106236"/>
                </a:lnTo>
                <a:lnTo>
                  <a:pt x="870347" y="2098833"/>
                </a:lnTo>
                <a:lnTo>
                  <a:pt x="921544" y="2091180"/>
                </a:lnTo>
                <a:lnTo>
                  <a:pt x="972741" y="2083278"/>
                </a:lnTo>
                <a:lnTo>
                  <a:pt x="1023938" y="2075127"/>
                </a:lnTo>
                <a:lnTo>
                  <a:pt x="1075134" y="2066726"/>
                </a:lnTo>
                <a:lnTo>
                  <a:pt x="1126331" y="2058076"/>
                </a:lnTo>
                <a:lnTo>
                  <a:pt x="1177528" y="2049176"/>
                </a:lnTo>
                <a:lnTo>
                  <a:pt x="1228725" y="2040026"/>
                </a:lnTo>
                <a:lnTo>
                  <a:pt x="1279922" y="2030627"/>
                </a:lnTo>
                <a:lnTo>
                  <a:pt x="1331119" y="2020979"/>
                </a:lnTo>
                <a:lnTo>
                  <a:pt x="1382316" y="2011081"/>
                </a:lnTo>
                <a:lnTo>
                  <a:pt x="1433513" y="2000934"/>
                </a:lnTo>
                <a:lnTo>
                  <a:pt x="1484709" y="1990537"/>
                </a:lnTo>
                <a:lnTo>
                  <a:pt x="1535906" y="1979890"/>
                </a:lnTo>
                <a:lnTo>
                  <a:pt x="1587103" y="1968994"/>
                </a:lnTo>
                <a:lnTo>
                  <a:pt x="1638300" y="1957849"/>
                </a:lnTo>
                <a:lnTo>
                  <a:pt x="1689497" y="1946454"/>
                </a:lnTo>
                <a:lnTo>
                  <a:pt x="1740694" y="1934810"/>
                </a:lnTo>
                <a:lnTo>
                  <a:pt x="1791891" y="1922916"/>
                </a:lnTo>
                <a:lnTo>
                  <a:pt x="1843088" y="1910772"/>
                </a:lnTo>
                <a:lnTo>
                  <a:pt x="1894284" y="1898379"/>
                </a:lnTo>
                <a:lnTo>
                  <a:pt x="1945481" y="1885737"/>
                </a:lnTo>
                <a:lnTo>
                  <a:pt x="1996678" y="1872845"/>
                </a:lnTo>
                <a:lnTo>
                  <a:pt x="2047875" y="1859703"/>
                </a:lnTo>
                <a:lnTo>
                  <a:pt x="2099072" y="1846312"/>
                </a:lnTo>
                <a:lnTo>
                  <a:pt x="2150269" y="1832672"/>
                </a:lnTo>
                <a:lnTo>
                  <a:pt x="2201466" y="1818782"/>
                </a:lnTo>
                <a:lnTo>
                  <a:pt x="2252662" y="1804642"/>
                </a:lnTo>
                <a:lnTo>
                  <a:pt x="2303859" y="1790254"/>
                </a:lnTo>
                <a:lnTo>
                  <a:pt x="2355056" y="1775615"/>
                </a:lnTo>
                <a:lnTo>
                  <a:pt x="2406253" y="1760727"/>
                </a:lnTo>
                <a:lnTo>
                  <a:pt x="2457450" y="1745590"/>
                </a:lnTo>
                <a:lnTo>
                  <a:pt x="2508647" y="1730203"/>
                </a:lnTo>
                <a:lnTo>
                  <a:pt x="2559844" y="1714566"/>
                </a:lnTo>
                <a:lnTo>
                  <a:pt x="2611041" y="1698680"/>
                </a:lnTo>
                <a:lnTo>
                  <a:pt x="2662238" y="1682545"/>
                </a:lnTo>
                <a:lnTo>
                  <a:pt x="2713434" y="1666160"/>
                </a:lnTo>
                <a:lnTo>
                  <a:pt x="2764631" y="1649525"/>
                </a:lnTo>
                <a:lnTo>
                  <a:pt x="2815828" y="1632641"/>
                </a:lnTo>
                <a:lnTo>
                  <a:pt x="2867025" y="1615508"/>
                </a:lnTo>
                <a:lnTo>
                  <a:pt x="2918222" y="1598125"/>
                </a:lnTo>
                <a:lnTo>
                  <a:pt x="2969419" y="1580492"/>
                </a:lnTo>
                <a:lnTo>
                  <a:pt x="3020616" y="1562610"/>
                </a:lnTo>
                <a:lnTo>
                  <a:pt x="3071813" y="1544479"/>
                </a:lnTo>
                <a:lnTo>
                  <a:pt x="3123009" y="1526098"/>
                </a:lnTo>
                <a:lnTo>
                  <a:pt x="3174206" y="1507467"/>
                </a:lnTo>
                <a:lnTo>
                  <a:pt x="3225403" y="1488587"/>
                </a:lnTo>
                <a:lnTo>
                  <a:pt x="3276600" y="1469458"/>
                </a:lnTo>
                <a:lnTo>
                  <a:pt x="3327797" y="1450079"/>
                </a:lnTo>
                <a:lnTo>
                  <a:pt x="3378994" y="1430450"/>
                </a:lnTo>
                <a:lnTo>
                  <a:pt x="3430191" y="1410572"/>
                </a:lnTo>
                <a:lnTo>
                  <a:pt x="3481388" y="1390445"/>
                </a:lnTo>
                <a:lnTo>
                  <a:pt x="3532584" y="1370068"/>
                </a:lnTo>
                <a:lnTo>
                  <a:pt x="3583781" y="1349441"/>
                </a:lnTo>
                <a:lnTo>
                  <a:pt x="3634978" y="1328565"/>
                </a:lnTo>
                <a:lnTo>
                  <a:pt x="3686175" y="1307440"/>
                </a:lnTo>
                <a:lnTo>
                  <a:pt x="3737372" y="1286065"/>
                </a:lnTo>
                <a:lnTo>
                  <a:pt x="3788569" y="1264440"/>
                </a:lnTo>
                <a:lnTo>
                  <a:pt x="3839766" y="1242566"/>
                </a:lnTo>
                <a:lnTo>
                  <a:pt x="3890963" y="1220442"/>
                </a:lnTo>
                <a:lnTo>
                  <a:pt x="3942159" y="1198069"/>
                </a:lnTo>
                <a:lnTo>
                  <a:pt x="3993356" y="1175447"/>
                </a:lnTo>
                <a:lnTo>
                  <a:pt x="4044553" y="1152575"/>
                </a:lnTo>
                <a:lnTo>
                  <a:pt x="4095750" y="1129453"/>
                </a:lnTo>
                <a:lnTo>
                  <a:pt x="4146947" y="1106082"/>
                </a:lnTo>
                <a:lnTo>
                  <a:pt x="4198144" y="1082462"/>
                </a:lnTo>
                <a:lnTo>
                  <a:pt x="4249341" y="1058592"/>
                </a:lnTo>
                <a:lnTo>
                  <a:pt x="4300537" y="1034472"/>
                </a:lnTo>
                <a:lnTo>
                  <a:pt x="4351734" y="1010103"/>
                </a:lnTo>
                <a:lnTo>
                  <a:pt x="4402931" y="985485"/>
                </a:lnTo>
                <a:lnTo>
                  <a:pt x="4454128" y="960616"/>
                </a:lnTo>
                <a:lnTo>
                  <a:pt x="4505325" y="935499"/>
                </a:lnTo>
                <a:lnTo>
                  <a:pt x="4556522" y="910132"/>
                </a:lnTo>
                <a:lnTo>
                  <a:pt x="4607719" y="884515"/>
                </a:lnTo>
                <a:lnTo>
                  <a:pt x="4658916" y="858649"/>
                </a:lnTo>
                <a:lnTo>
                  <a:pt x="4710113" y="832534"/>
                </a:lnTo>
                <a:lnTo>
                  <a:pt x="4761309" y="806169"/>
                </a:lnTo>
                <a:lnTo>
                  <a:pt x="4812506" y="779554"/>
                </a:lnTo>
                <a:lnTo>
                  <a:pt x="4863703" y="752690"/>
                </a:lnTo>
                <a:lnTo>
                  <a:pt x="4914900" y="725576"/>
                </a:lnTo>
                <a:lnTo>
                  <a:pt x="4966097" y="698213"/>
                </a:lnTo>
                <a:lnTo>
                  <a:pt x="5017294" y="670601"/>
                </a:lnTo>
                <a:lnTo>
                  <a:pt x="5068491" y="642739"/>
                </a:lnTo>
                <a:lnTo>
                  <a:pt x="5119688" y="614627"/>
                </a:lnTo>
                <a:lnTo>
                  <a:pt x="5170884" y="586266"/>
                </a:lnTo>
                <a:lnTo>
                  <a:pt x="5222081" y="557655"/>
                </a:lnTo>
                <a:lnTo>
                  <a:pt x="5273278" y="528795"/>
                </a:lnTo>
                <a:lnTo>
                  <a:pt x="5324475" y="499686"/>
                </a:lnTo>
                <a:lnTo>
                  <a:pt x="5375672" y="470327"/>
                </a:lnTo>
                <a:lnTo>
                  <a:pt x="5426869" y="440718"/>
                </a:lnTo>
                <a:lnTo>
                  <a:pt x="5478066" y="410860"/>
                </a:lnTo>
                <a:lnTo>
                  <a:pt x="5529263" y="380752"/>
                </a:lnTo>
                <a:lnTo>
                  <a:pt x="5580459" y="350395"/>
                </a:lnTo>
                <a:lnTo>
                  <a:pt x="5631656" y="319789"/>
                </a:lnTo>
                <a:lnTo>
                  <a:pt x="5682853" y="288933"/>
                </a:lnTo>
                <a:lnTo>
                  <a:pt x="5734050" y="257827"/>
                </a:lnTo>
                <a:lnTo>
                  <a:pt x="5785247" y="226472"/>
                </a:lnTo>
                <a:lnTo>
                  <a:pt x="5836444" y="194867"/>
                </a:lnTo>
                <a:lnTo>
                  <a:pt x="5887641" y="163013"/>
                </a:lnTo>
                <a:lnTo>
                  <a:pt x="5938838" y="130909"/>
                </a:lnTo>
                <a:lnTo>
                  <a:pt x="5990034" y="98556"/>
                </a:lnTo>
                <a:lnTo>
                  <a:pt x="6041231" y="65954"/>
                </a:lnTo>
                <a:lnTo>
                  <a:pt x="6092428" y="33102"/>
                </a:lnTo>
                <a:lnTo>
                  <a:pt x="6143625" y="0"/>
                </a:lnTo>
              </a:path>
            </a:pathLst>
          </a:custGeom>
          <a:noFill xmlns:a="http://schemas.openxmlformats.org/drawingml/2006/main"/>
          <a:ln xmlns:a="http://schemas.openxmlformats.org/drawingml/2006/main" w="38100">
            <a:solidFill>
              <a:srgbClr val="28C7F7"/>
            </a:solidFill>
            <a:prstDash val="solid"/>
          </a:ln>
        </p:spPr>
      </p:sp>
      <p:sp>
        <p:nvSpPr>
          <p:cNvPr id="7" name="">
            <a:extLst xmlns:a="http://schemas.openxmlformats.org/drawingml/2006/main">
              <a:ext uri="{FF2B5EF4-FFF2-40B4-BE49-F238E27FC236}">
                <a16:creationId xmlns:a16="http://schemas.microsoft.com/office/drawing/2014/main" id="{6B1DC226-D562-41EF-84CE-FB7FD4D91C4C}"/>
              </a:ext>
            </a:extLst>
          </p:cNvPr>
          <p:cNvSpPr>
            <a:spLocks xmlns:a="http://schemas.openxmlformats.org/drawingml/2006/main" noGrp="1"/>
          </p:cNvSpPr>
          <p:nvPr/>
        </p:nvSpPr>
        <p:spPr>
          <a:xfrm xmlns:a="http://schemas.openxmlformats.org/drawingml/2006/main" flipH="0" flipV="0">
            <a:off x="952500" y="4429125"/>
            <a:ext cx="6143625" cy="0"/>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8" name="">
            <a:extLst xmlns:a="http://schemas.openxmlformats.org/drawingml/2006/main">
              <a:ext uri="{FF2B5EF4-FFF2-40B4-BE49-F238E27FC236}">
                <a16:creationId xmlns:a16="http://schemas.microsoft.com/office/drawing/2014/main" id="{72992E83-B019-4B59-8DCC-981A09F48C06}"/>
              </a:ext>
            </a:extLst>
          </p:cNvPr>
          <p:cNvSpPr>
            <a:spLocks xmlns:a="http://schemas.openxmlformats.org/drawingml/2006/main" noGrp="1"/>
          </p:cNvSpPr>
          <p:nvPr/>
        </p:nvSpPr>
        <p:spPr>
          <a:xfrm xmlns:a="http://schemas.openxmlformats.org/drawingml/2006/main">
            <a:off x="1047750" y="1838325"/>
            <a:ext cx="600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28C7F7"/>
                </a:solidFill>
                <a:latin typeface="DejaVu Sans"/>
                <a:ea typeface="DejaVu Sans"/>
                <a:cs typeface="DejaVu Sans"/>
              </a:defRPr>
            </a:pPr>
            <a:r>
              <a:rPr sz="1875" b="1">
                <a:solidFill>
                  <a:srgbClr val="28C7F7"/>
                </a:solidFill>
                <a:latin typeface="DejaVu Sans"/>
                <a:ea typeface="DejaVu Sans"/>
                <a:cs typeface="DejaVu Sans"/>
              </a:rPr>
              <a:t>Machine generation capacity</a:t>
            </a:r>
          </a:p>
        </p:txBody>
      </p:sp>
      <p:sp>
        <p:nvSpPr>
          <p:cNvPr id="9" name="">
            <a:extLst xmlns:a="http://schemas.openxmlformats.org/drawingml/2006/main">
              <a:ext uri="{FF2B5EF4-FFF2-40B4-BE49-F238E27FC236}">
                <a16:creationId xmlns:a16="http://schemas.microsoft.com/office/drawing/2014/main" id="{8A076380-8FF9-4C45-BE8E-C12F28535F80}"/>
              </a:ext>
            </a:extLst>
          </p:cNvPr>
          <p:cNvSpPr>
            <a:spLocks xmlns:a="http://schemas.openxmlformats.org/drawingml/2006/main" noGrp="1"/>
          </p:cNvSpPr>
          <p:nvPr/>
        </p:nvSpPr>
        <p:spPr>
          <a:xfrm xmlns:a="http://schemas.openxmlformats.org/drawingml/2006/main">
            <a:off x="1028700" y="4857750"/>
            <a:ext cx="647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5B61C"/>
                </a:solidFill>
                <a:latin typeface="DejaVu Sans"/>
                <a:ea typeface="DejaVu Sans"/>
                <a:cs typeface="DejaVu Sans"/>
              </a:defRPr>
            </a:pPr>
            <a:r>
              <a:rPr sz="1725" b="0">
                <a:solidFill>
                  <a:srgbClr val="F5B61C"/>
                </a:solidFill>
                <a:latin typeface="DejaVu Sans"/>
                <a:ea typeface="DejaVu Sans"/>
                <a:cs typeface="DejaVu Sans"/>
              </a:rPr>
              <a:t>Human comprehension capacity</a:t>
            </a:r>
          </a:p>
        </p:txBody>
      </p:sp>
      <p:sp>
        <p:nvSpPr>
          <p:cNvPr id="10" name="">
            <a:extLst xmlns:a="http://schemas.openxmlformats.org/drawingml/2006/main">
              <a:ext uri="{FF2B5EF4-FFF2-40B4-BE49-F238E27FC236}">
                <a16:creationId xmlns:a16="http://schemas.microsoft.com/office/drawing/2014/main" id="{7EADE54B-C2C2-49FF-9CB1-565FD4ACA7DC}"/>
              </a:ext>
            </a:extLst>
          </p:cNvPr>
          <p:cNvSpPr>
            <a:spLocks xmlns:a="http://schemas.openxmlformats.org/drawingml/2006/main" noGrp="1"/>
          </p:cNvSpPr>
          <p:nvPr/>
        </p:nvSpPr>
        <p:spPr>
          <a:xfrm xmlns:a="http://schemas.openxmlformats.org/drawingml/2006/main">
            <a:off x="5000625" y="3524250"/>
            <a:ext cx="2476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Potential</a:t>
            </a:r>
          </a:p>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comprehension gap</a:t>
            </a:r>
          </a:p>
        </p:txBody>
      </p:sp>
      <p:sp>
        <p:nvSpPr>
          <p:cNvPr id="11" name="">
            <a:extLst xmlns:a="http://schemas.openxmlformats.org/drawingml/2006/main">
              <a:ext uri="{FF2B5EF4-FFF2-40B4-BE49-F238E27FC236}">
                <a16:creationId xmlns:a16="http://schemas.microsoft.com/office/drawing/2014/main" id="{EB33BF52-8D75-4494-A599-CE748EE5D6AE}"/>
              </a:ext>
            </a:extLst>
          </p:cNvPr>
          <p:cNvSpPr>
            <a:spLocks xmlns:a="http://schemas.openxmlformats.org/drawingml/2006/main" noGrp="1"/>
          </p:cNvSpPr>
          <p:nvPr/>
        </p:nvSpPr>
        <p:spPr>
          <a:xfrm xmlns:a="http://schemas.openxmlformats.org/drawingml/2006/main">
            <a:off x="5572125" y="4695825"/>
            <a:ext cx="1952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Adoption / time</a:t>
            </a:r>
          </a:p>
        </p:txBody>
      </p:sp>
      <p:sp>
        <p:nvSpPr>
          <p:cNvPr id="12" name="">
            <a:extLst xmlns:a="http://schemas.openxmlformats.org/drawingml/2006/main">
              <a:ext uri="{FF2B5EF4-FFF2-40B4-BE49-F238E27FC236}">
                <a16:creationId xmlns:a16="http://schemas.microsoft.com/office/drawing/2014/main" id="{9A48B593-42FD-45C7-9CB8-516877003359}"/>
              </a:ext>
            </a:extLst>
          </p:cNvPr>
          <p:cNvSpPr>
            <a:spLocks xmlns:a="http://schemas.openxmlformats.org/drawingml/2006/main" noGrp="1"/>
          </p:cNvSpPr>
          <p:nvPr/>
        </p:nvSpPr>
        <p:spPr>
          <a:xfrm xmlns:a="http://schemas.openxmlformats.org/drawingml/2006/main">
            <a:off x="8048625" y="209550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DejaVu Sans"/>
                <a:ea typeface="DejaVu Sans"/>
                <a:cs typeface="DejaVu Sans"/>
              </a:defRPr>
            </a:pPr>
            <a:r>
              <a:rPr sz="1875" b="0">
                <a:solidFill>
                  <a:srgbClr val="ADB8C5"/>
                </a:solidFill>
                <a:latin typeface="DejaVu Sans"/>
                <a:ea typeface="DejaVu Sans"/>
                <a:cs typeface="DejaVu Sans"/>
              </a:rPr>
              <a:t>Can we generate faster?</a:t>
            </a:r>
          </a:p>
        </p:txBody>
      </p:sp>
      <p:sp>
        <p:nvSpPr>
          <p:cNvPr id="13" name="">
            <a:extLst xmlns:a="http://schemas.openxmlformats.org/drawingml/2006/main">
              <a:ext uri="{FF2B5EF4-FFF2-40B4-BE49-F238E27FC236}">
                <a16:creationId xmlns:a16="http://schemas.microsoft.com/office/drawing/2014/main" id="{7AD981BA-9267-4738-83F5-1834493CAEA7}"/>
              </a:ext>
            </a:extLst>
          </p:cNvPr>
          <p:cNvSpPr>
            <a:spLocks xmlns:a="http://schemas.openxmlformats.org/drawingml/2006/main" noGrp="1"/>
          </p:cNvSpPr>
          <p:nvPr/>
        </p:nvSpPr>
        <p:spPr>
          <a:xfrm xmlns:a="http://schemas.openxmlformats.org/drawingml/2006/main">
            <a:off x="8048625" y="267652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28C7F7"/>
                </a:solidFill>
                <a:latin typeface="DejaVu Sans"/>
                <a:ea typeface="DejaVu Sans"/>
                <a:cs typeface="DejaVu Sans"/>
              </a:defRPr>
            </a:pPr>
            <a:r>
              <a:rPr sz="2100" b="1">
                <a:solidFill>
                  <a:srgbClr val="28C7F7"/>
                </a:solidFill>
                <a:latin typeface="DejaVu Sans"/>
                <a:ea typeface="DejaVu Sans"/>
                <a:cs typeface="DejaVu Sans"/>
              </a:rPr>
              <a:t>YES</a:t>
            </a:r>
          </a:p>
        </p:txBody>
      </p:sp>
      <p:sp>
        <p:nvSpPr>
          <p:cNvPr id="14" name="">
            <a:extLst xmlns:a="http://schemas.openxmlformats.org/drawingml/2006/main">
              <a:ext uri="{FF2B5EF4-FFF2-40B4-BE49-F238E27FC236}">
                <a16:creationId xmlns:a16="http://schemas.microsoft.com/office/drawing/2014/main" id="{CAC69F5B-B349-468B-8CC7-14A73FEC1753}"/>
              </a:ext>
            </a:extLst>
          </p:cNvPr>
          <p:cNvSpPr>
            <a:spLocks xmlns:a="http://schemas.openxmlformats.org/drawingml/2006/main" noGrp="1"/>
          </p:cNvSpPr>
          <p:nvPr/>
        </p:nvSpPr>
        <p:spPr>
          <a:xfrm xmlns:a="http://schemas.openxmlformats.org/drawingml/2006/main">
            <a:off x="8048625" y="3190875"/>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DejaVu Sans"/>
                <a:ea typeface="DejaVu Sans"/>
                <a:cs typeface="DejaVu Sans"/>
              </a:defRPr>
            </a:pPr>
            <a:r>
              <a:rPr sz="1875" b="0">
                <a:solidFill>
                  <a:srgbClr val="ADB8C5"/>
                </a:solidFill>
                <a:latin typeface="DejaVu Sans"/>
                <a:ea typeface="DejaVu Sans"/>
                <a:cs typeface="DejaVu Sans"/>
              </a:rPr>
              <a:t>Can review keep pace?</a:t>
            </a:r>
          </a:p>
        </p:txBody>
      </p:sp>
      <p:sp>
        <p:nvSpPr>
          <p:cNvPr id="15" name="">
            <a:extLst xmlns:a="http://schemas.openxmlformats.org/drawingml/2006/main">
              <a:ext uri="{FF2B5EF4-FFF2-40B4-BE49-F238E27FC236}">
                <a16:creationId xmlns:a16="http://schemas.microsoft.com/office/drawing/2014/main" id="{A6C197F0-FF85-4D49-B79F-BBEF1077A63B}"/>
              </a:ext>
            </a:extLst>
          </p:cNvPr>
          <p:cNvSpPr>
            <a:spLocks xmlns:a="http://schemas.openxmlformats.org/drawingml/2006/main" noGrp="1"/>
          </p:cNvSpPr>
          <p:nvPr/>
        </p:nvSpPr>
        <p:spPr>
          <a:xfrm xmlns:a="http://schemas.openxmlformats.org/drawingml/2006/main">
            <a:off x="8048625" y="3771900"/>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5B61C"/>
                </a:solidFill>
                <a:latin typeface="DejaVu Sans"/>
                <a:ea typeface="DejaVu Sans"/>
                <a:cs typeface="DejaVu Sans"/>
              </a:defRPr>
            </a:pPr>
            <a:r>
              <a:rPr sz="2100" b="1">
                <a:solidFill>
                  <a:srgbClr val="F5B61C"/>
                </a:solidFill>
                <a:latin typeface="DejaVu Sans"/>
                <a:ea typeface="DejaVu Sans"/>
                <a:cs typeface="DejaVu Sans"/>
              </a:rPr>
              <a:t>NOT AT THIS RATE</a:t>
            </a:r>
          </a:p>
        </p:txBody>
      </p:sp>
      <p:sp>
        <p:nvSpPr>
          <p:cNvPr id="16" name="">
            <a:extLst xmlns:a="http://schemas.openxmlformats.org/drawingml/2006/main">
              <a:ext uri="{FF2B5EF4-FFF2-40B4-BE49-F238E27FC236}">
                <a16:creationId xmlns:a16="http://schemas.microsoft.com/office/drawing/2014/main" id="{D75091AD-AF8E-4674-9B5D-385B063B96E4}"/>
              </a:ext>
            </a:extLst>
          </p:cNvPr>
          <p:cNvSpPr>
            <a:spLocks xmlns:a="http://schemas.openxmlformats.org/drawingml/2006/main" noGrp="1"/>
          </p:cNvSpPr>
          <p:nvPr/>
        </p:nvSpPr>
        <p:spPr>
          <a:xfrm xmlns:a="http://schemas.openxmlformats.org/drawingml/2006/main">
            <a:off x="8048625" y="428625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DejaVu Sans"/>
                <a:ea typeface="DejaVu Sans"/>
                <a:cs typeface="DejaVu Sans"/>
              </a:defRPr>
            </a:pPr>
            <a:r>
              <a:rPr sz="1875" b="0">
                <a:solidFill>
                  <a:srgbClr val="ADB8C5"/>
                </a:solidFill>
                <a:latin typeface="DejaVu Sans"/>
                <a:ea typeface="DejaVu Sans"/>
                <a:cs typeface="DejaVu Sans"/>
              </a:rPr>
              <a:t>Will we understand it</a:t>
            </a:r>
          </a:p>
          <a:p xmlns:a="http://schemas.openxmlformats.org/drawingml/2006/main">
            <a:pPr algn="l">
              <a:defRPr sz="1875" b="0">
                <a:solidFill>
                  <a:srgbClr val="ADB8C5"/>
                </a:solidFill>
                <a:latin typeface="DejaVu Sans"/>
                <a:ea typeface="DejaVu Sans"/>
                <a:cs typeface="DejaVu Sans"/>
              </a:defRPr>
            </a:pPr>
            <a:r>
              <a:rPr sz="1875" b="0">
                <a:solidFill>
                  <a:srgbClr val="ADB8C5"/>
                </a:solidFill>
                <a:latin typeface="DejaVu Sans"/>
                <a:ea typeface="DejaVu Sans"/>
                <a:cs typeface="DejaVu Sans"/>
              </a:rPr>
              <a:t>in 5 years?</a:t>
            </a:r>
          </a:p>
        </p:txBody>
      </p:sp>
      <p:sp>
        <p:nvSpPr>
          <p:cNvPr id="17" name="">
            <a:extLst xmlns:a="http://schemas.openxmlformats.org/drawingml/2006/main">
              <a:ext uri="{FF2B5EF4-FFF2-40B4-BE49-F238E27FC236}">
                <a16:creationId xmlns:a16="http://schemas.microsoft.com/office/drawing/2014/main" id="{50C2082E-0979-42B7-82DE-DB4217D78444}"/>
              </a:ext>
            </a:extLst>
          </p:cNvPr>
          <p:cNvSpPr>
            <a:spLocks xmlns:a="http://schemas.openxmlformats.org/drawingml/2006/main" noGrp="1"/>
          </p:cNvSpPr>
          <p:nvPr/>
        </p:nvSpPr>
        <p:spPr>
          <a:xfrm xmlns:a="http://schemas.openxmlformats.org/drawingml/2006/main">
            <a:off x="8048625" y="486727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75" b="1">
                <a:solidFill>
                  <a:srgbClr val="F5B61C"/>
                </a:solidFill>
                <a:latin typeface="DejaVu Sans"/>
                <a:ea typeface="DejaVu Sans"/>
                <a:cs typeface="DejaVu Sans"/>
              </a:defRPr>
            </a:pPr>
            <a:r>
              <a:rPr sz="3075" b="1">
                <a:solidFill>
                  <a:srgbClr val="F5B61C"/>
                </a:solidFill>
                <a:latin typeface="DejaVu Sans"/>
                <a:ea typeface="DejaVu Sans"/>
                <a:cs typeface="DejaVu Sans"/>
              </a:rPr>
              <a:t>?</a:t>
            </a:r>
          </a:p>
        </p:txBody>
      </p:sp>
      <p:sp>
        <p:nvSpPr>
          <p:cNvPr id="18" name="">
            <a:extLst xmlns:a="http://schemas.openxmlformats.org/drawingml/2006/main">
              <a:ext uri="{FF2B5EF4-FFF2-40B4-BE49-F238E27FC236}">
                <a16:creationId xmlns:a16="http://schemas.microsoft.com/office/drawing/2014/main" id="{0DD3CFD9-8B04-413D-9FE0-422FD4F6BD25}"/>
              </a:ext>
            </a:extLst>
          </p:cNvPr>
          <p:cNvSpPr>
            <a:spLocks xmlns:a="http://schemas.openxmlformats.org/drawingml/2006/main" noGrp="1"/>
          </p:cNvSpPr>
          <p:nvPr/>
        </p:nvSpPr>
        <p:spPr>
          <a:xfrm xmlns:a="http://schemas.openxmlformats.org/drawingml/2006/main">
            <a:off x="838200" y="53435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Illustrative overload scenario. Not measured trends or a five-year forecast.</a:t>
            </a:r>
          </a:p>
        </p:txBody>
      </p:sp>
      <p:sp>
        <p:nvSpPr>
          <p:cNvPr id="19" name="">
            <a:extLst xmlns:a="http://schemas.openxmlformats.org/drawingml/2006/main">
              <a:ext uri="{FF2B5EF4-FFF2-40B4-BE49-F238E27FC236}">
                <a16:creationId xmlns:a16="http://schemas.microsoft.com/office/drawing/2014/main" id="{E553B1E7-2A27-4A29-8C2F-006A3D99A03E}"/>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81D579F6-D585-481A-A5A0-C950EB7FFBF7}"/>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Generation scales differently from comprehension.</a:t>
            </a:r>
          </a:p>
        </p:txBody>
      </p:sp>
    </p:spTree>
    <p:extLst>
      <p:ext uri="{BB962C8B-B14F-4D97-AF65-F5344CB8AC3E}">
        <p14:creationId xmlns:p14="http://schemas.microsoft.com/office/powerpoint/2010/main" val="1172285752"/>
      </p:ext>
    </p:extLst>
  </p:cSld>
</p:sld>
</file>

<file path=ppt/slides/slide6.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1D915CE9-1A70-431C-9B5F-3F804F94316B}"/>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The Team Is the Last Line of Defense</a:t>
            </a:r>
          </a:p>
        </p:txBody>
      </p:sp>
      <p:sp>
        <p:nvSpPr>
          <p:cNvPr id="2" name="">
            <a:extLst xmlns:a="http://schemas.openxmlformats.org/drawingml/2006/main">
              <a:ext uri="{FF2B5EF4-FFF2-40B4-BE49-F238E27FC236}">
                <a16:creationId xmlns:a16="http://schemas.microsoft.com/office/drawing/2014/main" id="{70041C53-10FC-471E-94EB-5E62E770D108}"/>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DDF22393-6DF9-41BB-B0D1-196FA54337AA}"/>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06</a:t>
            </a:r>
          </a:p>
        </p:txBody>
      </p:sp>
      <p:sp>
        <p:nvSpPr>
          <p:cNvPr id="4" name="">
            <a:extLst xmlns:a="http://schemas.openxmlformats.org/drawingml/2006/main">
              <a:ext uri="{FF2B5EF4-FFF2-40B4-BE49-F238E27FC236}">
                <a16:creationId xmlns:a16="http://schemas.microsoft.com/office/drawing/2014/main" id="{F5C24FD7-75BD-4C19-B1DE-E133AB8177F9}"/>
              </a:ext>
            </a:extLst>
          </p:cNvPr>
          <p:cNvSpPr>
            <a:spLocks xmlns:a="http://schemas.openxmlformats.org/drawingml/2006/main" noGrp="1"/>
          </p:cNvSpPr>
          <p:nvPr/>
        </p:nvSpPr>
        <p:spPr>
          <a:xfrm xmlns:a="http://schemas.openxmlformats.org/drawingml/2006/main">
            <a:off x="609600" y="18097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1">
                <a:solidFill>
                  <a:srgbClr val="F4F7FA"/>
                </a:solidFill>
                <a:latin typeface="DejaVu Sans"/>
                <a:ea typeface="DejaVu Sans"/>
                <a:cs typeface="DejaVu Sans"/>
              </a:defRPr>
            </a:pPr>
            <a:r>
              <a:rPr sz="2175" b="1">
                <a:solidFill>
                  <a:srgbClr val="F4F7FA"/>
                </a:solidFill>
                <a:latin typeface="DejaVu Sans"/>
                <a:ea typeface="DejaVu Sans"/>
                <a:cs typeface="DejaVu Sans"/>
              </a:rPr>
              <a:t>AI code generators are technical systems with limits.</a:t>
            </a:r>
          </a:p>
        </p:txBody>
      </p:sp>
      <p:sp>
        <p:nvSpPr>
          <p:cNvPr id="5" name="">
            <a:extLst xmlns:a="http://schemas.openxmlformats.org/drawingml/2006/main">
              <a:ext uri="{FF2B5EF4-FFF2-40B4-BE49-F238E27FC236}">
                <a16:creationId xmlns:a16="http://schemas.microsoft.com/office/drawing/2014/main" id="{44A57D47-9974-4E64-8F78-4748B5C748C3}"/>
              </a:ext>
            </a:extLst>
          </p:cNvPr>
          <p:cNvSpPr>
            <a:spLocks xmlns:a="http://schemas.openxmlformats.org/drawingml/2006/main" noGrp="1"/>
          </p:cNvSpPr>
          <p:nvPr/>
        </p:nvSpPr>
        <p:spPr>
          <a:xfrm xmlns:a="http://schemas.openxmlformats.org/drawingml/2006/main">
            <a:off x="609600" y="22669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DejaVu Sans"/>
                <a:ea typeface="DejaVu Sans"/>
                <a:cs typeface="DejaVu Sans"/>
              </a:defRPr>
            </a:pPr>
            <a:r>
              <a:rPr sz="1875" b="0">
                <a:solidFill>
                  <a:srgbClr val="ADB8C5"/>
                </a:solidFill>
                <a:latin typeface="DejaVu Sans"/>
                <a:ea typeface="DejaVu Sans"/>
                <a:cs typeface="DejaVu Sans"/>
              </a:rPr>
              <a:t>Their failure to fix an incident belongs in the project risk model.</a:t>
            </a:r>
          </a:p>
        </p:txBody>
      </p:sp>
      <p:sp>
        <p:nvSpPr>
          <p:cNvPr id="6" name="">
            <a:extLst xmlns:a="http://schemas.openxmlformats.org/drawingml/2006/main">
              <a:ext uri="{FF2B5EF4-FFF2-40B4-BE49-F238E27FC236}">
                <a16:creationId xmlns:a16="http://schemas.microsoft.com/office/drawing/2014/main" id="{366F3340-18F8-481E-BCD8-411E93A63542}"/>
              </a:ext>
            </a:extLst>
          </p:cNvPr>
          <p:cNvSpPr>
            <a:spLocks xmlns:a="http://schemas.openxmlformats.org/drawingml/2006/main" noGrp="1"/>
          </p:cNvSpPr>
          <p:nvPr/>
        </p:nvSpPr>
        <p:spPr>
          <a:xfrm xmlns:a="http://schemas.openxmlformats.org/drawingml/2006/main">
            <a:off x="609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CFA5B6EC-A9DC-4C93-8B1E-006F61D161BA}"/>
              </a:ext>
            </a:extLst>
          </p:cNvPr>
          <p:cNvSpPr>
            <a:spLocks xmlns:a="http://schemas.openxmlformats.org/drawingml/2006/main" noGrp="1"/>
          </p:cNvSpPr>
          <p:nvPr/>
        </p:nvSpPr>
        <p:spPr>
          <a:xfrm xmlns:a="http://schemas.openxmlformats.org/drawingml/2006/main">
            <a:off x="723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Production</a:t>
            </a:r>
          </a:p>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incident</a:t>
            </a:r>
          </a:p>
        </p:txBody>
      </p:sp>
      <p:sp>
        <p:nvSpPr>
          <p:cNvPr id="8" name="">
            <a:extLst xmlns:a="http://schemas.openxmlformats.org/drawingml/2006/main">
              <a:ext uri="{FF2B5EF4-FFF2-40B4-BE49-F238E27FC236}">
                <a16:creationId xmlns:a16="http://schemas.microsoft.com/office/drawing/2014/main" id="{846A72D3-7E32-4CD5-B201-82DD04C0BCD1}"/>
              </a:ext>
            </a:extLst>
          </p:cNvPr>
          <p:cNvSpPr>
            <a:spLocks xmlns:a="http://schemas.openxmlformats.org/drawingml/2006/main" noGrp="1"/>
          </p:cNvSpPr>
          <p:nvPr/>
        </p:nvSpPr>
        <p:spPr>
          <a:xfrm xmlns:a="http://schemas.openxmlformats.org/drawingml/2006/main">
            <a:off x="609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Contain impact.</a:t>
            </a:r>
          </a:p>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Roll back or use</a:t>
            </a:r>
          </a:p>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fallback where safe.</a:t>
            </a:r>
          </a:p>
        </p:txBody>
      </p:sp>
      <p:sp>
        <p:nvSpPr>
          <p:cNvPr id="9" name="">
            <a:extLst xmlns:a="http://schemas.openxmlformats.org/drawingml/2006/main">
              <a:ext uri="{FF2B5EF4-FFF2-40B4-BE49-F238E27FC236}">
                <a16:creationId xmlns:a16="http://schemas.microsoft.com/office/drawing/2014/main" id="{4DE3185C-6A9D-45DC-85FD-F30828E450C1}"/>
              </a:ext>
            </a:extLst>
          </p:cNvPr>
          <p:cNvSpPr>
            <a:spLocks xmlns:a="http://schemas.openxmlformats.org/drawingml/2006/main" noGrp="1"/>
          </p:cNvSpPr>
          <p:nvPr/>
        </p:nvSpPr>
        <p:spPr>
          <a:xfrm xmlns:a="http://schemas.openxmlformats.org/drawingml/2006/main">
            <a:off x="3467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10" name="">
            <a:extLst xmlns:a="http://schemas.openxmlformats.org/drawingml/2006/main">
              <a:ext uri="{FF2B5EF4-FFF2-40B4-BE49-F238E27FC236}">
                <a16:creationId xmlns:a16="http://schemas.microsoft.com/office/drawing/2014/main" id="{D3123DAF-5207-41D5-8670-FA953AF03877}"/>
              </a:ext>
            </a:extLst>
          </p:cNvPr>
          <p:cNvSpPr>
            <a:spLocks xmlns:a="http://schemas.openxmlformats.org/drawingml/2006/main" noGrp="1"/>
          </p:cNvSpPr>
          <p:nvPr/>
        </p:nvSpPr>
        <p:spPr>
          <a:xfrm xmlns:a="http://schemas.openxmlformats.org/drawingml/2006/main">
            <a:off x="3581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AI cannot</a:t>
            </a:r>
          </a:p>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recover</a:t>
            </a:r>
          </a:p>
        </p:txBody>
      </p:sp>
      <p:sp>
        <p:nvSpPr>
          <p:cNvPr id="11" name="">
            <a:extLst xmlns:a="http://schemas.openxmlformats.org/drawingml/2006/main">
              <a:ext uri="{FF2B5EF4-FFF2-40B4-BE49-F238E27FC236}">
                <a16:creationId xmlns:a16="http://schemas.microsoft.com/office/drawing/2014/main" id="{C875A0FA-613E-4B6C-A847-951C0D0D93CF}"/>
              </a:ext>
            </a:extLst>
          </p:cNvPr>
          <p:cNvSpPr>
            <a:spLocks xmlns:a="http://schemas.openxmlformats.org/drawingml/2006/main" noGrp="1"/>
          </p:cNvSpPr>
          <p:nvPr/>
        </p:nvSpPr>
        <p:spPr>
          <a:xfrm xmlns:a="http://schemas.openxmlformats.org/drawingml/2006/main">
            <a:off x="3467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Stop at the agreed</a:t>
            </a:r>
          </a:p>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retry limit. Preserve</a:t>
            </a:r>
          </a:p>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traces and changes.</a:t>
            </a:r>
          </a:p>
        </p:txBody>
      </p:sp>
      <p:sp>
        <p:nvSpPr>
          <p:cNvPr id="12" name="">
            <a:extLst xmlns:a="http://schemas.openxmlformats.org/drawingml/2006/main">
              <a:ext uri="{FF2B5EF4-FFF2-40B4-BE49-F238E27FC236}">
                <a16:creationId xmlns:a16="http://schemas.microsoft.com/office/drawing/2014/main" id="{2AB86B81-7C78-4EDA-A0B1-80F97E02FC1A}"/>
              </a:ext>
            </a:extLst>
          </p:cNvPr>
          <p:cNvSpPr>
            <a:spLocks xmlns:a="http://schemas.openxmlformats.org/drawingml/2006/main" noGrp="1"/>
          </p:cNvSpPr>
          <p:nvPr/>
        </p:nvSpPr>
        <p:spPr>
          <a:xfrm xmlns:a="http://schemas.openxmlformats.org/drawingml/2006/main">
            <a:off x="6324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902E3E13-7701-4899-BFD7-0D0F8B39CA2F}"/>
              </a:ext>
            </a:extLst>
          </p:cNvPr>
          <p:cNvSpPr>
            <a:spLocks xmlns:a="http://schemas.openxmlformats.org/drawingml/2006/main" noGrp="1"/>
          </p:cNvSpPr>
          <p:nvPr/>
        </p:nvSpPr>
        <p:spPr>
          <a:xfrm xmlns:a="http://schemas.openxmlformats.org/drawingml/2006/main">
            <a:off x="6438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Team diagnoses</a:t>
            </a:r>
          </a:p>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&amp; proposes fix</a:t>
            </a:r>
          </a:p>
        </p:txBody>
      </p:sp>
      <p:sp>
        <p:nvSpPr>
          <p:cNvPr id="14" name="">
            <a:extLst xmlns:a="http://schemas.openxmlformats.org/drawingml/2006/main">
              <a:ext uri="{FF2B5EF4-FFF2-40B4-BE49-F238E27FC236}">
                <a16:creationId xmlns:a16="http://schemas.microsoft.com/office/drawing/2014/main" id="{16255EF2-E85A-43F5-A8F1-AEEAF9C24182}"/>
              </a:ext>
            </a:extLst>
          </p:cNvPr>
          <p:cNvSpPr>
            <a:spLocks xmlns:a="http://schemas.openxmlformats.org/drawingml/2006/main" noGrp="1"/>
          </p:cNvSpPr>
          <p:nvPr/>
        </p:nvSpPr>
        <p:spPr>
          <a:xfrm xmlns:a="http://schemas.openxmlformats.org/drawingml/2006/main">
            <a:off x="6324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Reconstruct intent,</a:t>
            </a:r>
          </a:p>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dependencies and</a:t>
            </a:r>
          </a:p>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system invariants.</a:t>
            </a:r>
          </a:p>
        </p:txBody>
      </p:sp>
      <p:sp>
        <p:nvSpPr>
          <p:cNvPr id="15" name="">
            <a:extLst xmlns:a="http://schemas.openxmlformats.org/drawingml/2006/main">
              <a:ext uri="{FF2B5EF4-FFF2-40B4-BE49-F238E27FC236}">
                <a16:creationId xmlns:a16="http://schemas.microsoft.com/office/drawing/2014/main" id="{80CB47E1-4453-43F2-9983-BE8C6408687F}"/>
              </a:ext>
            </a:extLst>
          </p:cNvPr>
          <p:cNvSpPr>
            <a:spLocks xmlns:a="http://schemas.openxmlformats.org/drawingml/2006/main" noGrp="1"/>
          </p:cNvSpPr>
          <p:nvPr/>
        </p:nvSpPr>
        <p:spPr>
          <a:xfrm xmlns:a="http://schemas.openxmlformats.org/drawingml/2006/main">
            <a:off x="9182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6" name="">
            <a:extLst xmlns:a="http://schemas.openxmlformats.org/drawingml/2006/main">
              <a:ext uri="{FF2B5EF4-FFF2-40B4-BE49-F238E27FC236}">
                <a16:creationId xmlns:a16="http://schemas.microsoft.com/office/drawing/2014/main" id="{03D08823-1207-40CC-90B8-DA53245A4545}"/>
              </a:ext>
            </a:extLst>
          </p:cNvPr>
          <p:cNvSpPr>
            <a:spLocks xmlns:a="http://schemas.openxmlformats.org/drawingml/2006/main" noGrp="1"/>
          </p:cNvSpPr>
          <p:nvPr/>
        </p:nvSpPr>
        <p:spPr>
          <a:xfrm xmlns:a="http://schemas.openxmlformats.org/drawingml/2006/main">
            <a:off x="9296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Validate fix</a:t>
            </a:r>
          </a:p>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and restore</a:t>
            </a:r>
          </a:p>
        </p:txBody>
      </p:sp>
      <p:sp>
        <p:nvSpPr>
          <p:cNvPr id="17" name="">
            <a:extLst xmlns:a="http://schemas.openxmlformats.org/drawingml/2006/main">
              <a:ext uri="{FF2B5EF4-FFF2-40B4-BE49-F238E27FC236}">
                <a16:creationId xmlns:a16="http://schemas.microsoft.com/office/drawing/2014/main" id="{8201C107-98B2-488C-8790-C6661BB53189}"/>
              </a:ext>
            </a:extLst>
          </p:cNvPr>
          <p:cNvSpPr>
            <a:spLocks xmlns:a="http://schemas.openxmlformats.org/drawingml/2006/main" noGrp="1"/>
          </p:cNvSpPr>
          <p:nvPr/>
        </p:nvSpPr>
        <p:spPr>
          <a:xfrm xmlns:a="http://schemas.openxmlformats.org/drawingml/2006/main">
            <a:off x="9182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Test the repair.</a:t>
            </a:r>
          </a:p>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Restore under incident</a:t>
            </a:r>
          </a:p>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owner authority.</a:t>
            </a:r>
          </a:p>
        </p:txBody>
      </p:sp>
      <p:cxnSp>
        <p:nvCxnSpPr>
          <p:cNvPr id="41" name=""/>
          <p:cNvCxnSpPr>
            <a:stCxn xmlns:a="http://schemas.openxmlformats.org/drawingml/2006/main" id="6" idx="3"/>
            <a:endCxn xmlns:a="http://schemas.openxmlformats.org/drawingml/2006/main" id="9" idx="1"/>
          </p:cNvCxnSpPr>
          <p:nvPr/>
        </p:nvCxnSpPr>
        <p:spPr>
          <a:xfrm xmlns:a="http://schemas.openxmlformats.org/drawingml/2006/main">
            <a:off x="3009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2" name=""/>
          <p:cNvCxnSpPr>
            <a:stCxn xmlns:a="http://schemas.openxmlformats.org/drawingml/2006/main" id="9" idx="3"/>
            <a:endCxn xmlns:a="http://schemas.openxmlformats.org/drawingml/2006/main" id="12" idx="1"/>
          </p:cNvCxnSpPr>
          <p:nvPr/>
        </p:nvCxnSpPr>
        <p:spPr>
          <a:xfrm xmlns:a="http://schemas.openxmlformats.org/drawingml/2006/main">
            <a:off x="5867400" y="3505200"/>
            <a:ext cx="4572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43" name=""/>
          <p:cNvCxnSpPr>
            <a:stCxn xmlns:a="http://schemas.openxmlformats.org/drawingml/2006/main" id="12" idx="3"/>
            <a:endCxn xmlns:a="http://schemas.openxmlformats.org/drawingml/2006/main" id="15" idx="1"/>
          </p:cNvCxnSpPr>
          <p:nvPr/>
        </p:nvCxnSpPr>
        <p:spPr>
          <a:xfrm xmlns:a="http://schemas.openxmlformats.org/drawingml/2006/main">
            <a:off x="8724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21" name="">
            <a:extLst xmlns:a="http://schemas.openxmlformats.org/drawingml/2006/main">
              <a:ext uri="{FF2B5EF4-FFF2-40B4-BE49-F238E27FC236}">
                <a16:creationId xmlns:a16="http://schemas.microsoft.com/office/drawing/2014/main" id="{1117D6EA-6113-4FA1-9883-FCD7A9607484}"/>
              </a:ext>
            </a:extLst>
          </p:cNvPr>
          <p:cNvSpPr>
            <a:spLocks xmlns:a="http://schemas.openxmlformats.org/drawingml/2006/main" noGrp="1"/>
          </p:cNvSpPr>
          <p:nvPr/>
        </p:nvSpPr>
        <p:spPr>
          <a:xfrm xmlns:a="http://schemas.openxmlformats.org/drawingml/2006/main">
            <a:off x="609600" y="532447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Hypothetical scenario. Rehearse the human recovery path before production.</a:t>
            </a:r>
          </a:p>
        </p:txBody>
      </p:sp>
      <p:sp>
        <p:nvSpPr>
          <p:cNvPr id="22" name="">
            <a:extLst xmlns:a="http://schemas.openxmlformats.org/drawingml/2006/main">
              <a:ext uri="{FF2B5EF4-FFF2-40B4-BE49-F238E27FC236}">
                <a16:creationId xmlns:a16="http://schemas.microsoft.com/office/drawing/2014/main" id="{E74CE51D-22E6-4BA1-A6BE-4387A9E99F10}"/>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3" name="">
            <a:extLst xmlns:a="http://schemas.openxmlformats.org/drawingml/2006/main">
              <a:ext uri="{FF2B5EF4-FFF2-40B4-BE49-F238E27FC236}">
                <a16:creationId xmlns:a16="http://schemas.microsoft.com/office/drawing/2014/main" id="{2F5189A1-F94A-41D2-9206-D26F74CBBB5C}"/>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If AI cannot recover the system, the team still must.</a:t>
            </a:r>
          </a:p>
        </p:txBody>
      </p:sp>
    </p:spTree>
    <p:extLst>
      <p:ext uri="{BB962C8B-B14F-4D97-AF65-F5344CB8AC3E}">
        <p14:creationId xmlns:p14="http://schemas.microsoft.com/office/powerpoint/2010/main" val="1609656176"/>
      </p:ext>
    </p:extLst>
  </p:cSld>
</p:sld>
</file>

<file path=ppt/slides/slide7.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8C1D3574-6D4F-4163-A91D-8A040D9F746D}"/>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We Are Searching for a New</a:t>
            </a:r>
          </a:p>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SDLC Equilibrium</a:t>
            </a:r>
          </a:p>
        </p:txBody>
      </p:sp>
      <p:sp>
        <p:nvSpPr>
          <p:cNvPr id="2" name="">
            <a:extLst xmlns:a="http://schemas.openxmlformats.org/drawingml/2006/main">
              <a:ext uri="{FF2B5EF4-FFF2-40B4-BE49-F238E27FC236}">
                <a16:creationId xmlns:a16="http://schemas.microsoft.com/office/drawing/2014/main" id="{E786CB6A-2DF7-4E22-9C3D-DC281A96DF65}"/>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5B76330E-BB83-42E5-A860-716656783739}"/>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07</a:t>
            </a:r>
          </a:p>
        </p:txBody>
      </p:sp>
      <p:sp>
        <p:nvSpPr>
          <p:cNvPr id="4" name="">
            <a:extLst xmlns:a="http://schemas.openxmlformats.org/drawingml/2006/main">
              <a:ext uri="{FF2B5EF4-FFF2-40B4-BE49-F238E27FC236}">
                <a16:creationId xmlns:a16="http://schemas.microsoft.com/office/drawing/2014/main" id="{ECD91F2D-7FDA-4F6C-820F-63C57E8F8F04}"/>
              </a:ext>
            </a:extLst>
          </p:cNvPr>
          <p:cNvSpPr>
            <a:spLocks xmlns:a="http://schemas.openxmlformats.org/drawingml/2006/main" noGrp="1"/>
          </p:cNvSpPr>
          <p:nvPr/>
        </p:nvSpPr>
        <p:spPr>
          <a:xfrm xmlns:a="http://schemas.openxmlformats.org/drawingml/2006/main">
            <a:off x="6096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DejaVu Sans"/>
                <a:ea typeface="DejaVu Sans"/>
                <a:cs typeface="DejaVu Sans"/>
              </a:defRPr>
            </a:pPr>
            <a:r>
              <a:rPr sz="1575" b="1">
                <a:solidFill>
                  <a:srgbClr val="ADB8C5"/>
                </a:solidFill>
                <a:latin typeface="DejaVu Sans"/>
                <a:ea typeface="DejaVu Sans"/>
                <a:cs typeface="DejaVu Sans"/>
              </a:rPr>
              <a:t>OLD EQUILIBRIUM</a:t>
            </a:r>
          </a:p>
        </p:txBody>
      </p:sp>
      <p:sp>
        <p:nvSpPr>
          <p:cNvPr id="5" name="">
            <a:extLst xmlns:a="http://schemas.openxmlformats.org/drawingml/2006/main">
              <a:ext uri="{FF2B5EF4-FFF2-40B4-BE49-F238E27FC236}">
                <a16:creationId xmlns:a16="http://schemas.microsoft.com/office/drawing/2014/main" id="{D3CABF32-FACD-45B7-B6EB-86CD8EFE9886}"/>
              </a:ext>
            </a:extLst>
          </p:cNvPr>
          <p:cNvSpPr>
            <a:spLocks xmlns:a="http://schemas.openxmlformats.org/drawingml/2006/main" noGrp="1"/>
          </p:cNvSpPr>
          <p:nvPr/>
        </p:nvSpPr>
        <p:spPr>
          <a:xfrm xmlns:a="http://schemas.openxmlformats.org/drawingml/2006/main">
            <a:off x="6096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DejaVu Sans"/>
                <a:ea typeface="DejaVu Sans"/>
                <a:cs typeface="DejaVu Sans"/>
              </a:defRPr>
            </a:pPr>
            <a:r>
              <a:rPr sz="1650" b="0">
                <a:solidFill>
                  <a:srgbClr val="F4F7FA"/>
                </a:solidFill>
                <a:latin typeface="DejaVu Sans"/>
                <a:ea typeface="DejaVu Sans"/>
                <a:cs typeface="DejaVu Sans"/>
              </a:rPr>
              <a:t>Human-led flow</a:t>
            </a:r>
          </a:p>
        </p:txBody>
      </p:sp>
      <p:sp>
        <p:nvSpPr>
          <p:cNvPr id="6" name="">
            <a:extLst xmlns:a="http://schemas.openxmlformats.org/drawingml/2006/main">
              <a:ext uri="{FF2B5EF4-FFF2-40B4-BE49-F238E27FC236}">
                <a16:creationId xmlns:a16="http://schemas.microsoft.com/office/drawing/2014/main" id="{4177584B-51D6-47A4-92FF-7E7F5E7E6693}"/>
              </a:ext>
            </a:extLst>
          </p:cNvPr>
          <p:cNvSpPr>
            <a:spLocks xmlns:a="http://schemas.openxmlformats.org/drawingml/2006/main" noGrp="1"/>
          </p:cNvSpPr>
          <p:nvPr/>
        </p:nvSpPr>
        <p:spPr>
          <a:xfrm xmlns:a="http://schemas.openxmlformats.org/drawingml/2006/main">
            <a:off x="440055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DejaVu Sans"/>
                <a:ea typeface="DejaVu Sans"/>
                <a:cs typeface="DejaVu Sans"/>
              </a:defRPr>
            </a:pPr>
            <a:r>
              <a:rPr sz="1575" b="1">
                <a:solidFill>
                  <a:srgbClr val="28C7F7"/>
                </a:solidFill>
                <a:latin typeface="DejaVu Sans"/>
                <a:ea typeface="DejaVu Sans"/>
                <a:cs typeface="DejaVu Sans"/>
              </a:rPr>
              <a:t>TODAY</a:t>
            </a:r>
          </a:p>
        </p:txBody>
      </p:sp>
      <p:sp>
        <p:nvSpPr>
          <p:cNvPr id="7" name="">
            <a:extLst xmlns:a="http://schemas.openxmlformats.org/drawingml/2006/main">
              <a:ext uri="{FF2B5EF4-FFF2-40B4-BE49-F238E27FC236}">
                <a16:creationId xmlns:a16="http://schemas.microsoft.com/office/drawing/2014/main" id="{63097131-9CDD-4CFA-AA89-56F5F294CF9A}"/>
              </a:ext>
            </a:extLst>
          </p:cNvPr>
          <p:cNvSpPr>
            <a:spLocks xmlns:a="http://schemas.openxmlformats.org/drawingml/2006/main" noGrp="1"/>
          </p:cNvSpPr>
          <p:nvPr/>
        </p:nvSpPr>
        <p:spPr>
          <a:xfrm xmlns:a="http://schemas.openxmlformats.org/drawingml/2006/main">
            <a:off x="440055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DejaVu Sans"/>
                <a:ea typeface="DejaVu Sans"/>
                <a:cs typeface="DejaVu Sans"/>
              </a:defRPr>
            </a:pPr>
            <a:r>
              <a:rPr sz="1650" b="0">
                <a:solidFill>
                  <a:srgbClr val="F4F7FA"/>
                </a:solidFill>
                <a:latin typeface="DejaVu Sans"/>
                <a:ea typeface="DejaVu Sans"/>
                <a:cs typeface="DejaVu Sans"/>
              </a:rPr>
              <a:t>Generation outpaces review</a:t>
            </a:r>
          </a:p>
        </p:txBody>
      </p:sp>
      <p:sp>
        <p:nvSpPr>
          <p:cNvPr id="8" name="">
            <a:extLst xmlns:a="http://schemas.openxmlformats.org/drawingml/2006/main">
              <a:ext uri="{FF2B5EF4-FFF2-40B4-BE49-F238E27FC236}">
                <a16:creationId xmlns:a16="http://schemas.microsoft.com/office/drawing/2014/main" id="{8E93DE9A-8C01-4A5C-B6B7-4485BF847310}"/>
              </a:ext>
            </a:extLst>
          </p:cNvPr>
          <p:cNvSpPr>
            <a:spLocks xmlns:a="http://schemas.openxmlformats.org/drawingml/2006/main" noGrp="1"/>
          </p:cNvSpPr>
          <p:nvPr/>
        </p:nvSpPr>
        <p:spPr>
          <a:xfrm xmlns:a="http://schemas.openxmlformats.org/drawingml/2006/main">
            <a:off x="81915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DejaVu Sans"/>
                <a:ea typeface="DejaVu Sans"/>
                <a:cs typeface="DejaVu Sans"/>
              </a:defRPr>
            </a:pPr>
            <a:r>
              <a:rPr sz="1575" b="1">
                <a:solidFill>
                  <a:srgbClr val="ADB8C5"/>
                </a:solidFill>
                <a:latin typeface="DejaVu Sans"/>
                <a:ea typeface="DejaVu Sans"/>
                <a:cs typeface="DejaVu Sans"/>
              </a:rPr>
              <a:t>NEW EQUILIBRIUM</a:t>
            </a:r>
          </a:p>
        </p:txBody>
      </p:sp>
      <p:sp>
        <p:nvSpPr>
          <p:cNvPr id="9" name="">
            <a:extLst xmlns:a="http://schemas.openxmlformats.org/drawingml/2006/main">
              <a:ext uri="{FF2B5EF4-FFF2-40B4-BE49-F238E27FC236}">
                <a16:creationId xmlns:a16="http://schemas.microsoft.com/office/drawing/2014/main" id="{9CB7E5CD-BD57-4087-81A3-A17ADE340B39}"/>
              </a:ext>
            </a:extLst>
          </p:cNvPr>
          <p:cNvSpPr>
            <a:spLocks xmlns:a="http://schemas.openxmlformats.org/drawingml/2006/main" noGrp="1"/>
          </p:cNvSpPr>
          <p:nvPr/>
        </p:nvSpPr>
        <p:spPr>
          <a:xfrm xmlns:a="http://schemas.openxmlformats.org/drawingml/2006/main">
            <a:off x="81915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5B61C"/>
                </a:solidFill>
                <a:latin typeface="DejaVu Sans"/>
                <a:ea typeface="DejaVu Sans"/>
                <a:cs typeface="DejaVu Sans"/>
              </a:defRPr>
            </a:pPr>
            <a:r>
              <a:rPr sz="1650" b="0">
                <a:solidFill>
                  <a:srgbClr val="F5B61C"/>
                </a:solidFill>
                <a:latin typeface="DejaVu Sans"/>
                <a:ea typeface="DejaVu Sans"/>
                <a:cs typeface="DejaVu Sans"/>
              </a:rPr>
              <a:t>Sustainable flow?</a:t>
            </a:r>
          </a:p>
        </p:txBody>
      </p:sp>
      <p:sp>
        <p:nvSpPr>
          <p:cNvPr id="10" name="">
            <a:extLst xmlns:a="http://schemas.openxmlformats.org/drawingml/2006/main">
              <a:ext uri="{FF2B5EF4-FFF2-40B4-BE49-F238E27FC236}">
                <a16:creationId xmlns:a16="http://schemas.microsoft.com/office/drawing/2014/main" id="{C068A848-ABF6-497A-B7F3-0B02A08B2D3D}"/>
              </a:ext>
            </a:extLst>
          </p:cNvPr>
          <p:cNvSpPr>
            <a:spLocks xmlns:a="http://schemas.openxmlformats.org/drawingml/2006/main" noGrp="1"/>
          </p:cNvSpPr>
          <p:nvPr/>
        </p:nvSpPr>
        <p:spPr>
          <a:xfrm xmlns:a="http://schemas.openxmlformats.org/drawingml/2006/main" flipH="0" flipV="0">
            <a:off x="609600" y="27813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1ABE8123-4A60-43BD-9688-2045E43B0936}"/>
              </a:ext>
            </a:extLst>
          </p:cNvPr>
          <p:cNvSpPr>
            <a:spLocks xmlns:a="http://schemas.openxmlformats.org/drawingml/2006/main" noGrp="1"/>
          </p:cNvSpPr>
          <p:nvPr/>
        </p:nvSpPr>
        <p:spPr>
          <a:xfrm xmlns:a="http://schemas.openxmlformats.org/drawingml/2006/main">
            <a:off x="6096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DejaVu Sans"/>
                <a:ea typeface="DejaVu Sans"/>
                <a:cs typeface="DejaVu Sans"/>
              </a:defRPr>
            </a:pPr>
            <a:r>
              <a:rPr sz="2025" b="1">
                <a:solidFill>
                  <a:srgbClr val="F5B61C"/>
                </a:solidFill>
                <a:latin typeface="DejaVu Sans"/>
                <a:ea typeface="DejaVu Sans"/>
                <a:cs typeface="DejaVu Sans"/>
              </a:rPr>
              <a:t>WATCH</a:t>
            </a:r>
          </a:p>
        </p:txBody>
      </p:sp>
      <p:sp>
        <p:nvSpPr>
          <p:cNvPr id="12" name="">
            <a:extLst xmlns:a="http://schemas.openxmlformats.org/drawingml/2006/main">
              <a:ext uri="{FF2B5EF4-FFF2-40B4-BE49-F238E27FC236}">
                <a16:creationId xmlns:a16="http://schemas.microsoft.com/office/drawing/2014/main" id="{B039B597-CD36-47A1-B647-F4622B946FF5}"/>
              </a:ext>
            </a:extLst>
          </p:cNvPr>
          <p:cNvSpPr>
            <a:spLocks xmlns:a="http://schemas.openxmlformats.org/drawingml/2006/main" noGrp="1"/>
          </p:cNvSpPr>
          <p:nvPr/>
        </p:nvSpPr>
        <p:spPr>
          <a:xfrm xmlns:a="http://schemas.openxmlformats.org/drawingml/2006/main">
            <a:off x="6096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Flow pressure</a:t>
            </a:r>
          </a:p>
        </p:txBody>
      </p:sp>
      <p:sp>
        <p:nvSpPr>
          <p:cNvPr id="13" name="">
            <a:extLst xmlns:a="http://schemas.openxmlformats.org/drawingml/2006/main">
              <a:ext uri="{FF2B5EF4-FFF2-40B4-BE49-F238E27FC236}">
                <a16:creationId xmlns:a16="http://schemas.microsoft.com/office/drawing/2014/main" id="{6F825A41-90F6-4061-8666-6F28CF82814F}"/>
              </a:ext>
            </a:extLst>
          </p:cNvPr>
          <p:cNvSpPr>
            <a:spLocks xmlns:a="http://schemas.openxmlformats.org/drawingml/2006/main" noGrp="1"/>
          </p:cNvSpPr>
          <p:nvPr/>
        </p:nvSpPr>
        <p:spPr>
          <a:xfrm xmlns:a="http://schemas.openxmlformats.org/drawingml/2006/main">
            <a:off x="6096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Review age, batch size and WIP</a:t>
            </a:r>
          </a:p>
        </p:txBody>
      </p:sp>
      <p:sp>
        <p:nvSpPr>
          <p:cNvPr id="14" name="">
            <a:extLst xmlns:a="http://schemas.openxmlformats.org/drawingml/2006/main">
              <a:ext uri="{FF2B5EF4-FFF2-40B4-BE49-F238E27FC236}">
                <a16:creationId xmlns:a16="http://schemas.microsoft.com/office/drawing/2014/main" id="{132C31C1-6772-4B92-B6B2-4C65DE330D5A}"/>
              </a:ext>
            </a:extLst>
          </p:cNvPr>
          <p:cNvSpPr>
            <a:spLocks xmlns:a="http://schemas.openxmlformats.org/drawingml/2006/main" noGrp="1"/>
          </p:cNvSpPr>
          <p:nvPr/>
        </p:nvSpPr>
        <p:spPr>
          <a:xfrm xmlns:a="http://schemas.openxmlformats.org/drawingml/2006/main">
            <a:off x="6096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Rework and structure</a:t>
            </a:r>
          </a:p>
        </p:txBody>
      </p:sp>
      <p:sp>
        <p:nvSpPr>
          <p:cNvPr id="15" name="">
            <a:extLst xmlns:a="http://schemas.openxmlformats.org/drawingml/2006/main">
              <a:ext uri="{FF2B5EF4-FFF2-40B4-BE49-F238E27FC236}">
                <a16:creationId xmlns:a16="http://schemas.microsoft.com/office/drawing/2014/main" id="{87354A19-307F-47C7-90F4-C28F82267FEC}"/>
              </a:ext>
            </a:extLst>
          </p:cNvPr>
          <p:cNvSpPr>
            <a:spLocks xmlns:a="http://schemas.openxmlformats.org/drawingml/2006/main" noGrp="1"/>
          </p:cNvSpPr>
          <p:nvPr/>
        </p:nvSpPr>
        <p:spPr>
          <a:xfrm xmlns:a="http://schemas.openxmlformats.org/drawingml/2006/main">
            <a:off x="6096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Churn, duplication, reuse, complexity</a:t>
            </a:r>
          </a:p>
        </p:txBody>
      </p:sp>
      <p:sp>
        <p:nvSpPr>
          <p:cNvPr id="16" name="">
            <a:extLst xmlns:a="http://schemas.openxmlformats.org/drawingml/2006/main">
              <a:ext uri="{FF2B5EF4-FFF2-40B4-BE49-F238E27FC236}">
                <a16:creationId xmlns:a16="http://schemas.microsoft.com/office/drawing/2014/main" id="{A23BB8B1-5C90-43E5-B361-1A6E37D71EFA}"/>
              </a:ext>
            </a:extLst>
          </p:cNvPr>
          <p:cNvSpPr>
            <a:spLocks xmlns:a="http://schemas.openxmlformats.org/drawingml/2006/main" noGrp="1"/>
          </p:cNvSpPr>
          <p:nvPr/>
        </p:nvSpPr>
        <p:spPr>
          <a:xfrm xmlns:a="http://schemas.openxmlformats.org/drawingml/2006/main">
            <a:off x="6096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Ownership gaps</a:t>
            </a:r>
          </a:p>
        </p:txBody>
      </p:sp>
      <p:sp>
        <p:nvSpPr>
          <p:cNvPr id="17" name="">
            <a:extLst xmlns:a="http://schemas.openxmlformats.org/drawingml/2006/main">
              <a:ext uri="{FF2B5EF4-FFF2-40B4-BE49-F238E27FC236}">
                <a16:creationId xmlns:a16="http://schemas.microsoft.com/office/drawing/2014/main" id="{9334D397-C5E4-428C-9E86-DEDFE05E96FB}"/>
              </a:ext>
            </a:extLst>
          </p:cNvPr>
          <p:cNvSpPr>
            <a:spLocks xmlns:a="http://schemas.openxmlformats.org/drawingml/2006/main" noGrp="1"/>
          </p:cNvSpPr>
          <p:nvPr/>
        </p:nvSpPr>
        <p:spPr>
          <a:xfrm xmlns:a="http://schemas.openxmlformats.org/drawingml/2006/main">
            <a:off x="6096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Unowned changes and stale docs</a:t>
            </a:r>
          </a:p>
        </p:txBody>
      </p:sp>
      <p:sp>
        <p:nvSpPr>
          <p:cNvPr id="18" name="">
            <a:extLst xmlns:a="http://schemas.openxmlformats.org/drawingml/2006/main">
              <a:ext uri="{FF2B5EF4-FFF2-40B4-BE49-F238E27FC236}">
                <a16:creationId xmlns:a16="http://schemas.microsoft.com/office/drawing/2014/main" id="{1482239B-62C3-4DBD-8D10-D87E2821083D}"/>
              </a:ext>
            </a:extLst>
          </p:cNvPr>
          <p:cNvSpPr>
            <a:spLocks xmlns:a="http://schemas.openxmlformats.org/drawingml/2006/main" noGrp="1"/>
          </p:cNvSpPr>
          <p:nvPr/>
        </p:nvSpPr>
        <p:spPr>
          <a:xfrm xmlns:a="http://schemas.openxmlformats.org/drawingml/2006/main">
            <a:off x="6096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Recovery readiness</a:t>
            </a:r>
          </a:p>
        </p:txBody>
      </p:sp>
      <p:sp>
        <p:nvSpPr>
          <p:cNvPr id="19" name="">
            <a:extLst xmlns:a="http://schemas.openxmlformats.org/drawingml/2006/main">
              <a:ext uri="{FF2B5EF4-FFF2-40B4-BE49-F238E27FC236}">
                <a16:creationId xmlns:a16="http://schemas.microsoft.com/office/drawing/2014/main" id="{7E0B86F3-F4EF-4141-AEF0-1C6EA8D2E95C}"/>
              </a:ext>
            </a:extLst>
          </p:cNvPr>
          <p:cNvSpPr>
            <a:spLocks xmlns:a="http://schemas.openxmlformats.org/drawingml/2006/main" noGrp="1"/>
          </p:cNvSpPr>
          <p:nvPr/>
        </p:nvSpPr>
        <p:spPr>
          <a:xfrm xmlns:a="http://schemas.openxmlformats.org/drawingml/2006/main">
            <a:off x="6096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Unaided diagnosis and restore time</a:t>
            </a:r>
          </a:p>
        </p:txBody>
      </p:sp>
      <p:sp>
        <p:nvSpPr>
          <p:cNvPr id="20" name="">
            <a:extLst xmlns:a="http://schemas.openxmlformats.org/drawingml/2006/main">
              <a:ext uri="{FF2B5EF4-FFF2-40B4-BE49-F238E27FC236}">
                <a16:creationId xmlns:a16="http://schemas.microsoft.com/office/drawing/2014/main" id="{08972BDA-6B66-4DE3-87F9-841754FDA988}"/>
              </a:ext>
            </a:extLst>
          </p:cNvPr>
          <p:cNvSpPr>
            <a:spLocks xmlns:a="http://schemas.openxmlformats.org/drawingml/2006/main" noGrp="1"/>
          </p:cNvSpPr>
          <p:nvPr/>
        </p:nvSpPr>
        <p:spPr>
          <a:xfrm xmlns:a="http://schemas.openxmlformats.org/drawingml/2006/main">
            <a:off x="62865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DejaVu Sans"/>
                <a:ea typeface="DejaVu Sans"/>
                <a:cs typeface="DejaVu Sans"/>
              </a:defRPr>
            </a:pPr>
            <a:r>
              <a:rPr sz="2025" b="1">
                <a:solidFill>
                  <a:srgbClr val="28C7F7"/>
                </a:solidFill>
                <a:latin typeface="DejaVu Sans"/>
                <a:ea typeface="DejaVu Sans"/>
                <a:cs typeface="DejaVu Sans"/>
              </a:rPr>
              <a:t>EXPLORE</a:t>
            </a:r>
          </a:p>
        </p:txBody>
      </p:sp>
      <p:sp>
        <p:nvSpPr>
          <p:cNvPr id="21" name="">
            <a:extLst xmlns:a="http://schemas.openxmlformats.org/drawingml/2006/main">
              <a:ext uri="{FF2B5EF4-FFF2-40B4-BE49-F238E27FC236}">
                <a16:creationId xmlns:a16="http://schemas.microsoft.com/office/drawing/2014/main" id="{EAF32317-CAA6-41D1-A69C-546F92AACFA7}"/>
              </a:ext>
            </a:extLst>
          </p:cNvPr>
          <p:cNvSpPr>
            <a:spLocks xmlns:a="http://schemas.openxmlformats.org/drawingml/2006/main" noGrp="1"/>
          </p:cNvSpPr>
          <p:nvPr/>
        </p:nvSpPr>
        <p:spPr>
          <a:xfrm xmlns:a="http://schemas.openxmlformats.org/drawingml/2006/main">
            <a:off x="62865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Small batches and WIP limits</a:t>
            </a:r>
          </a:p>
        </p:txBody>
      </p:sp>
      <p:sp>
        <p:nvSpPr>
          <p:cNvPr id="22" name="">
            <a:extLst xmlns:a="http://schemas.openxmlformats.org/drawingml/2006/main">
              <a:ext uri="{FF2B5EF4-FFF2-40B4-BE49-F238E27FC236}">
                <a16:creationId xmlns:a16="http://schemas.microsoft.com/office/drawing/2014/main" id="{A70A2A55-F637-46F2-A2FA-9AAE0FA6C8C5}"/>
              </a:ext>
            </a:extLst>
          </p:cNvPr>
          <p:cNvSpPr>
            <a:spLocks xmlns:a="http://schemas.openxmlformats.org/drawingml/2006/main" noGrp="1"/>
          </p:cNvSpPr>
          <p:nvPr/>
        </p:nvSpPr>
        <p:spPr>
          <a:xfrm xmlns:a="http://schemas.openxmlformats.org/drawingml/2006/main">
            <a:off x="62865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Keep intake within review capacity</a:t>
            </a:r>
          </a:p>
        </p:txBody>
      </p:sp>
      <p:sp>
        <p:nvSpPr>
          <p:cNvPr id="23" name="">
            <a:extLst xmlns:a="http://schemas.openxmlformats.org/drawingml/2006/main">
              <a:ext uri="{FF2B5EF4-FFF2-40B4-BE49-F238E27FC236}">
                <a16:creationId xmlns:a16="http://schemas.microsoft.com/office/drawing/2014/main" id="{DA641BD9-C7DE-4BDE-995D-4568D72F96FC}"/>
              </a:ext>
            </a:extLst>
          </p:cNvPr>
          <p:cNvSpPr>
            <a:spLocks xmlns:a="http://schemas.openxmlformats.org/drawingml/2006/main" noGrp="1"/>
          </p:cNvSpPr>
          <p:nvPr/>
        </p:nvSpPr>
        <p:spPr>
          <a:xfrm xmlns:a="http://schemas.openxmlformats.org/drawingml/2006/main">
            <a:off x="62865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Specs and living architecture</a:t>
            </a:r>
          </a:p>
        </p:txBody>
      </p:sp>
      <p:sp>
        <p:nvSpPr>
          <p:cNvPr id="24" name="">
            <a:extLst xmlns:a="http://schemas.openxmlformats.org/drawingml/2006/main">
              <a:ext uri="{FF2B5EF4-FFF2-40B4-BE49-F238E27FC236}">
                <a16:creationId xmlns:a16="http://schemas.microsoft.com/office/drawing/2014/main" id="{A8CB017E-EA05-4735-A200-7F54FEEFC37F}"/>
              </a:ext>
            </a:extLst>
          </p:cNvPr>
          <p:cNvSpPr>
            <a:spLocks xmlns:a="http://schemas.openxmlformats.org/drawingml/2006/main" noGrp="1"/>
          </p:cNvSpPr>
          <p:nvPr/>
        </p:nvSpPr>
        <p:spPr>
          <a:xfrm xmlns:a="http://schemas.openxmlformats.org/drawingml/2006/main">
            <a:off x="62865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Review code and docs together</a:t>
            </a:r>
          </a:p>
        </p:txBody>
      </p:sp>
      <p:sp>
        <p:nvSpPr>
          <p:cNvPr id="25" name="">
            <a:extLst xmlns:a="http://schemas.openxmlformats.org/drawingml/2006/main">
              <a:ext uri="{FF2B5EF4-FFF2-40B4-BE49-F238E27FC236}">
                <a16:creationId xmlns:a16="http://schemas.microsoft.com/office/drawing/2014/main" id="{255AE024-7B31-4ECB-9E34-086E94788480}"/>
              </a:ext>
            </a:extLst>
          </p:cNvPr>
          <p:cNvSpPr>
            <a:spLocks xmlns:a="http://schemas.openxmlformats.org/drawingml/2006/main" noGrp="1"/>
          </p:cNvSpPr>
          <p:nvPr/>
        </p:nvSpPr>
        <p:spPr>
          <a:xfrm xmlns:a="http://schemas.openxmlformats.org/drawingml/2006/main">
            <a:off x="62865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Repository intelligence</a:t>
            </a:r>
          </a:p>
        </p:txBody>
      </p:sp>
      <p:sp>
        <p:nvSpPr>
          <p:cNvPr id="26" name="">
            <a:extLst xmlns:a="http://schemas.openxmlformats.org/drawingml/2006/main">
              <a:ext uri="{FF2B5EF4-FFF2-40B4-BE49-F238E27FC236}">
                <a16:creationId xmlns:a16="http://schemas.microsoft.com/office/drawing/2014/main" id="{3CDC307A-2DD5-4933-981C-25B1F35058B5}"/>
              </a:ext>
            </a:extLst>
          </p:cNvPr>
          <p:cNvSpPr>
            <a:spLocks xmlns:a="http://schemas.openxmlformats.org/drawingml/2006/main" noGrp="1"/>
          </p:cNvSpPr>
          <p:nvPr/>
        </p:nvSpPr>
        <p:spPr>
          <a:xfrm xmlns:a="http://schemas.openxmlformats.org/drawingml/2006/main">
            <a:off x="62865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Trace dependencies and owners</a:t>
            </a:r>
          </a:p>
        </p:txBody>
      </p:sp>
      <p:sp>
        <p:nvSpPr>
          <p:cNvPr id="27" name="">
            <a:extLst xmlns:a="http://schemas.openxmlformats.org/drawingml/2006/main">
              <a:ext uri="{FF2B5EF4-FFF2-40B4-BE49-F238E27FC236}">
                <a16:creationId xmlns:a16="http://schemas.microsoft.com/office/drawing/2014/main" id="{D037374D-2D8A-4CD9-9F79-FD722F5B021C}"/>
              </a:ext>
            </a:extLst>
          </p:cNvPr>
          <p:cNvSpPr>
            <a:spLocks xmlns:a="http://schemas.openxmlformats.org/drawingml/2006/main" noGrp="1"/>
          </p:cNvSpPr>
          <p:nvPr/>
        </p:nvSpPr>
        <p:spPr>
          <a:xfrm xmlns:a="http://schemas.openxmlformats.org/drawingml/2006/main">
            <a:off x="62865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Human recovery drills</a:t>
            </a:r>
          </a:p>
        </p:txBody>
      </p:sp>
      <p:sp>
        <p:nvSpPr>
          <p:cNvPr id="28" name="">
            <a:extLst xmlns:a="http://schemas.openxmlformats.org/drawingml/2006/main">
              <a:ext uri="{FF2B5EF4-FFF2-40B4-BE49-F238E27FC236}">
                <a16:creationId xmlns:a16="http://schemas.microsoft.com/office/drawing/2014/main" id="{6FF33164-DBD4-438E-B503-06E78DFC4372}"/>
              </a:ext>
            </a:extLst>
          </p:cNvPr>
          <p:cNvSpPr>
            <a:spLocks xmlns:a="http://schemas.openxmlformats.org/drawingml/2006/main" noGrp="1"/>
          </p:cNvSpPr>
          <p:nvPr/>
        </p:nvSpPr>
        <p:spPr>
          <a:xfrm xmlns:a="http://schemas.openxmlformats.org/drawingml/2006/main">
            <a:off x="62865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Diagnose and fix without the agent</a:t>
            </a:r>
          </a:p>
        </p:txBody>
      </p:sp>
      <p:sp>
        <p:nvSpPr>
          <p:cNvPr id="29" name="">
            <a:extLst xmlns:a="http://schemas.openxmlformats.org/drawingml/2006/main">
              <a:ext uri="{FF2B5EF4-FFF2-40B4-BE49-F238E27FC236}">
                <a16:creationId xmlns:a16="http://schemas.microsoft.com/office/drawing/2014/main" id="{754229C7-F408-47FE-BC3A-7B89F5805CEA}"/>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0" name="">
            <a:extLst xmlns:a="http://schemas.openxmlformats.org/drawingml/2006/main">
              <a:ext uri="{FF2B5EF4-FFF2-40B4-BE49-F238E27FC236}">
                <a16:creationId xmlns:a16="http://schemas.microsoft.com/office/drawing/2014/main" id="{3CE0FA7F-1F1D-409B-9C08-29903271B469}"/>
              </a:ext>
            </a:extLst>
          </p:cNvPr>
          <p:cNvSpPr>
            <a:spLocks xmlns:a="http://schemas.openxmlformats.org/drawingml/2006/main" noGrp="1"/>
          </p:cNvSpPr>
          <p:nvPr/>
        </p:nvSpPr>
        <p:spPr>
          <a:xfrm xmlns:a="http://schemas.openxmlformats.org/drawingml/2006/main">
            <a:off x="609600" y="58578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The new equilibrium must preserve understanding and recovery.</a:t>
            </a:r>
          </a:p>
        </p:txBody>
      </p:sp>
      <p:sp>
        <p:nvSpPr>
          <p:cNvPr id="31" name="">
            <a:extLst xmlns:a="http://schemas.openxmlformats.org/drawingml/2006/main">
              <a:ext uri="{FF2B5EF4-FFF2-40B4-BE49-F238E27FC236}">
                <a16:creationId xmlns:a16="http://schemas.microsoft.com/office/drawing/2014/main" id="{9869D33C-B8AE-4958-BA24-E78CD0E002B3}"/>
              </a:ext>
            </a:extLst>
          </p:cNvPr>
          <p:cNvSpPr>
            <a:spLocks xmlns:a="http://schemas.openxmlformats.org/drawingml/2006/main" noGrp="1"/>
          </p:cNvSpPr>
          <p:nvPr/>
        </p:nvSpPr>
        <p:spPr>
          <a:xfrm xmlns:a="http://schemas.openxmlformats.org/drawingml/2006/main">
            <a:off x="609600" y="63246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28C7F7"/>
                </a:solidFill>
                <a:latin typeface="DejaVu Sans"/>
                <a:ea typeface="DejaVu Sans"/>
                <a:cs typeface="DejaVu Sans"/>
              </a:defRPr>
            </a:pPr>
            <a:r>
              <a:rPr sz="1725" b="0">
                <a:solidFill>
                  <a:srgbClr val="28C7F7"/>
                </a:solidFill>
                <a:latin typeface="DejaVu Sans"/>
                <a:ea typeface="DejaVu Sans"/>
                <a:cs typeface="DejaVu Sans"/>
              </a:rPr>
              <a:t>Measure delivery and recovery. Next: AI inside the product.</a:t>
            </a:r>
          </a:p>
        </p:txBody>
      </p:sp>
    </p:spTree>
    <p:extLst>
      <p:ext uri="{BB962C8B-B14F-4D97-AF65-F5344CB8AC3E}">
        <p14:creationId xmlns:p14="http://schemas.microsoft.com/office/powerpoint/2010/main" val="325607186"/>
      </p:ext>
    </p:extLst>
  </p:cSld>
</p:sld>
</file>

<file path=ppt/slides/slide8.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AE9B6A7-A90F-4EB6-8778-DB1D7E155BD3}"/>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When Software Starts Thinking</a:t>
            </a:r>
          </a:p>
        </p:txBody>
      </p:sp>
      <p:sp>
        <p:nvSpPr>
          <p:cNvPr id="2" name="">
            <a:extLst xmlns:a="http://schemas.openxmlformats.org/drawingml/2006/main">
              <a:ext uri="{FF2B5EF4-FFF2-40B4-BE49-F238E27FC236}">
                <a16:creationId xmlns:a16="http://schemas.microsoft.com/office/drawing/2014/main" id="{EC11FADB-C515-40EC-B3B7-494ED163CC22}"/>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526A9B82-B63E-4BEE-95BF-141FBB4738AA}"/>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08</a:t>
            </a:r>
          </a:p>
        </p:txBody>
      </p:sp>
      <p:sp>
        <p:nvSpPr>
          <p:cNvPr id="4" name="">
            <a:extLst xmlns:a="http://schemas.openxmlformats.org/drawingml/2006/main">
              <a:ext uri="{FF2B5EF4-FFF2-40B4-BE49-F238E27FC236}">
                <a16:creationId xmlns:a16="http://schemas.microsoft.com/office/drawing/2014/main" id="{675D2CFE-C711-4569-A87F-6038CD025B7D}"/>
              </a:ext>
            </a:extLst>
          </p:cNvPr>
          <p:cNvSpPr>
            <a:spLocks xmlns:a="http://schemas.openxmlformats.org/drawingml/2006/main" noGrp="1"/>
          </p:cNvSpPr>
          <p:nvPr/>
        </p:nvSpPr>
        <p:spPr>
          <a:xfrm xmlns:a="http://schemas.openxmlformats.org/drawingml/2006/main">
            <a:off x="609600" y="1924050"/>
            <a:ext cx="10648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8C7F7"/>
                </a:solidFill>
                <a:latin typeface="DejaVu Sans"/>
                <a:ea typeface="DejaVu Sans"/>
                <a:cs typeface="DejaVu Sans"/>
              </a:defRPr>
            </a:pPr>
            <a:r>
              <a:rPr sz="1725" b="1">
                <a:solidFill>
                  <a:srgbClr val="28C7F7"/>
                </a:solidFill>
                <a:latin typeface="DejaVu Sans"/>
                <a:ea typeface="DejaVu Sans"/>
                <a:cs typeface="DejaVu Sans"/>
              </a:rPr>
              <a:t>THINKING SYSTEMS</a:t>
            </a:r>
          </a:p>
        </p:txBody>
      </p:sp>
      <p:sp>
        <p:nvSpPr>
          <p:cNvPr id="5" name="">
            <a:extLst xmlns:a="http://schemas.openxmlformats.org/drawingml/2006/main">
              <a:ext uri="{FF2B5EF4-FFF2-40B4-BE49-F238E27FC236}">
                <a16:creationId xmlns:a16="http://schemas.microsoft.com/office/drawing/2014/main" id="{599889B8-0690-4AE5-B7B2-468E8E3B5AB9}"/>
              </a:ext>
            </a:extLst>
          </p:cNvPr>
          <p:cNvSpPr>
            <a:spLocks xmlns:a="http://schemas.openxmlformats.org/drawingml/2006/main" noGrp="1"/>
          </p:cNvSpPr>
          <p:nvPr/>
        </p:nvSpPr>
        <p:spPr>
          <a:xfrm xmlns:a="http://schemas.openxmlformats.org/drawingml/2006/main">
            <a:off x="609600" y="2390775"/>
            <a:ext cx="105156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00" b="1">
                <a:solidFill>
                  <a:srgbClr val="F4F7FA"/>
                </a:solidFill>
                <a:latin typeface="DejaVu Sans"/>
                <a:ea typeface="DejaVu Sans"/>
                <a:cs typeface="DejaVu Sans"/>
              </a:defRPr>
            </a:pPr>
            <a:r>
              <a:rPr sz="2400" b="1">
                <a:solidFill>
                  <a:srgbClr val="F4F7FA"/>
                </a:solidFill>
                <a:latin typeface="DejaVu Sans"/>
                <a:ea typeface="DejaVu Sans"/>
                <a:cs typeface="DejaVu Sans"/>
              </a:rPr>
              <a:t>A system where consequential runtime responsibility partly depends on probabilistic Model Judgment.</a:t>
            </a:r>
          </a:p>
        </p:txBody>
      </p:sp>
      <p:sp>
        <p:nvSpPr>
          <p:cNvPr id="6" name="">
            <a:extLst xmlns:a="http://schemas.openxmlformats.org/drawingml/2006/main">
              <a:ext uri="{FF2B5EF4-FFF2-40B4-BE49-F238E27FC236}">
                <a16:creationId xmlns:a16="http://schemas.microsoft.com/office/drawing/2014/main" id="{ABAC7CE7-8FC1-4EFA-A2E9-62D5C2C034CB}"/>
              </a:ext>
            </a:extLst>
          </p:cNvPr>
          <p:cNvSpPr>
            <a:spLocks xmlns:a="http://schemas.openxmlformats.org/drawingml/2006/main" noGrp="1"/>
          </p:cNvSpPr>
          <p:nvPr/>
        </p:nvSpPr>
        <p:spPr>
          <a:xfrm xmlns:a="http://schemas.openxmlformats.org/drawingml/2006/main">
            <a:off x="609600" y="369570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ADB8C5"/>
                </a:solidFill>
                <a:latin typeface="DejaVu Sans"/>
                <a:ea typeface="DejaVu Sans"/>
                <a:cs typeface="DejaVu Sans"/>
              </a:defRPr>
            </a:pPr>
            <a:r>
              <a:rPr sz="1800" b="0">
                <a:solidFill>
                  <a:srgbClr val="ADB8C5"/>
                </a:solidFill>
                <a:latin typeface="DejaVu Sans"/>
                <a:ea typeface="DejaVu Sans"/>
                <a:cs typeface="DejaVu Sans"/>
              </a:rPr>
              <a:t>Software 1.0</a:t>
            </a:r>
          </a:p>
        </p:txBody>
      </p:sp>
      <p:sp>
        <p:nvSpPr>
          <p:cNvPr id="7" name="">
            <a:extLst xmlns:a="http://schemas.openxmlformats.org/drawingml/2006/main">
              <a:ext uri="{FF2B5EF4-FFF2-40B4-BE49-F238E27FC236}">
                <a16:creationId xmlns:a16="http://schemas.microsoft.com/office/drawing/2014/main" id="{D4CE2CE5-8CD3-4A06-886B-1B062D47A0AD}"/>
              </a:ext>
            </a:extLst>
          </p:cNvPr>
          <p:cNvSpPr>
            <a:spLocks xmlns:a="http://schemas.openxmlformats.org/drawingml/2006/main" noGrp="1"/>
          </p:cNvSpPr>
          <p:nvPr/>
        </p:nvSpPr>
        <p:spPr>
          <a:xfrm xmlns:a="http://schemas.openxmlformats.org/drawingml/2006/main">
            <a:off x="609600" y="4257675"/>
            <a:ext cx="5143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4425" b="1">
                <a:solidFill>
                  <a:srgbClr val="28C7F7"/>
                </a:solidFill>
                <a:latin typeface="DejaVu Sans"/>
                <a:ea typeface="DejaVu Sans"/>
                <a:cs typeface="DejaVu Sans"/>
              </a:defRPr>
            </a:pPr>
            <a:r>
              <a:rPr sz="4425" b="1">
                <a:solidFill>
                  <a:srgbClr val="28C7F7"/>
                </a:solidFill>
                <a:latin typeface="DejaVu Sans"/>
                <a:ea typeface="DejaVu Sans"/>
                <a:cs typeface="DejaVu Sans"/>
              </a:rPr>
              <a:t>y = f(x)</a:t>
            </a:r>
          </a:p>
        </p:txBody>
      </p:sp>
      <p:sp>
        <p:nvSpPr>
          <p:cNvPr id="8" name="">
            <a:extLst xmlns:a="http://schemas.openxmlformats.org/drawingml/2006/main">
              <a:ext uri="{FF2B5EF4-FFF2-40B4-BE49-F238E27FC236}">
                <a16:creationId xmlns:a16="http://schemas.microsoft.com/office/drawing/2014/main" id="{3AD9B918-B2F0-47F5-82FA-9FE7542136BF}"/>
              </a:ext>
            </a:extLst>
          </p:cNvPr>
          <p:cNvSpPr>
            <a:spLocks xmlns:a="http://schemas.openxmlformats.org/drawingml/2006/main" noGrp="1"/>
          </p:cNvSpPr>
          <p:nvPr/>
        </p:nvSpPr>
        <p:spPr>
          <a:xfrm xmlns:a="http://schemas.openxmlformats.org/drawingml/2006/main">
            <a:off x="6324600" y="369570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ADB8C5"/>
                </a:solidFill>
                <a:latin typeface="DejaVu Sans"/>
                <a:ea typeface="DejaVu Sans"/>
                <a:cs typeface="DejaVu Sans"/>
              </a:defRPr>
            </a:pPr>
            <a:r>
              <a:rPr sz="1800" b="0">
                <a:solidFill>
                  <a:srgbClr val="ADB8C5"/>
                </a:solidFill>
                <a:latin typeface="DejaVu Sans"/>
                <a:ea typeface="DejaVu Sans"/>
                <a:cs typeface="DejaVu Sans"/>
              </a:rPr>
              <a:t>Software with Model Judgment</a:t>
            </a:r>
          </a:p>
        </p:txBody>
      </p:sp>
      <p:sp>
        <p:nvSpPr>
          <p:cNvPr id="9" name="">
            <a:extLst xmlns:a="http://schemas.openxmlformats.org/drawingml/2006/main">
              <a:ext uri="{FF2B5EF4-FFF2-40B4-BE49-F238E27FC236}">
                <a16:creationId xmlns:a16="http://schemas.microsoft.com/office/drawing/2014/main" id="{560BAF99-8D0C-4F8A-B293-BBA4940E800D}"/>
              </a:ext>
            </a:extLst>
          </p:cNvPr>
          <p:cNvSpPr>
            <a:spLocks xmlns:a="http://schemas.openxmlformats.org/drawingml/2006/main" noGrp="1"/>
          </p:cNvSpPr>
          <p:nvPr/>
        </p:nvSpPr>
        <p:spPr>
          <a:xfrm xmlns:a="http://schemas.openxmlformats.org/drawingml/2006/main">
            <a:off x="6324600" y="4257675"/>
            <a:ext cx="5143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4425" b="1">
                <a:solidFill>
                  <a:srgbClr val="F5B61C"/>
                </a:solidFill>
                <a:latin typeface="DejaVu Sans"/>
                <a:ea typeface="DejaVu Sans"/>
                <a:cs typeface="DejaVu Sans"/>
              </a:defRPr>
            </a:pPr>
            <a:r>
              <a:rPr sz="4425" b="1">
                <a:solidFill>
                  <a:srgbClr val="F5B61C"/>
                </a:solidFill>
                <a:latin typeface="DejaVu Sans"/>
                <a:ea typeface="DejaVu Sans"/>
                <a:cs typeface="DejaVu Sans"/>
              </a:rPr>
              <a:t>y ~ P(y | x)</a:t>
            </a:r>
          </a:p>
        </p:txBody>
      </p:sp>
      <p:sp>
        <p:nvSpPr>
          <p:cNvPr id="10" name="">
            <a:extLst xmlns:a="http://schemas.openxmlformats.org/drawingml/2006/main">
              <a:ext uri="{FF2B5EF4-FFF2-40B4-BE49-F238E27FC236}">
                <a16:creationId xmlns:a16="http://schemas.microsoft.com/office/drawing/2014/main" id="{3F438168-3A45-4E2F-8972-615039320EDD}"/>
              </a:ext>
            </a:extLst>
          </p:cNvPr>
          <p:cNvSpPr>
            <a:spLocks xmlns:a="http://schemas.openxmlformats.org/drawingml/2006/main" noGrp="1"/>
          </p:cNvSpPr>
          <p:nvPr/>
        </p:nvSpPr>
        <p:spPr>
          <a:xfrm xmlns:a="http://schemas.openxmlformats.org/drawingml/2006/main">
            <a:off x="609600" y="5276850"/>
            <a:ext cx="10648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Distribution also depends on context, model and configuration.</a:t>
            </a:r>
          </a:p>
        </p:txBody>
      </p:sp>
      <p:sp>
        <p:nvSpPr>
          <p:cNvPr id="11" name="">
            <a:extLst xmlns:a="http://schemas.openxmlformats.org/drawingml/2006/main">
              <a:ext uri="{FF2B5EF4-FFF2-40B4-BE49-F238E27FC236}">
                <a16:creationId xmlns:a16="http://schemas.microsoft.com/office/drawing/2014/main" id="{953A5C78-1E26-4460-8B1E-68D1BB5D39D2}"/>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2" name="">
            <a:extLst xmlns:a="http://schemas.openxmlformats.org/drawingml/2006/main">
              <a:ext uri="{FF2B5EF4-FFF2-40B4-BE49-F238E27FC236}">
                <a16:creationId xmlns:a16="http://schemas.microsoft.com/office/drawing/2014/main" id="{E1515BF2-D057-474E-AEA0-EAEA85AD2C7B}"/>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Engineer the useful region of behavior.</a:t>
            </a:r>
          </a:p>
        </p:txBody>
      </p:sp>
    </p:spTree>
    <p:extLst>
      <p:ext uri="{BB962C8B-B14F-4D97-AF65-F5344CB8AC3E}">
        <p14:creationId xmlns:p14="http://schemas.microsoft.com/office/powerpoint/2010/main" val="377141941"/>
      </p:ext>
    </p:extLst>
  </p:cSld>
</p:sld>
</file>

<file path=ppt/slides/slide9.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F950A4C-7639-4709-BD4A-827D4997A321}"/>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Requirements Become Boundaries</a:t>
            </a:r>
          </a:p>
        </p:txBody>
      </p:sp>
      <p:sp>
        <p:nvSpPr>
          <p:cNvPr id="2" name="">
            <a:extLst xmlns:a="http://schemas.openxmlformats.org/drawingml/2006/main">
              <a:ext uri="{FF2B5EF4-FFF2-40B4-BE49-F238E27FC236}">
                <a16:creationId xmlns:a16="http://schemas.microsoft.com/office/drawing/2014/main" id="{3B5D382E-3C3B-4294-8513-3318BF94DB28}"/>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AD1DDAEC-721B-403D-8D9B-FAC1617E7459}"/>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09</a:t>
            </a:r>
          </a:p>
        </p:txBody>
      </p:sp>
      <p:sp>
        <p:nvSpPr>
          <p:cNvPr id="4" name="">
            <a:extLst xmlns:a="http://schemas.openxmlformats.org/drawingml/2006/main">
              <a:ext uri="{FF2B5EF4-FFF2-40B4-BE49-F238E27FC236}">
                <a16:creationId xmlns:a16="http://schemas.microsoft.com/office/drawing/2014/main" id="{7FCDD981-044A-48AB-B6FC-ED0BE1C441C8}"/>
              </a:ext>
            </a:extLst>
          </p:cNvPr>
          <p:cNvSpPr>
            <a:spLocks xmlns:a="http://schemas.openxmlformats.org/drawingml/2006/main" noGrp="1"/>
          </p:cNvSpPr>
          <p:nvPr/>
        </p:nvSpPr>
        <p:spPr>
          <a:xfrm xmlns:a="http://schemas.openxmlformats.org/drawingml/2006/main">
            <a:off x="609600" y="1990725"/>
            <a:ext cx="314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ADB8C5"/>
                </a:solidFill>
                <a:latin typeface="DejaVu Sans"/>
                <a:ea typeface="DejaVu Sans"/>
                <a:cs typeface="DejaVu Sans"/>
              </a:defRPr>
            </a:pPr>
            <a:r>
              <a:rPr sz="1725" b="1">
                <a:solidFill>
                  <a:srgbClr val="ADB8C5"/>
                </a:solidFill>
                <a:latin typeface="DejaVu Sans"/>
                <a:ea typeface="DejaVu Sans"/>
                <a:cs typeface="DejaVu Sans"/>
              </a:rPr>
              <a:t>OLD</a:t>
            </a:r>
          </a:p>
        </p:txBody>
      </p:sp>
      <p:sp>
        <p:nvSpPr>
          <p:cNvPr id="5" name="">
            <a:extLst xmlns:a="http://schemas.openxmlformats.org/drawingml/2006/main">
              <a:ext uri="{FF2B5EF4-FFF2-40B4-BE49-F238E27FC236}">
                <a16:creationId xmlns:a16="http://schemas.microsoft.com/office/drawing/2014/main" id="{6C96F0E4-5E4C-4793-81F9-A5E1B7D92278}"/>
              </a:ext>
            </a:extLst>
          </p:cNvPr>
          <p:cNvSpPr>
            <a:spLocks xmlns:a="http://schemas.openxmlformats.org/drawingml/2006/main" noGrp="1"/>
          </p:cNvSpPr>
          <p:nvPr/>
        </p:nvSpPr>
        <p:spPr>
          <a:xfrm xmlns:a="http://schemas.openxmlformats.org/drawingml/2006/main">
            <a:off x="609600" y="2724150"/>
            <a:ext cx="3143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Button A</a:t>
            </a:r>
          </a:p>
          <a:p xmlns:a="http://schemas.openxmlformats.org/drawingml/2006/main">
            <a:pPr algn="l">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 Window B</a:t>
            </a:r>
          </a:p>
        </p:txBody>
      </p:sp>
      <p:sp>
        <p:nvSpPr>
          <p:cNvPr id="6" name="">
            <a:extLst xmlns:a="http://schemas.openxmlformats.org/drawingml/2006/main">
              <a:ext uri="{FF2B5EF4-FFF2-40B4-BE49-F238E27FC236}">
                <a16:creationId xmlns:a16="http://schemas.microsoft.com/office/drawing/2014/main" id="{A13D70CE-7FEC-4163-8799-2B51009C4020}"/>
              </a:ext>
            </a:extLst>
          </p:cNvPr>
          <p:cNvSpPr>
            <a:spLocks xmlns:a="http://schemas.openxmlformats.org/drawingml/2006/main" noGrp="1"/>
          </p:cNvSpPr>
          <p:nvPr/>
        </p:nvSpPr>
        <p:spPr>
          <a:xfrm xmlns:a="http://schemas.openxmlformats.org/drawingml/2006/main">
            <a:off x="4152900" y="1990725"/>
            <a:ext cx="685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8C7F7"/>
                </a:solidFill>
                <a:latin typeface="DejaVu Sans"/>
                <a:ea typeface="DejaVu Sans"/>
                <a:cs typeface="DejaVu Sans"/>
              </a:defRPr>
            </a:pPr>
            <a:r>
              <a:rPr sz="1725" b="1">
                <a:solidFill>
                  <a:srgbClr val="28C7F7"/>
                </a:solidFill>
                <a:latin typeface="DejaVu Sans"/>
                <a:ea typeface="DejaVu Sans"/>
                <a:cs typeface="DejaVu Sans"/>
              </a:rPr>
              <a:t>NEW</a:t>
            </a:r>
          </a:p>
        </p:txBody>
      </p:sp>
      <p:sp>
        <p:nvSpPr>
          <p:cNvPr id="7" name="">
            <a:extLst xmlns:a="http://schemas.openxmlformats.org/drawingml/2006/main">
              <a:ext uri="{FF2B5EF4-FFF2-40B4-BE49-F238E27FC236}">
                <a16:creationId xmlns:a16="http://schemas.microsoft.com/office/drawing/2014/main" id="{A94E690B-1BEB-4F17-8E5D-8C669E07D654}"/>
              </a:ext>
            </a:extLst>
          </p:cNvPr>
          <p:cNvSpPr>
            <a:spLocks xmlns:a="http://schemas.openxmlformats.org/drawingml/2006/main" noGrp="1"/>
          </p:cNvSpPr>
          <p:nvPr/>
        </p:nvSpPr>
        <p:spPr>
          <a:xfrm xmlns:a="http://schemas.openxmlformats.org/drawingml/2006/main">
            <a:off x="4152900" y="2524125"/>
            <a:ext cx="5238750" cy="2828925"/>
          </a:xfrm>
          <a:prstGeom xmlns:a="http://schemas.openxmlformats.org/drawingml/2006/main" prst="rect">
            <a:avLst/>
          </a:prstGeom>
          <a:solidFill xmlns:a="http://schemas.openxmlformats.org/drawingml/2006/main">
            <a:srgbClr val="0B0F14"/>
          </a:solidFill>
          <a:ln xmlns:a="http://schemas.openxmlformats.org/drawingml/2006/main" w="19050">
            <a:solidFill>
              <a:srgbClr val="F5B61C"/>
            </a:solidFill>
            <a:prstDash val="solid"/>
          </a:ln>
        </p:spPr>
      </p:sp>
      <p:sp>
        <p:nvSpPr>
          <p:cNvPr id="8" name="">
            <a:extLst xmlns:a="http://schemas.openxmlformats.org/drawingml/2006/main">
              <a:ext uri="{FF2B5EF4-FFF2-40B4-BE49-F238E27FC236}">
                <a16:creationId xmlns:a16="http://schemas.microsoft.com/office/drawing/2014/main" id="{B0E922DA-8288-408B-B6CD-E1B1EB36E4A7}"/>
              </a:ext>
            </a:extLst>
          </p:cNvPr>
          <p:cNvSpPr>
            <a:spLocks xmlns:a="http://schemas.openxmlformats.org/drawingml/2006/main" noGrp="1"/>
          </p:cNvSpPr>
          <p:nvPr/>
        </p:nvSpPr>
        <p:spPr>
          <a:xfrm xmlns:a="http://schemas.openxmlformats.org/drawingml/2006/main">
            <a:off x="4362450" y="2705100"/>
            <a:ext cx="4857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F5B61C"/>
                </a:solidFill>
                <a:latin typeface="DejaVu Sans"/>
                <a:ea typeface="DejaVu Sans"/>
                <a:cs typeface="DejaVu Sans"/>
              </a:defRPr>
            </a:pPr>
            <a:r>
              <a:rPr sz="1875" b="0">
                <a:solidFill>
                  <a:srgbClr val="F5B61C"/>
                </a:solidFill>
                <a:latin typeface="DejaVu Sans"/>
                <a:ea typeface="DejaVu Sans"/>
                <a:cs typeface="DejaVu Sans"/>
              </a:rPr>
              <a:t>Clarify / escalate</a:t>
            </a:r>
          </a:p>
        </p:txBody>
      </p:sp>
      <p:sp>
        <p:nvSpPr>
          <p:cNvPr id="9" name="">
            <a:extLst xmlns:a="http://schemas.openxmlformats.org/drawingml/2006/main">
              <a:ext uri="{FF2B5EF4-FFF2-40B4-BE49-F238E27FC236}">
                <a16:creationId xmlns:a16="http://schemas.microsoft.com/office/drawing/2014/main" id="{C0826683-5AC5-46C8-B37F-5B2D0894C500}"/>
              </a:ext>
            </a:extLst>
          </p:cNvPr>
          <p:cNvSpPr>
            <a:spLocks xmlns:a="http://schemas.openxmlformats.org/drawingml/2006/main" noGrp="1"/>
          </p:cNvSpPr>
          <p:nvPr/>
        </p:nvSpPr>
        <p:spPr>
          <a:xfrm xmlns:a="http://schemas.openxmlformats.org/drawingml/2006/main">
            <a:off x="4362450" y="3267075"/>
            <a:ext cx="4819650" cy="1866900"/>
          </a:xfrm>
          <a:prstGeom xmlns:a="http://schemas.openxmlformats.org/drawingml/2006/main" prst="rect">
            <a:avLst/>
          </a:prstGeom>
          <a:solidFill xmlns:a="http://schemas.openxmlformats.org/drawingml/2006/main">
            <a:srgbClr val="141C26"/>
          </a:solidFill>
          <a:ln xmlns:a="http://schemas.openxmlformats.org/drawingml/2006/main" w="19050">
            <a:solidFill>
              <a:srgbClr val="28C7F7"/>
            </a:solidFill>
            <a:prstDash val="solid"/>
          </a:ln>
        </p:spPr>
      </p:sp>
      <p:sp>
        <p:nvSpPr>
          <p:cNvPr id="10" name="">
            <a:extLst xmlns:a="http://schemas.openxmlformats.org/drawingml/2006/main">
              <a:ext uri="{FF2B5EF4-FFF2-40B4-BE49-F238E27FC236}">
                <a16:creationId xmlns:a16="http://schemas.microsoft.com/office/drawing/2014/main" id="{27141085-DD8A-4ECB-AB57-C6E742F00050}"/>
              </a:ext>
            </a:extLst>
          </p:cNvPr>
          <p:cNvSpPr>
            <a:spLocks xmlns:a="http://schemas.openxmlformats.org/drawingml/2006/main" noGrp="1"/>
          </p:cNvSpPr>
          <p:nvPr/>
        </p:nvSpPr>
        <p:spPr>
          <a:xfrm xmlns:a="http://schemas.openxmlformats.org/drawingml/2006/main">
            <a:off x="4552950" y="3390900"/>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DejaVu Sans"/>
                <a:ea typeface="DejaVu Sans"/>
                <a:cs typeface="DejaVu Sans"/>
              </a:defRPr>
            </a:pPr>
            <a:r>
              <a:rPr sz="1500" b="1">
                <a:solidFill>
                  <a:srgbClr val="28C7F7"/>
                </a:solidFill>
                <a:latin typeface="DejaVu Sans"/>
                <a:ea typeface="DejaVu Sans"/>
                <a:cs typeface="DejaVu Sans"/>
              </a:rPr>
              <a:t>APPROVED OPERATING ENVELOPE</a:t>
            </a:r>
          </a:p>
        </p:txBody>
      </p:sp>
      <p:sp>
        <p:nvSpPr>
          <p:cNvPr id="11" name="">
            <a:extLst xmlns:a="http://schemas.openxmlformats.org/drawingml/2006/main">
              <a:ext uri="{FF2B5EF4-FFF2-40B4-BE49-F238E27FC236}">
                <a16:creationId xmlns:a16="http://schemas.microsoft.com/office/drawing/2014/main" id="{3649D383-FD8E-4E5F-8CAA-F3A196C4E597}"/>
              </a:ext>
            </a:extLst>
          </p:cNvPr>
          <p:cNvSpPr>
            <a:spLocks xmlns:a="http://schemas.openxmlformats.org/drawingml/2006/main" noGrp="1"/>
          </p:cNvSpPr>
          <p:nvPr/>
        </p:nvSpPr>
        <p:spPr>
          <a:xfrm xmlns:a="http://schemas.openxmlformats.org/drawingml/2006/main">
            <a:off x="4552950" y="3810000"/>
            <a:ext cx="4438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DejaVu Sans"/>
                <a:ea typeface="DejaVu Sans"/>
                <a:cs typeface="DejaVu Sans"/>
              </a:defRPr>
            </a:pPr>
            <a:r>
              <a:rPr sz="1650" b="0">
                <a:solidFill>
                  <a:srgbClr val="F4F7FA"/>
                </a:solidFill>
                <a:latin typeface="DejaVu Sans"/>
                <a:ea typeface="DejaVu Sans"/>
                <a:cs typeface="DejaVu Sans"/>
              </a:rPr>
              <a:t>Topics &amp; sources</a:t>
            </a:r>
          </a:p>
        </p:txBody>
      </p:sp>
      <p:sp>
        <p:nvSpPr>
          <p:cNvPr id="12" name="">
            <a:extLst xmlns:a="http://schemas.openxmlformats.org/drawingml/2006/main">
              <a:ext uri="{FF2B5EF4-FFF2-40B4-BE49-F238E27FC236}">
                <a16:creationId xmlns:a16="http://schemas.microsoft.com/office/drawing/2014/main" id="{1B80E947-5C83-4E02-9A79-0DE675D742D1}"/>
              </a:ext>
            </a:extLst>
          </p:cNvPr>
          <p:cNvSpPr>
            <a:spLocks xmlns:a="http://schemas.openxmlformats.org/drawingml/2006/main" noGrp="1"/>
          </p:cNvSpPr>
          <p:nvPr/>
        </p:nvSpPr>
        <p:spPr>
          <a:xfrm xmlns:a="http://schemas.openxmlformats.org/drawingml/2006/main">
            <a:off x="4552950" y="4095750"/>
            <a:ext cx="4438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DejaVu Sans"/>
                <a:ea typeface="DejaVu Sans"/>
                <a:cs typeface="DejaVu Sans"/>
              </a:defRPr>
            </a:pPr>
            <a:r>
              <a:rPr sz="1650" b="0">
                <a:solidFill>
                  <a:srgbClr val="F4F7FA"/>
                </a:solidFill>
                <a:latin typeface="DejaVu Sans"/>
                <a:ea typeface="DejaVu Sans"/>
                <a:cs typeface="DejaVu Sans"/>
              </a:rPr>
              <a:t>Constraints</a:t>
            </a:r>
          </a:p>
        </p:txBody>
      </p:sp>
      <p:sp>
        <p:nvSpPr>
          <p:cNvPr id="13" name="">
            <a:extLst xmlns:a="http://schemas.openxmlformats.org/drawingml/2006/main">
              <a:ext uri="{FF2B5EF4-FFF2-40B4-BE49-F238E27FC236}">
                <a16:creationId xmlns:a16="http://schemas.microsoft.com/office/drawing/2014/main" id="{512222E7-AD88-4FBD-BF35-04EBDB697AB9}"/>
              </a:ext>
            </a:extLst>
          </p:cNvPr>
          <p:cNvSpPr>
            <a:spLocks xmlns:a="http://schemas.openxmlformats.org/drawingml/2006/main" noGrp="1"/>
          </p:cNvSpPr>
          <p:nvPr/>
        </p:nvSpPr>
        <p:spPr>
          <a:xfrm xmlns:a="http://schemas.openxmlformats.org/drawingml/2006/main">
            <a:off x="4552950" y="4381500"/>
            <a:ext cx="4438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DejaVu Sans"/>
                <a:ea typeface="DejaVu Sans"/>
                <a:cs typeface="DejaVu Sans"/>
              </a:defRPr>
            </a:pPr>
            <a:r>
              <a:rPr sz="1650" b="0">
                <a:solidFill>
                  <a:srgbClr val="F4F7FA"/>
                </a:solidFill>
                <a:latin typeface="DejaVu Sans"/>
                <a:ea typeface="DejaVu Sans"/>
                <a:cs typeface="DejaVu Sans"/>
              </a:rPr>
              <a:t>Acceptable semantic movement</a:t>
            </a:r>
          </a:p>
        </p:txBody>
      </p:sp>
      <p:sp>
        <p:nvSpPr>
          <p:cNvPr id="14" name="">
            <a:extLst xmlns:a="http://schemas.openxmlformats.org/drawingml/2006/main">
              <a:ext uri="{FF2B5EF4-FFF2-40B4-BE49-F238E27FC236}">
                <a16:creationId xmlns:a16="http://schemas.microsoft.com/office/drawing/2014/main" id="{DA682149-530A-494A-A454-026C97A40583}"/>
              </a:ext>
            </a:extLst>
          </p:cNvPr>
          <p:cNvSpPr>
            <a:spLocks xmlns:a="http://schemas.openxmlformats.org/drawingml/2006/main" noGrp="1"/>
          </p:cNvSpPr>
          <p:nvPr/>
        </p:nvSpPr>
        <p:spPr>
          <a:xfrm xmlns:a="http://schemas.openxmlformats.org/drawingml/2006/main">
            <a:off x="4552950" y="4667250"/>
            <a:ext cx="4438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DejaVu Sans"/>
                <a:ea typeface="DejaVu Sans"/>
                <a:cs typeface="DejaVu Sans"/>
              </a:defRPr>
            </a:pPr>
            <a:r>
              <a:rPr sz="1650" b="0">
                <a:solidFill>
                  <a:srgbClr val="F4F7FA"/>
                </a:solidFill>
                <a:latin typeface="DejaVu Sans"/>
                <a:ea typeface="DejaVu Sans"/>
                <a:cs typeface="DejaVu Sans"/>
              </a:rPr>
              <a:t>Business risk</a:t>
            </a:r>
          </a:p>
        </p:txBody>
      </p:sp>
      <p:sp>
        <p:nvSpPr>
          <p:cNvPr id="15" name="">
            <a:extLst xmlns:a="http://schemas.openxmlformats.org/drawingml/2006/main">
              <a:ext uri="{FF2B5EF4-FFF2-40B4-BE49-F238E27FC236}">
                <a16:creationId xmlns:a16="http://schemas.microsoft.com/office/drawing/2014/main" id="{2F9BA2C4-F55A-4C35-BB56-B70C7C28717D}"/>
              </a:ext>
            </a:extLst>
          </p:cNvPr>
          <p:cNvSpPr>
            <a:spLocks xmlns:a="http://schemas.openxmlformats.org/drawingml/2006/main" noGrp="1"/>
          </p:cNvSpPr>
          <p:nvPr/>
        </p:nvSpPr>
        <p:spPr>
          <a:xfrm xmlns:a="http://schemas.openxmlformats.org/drawingml/2006/main">
            <a:off x="9620250" y="3362325"/>
            <a:ext cx="1962150" cy="1123950"/>
          </a:xfrm>
          <a:prstGeom xmlns:a="http://schemas.openxmlformats.org/drawingml/2006/main" prst="rect">
            <a:avLst/>
          </a:prstGeom>
          <a:solidFill xmlns:a="http://schemas.openxmlformats.org/drawingml/2006/main">
            <a:srgbClr val="0B0F14"/>
          </a:solidFill>
          <a:ln xmlns:a="http://schemas.openxmlformats.org/drawingml/2006/main" w="19050">
            <a:solidFill>
              <a:srgbClr val="FF6B75"/>
            </a:solidFill>
            <a:prstDash val="solid"/>
          </a:ln>
        </p:spPr>
      </p:sp>
      <p:sp>
        <p:nvSpPr>
          <p:cNvPr id="16" name="">
            <a:extLst xmlns:a="http://schemas.openxmlformats.org/drawingml/2006/main">
              <a:ext uri="{FF2B5EF4-FFF2-40B4-BE49-F238E27FC236}">
                <a16:creationId xmlns:a16="http://schemas.microsoft.com/office/drawing/2014/main" id="{7C5C0FF7-B135-46A9-A815-8DFCA8E18B4E}"/>
              </a:ext>
            </a:extLst>
          </p:cNvPr>
          <p:cNvSpPr>
            <a:spLocks xmlns:a="http://schemas.openxmlformats.org/drawingml/2006/main" noGrp="1"/>
          </p:cNvSpPr>
          <p:nvPr/>
        </p:nvSpPr>
        <p:spPr>
          <a:xfrm xmlns:a="http://schemas.openxmlformats.org/drawingml/2006/main">
            <a:off x="9772650" y="3648075"/>
            <a:ext cx="16573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F6B75"/>
                </a:solidFill>
                <a:latin typeface="DejaVu Sans"/>
                <a:ea typeface="DejaVu Sans"/>
                <a:cs typeface="DejaVu Sans"/>
              </a:defRPr>
            </a:pPr>
            <a:r>
              <a:rPr sz="1575" b="1">
                <a:solidFill>
                  <a:srgbClr val="FF6B75"/>
                </a:solidFill>
                <a:latin typeface="DejaVu Sans"/>
                <a:ea typeface="DejaVu Sans"/>
                <a:cs typeface="DejaVu Sans"/>
              </a:rPr>
              <a:t>FORBIDDEN</a:t>
            </a:r>
          </a:p>
        </p:txBody>
      </p:sp>
      <p:sp>
        <p:nvSpPr>
          <p:cNvPr id="17" name="">
            <a:extLst xmlns:a="http://schemas.openxmlformats.org/drawingml/2006/main">
              <a:ext uri="{FF2B5EF4-FFF2-40B4-BE49-F238E27FC236}">
                <a16:creationId xmlns:a16="http://schemas.microsoft.com/office/drawing/2014/main" id="{754276ED-966F-4BB2-9D48-7F39E7B9594A}"/>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8" name="">
            <a:extLst xmlns:a="http://schemas.openxmlformats.org/drawingml/2006/main">
              <a:ext uri="{FF2B5EF4-FFF2-40B4-BE49-F238E27FC236}">
                <a16:creationId xmlns:a16="http://schemas.microsoft.com/office/drawing/2014/main" id="{AE7835B7-7488-4BFA-89AA-45249531221C}"/>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Requirements define where acceptable behavior may exist.</a:t>
            </a:r>
          </a:p>
        </p:txBody>
      </p:sp>
    </p:spTree>
    <p:extLst>
      <p:ext uri="{BB962C8B-B14F-4D97-AF65-F5344CB8AC3E}">
        <p14:creationId xmlns:p14="http://schemas.microsoft.com/office/powerpoint/2010/main" val="764084816"/>
      </p:ext>
    </p:extLst>
  </p:cSld>
</p:sld>
</file>

<file path=ppt/slides/slide10.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2934BDA3-28E6-4A83-BE30-C1F6C1F2C1F2}"/>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One Green Test Proves Almost Nothing</a:t>
            </a:r>
          </a:p>
        </p:txBody>
      </p:sp>
      <p:sp>
        <p:nvSpPr>
          <p:cNvPr id="2" name="">
            <a:extLst xmlns:a="http://schemas.openxmlformats.org/drawingml/2006/main">
              <a:ext uri="{FF2B5EF4-FFF2-40B4-BE49-F238E27FC236}">
                <a16:creationId xmlns:a16="http://schemas.microsoft.com/office/drawing/2014/main" id="{1ED277C5-BBDB-4710-B077-666F9D94048A}"/>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409119FC-6CD7-4A58-BCA1-AA4867E8E293}"/>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10</a:t>
            </a:r>
          </a:p>
        </p:txBody>
      </p:sp>
      <p:sp>
        <p:nvSpPr>
          <p:cNvPr id="4" name="">
            <a:extLst xmlns:a="http://schemas.openxmlformats.org/drawingml/2006/main">
              <a:ext uri="{FF2B5EF4-FFF2-40B4-BE49-F238E27FC236}">
                <a16:creationId xmlns:a16="http://schemas.microsoft.com/office/drawing/2014/main" id="{E78798CC-5A80-4B1D-8005-9F381BEA1524}"/>
              </a:ext>
            </a:extLst>
          </p:cNvPr>
          <p:cNvSpPr>
            <a:spLocks xmlns:a="http://schemas.openxmlformats.org/drawingml/2006/main" noGrp="1"/>
          </p:cNvSpPr>
          <p:nvPr/>
        </p:nvSpPr>
        <p:spPr>
          <a:xfrm xmlns:a="http://schemas.openxmlformats.org/drawingml/2006/main">
            <a:off x="609600" y="19335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DejaVu Sans"/>
                <a:ea typeface="DejaVu Sans"/>
                <a:cs typeface="DejaVu Sans"/>
              </a:defRPr>
            </a:pPr>
            <a:r>
              <a:rPr sz="2025" b="0">
                <a:solidFill>
                  <a:srgbClr val="ADB8C5"/>
                </a:solidFill>
                <a:latin typeface="DejaVu Sans"/>
                <a:ea typeface="DejaVu Sans"/>
                <a:cs typeface="DejaVu Sans"/>
              </a:rPr>
              <a:t>Input → Expected Output → PASS</a:t>
            </a:r>
          </a:p>
        </p:txBody>
      </p:sp>
      <p:sp>
        <p:nvSpPr>
          <p:cNvPr id="5" name="">
            <a:extLst xmlns:a="http://schemas.openxmlformats.org/drawingml/2006/main">
              <a:ext uri="{FF2B5EF4-FFF2-40B4-BE49-F238E27FC236}">
                <a16:creationId xmlns:a16="http://schemas.microsoft.com/office/drawing/2014/main" id="{459559C5-0C7E-4F2D-A2CD-D306E130F6C1}"/>
              </a:ext>
            </a:extLst>
          </p:cNvPr>
          <p:cNvSpPr>
            <a:spLocks xmlns:a="http://schemas.openxmlformats.org/drawingml/2006/main" noGrp="1"/>
          </p:cNvSpPr>
          <p:nvPr/>
        </p:nvSpPr>
        <p:spPr>
          <a:xfrm xmlns:a="http://schemas.openxmlformats.org/drawingml/2006/main">
            <a:off x="609600" y="2667000"/>
            <a:ext cx="198120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6" name="">
            <a:extLst xmlns:a="http://schemas.openxmlformats.org/drawingml/2006/main">
              <a:ext uri="{FF2B5EF4-FFF2-40B4-BE49-F238E27FC236}">
                <a16:creationId xmlns:a16="http://schemas.microsoft.com/office/drawing/2014/main" id="{E860CE39-ECBD-4BF9-A2F7-2409EBA04F11}"/>
              </a:ext>
            </a:extLst>
          </p:cNvPr>
          <p:cNvSpPr>
            <a:spLocks xmlns:a="http://schemas.openxmlformats.org/drawingml/2006/main" noGrp="1"/>
          </p:cNvSpPr>
          <p:nvPr/>
        </p:nvSpPr>
        <p:spPr>
          <a:xfrm xmlns:a="http://schemas.openxmlformats.org/drawingml/2006/main">
            <a:off x="723900" y="2743200"/>
            <a:ext cx="1752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Golden Set</a:t>
            </a:r>
          </a:p>
        </p:txBody>
      </p:sp>
      <p:sp>
        <p:nvSpPr>
          <p:cNvPr id="7" name="">
            <a:extLst xmlns:a="http://schemas.openxmlformats.org/drawingml/2006/main">
              <a:ext uri="{FF2B5EF4-FFF2-40B4-BE49-F238E27FC236}">
                <a16:creationId xmlns:a16="http://schemas.microsoft.com/office/drawing/2014/main" id="{15FB34AD-0350-494B-B02B-915964C5BEE1}"/>
              </a:ext>
            </a:extLst>
          </p:cNvPr>
          <p:cNvSpPr>
            <a:spLocks xmlns:a="http://schemas.openxmlformats.org/drawingml/2006/main" noGrp="1"/>
          </p:cNvSpPr>
          <p:nvPr/>
        </p:nvSpPr>
        <p:spPr>
          <a:xfrm xmlns:a="http://schemas.openxmlformats.org/drawingml/2006/main">
            <a:off x="2857500" y="2667000"/>
            <a:ext cx="198120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8" name="">
            <a:extLst xmlns:a="http://schemas.openxmlformats.org/drawingml/2006/main">
              <a:ext uri="{FF2B5EF4-FFF2-40B4-BE49-F238E27FC236}">
                <a16:creationId xmlns:a16="http://schemas.microsoft.com/office/drawing/2014/main" id="{8CC2BF37-85B6-40C8-B21A-D6CAB711B7AD}"/>
              </a:ext>
            </a:extLst>
          </p:cNvPr>
          <p:cNvSpPr>
            <a:spLocks xmlns:a="http://schemas.openxmlformats.org/drawingml/2006/main" noGrp="1"/>
          </p:cNvSpPr>
          <p:nvPr/>
        </p:nvSpPr>
        <p:spPr>
          <a:xfrm xmlns:a="http://schemas.openxmlformats.org/drawingml/2006/main">
            <a:off x="2971800" y="2743200"/>
            <a:ext cx="1752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Repeated runs</a:t>
            </a:r>
          </a:p>
        </p:txBody>
      </p:sp>
      <p:sp>
        <p:nvSpPr>
          <p:cNvPr id="9" name="">
            <a:extLst xmlns:a="http://schemas.openxmlformats.org/drawingml/2006/main">
              <a:ext uri="{FF2B5EF4-FFF2-40B4-BE49-F238E27FC236}">
                <a16:creationId xmlns:a16="http://schemas.microsoft.com/office/drawing/2014/main" id="{69DE54E7-FDB3-4CD9-A13E-44C91720AF54}"/>
              </a:ext>
            </a:extLst>
          </p:cNvPr>
          <p:cNvSpPr>
            <a:spLocks xmlns:a="http://schemas.openxmlformats.org/drawingml/2006/main" noGrp="1"/>
          </p:cNvSpPr>
          <p:nvPr/>
        </p:nvSpPr>
        <p:spPr>
          <a:xfrm xmlns:a="http://schemas.openxmlformats.org/drawingml/2006/main">
            <a:off x="5105400" y="2667000"/>
            <a:ext cx="198120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0" name="">
            <a:extLst xmlns:a="http://schemas.openxmlformats.org/drawingml/2006/main">
              <a:ext uri="{FF2B5EF4-FFF2-40B4-BE49-F238E27FC236}">
                <a16:creationId xmlns:a16="http://schemas.microsoft.com/office/drawing/2014/main" id="{5AD5D2B0-8802-4213-99C0-2C8576E1A453}"/>
              </a:ext>
            </a:extLst>
          </p:cNvPr>
          <p:cNvSpPr>
            <a:spLocks xmlns:a="http://schemas.openxmlformats.org/drawingml/2006/main" noGrp="1"/>
          </p:cNvSpPr>
          <p:nvPr/>
        </p:nvSpPr>
        <p:spPr>
          <a:xfrm xmlns:a="http://schemas.openxmlformats.org/drawingml/2006/main">
            <a:off x="5219700" y="2743200"/>
            <a:ext cx="1752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Distribution</a:t>
            </a:r>
          </a:p>
        </p:txBody>
      </p:sp>
      <p:sp>
        <p:nvSpPr>
          <p:cNvPr id="11" name="">
            <a:extLst xmlns:a="http://schemas.openxmlformats.org/drawingml/2006/main">
              <a:ext uri="{FF2B5EF4-FFF2-40B4-BE49-F238E27FC236}">
                <a16:creationId xmlns:a16="http://schemas.microsoft.com/office/drawing/2014/main" id="{32FC07BD-BF9E-4230-8FF2-52FEB41B58D4}"/>
              </a:ext>
            </a:extLst>
          </p:cNvPr>
          <p:cNvSpPr>
            <a:spLocks xmlns:a="http://schemas.openxmlformats.org/drawingml/2006/main" noGrp="1"/>
          </p:cNvSpPr>
          <p:nvPr/>
        </p:nvSpPr>
        <p:spPr>
          <a:xfrm xmlns:a="http://schemas.openxmlformats.org/drawingml/2006/main">
            <a:off x="7353300" y="2667000"/>
            <a:ext cx="198120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2" name="">
            <a:extLst xmlns:a="http://schemas.openxmlformats.org/drawingml/2006/main">
              <a:ext uri="{FF2B5EF4-FFF2-40B4-BE49-F238E27FC236}">
                <a16:creationId xmlns:a16="http://schemas.microsoft.com/office/drawing/2014/main" id="{4A19CBD3-5640-4B9A-9D20-5B9766F2D1F7}"/>
              </a:ext>
            </a:extLst>
          </p:cNvPr>
          <p:cNvSpPr>
            <a:spLocks xmlns:a="http://schemas.openxmlformats.org/drawingml/2006/main" noGrp="1"/>
          </p:cNvSpPr>
          <p:nvPr/>
        </p:nvSpPr>
        <p:spPr>
          <a:xfrm xmlns:a="http://schemas.openxmlformats.org/drawingml/2006/main">
            <a:off x="7467600" y="2743200"/>
            <a:ext cx="1752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Metric gates</a:t>
            </a:r>
          </a:p>
        </p:txBody>
      </p:sp>
      <p:sp>
        <p:nvSpPr>
          <p:cNvPr id="13" name="">
            <a:extLst xmlns:a="http://schemas.openxmlformats.org/drawingml/2006/main">
              <a:ext uri="{FF2B5EF4-FFF2-40B4-BE49-F238E27FC236}">
                <a16:creationId xmlns:a16="http://schemas.microsoft.com/office/drawing/2014/main" id="{296DADCA-68CF-4C1B-8BA2-504FF4302C29}"/>
              </a:ext>
            </a:extLst>
          </p:cNvPr>
          <p:cNvSpPr>
            <a:spLocks xmlns:a="http://schemas.openxmlformats.org/drawingml/2006/main" noGrp="1"/>
          </p:cNvSpPr>
          <p:nvPr/>
        </p:nvSpPr>
        <p:spPr>
          <a:xfrm xmlns:a="http://schemas.openxmlformats.org/drawingml/2006/main">
            <a:off x="9601200" y="2667000"/>
            <a:ext cx="198120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4" name="">
            <a:extLst xmlns:a="http://schemas.openxmlformats.org/drawingml/2006/main">
              <a:ext uri="{FF2B5EF4-FFF2-40B4-BE49-F238E27FC236}">
                <a16:creationId xmlns:a16="http://schemas.microsoft.com/office/drawing/2014/main" id="{AF4244F0-D12F-4D22-8C6C-CF9B19FCC1ED}"/>
              </a:ext>
            </a:extLst>
          </p:cNvPr>
          <p:cNvSpPr>
            <a:spLocks xmlns:a="http://schemas.openxmlformats.org/drawingml/2006/main" noGrp="1"/>
          </p:cNvSpPr>
          <p:nvPr/>
        </p:nvSpPr>
        <p:spPr>
          <a:xfrm xmlns:a="http://schemas.openxmlformats.org/drawingml/2006/main">
            <a:off x="9715500" y="2743200"/>
            <a:ext cx="1752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Release</a:t>
            </a:r>
          </a:p>
        </p:txBody>
      </p:sp>
      <p:cxnSp>
        <p:nvCxnSpPr>
          <p:cNvPr id="39" name=""/>
          <p:cNvCxnSpPr>
            <a:stCxn xmlns:a="http://schemas.openxmlformats.org/drawingml/2006/main" id="5" idx="3"/>
            <a:endCxn xmlns:a="http://schemas.openxmlformats.org/drawingml/2006/main" id="7" idx="1"/>
          </p:cNvCxnSpPr>
          <p:nvPr/>
        </p:nvCxnSpPr>
        <p:spPr>
          <a:xfrm xmlns:a="http://schemas.openxmlformats.org/drawingml/2006/main">
            <a:off x="2590800" y="3076575"/>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0" name=""/>
          <p:cNvCxnSpPr>
            <a:stCxn xmlns:a="http://schemas.openxmlformats.org/drawingml/2006/main" id="7" idx="3"/>
            <a:endCxn xmlns:a="http://schemas.openxmlformats.org/drawingml/2006/main" id="9" idx="1"/>
          </p:cNvCxnSpPr>
          <p:nvPr/>
        </p:nvCxnSpPr>
        <p:spPr>
          <a:xfrm xmlns:a="http://schemas.openxmlformats.org/drawingml/2006/main">
            <a:off x="4838700" y="3076575"/>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1" name=""/>
          <p:cNvCxnSpPr>
            <a:stCxn xmlns:a="http://schemas.openxmlformats.org/drawingml/2006/main" id="9" idx="3"/>
            <a:endCxn xmlns:a="http://schemas.openxmlformats.org/drawingml/2006/main" id="11" idx="1"/>
          </p:cNvCxnSpPr>
          <p:nvPr/>
        </p:nvCxnSpPr>
        <p:spPr>
          <a:xfrm xmlns:a="http://schemas.openxmlformats.org/drawingml/2006/main">
            <a:off x="7086600" y="3076575"/>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2" name=""/>
          <p:cNvCxnSpPr>
            <a:stCxn xmlns:a="http://schemas.openxmlformats.org/drawingml/2006/main" id="11" idx="3"/>
            <a:endCxn xmlns:a="http://schemas.openxmlformats.org/drawingml/2006/main" id="13" idx="1"/>
          </p:cNvCxnSpPr>
          <p:nvPr/>
        </p:nvCxnSpPr>
        <p:spPr>
          <a:xfrm xmlns:a="http://schemas.openxmlformats.org/drawingml/2006/main">
            <a:off x="9334500" y="3076575"/>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9" name="">
            <a:extLst xmlns:a="http://schemas.openxmlformats.org/drawingml/2006/main">
              <a:ext uri="{FF2B5EF4-FFF2-40B4-BE49-F238E27FC236}">
                <a16:creationId xmlns:a16="http://schemas.microsoft.com/office/drawing/2014/main" id="{390D0B4C-660F-406C-990F-CF07E989C785}"/>
              </a:ext>
            </a:extLst>
          </p:cNvPr>
          <p:cNvSpPr>
            <a:spLocks xmlns:a="http://schemas.openxmlformats.org/drawingml/2006/main" noGrp="1"/>
          </p:cNvSpPr>
          <p:nvPr/>
        </p:nvSpPr>
        <p:spPr>
          <a:xfrm xmlns:a="http://schemas.openxmlformats.org/drawingml/2006/main">
            <a:off x="609600" y="4029075"/>
            <a:ext cx="43243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825" b="1">
                <a:solidFill>
                  <a:srgbClr val="28C7F7"/>
                </a:solidFill>
                <a:latin typeface="DejaVu Sans"/>
                <a:ea typeface="DejaVu Sans"/>
                <a:cs typeface="DejaVu Sans"/>
              </a:defRPr>
            </a:pPr>
            <a:r>
              <a:rPr sz="3825" b="1">
                <a:solidFill>
                  <a:srgbClr val="28C7F7"/>
                </a:solidFill>
                <a:latin typeface="DejaVu Sans"/>
                <a:ea typeface="DejaVu Sans"/>
                <a:cs typeface="DejaVu Sans"/>
              </a:rPr>
              <a:t>98% overall</a:t>
            </a:r>
          </a:p>
        </p:txBody>
      </p:sp>
      <p:sp>
        <p:nvSpPr>
          <p:cNvPr id="20" name="">
            <a:extLst xmlns:a="http://schemas.openxmlformats.org/drawingml/2006/main">
              <a:ext uri="{FF2B5EF4-FFF2-40B4-BE49-F238E27FC236}">
                <a16:creationId xmlns:a16="http://schemas.microsoft.com/office/drawing/2014/main" id="{318F8134-9209-459C-96D9-C1D6C34A01E2}"/>
              </a:ext>
            </a:extLst>
          </p:cNvPr>
          <p:cNvSpPr>
            <a:spLocks xmlns:a="http://schemas.openxmlformats.org/drawingml/2006/main" noGrp="1"/>
          </p:cNvSpPr>
          <p:nvPr/>
        </p:nvSpPr>
        <p:spPr>
          <a:xfrm xmlns:a="http://schemas.openxmlformats.org/drawingml/2006/main">
            <a:off x="5353050" y="3981450"/>
            <a:ext cx="609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1">
                <a:solidFill>
                  <a:srgbClr val="F4F7FA"/>
                </a:solidFill>
                <a:latin typeface="DejaVu Sans"/>
                <a:ea typeface="DejaVu Sans"/>
                <a:cs typeface="DejaVu Sans"/>
              </a:defRPr>
            </a:pPr>
            <a:r>
              <a:rPr sz="2175" b="1">
                <a:solidFill>
                  <a:srgbClr val="F4F7FA"/>
                </a:solidFill>
                <a:latin typeface="DejaVu Sans"/>
                <a:ea typeface="DejaVu Sans"/>
                <a:cs typeface="DejaVu Sans"/>
              </a:rPr>
              <a:t>1 critical boundary violation</a:t>
            </a:r>
          </a:p>
        </p:txBody>
      </p:sp>
      <p:sp>
        <p:nvSpPr>
          <p:cNvPr id="21" name="">
            <a:extLst xmlns:a="http://schemas.openxmlformats.org/drawingml/2006/main">
              <a:ext uri="{FF2B5EF4-FFF2-40B4-BE49-F238E27FC236}">
                <a16:creationId xmlns:a16="http://schemas.microsoft.com/office/drawing/2014/main" id="{68960C85-786E-4D68-B862-A930652357FD}"/>
              </a:ext>
            </a:extLst>
          </p:cNvPr>
          <p:cNvSpPr>
            <a:spLocks xmlns:a="http://schemas.openxmlformats.org/drawingml/2006/main" noGrp="1"/>
          </p:cNvSpPr>
          <p:nvPr/>
        </p:nvSpPr>
        <p:spPr>
          <a:xfrm xmlns:a="http://schemas.openxmlformats.org/drawingml/2006/main">
            <a:off x="5353050" y="4572000"/>
            <a:ext cx="6096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00" b="1">
                <a:solidFill>
                  <a:srgbClr val="FF6B75"/>
                </a:solidFill>
                <a:latin typeface="DejaVu Sans"/>
                <a:ea typeface="DejaVu Sans"/>
                <a:cs typeface="DejaVu Sans"/>
              </a:defRPr>
            </a:pPr>
            <a:r>
              <a:rPr sz="2400" b="1">
                <a:solidFill>
                  <a:srgbClr val="FF6B75"/>
                </a:solidFill>
                <a:latin typeface="DejaVu Sans"/>
                <a:ea typeface="DejaVu Sans"/>
                <a:cs typeface="DejaVu Sans"/>
              </a:rPr>
              <a:t>BLOCK RELEASE</a:t>
            </a:r>
          </a:p>
        </p:txBody>
      </p:sp>
      <p:sp>
        <p:nvSpPr>
          <p:cNvPr id="22" name="">
            <a:extLst xmlns:a="http://schemas.openxmlformats.org/drawingml/2006/main">
              <a:ext uri="{FF2B5EF4-FFF2-40B4-BE49-F238E27FC236}">
                <a16:creationId xmlns:a16="http://schemas.microsoft.com/office/drawing/2014/main" id="{3B2948AD-AB22-48A3-B726-0E459B5D0BE6}"/>
              </a:ext>
            </a:extLst>
          </p:cNvPr>
          <p:cNvSpPr>
            <a:spLocks xmlns:a="http://schemas.openxmlformats.org/drawingml/2006/main" noGrp="1"/>
          </p:cNvSpPr>
          <p:nvPr/>
        </p:nvSpPr>
        <p:spPr>
          <a:xfrm xmlns:a="http://schemas.openxmlformats.org/drawingml/2006/main">
            <a:off x="609600" y="52197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Illustrative: 196/200 acceptable evaluations; not a sample-size recommendation.</a:t>
            </a:r>
          </a:p>
        </p:txBody>
      </p:sp>
      <p:sp>
        <p:nvSpPr>
          <p:cNvPr id="23" name="">
            <a:extLst xmlns:a="http://schemas.openxmlformats.org/drawingml/2006/main">
              <a:ext uri="{FF2B5EF4-FFF2-40B4-BE49-F238E27FC236}">
                <a16:creationId xmlns:a16="http://schemas.microsoft.com/office/drawing/2014/main" id="{35084420-1248-4527-A416-6A9D23C7E87B}"/>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4" name="">
            <a:extLst xmlns:a="http://schemas.openxmlformats.org/drawingml/2006/main">
              <a:ext uri="{FF2B5EF4-FFF2-40B4-BE49-F238E27FC236}">
                <a16:creationId xmlns:a16="http://schemas.microsoft.com/office/drawing/2014/main" id="{5D4FD366-0E52-4934-A2CB-50CB57915C51}"/>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Release evidence must match the risk being controlled.</a:t>
            </a:r>
          </a:p>
        </p:txBody>
      </p:sp>
    </p:spTree>
    <p:extLst>
      <p:ext uri="{BB962C8B-B14F-4D97-AF65-F5344CB8AC3E}">
        <p14:creationId xmlns:p14="http://schemas.microsoft.com/office/powerpoint/2010/main" val="264847720"/>
      </p:ext>
    </p:extLst>
  </p:cSld>
</p:sld>
</file>

<file path=ppt/slides/slide1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96FC24C-6EC7-49C6-9D5C-78A65E741E53}"/>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DoR / DoD Become Risk Contracts</a:t>
            </a:r>
          </a:p>
        </p:txBody>
      </p:sp>
      <p:sp>
        <p:nvSpPr>
          <p:cNvPr id="2" name="">
            <a:extLst xmlns:a="http://schemas.openxmlformats.org/drawingml/2006/main">
              <a:ext uri="{FF2B5EF4-FFF2-40B4-BE49-F238E27FC236}">
                <a16:creationId xmlns:a16="http://schemas.microsoft.com/office/drawing/2014/main" id="{341A2C7E-0BEA-4F2D-8EF0-59D9B3E26C31}"/>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4FACA426-4733-4CBF-AA4B-6E86935DE4EE}"/>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11</a:t>
            </a:r>
          </a:p>
        </p:txBody>
      </p:sp>
      <p:graphicFrame>
        <p:nvGraphicFramePr>
          <p:cNvPr id="11" name=""/>
          <p:cNvGraphicFramePr/>
          <p:nvPr/>
        </p:nvGraphicFramePr>
        <p:xfrm>
          <a:off xmlns:a="http://schemas.openxmlformats.org/drawingml/2006/main" x="609600" y="1981200"/>
          <a:ext xmlns:a="http://schemas.openxmlformats.org/drawingml/2006/main" cx="10972800" cy="3105150"/>
        </p:xfrm>
        <a:graphic xmlns:a="http://schemas.openxmlformats.org/drawingml/2006/main">
          <a:graphicData uri="http://schemas.openxmlformats.org/drawingml/2006/table">
            <a:tbl>
              <a:tblPr/>
              <a:tblGrid>
                <a:gridCol w="1581150"/>
                <a:gridCol w="3333750"/>
                <a:gridCol w="6057900"/>
              </a:tblGrid>
              <a:tr h="776288">
                <a:tc>
                  <a:txBody>
                    <a:bodyPr lIns="171450" tIns="114300" rIns="171450" bIns="114300">
                      <a:noAutofit/>
                    </a:bodyPr>
                    <a:lstStyle/>
                    <a:p>
                      <a:r>
                        <a:rPr sz="1725" b="1">
                          <a:solidFill>
                            <a:srgbClr val="F4F7FA"/>
                          </a:solidFill>
                          <a:latin typeface="DejaVu Sans"/>
                          <a:ea typeface="DejaVu Sans"/>
                          <a:cs typeface="DejaVu Sans"/>
                        </a:rPr>
                        <a:t/>
                      </a:r>
                    </a:p>
                  </a:txBody>
                  <a:tcPr marL="91440" marR="91440" marT="45720" marB="45720" anchor="ctr">
                    <a:solidFill>
                      <a:srgbClr val="1A2734"/>
                    </a:solidFill>
                  </a:tcPr>
                </a:tc>
                <a:tc>
                  <a:txBody>
                    <a:bodyPr lIns="171450" tIns="114300" rIns="171450" bIns="114300">
                      <a:noAutofit/>
                    </a:bodyPr>
                    <a:lstStyle/>
                    <a:p>
                      <a:r>
                        <a:rPr sz="1725" b="1">
                          <a:solidFill>
                            <a:srgbClr val="F4F7FA"/>
                          </a:solidFill>
                          <a:latin typeface="DejaVu Sans"/>
                          <a:ea typeface="DejaVu Sans"/>
                          <a:cs typeface="DejaVu Sans"/>
                        </a:rPr>
                        <a:t>Traditional shorthand</a:t>
                      </a:r>
                    </a:p>
                  </a:txBody>
                  <a:tcPr marL="91440" marR="91440" marT="45720" marB="45720" anchor="ctr">
                    <a:solidFill>
                      <a:srgbClr val="1A2734"/>
                    </a:solidFill>
                  </a:tcPr>
                </a:tc>
                <a:tc>
                  <a:txBody>
                    <a:bodyPr lIns="171450" tIns="114300" rIns="171450" bIns="114300">
                      <a:noAutofit/>
                    </a:bodyPr>
                    <a:lstStyle/>
                    <a:p>
                      <a:r>
                        <a:rPr sz="1725" b="1">
                          <a:solidFill>
                            <a:srgbClr val="28C7F7"/>
                          </a:solidFill>
                          <a:latin typeface="DejaVu Sans"/>
                          <a:ea typeface="DejaVu Sans"/>
                          <a:cs typeface="DejaVu Sans"/>
                        </a:rPr>
                        <a:t>Thinking System</a:t>
                      </a:r>
                    </a:p>
                  </a:txBody>
                  <a:tcPr marL="91440" marR="91440" marT="45720" marB="45720" anchor="ctr">
                    <a:solidFill>
                      <a:srgbClr val="1A2734"/>
                    </a:solidFill>
                  </a:tcPr>
                </a:tc>
              </a:tr>
              <a:tr h="776288">
                <a:tc>
                  <a:txBody>
                    <a:bodyPr lIns="171450" tIns="114300" rIns="171450" bIns="114300">
                      <a:noAutofit/>
                    </a:bodyPr>
                    <a:lstStyle/>
                    <a:p>
                      <a:r>
                        <a:rPr sz="1875" b="1">
                          <a:solidFill>
                            <a:srgbClr val="F4F7FA"/>
                          </a:solidFill>
                          <a:latin typeface="DejaVu Sans"/>
                          <a:ea typeface="DejaVu Sans"/>
                          <a:cs typeface="DejaVu Sans"/>
                        </a:rPr>
                        <a:t>READY</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Specification known</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Tolerance / risk envelope known</a:t>
                      </a:r>
                    </a:p>
                  </a:txBody>
                  <a:tcPr marL="91440" marR="91440" marT="45720" marB="45720" anchor="ctr">
                    <a:solidFill>
                      <a:srgbClr val="0B0F14"/>
                    </a:solidFill>
                  </a:tcPr>
                </a:tc>
              </a:tr>
              <a:tr h="776288">
                <a:tc>
                  <a:txBody>
                    <a:bodyPr lIns="171450" tIns="114300" rIns="171450" bIns="114300">
                      <a:noAutofit/>
                    </a:bodyPr>
                    <a:lstStyle/>
                    <a:p>
                      <a:r>
                        <a:rPr sz="1875" b="1">
                          <a:solidFill>
                            <a:srgbClr val="F4F7FA"/>
                          </a:solidFill>
                          <a:latin typeface="DejaVu Sans"/>
                          <a:ea typeface="DejaVu Sans"/>
                          <a:cs typeface="DejaVu Sans"/>
                        </a:rPr>
                        <a:t>DONE</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Tests pass</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Evaluation evidence within boundaries</a:t>
                      </a:r>
                    </a:p>
                  </a:txBody>
                  <a:tcPr marL="91440" marR="91440" marT="45720" marB="45720" anchor="ctr">
                    <a:solidFill>
                      <a:srgbClr val="0B0F14"/>
                    </a:solidFill>
                  </a:tcPr>
                </a:tc>
              </a:tr>
              <a:tr h="776288">
                <a:tc>
                  <a:txBody>
                    <a:bodyPr lIns="171450" tIns="114300" rIns="171450" bIns="114300">
                      <a:noAutofit/>
                    </a:bodyPr>
                    <a:lstStyle/>
                    <a:p>
                      <a:r>
                        <a:rPr sz="1875" b="1">
                          <a:solidFill>
                            <a:srgbClr val="F4F7FA"/>
                          </a:solidFill>
                          <a:latin typeface="DejaVu Sans"/>
                          <a:ea typeface="DejaVu Sans"/>
                          <a:cs typeface="DejaVu Sans"/>
                        </a:rPr>
                        <a:t>RELEASE</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Yes / no</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Measured risk accepted</a:t>
                      </a:r>
                    </a:p>
                  </a:txBody>
                  <a:tcPr marL="91440" marR="91440" marT="45720" marB="45720" anchor="ctr">
                    <a:solidFill>
                      <a:srgbClr val="0B0F14"/>
                    </a:solidFill>
                  </a:tcPr>
                </a:tc>
              </a:tr>
            </a:tbl>
          </a:graphicData>
        </a:graphic>
      </p:graphicFrame>
      <p:sp>
        <p:nvSpPr>
          <p:cNvPr id="5" name="">
            <a:extLst xmlns:a="http://schemas.openxmlformats.org/drawingml/2006/main">
              <a:ext uri="{FF2B5EF4-FFF2-40B4-BE49-F238E27FC236}">
                <a16:creationId xmlns:a16="http://schemas.microsoft.com/office/drawing/2014/main" id="{136F8BC4-C119-43E3-A02A-6197D2914B8F}"/>
              </a:ext>
            </a:extLst>
          </p:cNvPr>
          <p:cNvSpPr>
            <a:spLocks xmlns:a="http://schemas.openxmlformats.org/drawingml/2006/main" noGrp="1"/>
          </p:cNvSpPr>
          <p:nvPr/>
        </p:nvSpPr>
        <p:spPr>
          <a:xfrm xmlns:a="http://schemas.openxmlformats.org/drawingml/2006/main">
            <a:off x="609600" y="5257800"/>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Evidence, decision owner and fallback belong in the contract.</a:t>
            </a:r>
          </a:p>
        </p:txBody>
      </p:sp>
      <p:sp>
        <p:nvSpPr>
          <p:cNvPr id="6" name="">
            <a:extLst xmlns:a="http://schemas.openxmlformats.org/drawingml/2006/main">
              <a:ext uri="{FF2B5EF4-FFF2-40B4-BE49-F238E27FC236}">
                <a16:creationId xmlns:a16="http://schemas.microsoft.com/office/drawing/2014/main" id="{458AFE5E-E53C-4E24-A0CE-23172575CAF3}"/>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7" name="">
            <a:extLst xmlns:a="http://schemas.openxmlformats.org/drawingml/2006/main">
              <a:ext uri="{FF2B5EF4-FFF2-40B4-BE49-F238E27FC236}">
                <a16:creationId xmlns:a16="http://schemas.microsoft.com/office/drawing/2014/main" id="{DAD3A4F0-9A38-479B-927C-924FBB0967AF}"/>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4F7FA"/>
                </a:solidFill>
                <a:latin typeface="DejaVu Sans"/>
                <a:ea typeface="DejaVu Sans"/>
                <a:cs typeface="DejaVu Sans"/>
              </a:defRPr>
            </a:pPr>
            <a:r>
              <a:rPr sz="2325" b="1">
                <a:solidFill>
                  <a:srgbClr val="F4F7FA"/>
                </a:solidFill>
                <a:latin typeface="DejaVu Sans"/>
                <a:ea typeface="DejaVu Sans"/>
                <a:cs typeface="DejaVu Sans"/>
              </a:rPr>
              <a:t>Quality is released as a measured distribution.</a:t>
            </a:r>
          </a:p>
        </p:txBody>
      </p:sp>
    </p:spTree>
    <p:extLst>
      <p:ext uri="{BB962C8B-B14F-4D97-AF65-F5344CB8AC3E}">
        <p14:creationId xmlns:p14="http://schemas.microsoft.com/office/powerpoint/2010/main" val="1223876052"/>
      </p:ext>
    </p:extLst>
  </p:cSld>
</p:sld>
</file>

<file path=ppt/slides/slide1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13C8C6AF-A5E9-4749-B48C-C05FB43D2971}"/>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Production Needs a Control Loop</a:t>
            </a:r>
          </a:p>
        </p:txBody>
      </p:sp>
      <p:sp>
        <p:nvSpPr>
          <p:cNvPr id="2" name="">
            <a:extLst xmlns:a="http://schemas.openxmlformats.org/drawingml/2006/main">
              <a:ext uri="{FF2B5EF4-FFF2-40B4-BE49-F238E27FC236}">
                <a16:creationId xmlns:a16="http://schemas.microsoft.com/office/drawing/2014/main" id="{69CFF263-20B3-477A-B077-D36384856E51}"/>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0918869A-F28A-4660-84E6-02681326D7D7}"/>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12</a:t>
            </a:r>
          </a:p>
        </p:txBody>
      </p:sp>
      <p:sp>
        <p:nvSpPr>
          <p:cNvPr id="4" name="">
            <a:extLst xmlns:a="http://schemas.openxmlformats.org/drawingml/2006/main">
              <a:ext uri="{FF2B5EF4-FFF2-40B4-BE49-F238E27FC236}">
                <a16:creationId xmlns:a16="http://schemas.microsoft.com/office/drawing/2014/main" id="{5DB15A46-3502-42FF-8005-D3AD49A666C0}"/>
              </a:ext>
            </a:extLst>
          </p:cNvPr>
          <p:cNvSpPr>
            <a:spLocks xmlns:a="http://schemas.openxmlformats.org/drawingml/2006/main" noGrp="1"/>
          </p:cNvSpPr>
          <p:nvPr/>
        </p:nvSpPr>
        <p:spPr>
          <a:xfrm xmlns:a="http://schemas.openxmlformats.org/drawingml/2006/main">
            <a:off x="609600" y="2095500"/>
            <a:ext cx="19812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 name="">
            <a:extLst xmlns:a="http://schemas.openxmlformats.org/drawingml/2006/main">
              <a:ext uri="{FF2B5EF4-FFF2-40B4-BE49-F238E27FC236}">
                <a16:creationId xmlns:a16="http://schemas.microsoft.com/office/drawing/2014/main" id="{4B648074-C46D-4191-A6EC-34F10305A425}"/>
              </a:ext>
            </a:extLst>
          </p:cNvPr>
          <p:cNvSpPr>
            <a:spLocks xmlns:a="http://schemas.openxmlformats.org/drawingml/2006/main" noGrp="1"/>
          </p:cNvSpPr>
          <p:nvPr/>
        </p:nvSpPr>
        <p:spPr>
          <a:xfrm xmlns:a="http://schemas.openxmlformats.org/drawingml/2006/main">
            <a:off x="723900" y="2171700"/>
            <a:ext cx="1752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Intent</a:t>
            </a:r>
          </a:p>
        </p:txBody>
      </p:sp>
      <p:sp>
        <p:nvSpPr>
          <p:cNvPr id="6" name="">
            <a:extLst xmlns:a="http://schemas.openxmlformats.org/drawingml/2006/main">
              <a:ext uri="{FF2B5EF4-FFF2-40B4-BE49-F238E27FC236}">
                <a16:creationId xmlns:a16="http://schemas.microsoft.com/office/drawing/2014/main" id="{6AED620E-F042-456C-8DED-BDE1AFFA0806}"/>
              </a:ext>
            </a:extLst>
          </p:cNvPr>
          <p:cNvSpPr>
            <a:spLocks xmlns:a="http://schemas.openxmlformats.org/drawingml/2006/main" noGrp="1"/>
          </p:cNvSpPr>
          <p:nvPr/>
        </p:nvSpPr>
        <p:spPr>
          <a:xfrm xmlns:a="http://schemas.openxmlformats.org/drawingml/2006/main">
            <a:off x="2857500" y="2095500"/>
            <a:ext cx="19812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6111C9A8-C2D3-4428-B4BC-CE596DA6EC8D}"/>
              </a:ext>
            </a:extLst>
          </p:cNvPr>
          <p:cNvSpPr>
            <a:spLocks xmlns:a="http://schemas.openxmlformats.org/drawingml/2006/main" noGrp="1"/>
          </p:cNvSpPr>
          <p:nvPr/>
        </p:nvSpPr>
        <p:spPr>
          <a:xfrm xmlns:a="http://schemas.openxmlformats.org/drawingml/2006/main">
            <a:off x="2971800" y="2171700"/>
            <a:ext cx="1752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Model</a:t>
            </a:r>
          </a:p>
        </p:txBody>
      </p:sp>
      <p:sp>
        <p:nvSpPr>
          <p:cNvPr id="8" name="">
            <a:extLst xmlns:a="http://schemas.openxmlformats.org/drawingml/2006/main">
              <a:ext uri="{FF2B5EF4-FFF2-40B4-BE49-F238E27FC236}">
                <a16:creationId xmlns:a16="http://schemas.microsoft.com/office/drawing/2014/main" id="{90F1C674-1598-4A12-93CC-F0218E4B4198}"/>
              </a:ext>
            </a:extLst>
          </p:cNvPr>
          <p:cNvSpPr>
            <a:spLocks xmlns:a="http://schemas.openxmlformats.org/drawingml/2006/main" noGrp="1"/>
          </p:cNvSpPr>
          <p:nvPr/>
        </p:nvSpPr>
        <p:spPr>
          <a:xfrm xmlns:a="http://schemas.openxmlformats.org/drawingml/2006/main">
            <a:off x="5105400" y="2095500"/>
            <a:ext cx="19812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986D905A-2E02-462E-9BAD-D83C7014E4C6}"/>
              </a:ext>
            </a:extLst>
          </p:cNvPr>
          <p:cNvSpPr>
            <a:spLocks xmlns:a="http://schemas.openxmlformats.org/drawingml/2006/main" noGrp="1"/>
          </p:cNvSpPr>
          <p:nvPr/>
        </p:nvSpPr>
        <p:spPr>
          <a:xfrm xmlns:a="http://schemas.openxmlformats.org/drawingml/2006/main">
            <a:off x="5219700" y="2171700"/>
            <a:ext cx="1752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Proposed action</a:t>
            </a:r>
          </a:p>
        </p:txBody>
      </p:sp>
      <p:sp>
        <p:nvSpPr>
          <p:cNvPr id="10" name="">
            <a:extLst xmlns:a="http://schemas.openxmlformats.org/drawingml/2006/main">
              <a:ext uri="{FF2B5EF4-FFF2-40B4-BE49-F238E27FC236}">
                <a16:creationId xmlns:a16="http://schemas.microsoft.com/office/drawing/2014/main" id="{CE30363C-907E-4FF1-89C4-D90A5D32DFC8}"/>
              </a:ext>
            </a:extLst>
          </p:cNvPr>
          <p:cNvSpPr>
            <a:spLocks xmlns:a="http://schemas.openxmlformats.org/drawingml/2006/main" noGrp="1"/>
          </p:cNvSpPr>
          <p:nvPr/>
        </p:nvSpPr>
        <p:spPr>
          <a:xfrm xmlns:a="http://schemas.openxmlformats.org/drawingml/2006/main">
            <a:off x="7353300" y="2095500"/>
            <a:ext cx="19812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1" name="">
            <a:extLst xmlns:a="http://schemas.openxmlformats.org/drawingml/2006/main">
              <a:ext uri="{FF2B5EF4-FFF2-40B4-BE49-F238E27FC236}">
                <a16:creationId xmlns:a16="http://schemas.microsoft.com/office/drawing/2014/main" id="{F9980455-647E-4E3A-8176-639EA4CFECB0}"/>
              </a:ext>
            </a:extLst>
          </p:cNvPr>
          <p:cNvSpPr>
            <a:spLocks xmlns:a="http://schemas.openxmlformats.org/drawingml/2006/main" noGrp="1"/>
          </p:cNvSpPr>
          <p:nvPr/>
        </p:nvSpPr>
        <p:spPr>
          <a:xfrm xmlns:a="http://schemas.openxmlformats.org/drawingml/2006/main">
            <a:off x="7467600" y="2171700"/>
            <a:ext cx="1752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Policy gate</a:t>
            </a:r>
          </a:p>
        </p:txBody>
      </p:sp>
      <p:sp>
        <p:nvSpPr>
          <p:cNvPr id="12" name="">
            <a:extLst xmlns:a="http://schemas.openxmlformats.org/drawingml/2006/main">
              <a:ext uri="{FF2B5EF4-FFF2-40B4-BE49-F238E27FC236}">
                <a16:creationId xmlns:a16="http://schemas.microsoft.com/office/drawing/2014/main" id="{75BB8B12-5ADB-43C5-8AEE-AF34A343A7E2}"/>
              </a:ext>
            </a:extLst>
          </p:cNvPr>
          <p:cNvSpPr>
            <a:spLocks xmlns:a="http://schemas.openxmlformats.org/drawingml/2006/main" noGrp="1"/>
          </p:cNvSpPr>
          <p:nvPr/>
        </p:nvSpPr>
        <p:spPr>
          <a:xfrm xmlns:a="http://schemas.openxmlformats.org/drawingml/2006/main">
            <a:off x="9601200" y="2095500"/>
            <a:ext cx="19812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3" name="">
            <a:extLst xmlns:a="http://schemas.openxmlformats.org/drawingml/2006/main">
              <a:ext uri="{FF2B5EF4-FFF2-40B4-BE49-F238E27FC236}">
                <a16:creationId xmlns:a16="http://schemas.microsoft.com/office/drawing/2014/main" id="{E4A88C1A-91F1-4ED2-9530-131FDCCAE00B}"/>
              </a:ext>
            </a:extLst>
          </p:cNvPr>
          <p:cNvSpPr>
            <a:spLocks xmlns:a="http://schemas.openxmlformats.org/drawingml/2006/main" noGrp="1"/>
          </p:cNvSpPr>
          <p:nvPr/>
        </p:nvSpPr>
        <p:spPr>
          <a:xfrm xmlns:a="http://schemas.openxmlformats.org/drawingml/2006/main">
            <a:off x="9715500" y="2171700"/>
            <a:ext cx="1752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User / tool</a:t>
            </a:r>
          </a:p>
        </p:txBody>
      </p:sp>
      <p:cxnSp>
        <p:nvCxnSpPr>
          <p:cNvPr id="45" name=""/>
          <p:cNvCxnSpPr>
            <a:stCxn xmlns:a="http://schemas.openxmlformats.org/drawingml/2006/main" id="4" idx="3"/>
            <a:endCxn xmlns:a="http://schemas.openxmlformats.org/drawingml/2006/main" id="6" idx="1"/>
          </p:cNvCxnSpPr>
          <p:nvPr/>
        </p:nvCxnSpPr>
        <p:spPr>
          <a:xfrm xmlns:a="http://schemas.openxmlformats.org/drawingml/2006/main">
            <a:off x="2590800" y="2476500"/>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6" name=""/>
          <p:cNvCxnSpPr>
            <a:stCxn xmlns:a="http://schemas.openxmlformats.org/drawingml/2006/main" id="6" idx="3"/>
            <a:endCxn xmlns:a="http://schemas.openxmlformats.org/drawingml/2006/main" id="8" idx="1"/>
          </p:cNvCxnSpPr>
          <p:nvPr/>
        </p:nvCxnSpPr>
        <p:spPr>
          <a:xfrm xmlns:a="http://schemas.openxmlformats.org/drawingml/2006/main">
            <a:off x="4838700" y="2476500"/>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7" name=""/>
          <p:cNvCxnSpPr>
            <a:stCxn xmlns:a="http://schemas.openxmlformats.org/drawingml/2006/main" id="8" idx="3"/>
            <a:endCxn xmlns:a="http://schemas.openxmlformats.org/drawingml/2006/main" id="10" idx="1"/>
          </p:cNvCxnSpPr>
          <p:nvPr/>
        </p:nvCxnSpPr>
        <p:spPr>
          <a:xfrm xmlns:a="http://schemas.openxmlformats.org/drawingml/2006/main">
            <a:off x="7086600" y="2476500"/>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8" name=""/>
          <p:cNvCxnSpPr>
            <a:stCxn xmlns:a="http://schemas.openxmlformats.org/drawingml/2006/main" id="10" idx="3"/>
            <a:endCxn xmlns:a="http://schemas.openxmlformats.org/drawingml/2006/main" id="12" idx="1"/>
          </p:cNvCxnSpPr>
          <p:nvPr/>
        </p:nvCxnSpPr>
        <p:spPr>
          <a:xfrm xmlns:a="http://schemas.openxmlformats.org/drawingml/2006/main">
            <a:off x="9334500" y="2476500"/>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8" name="">
            <a:extLst xmlns:a="http://schemas.openxmlformats.org/drawingml/2006/main">
              <a:ext uri="{FF2B5EF4-FFF2-40B4-BE49-F238E27FC236}">
                <a16:creationId xmlns:a16="http://schemas.microsoft.com/office/drawing/2014/main" id="{E45A984A-B169-498D-953A-89A2FD47757B}"/>
              </a:ext>
            </a:extLst>
          </p:cNvPr>
          <p:cNvSpPr>
            <a:spLocks xmlns:a="http://schemas.openxmlformats.org/drawingml/2006/main" noGrp="1"/>
          </p:cNvSpPr>
          <p:nvPr/>
        </p:nvSpPr>
        <p:spPr>
          <a:xfrm xmlns:a="http://schemas.openxmlformats.org/drawingml/2006/main">
            <a:off x="9601200" y="3905250"/>
            <a:ext cx="19812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9" name="">
            <a:extLst xmlns:a="http://schemas.openxmlformats.org/drawingml/2006/main">
              <a:ext uri="{FF2B5EF4-FFF2-40B4-BE49-F238E27FC236}">
                <a16:creationId xmlns:a16="http://schemas.microsoft.com/office/drawing/2014/main" id="{DC625860-A7F4-4516-A9B0-BD45749C2F1E}"/>
              </a:ext>
            </a:extLst>
          </p:cNvPr>
          <p:cNvSpPr>
            <a:spLocks xmlns:a="http://schemas.openxmlformats.org/drawingml/2006/main" noGrp="1"/>
          </p:cNvSpPr>
          <p:nvPr/>
        </p:nvSpPr>
        <p:spPr>
          <a:xfrm xmlns:a="http://schemas.openxmlformats.org/drawingml/2006/main">
            <a:off x="9715500" y="3981450"/>
            <a:ext cx="1752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DejaVu Sans"/>
                <a:ea typeface="DejaVu Sans"/>
                <a:cs typeface="DejaVu Sans"/>
              </a:defRPr>
            </a:pPr>
            <a:r>
              <a:rPr sz="1950" b="1">
                <a:solidFill>
                  <a:srgbClr val="F4F7FA"/>
                </a:solidFill>
                <a:latin typeface="DejaVu Sans"/>
                <a:ea typeface="DejaVu Sans"/>
                <a:cs typeface="DejaVu Sans"/>
              </a:rPr>
              <a:t>Observe</a:t>
            </a:r>
          </a:p>
        </p:txBody>
      </p:sp>
      <p:sp>
        <p:nvSpPr>
          <p:cNvPr id="20" name="">
            <a:extLst xmlns:a="http://schemas.openxmlformats.org/drawingml/2006/main">
              <a:ext uri="{FF2B5EF4-FFF2-40B4-BE49-F238E27FC236}">
                <a16:creationId xmlns:a16="http://schemas.microsoft.com/office/drawing/2014/main" id="{7D816891-4F03-44D4-B8B0-5E53E6651AB0}"/>
              </a:ext>
            </a:extLst>
          </p:cNvPr>
          <p:cNvSpPr>
            <a:spLocks xmlns:a="http://schemas.openxmlformats.org/drawingml/2006/main" noGrp="1"/>
          </p:cNvSpPr>
          <p:nvPr/>
        </p:nvSpPr>
        <p:spPr>
          <a:xfrm xmlns:a="http://schemas.openxmlformats.org/drawingml/2006/main">
            <a:off x="6667500" y="3905250"/>
            <a:ext cx="22479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1" name="">
            <a:extLst xmlns:a="http://schemas.openxmlformats.org/drawingml/2006/main">
              <a:ext uri="{FF2B5EF4-FFF2-40B4-BE49-F238E27FC236}">
                <a16:creationId xmlns:a16="http://schemas.microsoft.com/office/drawing/2014/main" id="{3A745B2C-543A-44C3-A321-CD4BBCC06F70}"/>
              </a:ext>
            </a:extLst>
          </p:cNvPr>
          <p:cNvSpPr>
            <a:spLocks xmlns:a="http://schemas.openxmlformats.org/drawingml/2006/main" noGrp="1"/>
          </p:cNvSpPr>
          <p:nvPr/>
        </p:nvSpPr>
        <p:spPr>
          <a:xfrm xmlns:a="http://schemas.openxmlformats.org/drawingml/2006/main">
            <a:off x="6781800" y="3981450"/>
            <a:ext cx="2019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Evaluate / decide</a:t>
            </a:r>
          </a:p>
        </p:txBody>
      </p:sp>
      <p:sp>
        <p:nvSpPr>
          <p:cNvPr id="22" name="">
            <a:extLst xmlns:a="http://schemas.openxmlformats.org/drawingml/2006/main">
              <a:ext uri="{FF2B5EF4-FFF2-40B4-BE49-F238E27FC236}">
                <a16:creationId xmlns:a16="http://schemas.microsoft.com/office/drawing/2014/main" id="{8A83F9E9-85CF-4CA4-94F0-7B72F184D9B8}"/>
              </a:ext>
            </a:extLst>
          </p:cNvPr>
          <p:cNvSpPr>
            <a:spLocks xmlns:a="http://schemas.openxmlformats.org/drawingml/2006/main" noGrp="1"/>
          </p:cNvSpPr>
          <p:nvPr/>
        </p:nvSpPr>
        <p:spPr>
          <a:xfrm xmlns:a="http://schemas.openxmlformats.org/drawingml/2006/main">
            <a:off x="2857500" y="3905250"/>
            <a:ext cx="26670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3" name="">
            <a:extLst xmlns:a="http://schemas.openxmlformats.org/drawingml/2006/main">
              <a:ext uri="{FF2B5EF4-FFF2-40B4-BE49-F238E27FC236}">
                <a16:creationId xmlns:a16="http://schemas.microsoft.com/office/drawing/2014/main" id="{6E25CEE6-69AD-421E-B95E-FAECE3585EB7}"/>
              </a:ext>
            </a:extLst>
          </p:cNvPr>
          <p:cNvSpPr>
            <a:spLocks xmlns:a="http://schemas.openxmlformats.org/drawingml/2006/main" noGrp="1"/>
          </p:cNvSpPr>
          <p:nvPr/>
        </p:nvSpPr>
        <p:spPr>
          <a:xfrm xmlns:a="http://schemas.openxmlformats.org/drawingml/2006/main">
            <a:off x="2971800" y="3981450"/>
            <a:ext cx="2438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Act within authority</a:t>
            </a:r>
          </a:p>
        </p:txBody>
      </p:sp>
      <p:cxnSp>
        <p:nvCxnSpPr>
          <p:cNvPr id="55" name=""/>
          <p:cNvCxnSpPr>
            <a:stCxn xmlns:a="http://schemas.openxmlformats.org/drawingml/2006/main" id="12" idx="2"/>
            <a:endCxn xmlns:a="http://schemas.openxmlformats.org/drawingml/2006/main" id="18" idx="0"/>
          </p:cNvCxnSpPr>
          <p:nvPr/>
        </p:nvCxnSpPr>
        <p:spPr>
          <a:xfrm xmlns:a="http://schemas.openxmlformats.org/drawingml/2006/main">
            <a:off x="10591800" y="2857500"/>
            <a:ext cx="0" cy="104775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6" name=""/>
          <p:cNvCxnSpPr>
            <a:stCxn xmlns:a="http://schemas.openxmlformats.org/drawingml/2006/main" id="18" idx="1"/>
            <a:endCxn xmlns:a="http://schemas.openxmlformats.org/drawingml/2006/main" id="20" idx="3"/>
          </p:cNvCxnSpPr>
          <p:nvPr/>
        </p:nvCxnSpPr>
        <p:spPr>
          <a:xfrm xmlns:a="http://schemas.openxmlformats.org/drawingml/2006/main" flipH="1">
            <a:off x="8915400" y="4286250"/>
            <a:ext cx="6858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57" name=""/>
          <p:cNvCxnSpPr>
            <a:stCxn xmlns:a="http://schemas.openxmlformats.org/drawingml/2006/main" id="20" idx="1"/>
            <a:endCxn xmlns:a="http://schemas.openxmlformats.org/drawingml/2006/main" id="22" idx="3"/>
          </p:cNvCxnSpPr>
          <p:nvPr/>
        </p:nvCxnSpPr>
        <p:spPr>
          <a:xfrm xmlns:a="http://schemas.openxmlformats.org/drawingml/2006/main" flipH="1">
            <a:off x="5524500" y="4286250"/>
            <a:ext cx="11430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58" name=""/>
          <p:cNvCxnSpPr>
            <a:stCxn xmlns:a="http://schemas.openxmlformats.org/drawingml/2006/main" id="22" idx="0"/>
            <a:endCxn xmlns:a="http://schemas.openxmlformats.org/drawingml/2006/main" id="6" idx="2"/>
          </p:cNvCxnSpPr>
          <p:nvPr/>
        </p:nvCxnSpPr>
        <p:spPr>
          <a:xfrm xmlns:a="http://schemas.openxmlformats.org/drawingml/2006/main" flipH="1" flipV="1">
            <a:off x="3848100" y="2857500"/>
            <a:ext cx="342900" cy="1047750"/>
          </a:xfrm>
          <a:prstGeom xmlns:a="http://schemas.openxmlformats.org/drawingml/2006/main" prst="bentConnector4">
            <a:avLst>
              <a:gd name="adj1" fmla="val 0"/>
              <a:gd name="adj2" fmla="val 50000"/>
            </a:avLst>
          </a:prstGeom>
          <a:ln xmlns:a="http://schemas.openxmlformats.org/drawingml/2006/main" w="21908">
            <a:solidFill>
              <a:srgbClr val="F5B61C"/>
            </a:solidFill>
            <a:prstDash val="solid"/>
            <a:tailEnd type="triangle" w="med" len="med"/>
          </a:ln>
        </p:spPr>
      </p:cxnSp>
      <p:sp>
        <p:nvSpPr>
          <p:cNvPr id="28" name="">
            <a:extLst xmlns:a="http://schemas.openxmlformats.org/drawingml/2006/main">
              <a:ext uri="{FF2B5EF4-FFF2-40B4-BE49-F238E27FC236}">
                <a16:creationId xmlns:a16="http://schemas.microsoft.com/office/drawing/2014/main" id="{4F011E6A-5D08-48E0-8AE5-BD0CAE3CD25F}"/>
              </a:ext>
            </a:extLst>
          </p:cNvPr>
          <p:cNvSpPr>
            <a:spLocks xmlns:a="http://schemas.openxmlformats.org/drawingml/2006/main" noGrp="1"/>
          </p:cNvSpPr>
          <p:nvPr/>
        </p:nvSpPr>
        <p:spPr>
          <a:xfrm xmlns:a="http://schemas.openxmlformats.org/drawingml/2006/main">
            <a:off x="609600" y="4953000"/>
            <a:ext cx="10896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F4F7FA"/>
                </a:solidFill>
                <a:latin typeface="DejaVu Sans"/>
                <a:ea typeface="DejaVu Sans"/>
                <a:cs typeface="DejaVu Sans"/>
              </a:defRPr>
            </a:pPr>
            <a:r>
              <a:rPr sz="1950" b="0">
                <a:solidFill>
                  <a:srgbClr val="F4F7FA"/>
                </a:solidFill>
                <a:latin typeface="DejaVu Sans"/>
                <a:ea typeface="DejaVu Sans"/>
                <a:cs typeface="DejaVu Sans"/>
              </a:rPr>
              <a:t>Correct / retry / escalate / fallback / stop</a:t>
            </a:r>
          </a:p>
        </p:txBody>
      </p:sp>
      <p:sp>
        <p:nvSpPr>
          <p:cNvPr id="29" name="">
            <a:extLst xmlns:a="http://schemas.openxmlformats.org/drawingml/2006/main">
              <a:ext uri="{FF2B5EF4-FFF2-40B4-BE49-F238E27FC236}">
                <a16:creationId xmlns:a16="http://schemas.microsoft.com/office/drawing/2014/main" id="{F4098478-930C-48BD-BA00-9C42A20FC314}"/>
              </a:ext>
            </a:extLst>
          </p:cNvPr>
          <p:cNvSpPr>
            <a:spLocks xmlns:a="http://schemas.openxmlformats.org/drawingml/2006/main" noGrp="1"/>
          </p:cNvSpPr>
          <p:nvPr/>
        </p:nvSpPr>
        <p:spPr>
          <a:xfrm xmlns:a="http://schemas.openxmlformats.org/drawingml/2006/main">
            <a:off x="609600" y="5400675"/>
            <a:ext cx="1089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Gate consequential actions before execution. Review incidents into Golden Sets.</a:t>
            </a:r>
          </a:p>
        </p:txBody>
      </p:sp>
      <p:sp>
        <p:nvSpPr>
          <p:cNvPr id="30" name="">
            <a:extLst xmlns:a="http://schemas.openxmlformats.org/drawingml/2006/main">
              <a:ext uri="{FF2B5EF4-FFF2-40B4-BE49-F238E27FC236}">
                <a16:creationId xmlns:a16="http://schemas.microsoft.com/office/drawing/2014/main" id="{A7A62D12-FF37-4B5D-B8E6-F5AE993CCF12}"/>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1" name="">
            <a:extLst xmlns:a="http://schemas.openxmlformats.org/drawingml/2006/main">
              <a:ext uri="{FF2B5EF4-FFF2-40B4-BE49-F238E27FC236}">
                <a16:creationId xmlns:a16="http://schemas.microsoft.com/office/drawing/2014/main" id="{D91A7991-C374-400F-9FE5-362961170F1D}"/>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Production needs evidence connected to corrective action.</a:t>
            </a:r>
          </a:p>
        </p:txBody>
      </p:sp>
    </p:spTree>
    <p:extLst>
      <p:ext uri="{BB962C8B-B14F-4D97-AF65-F5344CB8AC3E}">
        <p14:creationId xmlns:p14="http://schemas.microsoft.com/office/powerpoint/2010/main" val="93176709"/>
      </p:ext>
    </p:extLst>
  </p:cSld>
</p:sld>
</file>

<file path=ppt/slides/slide1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6E86F8F-AF7C-4988-806F-61FA7BC42C7C}"/>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The Roles Move With the System</a:t>
            </a:r>
          </a:p>
        </p:txBody>
      </p:sp>
      <p:sp>
        <p:nvSpPr>
          <p:cNvPr id="2" name="">
            <a:extLst xmlns:a="http://schemas.openxmlformats.org/drawingml/2006/main">
              <a:ext uri="{FF2B5EF4-FFF2-40B4-BE49-F238E27FC236}">
                <a16:creationId xmlns:a16="http://schemas.microsoft.com/office/drawing/2014/main" id="{721AD406-ECFF-4E9C-A472-E99E430652FA}"/>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324396A9-CF5E-4BE7-9CAD-09FDEE17470D}"/>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13</a:t>
            </a:r>
          </a:p>
        </p:txBody>
      </p:sp>
      <p:graphicFrame>
        <p:nvGraphicFramePr>
          <p:cNvPr id="10" name=""/>
          <p:cNvGraphicFramePr/>
          <p:nvPr/>
        </p:nvGraphicFramePr>
        <p:xfrm>
          <a:off xmlns:a="http://schemas.openxmlformats.org/drawingml/2006/main" x="609600" y="2009775"/>
          <a:ext xmlns:a="http://schemas.openxmlformats.org/drawingml/2006/main" cx="10972800" cy="3429000"/>
        </p:xfrm>
        <a:graphic xmlns:a="http://schemas.openxmlformats.org/drawingml/2006/main">
          <a:graphicData uri="http://schemas.openxmlformats.org/drawingml/2006/table">
            <a:tbl>
              <a:tblPr/>
              <a:tblGrid>
                <a:gridCol w="1695450"/>
                <a:gridCol w="3276600"/>
                <a:gridCol w="6000750"/>
              </a:tblGrid>
              <a:tr h="685800">
                <a:tc>
                  <a:txBody>
                    <a:bodyPr lIns="171450" tIns="114300" rIns="171450" bIns="114300">
                      <a:noAutofit/>
                    </a:bodyPr>
                    <a:lstStyle/>
                    <a:p>
                      <a:r>
                        <a:rPr sz="1725" b="1">
                          <a:solidFill>
                            <a:srgbClr val="F4F7FA"/>
                          </a:solidFill>
                          <a:latin typeface="DejaVu Sans"/>
                          <a:ea typeface="DejaVu Sans"/>
                          <a:cs typeface="DejaVu Sans"/>
                        </a:rPr>
                        <a:t>Role</a:t>
                      </a:r>
                    </a:p>
                  </a:txBody>
                  <a:tcPr marL="91440" marR="91440" marT="45720" marB="45720" anchor="ctr">
                    <a:solidFill>
                      <a:srgbClr val="1A2734"/>
                    </a:solidFill>
                  </a:tcPr>
                </a:tc>
                <a:tc>
                  <a:txBody>
                    <a:bodyPr lIns="171450" tIns="114300" rIns="171450" bIns="114300">
                      <a:noAutofit/>
                    </a:bodyPr>
                    <a:lstStyle/>
                    <a:p>
                      <a:r>
                        <a:rPr sz="1725" b="1">
                          <a:solidFill>
                            <a:srgbClr val="F4F7FA"/>
                          </a:solidFill>
                          <a:latin typeface="DejaVu Sans"/>
                          <a:ea typeface="DejaVu Sans"/>
                          <a:cs typeface="DejaVu Sans"/>
                        </a:rPr>
                        <a:t>Before</a:t>
                      </a:r>
                    </a:p>
                  </a:txBody>
                  <a:tcPr marL="91440" marR="91440" marT="45720" marB="45720" anchor="ctr">
                    <a:solidFill>
                      <a:srgbClr val="1A2734"/>
                    </a:solidFill>
                  </a:tcPr>
                </a:tc>
                <a:tc>
                  <a:txBody>
                    <a:bodyPr lIns="171450" tIns="114300" rIns="171450" bIns="114300">
                      <a:noAutofit/>
                    </a:bodyPr>
                    <a:lstStyle/>
                    <a:p>
                      <a:r>
                        <a:rPr sz="1725" b="1">
                          <a:solidFill>
                            <a:srgbClr val="28C7F7"/>
                          </a:solidFill>
                          <a:latin typeface="DejaVu Sans"/>
                          <a:ea typeface="DejaVu Sans"/>
                          <a:cs typeface="DejaVu Sans"/>
                        </a:rPr>
                        <a:t>Increasingly owns</a:t>
                      </a:r>
                    </a:p>
                  </a:txBody>
                  <a:tcPr marL="91440" marR="91440" marT="45720" marB="45720" anchor="ctr">
                    <a:solidFill>
                      <a:srgbClr val="1A2734"/>
                    </a:solidFill>
                  </a:tcPr>
                </a:tc>
              </a:tr>
              <a:tr h="685800">
                <a:tc>
                  <a:txBody>
                    <a:bodyPr lIns="171450" tIns="114300" rIns="171450" bIns="114300">
                      <a:noAutofit/>
                    </a:bodyPr>
                    <a:lstStyle/>
                    <a:p>
                      <a:r>
                        <a:rPr sz="1875" b="1">
                          <a:solidFill>
                            <a:srgbClr val="F4F7FA"/>
                          </a:solidFill>
                          <a:latin typeface="DejaVu Sans"/>
                          <a:ea typeface="DejaVu Sans"/>
                          <a:cs typeface="DejaVu Sans"/>
                        </a:rPr>
                        <a:t>PM</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Story / acceptance</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Risk &amp; tolerance</a:t>
                      </a:r>
                    </a:p>
                  </a:txBody>
                  <a:tcPr marL="91440" marR="91440" marT="45720" marB="45720" anchor="ctr">
                    <a:solidFill>
                      <a:srgbClr val="0B0F14"/>
                    </a:solidFill>
                  </a:tcPr>
                </a:tc>
              </a:tr>
              <a:tr h="685800">
                <a:tc>
                  <a:txBody>
                    <a:bodyPr lIns="171450" tIns="114300" rIns="171450" bIns="114300">
                      <a:noAutofit/>
                    </a:bodyPr>
                    <a:lstStyle/>
                    <a:p>
                      <a:r>
                        <a:rPr sz="1875" b="1">
                          <a:solidFill>
                            <a:srgbClr val="F4F7FA"/>
                          </a:solidFill>
                          <a:latin typeface="DejaVu Sans"/>
                          <a:ea typeface="DejaVu Sans"/>
                          <a:cs typeface="DejaVu Sans"/>
                        </a:rPr>
                        <a:t>QA</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Pass / fail cases</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Measurement &amp; evaluation</a:t>
                      </a:r>
                    </a:p>
                  </a:txBody>
                  <a:tcPr marL="91440" marR="91440" marT="45720" marB="45720" anchor="ctr">
                    <a:solidFill>
                      <a:srgbClr val="0B0F14"/>
                    </a:solidFill>
                  </a:tcPr>
                </a:tc>
              </a:tr>
              <a:tr h="685800">
                <a:tc>
                  <a:txBody>
                    <a:bodyPr lIns="171450" tIns="114300" rIns="171450" bIns="114300">
                      <a:noAutofit/>
                    </a:bodyPr>
                    <a:lstStyle/>
                    <a:p>
                      <a:r>
                        <a:rPr sz="1875" b="1">
                          <a:solidFill>
                            <a:srgbClr val="F4F7FA"/>
                          </a:solidFill>
                          <a:latin typeface="DejaVu Sans"/>
                          <a:ea typeface="DejaVu Sans"/>
                          <a:cs typeface="DejaVu Sans"/>
                        </a:rPr>
                        <a:t>Architect</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Components &amp; flows</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Boundaries &amp; failure containment</a:t>
                      </a:r>
                    </a:p>
                  </a:txBody>
                  <a:tcPr marL="91440" marR="91440" marT="45720" marB="45720" anchor="ctr">
                    <a:solidFill>
                      <a:srgbClr val="0B0F14"/>
                    </a:solidFill>
                  </a:tcPr>
                </a:tc>
              </a:tr>
              <a:tr h="685800">
                <a:tc>
                  <a:txBody>
                    <a:bodyPr lIns="171450" tIns="114300" rIns="171450" bIns="114300">
                      <a:noAutofit/>
                    </a:bodyPr>
                    <a:lstStyle/>
                    <a:p>
                      <a:r>
                        <a:rPr sz="1875" b="1">
                          <a:solidFill>
                            <a:srgbClr val="F4F7FA"/>
                          </a:solidFill>
                          <a:latin typeface="DejaVu Sans"/>
                          <a:ea typeface="DejaVu Sans"/>
                          <a:cs typeface="DejaVu Sans"/>
                        </a:rPr>
                        <a:t>Developer</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Implementation</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Behavioral / operational ownership</a:t>
                      </a:r>
                    </a:p>
                  </a:txBody>
                  <a:tcPr marL="91440" marR="91440" marT="45720" marB="45720" anchor="ctr">
                    <a:solidFill>
                      <a:srgbClr val="0B0F14"/>
                    </a:solidFill>
                  </a:tcPr>
                </a:tc>
              </a:tr>
            </a:tbl>
          </a:graphicData>
        </a:graphic>
      </p:graphicFrame>
      <p:sp>
        <p:nvSpPr>
          <p:cNvPr id="5" name="">
            <a:extLst xmlns:a="http://schemas.openxmlformats.org/drawingml/2006/main">
              <a:ext uri="{FF2B5EF4-FFF2-40B4-BE49-F238E27FC236}">
                <a16:creationId xmlns:a16="http://schemas.microsoft.com/office/drawing/2014/main" id="{EEA98B04-98CA-41A9-962E-B59420024E31}"/>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 name="">
            <a:extLst xmlns:a="http://schemas.openxmlformats.org/drawingml/2006/main">
              <a:ext uri="{FF2B5EF4-FFF2-40B4-BE49-F238E27FC236}">
                <a16:creationId xmlns:a16="http://schemas.microsoft.com/office/drawing/2014/main" id="{DDB33D7B-5415-4E32-B919-6B1F84FA7625}"/>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The job titles may stay. The object of responsibility changes.</a:t>
            </a:r>
          </a:p>
        </p:txBody>
      </p:sp>
    </p:spTree>
    <p:extLst>
      <p:ext uri="{BB962C8B-B14F-4D97-AF65-F5344CB8AC3E}">
        <p14:creationId xmlns:p14="http://schemas.microsoft.com/office/powerpoint/2010/main" val="1623132250"/>
      </p:ext>
    </p:extLst>
  </p:cSld>
</p:sld>
</file>

<file path=ppt/slides/slide1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41E9B2DB-643C-440E-ACEA-231CAEA1CA37}"/>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Engineering Rigor Moves —</a:t>
            </a:r>
          </a:p>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It Doesn’t Disappear</a:t>
            </a:r>
          </a:p>
        </p:txBody>
      </p:sp>
      <p:sp>
        <p:nvSpPr>
          <p:cNvPr id="2" name="">
            <a:extLst xmlns:a="http://schemas.openxmlformats.org/drawingml/2006/main">
              <a:ext uri="{FF2B5EF4-FFF2-40B4-BE49-F238E27FC236}">
                <a16:creationId xmlns:a16="http://schemas.microsoft.com/office/drawing/2014/main" id="{1F0717E3-0A5F-4782-ABCC-043C0EB20ABE}"/>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3F33A32E-DE73-4E56-B52D-577779A047B7}"/>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14</a:t>
            </a:r>
          </a:p>
        </p:txBody>
      </p:sp>
      <p:sp>
        <p:nvSpPr>
          <p:cNvPr id="4" name="">
            <a:extLst xmlns:a="http://schemas.openxmlformats.org/drawingml/2006/main">
              <a:ext uri="{FF2B5EF4-FFF2-40B4-BE49-F238E27FC236}">
                <a16:creationId xmlns:a16="http://schemas.microsoft.com/office/drawing/2014/main" id="{B5D630FE-1261-4724-BF38-DA27DFC237FB}"/>
              </a:ext>
            </a:extLst>
          </p:cNvPr>
          <p:cNvSpPr>
            <a:spLocks xmlns:a="http://schemas.openxmlformats.org/drawingml/2006/main" noGrp="1"/>
          </p:cNvSpPr>
          <p:nvPr/>
        </p:nvSpPr>
        <p:spPr>
          <a:xfrm xmlns:a="http://schemas.openxmlformats.org/drawingml/2006/main">
            <a:off x="609600" y="19716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8C7F7"/>
                </a:solidFill>
                <a:latin typeface="DejaVu Sans"/>
                <a:ea typeface="DejaVu Sans"/>
                <a:cs typeface="DejaVu Sans"/>
              </a:defRPr>
            </a:pPr>
            <a:r>
              <a:rPr sz="1725" b="1">
                <a:solidFill>
                  <a:srgbClr val="28C7F7"/>
                </a:solidFill>
                <a:latin typeface="DejaVu Sans"/>
                <a:ea typeface="DejaVu Sans"/>
                <a:cs typeface="DejaVu Sans"/>
              </a:rPr>
              <a:t>HOW WE BUILD</a:t>
            </a:r>
          </a:p>
        </p:txBody>
      </p:sp>
      <p:sp>
        <p:nvSpPr>
          <p:cNvPr id="5" name="">
            <a:extLst xmlns:a="http://schemas.openxmlformats.org/drawingml/2006/main">
              <a:ext uri="{FF2B5EF4-FFF2-40B4-BE49-F238E27FC236}">
                <a16:creationId xmlns:a16="http://schemas.microsoft.com/office/drawing/2014/main" id="{F20014B9-1D24-4718-A4D2-750010556009}"/>
              </a:ext>
            </a:extLst>
          </p:cNvPr>
          <p:cNvSpPr>
            <a:spLocks xmlns:a="http://schemas.openxmlformats.org/drawingml/2006/main" noGrp="1"/>
          </p:cNvSpPr>
          <p:nvPr/>
        </p:nvSpPr>
        <p:spPr>
          <a:xfrm xmlns:a="http://schemas.openxmlformats.org/drawingml/2006/main">
            <a:off x="609600" y="2476500"/>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Scarcity moves</a:t>
            </a:r>
          </a:p>
        </p:txBody>
      </p:sp>
      <p:sp>
        <p:nvSpPr>
          <p:cNvPr id="6" name="">
            <a:extLst xmlns:a="http://schemas.openxmlformats.org/drawingml/2006/main">
              <a:ext uri="{FF2B5EF4-FFF2-40B4-BE49-F238E27FC236}">
                <a16:creationId xmlns:a16="http://schemas.microsoft.com/office/drawing/2014/main" id="{A1ADAA30-2270-46F3-92CB-0C13181FAFB4}"/>
              </a:ext>
            </a:extLst>
          </p:cNvPr>
          <p:cNvSpPr>
            <a:spLocks xmlns:a="http://schemas.openxmlformats.org/drawingml/2006/main" noGrp="1"/>
          </p:cNvSpPr>
          <p:nvPr/>
        </p:nvSpPr>
        <p:spPr>
          <a:xfrm xmlns:a="http://schemas.openxmlformats.org/drawingml/2006/main" flipH="0" flipV="0">
            <a:off x="609600" y="3181350"/>
            <a:ext cx="5238750" cy="0"/>
          </a:xfrm>
          <a:prstGeom xmlns:a="http://schemas.openxmlformats.org/drawingml/2006/main" prst="line">
            <a:avLst/>
          </a:prstGeom>
          <a:noFill xmlns:a="http://schemas.openxmlformats.org/drawingml/2006/main"/>
          <a:ln xmlns:a="http://schemas.openxmlformats.org/drawingml/2006/main" w="19050">
            <a:solidFill>
              <a:srgbClr val="28C7F7"/>
            </a:solidFill>
            <a:prstDash val="solid"/>
          </a:ln>
        </p:spPr>
      </p:sp>
      <p:sp>
        <p:nvSpPr>
          <p:cNvPr id="7" name="">
            <a:extLst xmlns:a="http://schemas.openxmlformats.org/drawingml/2006/main">
              <a:ext uri="{FF2B5EF4-FFF2-40B4-BE49-F238E27FC236}">
                <a16:creationId xmlns:a16="http://schemas.microsoft.com/office/drawing/2014/main" id="{31886E7D-8F1B-4D43-AA74-EB94D8B9F5D1}"/>
              </a:ext>
            </a:extLst>
          </p:cNvPr>
          <p:cNvSpPr>
            <a:spLocks xmlns:a="http://schemas.openxmlformats.org/drawingml/2006/main" noGrp="1"/>
          </p:cNvSpPr>
          <p:nvPr/>
        </p:nvSpPr>
        <p:spPr>
          <a:xfrm xmlns:a="http://schemas.openxmlformats.org/drawingml/2006/main">
            <a:off x="609600" y="33718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Code generation gets cheaper</a:t>
            </a:r>
          </a:p>
        </p:txBody>
      </p:sp>
      <p:sp>
        <p:nvSpPr>
          <p:cNvPr id="8" name="">
            <a:extLst xmlns:a="http://schemas.openxmlformats.org/drawingml/2006/main">
              <a:ext uri="{FF2B5EF4-FFF2-40B4-BE49-F238E27FC236}">
                <a16:creationId xmlns:a16="http://schemas.microsoft.com/office/drawing/2014/main" id="{F8C2EF94-5749-4192-848B-35417E28082E}"/>
              </a:ext>
            </a:extLst>
          </p:cNvPr>
          <p:cNvSpPr>
            <a:spLocks xmlns:a="http://schemas.openxmlformats.org/drawingml/2006/main" noGrp="1"/>
          </p:cNvSpPr>
          <p:nvPr/>
        </p:nvSpPr>
        <p:spPr>
          <a:xfrm xmlns:a="http://schemas.openxmlformats.org/drawingml/2006/main">
            <a:off x="609600" y="37909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Comprehension becomes scarce</a:t>
            </a:r>
          </a:p>
        </p:txBody>
      </p:sp>
      <p:sp>
        <p:nvSpPr>
          <p:cNvPr id="9" name="">
            <a:extLst xmlns:a="http://schemas.openxmlformats.org/drawingml/2006/main">
              <a:ext uri="{FF2B5EF4-FFF2-40B4-BE49-F238E27FC236}">
                <a16:creationId xmlns:a16="http://schemas.microsoft.com/office/drawing/2014/main" id="{B8BA126B-05A5-46DE-A58C-A943A06D7955}"/>
              </a:ext>
            </a:extLst>
          </p:cNvPr>
          <p:cNvSpPr>
            <a:spLocks xmlns:a="http://schemas.openxmlformats.org/drawingml/2006/main" noGrp="1"/>
          </p:cNvSpPr>
          <p:nvPr/>
        </p:nvSpPr>
        <p:spPr>
          <a:xfrm xmlns:a="http://schemas.openxmlformats.org/drawingml/2006/main">
            <a:off x="609600" y="42100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Bottlenecks move</a:t>
            </a:r>
          </a:p>
        </p:txBody>
      </p:sp>
      <p:sp>
        <p:nvSpPr>
          <p:cNvPr id="10" name="">
            <a:extLst xmlns:a="http://schemas.openxmlformats.org/drawingml/2006/main">
              <a:ext uri="{FF2B5EF4-FFF2-40B4-BE49-F238E27FC236}">
                <a16:creationId xmlns:a16="http://schemas.microsoft.com/office/drawing/2014/main" id="{573764B7-66B8-47B3-9BFA-6A40C755C883}"/>
              </a:ext>
            </a:extLst>
          </p:cNvPr>
          <p:cNvSpPr>
            <a:spLocks xmlns:a="http://schemas.openxmlformats.org/drawingml/2006/main" noGrp="1"/>
          </p:cNvSpPr>
          <p:nvPr/>
        </p:nvSpPr>
        <p:spPr>
          <a:xfrm xmlns:a="http://schemas.openxmlformats.org/drawingml/2006/main">
            <a:off x="609600" y="46291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SDLC seeks a new equilibrium</a:t>
            </a:r>
          </a:p>
        </p:txBody>
      </p:sp>
      <p:sp>
        <p:nvSpPr>
          <p:cNvPr id="11" name="">
            <a:extLst xmlns:a="http://schemas.openxmlformats.org/drawingml/2006/main">
              <a:ext uri="{FF2B5EF4-FFF2-40B4-BE49-F238E27FC236}">
                <a16:creationId xmlns:a16="http://schemas.microsoft.com/office/drawing/2014/main" id="{1DB51FA7-9DC6-4771-B41B-0D84EF0B0F1D}"/>
              </a:ext>
            </a:extLst>
          </p:cNvPr>
          <p:cNvSpPr>
            <a:spLocks xmlns:a="http://schemas.openxmlformats.org/drawingml/2006/main" noGrp="1"/>
          </p:cNvSpPr>
          <p:nvPr/>
        </p:nvSpPr>
        <p:spPr>
          <a:xfrm xmlns:a="http://schemas.openxmlformats.org/drawingml/2006/main">
            <a:off x="6324600" y="19716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5B61C"/>
                </a:solidFill>
                <a:latin typeface="DejaVu Sans"/>
                <a:ea typeface="DejaVu Sans"/>
                <a:cs typeface="DejaVu Sans"/>
              </a:defRPr>
            </a:pPr>
            <a:r>
              <a:rPr sz="1725" b="1">
                <a:solidFill>
                  <a:srgbClr val="F5B61C"/>
                </a:solidFill>
                <a:latin typeface="DejaVu Sans"/>
                <a:ea typeface="DejaVu Sans"/>
                <a:cs typeface="DejaVu Sans"/>
              </a:rPr>
              <a:t>WHAT WE BUILD</a:t>
            </a:r>
          </a:p>
        </p:txBody>
      </p:sp>
      <p:sp>
        <p:nvSpPr>
          <p:cNvPr id="12" name="">
            <a:extLst xmlns:a="http://schemas.openxmlformats.org/drawingml/2006/main">
              <a:ext uri="{FF2B5EF4-FFF2-40B4-BE49-F238E27FC236}">
                <a16:creationId xmlns:a16="http://schemas.microsoft.com/office/drawing/2014/main" id="{6BA6AC91-C0C8-4FE3-9E5E-F383F7B8CCF5}"/>
              </a:ext>
            </a:extLst>
          </p:cNvPr>
          <p:cNvSpPr>
            <a:spLocks xmlns:a="http://schemas.openxmlformats.org/drawingml/2006/main" noGrp="1"/>
          </p:cNvSpPr>
          <p:nvPr/>
        </p:nvSpPr>
        <p:spPr>
          <a:xfrm xmlns:a="http://schemas.openxmlformats.org/drawingml/2006/main">
            <a:off x="6324600" y="2476500"/>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Rigor moves</a:t>
            </a:r>
          </a:p>
        </p:txBody>
      </p:sp>
      <p:sp>
        <p:nvSpPr>
          <p:cNvPr id="13" name="">
            <a:extLst xmlns:a="http://schemas.openxmlformats.org/drawingml/2006/main">
              <a:ext uri="{FF2B5EF4-FFF2-40B4-BE49-F238E27FC236}">
                <a16:creationId xmlns:a16="http://schemas.microsoft.com/office/drawing/2014/main" id="{69C2E13A-8DBD-4AF6-AEE2-C74FA4DB4FA4}"/>
              </a:ext>
            </a:extLst>
          </p:cNvPr>
          <p:cNvSpPr>
            <a:spLocks xmlns:a="http://schemas.openxmlformats.org/drawingml/2006/main" noGrp="1"/>
          </p:cNvSpPr>
          <p:nvPr/>
        </p:nvSpPr>
        <p:spPr>
          <a:xfrm xmlns:a="http://schemas.openxmlformats.org/drawingml/2006/main" flipH="0" flipV="0">
            <a:off x="6324600" y="3181350"/>
            <a:ext cx="5238750" cy="0"/>
          </a:xfrm>
          <a:prstGeom xmlns:a="http://schemas.openxmlformats.org/drawingml/2006/main" prst="line">
            <a:avLst/>
          </a:prstGeom>
          <a:noFill xmlns:a="http://schemas.openxmlformats.org/drawingml/2006/main"/>
          <a:ln xmlns:a="http://schemas.openxmlformats.org/drawingml/2006/main" w="19050">
            <a:solidFill>
              <a:srgbClr val="F5B61C"/>
            </a:solidFill>
            <a:prstDash val="solid"/>
          </a:ln>
        </p:spPr>
      </p:sp>
      <p:sp>
        <p:nvSpPr>
          <p:cNvPr id="14" name="">
            <a:extLst xmlns:a="http://schemas.openxmlformats.org/drawingml/2006/main">
              <a:ext uri="{FF2B5EF4-FFF2-40B4-BE49-F238E27FC236}">
                <a16:creationId xmlns:a16="http://schemas.microsoft.com/office/drawing/2014/main" id="{90D74532-F315-40E3-BDDC-60379C5ED0E7}"/>
              </a:ext>
            </a:extLst>
          </p:cNvPr>
          <p:cNvSpPr>
            <a:spLocks xmlns:a="http://schemas.openxmlformats.org/drawingml/2006/main" noGrp="1"/>
          </p:cNvSpPr>
          <p:nvPr/>
        </p:nvSpPr>
        <p:spPr>
          <a:xfrm xmlns:a="http://schemas.openxmlformats.org/drawingml/2006/main">
            <a:off x="6324600" y="33718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Output → Distribution</a:t>
            </a:r>
          </a:p>
        </p:txBody>
      </p:sp>
      <p:sp>
        <p:nvSpPr>
          <p:cNvPr id="15" name="">
            <a:extLst xmlns:a="http://schemas.openxmlformats.org/drawingml/2006/main">
              <a:ext uri="{FF2B5EF4-FFF2-40B4-BE49-F238E27FC236}">
                <a16:creationId xmlns:a16="http://schemas.microsoft.com/office/drawing/2014/main" id="{B87639FF-E7E3-4CD5-9A33-34698F092398}"/>
              </a:ext>
            </a:extLst>
          </p:cNvPr>
          <p:cNvSpPr>
            <a:spLocks xmlns:a="http://schemas.openxmlformats.org/drawingml/2006/main" noGrp="1"/>
          </p:cNvSpPr>
          <p:nvPr/>
        </p:nvSpPr>
        <p:spPr>
          <a:xfrm xmlns:a="http://schemas.openxmlformats.org/drawingml/2006/main">
            <a:off x="6324600" y="37909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Requirement → Boundary</a:t>
            </a:r>
          </a:p>
        </p:txBody>
      </p:sp>
      <p:sp>
        <p:nvSpPr>
          <p:cNvPr id="16" name="">
            <a:extLst xmlns:a="http://schemas.openxmlformats.org/drawingml/2006/main">
              <a:ext uri="{FF2B5EF4-FFF2-40B4-BE49-F238E27FC236}">
                <a16:creationId xmlns:a16="http://schemas.microsoft.com/office/drawing/2014/main" id="{EFC6400B-C1C3-4D9B-9536-98A4F921BDCC}"/>
              </a:ext>
            </a:extLst>
          </p:cNvPr>
          <p:cNvSpPr>
            <a:spLocks xmlns:a="http://schemas.openxmlformats.org/drawingml/2006/main" noGrp="1"/>
          </p:cNvSpPr>
          <p:nvPr/>
        </p:nvSpPr>
        <p:spPr>
          <a:xfrm xmlns:a="http://schemas.openxmlformats.org/drawingml/2006/main">
            <a:off x="6324600" y="42100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Test → Measurement</a:t>
            </a:r>
          </a:p>
        </p:txBody>
      </p:sp>
      <p:sp>
        <p:nvSpPr>
          <p:cNvPr id="17" name="">
            <a:extLst xmlns:a="http://schemas.openxmlformats.org/drawingml/2006/main">
              <a:ext uri="{FF2B5EF4-FFF2-40B4-BE49-F238E27FC236}">
                <a16:creationId xmlns:a16="http://schemas.microsoft.com/office/drawing/2014/main" id="{4A4CFB3F-C079-40B8-B8EB-99C503E9D748}"/>
              </a:ext>
            </a:extLst>
          </p:cNvPr>
          <p:cNvSpPr>
            <a:spLocks xmlns:a="http://schemas.openxmlformats.org/drawingml/2006/main" noGrp="1"/>
          </p:cNvSpPr>
          <p:nvPr/>
        </p:nvSpPr>
        <p:spPr>
          <a:xfrm xmlns:a="http://schemas.openxmlformats.org/drawingml/2006/main">
            <a:off x="6324600" y="46291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Release → Risk decision</a:t>
            </a:r>
          </a:p>
        </p:txBody>
      </p:sp>
      <p:sp>
        <p:nvSpPr>
          <p:cNvPr id="18" name="">
            <a:extLst xmlns:a="http://schemas.openxmlformats.org/drawingml/2006/main">
              <a:ext uri="{FF2B5EF4-FFF2-40B4-BE49-F238E27FC236}">
                <a16:creationId xmlns:a16="http://schemas.microsoft.com/office/drawing/2014/main" id="{891A143A-C5EA-4B2B-A13F-43C73B1DA6C8}"/>
              </a:ext>
            </a:extLst>
          </p:cNvPr>
          <p:cNvSpPr>
            <a:spLocks xmlns:a="http://schemas.openxmlformats.org/drawingml/2006/main" noGrp="1"/>
          </p:cNvSpPr>
          <p:nvPr/>
        </p:nvSpPr>
        <p:spPr>
          <a:xfrm xmlns:a="http://schemas.openxmlformats.org/drawingml/2006/main">
            <a:off x="6324600" y="50482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Production → Control loop</a:t>
            </a:r>
          </a:p>
        </p:txBody>
      </p:sp>
      <p:sp>
        <p:nvSpPr>
          <p:cNvPr id="19" name="">
            <a:extLst xmlns:a="http://schemas.openxmlformats.org/drawingml/2006/main">
              <a:ext uri="{FF2B5EF4-FFF2-40B4-BE49-F238E27FC236}">
                <a16:creationId xmlns:a16="http://schemas.microsoft.com/office/drawing/2014/main" id="{FF156E55-06F0-455B-A2B4-5117E70ADBAB}"/>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550FDE2A-EBD5-4563-AE6B-DEFED39B1622}"/>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DejaVu Sans"/>
                <a:ea typeface="DejaVu Sans"/>
                <a:cs typeface="DejaVu Sans"/>
              </a:defRPr>
            </a:pPr>
            <a:r>
              <a:rPr sz="2250" b="1">
                <a:solidFill>
                  <a:srgbClr val="F4F7FA"/>
                </a:solidFill>
                <a:latin typeface="DejaVu Sans"/>
                <a:ea typeface="DejaVu Sans"/>
                <a:cs typeface="DejaVu Sans"/>
              </a:rPr>
              <a:t>The team remains accountable for the whole system.</a:t>
            </a:r>
          </a:p>
        </p:txBody>
      </p:sp>
    </p:spTree>
    <p:extLst>
      <p:ext uri="{BB962C8B-B14F-4D97-AF65-F5344CB8AC3E}">
        <p14:creationId xmlns:p14="http://schemas.microsoft.com/office/powerpoint/2010/main" val="97081029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2026-09-21T16:39:07.0890000Z</dcterms:created>
  <dcterms:modified xsi:type="dcterms:W3CDTF">2026-09-21T16:39:07.0890000Z</dcterms:modified>
</coreProperties>
</file>