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311d26cd7814986" /><Relationship Type="http://schemas.openxmlformats.org/officeDocument/2006/relationships/extended-properties" Target="/docProps/app.xml" Id="Re13e29aad446444e" /><Relationship Type="http://schemas.openxmlformats.org/officeDocument/2006/relationships/officeDocument" Target="/ppt/presentation.xml" Id="Rd07cdcb1432c40f2" /></Relationships>
</file>

<file path=ppt/presentation.xml><?xml version="1.0" encoding="utf-8"?>
<p:presentation xmlns:p="http://schemas.openxmlformats.org/presentationml/2006/main">
  <p:sldMasterIdLst>
    <p:sldMasterId xmlns:r="http://schemas.openxmlformats.org/officeDocument/2006/relationships" id="2147483648" r:id="Rd16cce49c2bc4311"/>
  </p:sldMasterIdLst>
  <p:notesMasterIdLst>
    <p:notesMasterId xmlns:r="http://schemas.openxmlformats.org/officeDocument/2006/relationships" r:id="R09d81b496dcf450b"/>
  </p:notesMasterIdLst>
  <p:sldIdLst>
    <p:sldId xmlns:r="http://schemas.openxmlformats.org/officeDocument/2006/relationships" id="256" r:id="R6ab2ac02c3a44572"/>
    <p:sldId xmlns:r="http://schemas.openxmlformats.org/officeDocument/2006/relationships" id="257" r:id="Ref869b5fe3904fcc"/>
    <p:sldId xmlns:r="http://schemas.openxmlformats.org/officeDocument/2006/relationships" id="258" r:id="R889337fa20564d5b"/>
    <p:sldId xmlns:r="http://schemas.openxmlformats.org/officeDocument/2006/relationships" id="259" r:id="R5f8203332c3542f3"/>
    <p:sldId xmlns:r="http://schemas.openxmlformats.org/officeDocument/2006/relationships" id="260" r:id="R728444f5982c47e6"/>
    <p:sldId xmlns:r="http://schemas.openxmlformats.org/officeDocument/2006/relationships" id="261" r:id="R94636823f9e448c1"/>
    <p:sldId xmlns:r="http://schemas.openxmlformats.org/officeDocument/2006/relationships" id="262" r:id="Re4c45875d8f54e94"/>
    <p:sldId xmlns:r="http://schemas.openxmlformats.org/officeDocument/2006/relationships" id="263" r:id="R83171ac28c634f47"/>
    <p:sldId xmlns:r="http://schemas.openxmlformats.org/officeDocument/2006/relationships" id="264" r:id="R70d0c1fc259c4440"/>
    <p:sldId xmlns:r="http://schemas.openxmlformats.org/officeDocument/2006/relationships" id="265" r:id="R280e88125b294806"/>
    <p:sldId xmlns:r="http://schemas.openxmlformats.org/officeDocument/2006/relationships" id="266" r:id="R4d0212b418a74b65"/>
    <p:sldId xmlns:r="http://schemas.openxmlformats.org/officeDocument/2006/relationships" id="267" r:id="R8ed5810187ca43bb"/>
    <p:sldId xmlns:r="http://schemas.openxmlformats.org/officeDocument/2006/relationships" id="268" r:id="R7b513ec8cf21449a"/>
    <p:sldId xmlns:r="http://schemas.openxmlformats.org/officeDocument/2006/relationships" id="269" r:id="R7cdd1424392241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a7a886a279402a" /><Relationship Type="http://schemas.openxmlformats.org/officeDocument/2006/relationships/slideMaster" Target="/ppt/slideMasters/slideMaster1.xml" Id="Rd16cce49c2bc4311" /><Relationship Type="http://schemas.openxmlformats.org/officeDocument/2006/relationships/notesMaster" Target="/ppt/notesMasters/notesMaster1.xml" Id="R09d81b496dcf450b" /><Relationship Type="http://schemas.openxmlformats.org/officeDocument/2006/relationships/presProps" Target="/ppt/presProps.xml" Id="R5aadcff529154679" /><Relationship Type="http://schemas.openxmlformats.org/officeDocument/2006/relationships/tableStyles" Target="/ppt/tableStyles.xml" Id="R7b9e12dc8ffc4af9" /><Relationship Type="http://schemas.openxmlformats.org/officeDocument/2006/relationships/slide" Target="/ppt/slides/slide1.xml" Id="R6ab2ac02c3a44572" /><Relationship Type="http://schemas.openxmlformats.org/officeDocument/2006/relationships/slide" Target="/ppt/slides/slide2.xml" Id="Ref869b5fe3904fcc" /><Relationship Type="http://schemas.openxmlformats.org/officeDocument/2006/relationships/slide" Target="/ppt/slides/slide3.xml" Id="R889337fa20564d5b" /><Relationship Type="http://schemas.openxmlformats.org/officeDocument/2006/relationships/slide" Target="/ppt/slides/slide4.xml" Id="R5f8203332c3542f3" /><Relationship Type="http://schemas.openxmlformats.org/officeDocument/2006/relationships/slide" Target="/ppt/slides/slide5.xml" Id="R728444f5982c47e6" /><Relationship Type="http://schemas.openxmlformats.org/officeDocument/2006/relationships/slide" Target="/ppt/slides/slide6.xml" Id="R94636823f9e448c1" /><Relationship Type="http://schemas.openxmlformats.org/officeDocument/2006/relationships/slide" Target="/ppt/slides/slide7.xml" Id="Re4c45875d8f54e94" /><Relationship Type="http://schemas.openxmlformats.org/officeDocument/2006/relationships/slide" Target="/ppt/slides/slide8.xml" Id="R83171ac28c634f47" /><Relationship Type="http://schemas.openxmlformats.org/officeDocument/2006/relationships/slide" Target="/ppt/slides/slide9.xml" Id="R70d0c1fc259c4440" /><Relationship Type="http://schemas.openxmlformats.org/officeDocument/2006/relationships/slide" Target="/ppt/slides/slide10.xml" Id="R280e88125b294806" /><Relationship Type="http://schemas.openxmlformats.org/officeDocument/2006/relationships/slide" Target="/ppt/slides/slide11.xml" Id="R4d0212b418a74b65" /><Relationship Type="http://schemas.openxmlformats.org/officeDocument/2006/relationships/slide" Target="/ppt/slides/slide12.xml" Id="R8ed5810187ca43bb" /><Relationship Type="http://schemas.openxmlformats.org/officeDocument/2006/relationships/slide" Target="/ppt/slides/slide13.xml" Id="R7b513ec8cf21449a" /><Relationship Type="http://schemas.openxmlformats.org/officeDocument/2006/relationships/slide" Target="/ppt/slides/slide14.xml" Id="R7cdd1424392241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d3f1e941e5472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1cb8260de134bb5" /><Relationship Type="http://schemas.openxmlformats.org/officeDocument/2006/relationships/notesMaster" Target="/ppt/notesMasters/notesMaster1.xml" Id="Rd85fd224822e4d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69b2d7496c418c" /><Relationship Type="http://schemas.openxmlformats.org/officeDocument/2006/relationships/notesMaster" Target="/ppt/notesMasters/notesMaster1.xml" Id="R64de720a09294d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0d0f856baa49e3" /><Relationship Type="http://schemas.openxmlformats.org/officeDocument/2006/relationships/notesMaster" Target="/ppt/notesMasters/notesMaster1.xml" Id="Rf05050ed499c49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bae00d1df0a421f" /><Relationship Type="http://schemas.openxmlformats.org/officeDocument/2006/relationships/notesMaster" Target="/ppt/notesMasters/notesMaster1.xml" Id="R0aa888edd25944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cd9f9a91864c8c" /><Relationship Type="http://schemas.openxmlformats.org/officeDocument/2006/relationships/notesMaster" Target="/ppt/notesMasters/notesMaster1.xml" Id="R685e5dff03cd46c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40e5347c1fc4c2e" /><Relationship Type="http://schemas.openxmlformats.org/officeDocument/2006/relationships/notesMaster" Target="/ppt/notesMasters/notesMaster1.xml" Id="Rbd7e0130d591485c" /></Relationships>
</file>

<file path=ppt/notesSlides/_rels/notesSlide7.xml.rels>&#65279;<?xml version="1.0" encoding="utf-8"?><Relationships xmlns="http://schemas.openxmlformats.org/package/2006/relationships"><Relationship Type="http://schemas.openxmlformats.org/officeDocument/2006/relationships/slide" Target="/ppt/slides/slide7.xml" Id="Re968a69689504d03" /><Relationship Type="http://schemas.openxmlformats.org/officeDocument/2006/relationships/notesMaster" Target="/ppt/notesMasters/notesMaster1.xml" Id="Ra7c3c30550d24aaa" /></Relationships>
</file>

<file path=ppt/notesSlides/_rels/notesSlide8.xml.rels>&#65279;<?xml version="1.0" encoding="utf-8"?><Relationships xmlns="http://schemas.openxmlformats.org/package/2006/relationships"><Relationship Type="http://schemas.openxmlformats.org/officeDocument/2006/relationships/slide" Target="/ppt/slides/slide8.xml" Id="Ra2b96cd1aa864386" /><Relationship Type="http://schemas.openxmlformats.org/officeDocument/2006/relationships/notesMaster" Target="/ppt/notesMasters/notesMaster1.xml" Id="R56f5d8574bc54c16" /></Relationships>
</file>

<file path=ppt/notesSlides/_rels/notesSlide9.xml.rels>&#65279;<?xml version="1.0" encoding="utf-8"?><Relationships xmlns="http://schemas.openxmlformats.org/package/2006/relationships"><Relationship Type="http://schemas.openxmlformats.org/officeDocument/2006/relationships/slide" Target="/ppt/slides/slide9.xml" Id="R0881d1f831f24e53" /><Relationship Type="http://schemas.openxmlformats.org/officeDocument/2006/relationships/notesMaster" Target="/ppt/notesMasters/notesMaster1.xml" Id="Rc3e5ac3c63994e3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3484d5552548be" /><Relationship Type="http://schemas.openxmlformats.org/officeDocument/2006/relationships/notesMaster" Target="/ppt/notesMasters/notesMaster1.xml" Id="R05979ef031df46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0c1a48d95074c06" /><Relationship Type="http://schemas.openxmlformats.org/officeDocument/2006/relationships/notesMaster" Target="/ppt/notesMasters/notesMaster1.xml" Id="R960732d8443d4f4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007c8767b744e79" /><Relationship Type="http://schemas.openxmlformats.org/officeDocument/2006/relationships/notesMaster" Target="/ppt/notesMasters/notesMaster1.xml" Id="R9b89ed9b2d674db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cffaa4e79564288" /><Relationship Type="http://schemas.openxmlformats.org/officeDocument/2006/relationships/notesMaster" Target="/ppt/notesMasters/notesMaster1.xml" Id="R5b5f84dc371349a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0f46ba9b964edb" /><Relationship Type="http://schemas.openxmlformats.org/officeDocument/2006/relationships/notesMaster" Target="/ppt/notesMasters/notesMaster1.xml" Id="R2d4e0f9b1b7843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c50195b721499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c5f3f2d22d4f39" /><Relationship Type="http://schemas.openxmlformats.org/officeDocument/2006/relationships/slideLayout" Target="/ppt/slideLayouts/slideLayout1.xml" Id="Raa4cc6a8767f4ff7"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aa4cc6a8767f4ff7"/>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ffc3af8498a45c5" /><Relationship Type="http://schemas.openxmlformats.org/officeDocument/2006/relationships/image" Target="/ppt/media/image.png" Id="R57d9f54852394f01" /><Relationship Type="http://schemas.openxmlformats.org/officeDocument/2006/relationships/notesSlide" Target="/ppt/notesSlides/notesSlide1.xml" Id="R860df224dbf642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d6ad5cd1ec94fa0" /><Relationship Type="http://schemas.openxmlformats.org/officeDocument/2006/relationships/notesSlide" Target="/ppt/notesSlides/notesSlide2.xml" Id="R1754fc12f31e41b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d5755f2c5bb46ab" /><Relationship Type="http://schemas.openxmlformats.org/officeDocument/2006/relationships/notesSlide" Target="/ppt/notesSlides/notesSlide3.xml" Id="Rf835ad3bea154eb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581a038549b4790" /><Relationship Type="http://schemas.openxmlformats.org/officeDocument/2006/relationships/notesSlide" Target="/ppt/notesSlides/notesSlide4.xml" Id="Rbd20da95b61e41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4611c6bac65470d" /><Relationship Type="http://schemas.openxmlformats.org/officeDocument/2006/relationships/notesSlide" Target="/ppt/notesSlides/notesSlide5.xml" Id="Rcc437d3335c7472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26c9b7bc8ce431e" /><Relationship Type="http://schemas.openxmlformats.org/officeDocument/2006/relationships/notesSlide" Target="/ppt/notesSlides/notesSlide6.xml" Id="R20a8fa7fdbd9400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5be825dc4794347" /><Relationship Type="http://schemas.openxmlformats.org/officeDocument/2006/relationships/notesSlide" Target="/ppt/notesSlides/notesSlide7.xml" Id="Rbb9af2171687481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570b0af663448bb" /><Relationship Type="http://schemas.openxmlformats.org/officeDocument/2006/relationships/notesSlide" Target="/ppt/notesSlides/notesSlide8.xml" Id="Rda32b16e2c3c4d4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cfc148ab9f74fb6" /><Relationship Type="http://schemas.openxmlformats.org/officeDocument/2006/relationships/notesSlide" Target="/ppt/notesSlides/notesSlide9.xml" Id="Rd6bca7a1d428406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8de66c0eded4884" /><Relationship Type="http://schemas.openxmlformats.org/officeDocument/2006/relationships/chart" Target="/ppt/slides/charts/chart1.xml" Id="R0f139ec6901146a1" /><Relationship Type="http://schemas.openxmlformats.org/officeDocument/2006/relationships/notesSlide" Target="/ppt/notesSlides/notesSlide10.xml" Id="R28d1cb69bb8649b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1643d0367ef46c5" /><Relationship Type="http://schemas.openxmlformats.org/officeDocument/2006/relationships/notesSlide" Target="/ppt/notesSlides/notesSlide11.xml" Id="Ra761c1f5da014d4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c72a4d6d0184577" /><Relationship Type="http://schemas.openxmlformats.org/officeDocument/2006/relationships/notesSlide" Target="/ppt/notesSlides/notesSlide12.xml" Id="R36173419dc5d4f3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1cbf5cb3bd34f6d" /><Relationship Type="http://schemas.openxmlformats.org/officeDocument/2006/relationships/notesSlide" Target="/ppt/notesSlides/notesSlide13.xml" Id="Ra25e7e22191f471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a52799abb504b2c" /><Relationship Type="http://schemas.openxmlformats.org/officeDocument/2006/relationships/notesSlide" Target="/ppt/notesSlides/notesSlide14.xml" Id="R8a05c4790abf4fa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dLbls>
            <c:dLbl>
              <c:idx val="0"/>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196
98%</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3
1.5%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
0.5%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s>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22CD03F-2458-4B99-829D-7E039D5514D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50D28FC8-AD3E-4868-8EC6-98454AA1686A}"/>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Both Sides</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of Software Engineering</a:t>
            </a:r>
          </a:p>
        </p:txBody>
      </p:sp>
      <p:sp>
        <p:nvSpPr>
          <p:cNvPr id="3" name="">
            <a:extLst xmlns:a="http://schemas.openxmlformats.org/drawingml/2006/main">
              <a:ext uri="{FF2B5EF4-FFF2-40B4-BE49-F238E27FC236}">
                <a16:creationId xmlns:a16="http://schemas.microsoft.com/office/drawing/2014/main" id="{4BAD9580-E504-40CB-AC6B-783DD7C7CF34}"/>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How we build software. And what software is.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57d9f54852394f01"/>
          <a:stretch xmlns:a="http://schemas.openxmlformats.org/drawingml/2006/main"/>
        </p:blipFill>
        <p:spPr>
          <a:xfrm xmlns:a="http://schemas.openxmlformats.org/drawingml/2006/main">
            <a:off x="914400" y="2201863"/>
            <a:ext cx="10363200" cy="3454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D252CFB-E0D4-4E68-A432-81553113E693}"/>
              </a:ext>
            </a:extLst>
          </p:cNvPr>
          <p:cNvSpPr>
            <a:spLocks xmlns:a="http://schemas.openxmlformats.org/drawingml/2006/main" noGrp="1"/>
          </p:cNvSpPr>
          <p:nvPr/>
        </p:nvSpPr>
        <p:spPr>
          <a:xfrm xmlns:a="http://schemas.openxmlformats.org/drawingml/2006/main">
            <a:off x="9144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F26B04CF-B371-4A4F-918A-D37FC51E4201}"/>
              </a:ext>
            </a:extLst>
          </p:cNvPr>
          <p:cNvSpPr>
            <a:spLocks xmlns:a="http://schemas.openxmlformats.org/drawingml/2006/main" noGrp="1"/>
          </p:cNvSpPr>
          <p:nvPr/>
        </p:nvSpPr>
        <p:spPr>
          <a:xfrm xmlns:a="http://schemas.openxmlformats.org/drawingml/2006/main">
            <a:off x="9144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9FD937DD-647C-4C13-8B0E-58DA5A5BE779}"/>
              </a:ext>
            </a:extLst>
          </p:cNvPr>
          <p:cNvSpPr>
            <a:spLocks xmlns:a="http://schemas.openxmlformats.org/drawingml/2006/main" noGrp="1"/>
          </p:cNvSpPr>
          <p:nvPr/>
        </p:nvSpPr>
        <p:spPr>
          <a:xfrm xmlns:a="http://schemas.openxmlformats.org/drawingml/2006/main">
            <a:off x="64770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FC5CF782-03ED-4393-BB1A-A1B90D0D0C36}"/>
              </a:ext>
            </a:extLst>
          </p:cNvPr>
          <p:cNvSpPr>
            <a:spLocks xmlns:a="http://schemas.openxmlformats.org/drawingml/2006/main" noGrp="1"/>
          </p:cNvSpPr>
          <p:nvPr/>
        </p:nvSpPr>
        <p:spPr>
          <a:xfrm xmlns:a="http://schemas.openxmlformats.org/drawingml/2006/main">
            <a:off x="64770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12B74BA0-5C68-472F-A5DC-9C6128938A55}"/>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Vitalii Oborskyi · PMDay</a:t>
            </a:r>
          </a:p>
        </p:txBody>
      </p:sp>
    </p:spTree>
    <p:extLst>
      <p:ext uri="{BB962C8B-B14F-4D97-AF65-F5344CB8AC3E}">
        <p14:creationId xmlns:p14="http://schemas.microsoft.com/office/powerpoint/2010/main" val="1881552192"/>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E033112-3C7A-43E3-9827-4592F7CF6C6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This Is a Real Phase Transition</a:t>
            </a:r>
          </a:p>
        </p:txBody>
      </p:sp>
      <p:sp>
        <p:nvSpPr>
          <p:cNvPr id="2" name="">
            <a:extLst xmlns:a="http://schemas.openxmlformats.org/drawingml/2006/main">
              <a:ext uri="{FF2B5EF4-FFF2-40B4-BE49-F238E27FC236}">
                <a16:creationId xmlns:a16="http://schemas.microsoft.com/office/drawing/2014/main" id="{5F0D7836-47D8-4233-B8A6-9D502DE17A6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D9EFBD3-3FEC-4A0C-88E9-DE6FB13508D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7A7C8041-08FE-45A3-B8D0-5C94A7959A66}"/>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0E43EDB9-A656-42C1-A063-AD1935ED168E}"/>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EF1602FA-DB4A-414C-893C-27F35968B838}"/>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34C5944D-5757-48E0-BA73-8E01C39CA0C1}"/>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B53C4119-F5D2-4AFD-A4B7-43C277A02AA5}"/>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A85796E5-7B34-4A1A-85BD-829BF554828C}"/>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0F190094-0610-4737-873C-3339F3B2738C}"/>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75E82139-9678-4223-B1D6-19EFF813DB49}"/>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1B6D9C15-EC28-46DD-8B67-6F6C740A4065}"/>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099B6859-613B-4101-BFB7-8DCBF0A422B5}"/>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84391AB0-F7F4-4832-9EB2-C71F0EEE77B3}"/>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E0D47555-F8D7-4F8B-B6AC-B12BC8D82630}"/>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93C6EB63-D89F-4092-BDBE-00D693CFFBEB}"/>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5BA062DC-61E0-471C-B43C-39A11F3D29D2}"/>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A409BB5E-2400-43D3-A42C-1BAD64FF03D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We design the environment in which behavior is generated at runtime.</a:t>
            </a:r>
          </a:p>
        </p:txBody>
      </p:sp>
    </p:spTree>
    <p:extLst>
      <p:ext uri="{BB962C8B-B14F-4D97-AF65-F5344CB8AC3E}">
        <p14:creationId xmlns:p14="http://schemas.microsoft.com/office/powerpoint/2010/main" val="1656091984"/>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1913ED2E-0AD9-4C99-8110-FB3BBD179D8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B58B15BB-F573-424C-B856-17411AE9B68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095BF39-B303-46F2-BDDE-13B2DB62BE7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725A6844-6B4E-4B0C-B337-EAA812BE8493}"/>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14052F29-8471-4E97-B878-2DA1F030ADAF}"/>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54608C64-A709-4E82-8373-868B62B758FD}"/>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3365E7DE-65ED-4E5D-8CCB-8BC0C5C1C1D5}"/>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1EDEB91A-4FF8-4EB4-BB4E-1425A150E0B3}"/>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9F02B6DB-4CDD-4FAA-AD8F-2B7D78CFEC47}"/>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89727570-273D-444E-BA72-1D47D3CB0AA1}"/>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833409B2-C186-473D-900E-25A06BB5758B}"/>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75A14A41-584D-449D-9D89-96EE28DAD569}"/>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AB121FE7-E7ED-4265-9BB8-516AB2E9A5AB}"/>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AE016385-23CD-4C87-80D7-B094F874438F}"/>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445AB976-19EA-4D46-AECB-A54A3B391301}"/>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133A87CC-D03C-44AF-BA46-8B008A49A3E5}"/>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F8E127E7-1D7F-417F-BA10-86A3EE610AE9}"/>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A7042447-7482-4ACD-8E9A-34975832E80B}"/>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9A47BAD7-6B33-4F00-BF67-4CC58B376ADA}"/>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EB1D03BE-956E-4BAD-9946-A37BE08CA022}"/>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71771346-36A0-4E31-8B59-F68EBA9F7549}"/>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BC59BCD3-58CB-4C24-8F13-99B0986A9F72}"/>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7B0C9FFF-A065-4178-9C1A-C695DA9711F3}"/>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8B0E28B4-D87C-4015-86F3-686CF166D180}"/>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433F1502-4332-4430-A8CB-4098D3E29A2F}"/>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01039AC8-AE80-48C1-BC92-FA1F676B4F8C}"/>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DC106461-F5A1-43D1-912C-29B98F8D390D}"/>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3D0CE3C6-7BC0-4BFB-B009-AA1B7E296B6F}"/>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2592F6F5-89B4-48AA-8FE4-35B35D371619}"/>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D645AED1-057F-4362-8B3B-91CAC0932760}"/>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E4C1F6DA-776A-4E33-8497-3F77125AFC7B}"/>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3EADF500-B28E-4813-B97B-8C9F041B66F6}"/>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E7E4BE4B-4A23-43C1-A0AE-8AA14FF625CD}"/>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26AEFE10-7E4F-4E8E-85E1-1747DE185B7C}"/>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937B89AE-F73C-473D-8541-7CD5926F5AEC}"/>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0F514D72-6CDB-419D-86B2-2EB1CD7356E6}"/>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53B185F2-D1B9-4B4A-9EE3-88D0096B25F0}"/>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D563CE25-962C-4F5C-AF3D-E143FE755929}"/>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91D4E617-A33B-456D-89B4-B883BD1688BE}"/>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D0612448-CB67-4A5A-9406-A9690A08AEC2}"/>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C2695304-4EF1-40CC-A942-8E491918260E}"/>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2BF393F1-8CD5-4F87-82A5-414A6E94AF0A}"/>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E6084419-1730-42AB-A948-5B4237A73ECA}"/>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848D707B-A292-4B94-9C6D-2BDC89721D33}"/>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5C8AB225-969B-4BA1-AED8-74EFA3A4A67A}"/>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081ED12E-903C-4EB3-8CE0-B4557CE70E02}"/>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09B8E417-494B-4BB8-BE23-9594884E00A5}"/>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B334C33F-0EF8-4435-B8C2-0F99785581B7}"/>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C5D14825-C2F5-4623-A069-06F16A0D952D}"/>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8BCD1260-111E-4E3D-891B-432265F8624B}"/>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22C2307A-1644-4802-BC6B-86AAE6111DDD}"/>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3BFE4E81-F1BD-4252-BB99-895797F6B055}"/>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295F3B4D-1153-4AE2-8725-DD18B63EEF09}"/>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1A97A1EC-E7B6-4FAB-8009-FAF086439703}"/>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CC177E48-1825-40BB-9672-3957A2701868}"/>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8085D043-C56E-489F-9224-4A702CDFFA12}"/>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77BCDC66-B5D3-4D31-8C0F-A895A3721BE3}"/>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B8322899-CFAF-4D7F-A9E9-352387EE7B9D}"/>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5DFAEE0D-BD23-493D-8235-A639A07CB40C}"/>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0DE4D842-8352-4E26-84E0-B98BC403117B}"/>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B95E51A3-7B6C-44AB-8581-E6B4D9A11E8B}"/>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136E746E-D3D2-4FC0-9855-FBD3B53F533C}"/>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87ECDD02-9E1E-40CD-BDC1-A944C16239AA}"/>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A62EA9BB-78DE-4F79-BC9F-2E4E552677E7}"/>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24157D8E-1E2B-488A-974B-0B3070FDFE5D}"/>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1933758E-931B-4AC7-A846-10A59FDC14BE}"/>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68D85165-80B0-462E-8831-515B606AE6D0}"/>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30354726"/>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49A274A8-9A32-45A5-81B9-B60FE4D90B3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09812FDB-24D9-459A-8163-CE4FC0D56FC7}"/>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D169C5A-D39D-4328-A12A-259FC03897E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05598CD1-0B81-4CDD-8288-7ADB17EC63C3}"/>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F8B5D80C-708A-46E2-8DD1-60B4CB545A02}"/>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NBER · SEP 2026 REVISION</a:t>
            </a:r>
          </a:p>
        </p:txBody>
      </p:sp>
      <p:sp>
        <p:nvSpPr>
          <p:cNvPr id="6" name="">
            <a:extLst xmlns:a="http://schemas.openxmlformats.org/drawingml/2006/main">
              <a:ext uri="{FF2B5EF4-FFF2-40B4-BE49-F238E27FC236}">
                <a16:creationId xmlns:a16="http://schemas.microsoft.com/office/drawing/2014/main" id="{973071E3-7FD3-428B-8CA4-BBC5DA666151}"/>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25.5×</a:t>
            </a:r>
          </a:p>
        </p:txBody>
      </p:sp>
      <p:sp>
        <p:nvSpPr>
          <p:cNvPr id="7" name="">
            <a:extLst xmlns:a="http://schemas.openxmlformats.org/drawingml/2006/main">
              <a:ext uri="{FF2B5EF4-FFF2-40B4-BE49-F238E27FC236}">
                <a16:creationId xmlns:a16="http://schemas.microsoft.com/office/drawing/2014/main" id="{41396745-9922-49B9-8D7E-BB4ACBC02D15}"/>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changed LOC</a:t>
            </a:r>
          </a:p>
        </p:txBody>
      </p:sp>
      <p:sp>
        <p:nvSpPr>
          <p:cNvPr id="8" name="">
            <a:extLst xmlns:a="http://schemas.openxmlformats.org/drawingml/2006/main">
              <a:ext uri="{FF2B5EF4-FFF2-40B4-BE49-F238E27FC236}">
                <a16:creationId xmlns:a16="http://schemas.microsoft.com/office/drawing/2014/main" id="{EDC3AB85-CF8E-41F8-A6D5-785760E26522}"/>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3.4×</a:t>
            </a:r>
          </a:p>
        </p:txBody>
      </p:sp>
      <p:sp>
        <p:nvSpPr>
          <p:cNvPr id="9" name="">
            <a:extLst xmlns:a="http://schemas.openxmlformats.org/drawingml/2006/main">
              <a:ext uri="{FF2B5EF4-FFF2-40B4-BE49-F238E27FC236}">
                <a16:creationId xmlns:a16="http://schemas.microsoft.com/office/drawing/2014/main" id="{8CAB71AC-9233-4366-AE9A-A1D7828DC6EE}"/>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commits</a:t>
            </a:r>
          </a:p>
        </p:txBody>
      </p:sp>
      <p:sp>
        <p:nvSpPr>
          <p:cNvPr id="10" name="">
            <a:extLst xmlns:a="http://schemas.openxmlformats.org/drawingml/2006/main">
              <a:ext uri="{FF2B5EF4-FFF2-40B4-BE49-F238E27FC236}">
                <a16:creationId xmlns:a16="http://schemas.microsoft.com/office/drawing/2014/main" id="{A84E3970-D8E2-48AB-9DDE-DEBF425F6C8D}"/>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1.3×</a:t>
            </a:r>
          </a:p>
        </p:txBody>
      </p:sp>
      <p:sp>
        <p:nvSpPr>
          <p:cNvPr id="11" name="">
            <a:extLst xmlns:a="http://schemas.openxmlformats.org/drawingml/2006/main">
              <a:ext uri="{FF2B5EF4-FFF2-40B4-BE49-F238E27FC236}">
                <a16:creationId xmlns:a16="http://schemas.microsoft.com/office/drawing/2014/main" id="{784CCA1C-963E-459B-9D58-2230F06EA500}"/>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releases</a:t>
            </a:r>
          </a:p>
        </p:txBody>
      </p:sp>
      <p:sp>
        <p:nvSpPr>
          <p:cNvPr id="12" name="">
            <a:extLst xmlns:a="http://schemas.openxmlformats.org/drawingml/2006/main">
              <a:ext uri="{FF2B5EF4-FFF2-40B4-BE49-F238E27FC236}">
                <a16:creationId xmlns:a16="http://schemas.microsoft.com/office/drawing/2014/main" id="{D6687F21-96B5-44C3-9CD0-B492AA58E8E0}"/>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Cumulative across three tool generations</a:t>
            </a:r>
          </a:p>
        </p:txBody>
      </p:sp>
      <p:sp>
        <p:nvSpPr>
          <p:cNvPr id="13" name="">
            <a:extLst xmlns:a="http://schemas.openxmlformats.org/drawingml/2006/main">
              <a:ext uri="{FF2B5EF4-FFF2-40B4-BE49-F238E27FC236}">
                <a16:creationId xmlns:a16="http://schemas.microsoft.com/office/drawing/2014/main" id="{485938E2-47BE-4010-B96A-40360C2D8A46}"/>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Fig. 1 rounded; LOC = additions + deletions.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Async release effect not estimated.</a:t>
            </a:r>
          </a:p>
        </p:txBody>
      </p:sp>
      <p:sp>
        <p:nvSpPr>
          <p:cNvPr id="14" name="">
            <a:extLst xmlns:a="http://schemas.openxmlformats.org/drawingml/2006/main">
              <a:ext uri="{FF2B5EF4-FFF2-40B4-BE49-F238E27FC236}">
                <a16:creationId xmlns:a16="http://schemas.microsoft.com/office/drawing/2014/main" id="{E033358B-52C0-4794-BC19-3CE300EACC58}"/>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More apps. Usage does not</a:t>
            </a:r>
          </a:p>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keep pace with new releases.</a:t>
            </a:r>
          </a:p>
        </p:txBody>
      </p:sp>
      <p:sp>
        <p:nvSpPr>
          <p:cNvPr id="15" name="">
            <a:extLst xmlns:a="http://schemas.openxmlformats.org/drawingml/2006/main">
              <a:ext uri="{FF2B5EF4-FFF2-40B4-BE49-F238E27FC236}">
                <a16:creationId xmlns:a16="http://schemas.microsoft.com/office/drawing/2014/main" id="{A339D2BE-99A8-4EA7-BF27-ED33E1603725}"/>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iOS: &lt;10 ratings</a:t>
            </a:r>
          </a:p>
        </p:txBody>
      </p:sp>
      <p:sp>
        <p:nvSpPr>
          <p:cNvPr id="16" name="">
            <a:extLst xmlns:a="http://schemas.openxmlformats.org/drawingml/2006/main">
              <a:ext uri="{FF2B5EF4-FFF2-40B4-BE49-F238E27FC236}">
                <a16:creationId xmlns:a16="http://schemas.microsoft.com/office/drawing/2014/main" id="{87560BC7-63DA-4450-B9F3-45D9B9109790}"/>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≈78% → 87%</a:t>
            </a:r>
          </a:p>
        </p:txBody>
      </p:sp>
      <p:sp>
        <p:nvSpPr>
          <p:cNvPr id="17" name="">
            <a:extLst xmlns:a="http://schemas.openxmlformats.org/drawingml/2006/main">
              <a:ext uri="{FF2B5EF4-FFF2-40B4-BE49-F238E27FC236}">
                <a16:creationId xmlns:a16="http://schemas.microsoft.com/office/drawing/2014/main" id="{6BD8FA90-5248-40D3-9B85-FF47881F92B0}"/>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Chrome: &lt;10 downloads</a:t>
            </a:r>
          </a:p>
        </p:txBody>
      </p:sp>
      <p:sp>
        <p:nvSpPr>
          <p:cNvPr id="18" name="">
            <a:extLst xmlns:a="http://schemas.openxmlformats.org/drawingml/2006/main">
              <a:ext uri="{FF2B5EF4-FFF2-40B4-BE49-F238E27FC236}">
                <a16:creationId xmlns:a16="http://schemas.microsoft.com/office/drawing/2014/main" id="{D9BF814B-4FA4-401F-9E17-293F50461BE4}"/>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19% → 33%</a:t>
            </a:r>
          </a:p>
        </p:txBody>
      </p:sp>
      <p:sp>
        <p:nvSpPr>
          <p:cNvPr id="19" name="">
            <a:extLst xmlns:a="http://schemas.openxmlformats.org/drawingml/2006/main">
              <a:ext uri="{FF2B5EF4-FFF2-40B4-BE49-F238E27FC236}">
                <a16:creationId xmlns:a16="http://schemas.microsoft.com/office/drawing/2014/main" id="{972C4138-42B2-4489-A857-F585048126AE}"/>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Jan 2025 → Apr 2026; first 3 months.</a:t>
            </a:r>
          </a:p>
        </p:txBody>
      </p:sp>
      <p:sp>
        <p:nvSpPr>
          <p:cNvPr id="20" name="">
            <a:extLst xmlns:a="http://schemas.openxmlformats.org/drawingml/2006/main">
              <a:ext uri="{FF2B5EF4-FFF2-40B4-BE49-F238E27FC236}">
                <a16:creationId xmlns:a16="http://schemas.microsoft.com/office/drawing/2014/main" id="{D95D1252-7D40-4294-AD08-6B5B6033971F}"/>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DORA · 2025</a:t>
            </a:r>
          </a:p>
        </p:txBody>
      </p:sp>
      <p:sp>
        <p:nvSpPr>
          <p:cNvPr id="21" name="">
            <a:extLst xmlns:a="http://schemas.openxmlformats.org/drawingml/2006/main">
              <a:ext uri="{FF2B5EF4-FFF2-40B4-BE49-F238E27FC236}">
                <a16:creationId xmlns:a16="http://schemas.microsoft.com/office/drawing/2014/main" id="{27C7E63F-D549-4E81-BCA4-F147BECC5A67}"/>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Higher throughput</a:t>
            </a:r>
          </a:p>
        </p:txBody>
      </p:sp>
      <p:sp>
        <p:nvSpPr>
          <p:cNvPr id="22" name="">
            <a:extLst xmlns:a="http://schemas.openxmlformats.org/drawingml/2006/main">
              <a:ext uri="{FF2B5EF4-FFF2-40B4-BE49-F238E27FC236}">
                <a16:creationId xmlns:a16="http://schemas.microsoft.com/office/drawing/2014/main" id="{013168BF-D769-41F8-99BF-B5751884C70B}"/>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Lower delivery stability</a:t>
            </a:r>
          </a:p>
        </p:txBody>
      </p:sp>
      <p:sp>
        <p:nvSpPr>
          <p:cNvPr id="23" name="">
            <a:extLst xmlns:a="http://schemas.openxmlformats.org/drawingml/2006/main">
              <a:ext uri="{FF2B5EF4-FFF2-40B4-BE49-F238E27FC236}">
                <a16:creationId xmlns:a16="http://schemas.microsoft.com/office/drawing/2014/main" id="{6FD73B51-7CF9-4E76-A083-E5F0A78D1E5D}"/>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Arial"/>
                <a:ea typeface="Arial"/>
                <a:cs typeface="Arial"/>
              </a:defRPr>
            </a:pPr>
            <a:r>
              <a:rPr sz="1425" b="0">
                <a:solidFill>
                  <a:srgbClr val="F5B61C"/>
                </a:solidFill>
                <a:latin typeface="Arial"/>
                <a:ea typeface="Arial"/>
                <a:cs typeface="Arial"/>
              </a:rPr>
              <a:t>≈ +0.10 SD instability per +1 SD AI adoption</a:t>
            </a:r>
          </a:p>
        </p:txBody>
      </p:sp>
      <p:sp>
        <p:nvSpPr>
          <p:cNvPr id="24" name="">
            <a:extLst xmlns:a="http://schemas.openxmlformats.org/drawingml/2006/main">
              <a:ext uri="{FF2B5EF4-FFF2-40B4-BE49-F238E27FC236}">
                <a16:creationId xmlns:a16="http://schemas.microsoft.com/office/drawing/2014/main" id="{4B12EF38-72A7-4EA1-A2F0-0C5369953789}"/>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89% credible interval ≈ +0.07 to +0.13</a:t>
            </a:r>
          </a:p>
        </p:txBody>
      </p:sp>
      <p:sp>
        <p:nvSpPr>
          <p:cNvPr id="25" name="">
            <a:extLst xmlns:a="http://schemas.openxmlformats.org/drawingml/2006/main">
              <a:ext uri="{FF2B5EF4-FFF2-40B4-BE49-F238E27FC236}">
                <a16:creationId xmlns:a16="http://schemas.microsoft.com/office/drawing/2014/main" id="{3B447211-DF65-438C-AF73-B3B50B93B35C}"/>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Survey model, rounded reading of Fig. 28.</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SD = standard deviation, not a failure percentage.</a:t>
            </a:r>
          </a:p>
        </p:txBody>
      </p:sp>
      <p:sp>
        <p:nvSpPr>
          <p:cNvPr id="26" name="">
            <a:extLst xmlns:a="http://schemas.openxmlformats.org/drawingml/2006/main">
              <a:ext uri="{FF2B5EF4-FFF2-40B4-BE49-F238E27FC236}">
                <a16:creationId xmlns:a16="http://schemas.microsoft.com/office/drawing/2014/main" id="{A29BD75B-2514-4471-BECF-73CA640B7AF2}"/>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0312DBAA-47E5-41B9-849D-D70F8F7867D2}"/>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42829429-DC34-423B-8CF8-20B02EFB31BC}"/>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GITCLEAR · 2023 → 2026 YTD*</a:t>
            </a:r>
          </a:p>
        </p:txBody>
      </p:sp>
      <p:sp>
        <p:nvSpPr>
          <p:cNvPr id="29" name="">
            <a:extLst xmlns:a="http://schemas.openxmlformats.org/drawingml/2006/main">
              <a:ext uri="{FF2B5EF4-FFF2-40B4-BE49-F238E27FC236}">
                <a16:creationId xmlns:a16="http://schemas.microsoft.com/office/drawing/2014/main" id="{785E7AA8-1052-4FBF-926F-4809A1288908}"/>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Moved-code share</a:t>
            </a:r>
          </a:p>
        </p:txBody>
      </p:sp>
      <p:sp>
        <p:nvSpPr>
          <p:cNvPr id="30" name="">
            <a:extLst xmlns:a="http://schemas.openxmlformats.org/drawingml/2006/main">
              <a:ext uri="{FF2B5EF4-FFF2-40B4-BE49-F238E27FC236}">
                <a16:creationId xmlns:a16="http://schemas.microsoft.com/office/drawing/2014/main" id="{B1052593-8A41-4B92-8930-3DAF06F93379}"/>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13% → 3.8%</a:t>
            </a:r>
          </a:p>
        </p:txBody>
      </p:sp>
      <p:sp>
        <p:nvSpPr>
          <p:cNvPr id="31" name="">
            <a:extLst xmlns:a="http://schemas.openxmlformats.org/drawingml/2006/main">
              <a:ext uri="{FF2B5EF4-FFF2-40B4-BE49-F238E27FC236}">
                <a16:creationId xmlns:a16="http://schemas.microsoft.com/office/drawing/2014/main" id="{B8A96E66-5F14-4430-B817-14120F3B8310}"/>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Moved / changed lines: −9.2 pp (−70.8%). Refactoring proxy.</a:t>
            </a:r>
          </a:p>
        </p:txBody>
      </p:sp>
      <p:sp>
        <p:nvSpPr>
          <p:cNvPr id="32" name="">
            <a:extLst xmlns:a="http://schemas.openxmlformats.org/drawingml/2006/main">
              <a:ext uri="{FF2B5EF4-FFF2-40B4-BE49-F238E27FC236}">
                <a16:creationId xmlns:a16="http://schemas.microsoft.com/office/drawing/2014/main" id="{4646C594-08AF-4F81-AE55-EA706BE435CC}"/>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Calls / 1k changed lines</a:t>
            </a:r>
          </a:p>
        </p:txBody>
      </p:sp>
      <p:sp>
        <p:nvSpPr>
          <p:cNvPr id="33" name="">
            <a:extLst xmlns:a="http://schemas.openxmlformats.org/drawingml/2006/main">
              <a:ext uri="{FF2B5EF4-FFF2-40B4-BE49-F238E27FC236}">
                <a16:creationId xmlns:a16="http://schemas.microsoft.com/office/drawing/2014/main" id="{D8D8ECB7-2EDC-45F0-A64F-1A2907155292}"/>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343 → 223</a:t>
            </a:r>
          </a:p>
        </p:txBody>
      </p:sp>
      <p:sp>
        <p:nvSpPr>
          <p:cNvPr id="34" name="">
            <a:extLst xmlns:a="http://schemas.openxmlformats.org/drawingml/2006/main">
              <a:ext uri="{FF2B5EF4-FFF2-40B4-BE49-F238E27FC236}">
                <a16:creationId xmlns:a16="http://schemas.microsoft.com/office/drawing/2014/main" id="{8BEC9853-3F51-428C-8F02-A38FD73DD6D1}"/>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Other-function calls: −120 (≈−35%). Connectivity proxy.</a:t>
            </a:r>
          </a:p>
        </p:txBody>
      </p:sp>
      <p:sp>
        <p:nvSpPr>
          <p:cNvPr id="35" name="">
            <a:extLst xmlns:a="http://schemas.openxmlformats.org/drawingml/2006/main">
              <a:ext uri="{FF2B5EF4-FFF2-40B4-BE49-F238E27FC236}">
                <a16:creationId xmlns:a16="http://schemas.microsoft.com/office/drawing/2014/main" id="{0FD0309F-0F14-415D-A1AC-24F3AC9A6718}"/>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Duplicated blocks ≈+81%   ·   Two-week churn +15%*</a:t>
            </a:r>
          </a:p>
        </p:txBody>
      </p:sp>
      <p:sp>
        <p:nvSpPr>
          <p:cNvPr id="36" name="">
            <a:extLst xmlns:a="http://schemas.openxmlformats.org/drawingml/2006/main">
              <a:ext uri="{FF2B5EF4-FFF2-40B4-BE49-F238E27FC236}">
                <a16:creationId xmlns:a16="http://schemas.microsoft.com/office/drawing/2014/main" id="{4C6F045F-4F0A-4BA0-B64E-93586E7B0187}"/>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Arial"/>
                <a:ea typeface="Arial"/>
                <a:cs typeface="Arial"/>
              </a:defRPr>
            </a:pPr>
            <a:r>
              <a:rPr sz="1275" b="0">
                <a:solidFill>
                  <a:srgbClr val="F5B61C"/>
                </a:solidFill>
                <a:latin typeface="Arial"/>
                <a:ea typeface="Arial"/>
                <a:cs typeface="Arial"/>
              </a:rPr>
              <a:t>Less restructuring / reuse? Signals, not a quality verdict.</a:t>
            </a:r>
          </a:p>
        </p:txBody>
      </p:sp>
      <p:sp>
        <p:nvSpPr>
          <p:cNvPr id="37" name="">
            <a:extLst xmlns:a="http://schemas.openxmlformats.org/drawingml/2006/main">
              <a:ext uri="{FF2B5EF4-FFF2-40B4-BE49-F238E27FC236}">
                <a16:creationId xmlns:a16="http://schemas.microsoft.com/office/drawing/2014/main" id="{BD70204E-4179-43DD-8521-330F76C1792D}"/>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FB52197A-ABA9-485F-8292-A52BEF55A7F1}"/>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METR · MAY 2026</a:t>
            </a:r>
          </a:p>
        </p:txBody>
      </p:sp>
      <p:sp>
        <p:nvSpPr>
          <p:cNvPr id="39" name="">
            <a:extLst xmlns:a="http://schemas.openxmlformats.org/drawingml/2006/main">
              <a:ext uri="{FF2B5EF4-FFF2-40B4-BE49-F238E27FC236}">
                <a16:creationId xmlns:a16="http://schemas.microsoft.com/office/drawing/2014/main" id="{82D11D1E-9822-4E83-A44D-06644E4EA542}"/>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Arial"/>
                <a:ea typeface="Arial"/>
                <a:cs typeface="Arial"/>
              </a:defRPr>
            </a:pPr>
            <a:r>
              <a:rPr sz="1725" b="1">
                <a:solidFill>
                  <a:srgbClr val="F4F7FA"/>
                </a:solidFill>
                <a:latin typeface="Arial"/>
                <a:ea typeface="Arial"/>
                <a:cs typeface="Arial"/>
              </a:rPr>
              <a:t>1.4–2× work value</a:t>
            </a:r>
          </a:p>
        </p:txBody>
      </p:sp>
      <p:sp>
        <p:nvSpPr>
          <p:cNvPr id="40" name="">
            <a:extLst xmlns:a="http://schemas.openxmlformats.org/drawingml/2006/main">
              <a:ext uri="{FF2B5EF4-FFF2-40B4-BE49-F238E27FC236}">
                <a16:creationId xmlns:a16="http://schemas.microsoft.com/office/drawing/2014/main" id="{54C82789-1BD8-4C4A-B2CC-F750C0FFBBD2}"/>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Medians across 3 questions; self-reported, not causal.</a:t>
            </a:r>
          </a:p>
        </p:txBody>
      </p:sp>
      <p:sp>
        <p:nvSpPr>
          <p:cNvPr id="41" name="">
            <a:extLst xmlns:a="http://schemas.openxmlformats.org/drawingml/2006/main">
              <a:ext uri="{FF2B5EF4-FFF2-40B4-BE49-F238E27FC236}">
                <a16:creationId xmlns:a16="http://schemas.microsoft.com/office/drawing/2014/main" id="{E6F9B798-B99B-4F51-9E53-3E0ACADA426C}"/>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AGARWAL · JAN 2026</a:t>
            </a:r>
          </a:p>
        </p:txBody>
      </p:sp>
      <p:sp>
        <p:nvSpPr>
          <p:cNvPr id="42" name="">
            <a:extLst xmlns:a="http://schemas.openxmlformats.org/drawingml/2006/main">
              <a:ext uri="{FF2B5EF4-FFF2-40B4-BE49-F238E27FC236}">
                <a16:creationId xmlns:a16="http://schemas.microsoft.com/office/drawing/2014/main" id="{AAC17C0B-6AC1-4186-91D2-561D56ECA634}"/>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+34.85% / +42.87%</a:t>
            </a:r>
          </a:p>
        </p:txBody>
      </p:sp>
      <p:sp>
        <p:nvSpPr>
          <p:cNvPr id="43" name="">
            <a:extLst xmlns:a="http://schemas.openxmlformats.org/drawingml/2006/main">
              <a:ext uri="{FF2B5EF4-FFF2-40B4-BE49-F238E27FC236}">
                <a16:creationId xmlns:a16="http://schemas.microsoft.com/office/drawing/2014/main" id="{9FB4DAA3-2999-40BE-9DA9-0BA690D8C024}"/>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Complexity: Agent-first / IDE-first. Xu: workload shifts.</a:t>
            </a:r>
          </a:p>
        </p:txBody>
      </p:sp>
      <p:sp>
        <p:nvSpPr>
          <p:cNvPr id="44" name="">
            <a:extLst xmlns:a="http://schemas.openxmlformats.org/drawingml/2006/main">
              <a:ext uri="{FF2B5EF4-FFF2-40B4-BE49-F238E27FC236}">
                <a16:creationId xmlns:a16="http://schemas.microsoft.com/office/drawing/2014/main" id="{F8DB7EB9-B309-4045-9A52-EE2051FEF5AA}"/>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Code activity, delivery and user value are different outcomes.</a:t>
            </a:r>
          </a:p>
        </p:txBody>
      </p:sp>
    </p:spTree>
    <p:extLst>
      <p:ext uri="{BB962C8B-B14F-4D97-AF65-F5344CB8AC3E}">
        <p14:creationId xmlns:p14="http://schemas.microsoft.com/office/powerpoint/2010/main" val="1759166742"/>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7545C36-11F7-41BC-AAEC-594A42422F9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2886E999-EFC1-4E23-8179-A38ACE882C1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48AAFFD-D2E6-4FAA-878A-A30912049B7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24393EB2-FA10-446D-AAC6-AEB2577FEDA3}"/>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F9CF619B-1A17-469A-8E3E-00D9ABB0E357}"/>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49F90F02-0AFA-489F-BB6F-828A053BDBA1}"/>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4FFD34D8-B3CE-4341-949D-780B157F1467}"/>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100301F0-DF18-48C8-A98B-3A5D2656BF02}"/>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F8451225-1C85-4BA4-B13E-AF3F56BD8D0A}"/>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596BF457-2D48-4187-9655-57186DE6BA10}"/>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AAF66544-035A-492A-AC50-69729B3C5D2D}"/>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AF37BBE1-1558-45C2-8FED-2C8F706D7EC1}"/>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1301D508-5C60-4520-9FBC-62C3202EF775}"/>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CDD46459-9240-43C9-BC2C-E9F660C60D23}"/>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9930EBBE-8726-4F9F-A267-AEC103331FB9}"/>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775A18BC-841B-4708-B7C4-A7429ADFB4AA}"/>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484A86D0-E5FB-4B04-814B-E5ACF299DCF7}"/>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C46530F3-8AC2-4AF5-B687-1683ADAEE990}"/>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3CD45131-2BF0-404F-AB07-FB732778B042}"/>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351EC217-E83B-46ED-9A98-F92C273252D9}"/>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scales differently from comprehension.</a:t>
            </a:r>
          </a:p>
        </p:txBody>
      </p:sp>
    </p:spTree>
    <p:extLst>
      <p:ext uri="{BB962C8B-B14F-4D97-AF65-F5344CB8AC3E}">
        <p14:creationId xmlns:p14="http://schemas.microsoft.com/office/powerpoint/2010/main" val="1372644464"/>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DF3841C-F7AF-418C-95D9-39C817F7ADC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ADC82B60-D6DA-4448-B619-578383027BD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1BDD0CA-BA3D-4E39-96D9-FB476D3E9A6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B10EEC75-4D36-4D8C-96BC-DB20C23B628B}"/>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941670CE-65A4-49D7-9D3E-44A2792FA027}"/>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13D692FD-1C2D-450C-AC06-C705019DF846}"/>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B91BFF92-D40D-481B-9DE0-072934834459}"/>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52BEE6FF-FF7D-4148-BD1E-2D7A479AC72C}"/>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FB5E77F3-337F-4DCB-B119-CE3B62A85ABD}"/>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A6451BD0-2442-4212-9BEE-9727FE00D3EE}"/>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E711C690-8885-4BF0-BF00-A72DC0541E7C}"/>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7E44A160-B0D1-4234-A091-A4CC7B08BD53}"/>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3E761897-087C-47A5-A04E-D63220F6AFC9}"/>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8D813124-D9FF-41B5-8448-DFDA85C6FEA2}"/>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CC1505B2-6804-42F1-A60F-FCFED8B33345}"/>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C1082BC7-DA93-4806-8CFE-380EC3C22D97}"/>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AA158DEF-B1A0-4E30-B367-BF0B43A9D532}"/>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A2107EDC-C791-4910-AAE9-FC62F020875F}"/>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44AC5897-0AC1-458B-A1EC-A3A97AAB1102}"/>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B7C0E204-B137-4AF6-8178-E7B4093F2308}"/>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1998335131"/>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78D09C3-207F-4D61-BD89-A35E5CB2FBE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7D9FDBC3-D2CD-4D89-BCBC-4C2CB79E57C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5DBD966-B4BB-4A68-A186-BFBBABEC3C9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3DE03A46-5A85-47E6-914A-30418E9DFDB2}"/>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E8F62ADF-7728-47A8-A10C-04360D5DB642}"/>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6914F6AE-E933-4A95-9836-98450472D511}"/>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3017FCCB-0748-4CCC-BC2F-5DDC28D57E3B}"/>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outpaces review</a:t>
            </a:r>
          </a:p>
        </p:txBody>
      </p:sp>
      <p:sp>
        <p:nvSpPr>
          <p:cNvPr id="8" name="">
            <a:extLst xmlns:a="http://schemas.openxmlformats.org/drawingml/2006/main">
              <a:ext uri="{FF2B5EF4-FFF2-40B4-BE49-F238E27FC236}">
                <a16:creationId xmlns:a16="http://schemas.microsoft.com/office/drawing/2014/main" id="{2C707BC9-1B21-4A0C-A8CC-5E0520F5415B}"/>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AF3F3368-5E0E-4E7A-B60A-76E17AEDC730}"/>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E4526631-DB9E-434B-9354-28768D79F478}"/>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24AD4E69-9C97-4C98-96E5-D1919EA15C45}"/>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WATCH</a:t>
            </a:r>
          </a:p>
        </p:txBody>
      </p:sp>
      <p:sp>
        <p:nvSpPr>
          <p:cNvPr id="12" name="">
            <a:extLst xmlns:a="http://schemas.openxmlformats.org/drawingml/2006/main">
              <a:ext uri="{FF2B5EF4-FFF2-40B4-BE49-F238E27FC236}">
                <a16:creationId xmlns:a16="http://schemas.microsoft.com/office/drawing/2014/main" id="{515B8B87-FF64-4B72-88F7-8F0DDD6F9130}"/>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Flow pressure</a:t>
            </a:r>
          </a:p>
        </p:txBody>
      </p:sp>
      <p:sp>
        <p:nvSpPr>
          <p:cNvPr id="13" name="">
            <a:extLst xmlns:a="http://schemas.openxmlformats.org/drawingml/2006/main">
              <a:ext uri="{FF2B5EF4-FFF2-40B4-BE49-F238E27FC236}">
                <a16:creationId xmlns:a16="http://schemas.microsoft.com/office/drawing/2014/main" id="{C5AD9A97-7D7F-4471-B9CF-94C5308C3F21}"/>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age, batch size and WIP</a:t>
            </a:r>
          </a:p>
        </p:txBody>
      </p:sp>
      <p:sp>
        <p:nvSpPr>
          <p:cNvPr id="14" name="">
            <a:extLst xmlns:a="http://schemas.openxmlformats.org/drawingml/2006/main">
              <a:ext uri="{FF2B5EF4-FFF2-40B4-BE49-F238E27FC236}">
                <a16:creationId xmlns:a16="http://schemas.microsoft.com/office/drawing/2014/main" id="{2E28FBFF-B5F5-49A3-8DF8-5AB5D665F080}"/>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Rework and structure</a:t>
            </a:r>
          </a:p>
        </p:txBody>
      </p:sp>
      <p:sp>
        <p:nvSpPr>
          <p:cNvPr id="15" name="">
            <a:extLst xmlns:a="http://schemas.openxmlformats.org/drawingml/2006/main">
              <a:ext uri="{FF2B5EF4-FFF2-40B4-BE49-F238E27FC236}">
                <a16:creationId xmlns:a16="http://schemas.microsoft.com/office/drawing/2014/main" id="{CC0A3771-65E5-4DDC-B171-DE59B283010A}"/>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Churn, duplication, reuse, complexity</a:t>
            </a:r>
          </a:p>
        </p:txBody>
      </p:sp>
      <p:sp>
        <p:nvSpPr>
          <p:cNvPr id="16" name="">
            <a:extLst xmlns:a="http://schemas.openxmlformats.org/drawingml/2006/main">
              <a:ext uri="{FF2B5EF4-FFF2-40B4-BE49-F238E27FC236}">
                <a16:creationId xmlns:a16="http://schemas.microsoft.com/office/drawing/2014/main" id="{F9230BF5-B4F2-4040-98DC-AAC35C1F2CED}"/>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Ownership gaps</a:t>
            </a:r>
          </a:p>
        </p:txBody>
      </p:sp>
      <p:sp>
        <p:nvSpPr>
          <p:cNvPr id="17" name="">
            <a:extLst xmlns:a="http://schemas.openxmlformats.org/drawingml/2006/main">
              <a:ext uri="{FF2B5EF4-FFF2-40B4-BE49-F238E27FC236}">
                <a16:creationId xmlns:a16="http://schemas.microsoft.com/office/drawing/2014/main" id="{3C5DE535-36CD-4222-96DB-3E809D82699B}"/>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Unowned changes and stale docs</a:t>
            </a:r>
          </a:p>
        </p:txBody>
      </p:sp>
      <p:sp>
        <p:nvSpPr>
          <p:cNvPr id="18" name="">
            <a:extLst xmlns:a="http://schemas.openxmlformats.org/drawingml/2006/main">
              <a:ext uri="{FF2B5EF4-FFF2-40B4-BE49-F238E27FC236}">
                <a16:creationId xmlns:a16="http://schemas.microsoft.com/office/drawing/2014/main" id="{66B3A6C3-76DF-4545-946C-7D1BEBA33942}"/>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Recovery readiness</a:t>
            </a:r>
          </a:p>
        </p:txBody>
      </p:sp>
      <p:sp>
        <p:nvSpPr>
          <p:cNvPr id="19" name="">
            <a:extLst xmlns:a="http://schemas.openxmlformats.org/drawingml/2006/main">
              <a:ext uri="{FF2B5EF4-FFF2-40B4-BE49-F238E27FC236}">
                <a16:creationId xmlns:a16="http://schemas.microsoft.com/office/drawing/2014/main" id="{DF4714C3-E0E1-470A-87C2-DA9DF443E17F}"/>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Unaided diagnosis and restore time</a:t>
            </a:r>
          </a:p>
        </p:txBody>
      </p:sp>
      <p:sp>
        <p:nvSpPr>
          <p:cNvPr id="20" name="">
            <a:extLst xmlns:a="http://schemas.openxmlformats.org/drawingml/2006/main">
              <a:ext uri="{FF2B5EF4-FFF2-40B4-BE49-F238E27FC236}">
                <a16:creationId xmlns:a16="http://schemas.microsoft.com/office/drawing/2014/main" id="{58C19518-CF54-4747-9EAD-BB89D7F75A14}"/>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EXPLORE</a:t>
            </a:r>
          </a:p>
        </p:txBody>
      </p:sp>
      <p:sp>
        <p:nvSpPr>
          <p:cNvPr id="21" name="">
            <a:extLst xmlns:a="http://schemas.openxmlformats.org/drawingml/2006/main">
              <a:ext uri="{FF2B5EF4-FFF2-40B4-BE49-F238E27FC236}">
                <a16:creationId xmlns:a16="http://schemas.microsoft.com/office/drawing/2014/main" id="{C90907E6-BF48-4445-96CD-0C7B89376F9F}"/>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Small batches and WIP limits</a:t>
            </a:r>
          </a:p>
        </p:txBody>
      </p:sp>
      <p:sp>
        <p:nvSpPr>
          <p:cNvPr id="22" name="">
            <a:extLst xmlns:a="http://schemas.openxmlformats.org/drawingml/2006/main">
              <a:ext uri="{FF2B5EF4-FFF2-40B4-BE49-F238E27FC236}">
                <a16:creationId xmlns:a16="http://schemas.microsoft.com/office/drawing/2014/main" id="{319E0C1A-18C5-4239-AF64-16A978F8B3EF}"/>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Keep intake within review capacity</a:t>
            </a:r>
          </a:p>
        </p:txBody>
      </p:sp>
      <p:sp>
        <p:nvSpPr>
          <p:cNvPr id="23" name="">
            <a:extLst xmlns:a="http://schemas.openxmlformats.org/drawingml/2006/main">
              <a:ext uri="{FF2B5EF4-FFF2-40B4-BE49-F238E27FC236}">
                <a16:creationId xmlns:a16="http://schemas.microsoft.com/office/drawing/2014/main" id="{66DB59CA-DAA1-4C50-8B5D-4DB80E100485}"/>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Specs and living architecture</a:t>
            </a:r>
          </a:p>
        </p:txBody>
      </p:sp>
      <p:sp>
        <p:nvSpPr>
          <p:cNvPr id="24" name="">
            <a:extLst xmlns:a="http://schemas.openxmlformats.org/drawingml/2006/main">
              <a:ext uri="{FF2B5EF4-FFF2-40B4-BE49-F238E27FC236}">
                <a16:creationId xmlns:a16="http://schemas.microsoft.com/office/drawing/2014/main" id="{50BA55B2-281C-4B18-884E-1088A3856D75}"/>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code and docs together</a:t>
            </a:r>
          </a:p>
        </p:txBody>
      </p:sp>
      <p:sp>
        <p:nvSpPr>
          <p:cNvPr id="25" name="">
            <a:extLst xmlns:a="http://schemas.openxmlformats.org/drawingml/2006/main">
              <a:ext uri="{FF2B5EF4-FFF2-40B4-BE49-F238E27FC236}">
                <a16:creationId xmlns:a16="http://schemas.microsoft.com/office/drawing/2014/main" id="{C53A2F24-1844-4E35-A6EB-8192BE93D065}"/>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Repository intelligence</a:t>
            </a:r>
          </a:p>
        </p:txBody>
      </p:sp>
      <p:sp>
        <p:nvSpPr>
          <p:cNvPr id="26" name="">
            <a:extLst xmlns:a="http://schemas.openxmlformats.org/drawingml/2006/main">
              <a:ext uri="{FF2B5EF4-FFF2-40B4-BE49-F238E27FC236}">
                <a16:creationId xmlns:a16="http://schemas.microsoft.com/office/drawing/2014/main" id="{E2A6DCFB-CEEE-491B-84D5-1E1FC23B47C2}"/>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Trace dependencies and owners</a:t>
            </a:r>
          </a:p>
        </p:txBody>
      </p:sp>
      <p:sp>
        <p:nvSpPr>
          <p:cNvPr id="27" name="">
            <a:extLst xmlns:a="http://schemas.openxmlformats.org/drawingml/2006/main">
              <a:ext uri="{FF2B5EF4-FFF2-40B4-BE49-F238E27FC236}">
                <a16:creationId xmlns:a16="http://schemas.microsoft.com/office/drawing/2014/main" id="{C8355D16-C6D0-41D2-A064-14DEEFAE8F20}"/>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Human recovery drills</a:t>
            </a:r>
          </a:p>
        </p:txBody>
      </p:sp>
      <p:sp>
        <p:nvSpPr>
          <p:cNvPr id="28" name="">
            <a:extLst xmlns:a="http://schemas.openxmlformats.org/drawingml/2006/main">
              <a:ext uri="{FF2B5EF4-FFF2-40B4-BE49-F238E27FC236}">
                <a16:creationId xmlns:a16="http://schemas.microsoft.com/office/drawing/2014/main" id="{6B7331F6-AD71-4B85-A10C-9439017E6057}"/>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Diagnose and fix without the agent</a:t>
            </a:r>
          </a:p>
        </p:txBody>
      </p:sp>
      <p:sp>
        <p:nvSpPr>
          <p:cNvPr id="29" name="">
            <a:extLst xmlns:a="http://schemas.openxmlformats.org/drawingml/2006/main">
              <a:ext uri="{FF2B5EF4-FFF2-40B4-BE49-F238E27FC236}">
                <a16:creationId xmlns:a16="http://schemas.microsoft.com/office/drawing/2014/main" id="{A2DA2D4E-4F8B-4437-9E68-5E355B19781D}"/>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2522DCD4-E9E8-4B0E-B287-26AB7B36C78F}"/>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C3831567-2828-4B8C-9C2D-D883889402BC}"/>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Arial"/>
                <a:ea typeface="Arial"/>
                <a:cs typeface="Arial"/>
              </a:defRPr>
            </a:pPr>
            <a:r>
              <a:rPr sz="1725" b="0">
                <a:solidFill>
                  <a:srgbClr val="28C7F7"/>
                </a:solidFill>
                <a:latin typeface="Arial"/>
                <a:ea typeface="Arial"/>
                <a:cs typeface="Arial"/>
              </a:rPr>
              <a:t>Measure delivery and recovery. Next: AI inside the product.</a:t>
            </a:r>
          </a:p>
        </p:txBody>
      </p:sp>
    </p:spTree>
    <p:extLst>
      <p:ext uri="{BB962C8B-B14F-4D97-AF65-F5344CB8AC3E}">
        <p14:creationId xmlns:p14="http://schemas.microsoft.com/office/powerpoint/2010/main" val="940167741"/>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442459A3-50CA-40A7-872D-A8B5CA671BB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42BBE49A-BBCC-4717-9F27-E8231F03D86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3F1853C-3C45-428E-B875-310853A91B5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BAA41698-5C05-41C4-857A-4A5AFBDE77C7}"/>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THINKING SYSTEMS</a:t>
            </a:r>
          </a:p>
        </p:txBody>
      </p:sp>
      <p:sp>
        <p:nvSpPr>
          <p:cNvPr id="5" name="">
            <a:extLst xmlns:a="http://schemas.openxmlformats.org/drawingml/2006/main">
              <a:ext uri="{FF2B5EF4-FFF2-40B4-BE49-F238E27FC236}">
                <a16:creationId xmlns:a16="http://schemas.microsoft.com/office/drawing/2014/main" id="{AB79DF8F-96AD-4681-AC1B-70919A616AEB}"/>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75B297B4-045B-4EC4-8AB4-261B575D3357}"/>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F7A5DCDA-CCEC-47CE-BEDE-17635943CF41}"/>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12ED732C-8711-4D16-94E9-374BB8E849D5}"/>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9A8A0B61-2599-4D71-BADE-79048FE64284}"/>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A97F5B30-2377-465C-A9FF-176511E918A8}"/>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73DA3206-8F9F-41E0-83D2-B72EF613712F}"/>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CF122333-B4C7-44E7-B311-87C2F93C8F2D}"/>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A45839A4-DEF0-407B-B163-80EBA30FAF4C}"/>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5E6C6707-CE03-4054-A0E6-03FBF6409961}"/>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BF236F5E-094A-41FC-9B34-BC6149531EF4}"/>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A6F2A8F1-FEE1-4336-8082-8077A0DED0A3}"/>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AA1FE6EE-EDE3-437B-B414-8C741359132B}"/>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3B2EF4D2-47F7-43E8-92DE-1338EA2A0FB8}"/>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58CFB0DA-E268-40E2-A5AB-7D904596480C}"/>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EB86CE3A-FBFF-4A63-A087-ED14E751B85C}"/>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715934ED-E370-4658-BD40-AF2372BBFC3A}"/>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8F543FC0-7AE8-4021-B019-9C7FDB28A8CF}"/>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521986A7-DE86-4214-8A0F-ED723129095A}"/>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32AD6E00-BFD2-415D-B544-1B8E37CA0D4C}"/>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D61186F7-4CEF-451C-AE71-416E6CB7850B}"/>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93F26FE2-DA95-44AD-915E-FF2C7FA8EA7E}"/>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1220E110-871F-4B6B-BDE6-1D26F5B87BB6}"/>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AB0BCA57-CB6C-4CD7-A0BE-691489C2454C}"/>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2D79A8EF-4092-4DED-8D4E-2749C9EAF9D7}"/>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CF0815B7-3A49-4DC9-BBE9-C7D36C3FBAB3}"/>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9B95E88F-082D-402F-AB4E-BD9EF03F12A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499FA9F1-7FDD-43BC-8D68-CE18D0D913D9}"/>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Engineer the useful region of behavior.</a:t>
            </a:r>
          </a:p>
        </p:txBody>
      </p:sp>
      <p:sp>
        <p:nvSpPr>
          <p:cNvPr id="33" name="">
            <a:extLst xmlns:a="http://schemas.openxmlformats.org/drawingml/2006/main">
              <a:ext uri="{FF2B5EF4-FFF2-40B4-BE49-F238E27FC236}">
                <a16:creationId xmlns:a16="http://schemas.microsoft.com/office/drawing/2014/main" id="{73430D57-2564-4EA2-93B1-7843737D4362}"/>
              </a:ext>
            </a:extLst>
          </p:cNvPr>
          <p:cNvSpPr>
            <a:spLocks xmlns:a="http://schemas.openxmlformats.org/drawingml/2006/main" noGrp="1"/>
          </p:cNvSpPr>
          <p:nvPr/>
        </p:nvSpPr>
        <p:spPr>
          <a:xfrm xmlns:a="http://schemas.openxmlformats.org/drawingml/2006/main">
            <a:off x="609600" y="57912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Distribution also depends on context, model and configuration.</a:t>
            </a:r>
          </a:p>
        </p:txBody>
      </p:sp>
      <p:sp>
        <p:nvSpPr>
          <p:cNvPr id="34" name="">
            <a:extLst xmlns:a="http://schemas.openxmlformats.org/drawingml/2006/main">
              <a:ext uri="{FF2B5EF4-FFF2-40B4-BE49-F238E27FC236}">
                <a16:creationId xmlns:a16="http://schemas.microsoft.com/office/drawing/2014/main" id="{4DEFA286-44C8-4A6D-90C7-96BC457CF790}"/>
              </a:ext>
            </a:extLst>
          </p:cNvPr>
          <p:cNvSpPr>
            <a:spLocks xmlns:a="http://schemas.openxmlformats.org/drawingml/2006/main" noGrp="1"/>
          </p:cNvSpPr>
          <p:nvPr/>
        </p:nvSpPr>
        <p:spPr>
          <a:xfrm xmlns:a="http://schemas.openxmlformats.org/drawingml/2006/main">
            <a:off x="609600" y="6438900"/>
            <a:ext cx="10648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930535152"/>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D5F694A8-A28D-41F5-B034-521D4D3DD0A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257978D0-F993-49E6-98E4-59E7348A39F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87F79C7-CFA8-4A2F-93FF-FE24E608C8C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38BB9403-BA78-4F91-AE86-EFFD7EF13D33}"/>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BA · define acceptable outcomes, harm and cost</a:t>
            </a:r>
          </a:p>
        </p:txBody>
      </p:sp>
      <p:sp>
        <p:nvSpPr>
          <p:cNvPr id="5" name="">
            <a:extLst xmlns:a="http://schemas.openxmlformats.org/drawingml/2006/main">
              <a:ext uri="{FF2B5EF4-FFF2-40B4-BE49-F238E27FC236}">
                <a16:creationId xmlns:a16="http://schemas.microsoft.com/office/drawing/2014/main" id="{F9D6DF0F-3AE9-4E1D-9D86-8464FC4FA769}"/>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7051A8E8-A248-41A5-B7C9-0609E54D3ED6}"/>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SPECIFIED FLOW · STILL REQUIRED</a:t>
            </a:r>
          </a:p>
        </p:txBody>
      </p:sp>
      <p:sp>
        <p:nvSpPr>
          <p:cNvPr id="7" name="">
            <a:extLst xmlns:a="http://schemas.openxmlformats.org/drawingml/2006/main">
              <a:ext uri="{FF2B5EF4-FFF2-40B4-BE49-F238E27FC236}">
                <a16:creationId xmlns:a16="http://schemas.microsoft.com/office/drawing/2014/main" id="{186C389A-B9BF-4B1E-9FDE-44F13E2E7F98}"/>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6B8E3604-8302-441E-986E-AE0C301EE144}"/>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Button A</a:t>
            </a:r>
          </a:p>
        </p:txBody>
      </p:sp>
      <p:sp>
        <p:nvSpPr>
          <p:cNvPr id="9" name="">
            <a:extLst xmlns:a="http://schemas.openxmlformats.org/drawingml/2006/main">
              <a:ext uri="{FF2B5EF4-FFF2-40B4-BE49-F238E27FC236}">
                <a16:creationId xmlns:a16="http://schemas.microsoft.com/office/drawing/2014/main" id="{E8C8485F-EE68-4274-ACA1-548AAABA2B08}"/>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DC408715-27BB-4527-BB1B-47B9AEE4DFEF}"/>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Window B</a:t>
            </a:r>
          </a:p>
        </p:txBody>
      </p:sp>
      <p:cxnSp>
        <p:nvCxnSpPr>
          <p:cNvPr id="58"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A9CBA1C0-C888-4AE4-BF62-281DA60CBEEB}"/>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Exact states, permissions</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and transitions.</a:t>
            </a:r>
          </a:p>
        </p:txBody>
      </p:sp>
      <p:sp>
        <p:nvSpPr>
          <p:cNvPr id="13" name="">
            <a:extLst xmlns:a="http://schemas.openxmlformats.org/drawingml/2006/main">
              <a:ext uri="{FF2B5EF4-FFF2-40B4-BE49-F238E27FC236}">
                <a16:creationId xmlns:a16="http://schemas.microsoft.com/office/drawing/2014/main" id="{FB00DBB3-E694-4B4C-B38C-0AB165C70954}"/>
              </a:ext>
            </a:extLst>
          </p:cNvPr>
          <p:cNvSpPr>
            <a:spLocks xmlns:a="http://schemas.openxmlformats.org/drawingml/2006/main" noGrp="1"/>
          </p:cNvSpPr>
          <p:nvPr/>
        </p:nvSpPr>
        <p:spPr>
          <a:xfrm xmlns:a="http://schemas.openxmlformats.org/drawingml/2006/main">
            <a:off x="609600" y="381000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Product / BA: tolerance contract.</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Project Manager: decisions + dependencies.</a:t>
            </a:r>
          </a:p>
        </p:txBody>
      </p:sp>
      <p:sp>
        <p:nvSpPr>
          <p:cNvPr id="14" name="">
            <a:extLst xmlns:a="http://schemas.openxmlformats.org/drawingml/2006/main">
              <a:ext uri="{FF2B5EF4-FFF2-40B4-BE49-F238E27FC236}">
                <a16:creationId xmlns:a16="http://schemas.microsoft.com/office/drawing/2014/main" id="{83352352-E6B4-41C1-927E-643EFC5D88DB}"/>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SPACE OF POSSIBLE BEHAVIORS</a:t>
            </a:r>
          </a:p>
        </p:txBody>
      </p:sp>
      <p:sp>
        <p:nvSpPr>
          <p:cNvPr id="15" name="">
            <a:extLst xmlns:a="http://schemas.openxmlformats.org/drawingml/2006/main">
              <a:ext uri="{FF2B5EF4-FFF2-40B4-BE49-F238E27FC236}">
                <a16:creationId xmlns:a16="http://schemas.microsoft.com/office/drawing/2014/main" id="{2FF30CC1-3B22-4AFE-B0E1-B8B8FE2F524D}"/>
              </a:ext>
            </a:extLst>
          </p:cNvPr>
          <p:cNvSpPr>
            <a:spLocks xmlns:a="http://schemas.openxmlformats.org/drawingml/2006/main" noGrp="1"/>
          </p:cNvSpPr>
          <p:nvPr/>
        </p:nvSpPr>
        <p:spPr>
          <a:xfrm xmlns:a="http://schemas.openxmlformats.org/drawingml/2006/main" flipH="0" flipV="0">
            <a:off x="5305425" y="26574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976ECC8F-88D4-42E3-B053-0B8D15931B77}"/>
              </a:ext>
            </a:extLst>
          </p:cNvPr>
          <p:cNvSpPr>
            <a:spLocks xmlns:a="http://schemas.openxmlformats.org/drawingml/2006/main" noGrp="1"/>
          </p:cNvSpPr>
          <p:nvPr/>
        </p:nvSpPr>
        <p:spPr>
          <a:xfrm xmlns:a="http://schemas.openxmlformats.org/drawingml/2006/main" flipH="0" flipV="0">
            <a:off x="5305425" y="29622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C8BC3891-831C-4E5A-B7D6-B5555F811AC8}"/>
              </a:ext>
            </a:extLst>
          </p:cNvPr>
          <p:cNvSpPr>
            <a:spLocks xmlns:a="http://schemas.openxmlformats.org/drawingml/2006/main" noGrp="1"/>
          </p:cNvSpPr>
          <p:nvPr/>
        </p:nvSpPr>
        <p:spPr>
          <a:xfrm xmlns:a="http://schemas.openxmlformats.org/drawingml/2006/main" flipH="0" flipV="0">
            <a:off x="5305425" y="32670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28BDB4F5-3587-480E-A20A-254CE43F4ABA}"/>
              </a:ext>
            </a:extLst>
          </p:cNvPr>
          <p:cNvSpPr>
            <a:spLocks xmlns:a="http://schemas.openxmlformats.org/drawingml/2006/main" noGrp="1"/>
          </p:cNvSpPr>
          <p:nvPr/>
        </p:nvSpPr>
        <p:spPr>
          <a:xfrm xmlns:a="http://schemas.openxmlformats.org/drawingml/2006/main" flipH="0" flipV="0">
            <a:off x="5305425" y="3571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3C69B873-D463-480A-9327-E5CBED007D89}"/>
              </a:ext>
            </a:extLst>
          </p:cNvPr>
          <p:cNvSpPr>
            <a:spLocks xmlns:a="http://schemas.openxmlformats.org/drawingml/2006/main" noGrp="1"/>
          </p:cNvSpPr>
          <p:nvPr/>
        </p:nvSpPr>
        <p:spPr>
          <a:xfrm xmlns:a="http://schemas.openxmlformats.org/drawingml/2006/main" flipH="0" flipV="0">
            <a:off x="5305425" y="38766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0E6D1022-5557-450C-8D50-749DDA256047}"/>
              </a:ext>
            </a:extLst>
          </p:cNvPr>
          <p:cNvSpPr>
            <a:spLocks xmlns:a="http://schemas.openxmlformats.org/drawingml/2006/main" noGrp="1"/>
          </p:cNvSpPr>
          <p:nvPr/>
        </p:nvSpPr>
        <p:spPr>
          <a:xfrm xmlns:a="http://schemas.openxmlformats.org/drawingml/2006/main" flipH="0" flipV="1">
            <a:off x="5305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B83E896D-E76B-4C82-A5F1-1DDAC9C41018}"/>
              </a:ext>
            </a:extLst>
          </p:cNvPr>
          <p:cNvSpPr>
            <a:spLocks xmlns:a="http://schemas.openxmlformats.org/drawingml/2006/main" noGrp="1"/>
          </p:cNvSpPr>
          <p:nvPr/>
        </p:nvSpPr>
        <p:spPr>
          <a:xfrm xmlns:a="http://schemas.openxmlformats.org/drawingml/2006/main" flipH="0" flipV="1">
            <a:off x="6353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EEFFDB33-82F1-459A-A286-6CC400C4CA21}"/>
              </a:ext>
            </a:extLst>
          </p:cNvPr>
          <p:cNvSpPr>
            <a:spLocks xmlns:a="http://schemas.openxmlformats.org/drawingml/2006/main" noGrp="1"/>
          </p:cNvSpPr>
          <p:nvPr/>
        </p:nvSpPr>
        <p:spPr>
          <a:xfrm xmlns:a="http://schemas.openxmlformats.org/drawingml/2006/main" flipH="0" flipV="1">
            <a:off x="74009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63849801-77F3-4612-9AE7-A44FEFA09469}"/>
              </a:ext>
            </a:extLst>
          </p:cNvPr>
          <p:cNvSpPr>
            <a:spLocks xmlns:a="http://schemas.openxmlformats.org/drawingml/2006/main" noGrp="1"/>
          </p:cNvSpPr>
          <p:nvPr/>
        </p:nvSpPr>
        <p:spPr>
          <a:xfrm xmlns:a="http://schemas.openxmlformats.org/drawingml/2006/main" flipH="0" flipV="1">
            <a:off x="84486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6AE134A8-27EC-4237-AB21-7586F239207E}"/>
              </a:ext>
            </a:extLst>
          </p:cNvPr>
          <p:cNvSpPr>
            <a:spLocks xmlns:a="http://schemas.openxmlformats.org/drawingml/2006/main" noGrp="1"/>
          </p:cNvSpPr>
          <p:nvPr/>
        </p:nvSpPr>
        <p:spPr>
          <a:xfrm xmlns:a="http://schemas.openxmlformats.org/drawingml/2006/main" flipH="0" flipV="1">
            <a:off x="9496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A79A763A-4025-4A4A-978C-85D5FC843736}"/>
              </a:ext>
            </a:extLst>
          </p:cNvPr>
          <p:cNvSpPr>
            <a:spLocks xmlns:a="http://schemas.openxmlformats.org/drawingml/2006/main" noGrp="1"/>
          </p:cNvSpPr>
          <p:nvPr/>
        </p:nvSpPr>
        <p:spPr>
          <a:xfrm xmlns:a="http://schemas.openxmlformats.org/drawingml/2006/main" flipH="0" flipV="1">
            <a:off x="10544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A4D33E00-3C39-4AED-9A0D-A4EFC453123B}"/>
              </a:ext>
            </a:extLst>
          </p:cNvPr>
          <p:cNvSpPr>
            <a:spLocks xmlns:a="http://schemas.openxmlformats.org/drawingml/2006/main" noGrp="1"/>
          </p:cNvSpPr>
          <p:nvPr/>
        </p:nvSpPr>
        <p:spPr>
          <a:xfrm xmlns:a="http://schemas.openxmlformats.org/drawingml/2006/main" flipH="0" flipV="0">
            <a:off x="5305425" y="3914775"/>
            <a:ext cx="61722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100E93F1-C8DB-4C55-9E29-433A83ED5D1C}"/>
              </a:ext>
            </a:extLst>
          </p:cNvPr>
          <p:cNvSpPr>
            <a:spLocks xmlns:a="http://schemas.openxmlformats.org/drawingml/2006/main" noGrp="1"/>
          </p:cNvSpPr>
          <p:nvPr/>
        </p:nvSpPr>
        <p:spPr>
          <a:xfrm xmlns:a="http://schemas.openxmlformats.org/drawingml/2006/main" flipH="0" flipV="1">
            <a:off x="5305425" y="2505075"/>
            <a:ext cx="0" cy="14097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B6ED9DB6-B2A3-46AA-8878-67FD4F68B77E}"/>
              </a:ext>
            </a:extLst>
          </p:cNvPr>
          <p:cNvSpPr>
            <a:spLocks xmlns:a="http://schemas.openxmlformats.org/drawingml/2006/main" noGrp="1"/>
          </p:cNvSpPr>
          <p:nvPr/>
        </p:nvSpPr>
        <p:spPr>
          <a:xfrm xmlns:a="http://schemas.openxmlformats.org/drawingml/2006/main">
            <a:off x="5857875" y="2638425"/>
            <a:ext cx="4476750" cy="1143000"/>
          </a:xfrm>
          <a:custGeom xmlns:a="http://schemas.openxmlformats.org/drawingml/2006/main">
            <a:pathLst>
              <a:path w="4476750" h="1143000">
                <a:moveTo>
                  <a:pt x="419100" y="0"/>
                </a:moveTo>
                <a:lnTo>
                  <a:pt x="4476750" y="0"/>
                </a:lnTo>
                <a:lnTo>
                  <a:pt x="4057650" y="1143000"/>
                </a:lnTo>
                <a:lnTo>
                  <a:pt x="0" y="1143000"/>
                </a:lnTo>
                <a:close/>
              </a:path>
            </a:pathLst>
          </a:custGeom>
          <a:solidFill xmlns:a="http://schemas.openxmlformats.org/drawingml/2006/main">
            <a:srgbClr val="24231B"/>
          </a:solidFill>
          <a:ln xmlns:a="http://schemas.openxmlformats.org/drawingml/2006/main" w="19050">
            <a:solidFill>
              <a:srgbClr val="F5B61C"/>
            </a:solidFill>
            <a:prstDash val="solid"/>
          </a:ln>
        </p:spPr>
      </p:sp>
      <p:sp>
        <p:nvSpPr>
          <p:cNvPr id="29" name="">
            <a:extLst xmlns:a="http://schemas.openxmlformats.org/drawingml/2006/main">
              <a:ext uri="{FF2B5EF4-FFF2-40B4-BE49-F238E27FC236}">
                <a16:creationId xmlns:a16="http://schemas.microsoft.com/office/drawing/2014/main" id="{190E0B33-F6C9-4463-8699-7FEA0905EB4B}"/>
              </a:ext>
            </a:extLst>
          </p:cNvPr>
          <p:cNvSpPr>
            <a:spLocks xmlns:a="http://schemas.openxmlformats.org/drawingml/2006/main" noGrp="1"/>
          </p:cNvSpPr>
          <p:nvPr/>
        </p:nvSpPr>
        <p:spPr>
          <a:xfrm xmlns:a="http://schemas.openxmlformats.org/drawingml/2006/main">
            <a:off x="6677025" y="2905125"/>
            <a:ext cx="3067050" cy="762000"/>
          </a:xfrm>
          <a:custGeom xmlns:a="http://schemas.openxmlformats.org/drawingml/2006/main">
            <a:pathLst>
              <a:path w="3067050" h="762000">
                <a:moveTo>
                  <a:pt x="219075" y="0"/>
                </a:moveTo>
                <a:lnTo>
                  <a:pt x="3067050" y="0"/>
                </a:lnTo>
                <a:lnTo>
                  <a:pt x="2847975" y="762000"/>
                </a:lnTo>
                <a:lnTo>
                  <a:pt x="0" y="762000"/>
                </a:lnTo>
                <a:close/>
              </a:path>
            </a:pathLst>
          </a:custGeom>
          <a:solidFill xmlns:a="http://schemas.openxmlformats.org/drawingml/2006/main">
            <a:srgbClr val="122934"/>
          </a:solidFill>
          <a:ln xmlns:a="http://schemas.openxmlformats.org/drawingml/2006/main" w="19050">
            <a:solidFill>
              <a:srgbClr val="28C7F7"/>
            </a:solidFill>
            <a:prstDash val="solid"/>
          </a:ln>
        </p:spPr>
      </p:sp>
      <p:sp>
        <p:nvSpPr>
          <p:cNvPr id="30" name="">
            <a:extLst xmlns:a="http://schemas.openxmlformats.org/drawingml/2006/main">
              <a:ext uri="{FF2B5EF4-FFF2-40B4-BE49-F238E27FC236}">
                <a16:creationId xmlns:a16="http://schemas.microsoft.com/office/drawing/2014/main" id="{1390748E-1BBA-4B9A-9294-3042F0F3EF1E}"/>
              </a:ext>
            </a:extLst>
          </p:cNvPr>
          <p:cNvSpPr>
            <a:spLocks xmlns:a="http://schemas.openxmlformats.org/drawingml/2006/main" noGrp="1"/>
          </p:cNvSpPr>
          <p:nvPr/>
        </p:nvSpPr>
        <p:spPr>
          <a:xfrm xmlns:a="http://schemas.openxmlformats.org/drawingml/2006/main">
            <a:off x="7105650" y="2371725"/>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Approved tolerance boundary</a:t>
            </a:r>
          </a:p>
        </p:txBody>
      </p:sp>
      <p:sp>
        <p:nvSpPr>
          <p:cNvPr id="31" name="">
            <a:extLst xmlns:a="http://schemas.openxmlformats.org/drawingml/2006/main">
              <a:ext uri="{FF2B5EF4-FFF2-40B4-BE49-F238E27FC236}">
                <a16:creationId xmlns:a16="http://schemas.microsoft.com/office/drawing/2014/main" id="{ECF9FF27-E890-459C-B446-8BA7ED8D43C8}"/>
              </a:ext>
            </a:extLst>
          </p:cNvPr>
          <p:cNvSpPr>
            <a:spLocks xmlns:a="http://schemas.openxmlformats.org/drawingml/2006/main" noGrp="1"/>
          </p:cNvSpPr>
          <p:nvPr/>
        </p:nvSpPr>
        <p:spPr>
          <a:xfrm xmlns:a="http://schemas.openxmlformats.org/drawingml/2006/main">
            <a:off x="6896100" y="295275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28C7F7"/>
                </a:solidFill>
                <a:latin typeface="Arial"/>
                <a:ea typeface="Arial"/>
                <a:cs typeface="Arial"/>
              </a:defRPr>
            </a:pPr>
            <a:r>
              <a:rPr sz="1350" b="1">
                <a:solidFill>
                  <a:srgbClr val="28C7F7"/>
                </a:solidFill>
                <a:latin typeface="Arial"/>
                <a:ea typeface="Arial"/>
                <a:cs typeface="Arial"/>
              </a:rPr>
              <a:t>Target operating region</a:t>
            </a:r>
          </a:p>
        </p:txBody>
      </p:sp>
      <p:sp>
        <p:nvSpPr>
          <p:cNvPr id="32" name="">
            <a:extLst xmlns:a="http://schemas.openxmlformats.org/drawingml/2006/main">
              <a:ext uri="{FF2B5EF4-FFF2-40B4-BE49-F238E27FC236}">
                <a16:creationId xmlns:a16="http://schemas.microsoft.com/office/drawing/2014/main" id="{3AFE36B5-C67C-4063-A4E2-427E2F692643}"/>
              </a:ext>
            </a:extLst>
          </p:cNvPr>
          <p:cNvSpPr>
            <a:spLocks xmlns:a="http://schemas.openxmlformats.org/drawingml/2006/main" noGrp="1"/>
          </p:cNvSpPr>
          <p:nvPr/>
        </p:nvSpPr>
        <p:spPr>
          <a:xfrm xmlns:a="http://schemas.openxmlformats.org/drawingml/2006/main">
            <a:off x="6953250" y="322897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Short explanation</a:t>
            </a:r>
          </a:p>
        </p:txBody>
      </p:sp>
      <p:sp>
        <p:nvSpPr>
          <p:cNvPr id="33" name="">
            <a:extLst xmlns:a="http://schemas.openxmlformats.org/drawingml/2006/main">
              <a:ext uri="{FF2B5EF4-FFF2-40B4-BE49-F238E27FC236}">
                <a16:creationId xmlns:a16="http://schemas.microsoft.com/office/drawing/2014/main" id="{391945C4-8261-4A0D-B0AF-52C1B3FCB320}"/>
              </a:ext>
            </a:extLst>
          </p:cNvPr>
          <p:cNvSpPr>
            <a:spLocks xmlns:a="http://schemas.openxmlformats.org/drawingml/2006/main" noGrp="1"/>
          </p:cNvSpPr>
          <p:nvPr/>
        </p:nvSpPr>
        <p:spPr>
          <a:xfrm xmlns:a="http://schemas.openxmlformats.org/drawingml/2006/main">
            <a:off x="6953250" y="343852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Detailed explanation</a:t>
            </a:r>
          </a:p>
        </p:txBody>
      </p:sp>
      <p:sp>
        <p:nvSpPr>
          <p:cNvPr id="34" name="">
            <a:extLst xmlns:a="http://schemas.openxmlformats.org/drawingml/2006/main">
              <a:ext uri="{FF2B5EF4-FFF2-40B4-BE49-F238E27FC236}">
                <a16:creationId xmlns:a16="http://schemas.microsoft.com/office/drawing/2014/main" id="{FA46776F-A605-48B3-BC40-B7CBB2CA5C0A}"/>
              </a:ext>
            </a:extLst>
          </p:cNvPr>
          <p:cNvSpPr>
            <a:spLocks xmlns:a="http://schemas.openxmlformats.org/drawingml/2006/main" noGrp="1"/>
          </p:cNvSpPr>
          <p:nvPr/>
        </p:nvSpPr>
        <p:spPr>
          <a:xfrm xmlns:a="http://schemas.openxmlformats.org/drawingml/2006/main">
            <a:off x="11106150" y="3133725"/>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35" name="">
            <a:extLst xmlns:a="http://schemas.openxmlformats.org/drawingml/2006/main">
              <a:ext uri="{FF2B5EF4-FFF2-40B4-BE49-F238E27FC236}">
                <a16:creationId xmlns:a16="http://schemas.microsoft.com/office/drawing/2014/main" id="{844844D3-E6D4-4DEE-98EF-D2A111A5DEC5}"/>
              </a:ext>
            </a:extLst>
          </p:cNvPr>
          <p:cNvSpPr>
            <a:spLocks xmlns:a="http://schemas.openxmlformats.org/drawingml/2006/main" noGrp="1"/>
          </p:cNvSpPr>
          <p:nvPr/>
        </p:nvSpPr>
        <p:spPr>
          <a:xfrm xmlns:a="http://schemas.openxmlformats.org/drawingml/2006/main">
            <a:off x="10344150" y="3305175"/>
            <a:ext cx="123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Prohibited outcome</a:t>
            </a:r>
          </a:p>
        </p:txBody>
      </p:sp>
      <p:sp>
        <p:nvSpPr>
          <p:cNvPr id="36" name="">
            <a:extLst xmlns:a="http://schemas.openxmlformats.org/drawingml/2006/main">
              <a:ext uri="{FF2B5EF4-FFF2-40B4-BE49-F238E27FC236}">
                <a16:creationId xmlns:a16="http://schemas.microsoft.com/office/drawing/2014/main" id="{7D0AFE65-C5AC-43DD-A988-41E0662B42AE}"/>
              </a:ext>
            </a:extLst>
          </p:cNvPr>
          <p:cNvSpPr>
            <a:spLocks xmlns:a="http://schemas.openxmlformats.org/drawingml/2006/main" noGrp="1"/>
          </p:cNvSpPr>
          <p:nvPr/>
        </p:nvSpPr>
        <p:spPr>
          <a:xfrm xmlns:a="http://schemas.openxmlformats.org/drawingml/2006/main">
            <a:off x="5305425" y="3933825"/>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Conceptual space, not a universal semantic metric</a:t>
            </a:r>
          </a:p>
        </p:txBody>
      </p:sp>
      <p:sp>
        <p:nvSpPr>
          <p:cNvPr id="37" name="">
            <a:extLst xmlns:a="http://schemas.openxmlformats.org/drawingml/2006/main">
              <a:ext uri="{FF2B5EF4-FFF2-40B4-BE49-F238E27FC236}">
                <a16:creationId xmlns:a16="http://schemas.microsoft.com/office/drawing/2014/main" id="{6685AAF3-3EB4-4106-94C4-1F064B5FFC53}"/>
              </a:ext>
            </a:extLst>
          </p:cNvPr>
          <p:cNvSpPr>
            <a:spLocks xmlns:a="http://schemas.openxmlformats.org/drawingml/2006/main" noGrp="1"/>
          </p:cNvSpPr>
          <p:nvPr/>
        </p:nvSpPr>
        <p:spPr>
          <a:xfrm xmlns:a="http://schemas.openxmlformats.org/drawingml/2006/main">
            <a:off x="5105400" y="4210050"/>
            <a:ext cx="647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4F7FA"/>
                </a:solidFill>
                <a:latin typeface="Arial"/>
                <a:ea typeface="Arial"/>
                <a:cs typeface="Arial"/>
              </a:defRPr>
            </a:pPr>
            <a:r>
              <a:rPr sz="1200" b="0">
                <a:solidFill>
                  <a:srgbClr val="F4F7FA"/>
                </a:solidFill>
                <a:latin typeface="Arial"/>
                <a:ea typeface="Arial"/>
                <a:cs typeface="Arial"/>
              </a:rPr>
              <a:t>ALLOW approved sources   ·   CLARIFY missing context   ·   PROHIBIT unsafe actions</a:t>
            </a:r>
          </a:p>
        </p:txBody>
      </p:sp>
      <p:sp>
        <p:nvSpPr>
          <p:cNvPr id="38" name="">
            <a:extLst xmlns:a="http://schemas.openxmlformats.org/drawingml/2006/main">
              <a:ext uri="{FF2B5EF4-FFF2-40B4-BE49-F238E27FC236}">
                <a16:creationId xmlns:a16="http://schemas.microsoft.com/office/drawing/2014/main" id="{796FD458-C1B8-45FD-B684-748A88A931AB}"/>
              </a:ext>
            </a:extLst>
          </p:cNvPr>
          <p:cNvSpPr>
            <a:spLocks xmlns:a="http://schemas.openxmlformats.org/drawingml/2006/main" noGrp="1"/>
          </p:cNvSpPr>
          <p:nvPr/>
        </p:nvSpPr>
        <p:spPr>
          <a:xfrm xmlns:a="http://schemas.openxmlformats.org/drawingml/2006/main" flipH="0" flipV="0">
            <a:off x="609600" y="45434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56CF267C-21F1-47E9-A54D-E9324E6A0F38}"/>
              </a:ext>
            </a:extLst>
          </p:cNvPr>
          <p:cNvSpPr>
            <a:spLocks xmlns:a="http://schemas.openxmlformats.org/drawingml/2006/main" noGrp="1"/>
          </p:cNvSpPr>
          <p:nvPr/>
        </p:nvSpPr>
        <p:spPr>
          <a:xfrm xmlns:a="http://schemas.openxmlformats.org/drawingml/2006/main">
            <a:off x="609600" y="45910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Arial"/>
                <a:ea typeface="Arial"/>
                <a:cs typeface="Arial"/>
              </a:defRPr>
            </a:pPr>
            <a:r>
              <a:rPr sz="1500" b="1">
                <a:solidFill>
                  <a:srgbClr val="F5B61C"/>
                </a:solidFill>
                <a:latin typeface="Arial"/>
                <a:ea typeface="Arial"/>
                <a:cs typeface="Arial"/>
              </a:rPr>
              <a:t>PRODUCT VALUE → RISK TOLERANCE → COST ENVELOPE → RELEASE DECISION</a:t>
            </a:r>
          </a:p>
        </p:txBody>
      </p:sp>
      <p:sp>
        <p:nvSpPr>
          <p:cNvPr id="40" name="">
            <a:extLst xmlns:a="http://schemas.openxmlformats.org/drawingml/2006/main">
              <a:ext uri="{FF2B5EF4-FFF2-40B4-BE49-F238E27FC236}">
                <a16:creationId xmlns:a16="http://schemas.microsoft.com/office/drawing/2014/main" id="{F820BDF2-4405-442C-A821-A2CEF685ECDE}"/>
              </a:ext>
            </a:extLst>
          </p:cNvPr>
          <p:cNvSpPr>
            <a:spLocks xmlns:a="http://schemas.openxmlformats.org/drawingml/2006/main" noGrp="1"/>
          </p:cNvSpPr>
          <p:nvPr/>
        </p:nvSpPr>
        <p:spPr>
          <a:xfrm xmlns:a="http://schemas.openxmlformats.org/drawingml/2006/main">
            <a:off x="6096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Meaning: approved steps; wording may vary</a:t>
            </a:r>
          </a:p>
        </p:txBody>
      </p:sp>
      <p:sp>
        <p:nvSpPr>
          <p:cNvPr id="41" name="">
            <a:extLst xmlns:a="http://schemas.openxmlformats.org/drawingml/2006/main">
              <a:ext uri="{FF2B5EF4-FFF2-40B4-BE49-F238E27FC236}">
                <a16:creationId xmlns:a16="http://schemas.microsoft.com/office/drawing/2014/main" id="{2B819BA9-1CD8-4B3D-A433-1D69A49A8DFC}"/>
              </a:ext>
            </a:extLst>
          </p:cNvPr>
          <p:cNvSpPr>
            <a:spLocks xmlns:a="http://schemas.openxmlformats.org/drawingml/2006/main" noGrp="1"/>
          </p:cNvSpPr>
          <p:nvPr/>
        </p:nvSpPr>
        <p:spPr>
          <a:xfrm xmlns:a="http://schemas.openxmlformats.org/drawingml/2006/main">
            <a:off x="62865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Errors: acceptable frequency AND impact</a:t>
            </a:r>
          </a:p>
        </p:txBody>
      </p:sp>
      <p:sp>
        <p:nvSpPr>
          <p:cNvPr id="42" name="">
            <a:extLst xmlns:a="http://schemas.openxmlformats.org/drawingml/2006/main">
              <a:ext uri="{FF2B5EF4-FFF2-40B4-BE49-F238E27FC236}">
                <a16:creationId xmlns:a16="http://schemas.microsoft.com/office/drawing/2014/main" id="{0FB64753-0A6D-463F-9F72-4A32B4FBC929}"/>
              </a:ext>
            </a:extLst>
          </p:cNvPr>
          <p:cNvSpPr>
            <a:spLocks xmlns:a="http://schemas.openxmlformats.org/drawingml/2006/main" noGrp="1"/>
          </p:cNvSpPr>
          <p:nvPr/>
        </p:nvSpPr>
        <p:spPr>
          <a:xfrm xmlns:a="http://schemas.openxmlformats.org/drawingml/2006/main">
            <a:off x="6096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Economics: token + review cost; latency</a:t>
            </a:r>
          </a:p>
        </p:txBody>
      </p:sp>
      <p:sp>
        <p:nvSpPr>
          <p:cNvPr id="43" name="">
            <a:extLst xmlns:a="http://schemas.openxmlformats.org/drawingml/2006/main">
              <a:ext uri="{FF2B5EF4-FFF2-40B4-BE49-F238E27FC236}">
                <a16:creationId xmlns:a16="http://schemas.microsoft.com/office/drawing/2014/main" id="{3D4B74B6-DC3E-4CB9-8DD4-432D3B008D6B}"/>
              </a:ext>
            </a:extLst>
          </p:cNvPr>
          <p:cNvSpPr>
            <a:spLocks xmlns:a="http://schemas.openxmlformats.org/drawingml/2006/main" noGrp="1"/>
          </p:cNvSpPr>
          <p:nvPr/>
        </p:nvSpPr>
        <p:spPr>
          <a:xfrm xmlns:a="http://schemas.openxmlformats.org/drawingml/2006/main">
            <a:off x="62865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Liability: prohibit, escalate or use fallback</a:t>
            </a:r>
          </a:p>
        </p:txBody>
      </p:sp>
      <p:sp>
        <p:nvSpPr>
          <p:cNvPr id="44" name="">
            <a:extLst xmlns:a="http://schemas.openxmlformats.org/drawingml/2006/main">
              <a:ext uri="{FF2B5EF4-FFF2-40B4-BE49-F238E27FC236}">
                <a16:creationId xmlns:a16="http://schemas.microsoft.com/office/drawing/2014/main" id="{14A24E84-9F93-406C-A57F-7F2C67525D87}"/>
              </a:ext>
            </a:extLst>
          </p:cNvPr>
          <p:cNvSpPr>
            <a:spLocks xmlns:a="http://schemas.openxmlformats.org/drawingml/2006/main" noGrp="1"/>
          </p:cNvSpPr>
          <p:nvPr/>
        </p:nvSpPr>
        <p:spPr>
          <a:xfrm xmlns:a="http://schemas.openxmlformats.org/drawingml/2006/main">
            <a:off x="609600" y="54102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Business sets tolerances; Product / BA turn them into examples, limits and acceptance rules.</a:t>
            </a:r>
          </a:p>
        </p:txBody>
      </p:sp>
      <p:sp>
        <p:nvSpPr>
          <p:cNvPr id="45" name="">
            <a:extLst xmlns:a="http://schemas.openxmlformats.org/drawingml/2006/main">
              <a:ext uri="{FF2B5EF4-FFF2-40B4-BE49-F238E27FC236}">
                <a16:creationId xmlns:a16="http://schemas.microsoft.com/office/drawing/2014/main" id="{0A2C3C5C-D40E-4BC2-BC25-B5040C524CD7}"/>
              </a:ext>
            </a:extLst>
          </p:cNvPr>
          <p:cNvSpPr>
            <a:spLocks xmlns:a="http://schemas.openxmlformats.org/drawingml/2006/main" noGrp="1"/>
          </p:cNvSpPr>
          <p:nvPr/>
        </p:nvSpPr>
        <p:spPr>
          <a:xfrm xmlns:a="http://schemas.openxmlformats.org/drawingml/2006/main">
            <a:off x="609600" y="57435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Shared quality vocabulary exists. Product-specific semantic limits still need agreement.</a:t>
            </a:r>
          </a:p>
        </p:txBody>
      </p:sp>
      <p:sp>
        <p:nvSpPr>
          <p:cNvPr id="46" name="">
            <a:extLst xmlns:a="http://schemas.openxmlformats.org/drawingml/2006/main">
              <a:ext uri="{FF2B5EF4-FFF2-40B4-BE49-F238E27FC236}">
                <a16:creationId xmlns:a16="http://schemas.microsoft.com/office/drawing/2014/main" id="{D688B8F6-16B0-42DF-839C-6FBB46356EBB}"/>
              </a:ext>
            </a:extLst>
          </p:cNvPr>
          <p:cNvSpPr>
            <a:spLocks xmlns:a="http://schemas.openxmlformats.org/drawingml/2006/main" noGrp="1"/>
          </p:cNvSpPr>
          <p:nvPr/>
        </p:nvSpPr>
        <p:spPr>
          <a:xfrm xmlns:a="http://schemas.openxmlformats.org/drawingml/2006/main">
            <a:off x="609600" y="60579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Starting points: ISO/IEC 25059 · NIST AI RMF · CheckList (ACL 2020)</a:t>
            </a:r>
          </a:p>
        </p:txBody>
      </p:sp>
      <p:sp>
        <p:nvSpPr>
          <p:cNvPr id="47" name="">
            <a:extLst xmlns:a="http://schemas.openxmlformats.org/drawingml/2006/main">
              <a:ext uri="{FF2B5EF4-FFF2-40B4-BE49-F238E27FC236}">
                <a16:creationId xmlns:a16="http://schemas.microsoft.com/office/drawing/2014/main" id="{CCFF2A6E-72C5-4541-A932-FE11B7691E6F}"/>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From story ownership to an agreed contract for a range of outcomes.</a:t>
            </a:r>
          </a:p>
        </p:txBody>
      </p:sp>
    </p:spTree>
    <p:extLst>
      <p:ext uri="{BB962C8B-B14F-4D97-AF65-F5344CB8AC3E}">
        <p14:creationId xmlns:p14="http://schemas.microsoft.com/office/powerpoint/2010/main" val="50298906"/>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25D778C1-DD8E-45FC-8FB1-F24E7DF3D2A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81DD9BD0-6C06-4BEF-9326-9354A8267F2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C93935D-A503-4BDA-AD9F-62EB21E5F6B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F22FFD71-D8BC-49AA-A79A-E3DAF7A1C723}"/>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DEVELOPERS · estimate behavior, uncertainty and consequences</a:t>
            </a:r>
          </a:p>
        </p:txBody>
      </p:sp>
      <p:sp>
        <p:nvSpPr>
          <p:cNvPr id="5" name="">
            <a:extLst xmlns:a="http://schemas.openxmlformats.org/drawingml/2006/main">
              <a:ext uri="{FF2B5EF4-FFF2-40B4-BE49-F238E27FC236}">
                <a16:creationId xmlns:a16="http://schemas.microsoft.com/office/drawing/2014/main" id="{56716FD9-442B-4CE8-A2EE-0C9EDFE554CD}"/>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52EF2606-8910-49DF-B471-01940E506C3B}"/>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F0D9FD0C-259D-487D-8D5F-0BC87C1F6D45}"/>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Model behavior can leave agreed tolerances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produce a prohibited outcome.</a:t>
            </a:r>
          </a:p>
        </p:txBody>
      </p:sp>
      <p:sp>
        <p:nvSpPr>
          <p:cNvPr id="8" name="">
            <a:extLst xmlns:a="http://schemas.openxmlformats.org/drawingml/2006/main">
              <a:ext uri="{FF2B5EF4-FFF2-40B4-BE49-F238E27FC236}">
                <a16:creationId xmlns:a16="http://schemas.microsoft.com/office/drawing/2014/main" id="{F6191158-7470-457C-8507-8E40F7ABECBA}"/>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1D57D416-BC13-402C-BFD2-037825123CC1}"/>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4AD03FCB-195E-45C7-8297-6DF2164DB570}"/>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7CA33C8-314F-4AA6-B367-4399F413798D}"/>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A3B84A68-157E-4341-9F2E-746A9C3C3252}"/>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1CEC3EF3-1E3B-44EE-9D7B-7F179D023BF8}"/>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CB661F33-B6D2-4A11-ADBB-CCE7F2072DE5}"/>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22AB96E5-9385-4654-954E-8FBA164C8437}"/>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B4A412B8-217C-45BC-B682-FDE0132647E5}"/>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71F0FA08-8B40-4F26-9391-E1558A7BC762}"/>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1CDB3264-5C2B-4883-AC8E-D4C01E031B05}"/>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3BA798F1-EDEB-4D9D-83FE-3AAEC2F452DC}"/>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46A36C22-47DA-4CC5-9FBA-8436400E01A8}"/>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46EB5A79-0C48-4268-B10E-017AD96F7017}"/>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070C60B4-4B82-43DF-9D48-2B53608EB040}"/>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6AC3D972-6EF8-40ED-B4FF-A47AE9B0DF39}"/>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FC4E0CFD-6AD5-4367-880C-D2149FCBEBAC}"/>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327426F2-47F8-47E9-8D75-8FFD993934F0}"/>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9840DD1B-73DF-4C10-A602-437630B04F2C}"/>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20D0E27C-2FA0-4B03-9A43-B742BD72B852}"/>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9DD9EFC2-F8E9-487A-ABF4-D1B51168E0DB}"/>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EB6F4764-DD27-46F0-9B3D-E842892E1DCB}"/>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5EB1D22D-2342-415C-B37C-4B3CB98AB3F4}"/>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1ABCA95F-E651-4FAE-B2EC-E168DF49D524}"/>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E40061CF-7918-489D-AD4B-508DF3802595}"/>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ED817C3C-22B0-4DD4-9759-BCD6FD930733}"/>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F7CC3954-7157-4E2F-B26D-0C23B8147183}"/>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SAMPLE · n = 200</a:t>
            </a:r>
          </a:p>
        </p:txBody>
      </p:sp>
      <p:graphicFrame>
        <p:nvGraphicFramePr>
          <p:cNvPr id="80" name="Chart"/>
          <p:cNvGraphicFramePr/>
          <p:nvPr/>
        </p:nvGraphicFramePr>
        <p:xfrm>
          <a:off xmlns:a="http://schemas.openxmlformats.org/drawingml/2006/main" x="609600" y="4610100"/>
          <a:ext xmlns:a="http://schemas.openxmlformats.org/drawingml/2006/main" cx="5143500" cy="1228725"/>
        </p:xfrm>
        <a:graphic xmlns:a="http://schemas.openxmlformats.org/drawingml/2006/main">
          <a:graphicData uri="http://schemas.openxmlformats.org/drawingml/2006/chart">
            <c:chart xmlns:r="http://schemas.openxmlformats.org/officeDocument/2006/relationships" xmlns:c="http://schemas.openxmlformats.org/drawingml/2006/chart" r:id="R0f139ec6901146a1"/>
          </a:graphicData>
        </a:graphic>
      </p:graphicFrame>
      <p:sp>
        <p:nvSpPr>
          <p:cNvPr id="36" name="">
            <a:extLst xmlns:a="http://schemas.openxmlformats.org/drawingml/2006/main">
              <a:ext uri="{FF2B5EF4-FFF2-40B4-BE49-F238E27FC236}">
                <a16:creationId xmlns:a16="http://schemas.microsoft.com/office/drawing/2014/main" id="{2AF54B9E-243C-4083-AEC1-B8E677525400}"/>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7" name="">
            <a:extLst xmlns:a="http://schemas.openxmlformats.org/drawingml/2006/main">
              <a:ext uri="{FF2B5EF4-FFF2-40B4-BE49-F238E27FC236}">
                <a16:creationId xmlns:a16="http://schemas.microsoft.com/office/drawing/2014/main" id="{F9083982-C275-44DB-B695-A34933EA3953}"/>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38" name="">
            <a:extLst xmlns:a="http://schemas.openxmlformats.org/drawingml/2006/main">
              <a:ext uri="{FF2B5EF4-FFF2-40B4-BE49-F238E27FC236}">
                <a16:creationId xmlns:a16="http://schemas.microsoft.com/office/drawing/2014/main" id="{EAD42C54-E43C-4D8B-92A8-87BD26D2FC4E}"/>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Observed unacceptable outputs</a:t>
            </a:r>
          </a:p>
        </p:txBody>
      </p:sp>
      <p:sp>
        <p:nvSpPr>
          <p:cNvPr id="39" name="">
            <a:extLst xmlns:a="http://schemas.openxmlformats.org/drawingml/2006/main">
              <a:ext uri="{FF2B5EF4-FFF2-40B4-BE49-F238E27FC236}">
                <a16:creationId xmlns:a16="http://schemas.microsoft.com/office/drawing/2014/main" id="{84AEC26E-1C5B-40E9-A133-009F6BE72B53}"/>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0" name="">
            <a:extLst xmlns:a="http://schemas.openxmlformats.org/drawingml/2006/main">
              <a:ext uri="{FF2B5EF4-FFF2-40B4-BE49-F238E27FC236}">
                <a16:creationId xmlns:a16="http://schemas.microsoft.com/office/drawing/2014/main" id="{9ECC2887-1883-4698-BA53-B486670EF996}"/>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1" name="">
            <a:extLst xmlns:a="http://schemas.openxmlformats.org/drawingml/2006/main">
              <a:ext uri="{FF2B5EF4-FFF2-40B4-BE49-F238E27FC236}">
                <a16:creationId xmlns:a16="http://schemas.microsoft.com/office/drawing/2014/main" id="{ED93C8EC-CC5E-4009-9E37-13B1098CDCCA}"/>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2" name="">
            <a:extLst xmlns:a="http://schemas.openxmlformats.org/drawingml/2006/main">
              <a:ext uri="{FF2B5EF4-FFF2-40B4-BE49-F238E27FC236}">
                <a16:creationId xmlns:a16="http://schemas.microsoft.com/office/drawing/2014/main" id="{8718287E-C4BA-4C5C-A752-D8404A2F08C4}"/>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3" name="">
            <a:extLst xmlns:a="http://schemas.openxmlformats.org/drawingml/2006/main">
              <a:ext uri="{FF2B5EF4-FFF2-40B4-BE49-F238E27FC236}">
                <a16:creationId xmlns:a16="http://schemas.microsoft.com/office/drawing/2014/main" id="{55A93034-74EC-42A1-87E0-DCB36E6FC39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routine, edge and adversarial cases. Eval Gate: compare versions against agreed limits.</a:t>
            </a:r>
          </a:p>
        </p:txBody>
      </p:sp>
      <p:sp>
        <p:nvSpPr>
          <p:cNvPr id="44" name="">
            <a:extLst xmlns:a="http://schemas.openxmlformats.org/drawingml/2006/main">
              <a:ext uri="{FF2B5EF4-FFF2-40B4-BE49-F238E27FC236}">
                <a16:creationId xmlns:a16="http://schemas.microsoft.com/office/drawing/2014/main" id="{E9909154-BAAB-4416-A18E-8EDF45256F05}"/>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calibrates the evaluator with domain experts. Incidents become new regression cases.</a:t>
            </a:r>
          </a:p>
        </p:txBody>
      </p:sp>
      <p:sp>
        <p:nvSpPr>
          <p:cNvPr id="45" name="">
            <a:extLst xmlns:a="http://schemas.openxmlformats.org/drawingml/2006/main">
              <a:ext uri="{FF2B5EF4-FFF2-40B4-BE49-F238E27FC236}">
                <a16:creationId xmlns:a16="http://schemas.microsoft.com/office/drawing/2014/main" id="{CA3B1FC3-9F10-4BDA-92CF-114DE4B77ACA}"/>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Product + BA agree limits. QA + Dev measure. Risk / release owner decides.</a:t>
            </a:r>
          </a:p>
        </p:txBody>
      </p:sp>
    </p:spTree>
    <p:extLst>
      <p:ext uri="{BB962C8B-B14F-4D97-AF65-F5344CB8AC3E}">
        <p14:creationId xmlns:p14="http://schemas.microsoft.com/office/powerpoint/2010/main" val="12852074"/>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99634F2-FE04-481B-8316-B59449356CB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732668D4-7F1D-4175-82CD-7276F24818A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8DC1222-83BB-43C9-AA6C-B7DDC064CA6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3A4B5DC3-609A-4C75-BC8B-115C2CE583A0}"/>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DEVELOPERS + QA · from a green run to a statistical quality contract</a:t>
            </a:r>
          </a:p>
        </p:txBody>
      </p:sp>
      <p:sp>
        <p:nvSpPr>
          <p:cNvPr id="5" name="">
            <a:extLst xmlns:a="http://schemas.openxmlformats.org/drawingml/2006/main">
              <a:ext uri="{FF2B5EF4-FFF2-40B4-BE49-F238E27FC236}">
                <a16:creationId xmlns:a16="http://schemas.microsoft.com/office/drawing/2014/main" id="{360D88B4-F686-4E40-81D5-8C527811E4CD}"/>
              </a:ext>
            </a:extLst>
          </p:cNvPr>
          <p:cNvSpPr>
            <a:spLocks xmlns:a="http://schemas.openxmlformats.org/drawingml/2006/main" noGrp="1"/>
          </p:cNvSpPr>
          <p:nvPr/>
        </p:nvSpPr>
        <p:spPr>
          <a:xfrm xmlns:a="http://schemas.openxmlformats.org/drawingml/2006/main">
            <a:off x="609600" y="20383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Requirements stay. Readiness, completion and release also need risk, cost and confidence evidence.</a:t>
            </a:r>
          </a:p>
        </p:txBody>
      </p:sp>
      <p:graphicFrame>
        <p:nvGraphicFramePr>
          <p:cNvPr id="15" name=""/>
          <p:cNvGraphicFramePr/>
          <p:nvPr/>
        </p:nvGraphicFramePr>
        <p:xfrm>
          <a:off xmlns:a="http://schemas.openxmlformats.org/drawingml/2006/main" x="609600" y="2371725"/>
          <a:ext xmlns:a="http://schemas.openxmlformats.org/drawingml/2006/main" cx="10972800" cy="3486150"/>
        </p:xfrm>
        <a:graphic xmlns:a="http://schemas.openxmlformats.org/drawingml/2006/main">
          <a:graphicData uri="http://schemas.openxmlformats.org/drawingml/2006/table">
            <a:tbl>
              <a:tblPr/>
              <a:tblGrid>
                <a:gridCol w="1095375"/>
                <a:gridCol w="2257425"/>
                <a:gridCol w="4762500"/>
                <a:gridCol w="2857500"/>
              </a:tblGrid>
              <a:tr h="361950">
                <a:tc>
                  <a:txBody>
                    <a:bodyPr lIns="171450" tIns="28575" rIns="171450" bIns="28575">
                      <a:noAutofit/>
                    </a:bodyPr>
                    <a:lstStyle/>
                    <a:p>
                      <a:r>
                        <a:rPr sz="1575" b="1">
                          <a:solidFill>
                            <a:srgbClr val="F4F7FA"/>
                          </a:solidFill>
                          <a:latin typeface="Arial"/>
                          <a:ea typeface="Arial"/>
                          <a:cs typeface="Arial"/>
                        </a:rPr>
                        <a:t>GATE</a:t>
                      </a:r>
                    </a:p>
                  </a:txBody>
                  <a:tcPr marL="91440" marR="91440" marT="45720" marB="45720" anchor="ctr">
                    <a:solidFill>
                      <a:srgbClr val="1A2734"/>
                    </a:solidFill>
                  </a:tcPr>
                </a:tc>
                <a:tc>
                  <a:txBody>
                    <a:bodyPr lIns="171450" tIns="28575" rIns="171450" bIns="28575">
                      <a:noAutofit/>
                    </a:bodyPr>
                    <a:lstStyle/>
                    <a:p>
                      <a:r>
                        <a:rPr sz="1575" b="1">
                          <a:solidFill>
                            <a:srgbClr val="F4F7FA"/>
                          </a:solidFill>
                          <a:latin typeface="Arial"/>
                          <a:ea typeface="Arial"/>
                          <a:cs typeface="Arial"/>
                        </a:rPr>
                        <a:t>CLASSIC FOCUS</a:t>
                      </a:r>
                    </a:p>
                  </a:txBody>
                  <a:tcPr marL="91440" marR="91440" marT="45720" marB="45720" anchor="ctr">
                    <a:solidFill>
                      <a:srgbClr val="1A2734"/>
                    </a:solidFill>
                  </a:tcPr>
                </a:tc>
                <a:tc>
                  <a:txBody>
                    <a:bodyPr lIns="171450" tIns="28575" rIns="171450" bIns="28575">
                      <a:noAutofit/>
                    </a:bodyPr>
                    <a:lstStyle/>
                    <a:p>
                      <a:r>
                        <a:rPr sz="1575" b="1">
                          <a:solidFill>
                            <a:srgbClr val="F4F7FA"/>
                          </a:solidFill>
                          <a:latin typeface="Arial"/>
                          <a:ea typeface="Arial"/>
                          <a:cs typeface="Arial"/>
                        </a:rPr>
                        <a:t>ADDED FOR MODEL BEHAVIOR</a:t>
                      </a:r>
                    </a:p>
                  </a:txBody>
                  <a:tcPr marL="91440" marR="91440" marT="45720" marB="45720" anchor="ctr">
                    <a:solidFill>
                      <a:srgbClr val="1A2734"/>
                    </a:solidFill>
                  </a:tcPr>
                </a:tc>
                <a:tc>
                  <a:txBody>
                    <a:bodyPr lIns="171450" tIns="28575" rIns="171450" bIns="28575">
                      <a:noAutofit/>
                    </a:bodyPr>
                    <a:lstStyle/>
                    <a:p>
                      <a:r>
                        <a:rPr sz="1575" b="1">
                          <a:solidFill>
                            <a:srgbClr val="28C7F7"/>
                          </a:solidFill>
                          <a:latin typeface="Arial"/>
                          <a:ea typeface="Arial"/>
                          <a:cs typeface="Arial"/>
                        </a:rPr>
                        <a:t>DECISION / OWNER</a:t>
                      </a:r>
                    </a:p>
                  </a:txBody>
                  <a:tcPr marL="91440" marR="91440" marT="45720" marB="45720" anchor="ctr">
                    <a:solidFill>
                      <a:srgbClr val="1A2734"/>
                    </a:solidFill>
                  </a:tcPr>
                </a:tc>
              </a:tr>
              <a:tr h="800100">
                <a:tc>
                  <a:txBody>
                    <a:bodyPr lIns="171450" tIns="28575" rIns="171450" bIns="28575">
                      <a:noAutofit/>
                    </a:bodyPr>
                    <a:lstStyle/>
                    <a:p>
                      <a:r>
                        <a:rPr sz="1350" b="1">
                          <a:solidFill>
                            <a:srgbClr val="F4F7FA"/>
                          </a:solidFill>
                          <a:latin typeface="Arial"/>
                          <a:ea typeface="Arial"/>
                          <a:cs typeface="Arial"/>
                        </a:rPr>
                        <a:t>READY</a:t>
                      </a:r>
                    </a:p>
                    <a:p>
                      <a:r>
                        <a:rPr sz="1350" b="1">
                          <a:solidFill>
                            <a:srgbClr val="F4F7FA"/>
                          </a:solidFill>
                          <a:latin typeface="Arial"/>
                          <a:ea typeface="Arial"/>
                          <a:cs typeface="Arial"/>
                        </a:rPr>
                        <a:t>DoR</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Story + acceptance</a:t>
                      </a:r>
                    </a:p>
                    <a:p>
                      <a:r>
                        <a:rPr sz="1350" b="0">
                          <a:solidFill>
                            <a:srgbClr val="F4F7FA"/>
                          </a:solidFill>
                          <a:latin typeface="Arial"/>
                          <a:ea typeface="Arial"/>
                          <a:cs typeface="Arial"/>
                        </a:rPr>
                        <a:t>Dependencies understood</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Risk tolerances + prohibited outcomes</a:t>
                      </a:r>
                    </a:p>
                    <a:p>
                      <a:r>
                        <a:rPr sz="1350" b="0">
                          <a:solidFill>
                            <a:srgbClr val="F4F7FA"/>
                          </a:solidFill>
                          <a:latin typeface="Arial"/>
                          <a:ea typeface="Arial"/>
                          <a:cs typeface="Arial"/>
                        </a:rPr>
                        <a:t>Evaluation plan + complete control design</a:t>
                      </a:r>
                    </a:p>
                    <a:p>
                      <a:r>
                        <a:rPr sz="1350" b="0">
                          <a:solidFill>
                            <a:srgbClr val="F4F7FA"/>
                          </a:solidFill>
                          <a:latin typeface="Arial"/>
                          <a:ea typeface="Arial"/>
                          <a:cs typeface="Arial"/>
                        </a:rPr>
                        <a:t>Human authority, capacity and fallback</a:t>
                      </a:r>
                    </a:p>
                  </a:txBody>
                  <a:tcPr marL="91440" marR="91440" marT="45720" marB="45720" anchor="ctr">
                    <a:solidFill>
                      <a:srgbClr val="0B0F14"/>
                    </a:solidFill>
                  </a:tcPr>
                </a:tc>
                <a:tc>
                  <a:txBody>
                    <a:bodyPr lIns="171450" tIns="28575" rIns="171450" bIns="28575">
                      <a:noAutofit/>
                    </a:bodyPr>
                    <a:lstStyle/>
                    <a:p>
                      <a:r>
                        <a:rPr sz="1350" b="0">
                          <a:solidFill>
                            <a:srgbClr val="28C7F7"/>
                          </a:solidFill>
                          <a:latin typeface="Arial"/>
                          <a:ea typeface="Arial"/>
                          <a:cs typeface="Arial"/>
                        </a:rPr>
                        <a:t>Product / BA + Architect</a:t>
                      </a:r>
                    </a:p>
                    <a:p>
                      <a:r>
                        <a:rPr sz="1350" b="0">
                          <a:solidFill>
                            <a:srgbClr val="28C7F7"/>
                          </a:solidFill>
                          <a:latin typeface="Arial"/>
                          <a:ea typeface="Arial"/>
                          <a:cs typeface="Arial"/>
                        </a:rPr>
                        <a:t>PM resolves dependencies</a:t>
                      </a:r>
                    </a:p>
                  </a:txBody>
                  <a:tcPr marL="91440" marR="91440" marT="45720" marB="45720" anchor="ctr">
                    <a:solidFill>
                      <a:srgbClr val="0B0F14"/>
                    </a:solidFill>
                  </a:tcPr>
                </a:tc>
              </a:tr>
              <a:tr h="533400">
                <a:tc>
                  <a:txBody>
                    <a:bodyPr lIns="171450" tIns="28575" rIns="171450" bIns="28575">
                      <a:noAutofit/>
                    </a:bodyPr>
                    <a:lstStyle/>
                    <a:p>
                      <a:r>
                        <a:rPr sz="1350" b="1">
                          <a:solidFill>
                            <a:srgbClr val="F4F7FA"/>
                          </a:solidFill>
                          <a:latin typeface="Arial"/>
                          <a:ea typeface="Arial"/>
                          <a:cs typeface="Arial"/>
                        </a:rPr>
                        <a:t>BUDGET</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Runtime cost +</a:t>
                      </a:r>
                    </a:p>
                    <a:p>
                      <a:r>
                        <a:rPr sz="1350" b="0">
                          <a:solidFill>
                            <a:srgbClr val="F4F7FA"/>
                          </a:solidFill>
                          <a:latin typeface="Arial"/>
                          <a:ea typeface="Arial"/>
                          <a:cs typeface="Arial"/>
                        </a:rPr>
                        <a:t>performance requirements</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Token + evaluation + human-review costs</a:t>
                      </a:r>
                    </a:p>
                    <a:p>
                      <a:r>
                        <a:rPr sz="1350" b="0">
                          <a:solidFill>
                            <a:srgbClr val="F4F7FA"/>
                          </a:solidFill>
                          <a:latin typeface="Arial"/>
                          <a:ea typeface="Arial"/>
                          <a:cs typeface="Arial"/>
                        </a:rPr>
                        <a:t>Explicit spend, latency and capacity limits</a:t>
                      </a:r>
                    </a:p>
                  </a:txBody>
                  <a:tcPr marL="91440" marR="91440" marT="45720" marB="45720" anchor="ctr">
                    <a:solidFill>
                      <a:srgbClr val="0B0F14"/>
                    </a:solidFill>
                  </a:tcPr>
                </a:tc>
                <a:tc>
                  <a:txBody>
                    <a:bodyPr lIns="171450" tIns="28575" rIns="171450" bIns="28575">
                      <a:noAutofit/>
                    </a:bodyPr>
                    <a:lstStyle/>
                    <a:p>
                      <a:r>
                        <a:rPr sz="1350" b="0">
                          <a:solidFill>
                            <a:srgbClr val="28C7F7"/>
                          </a:solidFill>
                          <a:latin typeface="Arial"/>
                          <a:ea typeface="Arial"/>
                          <a:cs typeface="Arial"/>
                        </a:rPr>
                        <a:t>Product agrees economics</a:t>
                      </a:r>
                    </a:p>
                    <a:p>
                      <a:r>
                        <a:rPr sz="1350" b="0">
                          <a:solidFill>
                            <a:srgbClr val="28C7F7"/>
                          </a:solidFill>
                          <a:latin typeface="Arial"/>
                          <a:ea typeface="Arial"/>
                          <a:cs typeface="Arial"/>
                        </a:rPr>
                        <a:t>Architect checks feasibility</a:t>
                      </a:r>
                    </a:p>
                  </a:txBody>
                  <a:tcPr marL="91440" marR="91440" marT="45720" marB="45720" anchor="ctr">
                    <a:solidFill>
                      <a:srgbClr val="0B0F14"/>
                    </a:solidFill>
                  </a:tcPr>
                </a:tc>
              </a:tr>
              <a:tr h="800100">
                <a:tc>
                  <a:txBody>
                    <a:bodyPr lIns="171450" tIns="28575" rIns="171450" bIns="28575">
                      <a:noAutofit/>
                    </a:bodyPr>
                    <a:lstStyle/>
                    <a:p>
                      <a:r>
                        <a:rPr sz="1350" b="1">
                          <a:solidFill>
                            <a:srgbClr val="F4F7FA"/>
                          </a:solidFill>
                          <a:latin typeface="Arial"/>
                          <a:ea typeface="Arial"/>
                          <a:cs typeface="Arial"/>
                        </a:rPr>
                        <a:t>DONE</a:t>
                      </a:r>
                    </a:p>
                    <a:p>
                      <a:r>
                        <a:rPr sz="1350" b="1">
                          <a:solidFill>
                            <a:srgbClr val="F4F7FA"/>
                          </a:solidFill>
                          <a:latin typeface="Arial"/>
                          <a:ea typeface="Arial"/>
                          <a:cs typeface="Arial"/>
                        </a:rPr>
                        <a:t>DoD</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Code review + tests</a:t>
                      </a:r>
                    </a:p>
                    <a:p>
                      <a:r>
                        <a:rPr sz="1350" b="0">
                          <a:solidFill>
                            <a:srgbClr val="F4F7FA"/>
                          </a:solidFill>
                          <a:latin typeface="Arial"/>
                          <a:ea typeface="Arial"/>
                          <a:cs typeface="Arial"/>
                        </a:rPr>
                        <a:t>Acceptance verified</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Versioned model / prompt / data</a:t>
                      </a:r>
                    </a:p>
                    <a:p>
                      <a:r>
                        <a:rPr sz="1350" b="0">
                          <a:solidFill>
                            <a:srgbClr val="F4F7FA"/>
                          </a:solidFill>
                          <a:latin typeface="Arial"/>
                          <a:ea typeface="Arial"/>
                          <a:cs typeface="Arial"/>
                        </a:rPr>
                        <a:t>Eval Gates: sample, uncertainty, coverage</a:t>
                      </a:r>
                    </a:p>
                    <a:p>
                      <a:r>
                        <a:rPr sz="1350" b="0">
                          <a:solidFill>
                            <a:srgbClr val="F4F7FA"/>
                          </a:solidFill>
                          <a:latin typeface="Arial"/>
                          <a:ea typeface="Arial"/>
                          <a:cs typeface="Arial"/>
                        </a:rPr>
                        <a:t>Working controls + human / recovery tests</a:t>
                      </a:r>
                    </a:p>
                  </a:txBody>
                  <a:tcPr marL="91440" marR="91440" marT="45720" marB="45720" anchor="ctr">
                    <a:solidFill>
                      <a:srgbClr val="0B0F14"/>
                    </a:solidFill>
                  </a:tcPr>
                </a:tc>
                <a:tc>
                  <a:txBody>
                    <a:bodyPr lIns="171450" tIns="28575" rIns="171450" bIns="28575">
                      <a:noAutofit/>
                    </a:bodyPr>
                    <a:lstStyle/>
                    <a:p>
                      <a:r>
                        <a:rPr sz="1350" b="0">
                          <a:solidFill>
                            <a:srgbClr val="28C7F7"/>
                          </a:solidFill>
                          <a:latin typeface="Arial"/>
                          <a:ea typeface="Arial"/>
                          <a:cs typeface="Arial"/>
                        </a:rPr>
                        <a:t>Developer + QA verify</a:t>
                      </a:r>
                    </a:p>
                    <a:p>
                      <a:r>
                        <a:rPr sz="1350" b="0">
                          <a:solidFill>
                            <a:srgbClr val="28C7F7"/>
                          </a:solidFill>
                          <a:latin typeface="Arial"/>
                          <a:ea typeface="Arial"/>
                          <a:cs typeface="Arial"/>
                        </a:rPr>
                        <a:t>Valid JSON ≠ correct meaning</a:t>
                      </a:r>
                    </a:p>
                  </a:txBody>
                  <a:tcPr marL="91440" marR="91440" marT="45720" marB="45720" anchor="ctr">
                    <a:solidFill>
                      <a:srgbClr val="0B0F14"/>
                    </a:solidFill>
                  </a:tcPr>
                </a:tc>
              </a:tr>
              <a:tr h="990600">
                <a:tc>
                  <a:txBody>
                    <a:bodyPr lIns="171450" tIns="28575" rIns="171450" bIns="28575">
                      <a:noAutofit/>
                    </a:bodyPr>
                    <a:lstStyle/>
                    <a:p>
                      <a:r>
                        <a:rPr sz="1350" b="1">
                          <a:solidFill>
                            <a:srgbClr val="F4F7FA"/>
                          </a:solidFill>
                          <a:latin typeface="Arial"/>
                          <a:ea typeface="Arial"/>
                          <a:cs typeface="Arial"/>
                        </a:rPr>
                        <a:t>RELEASE</a:t>
                      </a:r>
                    </a:p>
                    <a:p>
                      <a:r>
                        <a:rPr sz="1350" b="1">
                          <a:solidFill>
                            <a:srgbClr val="F4F7FA"/>
                          </a:solidFill>
                          <a:latin typeface="Arial"/>
                          <a:ea typeface="Arial"/>
                          <a:cs typeface="Arial"/>
                        </a:rPr>
                        <a:t>OPERATE</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Release approval</a:t>
                      </a:r>
                    </a:p>
                    <a:p>
                      <a:r>
                        <a:rPr sz="1350" b="0">
                          <a:solidFill>
                            <a:srgbClr val="F4F7FA"/>
                          </a:solidFill>
                          <a:latin typeface="Arial"/>
                          <a:ea typeface="Arial"/>
                          <a:cs typeface="Arial"/>
                        </a:rPr>
                        <a:t>Deployment + operations</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Accepted evidence + scoped release</a:t>
                      </a:r>
                    </a:p>
                    <a:p>
                      <a:r>
                        <a:rPr sz="1350" b="0">
                          <a:solidFill>
                            <a:srgbClr val="F4F7FA"/>
                          </a:solidFill>
                          <a:latin typeface="Arial"/>
                          <a:ea typeface="Arial"/>
                          <a:cs typeface="Arial"/>
                        </a:rPr>
                        <a:t>Live monitoring + responders + stop rules</a:t>
                      </a:r>
                    </a:p>
                    <a:p>
                      <a:r>
                        <a:rPr sz="1350" b="0">
                          <a:solidFill>
                            <a:srgbClr val="F4F7FA"/>
                          </a:solidFill>
                          <a:latin typeface="Arial"/>
                          <a:ea typeface="Arial"/>
                          <a:cs typeface="Arial"/>
                        </a:rPr>
                        <a:t>Incidents update regression, Eval Gates</a:t>
                      </a:r>
                    </a:p>
                    <a:p>
                      <a:r>
                        <a:rPr sz="1350" b="0">
                          <a:solidFill>
                            <a:srgbClr val="F4F7FA"/>
                          </a:solidFill>
                          <a:latin typeface="Arial"/>
                          <a:ea typeface="Arial"/>
                          <a:cs typeface="Arial"/>
                        </a:rPr>
                        <a:t>and monitoring rules</a:t>
                      </a:r>
                    </a:p>
                  </a:txBody>
                  <a:tcPr marL="91440" marR="91440" marT="45720" marB="45720" anchor="ctr">
                    <a:solidFill>
                      <a:srgbClr val="0B0F14"/>
                    </a:solidFill>
                  </a:tcPr>
                </a:tc>
                <a:tc>
                  <a:txBody>
                    <a:bodyPr lIns="171450" tIns="28575" rIns="171450" bIns="28575">
                      <a:noAutofit/>
                    </a:bodyPr>
                    <a:lstStyle/>
                    <a:p>
                      <a:r>
                        <a:rPr sz="1350" b="0">
                          <a:solidFill>
                            <a:srgbClr val="28C7F7"/>
                          </a:solidFill>
                          <a:latin typeface="Arial"/>
                          <a:ea typeface="Arial"/>
                          <a:cs typeface="Arial"/>
                        </a:rPr>
                        <a:t>Authorized owner: accept,</a:t>
                      </a:r>
                    </a:p>
                    <a:p>
                      <a:r>
                        <a:rPr sz="1350" b="0">
                          <a:solidFill>
                            <a:srgbClr val="28C7F7"/>
                          </a:solidFill>
                          <a:latin typeface="Arial"/>
                          <a:ea typeface="Arial"/>
                          <a:cs typeface="Arial"/>
                        </a:rPr>
                        <a:t>narrow, defer or reject</a:t>
                      </a:r>
                    </a:p>
                    <a:p>
                      <a:r>
                        <a:rPr sz="1350" b="0">
                          <a:solidFill>
                            <a:srgbClr val="28C7F7"/>
                          </a:solidFill>
                          <a:latin typeface="Arial"/>
                          <a:ea typeface="Arial"/>
                          <a:cs typeface="Arial"/>
                        </a:rPr>
                        <a:t>PM tracks operating readiness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CA08C843-E78C-4952-AFA4-87CC34320D5E}"/>
              </a:ext>
            </a:extLst>
          </p:cNvPr>
          <p:cNvSpPr>
            <a:spLocks xmlns:a="http://schemas.openxmlformats.org/drawingml/2006/main" noGrp="1"/>
          </p:cNvSpPr>
          <p:nvPr/>
        </p:nvSpPr>
        <p:spPr>
          <a:xfrm xmlns:a="http://schemas.openxmlformats.org/drawingml/2006/main">
            <a:off x="609600" y="59055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Arial"/>
                <a:ea typeface="Arial"/>
                <a:cs typeface="Arial"/>
              </a:defRPr>
            </a:pPr>
            <a:r>
              <a:rPr sz="1500" b="0">
                <a:solidFill>
                  <a:srgbClr val="F5B61C"/>
                </a:solidFill>
                <a:latin typeface="Arial"/>
                <a:ea typeface="Arial"/>
                <a:cs typeface="Arial"/>
              </a:rPr>
              <a:t>A green run is an observation. Acceptance needs agreed tolerances and sufficient evidence.</a:t>
            </a:r>
          </a:p>
        </p:txBody>
      </p:sp>
      <p:sp>
        <p:nvSpPr>
          <p:cNvPr id="8" name="">
            <a:extLst xmlns:a="http://schemas.openxmlformats.org/drawingml/2006/main">
              <a:ext uri="{FF2B5EF4-FFF2-40B4-BE49-F238E27FC236}">
                <a16:creationId xmlns:a16="http://schemas.microsoft.com/office/drawing/2014/main" id="{7F041A1F-6D94-47C5-92E2-EE9BA2900A24}"/>
              </a:ext>
            </a:extLst>
          </p:cNvPr>
          <p:cNvSpPr>
            <a:spLocks xmlns:a="http://schemas.openxmlformats.org/drawingml/2006/main" noGrp="1"/>
          </p:cNvSpPr>
          <p:nvPr/>
        </p:nvSpPr>
        <p:spPr>
          <a:xfrm xmlns:a="http://schemas.openxmlformats.org/drawingml/2006/main">
            <a:off x="609600" y="61722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Classic focus is simplified; risk, cost and operations already matter in conventional software.</a:t>
            </a:r>
          </a:p>
        </p:txBody>
      </p:sp>
      <p:sp>
        <p:nvSpPr>
          <p:cNvPr id="9" name="">
            <a:extLst xmlns:a="http://schemas.openxmlformats.org/drawingml/2006/main">
              <a:ext uri="{FF2B5EF4-FFF2-40B4-BE49-F238E27FC236}">
                <a16:creationId xmlns:a16="http://schemas.microsoft.com/office/drawing/2014/main" id="{175997B0-0B77-4B33-B7AC-BBE8E6963862}"/>
              </a:ext>
            </a:extLst>
          </p:cNvPr>
          <p:cNvSpPr>
            <a:spLocks xmlns:a="http://schemas.openxmlformats.org/drawingml/2006/main" noGrp="1"/>
          </p:cNvSpPr>
          <p:nvPr/>
        </p:nvSpPr>
        <p:spPr>
          <a:xfrm xmlns:a="http://schemas.openxmlformats.org/drawingml/2006/main">
            <a:off x="609600" y="6429375"/>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“Done” is an evidence package. Release is a separate, scoped decision.</a:t>
            </a:r>
          </a:p>
        </p:txBody>
      </p:sp>
    </p:spTree>
    <p:extLst>
      <p:ext uri="{BB962C8B-B14F-4D97-AF65-F5344CB8AC3E}">
        <p14:creationId xmlns:p14="http://schemas.microsoft.com/office/powerpoint/2010/main" val="519591481"/>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D83FE62C-DE07-491A-9F7C-0304D2425AF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4102CD68-E04B-4581-9305-160DB2ED506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79B5780-FD70-4EB6-9C13-0738F9B4F70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421136CD-9DC5-40A2-B968-8943372714E8}"/>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ARCHITECT · design containment, recovery and the boundary of feasibility</a:t>
            </a:r>
          </a:p>
        </p:txBody>
      </p:sp>
      <p:sp>
        <p:nvSpPr>
          <p:cNvPr id="5" name="">
            <a:extLst xmlns:a="http://schemas.openxmlformats.org/drawingml/2006/main">
              <a:ext uri="{FF2B5EF4-FFF2-40B4-BE49-F238E27FC236}">
                <a16:creationId xmlns:a16="http://schemas.microsoft.com/office/drawing/2014/main" id="{4B1C2E85-BEE6-44F3-8327-7F0417BB36B5}"/>
              </a:ext>
            </a:extLst>
          </p:cNvPr>
          <p:cNvSpPr>
            <a:spLocks xmlns:a="http://schemas.openxmlformats.org/drawingml/2006/main" noGrp="1"/>
          </p:cNvSpPr>
          <p:nvPr/>
        </p:nvSpPr>
        <p:spPr>
          <a:xfrm xmlns:a="http://schemas.openxmlformats.org/drawingml/2006/main">
            <a:off x="609600" y="2047875"/>
            <a:ext cx="3505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ADB8C5"/>
                </a:solidFill>
                <a:latin typeface="Arial"/>
                <a:ea typeface="Arial"/>
                <a:cs typeface="Arial"/>
              </a:defRPr>
            </a:pPr>
            <a:r>
              <a:rPr sz="1350" b="1">
                <a:solidFill>
                  <a:srgbClr val="ADB8C5"/>
                </a:solidFill>
                <a:latin typeface="Arial"/>
                <a:ea typeface="Arial"/>
                <a:cs typeface="Arial"/>
              </a:rPr>
              <a:t>RUNTIME CONTAINMENT + FEEDBACK</a:t>
            </a:r>
          </a:p>
        </p:txBody>
      </p:sp>
      <p:sp>
        <p:nvSpPr>
          <p:cNvPr id="6" name="">
            <a:extLst xmlns:a="http://schemas.openxmlformats.org/drawingml/2006/main">
              <a:ext uri="{FF2B5EF4-FFF2-40B4-BE49-F238E27FC236}">
                <a16:creationId xmlns:a16="http://schemas.microsoft.com/office/drawing/2014/main" id="{DE03CCCF-BC67-48B3-94AA-3846CB16778A}"/>
              </a:ext>
            </a:extLst>
          </p:cNvPr>
          <p:cNvSpPr>
            <a:spLocks xmlns:a="http://schemas.openxmlformats.org/drawingml/2006/main" noGrp="1"/>
          </p:cNvSpPr>
          <p:nvPr/>
        </p:nvSpPr>
        <p:spPr>
          <a:xfrm xmlns:a="http://schemas.openxmlformats.org/drawingml/2006/main">
            <a:off x="4438650" y="2085975"/>
            <a:ext cx="1714500" cy="3619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7" name="">
            <a:extLst xmlns:a="http://schemas.openxmlformats.org/drawingml/2006/main">
              <a:ext uri="{FF2B5EF4-FFF2-40B4-BE49-F238E27FC236}">
                <a16:creationId xmlns:a16="http://schemas.microsoft.com/office/drawing/2014/main" id="{C3DC97FD-6015-481A-B04F-A2D8154F72C0}"/>
              </a:ext>
            </a:extLst>
          </p:cNvPr>
          <p:cNvSpPr>
            <a:spLocks xmlns:a="http://schemas.openxmlformats.org/drawingml/2006/main" noGrp="1"/>
          </p:cNvSpPr>
          <p:nvPr/>
        </p:nvSpPr>
        <p:spPr>
          <a:xfrm xmlns:a="http://schemas.openxmlformats.org/drawingml/2006/main">
            <a:off x="4552950" y="21621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1">
                <a:solidFill>
                  <a:srgbClr val="F4F7FA"/>
                </a:solidFill>
                <a:latin typeface="Arial"/>
                <a:ea typeface="Arial"/>
                <a:cs typeface="Arial"/>
              </a:defRPr>
            </a:pPr>
            <a:r>
              <a:rPr sz="1275" b="1">
                <a:solidFill>
                  <a:srgbClr val="F4F7FA"/>
                </a:solidFill>
                <a:latin typeface="Arial"/>
                <a:ea typeface="Arial"/>
                <a:cs typeface="Arial"/>
              </a:rPr>
              <a:t>Approved limits</a:t>
            </a:r>
          </a:p>
        </p:txBody>
      </p:sp>
      <p:sp>
        <p:nvSpPr>
          <p:cNvPr id="8" name="">
            <a:extLst xmlns:a="http://schemas.openxmlformats.org/drawingml/2006/main">
              <a:ext uri="{FF2B5EF4-FFF2-40B4-BE49-F238E27FC236}">
                <a16:creationId xmlns:a16="http://schemas.microsoft.com/office/drawing/2014/main" id="{B688775A-4E72-4711-9CE7-3E2993435A6C}"/>
              </a:ext>
            </a:extLst>
          </p:cNvPr>
          <p:cNvSpPr>
            <a:spLocks xmlns:a="http://schemas.openxmlformats.org/drawingml/2006/main" noGrp="1"/>
          </p:cNvSpPr>
          <p:nvPr/>
        </p:nvSpPr>
        <p:spPr>
          <a:xfrm xmlns:a="http://schemas.openxmlformats.org/drawingml/2006/main">
            <a:off x="609600" y="2695575"/>
            <a:ext cx="14097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E0443C68-3DF7-45B0-BD26-6A66E63B98CC}"/>
              </a:ext>
            </a:extLst>
          </p:cNvPr>
          <p:cNvSpPr>
            <a:spLocks xmlns:a="http://schemas.openxmlformats.org/drawingml/2006/main" noGrp="1"/>
          </p:cNvSpPr>
          <p:nvPr/>
        </p:nvSpPr>
        <p:spPr>
          <a:xfrm xmlns:a="http://schemas.openxmlformats.org/drawingml/2006/main">
            <a:off x="723900" y="2771775"/>
            <a:ext cx="1181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Model</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proposal</a:t>
            </a:r>
          </a:p>
        </p:txBody>
      </p:sp>
      <p:sp>
        <p:nvSpPr>
          <p:cNvPr id="10" name="">
            <a:extLst xmlns:a="http://schemas.openxmlformats.org/drawingml/2006/main">
              <a:ext uri="{FF2B5EF4-FFF2-40B4-BE49-F238E27FC236}">
                <a16:creationId xmlns:a16="http://schemas.microsoft.com/office/drawing/2014/main" id="{1562B24B-71A5-4411-B0FD-844F2D600AFF}"/>
              </a:ext>
            </a:extLst>
          </p:cNvPr>
          <p:cNvSpPr>
            <a:spLocks xmlns:a="http://schemas.openxmlformats.org/drawingml/2006/main" noGrp="1"/>
          </p:cNvSpPr>
          <p:nvPr/>
        </p:nvSpPr>
        <p:spPr>
          <a:xfrm xmlns:a="http://schemas.openxmlformats.org/drawingml/2006/main">
            <a:off x="2381250" y="2695575"/>
            <a:ext cx="16764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62BA3AE9-2386-484E-9E9E-1BFD1E085F18}"/>
              </a:ext>
            </a:extLst>
          </p:cNvPr>
          <p:cNvSpPr>
            <a:spLocks xmlns:a="http://schemas.openxmlformats.org/drawingml/2006/main" noGrp="1"/>
          </p:cNvSpPr>
          <p:nvPr/>
        </p:nvSpPr>
        <p:spPr>
          <a:xfrm xmlns:a="http://schemas.openxmlformats.org/drawingml/2006/main">
            <a:off x="2495550" y="2771775"/>
            <a:ext cx="1447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Semantic</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monitor</a:t>
            </a:r>
          </a:p>
        </p:txBody>
      </p:sp>
      <p:sp>
        <p:nvSpPr>
          <p:cNvPr id="12" name="">
            <a:extLst xmlns:a="http://schemas.openxmlformats.org/drawingml/2006/main">
              <a:ext uri="{FF2B5EF4-FFF2-40B4-BE49-F238E27FC236}">
                <a16:creationId xmlns:a16="http://schemas.microsoft.com/office/drawing/2014/main" id="{5327D404-3E45-486D-91D6-8630DC16B32A}"/>
              </a:ext>
            </a:extLst>
          </p:cNvPr>
          <p:cNvSpPr>
            <a:spLocks xmlns:a="http://schemas.openxmlformats.org/drawingml/2006/main" noGrp="1"/>
          </p:cNvSpPr>
          <p:nvPr/>
        </p:nvSpPr>
        <p:spPr>
          <a:xfrm xmlns:a="http://schemas.openxmlformats.org/drawingml/2006/main">
            <a:off x="4438650" y="2695575"/>
            <a:ext cx="17145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9B5CDA2A-289F-454F-ACEC-F1B9F250AA03}"/>
              </a:ext>
            </a:extLst>
          </p:cNvPr>
          <p:cNvSpPr>
            <a:spLocks xmlns:a="http://schemas.openxmlformats.org/drawingml/2006/main" noGrp="1"/>
          </p:cNvSpPr>
          <p:nvPr/>
        </p:nvSpPr>
        <p:spPr>
          <a:xfrm xmlns:a="http://schemas.openxmlformats.org/drawingml/2006/main">
            <a:off x="4552950" y="2771775"/>
            <a:ext cx="1485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Decide +</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enforce gate</a:t>
            </a:r>
          </a:p>
        </p:txBody>
      </p:sp>
      <p:sp>
        <p:nvSpPr>
          <p:cNvPr id="14" name="">
            <a:extLst xmlns:a="http://schemas.openxmlformats.org/drawingml/2006/main">
              <a:ext uri="{FF2B5EF4-FFF2-40B4-BE49-F238E27FC236}">
                <a16:creationId xmlns:a16="http://schemas.microsoft.com/office/drawing/2014/main" id="{8B54BC13-9537-4D93-95DA-DB459C5249B8}"/>
              </a:ext>
            </a:extLst>
          </p:cNvPr>
          <p:cNvSpPr>
            <a:spLocks xmlns:a="http://schemas.openxmlformats.org/drawingml/2006/main" noGrp="1"/>
          </p:cNvSpPr>
          <p:nvPr/>
        </p:nvSpPr>
        <p:spPr>
          <a:xfrm xmlns:a="http://schemas.openxmlformats.org/drawingml/2006/main">
            <a:off x="6724650" y="2695575"/>
            <a:ext cx="142875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5" name="">
            <a:extLst xmlns:a="http://schemas.openxmlformats.org/drawingml/2006/main">
              <a:ext uri="{FF2B5EF4-FFF2-40B4-BE49-F238E27FC236}">
                <a16:creationId xmlns:a16="http://schemas.microsoft.com/office/drawing/2014/main" id="{99625DA4-6710-42CB-9ADD-6B251B07B755}"/>
              </a:ext>
            </a:extLst>
          </p:cNvPr>
          <p:cNvSpPr>
            <a:spLocks xmlns:a="http://schemas.openxmlformats.org/drawingml/2006/main" noGrp="1"/>
          </p:cNvSpPr>
          <p:nvPr/>
        </p:nvSpPr>
        <p:spPr>
          <a:xfrm xmlns:a="http://schemas.openxmlformats.org/drawingml/2006/main">
            <a:off x="6838950" y="2771775"/>
            <a:ext cx="1200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Deliver /</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execute</a:t>
            </a:r>
          </a:p>
        </p:txBody>
      </p:sp>
      <p:cxnSp>
        <p:nvCxnSpPr>
          <p:cNvPr id="67" name=""/>
          <p:cNvCxnSpPr>
            <a:stCxn xmlns:a="http://schemas.openxmlformats.org/drawingml/2006/main" id="8" idx="3"/>
            <a:endCxn xmlns:a="http://schemas.openxmlformats.org/drawingml/2006/main" id="10" idx="1"/>
          </p:cNvCxnSpPr>
          <p:nvPr/>
        </p:nvCxnSpPr>
        <p:spPr>
          <a:xfrm xmlns:a="http://schemas.openxmlformats.org/drawingml/2006/main">
            <a:off x="2019300" y="3028950"/>
            <a:ext cx="361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8" name=""/>
          <p:cNvCxnSpPr>
            <a:stCxn xmlns:a="http://schemas.openxmlformats.org/drawingml/2006/main" id="10" idx="3"/>
            <a:endCxn xmlns:a="http://schemas.openxmlformats.org/drawingml/2006/main" id="12" idx="1"/>
          </p:cNvCxnSpPr>
          <p:nvPr/>
        </p:nvCxnSpPr>
        <p:spPr>
          <a:xfrm xmlns:a="http://schemas.openxmlformats.org/drawingml/2006/main">
            <a:off x="4057650" y="3028950"/>
            <a:ext cx="3810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9" name=""/>
          <p:cNvCxnSpPr>
            <a:stCxn xmlns:a="http://schemas.openxmlformats.org/drawingml/2006/main" id="6" idx="2"/>
            <a:endCxn xmlns:a="http://schemas.openxmlformats.org/drawingml/2006/main" id="12" idx="0"/>
          </p:cNvCxnSpPr>
          <p:nvPr/>
        </p:nvCxnSpPr>
        <p:spPr>
          <a:xfrm xmlns:a="http://schemas.openxmlformats.org/drawingml/2006/main">
            <a:off x="5295900" y="2447925"/>
            <a:ext cx="0" cy="24765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70" name=""/>
          <p:cNvCxnSpPr>
            <a:stCxn xmlns:a="http://schemas.openxmlformats.org/drawingml/2006/main" id="12" idx="3"/>
            <a:endCxn xmlns:a="http://schemas.openxmlformats.org/drawingml/2006/main" id="14" idx="1"/>
          </p:cNvCxnSpPr>
          <p:nvPr/>
        </p:nvCxnSpPr>
        <p:spPr>
          <a:xfrm xmlns:a="http://schemas.openxmlformats.org/drawingml/2006/main">
            <a:off x="6153150" y="3028950"/>
            <a:ext cx="5715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D2E3E9AC-4402-4AEC-8671-C95407B2B7D0}"/>
              </a:ext>
            </a:extLst>
          </p:cNvPr>
          <p:cNvSpPr>
            <a:spLocks xmlns:a="http://schemas.openxmlformats.org/drawingml/2006/main" noGrp="1"/>
          </p:cNvSpPr>
          <p:nvPr/>
        </p:nvSpPr>
        <p:spPr>
          <a:xfrm xmlns:a="http://schemas.openxmlformats.org/drawingml/2006/main">
            <a:off x="6267450" y="272415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28C7F7"/>
                </a:solidFill>
                <a:latin typeface="Arial"/>
                <a:ea typeface="Arial"/>
                <a:cs typeface="Arial"/>
              </a:defRPr>
            </a:pPr>
            <a:r>
              <a:rPr sz="1050" b="1">
                <a:solidFill>
                  <a:srgbClr val="28C7F7"/>
                </a:solidFill>
                <a:latin typeface="Arial"/>
                <a:ea typeface="Arial"/>
                <a:cs typeface="Arial"/>
              </a:rPr>
              <a:t>PASS</a:t>
            </a:r>
          </a:p>
        </p:txBody>
      </p:sp>
      <p:sp>
        <p:nvSpPr>
          <p:cNvPr id="21" name="">
            <a:extLst xmlns:a="http://schemas.openxmlformats.org/drawingml/2006/main">
              <a:ext uri="{FF2B5EF4-FFF2-40B4-BE49-F238E27FC236}">
                <a16:creationId xmlns:a16="http://schemas.microsoft.com/office/drawing/2014/main" id="{735676EB-8872-49B1-A709-0767D33E3FE2}"/>
              </a:ext>
            </a:extLst>
          </p:cNvPr>
          <p:cNvSpPr>
            <a:spLocks xmlns:a="http://schemas.openxmlformats.org/drawingml/2006/main" noGrp="1"/>
          </p:cNvSpPr>
          <p:nvPr/>
        </p:nvSpPr>
        <p:spPr>
          <a:xfrm xmlns:a="http://schemas.openxmlformats.org/drawingml/2006/main">
            <a:off x="4438650" y="3705225"/>
            <a:ext cx="1714500" cy="59055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22" name="">
            <a:extLst xmlns:a="http://schemas.openxmlformats.org/drawingml/2006/main">
              <a:ext uri="{FF2B5EF4-FFF2-40B4-BE49-F238E27FC236}">
                <a16:creationId xmlns:a16="http://schemas.microsoft.com/office/drawing/2014/main" id="{1D9265C2-540E-41D2-9F77-DA2762961F80}"/>
              </a:ext>
            </a:extLst>
          </p:cNvPr>
          <p:cNvSpPr>
            <a:spLocks xmlns:a="http://schemas.openxmlformats.org/drawingml/2006/main" noGrp="1"/>
          </p:cNvSpPr>
          <p:nvPr/>
        </p:nvSpPr>
        <p:spPr>
          <a:xfrm xmlns:a="http://schemas.openxmlformats.org/drawingml/2006/main">
            <a:off x="4552950" y="3781425"/>
            <a:ext cx="148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Stop / isolate</a:t>
            </a:r>
          </a:p>
        </p:txBody>
      </p:sp>
      <p:sp>
        <p:nvSpPr>
          <p:cNvPr id="23" name="">
            <a:extLst xmlns:a="http://schemas.openxmlformats.org/drawingml/2006/main">
              <a:ext uri="{FF2B5EF4-FFF2-40B4-BE49-F238E27FC236}">
                <a16:creationId xmlns:a16="http://schemas.microsoft.com/office/drawing/2014/main" id="{9842E47D-49C1-47A7-979C-65BCE183F30C}"/>
              </a:ext>
            </a:extLst>
          </p:cNvPr>
          <p:cNvSpPr>
            <a:spLocks xmlns:a="http://schemas.openxmlformats.org/drawingml/2006/main" noGrp="1"/>
          </p:cNvSpPr>
          <p:nvPr/>
        </p:nvSpPr>
        <p:spPr>
          <a:xfrm xmlns:a="http://schemas.openxmlformats.org/drawingml/2006/main">
            <a:off x="609600" y="3705225"/>
            <a:ext cx="3448050" cy="5905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4" name="">
            <a:extLst xmlns:a="http://schemas.openxmlformats.org/drawingml/2006/main">
              <a:ext uri="{FF2B5EF4-FFF2-40B4-BE49-F238E27FC236}">
                <a16:creationId xmlns:a16="http://schemas.microsoft.com/office/drawing/2014/main" id="{C722CFBD-996D-4A1F-A592-2A79D28DB194}"/>
              </a:ext>
            </a:extLst>
          </p:cNvPr>
          <p:cNvSpPr>
            <a:spLocks xmlns:a="http://schemas.openxmlformats.org/drawingml/2006/main" noGrp="1"/>
          </p:cNvSpPr>
          <p:nvPr/>
        </p:nvSpPr>
        <p:spPr>
          <a:xfrm xmlns:a="http://schemas.openxmlformats.org/drawingml/2006/main">
            <a:off x="723900" y="3781425"/>
            <a:ext cx="32194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Safe template / valid cache</a:t>
            </a:r>
          </a:p>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Human review / clear refusal</a:t>
            </a:r>
          </a:p>
        </p:txBody>
      </p:sp>
      <p:cxnSp>
        <p:nvCxnSpPr>
          <p:cNvPr id="76" name=""/>
          <p:cNvCxnSpPr>
            <a:stCxn xmlns:a="http://schemas.openxmlformats.org/drawingml/2006/main" id="12" idx="2"/>
            <a:endCxn xmlns:a="http://schemas.openxmlformats.org/drawingml/2006/main" id="21" idx="0"/>
          </p:cNvCxnSpPr>
          <p:nvPr/>
        </p:nvCxnSpPr>
        <p:spPr>
          <a:xfrm xmlns:a="http://schemas.openxmlformats.org/drawingml/2006/main">
            <a:off x="5295900" y="3362325"/>
            <a:ext cx="0" cy="34290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sp>
        <p:nvSpPr>
          <p:cNvPr id="26" name="">
            <a:extLst xmlns:a="http://schemas.openxmlformats.org/drawingml/2006/main">
              <a:ext uri="{FF2B5EF4-FFF2-40B4-BE49-F238E27FC236}">
                <a16:creationId xmlns:a16="http://schemas.microsoft.com/office/drawing/2014/main" id="{4AB4BDCE-1191-4972-8507-6323659FB313}"/>
              </a:ext>
            </a:extLst>
          </p:cNvPr>
          <p:cNvSpPr>
            <a:spLocks xmlns:a="http://schemas.openxmlformats.org/drawingml/2006/main" noGrp="1"/>
          </p:cNvSpPr>
          <p:nvPr/>
        </p:nvSpPr>
        <p:spPr>
          <a:xfrm xmlns:a="http://schemas.openxmlformats.org/drawingml/2006/main">
            <a:off x="4438650" y="3438525"/>
            <a:ext cx="1714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975" b="1">
                <a:solidFill>
                  <a:srgbClr val="FF6B75"/>
                </a:solidFill>
                <a:latin typeface="Arial"/>
                <a:ea typeface="Arial"/>
                <a:cs typeface="Arial"/>
              </a:defRPr>
            </a:pPr>
            <a:r>
              <a:rPr sz="975" b="1">
                <a:solidFill>
                  <a:srgbClr val="FF6B75"/>
                </a:solidFill>
                <a:latin typeface="Arial"/>
                <a:ea typeface="Arial"/>
                <a:cs typeface="Arial"/>
              </a:rPr>
              <a:t>BREACH / UNAVAILABLE</a:t>
            </a:r>
          </a:p>
        </p:txBody>
      </p:sp>
      <p:cxnSp>
        <p:nvCxnSpPr>
          <p:cNvPr id="78" name=""/>
          <p:cNvCxnSpPr>
            <a:stCxn xmlns:a="http://schemas.openxmlformats.org/drawingml/2006/main" id="21" idx="1"/>
            <a:endCxn xmlns:a="http://schemas.openxmlformats.org/drawingml/2006/main" id="23" idx="3"/>
          </p:cNvCxnSpPr>
          <p:nvPr/>
        </p:nvCxnSpPr>
        <p:spPr>
          <a:xfrm xmlns:a="http://schemas.openxmlformats.org/drawingml/2006/main" flipH="1">
            <a:off x="4057650" y="4000500"/>
            <a:ext cx="3810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66AE456D-1BB8-4B49-A8FA-BDDACCB738AB}"/>
              </a:ext>
            </a:extLst>
          </p:cNvPr>
          <p:cNvSpPr>
            <a:spLocks xmlns:a="http://schemas.openxmlformats.org/drawingml/2006/main" noGrp="1"/>
          </p:cNvSpPr>
          <p:nvPr/>
        </p:nvSpPr>
        <p:spPr>
          <a:xfrm xmlns:a="http://schemas.openxmlformats.org/drawingml/2006/main">
            <a:off x="6724650" y="3705225"/>
            <a:ext cx="1428750" cy="5905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9" name="">
            <a:extLst xmlns:a="http://schemas.openxmlformats.org/drawingml/2006/main">
              <a:ext uri="{FF2B5EF4-FFF2-40B4-BE49-F238E27FC236}">
                <a16:creationId xmlns:a16="http://schemas.microsoft.com/office/drawing/2014/main" id="{D700B04F-F45B-4714-ADFB-CAE22AFA9835}"/>
              </a:ext>
            </a:extLst>
          </p:cNvPr>
          <p:cNvSpPr>
            <a:spLocks xmlns:a="http://schemas.openxmlformats.org/drawingml/2006/main" noGrp="1"/>
          </p:cNvSpPr>
          <p:nvPr/>
        </p:nvSpPr>
        <p:spPr>
          <a:xfrm xmlns:a="http://schemas.openxmlformats.org/drawingml/2006/main">
            <a:off x="6838950" y="3781425"/>
            <a:ext cx="1200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Observe</a:t>
            </a:r>
          </a:p>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 verify effects</a:t>
            </a:r>
          </a:p>
        </p:txBody>
      </p:sp>
      <p:cxnSp>
        <p:nvCxnSpPr>
          <p:cNvPr id="81" name=""/>
          <p:cNvCxnSpPr>
            <a:stCxn xmlns:a="http://schemas.openxmlformats.org/drawingml/2006/main" id="14" idx="2"/>
            <a:endCxn xmlns:a="http://schemas.openxmlformats.org/drawingml/2006/main" id="28" idx="0"/>
          </p:cNvCxnSpPr>
          <p:nvPr/>
        </p:nvCxnSpPr>
        <p:spPr>
          <a:xfrm xmlns:a="http://schemas.openxmlformats.org/drawingml/2006/main">
            <a:off x="7439025" y="3362325"/>
            <a:ext cx="0" cy="342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31" name="">
            <a:extLst xmlns:a="http://schemas.openxmlformats.org/drawingml/2006/main">
              <a:ext uri="{FF2B5EF4-FFF2-40B4-BE49-F238E27FC236}">
                <a16:creationId xmlns:a16="http://schemas.microsoft.com/office/drawing/2014/main" id="{E82066BC-E831-4B06-BD1F-0CB8E8872121}"/>
              </a:ext>
            </a:extLst>
          </p:cNvPr>
          <p:cNvSpPr>
            <a:spLocks xmlns:a="http://schemas.openxmlformats.org/drawingml/2006/main" noGrp="1"/>
          </p:cNvSpPr>
          <p:nvPr/>
        </p:nvSpPr>
        <p:spPr>
          <a:xfrm xmlns:a="http://schemas.openxmlformats.org/drawingml/2006/main" flipH="0" flipV="0">
            <a:off x="7439025" y="4295775"/>
            <a:ext cx="0" cy="26670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32" name="">
            <a:extLst xmlns:a="http://schemas.openxmlformats.org/drawingml/2006/main">
              <a:ext uri="{FF2B5EF4-FFF2-40B4-BE49-F238E27FC236}">
                <a16:creationId xmlns:a16="http://schemas.microsoft.com/office/drawing/2014/main" id="{B4EDF8C6-9BC3-4C15-A492-3BBFAE49AD8B}"/>
              </a:ext>
            </a:extLst>
          </p:cNvPr>
          <p:cNvSpPr>
            <a:spLocks xmlns:a="http://schemas.openxmlformats.org/drawingml/2006/main" noGrp="1"/>
          </p:cNvSpPr>
          <p:nvPr/>
        </p:nvSpPr>
        <p:spPr>
          <a:xfrm xmlns:a="http://schemas.openxmlformats.org/drawingml/2006/main" flipH="1" flipV="0">
            <a:off x="457200" y="4562475"/>
            <a:ext cx="6981825"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33" name="">
            <a:extLst xmlns:a="http://schemas.openxmlformats.org/drawingml/2006/main">
              <a:ext uri="{FF2B5EF4-FFF2-40B4-BE49-F238E27FC236}">
                <a16:creationId xmlns:a16="http://schemas.microsoft.com/office/drawing/2014/main" id="{68B5F98C-0E51-42EF-88D9-D17311EFC306}"/>
              </a:ext>
            </a:extLst>
          </p:cNvPr>
          <p:cNvSpPr>
            <a:spLocks xmlns:a="http://schemas.openxmlformats.org/drawingml/2006/main" noGrp="1"/>
          </p:cNvSpPr>
          <p:nvPr/>
        </p:nvSpPr>
        <p:spPr>
          <a:xfrm xmlns:a="http://schemas.openxmlformats.org/drawingml/2006/main" flipH="0" flipV="1">
            <a:off x="457200" y="3028950"/>
            <a:ext cx="0" cy="1533525"/>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34" name="">
            <a:extLst xmlns:a="http://schemas.openxmlformats.org/drawingml/2006/main">
              <a:ext uri="{FF2B5EF4-FFF2-40B4-BE49-F238E27FC236}">
                <a16:creationId xmlns:a16="http://schemas.microsoft.com/office/drawing/2014/main" id="{D54C0A01-2FEB-4533-9362-90463855A52E}"/>
              </a:ext>
            </a:extLst>
          </p:cNvPr>
          <p:cNvSpPr>
            <a:spLocks xmlns:a="http://schemas.openxmlformats.org/drawingml/2006/main" noGrp="1"/>
          </p:cNvSpPr>
          <p:nvPr/>
        </p:nvSpPr>
        <p:spPr>
          <a:xfrm xmlns:a="http://schemas.openxmlformats.org/drawingml/2006/main">
            <a:off x="457200" y="3024188"/>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86" name=""/>
          <p:cNvCxnSpPr>
            <a:stCxn xmlns:a="http://schemas.openxmlformats.org/drawingml/2006/main" id="34" idx="3"/>
            <a:endCxn xmlns:a="http://schemas.openxmlformats.org/drawingml/2006/main" id="8" idx="1"/>
          </p:cNvCxnSpPr>
          <p:nvPr/>
        </p:nvCxnSpPr>
        <p:spPr>
          <a:xfrm xmlns:a="http://schemas.openxmlformats.org/drawingml/2006/main" flipV="1">
            <a:off x="466725" y="3028950"/>
            <a:ext cx="142875"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36" name="">
            <a:extLst xmlns:a="http://schemas.openxmlformats.org/drawingml/2006/main">
              <a:ext uri="{FF2B5EF4-FFF2-40B4-BE49-F238E27FC236}">
                <a16:creationId xmlns:a16="http://schemas.microsoft.com/office/drawing/2014/main" id="{9EBC218C-0098-4AD9-AB63-0179E50065BA}"/>
              </a:ext>
            </a:extLst>
          </p:cNvPr>
          <p:cNvSpPr>
            <a:spLocks xmlns:a="http://schemas.openxmlformats.org/drawingml/2006/main" noGrp="1"/>
          </p:cNvSpPr>
          <p:nvPr/>
        </p:nvSpPr>
        <p:spPr>
          <a:xfrm xmlns:a="http://schemas.openxmlformats.org/drawingml/2006/main">
            <a:off x="609600" y="4619625"/>
            <a:ext cx="7543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rPr>
              <a:t>Review + authorize corrections → update rules / versions → re-evaluate effects</a:t>
            </a:r>
          </a:p>
        </p:txBody>
      </p:sp>
      <p:sp>
        <p:nvSpPr>
          <p:cNvPr id="37" name="">
            <a:extLst xmlns:a="http://schemas.openxmlformats.org/drawingml/2006/main">
              <a:ext uri="{FF2B5EF4-FFF2-40B4-BE49-F238E27FC236}">
                <a16:creationId xmlns:a16="http://schemas.microsoft.com/office/drawing/2014/main" id="{F41C9085-9B17-472A-A792-4165B9AEC3CC}"/>
              </a:ext>
            </a:extLst>
          </p:cNvPr>
          <p:cNvSpPr>
            <a:spLocks xmlns:a="http://schemas.openxmlformats.org/drawingml/2006/main" noGrp="1"/>
          </p:cNvSpPr>
          <p:nvPr/>
        </p:nvSpPr>
        <p:spPr>
          <a:xfrm xmlns:a="http://schemas.openxmlformats.org/drawingml/2006/main" flipH="0" flipV="0">
            <a:off x="8420100" y="2057400"/>
            <a:ext cx="0" cy="29527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A61372A2-AB8A-46E1-9007-3117FED984CE}"/>
              </a:ext>
            </a:extLst>
          </p:cNvPr>
          <p:cNvSpPr>
            <a:spLocks xmlns:a="http://schemas.openxmlformats.org/drawingml/2006/main" noGrp="1"/>
          </p:cNvSpPr>
          <p:nvPr/>
        </p:nvSpPr>
        <p:spPr>
          <a:xfrm xmlns:a="http://schemas.openxmlformats.org/drawingml/2006/main">
            <a:off x="8686800" y="2047875"/>
            <a:ext cx="2895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F6B75"/>
                </a:solidFill>
                <a:latin typeface="Arial"/>
                <a:ea typeface="Arial"/>
                <a:cs typeface="Arial"/>
              </a:defRPr>
            </a:pPr>
            <a:r>
              <a:rPr sz="1350" b="1">
                <a:solidFill>
                  <a:srgbClr val="FF6B75"/>
                </a:solidFill>
                <a:latin typeface="Arial"/>
                <a:ea typeface="Arial"/>
                <a:cs typeface="Arial"/>
              </a:rPr>
              <a:t>THREE PRESSURES → VETO</a:t>
            </a:r>
          </a:p>
        </p:txBody>
      </p:sp>
      <p:sp>
        <p:nvSpPr>
          <p:cNvPr id="39" name="">
            <a:extLst xmlns:a="http://schemas.openxmlformats.org/drawingml/2006/main">
              <a:ext uri="{FF2B5EF4-FFF2-40B4-BE49-F238E27FC236}">
                <a16:creationId xmlns:a16="http://schemas.microsoft.com/office/drawing/2014/main" id="{6FF0A0AC-1EC9-429B-80D1-830FAE7381FD}"/>
              </a:ext>
            </a:extLst>
          </p:cNvPr>
          <p:cNvSpPr>
            <a:spLocks xmlns:a="http://schemas.openxmlformats.org/drawingml/2006/main" noGrp="1"/>
          </p:cNvSpPr>
          <p:nvPr/>
        </p:nvSpPr>
        <p:spPr>
          <a:xfrm xmlns:a="http://schemas.openxmlformats.org/drawingml/2006/main">
            <a:off x="8686800" y="2390775"/>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Latency overhead</a:t>
            </a:r>
          </a:p>
        </p:txBody>
      </p:sp>
      <p:sp>
        <p:nvSpPr>
          <p:cNvPr id="40" name="">
            <a:extLst xmlns:a="http://schemas.openxmlformats.org/drawingml/2006/main">
              <a:ext uri="{FF2B5EF4-FFF2-40B4-BE49-F238E27FC236}">
                <a16:creationId xmlns:a16="http://schemas.microsoft.com/office/drawing/2014/main" id="{9630D711-E8B6-4C0B-BA6F-277E165CDE82}"/>
              </a:ext>
            </a:extLst>
          </p:cNvPr>
          <p:cNvSpPr>
            <a:spLocks xmlns:a="http://schemas.openxmlformats.org/drawingml/2006/main" noGrp="1"/>
          </p:cNvSpPr>
          <p:nvPr/>
        </p:nvSpPr>
        <p:spPr>
          <a:xfrm xmlns:a="http://schemas.openxmlformats.org/drawingml/2006/main">
            <a:off x="8686800" y="2638425"/>
            <a:ext cx="2895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Checks + escalation consume time.</a:t>
            </a:r>
          </a:p>
        </p:txBody>
      </p:sp>
      <p:sp>
        <p:nvSpPr>
          <p:cNvPr id="41" name="">
            <a:extLst xmlns:a="http://schemas.openxmlformats.org/drawingml/2006/main">
              <a:ext uri="{FF2B5EF4-FFF2-40B4-BE49-F238E27FC236}">
                <a16:creationId xmlns:a16="http://schemas.microsoft.com/office/drawing/2014/main" id="{87FDED27-9A96-4627-9785-06C43080E4AD}"/>
              </a:ext>
            </a:extLst>
          </p:cNvPr>
          <p:cNvSpPr>
            <a:spLocks xmlns:a="http://schemas.openxmlformats.org/drawingml/2006/main" noGrp="1"/>
          </p:cNvSpPr>
          <p:nvPr/>
        </p:nvSpPr>
        <p:spPr>
          <a:xfrm xmlns:a="http://schemas.openxmlformats.org/drawingml/2006/main">
            <a:off x="8686800" y="3009900"/>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Token / review cost</a:t>
            </a:r>
          </a:p>
        </p:txBody>
      </p:sp>
      <p:sp>
        <p:nvSpPr>
          <p:cNvPr id="42" name="">
            <a:extLst xmlns:a="http://schemas.openxmlformats.org/drawingml/2006/main">
              <a:ext uri="{FF2B5EF4-FFF2-40B4-BE49-F238E27FC236}">
                <a16:creationId xmlns:a16="http://schemas.microsoft.com/office/drawing/2014/main" id="{E7B8EA7E-FDBE-4593-8D97-D912A0ADDDAB}"/>
              </a:ext>
            </a:extLst>
          </p:cNvPr>
          <p:cNvSpPr>
            <a:spLocks xmlns:a="http://schemas.openxmlformats.org/drawingml/2006/main" noGrp="1"/>
          </p:cNvSpPr>
          <p:nvPr/>
        </p:nvSpPr>
        <p:spPr>
          <a:xfrm xmlns:a="http://schemas.openxmlformats.org/drawingml/2006/main">
            <a:off x="8686800" y="3257550"/>
            <a:ext cx="2895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Price or call volume breaks economics.</a:t>
            </a:r>
          </a:p>
        </p:txBody>
      </p:sp>
      <p:sp>
        <p:nvSpPr>
          <p:cNvPr id="43" name="">
            <a:extLst xmlns:a="http://schemas.openxmlformats.org/drawingml/2006/main">
              <a:ext uri="{FF2B5EF4-FFF2-40B4-BE49-F238E27FC236}">
                <a16:creationId xmlns:a16="http://schemas.microsoft.com/office/drawing/2014/main" id="{D200B01F-3960-4D40-882B-15F26090F45E}"/>
              </a:ext>
            </a:extLst>
          </p:cNvPr>
          <p:cNvSpPr>
            <a:spLocks xmlns:a="http://schemas.openxmlformats.org/drawingml/2006/main" noGrp="1"/>
          </p:cNvSpPr>
          <p:nvPr/>
        </p:nvSpPr>
        <p:spPr>
          <a:xfrm xmlns:a="http://schemas.openxmlformats.org/drawingml/2006/main">
            <a:off x="8686800" y="3629025"/>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Opaque vendor changes</a:t>
            </a:r>
          </a:p>
        </p:txBody>
      </p:sp>
      <p:sp>
        <p:nvSpPr>
          <p:cNvPr id="44" name="">
            <a:extLst xmlns:a="http://schemas.openxmlformats.org/drawingml/2006/main">
              <a:ext uri="{FF2B5EF4-FFF2-40B4-BE49-F238E27FC236}">
                <a16:creationId xmlns:a16="http://schemas.microsoft.com/office/drawing/2014/main" id="{9FB46BE2-3620-4D53-89FD-6B335B772577}"/>
              </a:ext>
            </a:extLst>
          </p:cNvPr>
          <p:cNvSpPr>
            <a:spLocks xmlns:a="http://schemas.openxmlformats.org/drawingml/2006/main" noGrp="1"/>
          </p:cNvSpPr>
          <p:nvPr/>
        </p:nvSpPr>
        <p:spPr>
          <a:xfrm xmlns:a="http://schemas.openxmlformats.org/drawingml/2006/main">
            <a:off x="8686800" y="3876675"/>
            <a:ext cx="2895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Model behavior can change remotely.</a:t>
            </a:r>
          </a:p>
        </p:txBody>
      </p:sp>
      <p:sp>
        <p:nvSpPr>
          <p:cNvPr id="45" name="">
            <a:extLst xmlns:a="http://schemas.openxmlformats.org/drawingml/2006/main">
              <a:ext uri="{FF2B5EF4-FFF2-40B4-BE49-F238E27FC236}">
                <a16:creationId xmlns:a16="http://schemas.microsoft.com/office/drawing/2014/main" id="{041D06F2-2842-4CD3-82BB-30E3C111CF4C}"/>
              </a:ext>
            </a:extLst>
          </p:cNvPr>
          <p:cNvSpPr>
            <a:spLocks xmlns:a="http://schemas.openxmlformats.org/drawingml/2006/main" noGrp="1"/>
          </p:cNvSpPr>
          <p:nvPr/>
        </p:nvSpPr>
        <p:spPr>
          <a:xfrm xmlns:a="http://schemas.openxmlformats.org/drawingml/2006/main">
            <a:off x="8686800" y="4314825"/>
            <a:ext cx="2895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F6B75"/>
                </a:solidFill>
                <a:latin typeface="Arial"/>
                <a:ea typeface="Arial"/>
                <a:cs typeface="Arial"/>
              </a:defRPr>
            </a:pPr>
            <a:r>
              <a:rPr sz="1425" b="1">
                <a:solidFill>
                  <a:srgbClr val="FF6B75"/>
                </a:solidFill>
                <a:latin typeface="Arial"/>
                <a:ea typeface="Arial"/>
                <a:cs typeface="Arial"/>
              </a:rPr>
              <a:t>Control or viable operation missing?</a:t>
            </a:r>
          </a:p>
          <a:p xmlns:a="http://schemas.openxmlformats.org/drawingml/2006/main">
            <a:pPr algn="l">
              <a:defRPr sz="1425" b="1">
                <a:solidFill>
                  <a:srgbClr val="FF6B75"/>
                </a:solidFill>
                <a:latin typeface="Arial"/>
                <a:ea typeface="Arial"/>
                <a:cs typeface="Arial"/>
              </a:defRPr>
            </a:pPr>
            <a:r>
              <a:rPr sz="1425" b="1">
                <a:solidFill>
                  <a:srgbClr val="FF6B75"/>
                </a:solidFill>
                <a:latin typeface="Arial"/>
                <a:ea typeface="Arial"/>
                <a:cs typeface="Arial"/>
              </a:rPr>
              <a:t>Narrow, redesign or stop this AI path.</a:t>
            </a:r>
          </a:p>
        </p:txBody>
      </p:sp>
      <p:sp>
        <p:nvSpPr>
          <p:cNvPr id="46" name="">
            <a:extLst xmlns:a="http://schemas.openxmlformats.org/drawingml/2006/main">
              <a:ext uri="{FF2B5EF4-FFF2-40B4-BE49-F238E27FC236}">
                <a16:creationId xmlns:a16="http://schemas.microsoft.com/office/drawing/2014/main" id="{6D57BAC9-E146-42E9-925B-EF5372F97D6C}"/>
              </a:ext>
            </a:extLst>
          </p:cNvPr>
          <p:cNvSpPr>
            <a:spLocks xmlns:a="http://schemas.openxmlformats.org/drawingml/2006/main" noGrp="1"/>
          </p:cNvSpPr>
          <p:nvPr/>
        </p:nvSpPr>
        <p:spPr>
          <a:xfrm xmlns:a="http://schemas.openxmlformats.org/drawingml/2006/main" flipH="0" flipV="0">
            <a:off x="609600" y="50863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7" name="">
            <a:extLst xmlns:a="http://schemas.openxmlformats.org/drawingml/2006/main">
              <a:ext uri="{FF2B5EF4-FFF2-40B4-BE49-F238E27FC236}">
                <a16:creationId xmlns:a16="http://schemas.microsoft.com/office/drawing/2014/main" id="{8066ED9B-AAF8-401E-B450-1B64FC4C7667}"/>
              </a:ext>
            </a:extLst>
          </p:cNvPr>
          <p:cNvSpPr>
            <a:spLocks xmlns:a="http://schemas.openxmlformats.org/drawingml/2006/main" noGrp="1"/>
          </p:cNvSpPr>
          <p:nvPr/>
        </p:nvSpPr>
        <p:spPr>
          <a:xfrm xmlns:a="http://schemas.openxmlformats.org/drawingml/2006/main">
            <a:off x="609600" y="51530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HUMAN IN THE LOOP IS AN ARCHITECTURAL DEPENDENCY</a:t>
            </a:r>
          </a:p>
        </p:txBody>
      </p:sp>
      <p:sp>
        <p:nvSpPr>
          <p:cNvPr id="48" name="">
            <a:extLst xmlns:a="http://schemas.openxmlformats.org/drawingml/2006/main">
              <a:ext uri="{FF2B5EF4-FFF2-40B4-BE49-F238E27FC236}">
                <a16:creationId xmlns:a16="http://schemas.microsoft.com/office/drawing/2014/main" id="{84519E7D-8677-4BA3-907E-DEEF55A9F6F2}"/>
              </a:ext>
            </a:extLst>
          </p:cNvPr>
          <p:cNvSpPr>
            <a:spLocks xmlns:a="http://schemas.openxmlformats.org/drawingml/2006/main" noGrp="1"/>
          </p:cNvSpPr>
          <p:nvPr/>
        </p:nvSpPr>
        <p:spPr>
          <a:xfrm xmlns:a="http://schemas.openxmlformats.org/drawingml/2006/main">
            <a:off x="609600" y="54292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Owner + authority + context + response time + peak capacity + backup</a:t>
            </a:r>
          </a:p>
        </p:txBody>
      </p:sp>
      <p:sp>
        <p:nvSpPr>
          <p:cNvPr id="49" name="">
            <a:extLst xmlns:a="http://schemas.openxmlformats.org/drawingml/2006/main">
              <a:ext uri="{FF2B5EF4-FFF2-40B4-BE49-F238E27FC236}">
                <a16:creationId xmlns:a16="http://schemas.microsoft.com/office/drawing/2014/main" id="{F7D50B77-5C65-4074-A559-8CC9A33DEF79}"/>
              </a:ext>
            </a:extLst>
          </p:cNvPr>
          <p:cNvSpPr>
            <a:spLocks xmlns:a="http://schemas.openxmlformats.org/drawingml/2006/main" noGrp="1"/>
          </p:cNvSpPr>
          <p:nvPr/>
        </p:nvSpPr>
        <p:spPr>
          <a:xfrm xmlns:a="http://schemas.openxmlformats.org/drawingml/2006/main">
            <a:off x="609600" y="57531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Tool actions: deterministic permission / approval gate. Unavailable? Deny and use safe fallback.</a:t>
            </a:r>
          </a:p>
        </p:txBody>
      </p:sp>
      <p:sp>
        <p:nvSpPr>
          <p:cNvPr id="50" name="">
            <a:extLst xmlns:a="http://schemas.openxmlformats.org/drawingml/2006/main">
              <a:ext uri="{FF2B5EF4-FFF2-40B4-BE49-F238E27FC236}">
                <a16:creationId xmlns:a16="http://schemas.microsoft.com/office/drawing/2014/main" id="{38BC649D-C4CF-4566-927A-181733A44A0B}"/>
              </a:ext>
            </a:extLst>
          </p:cNvPr>
          <p:cNvSpPr>
            <a:spLocks xmlns:a="http://schemas.openxmlformats.org/drawingml/2006/main" noGrp="1"/>
          </p:cNvSpPr>
          <p:nvPr/>
        </p:nvSpPr>
        <p:spPr>
          <a:xfrm xmlns:a="http://schemas.openxmlformats.org/drawingml/2006/main">
            <a:off x="609600" y="60674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Arial"/>
                <a:ea typeface="Arial"/>
                <a:cs typeface="Arial"/>
              </a:defRPr>
            </a:pPr>
            <a:r>
              <a:rPr sz="1500" b="0">
                <a:solidFill>
                  <a:srgbClr val="F5B61C"/>
                </a:solidFill>
                <a:latin typeface="Arial"/>
                <a:ea typeface="Arial"/>
                <a:cs typeface="Arial"/>
              </a:rPr>
              <a:t>Unknown load: authorized canary only with working controls, exposure limits and stop criteria.</a:t>
            </a:r>
          </a:p>
        </p:txBody>
      </p:sp>
      <p:sp>
        <p:nvSpPr>
          <p:cNvPr id="51" name="">
            <a:extLst xmlns:a="http://schemas.openxmlformats.org/drawingml/2006/main">
              <a:ext uri="{FF2B5EF4-FFF2-40B4-BE49-F238E27FC236}">
                <a16:creationId xmlns:a16="http://schemas.microsoft.com/office/drawing/2014/main" id="{0EEC670E-22AA-4D06-8F91-F74BD1AD531A}"/>
              </a:ext>
            </a:extLst>
          </p:cNvPr>
          <p:cNvSpPr>
            <a:spLocks xmlns:a="http://schemas.openxmlformats.org/drawingml/2006/main" noGrp="1"/>
          </p:cNvSpPr>
          <p:nvPr/>
        </p:nvSpPr>
        <p:spPr>
          <a:xfrm xmlns:a="http://schemas.openxmlformats.org/drawingml/2006/main">
            <a:off x="609600" y="645795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Production readiness requires a complete, operable control path.</a:t>
            </a:r>
          </a:p>
        </p:txBody>
      </p:sp>
    </p:spTree>
    <p:extLst>
      <p:ext uri="{BB962C8B-B14F-4D97-AF65-F5344CB8AC3E}">
        <p14:creationId xmlns:p14="http://schemas.microsoft.com/office/powerpoint/2010/main" val="16236861"/>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422FF4-485F-40BF-B784-BF398EB7FB5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01614579-A1C3-4F6E-AA64-D2976E97C4D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2410C20-FB42-425B-AA1C-CDDFE42BAAC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08304F37-1932-48CE-AF04-F1D76A92C20E}"/>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the scope of management expands</a:t>
            </a:r>
          </a:p>
        </p:txBody>
      </p:sp>
      <p:sp>
        <p:nvSpPr>
          <p:cNvPr id="5" name="">
            <a:extLst xmlns:a="http://schemas.openxmlformats.org/drawingml/2006/main">
              <a:ext uri="{FF2B5EF4-FFF2-40B4-BE49-F238E27FC236}">
                <a16:creationId xmlns:a16="http://schemas.microsoft.com/office/drawing/2014/main" id="{BA6D0828-0F18-49CC-AD99-DD289E1614E6}"/>
              </a:ext>
            </a:extLst>
          </p:cNvPr>
          <p:cNvSpPr>
            <a:spLocks xmlns:a="http://schemas.openxmlformats.org/drawingml/2006/main" noGrp="1"/>
          </p:cNvSpPr>
          <p:nvPr/>
        </p:nvSpPr>
        <p:spPr>
          <a:xfrm xmlns:a="http://schemas.openxmlformats.org/drawingml/2006/main">
            <a:off x="609600" y="2057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Project management theory still matters: scope, schedule, cost, risk and stakeholders.</a:t>
            </a:r>
          </a:p>
        </p:txBody>
      </p:sp>
      <p:sp>
        <p:nvSpPr>
          <p:cNvPr id="6" name="">
            <a:extLst xmlns:a="http://schemas.openxmlformats.org/drawingml/2006/main">
              <a:ext uri="{FF2B5EF4-FFF2-40B4-BE49-F238E27FC236}">
                <a16:creationId xmlns:a16="http://schemas.microsoft.com/office/drawing/2014/main" id="{3A91BF09-758B-4F5C-B9FC-B5AA1256027D}"/>
              </a:ext>
            </a:extLst>
          </p:cNvPr>
          <p:cNvSpPr>
            <a:spLocks xmlns:a="http://schemas.openxmlformats.org/drawingml/2006/main" noGrp="1"/>
          </p:cNvSpPr>
          <p:nvPr/>
        </p:nvSpPr>
        <p:spPr>
          <a:xfrm xmlns:a="http://schemas.openxmlformats.org/drawingml/2006/main">
            <a:off x="609600" y="2419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THREE OVERLAPPING HORIZONS</a:t>
            </a:r>
          </a:p>
        </p:txBody>
      </p:sp>
      <p:graphicFrame>
        <p:nvGraphicFramePr>
          <p:cNvPr id="17" name=""/>
          <p:cNvGraphicFramePr/>
          <p:nvPr/>
        </p:nvGraphicFramePr>
        <p:xfrm>
          <a:off xmlns:a="http://schemas.openxmlformats.org/drawingml/2006/main" x="609600" y="2752725"/>
          <a:ext xmlns:a="http://schemas.openxmlformats.org/drawingml/2006/main" cx="10972800" cy="2952750"/>
        </p:xfrm>
        <a:graphic xmlns:a="http://schemas.openxmlformats.org/drawingml/2006/main">
          <a:graphicData uri="http://schemas.openxmlformats.org/drawingml/2006/table">
            <a:tbl>
              <a:tblPr/>
              <a:tblGrid>
                <a:gridCol w="2009775"/>
                <a:gridCol w="4667250"/>
                <a:gridCol w="4295775"/>
              </a:tblGrid>
              <a:tr h="381000">
                <a:tc>
                  <a:txBody>
                    <a:bodyPr lIns="171450" tIns="57150" rIns="171450" bIns="57150">
                      <a:noAutofit/>
                    </a:bodyPr>
                    <a:lstStyle/>
                    <a:p>
                      <a:r>
                        <a:rPr sz="1575" b="1">
                          <a:solidFill>
                            <a:srgbClr val="F4F7FA"/>
                          </a:solidFill>
                          <a:latin typeface="Arial"/>
                          <a:ea typeface="Arial"/>
                          <a:cs typeface="Arial"/>
                        </a:rPr>
                        <a:t>HORIZON</a:t>
                      </a:r>
                    </a:p>
                  </a:txBody>
                  <a:tcPr marL="91440" marR="91440" marT="45720" marB="45720" anchor="ctr">
                    <a:solidFill>
                      <a:srgbClr val="1A2734"/>
                    </a:solidFill>
                  </a:tcPr>
                </a:tc>
                <a:tc>
                  <a:txBody>
                    <a:bodyPr lIns="171450" tIns="57150" rIns="171450" bIns="57150">
                      <a:noAutofit/>
                    </a:bodyPr>
                    <a:lstStyle/>
                    <a:p>
                      <a:r>
                        <a:rPr sz="1575" b="1">
                          <a:solidFill>
                            <a:srgbClr val="F4F7FA"/>
                          </a:solidFill>
                          <a:latin typeface="Arial"/>
                          <a:ea typeface="Arial"/>
                          <a:cs typeface="Arial"/>
                        </a:rPr>
                        <a:t>WHAT THE PM MUST UNDERSTAND</a:t>
                      </a:r>
                    </a:p>
                  </a:txBody>
                  <a:tcPr marL="91440" marR="91440" marT="45720" marB="45720" anchor="ctr">
                    <a:solidFill>
                      <a:srgbClr val="1A2734"/>
                    </a:solidFill>
                  </a:tcPr>
                </a:tc>
                <a:tc>
                  <a:txBody>
                    <a:bodyPr lIns="171450" tIns="57150" rIns="171450" bIns="57150">
                      <a:noAutofit/>
                    </a:bodyPr>
                    <a:lstStyle/>
                    <a:p>
                      <a:r>
                        <a:rPr sz="1575" b="1">
                          <a:solidFill>
                            <a:srgbClr val="28C7F7"/>
                          </a:solidFill>
                          <a:latin typeface="Arial"/>
                          <a:ea typeface="Arial"/>
                          <a:cs typeface="Arial"/>
                        </a:rPr>
                        <a:t>WHAT THE PM WATCHES</a:t>
                      </a:r>
                    </a:p>
                  </a:txBody>
                  <a:tcPr marL="91440" marR="91440" marT="45720" marB="45720" anchor="ctr">
                    <a:solidFill>
                      <a:srgbClr val="1A2734"/>
                    </a:solidFill>
                  </a:tcPr>
                </a:tc>
              </a:tr>
              <a:tr h="857250">
                <a:tc>
                  <a:txBody>
                    <a:bodyPr lIns="171450" tIns="57150" rIns="171450" bIns="57150">
                      <a:noAutofit/>
                    </a:bodyPr>
                    <a:lstStyle/>
                    <a:p>
                      <a:r>
                        <a:rPr sz="1500" b="1">
                          <a:solidFill>
                            <a:srgbClr val="F4F7FA"/>
                          </a:solidFill>
                          <a:latin typeface="Arial"/>
                          <a:ea typeface="Arial"/>
                          <a:cs typeface="Arial"/>
                        </a:rPr>
                        <a:t>AI-assisted SDLC</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Arial"/>
                          <a:ea typeface="Arial"/>
                          <a:cs typeface="Arial"/>
                        </a:rPr>
                        <a:t>Generation moves bottlenecks.</a:t>
                      </a:r>
                    </a:p>
                    <a:p>
                      <a:r>
                        <a:rPr sz="1500" b="0">
                          <a:solidFill>
                            <a:srgbClr val="F4F7FA"/>
                          </a:solidFill>
                          <a:latin typeface="Arial"/>
                          <a:ea typeface="Arial"/>
                          <a:cs typeface="Arial"/>
                        </a:rPr>
                        <a:t>Rebalance review, QA and ownership.</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Arial"/>
                          <a:ea typeface="Arial"/>
                          <a:cs typeface="Arial"/>
                        </a:rPr>
                        <a:t>Lead time, review queues, rework,</a:t>
                      </a:r>
                    </a:p>
                    <a:p>
                      <a:r>
                        <a:rPr sz="1500" b="0">
                          <a:solidFill>
                            <a:srgbClr val="28C7F7"/>
                          </a:solidFill>
                          <a:latin typeface="Arial"/>
                          <a:ea typeface="Arial"/>
                          <a:cs typeface="Arial"/>
                        </a:rPr>
                        <a:t>stability + retained understanding</a:t>
                      </a:r>
                    </a:p>
                  </a:txBody>
                  <a:tcPr marL="91440" marR="91440" marT="45720" marB="45720" anchor="ctr">
                    <a:solidFill>
                      <a:srgbClr val="0B0F14"/>
                    </a:solidFill>
                  </a:tcPr>
                </a:tc>
              </a:tr>
              <a:tr h="857250">
                <a:tc>
                  <a:txBody>
                    <a:bodyPr lIns="171450" tIns="57150" rIns="171450" bIns="57150">
                      <a:noAutofit/>
                    </a:bodyPr>
                    <a:lstStyle/>
                    <a:p>
                      <a:r>
                        <a:rPr sz="1500" b="1">
                          <a:solidFill>
                            <a:srgbClr val="F4F7FA"/>
                          </a:solidFill>
                          <a:latin typeface="Arial"/>
                          <a:ea typeface="Arial"/>
                          <a:cs typeface="Arial"/>
                        </a:rPr>
                        <a:t>Thinking Systems</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Arial"/>
                          <a:ea typeface="Arial"/>
                          <a:cs typeface="Arial"/>
                        </a:rPr>
                        <a:t>An added engineering discipline:</a:t>
                      </a:r>
                    </a:p>
                    <a:p>
                      <a:r>
                        <a:rPr sz="1500" b="0">
                          <a:solidFill>
                            <a:srgbClr val="F4F7FA"/>
                          </a:solidFill>
                          <a:latin typeface="Arial"/>
                          <a:ea typeface="Arial"/>
                          <a:cs typeface="Arial"/>
                        </a:rPr>
                        <a:t>requirements, evals and control design.</a:t>
                      </a:r>
                    </a:p>
                    <a:p>
                      <a:r>
                        <a:rPr sz="1500" b="0">
                          <a:solidFill>
                            <a:srgbClr val="F4F7FA"/>
                          </a:solidFill>
                          <a:latin typeface="Arial"/>
                          <a:ea typeface="Arial"/>
                          <a:cs typeface="Arial"/>
                        </a:rPr>
                        <a:t>People + authority are system dependencies.</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Arial"/>
                          <a:ea typeface="Arial"/>
                          <a:cs typeface="Arial"/>
                        </a:rPr>
                        <a:t>Outcome frequency + severity,</a:t>
                      </a:r>
                    </a:p>
                    <a:p>
                      <a:r>
                        <a:rPr sz="1500" b="0">
                          <a:solidFill>
                            <a:srgbClr val="28C7F7"/>
                          </a:solidFill>
                          <a:latin typeface="Arial"/>
                          <a:ea typeface="Arial"/>
                          <a:cs typeface="Arial"/>
                        </a:rPr>
                        <a:t>cost / latency, human workload</a:t>
                      </a:r>
                    </a:p>
                  </a:txBody>
                  <a:tcPr marL="91440" marR="91440" marT="45720" marB="45720" anchor="ctr">
                    <a:solidFill>
                      <a:srgbClr val="0B0F14"/>
                    </a:solidFill>
                  </a:tcPr>
                </a:tc>
              </a:tr>
              <a:tr h="857250">
                <a:tc>
                  <a:txBody>
                    <a:bodyPr lIns="171450" tIns="57150" rIns="171450" bIns="57150">
                      <a:noAutofit/>
                    </a:bodyPr>
                    <a:lstStyle/>
                    <a:p>
                      <a:r>
                        <a:rPr sz="1500" b="1">
                          <a:solidFill>
                            <a:srgbClr val="F4F7FA"/>
                          </a:solidFill>
                          <a:latin typeface="Arial"/>
                          <a:ea typeface="Arial"/>
                          <a:cs typeface="Arial"/>
                        </a:rPr>
                        <a:t>Operating model</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Arial"/>
                          <a:ea typeface="Arial"/>
                          <a:cs typeface="Arial"/>
                        </a:rPr>
                        <a:t>Changed roles, evidence and decision rights.</a:t>
                      </a:r>
                    </a:p>
                    <a:p>
                      <a:r>
                        <a:rPr sz="1500" b="0">
                          <a:solidFill>
                            <a:srgbClr val="F4F7FA"/>
                          </a:solidFill>
                          <a:latin typeface="Arial"/>
                          <a:ea typeface="Arial"/>
                          <a:cs typeface="Arial"/>
                        </a:rPr>
                        <a:t>Find gaps in process and team organization.</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Arial"/>
                          <a:ea typeface="Arial"/>
                          <a:cs typeface="Arial"/>
                        </a:rPr>
                        <a:t>Coverage, response time, control health,</a:t>
                      </a:r>
                    </a:p>
                    <a:p>
                      <a:r>
                        <a:rPr sz="1500" b="0">
                          <a:solidFill>
                            <a:srgbClr val="28C7F7"/>
                          </a:solidFill>
                          <a:latin typeface="Arial"/>
                          <a:ea typeface="Arial"/>
                          <a:cs typeface="Arial"/>
                        </a:rPr>
                        <a:t>incidents + decisions to reassess</a:t>
                      </a:r>
                    </a:p>
                  </a:txBody>
                  <a:tcPr marL="91440" marR="91440" marT="45720" marB="45720" anchor="ctr">
                    <a:solidFill>
                      <a:srgbClr val="0B0F14"/>
                    </a:solidFill>
                  </a:tcPr>
                </a:tc>
              </a:tr>
            </a:tbl>
          </a:graphicData>
        </a:graphic>
      </p:graphicFrame>
      <p:sp>
        <p:nvSpPr>
          <p:cNvPr id="8" name="">
            <a:extLst xmlns:a="http://schemas.openxmlformats.org/drawingml/2006/main">
              <a:ext uri="{FF2B5EF4-FFF2-40B4-BE49-F238E27FC236}">
                <a16:creationId xmlns:a16="http://schemas.microsoft.com/office/drawing/2014/main" id="{6DFFFA43-C48D-41F9-A779-3A3CA10B547E}"/>
              </a:ext>
            </a:extLst>
          </p:cNvPr>
          <p:cNvSpPr>
            <a:spLocks xmlns:a="http://schemas.openxmlformats.org/drawingml/2006/main" noGrp="1"/>
          </p:cNvSpPr>
          <p:nvPr/>
        </p:nvSpPr>
        <p:spPr>
          <a:xfrm xmlns:a="http://schemas.openxmlformats.org/drawingml/2006/main">
            <a:off x="609600" y="58388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Arial"/>
                <a:ea typeface="Arial"/>
                <a:cs typeface="Arial"/>
              </a:defRPr>
            </a:pPr>
            <a:r>
              <a:rPr sz="1575" b="0">
                <a:solidFill>
                  <a:srgbClr val="F5B61C"/>
                </a:solidFill>
                <a:latin typeface="Arial"/>
                <a:ea typeface="Arial"/>
                <a:cs typeface="Arial"/>
              </a:rPr>
              <a:t>Statistical literacy: question sampling, uncertainty, thresholds and the strength of evidence.</a:t>
            </a:r>
          </a:p>
        </p:txBody>
      </p:sp>
      <p:sp>
        <p:nvSpPr>
          <p:cNvPr id="9" name="">
            <a:extLst xmlns:a="http://schemas.openxmlformats.org/drawingml/2006/main">
              <a:ext uri="{FF2B5EF4-FFF2-40B4-BE49-F238E27FC236}">
                <a16:creationId xmlns:a16="http://schemas.microsoft.com/office/drawing/2014/main" id="{CE2029FB-4478-411D-A355-E30DF6E3CC08}"/>
              </a:ext>
            </a:extLst>
          </p:cNvPr>
          <p:cNvSpPr>
            <a:spLocks xmlns:a="http://schemas.openxmlformats.org/drawingml/2006/main" noGrp="1"/>
          </p:cNvSpPr>
          <p:nvPr/>
        </p:nvSpPr>
        <p:spPr>
          <a:xfrm xmlns:a="http://schemas.openxmlformats.org/drawingml/2006/main">
            <a:off x="609600" y="61626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Coordinate specialists and business owners. Make missing evidence and control capacity visible.</a:t>
            </a:r>
          </a:p>
        </p:txBody>
      </p:sp>
      <p:sp>
        <p:nvSpPr>
          <p:cNvPr id="10" name="">
            <a:extLst xmlns:a="http://schemas.openxmlformats.org/drawingml/2006/main">
              <a:ext uri="{FF2B5EF4-FFF2-40B4-BE49-F238E27FC236}">
                <a16:creationId xmlns:a16="http://schemas.microsoft.com/office/drawing/2014/main" id="{59225618-FBE7-46CA-8A31-43E311622B77}"/>
              </a:ext>
            </a:extLst>
          </p:cNvPr>
          <p:cNvSpPr>
            <a:spLocks xmlns:a="http://schemas.openxmlformats.org/drawingml/2006/main" noGrp="1"/>
          </p:cNvSpPr>
          <p:nvPr/>
        </p:nvSpPr>
        <p:spPr>
          <a:xfrm xmlns:a="http://schemas.openxmlformats.org/drawingml/2006/main">
            <a:off x="609600" y="6496050"/>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Progress = working capability + reduced uncertainty + explicit decisions.</a:t>
            </a:r>
          </a:p>
        </p:txBody>
      </p:sp>
    </p:spTree>
    <p:extLst>
      <p:ext uri="{BB962C8B-B14F-4D97-AF65-F5344CB8AC3E}">
        <p14:creationId xmlns:p14="http://schemas.microsoft.com/office/powerpoint/2010/main" val="1634807806"/>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361D878-A6BA-4BF0-97F4-E1A8EADFB84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7E866DD4-14F2-4A93-8791-3AC84C0CDBB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DD72FE2-458A-4D3A-8B51-B94FD65FF93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46D3E3DB-EA75-4FB3-B60A-762A14C43519}"/>
              </a:ext>
            </a:extLst>
          </p:cNvPr>
          <p:cNvSpPr>
            <a:spLocks xmlns:a="http://schemas.openxmlformats.org/drawingml/2006/main" noGrp="1"/>
          </p:cNvSpPr>
          <p:nvPr/>
        </p:nvSpPr>
        <p:spPr>
          <a:xfrm xmlns:a="http://schemas.openxmlformats.org/drawingml/2006/main">
            <a:off x="609600" y="194310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CONTINUES</a:t>
            </a:r>
          </a:p>
        </p:txBody>
      </p:sp>
      <p:sp>
        <p:nvSpPr>
          <p:cNvPr id="5" name="">
            <a:extLst xmlns:a="http://schemas.openxmlformats.org/drawingml/2006/main">
              <a:ext uri="{FF2B5EF4-FFF2-40B4-BE49-F238E27FC236}">
                <a16:creationId xmlns:a16="http://schemas.microsoft.com/office/drawing/2014/main" id="{63F68BDE-ACE8-4C6A-84D5-19C77B105BE2}"/>
              </a:ext>
            </a:extLst>
          </p:cNvPr>
          <p:cNvSpPr>
            <a:spLocks xmlns:a="http://schemas.openxmlformats.org/drawingml/2006/main" noGrp="1"/>
          </p:cNvSpPr>
          <p:nvPr/>
        </p:nvSpPr>
        <p:spPr>
          <a:xfrm xmlns:a="http://schemas.openxmlformats.org/drawingml/2006/main">
            <a:off x="609600" y="236220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4D834DB4-4375-4667-AACF-B980A82156D3}"/>
              </a:ext>
            </a:extLst>
          </p:cNvPr>
          <p:cNvSpPr>
            <a:spLocks xmlns:a="http://schemas.openxmlformats.org/drawingml/2006/main" noGrp="1"/>
          </p:cNvSpPr>
          <p:nvPr/>
        </p:nvSpPr>
        <p:spPr>
          <a:xfrm xmlns:a="http://schemas.openxmlformats.org/drawingml/2006/main">
            <a:off x="609600" y="2800350"/>
            <a:ext cx="438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Scope, quality, cost and schedule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remain part of the job.</a:t>
            </a:r>
          </a:p>
        </p:txBody>
      </p:sp>
      <p:sp>
        <p:nvSpPr>
          <p:cNvPr id="7" name="">
            <a:extLst xmlns:a="http://schemas.openxmlformats.org/drawingml/2006/main">
              <a:ext uri="{FF2B5EF4-FFF2-40B4-BE49-F238E27FC236}">
                <a16:creationId xmlns:a16="http://schemas.microsoft.com/office/drawing/2014/main" id="{CAD85327-4734-43A7-ABAD-E3268097F9E9}"/>
              </a:ext>
            </a:extLst>
          </p:cNvPr>
          <p:cNvSpPr>
            <a:spLocks xmlns:a="http://schemas.openxmlformats.org/drawingml/2006/main" noGrp="1"/>
          </p:cNvSpPr>
          <p:nvPr/>
        </p:nvSpPr>
        <p:spPr>
          <a:xfrm xmlns:a="http://schemas.openxmlformats.org/drawingml/2006/main">
            <a:off x="609600" y="37052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C7E511BE-48D7-442B-A4DB-031A73CF08C9}"/>
              </a:ext>
            </a:extLst>
          </p:cNvPr>
          <p:cNvSpPr>
            <a:spLocks xmlns:a="http://schemas.openxmlformats.org/drawingml/2006/main" noGrp="1"/>
          </p:cNvSpPr>
          <p:nvPr/>
        </p:nvSpPr>
        <p:spPr>
          <a:xfrm xmlns:a="http://schemas.openxmlformats.org/drawingml/2006/main">
            <a:off x="609600" y="4095750"/>
            <a:ext cx="4381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Evidence reopens assumptions.</a:t>
            </a:r>
          </a:p>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Release feeds the next experiment.</a:t>
            </a:r>
          </a:p>
        </p:txBody>
      </p:sp>
      <p:sp>
        <p:nvSpPr>
          <p:cNvPr id="9" name="">
            <a:extLst xmlns:a="http://schemas.openxmlformats.org/drawingml/2006/main">
              <a:ext uri="{FF2B5EF4-FFF2-40B4-BE49-F238E27FC236}">
                <a16:creationId xmlns:a16="http://schemas.microsoft.com/office/drawing/2014/main" id="{0A5D724C-B7D8-4852-9A4D-8D2C0A34FFB0}"/>
              </a:ext>
            </a:extLst>
          </p:cNvPr>
          <p:cNvSpPr>
            <a:spLocks xmlns:a="http://schemas.openxmlformats.org/drawingml/2006/main" noGrp="1"/>
          </p:cNvSpPr>
          <p:nvPr/>
        </p:nvSpPr>
        <p:spPr>
          <a:xfrm xmlns:a="http://schemas.openxmlformats.org/drawingml/2006/main" flipH="0" flipV="0">
            <a:off x="5143500" y="1971675"/>
            <a:ext cx="0" cy="27051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E0B05AAC-D214-4FD7-A262-8483820A4D80}"/>
              </a:ext>
            </a:extLst>
          </p:cNvPr>
          <p:cNvSpPr>
            <a:spLocks xmlns:a="http://schemas.openxmlformats.org/drawingml/2006/main" noGrp="1"/>
          </p:cNvSpPr>
          <p:nvPr/>
        </p:nvSpPr>
        <p:spPr>
          <a:xfrm xmlns:a="http://schemas.openxmlformats.org/drawingml/2006/main">
            <a:off x="5543550" y="209550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B4C530B0-21FF-40E6-8054-ECC853C70FA7}"/>
              </a:ext>
            </a:extLst>
          </p:cNvPr>
          <p:cNvSpPr>
            <a:spLocks xmlns:a="http://schemas.openxmlformats.org/drawingml/2006/main" noGrp="1"/>
          </p:cNvSpPr>
          <p:nvPr/>
        </p:nvSpPr>
        <p:spPr>
          <a:xfrm xmlns:a="http://schemas.openxmlformats.org/drawingml/2006/main">
            <a:off x="5657850" y="217170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Hypothesize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bounded trial</a:t>
            </a:r>
          </a:p>
        </p:txBody>
      </p:sp>
      <p:sp>
        <p:nvSpPr>
          <p:cNvPr id="12" name="">
            <a:extLst xmlns:a="http://schemas.openxmlformats.org/drawingml/2006/main">
              <a:ext uri="{FF2B5EF4-FFF2-40B4-BE49-F238E27FC236}">
                <a16:creationId xmlns:a16="http://schemas.microsoft.com/office/drawing/2014/main" id="{8C12F330-2426-44C1-B06B-309B001574B6}"/>
              </a:ext>
            </a:extLst>
          </p:cNvPr>
          <p:cNvSpPr>
            <a:spLocks xmlns:a="http://schemas.openxmlformats.org/drawingml/2006/main" noGrp="1"/>
          </p:cNvSpPr>
          <p:nvPr/>
        </p:nvSpPr>
        <p:spPr>
          <a:xfrm xmlns:a="http://schemas.openxmlformats.org/drawingml/2006/main">
            <a:off x="9086850" y="209550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69DF921B-F228-4C66-AB14-39959C131970}"/>
              </a:ext>
            </a:extLst>
          </p:cNvPr>
          <p:cNvSpPr>
            <a:spLocks xmlns:a="http://schemas.openxmlformats.org/drawingml/2006/main" noGrp="1"/>
          </p:cNvSpPr>
          <p:nvPr/>
        </p:nvSpPr>
        <p:spPr>
          <a:xfrm xmlns:a="http://schemas.openxmlformats.org/drawingml/2006/main">
            <a:off x="9201150" y="217170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Measure</a:t>
            </a:r>
          </a:p>
        </p:txBody>
      </p:sp>
      <p:sp>
        <p:nvSpPr>
          <p:cNvPr id="14" name="">
            <a:extLst xmlns:a="http://schemas.openxmlformats.org/drawingml/2006/main">
              <a:ext uri="{FF2B5EF4-FFF2-40B4-BE49-F238E27FC236}">
                <a16:creationId xmlns:a16="http://schemas.microsoft.com/office/drawing/2014/main" id="{ABEE611C-A255-4729-BCF1-E81A659AE786}"/>
              </a:ext>
            </a:extLst>
          </p:cNvPr>
          <p:cNvSpPr>
            <a:spLocks xmlns:a="http://schemas.openxmlformats.org/drawingml/2006/main" noGrp="1"/>
          </p:cNvSpPr>
          <p:nvPr/>
        </p:nvSpPr>
        <p:spPr>
          <a:xfrm xmlns:a="http://schemas.openxmlformats.org/drawingml/2006/main">
            <a:off x="9086850" y="394335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15ED43F4-CD35-4893-B798-02D88CD7BCC9}"/>
              </a:ext>
            </a:extLst>
          </p:cNvPr>
          <p:cNvSpPr>
            <a:spLocks xmlns:a="http://schemas.openxmlformats.org/drawingml/2006/main" noGrp="1"/>
          </p:cNvSpPr>
          <p:nvPr/>
        </p:nvSpPr>
        <p:spPr>
          <a:xfrm xmlns:a="http://schemas.openxmlformats.org/drawingml/2006/main">
            <a:off x="9201150" y="401955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Decide</a:t>
            </a:r>
          </a:p>
        </p:txBody>
      </p:sp>
      <p:sp>
        <p:nvSpPr>
          <p:cNvPr id="16" name="">
            <a:extLst xmlns:a="http://schemas.openxmlformats.org/drawingml/2006/main">
              <a:ext uri="{FF2B5EF4-FFF2-40B4-BE49-F238E27FC236}">
                <a16:creationId xmlns:a16="http://schemas.microsoft.com/office/drawing/2014/main" id="{F804838F-88F7-41AB-8C68-C90840598364}"/>
              </a:ext>
            </a:extLst>
          </p:cNvPr>
          <p:cNvSpPr>
            <a:spLocks xmlns:a="http://schemas.openxmlformats.org/drawingml/2006/main" noGrp="1"/>
          </p:cNvSpPr>
          <p:nvPr/>
        </p:nvSpPr>
        <p:spPr>
          <a:xfrm xmlns:a="http://schemas.openxmlformats.org/drawingml/2006/main">
            <a:off x="5543550" y="394335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392CA472-5553-450F-9004-C4512659FC08}"/>
              </a:ext>
            </a:extLst>
          </p:cNvPr>
          <p:cNvSpPr>
            <a:spLocks xmlns:a="http://schemas.openxmlformats.org/drawingml/2006/main" noGrp="1"/>
          </p:cNvSpPr>
          <p:nvPr/>
        </p:nvSpPr>
        <p:spPr>
          <a:xfrm xmlns:a="http://schemas.openxmlformats.org/drawingml/2006/main">
            <a:off x="5657850" y="401955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Adapt</a:t>
            </a:r>
          </a:p>
        </p:txBody>
      </p:sp>
      <p:cxnSp>
        <p:nvCxnSpPr>
          <p:cNvPr id="46" name=""/>
          <p:cNvCxnSpPr>
            <a:stCxn xmlns:a="http://schemas.openxmlformats.org/drawingml/2006/main" id="10" idx="3"/>
            <a:endCxn xmlns:a="http://schemas.openxmlformats.org/drawingml/2006/main" id="12" idx="1"/>
          </p:cNvCxnSpPr>
          <p:nvPr/>
        </p:nvCxnSpPr>
        <p:spPr>
          <a:xfrm xmlns:a="http://schemas.openxmlformats.org/drawingml/2006/main">
            <a:off x="7848600" y="2419350"/>
            <a:ext cx="12382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7" name=""/>
          <p:cNvCxnSpPr>
            <a:stCxn xmlns:a="http://schemas.openxmlformats.org/drawingml/2006/main" id="12" idx="2"/>
            <a:endCxn xmlns:a="http://schemas.openxmlformats.org/drawingml/2006/main" id="14" idx="0"/>
          </p:cNvCxnSpPr>
          <p:nvPr/>
        </p:nvCxnSpPr>
        <p:spPr>
          <a:xfrm xmlns:a="http://schemas.openxmlformats.org/drawingml/2006/main">
            <a:off x="10239375" y="2743200"/>
            <a:ext cx="0" cy="12001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8" name=""/>
          <p:cNvCxnSpPr>
            <a:stCxn xmlns:a="http://schemas.openxmlformats.org/drawingml/2006/main" id="14" idx="1"/>
            <a:endCxn xmlns:a="http://schemas.openxmlformats.org/drawingml/2006/main" id="16" idx="3"/>
          </p:cNvCxnSpPr>
          <p:nvPr/>
        </p:nvCxnSpPr>
        <p:spPr>
          <a:xfrm xmlns:a="http://schemas.openxmlformats.org/drawingml/2006/main" flipH="1">
            <a:off x="7848600" y="4267200"/>
            <a:ext cx="12382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9" name=""/>
          <p:cNvCxnSpPr>
            <a:stCxn xmlns:a="http://schemas.openxmlformats.org/drawingml/2006/main" id="16" idx="0"/>
            <a:endCxn xmlns:a="http://schemas.openxmlformats.org/drawingml/2006/main" id="10" idx="2"/>
          </p:cNvCxnSpPr>
          <p:nvPr/>
        </p:nvCxnSpPr>
        <p:spPr>
          <a:xfrm xmlns:a="http://schemas.openxmlformats.org/drawingml/2006/main" flipV="1">
            <a:off x="6696075" y="2743200"/>
            <a:ext cx="0" cy="120015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18ECDD37-10F2-4FEA-8BBB-6EB450F5FE56}"/>
              </a:ext>
            </a:extLst>
          </p:cNvPr>
          <p:cNvSpPr>
            <a:spLocks xmlns:a="http://schemas.openxmlformats.org/drawingml/2006/main" noGrp="1"/>
          </p:cNvSpPr>
          <p:nvPr/>
        </p:nvSpPr>
        <p:spPr>
          <a:xfrm xmlns:a="http://schemas.openxmlformats.org/drawingml/2006/main">
            <a:off x="6000750" y="3028950"/>
            <a:ext cx="4905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 evidence</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returns to the team</a:t>
            </a:r>
          </a:p>
        </p:txBody>
      </p:sp>
      <p:sp>
        <p:nvSpPr>
          <p:cNvPr id="23" name="">
            <a:extLst xmlns:a="http://schemas.openxmlformats.org/drawingml/2006/main">
              <a:ext uri="{FF2B5EF4-FFF2-40B4-BE49-F238E27FC236}">
                <a16:creationId xmlns:a16="http://schemas.microsoft.com/office/drawing/2014/main" id="{7FE929C3-C58B-46B5-9B95-D190092C3D1E}"/>
              </a:ext>
            </a:extLst>
          </p:cNvPr>
          <p:cNvSpPr>
            <a:spLocks xmlns:a="http://schemas.openxmlformats.org/drawingml/2006/main" noGrp="1"/>
          </p:cNvSpPr>
          <p:nvPr/>
        </p:nvSpPr>
        <p:spPr>
          <a:xfrm xmlns:a="http://schemas.openxmlformats.org/drawingml/2006/main" flipH="0" flipV="0">
            <a:off x="609600" y="48863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C7CC1C1F-FAB9-4C7C-B192-49F26F2F7094}"/>
              </a:ext>
            </a:extLst>
          </p:cNvPr>
          <p:cNvSpPr>
            <a:spLocks xmlns:a="http://schemas.openxmlformats.org/drawingml/2006/main" noGrp="1"/>
          </p:cNvSpPr>
          <p:nvPr/>
        </p:nvSpPr>
        <p:spPr>
          <a:xfrm xmlns:a="http://schemas.openxmlformats.org/drawingml/2006/main">
            <a:off x="609600" y="50101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HOW WE BUILD · while AI changes the SDLC</a:t>
            </a:r>
          </a:p>
        </p:txBody>
      </p:sp>
      <p:sp>
        <p:nvSpPr>
          <p:cNvPr id="25" name="">
            <a:extLst xmlns:a="http://schemas.openxmlformats.org/drawingml/2006/main">
              <a:ext uri="{FF2B5EF4-FFF2-40B4-BE49-F238E27FC236}">
                <a16:creationId xmlns:a16="http://schemas.microsoft.com/office/drawing/2014/main" id="{58CB6FF0-3AE2-4830-B643-C83D2BACAA05}"/>
              </a:ext>
            </a:extLst>
          </p:cNvPr>
          <p:cNvSpPr>
            <a:spLocks xmlns:a="http://schemas.openxmlformats.org/drawingml/2006/main" noGrp="1"/>
          </p:cNvSpPr>
          <p:nvPr/>
        </p:nvSpPr>
        <p:spPr>
          <a:xfrm xmlns:a="http://schemas.openxmlformats.org/drawingml/2006/main">
            <a:off x="609600" y="52863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Measure flow, rework, stability and the team’s retained understanding.</a:t>
            </a:r>
          </a:p>
        </p:txBody>
      </p:sp>
      <p:sp>
        <p:nvSpPr>
          <p:cNvPr id="26" name="">
            <a:extLst xmlns:a="http://schemas.openxmlformats.org/drawingml/2006/main">
              <a:ext uri="{FF2B5EF4-FFF2-40B4-BE49-F238E27FC236}">
                <a16:creationId xmlns:a16="http://schemas.microsoft.com/office/drawing/2014/main" id="{62F6ED21-F568-4D3E-B82A-F848695940B2}"/>
              </a:ext>
            </a:extLst>
          </p:cNvPr>
          <p:cNvSpPr>
            <a:spLocks xmlns:a="http://schemas.openxmlformats.org/drawingml/2006/main" noGrp="1"/>
          </p:cNvSpPr>
          <p:nvPr/>
        </p:nvSpPr>
        <p:spPr>
          <a:xfrm xmlns:a="http://schemas.openxmlformats.org/drawingml/2006/main">
            <a:off x="609600" y="56388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Arial"/>
                <a:ea typeface="Arial"/>
                <a:cs typeface="Arial"/>
              </a:defRPr>
            </a:pPr>
            <a:r>
              <a:rPr sz="1500" b="1">
                <a:solidFill>
                  <a:srgbClr val="F5B61C"/>
                </a:solidFill>
                <a:latin typeface="Arial"/>
                <a:ea typeface="Arial"/>
                <a:cs typeface="Arial"/>
              </a:rPr>
              <a:t>WHAT WE BUILD · throughout Thinking Systems operation</a:t>
            </a:r>
          </a:p>
        </p:txBody>
      </p:sp>
      <p:sp>
        <p:nvSpPr>
          <p:cNvPr id="27" name="">
            <a:extLst xmlns:a="http://schemas.openxmlformats.org/drawingml/2006/main">
              <a:ext uri="{FF2B5EF4-FFF2-40B4-BE49-F238E27FC236}">
                <a16:creationId xmlns:a16="http://schemas.microsoft.com/office/drawing/2014/main" id="{C882ECB0-0071-47CF-A2A2-A514A2B887DE}"/>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Measure outcomes, control capacity and cost. Incidents revise tests and control rules.</a:t>
            </a:r>
          </a:p>
        </p:txBody>
      </p:sp>
      <p:sp>
        <p:nvSpPr>
          <p:cNvPr id="28" name="">
            <a:extLst xmlns:a="http://schemas.openxmlformats.org/drawingml/2006/main">
              <a:ext uri="{FF2B5EF4-FFF2-40B4-BE49-F238E27FC236}">
                <a16:creationId xmlns:a16="http://schemas.microsoft.com/office/drawing/2014/main" id="{A73E9687-2D0E-49A3-8FEE-BB525FC341F3}"/>
              </a:ext>
            </a:extLst>
          </p:cNvPr>
          <p:cNvSpPr>
            <a:spLocks xmlns:a="http://schemas.openxmlformats.org/drawingml/2006/main" noGrp="1"/>
          </p:cNvSpPr>
          <p:nvPr/>
        </p:nvSpPr>
        <p:spPr>
          <a:xfrm xmlns:a="http://schemas.openxmlformats.org/drawingml/2006/main">
            <a:off x="609600" y="6410325"/>
            <a:ext cx="10648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The learning cycle continues after release. The team remains accountable.</a:t>
            </a:r>
          </a:p>
        </p:txBody>
      </p:sp>
    </p:spTree>
    <p:extLst>
      <p:ext uri="{BB962C8B-B14F-4D97-AF65-F5344CB8AC3E}">
        <p14:creationId xmlns:p14="http://schemas.microsoft.com/office/powerpoint/2010/main" val="15501090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2026-09-22T16:39:00.8680000Z</dcterms:created>
  <dcterms:modified xsi:type="dcterms:W3CDTF">2026-09-22T16:39:00.8680000Z</dcterms:modified>
</coreProperties>
</file>