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4bc0a38b1fd450d" /><Relationship Type="http://schemas.openxmlformats.org/officeDocument/2006/relationships/extended-properties" Target="/docProps/app.xml" Id="R4fb426552072469a" /><Relationship Type="http://schemas.openxmlformats.org/officeDocument/2006/relationships/officeDocument" Target="/ppt/presentation.xml" Id="R48c648d7b28840da" /></Relationships>
</file>

<file path=ppt/presentation.xml><?xml version="1.0" encoding="utf-8"?>
<p:presentation xmlns:p="http://schemas.openxmlformats.org/presentationml/2006/main">
  <p:sldMasterIdLst>
    <p:sldMasterId xmlns:r="http://schemas.openxmlformats.org/officeDocument/2006/relationships" id="2147483648" r:id="R6f602662307f40e0"/>
  </p:sldMasterIdLst>
  <p:notesMasterIdLst>
    <p:notesMasterId xmlns:r="http://schemas.openxmlformats.org/officeDocument/2006/relationships" r:id="R6bbc6c20d6174ab9"/>
  </p:notesMasterIdLst>
  <p:sldIdLst>
    <p:sldId xmlns:r="http://schemas.openxmlformats.org/officeDocument/2006/relationships" id="256" r:id="Rc5a277bfccc3409d"/>
    <p:sldId xmlns:r="http://schemas.openxmlformats.org/officeDocument/2006/relationships" id="257" r:id="R2e3573618f52404a"/>
    <p:sldId xmlns:r="http://schemas.openxmlformats.org/officeDocument/2006/relationships" id="258" r:id="Rdb6849e59f844e5b"/>
    <p:sldId xmlns:r="http://schemas.openxmlformats.org/officeDocument/2006/relationships" id="259" r:id="R43778f0f444d4a6a"/>
    <p:sldId xmlns:r="http://schemas.openxmlformats.org/officeDocument/2006/relationships" id="260" r:id="R6a2634b67c4f416c"/>
    <p:sldId xmlns:r="http://schemas.openxmlformats.org/officeDocument/2006/relationships" id="261" r:id="R455de9fb03d749c6"/>
    <p:sldId xmlns:r="http://schemas.openxmlformats.org/officeDocument/2006/relationships" id="262" r:id="Rb7c5e1d26db745df"/>
    <p:sldId xmlns:r="http://schemas.openxmlformats.org/officeDocument/2006/relationships" id="263" r:id="R3d34fb97978e4fa4"/>
    <p:sldId xmlns:r="http://schemas.openxmlformats.org/officeDocument/2006/relationships" id="264" r:id="Ra9409fe9fb584d92"/>
    <p:sldId xmlns:r="http://schemas.openxmlformats.org/officeDocument/2006/relationships" id="265" r:id="Rfe51d18c2e6b4865"/>
    <p:sldId xmlns:r="http://schemas.openxmlformats.org/officeDocument/2006/relationships" id="266" r:id="Reec95f9d3b0949a8"/>
    <p:sldId xmlns:r="http://schemas.openxmlformats.org/officeDocument/2006/relationships" id="267" r:id="R760949f0db934b40"/>
    <p:sldId xmlns:r="http://schemas.openxmlformats.org/officeDocument/2006/relationships" id="268" r:id="R34feeb8925064377"/>
    <p:sldId xmlns:r="http://schemas.openxmlformats.org/officeDocument/2006/relationships" id="269" r:id="Ra8c3597fae56494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df5723211654786" /><Relationship Type="http://schemas.openxmlformats.org/officeDocument/2006/relationships/slideMaster" Target="/ppt/slideMasters/slideMaster1.xml" Id="R6f602662307f40e0" /><Relationship Type="http://schemas.openxmlformats.org/officeDocument/2006/relationships/notesMaster" Target="/ppt/notesMasters/notesMaster1.xml" Id="R6bbc6c20d6174ab9" /><Relationship Type="http://schemas.openxmlformats.org/officeDocument/2006/relationships/presProps" Target="/ppt/presProps.xml" Id="Rcc93484a21184815" /><Relationship Type="http://schemas.openxmlformats.org/officeDocument/2006/relationships/tableStyles" Target="/ppt/tableStyles.xml" Id="R6171b624566a4527" /><Relationship Type="http://schemas.openxmlformats.org/officeDocument/2006/relationships/slide" Target="/ppt/slides/slide1.xml" Id="Rc5a277bfccc3409d" /><Relationship Type="http://schemas.openxmlformats.org/officeDocument/2006/relationships/slide" Target="/ppt/slides/slide2.xml" Id="R2e3573618f52404a" /><Relationship Type="http://schemas.openxmlformats.org/officeDocument/2006/relationships/slide" Target="/ppt/slides/slide3.xml" Id="Rdb6849e59f844e5b" /><Relationship Type="http://schemas.openxmlformats.org/officeDocument/2006/relationships/slide" Target="/ppt/slides/slide4.xml" Id="R43778f0f444d4a6a" /><Relationship Type="http://schemas.openxmlformats.org/officeDocument/2006/relationships/slide" Target="/ppt/slides/slide5.xml" Id="R6a2634b67c4f416c" /><Relationship Type="http://schemas.openxmlformats.org/officeDocument/2006/relationships/slide" Target="/ppt/slides/slide6.xml" Id="R455de9fb03d749c6" /><Relationship Type="http://schemas.openxmlformats.org/officeDocument/2006/relationships/slide" Target="/ppt/slides/slide7.xml" Id="Rb7c5e1d26db745df" /><Relationship Type="http://schemas.openxmlformats.org/officeDocument/2006/relationships/slide" Target="/ppt/slides/slide8.xml" Id="R3d34fb97978e4fa4" /><Relationship Type="http://schemas.openxmlformats.org/officeDocument/2006/relationships/slide" Target="/ppt/slides/slide9.xml" Id="Ra9409fe9fb584d92" /><Relationship Type="http://schemas.openxmlformats.org/officeDocument/2006/relationships/slide" Target="/ppt/slides/slide10.xml" Id="Rfe51d18c2e6b4865" /><Relationship Type="http://schemas.openxmlformats.org/officeDocument/2006/relationships/slide" Target="/ppt/slides/slide11.xml" Id="Reec95f9d3b0949a8" /><Relationship Type="http://schemas.openxmlformats.org/officeDocument/2006/relationships/slide" Target="/ppt/slides/slide12.xml" Id="R760949f0db934b40" /><Relationship Type="http://schemas.openxmlformats.org/officeDocument/2006/relationships/slide" Target="/ppt/slides/slide13.xml" Id="R34feeb8925064377" /><Relationship Type="http://schemas.openxmlformats.org/officeDocument/2006/relationships/slide" Target="/ppt/slides/slide14.xml" Id="Ra8c3597fae56494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7199b8181cf4c8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9ab1c9c17884873" /><Relationship Type="http://schemas.openxmlformats.org/officeDocument/2006/relationships/notesMaster" Target="/ppt/notesMasters/notesMaster1.xml" Id="Rc928a9df1d234c8c" /></Relationships>
</file>

<file path=ppt/notesSlides/_rels/notesSlide2.xml.rels>&#65279;<?xml version="1.0" encoding="utf-8"?><Relationships xmlns="http://schemas.openxmlformats.org/package/2006/relationships"><Relationship Type="http://schemas.openxmlformats.org/officeDocument/2006/relationships/slide" Target="/ppt/slides/slide2.xml" Id="R865692399e7b4652" /><Relationship Type="http://schemas.openxmlformats.org/officeDocument/2006/relationships/notesMaster" Target="/ppt/notesMasters/notesMaster1.xml" Id="R5492479dbf854f51" /></Relationships>
</file>

<file path=ppt/notesSlides/_rels/notesSlide3.xml.rels>&#65279;<?xml version="1.0" encoding="utf-8"?><Relationships xmlns="http://schemas.openxmlformats.org/package/2006/relationships"><Relationship Type="http://schemas.openxmlformats.org/officeDocument/2006/relationships/slide" Target="/ppt/slides/slide3.xml" Id="R84059fd61d634421" /><Relationship Type="http://schemas.openxmlformats.org/officeDocument/2006/relationships/notesMaster" Target="/ppt/notesMasters/notesMaster1.xml" Id="R3a3716a568bd4162" /></Relationships>
</file>

<file path=ppt/notesSlides/_rels/notesSlide4.xml.rels>&#65279;<?xml version="1.0" encoding="utf-8"?><Relationships xmlns="http://schemas.openxmlformats.org/package/2006/relationships"><Relationship Type="http://schemas.openxmlformats.org/officeDocument/2006/relationships/slide" Target="/ppt/slides/slide4.xml" Id="R377602d5ca04429f" /><Relationship Type="http://schemas.openxmlformats.org/officeDocument/2006/relationships/notesMaster" Target="/ppt/notesMasters/notesMaster1.xml" Id="Rc5f9b59c09454df5" /></Relationships>
</file>

<file path=ppt/notesSlides/_rels/notesSlide5.xml.rels>&#65279;<?xml version="1.0" encoding="utf-8"?><Relationships xmlns="http://schemas.openxmlformats.org/package/2006/relationships"><Relationship Type="http://schemas.openxmlformats.org/officeDocument/2006/relationships/slide" Target="/ppt/slides/slide5.xml" Id="R7c1e2075bd11473b" /><Relationship Type="http://schemas.openxmlformats.org/officeDocument/2006/relationships/notesMaster" Target="/ppt/notesMasters/notesMaster1.xml" Id="R9997fea96f7c48c7" /></Relationships>
</file>

<file path=ppt/notesSlides/_rels/notesSlide6.xml.rels>&#65279;<?xml version="1.0" encoding="utf-8"?><Relationships xmlns="http://schemas.openxmlformats.org/package/2006/relationships"><Relationship Type="http://schemas.openxmlformats.org/officeDocument/2006/relationships/slide" Target="/ppt/slides/slide6.xml" Id="Rc8faf658ede049d6" /><Relationship Type="http://schemas.openxmlformats.org/officeDocument/2006/relationships/notesMaster" Target="/ppt/notesMasters/notesMaster1.xml" Id="R9d042abe6721489b" /></Relationships>
</file>

<file path=ppt/notesSlides/_rels/notesSlide7.xml.rels>&#65279;<?xml version="1.0" encoding="utf-8"?><Relationships xmlns="http://schemas.openxmlformats.org/package/2006/relationships"><Relationship Type="http://schemas.openxmlformats.org/officeDocument/2006/relationships/slide" Target="/ppt/slides/slide7.xml" Id="Re25c02d707c944f1" /><Relationship Type="http://schemas.openxmlformats.org/officeDocument/2006/relationships/notesMaster" Target="/ppt/notesMasters/notesMaster1.xml" Id="Rd244de4def384553" /></Relationships>
</file>

<file path=ppt/notesSlides/_rels/notesSlide8.xml.rels>&#65279;<?xml version="1.0" encoding="utf-8"?><Relationships xmlns="http://schemas.openxmlformats.org/package/2006/relationships"><Relationship Type="http://schemas.openxmlformats.org/officeDocument/2006/relationships/slide" Target="/ppt/slides/slide8.xml" Id="Ree57ffbce6674c7d" /><Relationship Type="http://schemas.openxmlformats.org/officeDocument/2006/relationships/notesMaster" Target="/ppt/notesMasters/notesMaster1.xml" Id="Rdbd6df21449246e5" /></Relationships>
</file>

<file path=ppt/notesSlides/_rels/notesSlide9.xml.rels>&#65279;<?xml version="1.0" encoding="utf-8"?><Relationships xmlns="http://schemas.openxmlformats.org/package/2006/relationships"><Relationship Type="http://schemas.openxmlformats.org/officeDocument/2006/relationships/slide" Target="/ppt/slides/slide9.xml" Id="R3bb52115628e415d" /><Relationship Type="http://schemas.openxmlformats.org/officeDocument/2006/relationships/notesMaster" Target="/ppt/notesMasters/notesMaster1.xml" Id="R564853c34a55426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ac43e5c5f6f4e55" /><Relationship Type="http://schemas.openxmlformats.org/officeDocument/2006/relationships/notesMaster" Target="/ppt/notesMasters/notesMaster1.xml" Id="R58777f700944459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5c8b20d17c44230" /><Relationship Type="http://schemas.openxmlformats.org/officeDocument/2006/relationships/notesMaster" Target="/ppt/notesMasters/notesMaster1.xml" Id="R6d64455749ba45b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fcc9d939e3b4159" /><Relationship Type="http://schemas.openxmlformats.org/officeDocument/2006/relationships/notesMaster" Target="/ppt/notesMasters/notesMaster1.xml" Id="Re242ac4c6b7f408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8ee259fbdb345d7" /><Relationship Type="http://schemas.openxmlformats.org/officeDocument/2006/relationships/notesMaster" Target="/ppt/notesMasters/notesMaster1.xml" Id="Rc191ae857ab142a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50152d79ad64d4f" /><Relationship Type="http://schemas.openxmlformats.org/officeDocument/2006/relationships/notesMaster" Target="/ppt/notesMasters/notesMaster1.xml" Id="R4d4a66e712e34da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Відділити AI для розробки від Model Judgment усередині продукту. Перше змінює виробництво software, друге — поведінку системи. Не починати з реклами UA чи anti-AI тези.</a:t>
            </a:r>
          </a:p>
          <a:p xmlns:a="http://schemas.openxmlformats.org/drawingml/2006/main">
            <a:r>
              <a:t>Ілюстрація показує конкретні ролі: зліва розробник працює з AI coding assistant, справа користувач просить продукт скласти план подорожі. AI-generated illustration, OpenAI imagegen, 21 September 2026. Вона не задає архітектуру системи. Prompt: artwork/PROVENANCE.md.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transition — функціональна рамка, не фізичний закон. Cognition-like operations: інтерпретація запиту, зіставлення контексту, пропозиція коду чи плану. Engineering consequence: ми задаємо контекст, інструменти, межі та перевірку поведінки.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Theory of Constraints (Goldratt): оптимізуємо потік через реальне обмеження системи. Якщо coding не bottleneck, його прискорення саме по собі не збільшує пропускну здатність delivery. Якщо був bottleneck, після зміни обмеження може переміститися. AI може змінювати Intent і Design так само, як Review, Test, Integration, Deploy та Operate; знак і величину ефекту треба вимірювати.</a:t>
            </a:r>
          </a:p>
          <a:p xmlns:a="http://schemas.openxmlformats.org/drawingml/2006/main">
            <a:r>
              <a:t>Навчальний приклад, не дослідження. ДО AI: code виробляє 8 змін/тиждень, review може опрацювати 8, integration може інтегрувати 8. Потік збалансований. ПІСЛЯ AI: генерація коду зростає до 100 зіставних змін/тиждень, але review та integration лишаються на 8. Інші етапи не прискорилися автоматично. За незмінної потужності та push без WIP limits/відкидання роботи загальний backlog зростає на 100 − 8 = 92 зміни за тиждень. Integration позначено як умовний bottleneck, не універсальний bottleneck команд.</a:t>
            </a:r>
          </a:p>
          <a:p xmlns:a="http://schemas.openxmlformats.org/drawingml/2006/main">
            <a:r>
              <a:t>Це не твердження, що будь-яка оптимізація не-bottleneck автоматично погіршує систему: економія витрат або вільна потужність теж можуть бути корисні. Черга виникає, коли реально збільшується надходження понад вихід. Rework, більші batches, затриманий feedback і тиск на review можуть погіршити якість; це механізм ризику, а не математично неминучий ефект. Джерела й межі: evidence/toc-wip.md.</a:t>
            </a:r>
          </a:p>
          <a:p xmlns:a="http://schemas.openxmlformats.org/drawingml/2006/main">
            <a:r>
              <a:t>На слайді немає фонового зображення чи стрілок: етапи з’єднані короткими нейтральними лініями.</a:t>
            </a:r>
          </a:p>
          <a:p xmlns:a="http://schemas.openxmlformats.org/drawingml/2006/main">
            <a:r>
              <a:t/>
            </a:r>
          </a:p>
          <a:p xmlns:a="http://schemas.openxmlformats.org/drawingml/2006/main">
            <a:r>
              <a:t>Sources:</a:t>
            </a:r>
          </a:p>
          <a:p xmlns:a="http://schemas.openxmlformats.org/drawingml/2006/main">
            <a:r>
              <a:t>https://dora.dev/capabilities/wip-limits/</a:t>
            </a:r>
          </a:p>
          <a:p xmlns:a="http://schemas.openxmlformats.org/drawingml/2006/main">
            <a:r>
              <a:t>https://dora.dev/capabilities/working-in-small-batches/</a:t>
            </a:r>
          </a:p>
          <a:p xmlns:a="http://schemas.openxmlformats.org/drawingml/2006/main">
            <a:r>
              <a:t>https://www.nber.org/papers/w35275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NBER WP 35275: May 2026, revised September 2026; current official PDF downloaded 2026-09-21. Понад 500 тисяч GitHub developers; matched event study, не RCT. Попередні 17.3× / 2.8×, 79→86% та 18→31% належали старій редакції й замінені. Changed LOC = additions + deletions, не чисте зростання кодової бази.</a:t>
            </a:r>
          </a:p>
          <a:p xmlns:a="http://schemas.openxmlformats.org/drawingml/2006/main">
            <a:r>
              <a:t>Table 6, друкована с.33 / PDF p.35, тижні 21–30: Autocomplete — LOC +234.3%, files +50.0%, commits +30.2%, PRs +18.3%, repos +11.9%, releases +9.0%. Sync — LOC +957.5%, files +265.0%, commits +153.2%, PRs +86.0%, repos +47.3%, releases +19.8%. Async — LOC +1254.9%, files +83.3%, commits +60.7%, PRs +68.5%, repos +19.2%; releases не оцінено окремо. Figure 1, друкована с.2 / PDF p.4: авторські округлені cumulative levels — LOC 25.5×, files 5.0×, commits 3.4×, PRs 2.7×, repos 1.8×, releases 1.3×. Арифметика за округленою Table 6: 1+(234.3+957.5+1254.9)/100=25.467; commits 1+(30.2+153.2+60.7)/100=3.441; releases 1+(9.0+19.8)/100=1.288. Не перемножувати компоненти і не видавати ці суми за точні raw-data estimates. Прочерк async releases не означає нульового ефекту.</a:t>
            </a:r>
          </a:p>
          <a:p xmlns:a="http://schemas.openxmlformats.org/drawingml/2006/main">
            <a:r>
              <a:t>Figure 11, друкована с.44 / PDF p.46; §7.2, с.43–46: iOS нові apps/month приблизно 33–45 тисяч у 2023–early 2025 → 108 тисяч у квітні 2026; Android 42 тисячі у січні 2025 → 99 тисяч у mid-2026; Chrome приблизно семикратне зростання від 2023, що почалося до agentic era. SourceForge показує невелике зростання new projects і винесений у Figure OA-17, без надійної usage-панелі. Usage за перші 3 місяці: iOS cohort ratings приблизно стабільні; Android downloads помірно зростають, але значно повільніше за entry; Chrome downloads падають. Тому коректно «usage does not keep pace», а не «usage ніде не зростає».</a:t>
            </a:r>
          </a:p>
          <a:p xmlns:a="http://schemas.openxmlformats.org/drawingml/2006/main">
            <a:r>
              <a:t>§7.2.3, друкована с.46 / PDF p.48: January 2025 → April 2026, частка iOS із &lt;10 ratings приблизно 78% → 87%; Chrome із &lt;10 downloads 19% → 33%; Android із ≤100 downloads приблизно 22% → 26%. Авторські цілі відсотки; не точні частки з raw data. Це порівняння нових когорт за перші 3 місяці, не всіх existing apps, не весь software market і не пряме вимірювання consumer welfare. Зміни часток приблизно +9/+14/+4 відсоткових пункти відповідно.</a:t>
            </a:r>
          </a:p>
          <a:p xmlns:a="http://schemas.openxmlformats.org/drawingml/2006/main">
            <a:r>
              <a:t>DORA 2025 v.2025.2: повний звіт отримано через публічне дзеркало; source URL, license і SHA-256 записано в evidence/sources.json. Figure 28, p.38: software delivery instability має standardized estimate приблизно +0.10 SD, 89% credible interval приблизно +0.07…+0.13, на +1 SD AI adoption. Це округлене зчитування графіка, не точна опублікована числова таблиця. Векторні координати та арифметика — evidence/dora-2025-figure28.json. Footnote 23, p.48 визначає стандартизацію. Appendix p.139: instability об’єднує change failure rate та deployment rework rate, тобто частку незапланованих deployments для виправлення user-facing bugs. Це оцінки респондентів у cross-sectional survey, не телеметрія CI/CD і не доведений причинний ефект. Не перекладати +0.10 SD як +10% failures. &gt;80% і 59% — частки респондентів, які повідомляють про покращення productivity та code quality. Перевірений коефіцієнт 2024 +7.2% тут не підставляємо. Деталі: evidence/dora-2025.md.</a:t>
            </a:r>
          </a:p>
          <a:p xmlns:a="http://schemas.openxmlformats.org/drawingml/2006/main">
            <a:r>
              <a:t>METR, 11 травня 2026: 349 technical workers; 1.4–2× medians across 3 self-reported work-value questions; це не credible/confidence interval, 3× self-reported speed; є selection bias. Старий RCT 2025 із +19% часу — лише історичний контекст.</a:t>
            </a:r>
          </a:p>
          <a:p xmlns:a="http://schemas.openxmlformats.org/drawingml/2006/main">
            <a:r>
              <a:t>GitClear 2026: частка moved code у changed lines 13% (2023) → 3.8% (YTD 2026), не кількість refactoring tasks і не весь reuse. Частота duplicated blocks приблизно +81% за цей період. Copy/paste share 9.4% (2022) → 15.7% (H1 2026), інший baseline. Публічне резюме GitClear 2026 прямо повідомляє +15% two-week code churn: частка нещодавно написаних рядків, переписаних/видалених упродовж двох тижнів. Це відносна зміна, не +15 відсоткових пунктів і не частка дефектів. Резюме не дає окремої пари базових значень churn. Function connectivity: 343 → 223 calls/1000 changed lines, 2023 → YTD 2026, приблизно −35%. Це щільність викликів, не весь reuse. Legacy update share: 1.7% → 0.46%; вступ каже 2022, детальний абзац 2023, тому baseline суперечливий і показник лишається в нотатках. Не змішувати churn, duplication та refactoring. Текст і графік 2026 суперечать щодо абсолютної одиниці duplication, тому залишаємо тільки відносні +81%. Це observational proxies, не причинний ефект AI. Деталі: evidence/gitclear.md.</a:t>
            </a:r>
          </a:p>
          <a:p xmlns:a="http://schemas.openxmlformats.org/drawingml/2006/main">
            <a:r>
              <a:t>Xu, v3 від січня 2026, дані 2020–22: top activity quartile — commits −19%, reviews +6.5%; bottom quartile — commits +43.5%, PRs +17.7%; rework +2.4%. Це не кадрові грейди й не агенти 2026 року.</a:t>
            </a:r>
          </a:p>
          <a:p xmlns:a="http://schemas.openxmlformats.org/drawingml/2006/main">
            <a:r>
              <a:t>Agarwal, v2, Table 2: complexity Agent-first +34.85% / IDE-first +42.87%, warnings +17.73/+19.00%; зміна IDE-first warnings статистично незначуща. Не трактувати це як борг на одну фічу.</a:t>
            </a:r>
          </a:p>
          <a:p xmlns:a="http://schemas.openxmlformats.org/drawingml/2006/main">
            <a:r>
              <a:t>DORA: позитивний зв’язок AI adoption з throughput одночасно з негативним зі stability. Small batches, p.58: сильніший позитивний зв’язок AI із product performance та менше friction, хоча індивідуальні gains можуть бути меншими. ToC / review-testing-integration queues, p.81. Це мотивує системну оптимізацію на слайді 7, не доводить універсальну причинність.</a:t>
            </a:r>
          </a:p>
          <a:p xmlns:a="http://schemas.openxmlformats.org/drawingml/2006/main">
            <a:r>
              <a:t>Повторна числова перевірка 2026-09-21: DORA Fig.28 vector coordinates та сторінку звірено повторно; коефіцієнт і межі лише приблизні. &gt;80% збережено як авторський поріг: сума округлених bars 41+31+13=85 не встановлює точного агрегату. GitClear calls 343→223 дають приблизно −35%; +81% — авторське округлення, +15% churn — число з резюме без окремої baseline-пари. Точний місяць публікації GitClear не підтверджено на перевіреній сторінці, тому на екрані лише 2026. Див. EVIDENCE.md та відповідні локальні нотатки.</a:t>
            </a:r>
          </a:p>
          <a:p xmlns:a="http://schemas.openxmlformats.org/drawingml/2006/main">
            <a:r>
              <a:t>Пояснення GitClear: Moved-code share — частка змінених рядків, класифікованих як переміщений наявний код. 3.8−13=−9.2 відсоткового пункту; (3.8/13−1)×100=−70.769…%, на екрані −70.8%. Це proxy активності рефакторингу: менша частка переміщень може означати менше реорганізації та повторного використання коду, але не кожне переміщення корисне і не весь рефакторинг є переміщенням. Calls / 1k changed lines — кількість викликів інших методів або функцій у новому коді на 1000 змінених рядків, не API throughput. 223−343=−120; (223/343−1)×100=−34.9854…%, приблизно −35%. GitClear трактує вищу щільність як більшу зв’язність нового й наявного коду. Менша може означати слабше reuse, але менша зв’язність іноді бажана; перевіряти дизайн і дублювання. Падіння цих двох proxy — привід перевірити підтримуваність, не автоматичний висновок про погану якість чи причинність AI. *Період 2023→YTD 2026 стосується moved/calls/duplication; для reported churn +15% окремої базової пари немає.</a:t>
            </a:r>
          </a:p>
          <a:p xmlns:a="http://schemas.openxmlformats.org/drawingml/2006/main">
            <a:r>
              <a:t/>
            </a:r>
          </a:p>
          <a:p xmlns:a="http://schemas.openxmlformats.org/drawingml/2006/main">
            <a:r>
              <a:t>Sources:</a:t>
            </a:r>
          </a:p>
          <a:p xmlns:a="http://schemas.openxmlformats.org/drawingml/2006/main">
            <a:r>
              <a:t>https://www.nber.org/papers/w35275</a:t>
            </a:r>
          </a:p>
          <a:p xmlns:a="http://schemas.openxmlformats.org/drawingml/2006/main">
            <a:r>
              <a:t>https://cloud.google.com/blog/products/ai-machine-learning/announcing-the-2025-dora-report</a:t>
            </a:r>
          </a:p>
          <a:p xmlns:a="http://schemas.openxmlformats.org/drawingml/2006/main">
            <a:r>
              <a:t>https://metr.org/blog/2026-05-11-ai-usage-survey/</a:t>
            </a:r>
          </a:p>
          <a:p xmlns:a="http://schemas.openxmlformats.org/drawingml/2006/main">
            <a:r>
              <a:t>https://www.gitclear.com/the_ai_code_quality_maintainability_gap</a:t>
            </a:r>
          </a:p>
          <a:p xmlns:a="http://schemas.openxmlformats.org/drawingml/2006/main">
            <a:r>
              <a:t>https://arxiv.org/html/2510.10165v3</a:t>
            </a:r>
          </a:p>
          <a:p xmlns:a="http://schemas.openxmlformats.org/drawingml/2006/main">
            <a:r>
              <a:t>https://arxiv.org/html/2601.13597v2</a:t>
            </a:r>
          </a:p>
          <a:p xmlns:a="http://schemas.openxmlformats.org/drawingml/2006/main">
            <a:r>
              <a:t>https://dora.dev/research/2025/2025-DORA-Report-Infographic.pdf</a:t>
            </a:r>
          </a:p>
          <a:p xmlns:a="http://schemas.openxmlformats.org/drawingml/2006/main">
            <a:r>
              <a:t>https://www.gitclear.com/ai_assistant_code_quality_2025_research</a:t>
            </a:r>
          </a:p>
          <a:p xmlns:a="http://schemas.openxmlformats.org/drawingml/2006/main">
            <a:r>
              <a:t>https://www.shaunabram.com/wp-content/uploads/2025/10/2025_state_of_ai_assisted_software_development.pdf</a:t>
            </a:r>
          </a:p>
          <a:p xmlns:a="http://schemas.openxmlformats.org/drawingml/2006/main">
            <a:r>
              <a:t>https://dora.dev/research/2025/questions/</a:t>
            </a:r>
          </a:p>
          <a:p xmlns:a="http://schemas.openxmlformats.org/drawingml/2006/main">
            <a:r>
              <a:t>https://www.gitclear.com/industry_stats/ai_code_quality_signal_graphs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Концептуальний сценарій: генерація зростає значно швидше за майже незмінну спроможність цієї команди розуміти й перевіряти код. Горизонтальна людська лінія — припущення сценарію, не біологічна межа: AI, навчання й кращі інструменти можуть допомагати comprehension. YES стосується прискорення генерації; NOT AT THIS RATE — нездатності review в цьому сценарії встигати за заданим потоком. Знак питання про 5 років — ризик довгострокового розуміння, не емпіричний прогноз втрати знань. Comprehension debt тут рамка ризику, не готова метрика. Ні NBER, ні GitClear не вимірювали ці криві.</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 кодогенератор сам є технічною системою: обмеження контексту, доступних інструментів, модельних можливостей і надійності роблять його потенційною точкою відмови у delivery та recovery. Особливо в складному проекті ця залежність належить risk analysis і плану реагування. Умовний інцидент: сервіс недоступний; AI не знаходить придатного fix у межах дозволеного бюджету спроб. Команда спершу обмежує наслідки, використовує безпечний rollback/fallback де можливо, зупиняє безрезультатний цикл. Далі люди відновлюють розуміння задуму, інваріантів і залежностей, локалізують причину та пропонують fix. Перевірка repair і відновлення відбуваються під incident owner. Containment може йти паралельно з діагностикою; схема показує відповідальність, а не обов’язкове очікування відмови AI перед реагуванням. Генератор може продовжувати допомагати, але команда мусить мати перевірену спроможність діяти без його успіху. Не кожна людина пам’ятає всі рядки: потрібна достатня колективна спроможність. Watch / Explore перенесено на слайд 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Watch і Explore перенесено зі слайда 6 та конкретизовано. Watch: review age, batch size, WIP; churn/duplication/reuse/complexity; зміни без owner та застаріла документація; практична здатність людей діагностувати й відновити систему. Це індикатори, не готовий індекс comprehension. Explore: small batches/WIP limits, spec-driven development та living architecture з code+docs review, repository intelligence для залежностей/owners, recovery drills без успішного AI. Для кожної практики перевіряти end-to-end lead time, rework, stability і recovery, а не generated LOC. DORA 2025 p.58 мотивує small batches, p.81 розглядає ToC і downstream queues. Документація й RI не мають тут доведеної універсальної ефективності. Потрібні baseline, актуальність і практична перевірка. Old equilibrium спрощений; попередня автоматизація не заперечується. Pivot: AI змінює не лише спосіб розробки, а й сам продукт.</a:t>
            </a:r>
          </a:p>
          <a:p xmlns:a="http://schemas.openxmlformats.org/drawingml/2006/main">
            <a:r>
              <a:t/>
            </a:r>
          </a:p>
          <a:p xmlns:a="http://schemas.openxmlformats.org/drawingml/2006/main">
            <a:r>
              <a:t>Sources:</a:t>
            </a:r>
          </a:p>
          <a:p xmlns:a="http://schemas.openxmlformats.org/drawingml/2006/main">
            <a:r>
              <a:t>https://dora.dev/capabilities/wip-limits/</a:t>
            </a:r>
          </a:p>
          <a:p xmlns:a="http://schemas.openxmlformats.org/drawingml/2006/main">
            <a:r>
              <a:t>https://www.shaunabram.com/wp-content/uploads/2025/10/2025_state_of_ai_assisted_software_development.pdf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Thinking Systems — інженерна категорія, не твердження про свідомість. Формули — спрощений контраст. Точніше P(y | x, c, m): контекст, модель і конфігурація також мають значення. Стабільне повторення не гарантує істинності. Наскрізний умовний кейс: IT-асистент використовує дозволені джерела, але не має права на неавторизовані зміни доступу.</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https://github.com/UncertaintyArchitectureGroup/uncertainty-architecture/blob/main/00-doctrine/uncertainty-in-the-controlled-object.md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Наскрізний приклад: внутрішній IT-асистент. Зліва — точний перехід Button A → Window B, permissions та інваріанти, які залишаються вимогами. Справа — додаткові вимоги до варіативної поведінки. Дозволено пояснити затверджену статтю підтримки різними словами, зберігаючи зміст і необхідні кроки. За відсутності контексту потрібно уточнити або ескалувати. Не можна вигадувати операційні кроки, розкривати чужі дані або виконувати дію в обхід approval. Одна картинка з областю сама не задає точного вимірюваного контракту.</a:t>
            </a:r>
          </a:p>
          <a:p xmlns:a="http://schemas.openxmlformats.org/drawingml/2006/main">
            <a:r>
              <a:t>Мовний розрив: природна мова неоднозначна; prompt не є точним описом усіх можливих відповідей. Теза «стандартів немає» надто категорична: ISO/IEC 25059:2023 надає quality model і узгоджену термінологію, NIST AI RMF — контекстне управління ризиком, GenAI Profile — спільне з domain experts документування допустимого використання. Вони не підставляють готові семантичні межі й прийнятність наслідків для нашого продукту. Не стверджуємо доведеної відсутності будь-якої формальної мови.</a:t>
            </a:r>
          </a:p>
          <a:p xmlns:a="http://schemas.openxmlformats.org/drawingml/2006/main">
            <a:r>
              <a:t>Практична пропозиція доповіді: Product Manager та BA разом із бізнесом збирають сценарії, приклади, контрприклади, клас наслідків і потрібну реакцію; фіксують rubric, джерело правила й того, хто його погоджує. CheckList (Ribeiro et al., ACL 2020) пропонує capability × test-type підхід до поведінкових перевірок NLP. Це допомога у формулюванні перевірок, не універсальний стандарт semantic acceptance. Project Manager планує доступ до stakeholders, рішення та залежності; не вигадує толерантність за бізнес.</a:t>
            </a:r>
          </a:p>
          <a:p xmlns:a="http://schemas.openxmlformats.org/drawingml/2006/main">
            <a:r>
              <a:t>Вимога ширша за Operating Envelope; точні інтерфейси, заборони й інваріанти зберігаються. BA/Product не зобов’язані самі вивести статистичний поріг: це спільна робота з бізнесом, QA, розробниками й власником ризику. Ролі описують відповідальність, не новий headcount.</a:t>
            </a:r>
          </a:p>
          <a:p xmlns:a="http://schemas.openxmlformats.org/drawingml/2006/main">
            <a:r>
              <a:t/>
            </a:r>
          </a:p>
          <a:p xmlns:a="http://schemas.openxmlformats.org/drawingml/2006/main">
            <a:r>
              <a:t>Sources:</a:t>
            </a:r>
          </a:p>
          <a:p xmlns:a="http://schemas.openxmlformats.org/drawingml/2006/main">
            <a:r>
              <a:t>https://www.iso.org/standard/80655.html</a:t>
            </a:r>
          </a:p>
          <a:p xmlns:a="http://schemas.openxmlformats.org/drawingml/2006/main">
            <a:r>
              <a:t>https://nvlpubs.nist.gov/nistpubs/ai/NIST.AI.100-1.pdf</a:t>
            </a:r>
          </a:p>
          <a:p xmlns:a="http://schemas.openxmlformats.org/drawingml/2006/main">
            <a:r>
              <a:t>https://nvlpubs.nist.gov/nistpubs/ai/NIST.AI.600-1.pdf</a:t>
            </a:r>
          </a:p>
          <a:p xmlns:a="http://schemas.openxmlformats.org/drawingml/2006/main">
            <a:r>
              <a:t>https://aclanthology.org/2020.acl-main.442/</a:t>
            </a:r>
          </a:p>
          <a:p xmlns:a="http://schemas.openxmlformats.org/drawingml/2006/main">
            <a:r>
              <a:t>https://github.com/UncertaintyArchitectureGroup/uncertainty-architecture/blob/main/00-doctrine/requirements-correctness-and-bugs.md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Статистичне оцінювання доповнює unit, integration, security та deterministic tests. Потрібно окремо оцінити: а) частоту виходу за погоджені межі; б) силу/тяжкість наслідку. «Сила відхилення» не має універсальної числової шкали: для latency це мілісекунди понад межу, для грошей — збиток, для semantic output — погоджена rubric і класи наслідків. Середній score або embedding distance сам по собі не встановлює business harm. Хвости й критичні групи оцінюємо окремо, а не приховуємо добрим агрегатом.</a:t>
            </a:r>
          </a:p>
          <a:p xmlns:a="http://schemas.openxmlformats.org/drawingml/2006/main">
            <a:r>
              <a:t>Навчальний приклад, не реальні дані і не рекомендований sample size: 200 незалежних репрезентативно відібраних evaluation units із одного стабільного цільового розподілу; 196 прийнятних, 4 неприйнятні. Серед чотирьох: 3 неправильні інструкції та 1 витік даних. 4/200=2%; 196/200=98%. Двосторонній 95% Wilson score interval для частки неприйнятних: [0.780443%, 5.028709%], на слайді ≈0.8%–5.0%. Метод і формула — NIST Engineering Statistics Handbook §7.2.4.1. Інтервал відображає sampling uncertainty за припущень; не дає 95% ймовірності, що конкретний майбутній результат безпечний, і не гарантує поведінки після зміни контексту. Не можна рахувати повтори того самого кейсу як незалежні representative cases. Розмір вибірки, dependence, subgroup coverage, множинні порівняння, невизначеність оцінювача й baseline планують під рішення.</a:t>
            </a:r>
          </a:p>
          <a:p xmlns:a="http://schemas.openxmlformats.org/drawingml/2006/main">
            <a:r>
              <a:t>У прикладі витік порушує обов’язкову вимогу, тому release блокується незалежно від 98% aggregate acceptance. Відсутність витоків у тесті також не доводила б неможливості витоку: потрібні permissions, isolation, gate та перевірка припущень їх роботи.</a:t>
            </a:r>
          </a:p>
          <a:p xmlns:a="http://schemas.openxmlformats.org/drawingml/2006/main">
            <a:r>
              <a:t>Звідки взяти tolerance? QA не винаходить його. Product Manager та BA обговорюють із бізнесом зрозумілі сценарії: скільки ручного виправлення витримає support; кому і яку шкоду завдасть помилка; що треба технічно унеможливити; коли прийнятні уточнення або ручний шлях. Технічна команда перетворює це на measurement plan, оцінку частот, severity, confidence та тригери. Уповноважений власник ризику/релізу погоджує допустимість у конкретному scope. Project Manager організовує ці рішення до обіцянки релізу.</a:t>
            </a:r>
          </a:p>
          <a:p xmlns:a="http://schemas.openxmlformats.org/drawingml/2006/main">
            <a:r>
              <a:t>Model drift пояснюємо бізнесу як зміну спостережуваних результатів/навантаження/наслідків за нової версії чи контексту, а не вимагаємо від stakeholders знання статистичних термінів. QA підтримує golden/reference sets, coverage, calibration із domain experts і перевірки підгруп. Developers роблять versioning, instrumentation, відтворювані evaluation runs і regression comparison. Пороги та rubric версіонуються; evidence для release перевіряється окремо від набору, на якому їх підбирали.</a:t>
            </a:r>
          </a:p>
          <a:p xmlns:a="http://schemas.openxmlformats.org/drawingml/2006/main">
            <a:r>
              <a:t/>
            </a:r>
          </a:p>
          <a:p xmlns:a="http://schemas.openxmlformats.org/drawingml/2006/main">
            <a:r>
              <a:t>Sources:</a:t>
            </a:r>
          </a:p>
          <a:p xmlns:a="http://schemas.openxmlformats.org/drawingml/2006/main">
            <a:r>
              <a:t>https://nvlpubs.nist.gov/nistpubs/ai/NIST.AI.100-1.pdf</a:t>
            </a:r>
          </a:p>
          <a:p xmlns:a="http://schemas.openxmlformats.org/drawingml/2006/main">
            <a:r>
              <a:t>https://nvlpubs.nist.gov/nistpubs/ai/NIST.AI.600-1.pdf</a:t>
            </a:r>
          </a:p>
          <a:p xmlns:a="http://schemas.openxmlformats.org/drawingml/2006/main">
            <a:r>
              <a:t>https://www.itl.nist.gov/div898/handbook/prc/section2/prc241.htm</a:t>
            </a:r>
          </a:p>
          <a:p xmlns:a="http://schemas.openxmlformats.org/drawingml/2006/main">
            <a:r>
              <a:t>https://aclanthology.org/2020.acl-main.442/</a:t>
            </a:r>
          </a:p>
          <a:p xmlns:a="http://schemas.openxmlformats.org/drawingml/2006/main">
            <a:r>
              <a:t>https://github.com/UncertaintyArchitectureGroup/uncertainty-architecture/blob/main/01-patterns/thinking-system-review.md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Конкретизуємо абстрактні risk contracts через deliverables розробників для того самого IT-асистента. READY: визначено аудиторію, дозволені джерела, заборонені дії, приклади/rubric, evaluation plan, критичні залежності й власника ручного шляху. Якщо tolerance або feasibility ще невідомі, команда може бути Ready до обмеженого експерименту з питанням, бюджетом, stop condition та owner; це не дозвіл на production.</a:t>
            </a:r>
          </a:p>
          <a:p xmlns:a="http://schemas.openxmlformats.org/drawingml/2006/main">
            <a:r>
              <a:t>DONE: developer поставляє відтворювану конфігурацію model version, prompt, retrieval/data snapshot, tool schema, policy та permissions; результати deterministic, behavioral і control-path tests; посилання на evaluation evidence, coverage й обмеження. Перевірені deny-path, unavailable-control behavior, telemetry та фактичний rollback/manual fallback. QA звіряє evaluation method і results, а не одноосібно приймає business risk. Для слайда скорочено до model/prompt/data; повний список тут.</a:t>
            </a:r>
          </a:p>
          <a:p xmlns:a="http://schemas.openxmlformats.org/drawingml/2006/main">
            <a:r>
              <a:t>RELEASE: ідентифіковано саме цю версію, population, tool authority, exposure, monitoring, stop triggers, оперативного owner та fallback capacity. Уповноважена особа приймає залишковий ризик у межах повноважень або звужує scope, відкладає чи відхиляє реліз. Прийняття ризику не скасовує обов’язкову заборону й не розширює успадковану project authority. Попередній toy-example із privacy breach не пройде цей gate.</a:t>
            </a:r>
          </a:p>
          <a:p xmlns:a="http://schemas.openxmlformats.org/drawingml/2006/main">
            <a:r>
              <a:t>Розробник тепер здає не лише endpoint, а відтворювану поведінку, evidence і працездатний recovery path. Project Manager відстежує незакриті залежності/рішення та не прирівнює Done до Ship. Ролі можуть поєднуватись однією людиною; достатньо існуючого review artifact, новий комітет не потрібний.</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https://github.com/UncertaintyArchitectureGroup/uncertainty-architecture/blob/main/00-doctrine/nested-control-lifecycle.md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Наскрізний IT-асистент: approved context → model proposal → deterministic permission/approval gate → support tool. Модель пропонує дію; тільки gate дозволяє виконання в межах allowlist, user permissions і required approval. Приклад передбачає відсутність обхідного шляху; за недоступного gate дію відхиляють і пропонують ручний шлях. Схема показує конкретний tool-action path, не універсальну топологію всіх Thinking Systems і не гарантію семантичної коректності довільного тексту. User-facing answer path потребує власних scoped controls.</a:t>
            </a:r>
          </a:p>
          <a:p xmlns:a="http://schemas.openxmlformats.org/drawingml/2006/main">
            <a:r>
              <a:t>Нижній цикл: Observe збирає outcomes, incidents, затримку, fallback load, стан gate, bypass attempts, execution/effects корекцій. Compare/authorize зіставляє їх із явно показаними Approved operating limits; відповідальний Controller або людина вирішує, що дозволено змінити. Apply correction виконує rollback/disable/manual fallback у межах delegated authority. Зворотний зв’язок показує зміну operation; технічно correction може діяти на routing, tool access, model/configuration або реалізацію gate. Наступне спостереження підтверджує, чи action справді виконано й мало потрібний ефект.</a:t>
            </a:r>
          </a:p>
          <a:p xmlns:a="http://schemas.openxmlformats.org/drawingml/2006/main">
            <a:r>
              <a:t>Architect визначає enforced boundary, permissions, isolation, telemetry, decision rights, ефективні actuators, час реакції та fallback capacity. Prompt або probabilistic semantic detector сам собою не є Hard Constraint. Прямий deterministic gate може давати scoped hard claim тільки з перевіреним complete path та явними припущеннями. Developers реалізують і тестують paths; QA перевіряє bypass, degradation, false blocks і recovery; operational owner має повноваження та runbook.</a:t>
            </a:r>
          </a:p>
          <a:p xmlns:a="http://schemas.openxmlformats.org/drawingml/2006/main">
            <a:r>
              <a:t>Project Manager планує operational ownership, rehearsal і залежності, а не закриває проект після deploy. Зміна в межах delivery authority допускає локальну корекцію; розширення tool authority, population чи invalidated business/control assumptions повертається до project reauthorization. Автоматичне відхилення/rollback не повинно непомітно розширювати повноваження.</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https://github.com/UncertaintyArchitectureGroup/uncertainty-architecture/blob/main/00-doctrine/control-loop-anatomy.md</a:t>
            </a:r>
          </a:p>
          <a:p xmlns:a="http://schemas.openxmlformats.org/drawingml/2006/main">
            <a:r>
              <a:t>https://github.com/UncertaintyArchitectureGroup/uncertainty-architecture/blob/main/00-doctrine/nested-control-lifecycle.md</a:t>
            </a:r>
          </a:p>
          <a:p xmlns:a="http://schemas.openxmlformats.org/drawingml/2006/main">
            <a:r>
              <a:t>https://github.com/UncertaintyArchitectureGroup/uncertainty-architecture/blob/main/01-patterns/thinking-system-review.md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Стара презентація Designing Non-Deterministic Systems, slide 20 Welcome to the Laboratory, дає педагогічну метафору Hypothesize → Measure → Adapt. Тут не стверджуємо, що Scrum або попередня інженерія не були емпіричними. Процес додає явно керований цикл поведінкових гіпотез, measurement та адаптації поряд зі звичайним delivery. Titles/order цієї 14-slide доповіді збережено.</a:t>
            </a:r>
          </a:p>
          <a:p xmlns:a="http://schemas.openxmlformats.org/drawingml/2006/main">
            <a:r>
              <a:t>Project Manager відрізняється від Product Manager. Product разом із BA та бізнесом уточнює цінність, наслідки й acceptance; Project Manager організовує delivery і навчання: stakeholder availability, dependencies, доступ до даних/domain experts, evaluation cost, час на аналіз і remediation, decision latency, release/operations readiness. Він не стає одноосібним власником risk acceptance.</a:t>
            </a:r>
          </a:p>
          <a:p xmlns:a="http://schemas.openxmlformats.org/drawingml/2006/main">
            <a:r>
              <a:t>Planning: backlog містить не тільки features, а й перевірювані невідомі, наприклад «чи достатньо approved knowledge для типових support cases?». Для trial фіксуємо питання, hypothesis, evidence plan, ресурсну межу, owner і stop condition; якщо треба — погоджений обмежений scope до остаточних tolerance. Sprint review: разом зі working software показуємо versioned evidence, проблемні групи, consequences, uncertainty та unresolved decisions. Результат може бути accept, redesign, narrow, bounded further trial або stop. Це корисний результат роботи, а не автоматична невдача спринту, якщо доказано, що задум нежиттєздатний.</a:t>
            </a:r>
          </a:p>
          <a:p xmlns:a="http://schemas.openxmlformats.org/drawingml/2006/main">
            <a:r>
              <a:t>Release/operate: окремо від Done підтверджуємо authorization конкретного rollout, monitoring, on-call/ручний шлях і їхню місткість; runtime evidence повертає backlog і за потреби project reauthorization. Не рахувати кількість проведених експериментів як цінність саму по собі: прогрес — робоча capability, зменшення матеріальної невизначеності та прийняте рішення. Один живий review artifact і звичні командні події можуть містити ці записи; не потрібні нові ролі або комітет.</a:t>
            </a:r>
          </a:p>
          <a:p xmlns:a="http://schemas.openxmlformats.org/drawingml/2006/main">
            <a:r>
              <a:t>Розподіл 9–13: Product + BA формулюють acceptance; QA + Developers роблять measurement; Developers доставляють evidence/recovery package; Architect замикає bounded control; Project Manager координує весь цикл, рішення, бюджет і залежності.</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https://github.com/UncertaintyArchitectureGroup/uncertainty-architecture/blob/main/00-doctrine/nested-control-lifecycle.md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Повертаємо HOW і WHAT із першого слайда, тепер із конкретними ролями й процесом. HOW: швидше створювати код недостатньо — команда зберігає comprehension та ownership, Project Manager організовує flow, evidence, залежності та рішення. Малими партіями й обмеженими експериментами перевіряємо невідомі. WHAT: Product + BA узгоджують acceptance з бізнесом; QA + Developers створюють калібровані докази й реалізацію; Architect проектує ефективні control paths; уповноважений release owner приймає scope і residual risk у своїх межах. Це розширення, а не вичерпні нові job descriptions або передача відповідальності одній ролі.</a:t>
            </a:r>
          </a:p>
          <a:p xmlns:a="http://schemas.openxmlformats.org/drawingml/2006/main">
            <a:r>
              <a:t>Головна зміна процесу: hypothesize → measure → decide → adapt, з робочим software, явними business outcomes і runtime feedback. Детерміновані requirements, tests та delivery discipline залишаються; додається контроль варіативної поведінки і наслідків. Немає нових чисел, нової архітектурної нормативності чи реклами UA.</a:t>
            </a:r>
          </a:p>
          <a:p xmlns:a="http://schemas.openxmlformats.org/drawingml/2006/main">
            <a:r>
              <a:t>Фінал: «AI розширює наші можливості. Команда все одно відповідає за систему цілком: як ми її будуємо, яку поведінку дозволяємо, на яких доказах випускаємо і як виправляємо відхилення». Пауза, Q&amp;A.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447328d7eb9427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530b759df0044e8" /><Relationship Type="http://schemas.openxmlformats.org/officeDocument/2006/relationships/slideLayout" Target="/ppt/slideLayouts/slideLayout1.xml" Id="R72ce9264534549c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2ce9264534549c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992e54c97054b14" /><Relationship Type="http://schemas.openxmlformats.org/officeDocument/2006/relationships/image" Target="/ppt/media/image.png" Id="Rb80249dc38b54a59" /><Relationship Type="http://schemas.openxmlformats.org/officeDocument/2006/relationships/notesSlide" Target="/ppt/notesSlides/notesSlide1.xml" Id="R05317c9902f3433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50f87a77a7d44ac" /><Relationship Type="http://schemas.openxmlformats.org/officeDocument/2006/relationships/notesSlide" Target="/ppt/notesSlides/notesSlide2.xml" Id="R22e2bab7a19b48e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b22399bda6d4719" /><Relationship Type="http://schemas.openxmlformats.org/officeDocument/2006/relationships/notesSlide" Target="/ppt/notesSlides/notesSlide3.xml" Id="R24ba5a38db7c492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726b330d11a4776" /><Relationship Type="http://schemas.openxmlformats.org/officeDocument/2006/relationships/notesSlide" Target="/ppt/notesSlides/notesSlide4.xml" Id="R4ad01e04c69d4d8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9e10af983b2477e" /><Relationship Type="http://schemas.openxmlformats.org/officeDocument/2006/relationships/notesSlide" Target="/ppt/notesSlides/notesSlide5.xml" Id="R3cc025de17bf41a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49a3a6026674d51" /><Relationship Type="http://schemas.openxmlformats.org/officeDocument/2006/relationships/notesSlide" Target="/ppt/notesSlides/notesSlide6.xml" Id="R528d32badbce440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b3f3ac4070b49a3" /><Relationship Type="http://schemas.openxmlformats.org/officeDocument/2006/relationships/notesSlide" Target="/ppt/notesSlides/notesSlide7.xml" Id="R62b5cde55154479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3d694c020f44668" /><Relationship Type="http://schemas.openxmlformats.org/officeDocument/2006/relationships/notesSlide" Target="/ppt/notesSlides/notesSlide8.xml" Id="R80bc1ad140a24eb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5e4f6a754c0c4893" /><Relationship Type="http://schemas.openxmlformats.org/officeDocument/2006/relationships/notesSlide" Target="/ppt/notesSlides/notesSlide9.xml" Id="R5c4931079d4f4da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6985f80de074cea" /><Relationship Type="http://schemas.openxmlformats.org/officeDocument/2006/relationships/notesSlide" Target="/ppt/notesSlides/notesSlide10.xml" Id="R76a79d1e6a8142b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d99230ba0104b99" /><Relationship Type="http://schemas.openxmlformats.org/officeDocument/2006/relationships/notesSlide" Target="/ppt/notesSlides/notesSlide11.xml" Id="R0068f41649d3490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bfb32b29c4d64e30" /><Relationship Type="http://schemas.openxmlformats.org/officeDocument/2006/relationships/notesSlide" Target="/ppt/notesSlides/notesSlide12.xml" Id="R58dfb8d73c6e42c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b38b048c6b6e4f18" /><Relationship Type="http://schemas.openxmlformats.org/officeDocument/2006/relationships/notesSlide" Target="/ppt/notesSlides/notesSlide13.xml" Id="R1fa9376fde8d4b6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ab199da3d8084b1d" /><Relationship Type="http://schemas.openxmlformats.org/officeDocument/2006/relationships/notesSlide" Target="/ppt/notesSlides/notesSlide14.xml" Id="R38928de16877466a" /></Relationships>
</file>

<file path=ppt/slides/slide1.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204F343-B5E2-47DF-BDB6-6669FC38C61C}"/>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01</a:t>
            </a:r>
          </a:p>
        </p:txBody>
      </p:sp>
      <p:sp>
        <p:nvSpPr>
          <p:cNvPr id="2" name="">
            <a:extLst xmlns:a="http://schemas.openxmlformats.org/drawingml/2006/main">
              <a:ext uri="{FF2B5EF4-FFF2-40B4-BE49-F238E27FC236}">
                <a16:creationId xmlns:a16="http://schemas.microsoft.com/office/drawing/2014/main" id="{FFCFC89A-92AB-4C1B-A9E8-2B6E4DFDD988}"/>
              </a:ext>
            </a:extLst>
          </p:cNvPr>
          <p:cNvSpPr>
            <a:spLocks xmlns:a="http://schemas.openxmlformats.org/drawingml/2006/main" noGrp="1"/>
          </p:cNvSpPr>
          <p:nvPr/>
        </p:nvSpPr>
        <p:spPr>
          <a:xfrm xmlns:a="http://schemas.openxmlformats.org/drawingml/2006/main">
            <a:off x="609600" y="342900"/>
            <a:ext cx="105727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450" b="1">
                <a:solidFill>
                  <a:srgbClr val="F4F7FA"/>
                </a:solidFill>
                <a:latin typeface="DejaVu Sans"/>
                <a:ea typeface="DejaVu Sans"/>
                <a:cs typeface="DejaVu Sans"/>
              </a:defRPr>
            </a:pPr>
            <a:r>
              <a:rPr sz="3450" b="1">
                <a:solidFill>
                  <a:srgbClr val="F4F7FA"/>
                </a:solidFill>
                <a:latin typeface="DejaVu Sans"/>
                <a:ea typeface="DejaVu Sans"/>
                <a:cs typeface="DejaVu Sans"/>
              </a:rPr>
              <a:t>AI Changes Both Sides</a:t>
            </a:r>
          </a:p>
          <a:p xmlns:a="http://schemas.openxmlformats.org/drawingml/2006/main">
            <a:pPr algn="l">
              <a:defRPr sz="3450" b="1">
                <a:solidFill>
                  <a:srgbClr val="F4F7FA"/>
                </a:solidFill>
                <a:latin typeface="DejaVu Sans"/>
                <a:ea typeface="DejaVu Sans"/>
                <a:cs typeface="DejaVu Sans"/>
              </a:defRPr>
            </a:pPr>
            <a:r>
              <a:rPr sz="3450" b="1">
                <a:solidFill>
                  <a:srgbClr val="F4F7FA"/>
                </a:solidFill>
                <a:latin typeface="DejaVu Sans"/>
                <a:ea typeface="DejaVu Sans"/>
                <a:cs typeface="DejaVu Sans"/>
              </a:rPr>
              <a:t>of Software Engineering</a:t>
            </a:r>
          </a:p>
        </p:txBody>
      </p:sp>
      <p:sp>
        <p:nvSpPr>
          <p:cNvPr id="3" name="">
            <a:extLst xmlns:a="http://schemas.openxmlformats.org/drawingml/2006/main">
              <a:ext uri="{FF2B5EF4-FFF2-40B4-BE49-F238E27FC236}">
                <a16:creationId xmlns:a16="http://schemas.microsoft.com/office/drawing/2014/main" id="{1DB080E8-91A4-4403-9B93-91F8941DC941}"/>
              </a:ext>
            </a:extLst>
          </p:cNvPr>
          <p:cNvSpPr>
            <a:spLocks xmlns:a="http://schemas.openxmlformats.org/drawingml/2006/main" noGrp="1"/>
          </p:cNvSpPr>
          <p:nvPr/>
        </p:nvSpPr>
        <p:spPr>
          <a:xfrm xmlns:a="http://schemas.openxmlformats.org/drawingml/2006/main">
            <a:off x="609600" y="1704975"/>
            <a:ext cx="1057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0">
                <a:solidFill>
                  <a:srgbClr val="ADB8C5"/>
                </a:solidFill>
                <a:latin typeface="DejaVu Sans"/>
                <a:ea typeface="DejaVu Sans"/>
                <a:cs typeface="DejaVu Sans"/>
              </a:defRPr>
            </a:pPr>
            <a:r>
              <a:rPr sz="2025" b="0">
                <a:solidFill>
                  <a:srgbClr val="ADB8C5"/>
                </a:solidFill>
                <a:latin typeface="DejaVu Sans"/>
                <a:ea typeface="DejaVu Sans"/>
                <a:cs typeface="DejaVu Sans"/>
              </a:rPr>
              <a:t>How we build software. And what software is.</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b80249dc38b54a59"/>
          <a:stretch xmlns:a="http://schemas.openxmlformats.org/drawingml/2006/main"/>
        </p:blipFill>
        <p:spPr>
          <a:xfrm xmlns:a="http://schemas.openxmlformats.org/drawingml/2006/main">
            <a:off x="914400" y="2201863"/>
            <a:ext cx="10363200" cy="34544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C14DAF9C-26DE-47E7-9C93-05847A883A55}"/>
              </a:ext>
            </a:extLst>
          </p:cNvPr>
          <p:cNvSpPr>
            <a:spLocks xmlns:a="http://schemas.openxmlformats.org/drawingml/2006/main" noGrp="1"/>
          </p:cNvSpPr>
          <p:nvPr/>
        </p:nvSpPr>
        <p:spPr>
          <a:xfrm xmlns:a="http://schemas.openxmlformats.org/drawingml/2006/main">
            <a:off x="914400" y="5734050"/>
            <a:ext cx="4800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DejaVu Sans"/>
                <a:ea typeface="DejaVu Sans"/>
                <a:cs typeface="DejaVu Sans"/>
              </a:defRPr>
            </a:pPr>
            <a:r>
              <a:rPr sz="1650" b="1">
                <a:solidFill>
                  <a:srgbClr val="28C7F7"/>
                </a:solidFill>
                <a:latin typeface="DejaVu Sans"/>
                <a:ea typeface="DejaVu Sans"/>
                <a:cs typeface="DejaVu Sans"/>
              </a:rPr>
              <a:t>HOW WE BUILD</a:t>
            </a:r>
          </a:p>
        </p:txBody>
      </p:sp>
      <p:sp>
        <p:nvSpPr>
          <p:cNvPr id="6" name="">
            <a:extLst xmlns:a="http://schemas.openxmlformats.org/drawingml/2006/main">
              <a:ext uri="{FF2B5EF4-FFF2-40B4-BE49-F238E27FC236}">
                <a16:creationId xmlns:a16="http://schemas.microsoft.com/office/drawing/2014/main" id="{16B5A718-3E47-4005-8443-50B3D2715AD0}"/>
              </a:ext>
            </a:extLst>
          </p:cNvPr>
          <p:cNvSpPr>
            <a:spLocks xmlns:a="http://schemas.openxmlformats.org/drawingml/2006/main" noGrp="1"/>
          </p:cNvSpPr>
          <p:nvPr/>
        </p:nvSpPr>
        <p:spPr>
          <a:xfrm xmlns:a="http://schemas.openxmlformats.org/drawingml/2006/main">
            <a:off x="914400" y="6067425"/>
            <a:ext cx="4800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F4F7FA"/>
                </a:solidFill>
                <a:latin typeface="DejaVu Sans"/>
                <a:ea typeface="DejaVu Sans"/>
                <a:cs typeface="DejaVu Sans"/>
              </a:defRPr>
            </a:pPr>
            <a:r>
              <a:rPr sz="1800" b="0">
                <a:solidFill>
                  <a:srgbClr val="F4F7FA"/>
                </a:solidFill>
                <a:latin typeface="DejaVu Sans"/>
                <a:ea typeface="DejaVu Sans"/>
                <a:cs typeface="DejaVu Sans"/>
              </a:rPr>
              <a:t>AI helps a developer write software.</a:t>
            </a:r>
          </a:p>
        </p:txBody>
      </p:sp>
      <p:sp>
        <p:nvSpPr>
          <p:cNvPr id="7" name="">
            <a:extLst xmlns:a="http://schemas.openxmlformats.org/drawingml/2006/main">
              <a:ext uri="{FF2B5EF4-FFF2-40B4-BE49-F238E27FC236}">
                <a16:creationId xmlns:a16="http://schemas.microsoft.com/office/drawing/2014/main" id="{859366CB-7770-4BA6-BFB0-7B0773171828}"/>
              </a:ext>
            </a:extLst>
          </p:cNvPr>
          <p:cNvSpPr>
            <a:spLocks xmlns:a="http://schemas.openxmlformats.org/drawingml/2006/main" noGrp="1"/>
          </p:cNvSpPr>
          <p:nvPr/>
        </p:nvSpPr>
        <p:spPr>
          <a:xfrm xmlns:a="http://schemas.openxmlformats.org/drawingml/2006/main">
            <a:off x="6477000" y="5734050"/>
            <a:ext cx="4800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F5B61C"/>
                </a:solidFill>
                <a:latin typeface="DejaVu Sans"/>
                <a:ea typeface="DejaVu Sans"/>
                <a:cs typeface="DejaVu Sans"/>
              </a:defRPr>
            </a:pPr>
            <a:r>
              <a:rPr sz="1650" b="1">
                <a:solidFill>
                  <a:srgbClr val="F5B61C"/>
                </a:solidFill>
                <a:latin typeface="DejaVu Sans"/>
                <a:ea typeface="DejaVu Sans"/>
                <a:cs typeface="DejaVu Sans"/>
              </a:rPr>
              <a:t>WHAT WE BUILD</a:t>
            </a:r>
          </a:p>
        </p:txBody>
      </p:sp>
      <p:sp>
        <p:nvSpPr>
          <p:cNvPr id="8" name="">
            <a:extLst xmlns:a="http://schemas.openxmlformats.org/drawingml/2006/main">
              <a:ext uri="{FF2B5EF4-FFF2-40B4-BE49-F238E27FC236}">
                <a16:creationId xmlns:a16="http://schemas.microsoft.com/office/drawing/2014/main" id="{DF286444-74A2-4CCA-BBEF-904BEE88C94F}"/>
              </a:ext>
            </a:extLst>
          </p:cNvPr>
          <p:cNvSpPr>
            <a:spLocks xmlns:a="http://schemas.openxmlformats.org/drawingml/2006/main" noGrp="1"/>
          </p:cNvSpPr>
          <p:nvPr/>
        </p:nvSpPr>
        <p:spPr>
          <a:xfrm xmlns:a="http://schemas.openxmlformats.org/drawingml/2006/main">
            <a:off x="6477000" y="6067425"/>
            <a:ext cx="4800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F4F7FA"/>
                </a:solidFill>
                <a:latin typeface="DejaVu Sans"/>
                <a:ea typeface="DejaVu Sans"/>
                <a:cs typeface="DejaVu Sans"/>
              </a:defRPr>
            </a:pPr>
            <a:r>
              <a:rPr sz="1800" b="0">
                <a:solidFill>
                  <a:srgbClr val="F4F7FA"/>
                </a:solidFill>
                <a:latin typeface="DejaVu Sans"/>
                <a:ea typeface="DejaVu Sans"/>
                <a:cs typeface="DejaVu Sans"/>
              </a:rPr>
              <a:t>AI interprets a user’s request at runtime.</a:t>
            </a:r>
          </a:p>
        </p:txBody>
      </p:sp>
      <p:sp>
        <p:nvSpPr>
          <p:cNvPr id="9" name="">
            <a:extLst xmlns:a="http://schemas.openxmlformats.org/drawingml/2006/main">
              <a:ext uri="{FF2B5EF4-FFF2-40B4-BE49-F238E27FC236}">
                <a16:creationId xmlns:a16="http://schemas.microsoft.com/office/drawing/2014/main" id="{7DE8DD00-B58B-4148-B40D-513E404C474B}"/>
              </a:ext>
            </a:extLst>
          </p:cNvPr>
          <p:cNvSpPr>
            <a:spLocks xmlns:a="http://schemas.openxmlformats.org/drawingml/2006/main" noGrp="1"/>
          </p:cNvSpPr>
          <p:nvPr/>
        </p:nvSpPr>
        <p:spPr>
          <a:xfrm xmlns:a="http://schemas.openxmlformats.org/drawingml/2006/main">
            <a:off x="609600" y="6457950"/>
            <a:ext cx="10096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Vitalii Oborskyi · PMDay</a:t>
            </a:r>
          </a:p>
        </p:txBody>
      </p:sp>
    </p:spTree>
    <p:extLst>
      <p:ext uri="{BB962C8B-B14F-4D97-AF65-F5344CB8AC3E}">
        <p14:creationId xmlns:p14="http://schemas.microsoft.com/office/powerpoint/2010/main" val="570650054"/>
      </p:ext>
    </p:extLst>
  </p:cSld>
</p:sld>
</file>

<file path=ppt/slides/slide2.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B111E8BC-D479-4ADA-BEBF-4538D6B7F6B0}"/>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This Is a Real Phase Transition</a:t>
            </a:r>
          </a:p>
        </p:txBody>
      </p:sp>
      <p:sp>
        <p:nvSpPr>
          <p:cNvPr id="2" name="">
            <a:extLst xmlns:a="http://schemas.openxmlformats.org/drawingml/2006/main">
              <a:ext uri="{FF2B5EF4-FFF2-40B4-BE49-F238E27FC236}">
                <a16:creationId xmlns:a16="http://schemas.microsoft.com/office/drawing/2014/main" id="{A5A2418D-9238-4988-93B4-0AF017342096}"/>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0F64F32D-4CF6-474F-A692-0325C146E32E}"/>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02</a:t>
            </a:r>
          </a:p>
        </p:txBody>
      </p:sp>
      <p:sp>
        <p:nvSpPr>
          <p:cNvPr id="4" name="">
            <a:extLst xmlns:a="http://schemas.openxmlformats.org/drawingml/2006/main">
              <a:ext uri="{FF2B5EF4-FFF2-40B4-BE49-F238E27FC236}">
                <a16:creationId xmlns:a16="http://schemas.microsoft.com/office/drawing/2014/main" id="{4AFB46A7-A892-4007-9452-CF16AD16AE2E}"/>
              </a:ext>
            </a:extLst>
          </p:cNvPr>
          <p:cNvSpPr>
            <a:spLocks xmlns:a="http://schemas.openxmlformats.org/drawingml/2006/main" noGrp="1"/>
          </p:cNvSpPr>
          <p:nvPr/>
        </p:nvSpPr>
        <p:spPr>
          <a:xfrm xmlns:a="http://schemas.openxmlformats.org/drawingml/2006/main">
            <a:off x="106680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5" name="">
            <a:extLst xmlns:a="http://schemas.openxmlformats.org/drawingml/2006/main">
              <a:ext uri="{FF2B5EF4-FFF2-40B4-BE49-F238E27FC236}">
                <a16:creationId xmlns:a16="http://schemas.microsoft.com/office/drawing/2014/main" id="{321E6A2F-38C3-41BA-BA8F-F80319CC036A}"/>
              </a:ext>
            </a:extLst>
          </p:cNvPr>
          <p:cNvSpPr>
            <a:spLocks xmlns:a="http://schemas.openxmlformats.org/drawingml/2006/main" noGrp="1"/>
          </p:cNvSpPr>
          <p:nvPr/>
        </p:nvSpPr>
        <p:spPr>
          <a:xfrm xmlns:a="http://schemas.openxmlformats.org/drawingml/2006/main">
            <a:off x="129540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DejaVu Sans"/>
                <a:ea typeface="DejaVu Sans"/>
                <a:cs typeface="DejaVu Sans"/>
              </a:defRPr>
            </a:pPr>
            <a:r>
              <a:rPr sz="2250" b="1">
                <a:solidFill>
                  <a:srgbClr val="F4F7FA"/>
                </a:solidFill>
                <a:latin typeface="DejaVu Sans"/>
                <a:ea typeface="DejaVu Sans"/>
                <a:cs typeface="DejaVu Sans"/>
              </a:rPr>
              <a:t>Writing</a:t>
            </a:r>
          </a:p>
        </p:txBody>
      </p:sp>
      <p:sp>
        <p:nvSpPr>
          <p:cNvPr id="6" name="">
            <a:extLst xmlns:a="http://schemas.openxmlformats.org/drawingml/2006/main">
              <a:ext uri="{FF2B5EF4-FFF2-40B4-BE49-F238E27FC236}">
                <a16:creationId xmlns:a16="http://schemas.microsoft.com/office/drawing/2014/main" id="{FADA6A25-DE9F-45FF-8761-2F51A8F13243}"/>
              </a:ext>
            </a:extLst>
          </p:cNvPr>
          <p:cNvSpPr>
            <a:spLocks xmlns:a="http://schemas.openxmlformats.org/drawingml/2006/main" noGrp="1"/>
          </p:cNvSpPr>
          <p:nvPr/>
        </p:nvSpPr>
        <p:spPr>
          <a:xfrm xmlns:a="http://schemas.openxmlformats.org/drawingml/2006/main">
            <a:off x="129540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DejaVu Sans"/>
                <a:ea typeface="DejaVu Sans"/>
                <a:cs typeface="DejaVu Sans"/>
              </a:defRPr>
            </a:pPr>
            <a:r>
              <a:rPr sz="2025" b="1">
                <a:solidFill>
                  <a:srgbClr val="28C7F7"/>
                </a:solidFill>
                <a:latin typeface="DejaVu Sans"/>
                <a:ea typeface="DejaVu Sans"/>
                <a:cs typeface="DejaVu Sans"/>
              </a:rPr>
              <a:t>Externalized</a:t>
            </a:r>
          </a:p>
          <a:p xmlns:a="http://schemas.openxmlformats.org/drawingml/2006/main">
            <a:pPr algn="l">
              <a:defRPr sz="2025" b="1">
                <a:solidFill>
                  <a:srgbClr val="28C7F7"/>
                </a:solidFill>
                <a:latin typeface="DejaVu Sans"/>
                <a:ea typeface="DejaVu Sans"/>
                <a:cs typeface="DejaVu Sans"/>
              </a:defRPr>
            </a:pPr>
            <a:r>
              <a:rPr sz="2025" b="1">
                <a:solidFill>
                  <a:srgbClr val="28C7F7"/>
                </a:solidFill>
                <a:latin typeface="DejaVu Sans"/>
                <a:ea typeface="DejaVu Sans"/>
                <a:cs typeface="DejaVu Sans"/>
              </a:rPr>
              <a:t>Memory</a:t>
            </a:r>
          </a:p>
        </p:txBody>
      </p:sp>
      <p:sp>
        <p:nvSpPr>
          <p:cNvPr id="7" name="">
            <a:extLst xmlns:a="http://schemas.openxmlformats.org/drawingml/2006/main">
              <a:ext uri="{FF2B5EF4-FFF2-40B4-BE49-F238E27FC236}">
                <a16:creationId xmlns:a16="http://schemas.microsoft.com/office/drawing/2014/main" id="{EB9DFA96-3F4B-4371-95C3-30A42D4F6616}"/>
              </a:ext>
            </a:extLst>
          </p:cNvPr>
          <p:cNvSpPr>
            <a:spLocks xmlns:a="http://schemas.openxmlformats.org/drawingml/2006/main" noGrp="1"/>
          </p:cNvSpPr>
          <p:nvPr/>
        </p:nvSpPr>
        <p:spPr>
          <a:xfrm xmlns:a="http://schemas.openxmlformats.org/drawingml/2006/main">
            <a:off x="129540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DejaVu Sans"/>
                <a:ea typeface="DejaVu Sans"/>
                <a:cs typeface="DejaVu Sans"/>
              </a:defRPr>
            </a:pPr>
            <a:r>
              <a:rPr sz="1725" b="0">
                <a:solidFill>
                  <a:srgbClr val="ADB8C5"/>
                </a:solidFill>
                <a:latin typeface="DejaVu Sans"/>
                <a:ea typeface="DejaVu Sans"/>
                <a:cs typeface="DejaVu Sans"/>
              </a:rPr>
              <a:t>Records we</a:t>
            </a:r>
          </a:p>
          <a:p xmlns:a="http://schemas.openxmlformats.org/drawingml/2006/main">
            <a:pPr algn="l">
              <a:defRPr sz="1725" b="0">
                <a:solidFill>
                  <a:srgbClr val="ADB8C5"/>
                </a:solidFill>
                <a:latin typeface="DejaVu Sans"/>
                <a:ea typeface="DejaVu Sans"/>
                <a:cs typeface="DejaVu Sans"/>
              </a:defRPr>
            </a:pPr>
            <a:r>
              <a:rPr sz="1725" b="0">
                <a:solidFill>
                  <a:srgbClr val="ADB8C5"/>
                </a:solidFill>
                <a:latin typeface="DejaVu Sans"/>
                <a:ea typeface="DejaVu Sans"/>
                <a:cs typeface="DejaVu Sans"/>
              </a:rPr>
              <a:t>can retrieve</a:t>
            </a:r>
          </a:p>
        </p:txBody>
      </p:sp>
      <p:sp>
        <p:nvSpPr>
          <p:cNvPr id="8" name="">
            <a:extLst xmlns:a="http://schemas.openxmlformats.org/drawingml/2006/main">
              <a:ext uri="{FF2B5EF4-FFF2-40B4-BE49-F238E27FC236}">
                <a16:creationId xmlns:a16="http://schemas.microsoft.com/office/drawing/2014/main" id="{C37CF0EF-AC99-4F72-9870-0E4F1F5A508C}"/>
              </a:ext>
            </a:extLst>
          </p:cNvPr>
          <p:cNvSpPr>
            <a:spLocks xmlns:a="http://schemas.openxmlformats.org/drawingml/2006/main" noGrp="1"/>
          </p:cNvSpPr>
          <p:nvPr/>
        </p:nvSpPr>
        <p:spPr>
          <a:xfrm xmlns:a="http://schemas.openxmlformats.org/drawingml/2006/main">
            <a:off x="466725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9" name="">
            <a:extLst xmlns:a="http://schemas.openxmlformats.org/drawingml/2006/main">
              <a:ext uri="{FF2B5EF4-FFF2-40B4-BE49-F238E27FC236}">
                <a16:creationId xmlns:a16="http://schemas.microsoft.com/office/drawing/2014/main" id="{D7CFE591-3B72-40B5-945E-0CF7D0487C83}"/>
              </a:ext>
            </a:extLst>
          </p:cNvPr>
          <p:cNvSpPr>
            <a:spLocks xmlns:a="http://schemas.openxmlformats.org/drawingml/2006/main" noGrp="1"/>
          </p:cNvSpPr>
          <p:nvPr/>
        </p:nvSpPr>
        <p:spPr>
          <a:xfrm xmlns:a="http://schemas.openxmlformats.org/drawingml/2006/main">
            <a:off x="489585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DejaVu Sans"/>
                <a:ea typeface="DejaVu Sans"/>
                <a:cs typeface="DejaVu Sans"/>
              </a:defRPr>
            </a:pPr>
            <a:r>
              <a:rPr sz="2250" b="1">
                <a:solidFill>
                  <a:srgbClr val="F4F7FA"/>
                </a:solidFill>
                <a:latin typeface="DejaVu Sans"/>
                <a:ea typeface="DejaVu Sans"/>
                <a:cs typeface="DejaVu Sans"/>
              </a:rPr>
              <a:t>Computers</a:t>
            </a:r>
          </a:p>
        </p:txBody>
      </p:sp>
      <p:sp>
        <p:nvSpPr>
          <p:cNvPr id="10" name="">
            <a:extLst xmlns:a="http://schemas.openxmlformats.org/drawingml/2006/main">
              <a:ext uri="{FF2B5EF4-FFF2-40B4-BE49-F238E27FC236}">
                <a16:creationId xmlns:a16="http://schemas.microsoft.com/office/drawing/2014/main" id="{9E9C2398-B271-469C-8398-9DB10A36ACC8}"/>
              </a:ext>
            </a:extLst>
          </p:cNvPr>
          <p:cNvSpPr>
            <a:spLocks xmlns:a="http://schemas.openxmlformats.org/drawingml/2006/main" noGrp="1"/>
          </p:cNvSpPr>
          <p:nvPr/>
        </p:nvSpPr>
        <p:spPr>
          <a:xfrm xmlns:a="http://schemas.openxmlformats.org/drawingml/2006/main">
            <a:off x="489585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DejaVu Sans"/>
                <a:ea typeface="DejaVu Sans"/>
                <a:cs typeface="DejaVu Sans"/>
              </a:defRPr>
            </a:pPr>
            <a:r>
              <a:rPr sz="2025" b="1">
                <a:solidFill>
                  <a:srgbClr val="28C7F7"/>
                </a:solidFill>
                <a:latin typeface="DejaVu Sans"/>
                <a:ea typeface="DejaVu Sans"/>
                <a:cs typeface="DejaVu Sans"/>
              </a:rPr>
              <a:t>Externalized</a:t>
            </a:r>
          </a:p>
          <a:p xmlns:a="http://schemas.openxmlformats.org/drawingml/2006/main">
            <a:pPr algn="l">
              <a:defRPr sz="2025" b="1">
                <a:solidFill>
                  <a:srgbClr val="28C7F7"/>
                </a:solidFill>
                <a:latin typeface="DejaVu Sans"/>
                <a:ea typeface="DejaVu Sans"/>
                <a:cs typeface="DejaVu Sans"/>
              </a:defRPr>
            </a:pPr>
            <a:r>
              <a:rPr sz="2025" b="1">
                <a:solidFill>
                  <a:srgbClr val="28C7F7"/>
                </a:solidFill>
                <a:latin typeface="DejaVu Sans"/>
                <a:ea typeface="DejaVu Sans"/>
                <a:cs typeface="DejaVu Sans"/>
              </a:rPr>
              <a:t>Calculation</a:t>
            </a:r>
          </a:p>
        </p:txBody>
      </p:sp>
      <p:sp>
        <p:nvSpPr>
          <p:cNvPr id="11" name="">
            <a:extLst xmlns:a="http://schemas.openxmlformats.org/drawingml/2006/main">
              <a:ext uri="{FF2B5EF4-FFF2-40B4-BE49-F238E27FC236}">
                <a16:creationId xmlns:a16="http://schemas.microsoft.com/office/drawing/2014/main" id="{9C7C94E4-E0AE-48C2-8A72-2BF66EF2BF98}"/>
              </a:ext>
            </a:extLst>
          </p:cNvPr>
          <p:cNvSpPr>
            <a:spLocks xmlns:a="http://schemas.openxmlformats.org/drawingml/2006/main" noGrp="1"/>
          </p:cNvSpPr>
          <p:nvPr/>
        </p:nvSpPr>
        <p:spPr>
          <a:xfrm xmlns:a="http://schemas.openxmlformats.org/drawingml/2006/main">
            <a:off x="489585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DejaVu Sans"/>
                <a:ea typeface="DejaVu Sans"/>
                <a:cs typeface="DejaVu Sans"/>
              </a:defRPr>
            </a:pPr>
            <a:r>
              <a:rPr sz="1725" b="0">
                <a:solidFill>
                  <a:srgbClr val="ADB8C5"/>
                </a:solidFill>
                <a:latin typeface="DejaVu Sans"/>
                <a:ea typeface="DejaVu Sans"/>
                <a:cs typeface="DejaVu Sans"/>
              </a:rPr>
              <a:t>Rules we</a:t>
            </a:r>
          </a:p>
          <a:p xmlns:a="http://schemas.openxmlformats.org/drawingml/2006/main">
            <a:pPr algn="l">
              <a:defRPr sz="1725" b="0">
                <a:solidFill>
                  <a:srgbClr val="ADB8C5"/>
                </a:solidFill>
                <a:latin typeface="DejaVu Sans"/>
                <a:ea typeface="DejaVu Sans"/>
                <a:cs typeface="DejaVu Sans"/>
              </a:defRPr>
            </a:pPr>
            <a:r>
              <a:rPr sz="1725" b="0">
                <a:solidFill>
                  <a:srgbClr val="ADB8C5"/>
                </a:solidFill>
                <a:latin typeface="DejaVu Sans"/>
                <a:ea typeface="DejaVu Sans"/>
                <a:cs typeface="DejaVu Sans"/>
              </a:rPr>
              <a:t>explicitly encode</a:t>
            </a:r>
          </a:p>
        </p:txBody>
      </p:sp>
      <p:sp>
        <p:nvSpPr>
          <p:cNvPr id="12" name="">
            <a:extLst xmlns:a="http://schemas.openxmlformats.org/drawingml/2006/main">
              <a:ext uri="{FF2B5EF4-FFF2-40B4-BE49-F238E27FC236}">
                <a16:creationId xmlns:a16="http://schemas.microsoft.com/office/drawing/2014/main" id="{8005AF10-3F48-4C46-8114-E9F8EA413913}"/>
              </a:ext>
            </a:extLst>
          </p:cNvPr>
          <p:cNvSpPr>
            <a:spLocks xmlns:a="http://schemas.openxmlformats.org/drawingml/2006/main" noGrp="1"/>
          </p:cNvSpPr>
          <p:nvPr/>
        </p:nvSpPr>
        <p:spPr>
          <a:xfrm xmlns:a="http://schemas.openxmlformats.org/drawingml/2006/main">
            <a:off x="826770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3" name="">
            <a:extLst xmlns:a="http://schemas.openxmlformats.org/drawingml/2006/main">
              <a:ext uri="{FF2B5EF4-FFF2-40B4-BE49-F238E27FC236}">
                <a16:creationId xmlns:a16="http://schemas.microsoft.com/office/drawing/2014/main" id="{855087E3-7BEF-4532-815B-9D59915B1C62}"/>
              </a:ext>
            </a:extLst>
          </p:cNvPr>
          <p:cNvSpPr>
            <a:spLocks xmlns:a="http://schemas.openxmlformats.org/drawingml/2006/main" noGrp="1"/>
          </p:cNvSpPr>
          <p:nvPr/>
        </p:nvSpPr>
        <p:spPr>
          <a:xfrm xmlns:a="http://schemas.openxmlformats.org/drawingml/2006/main">
            <a:off x="849630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DejaVu Sans"/>
                <a:ea typeface="DejaVu Sans"/>
                <a:cs typeface="DejaVu Sans"/>
              </a:defRPr>
            </a:pPr>
            <a:r>
              <a:rPr sz="2250" b="1">
                <a:solidFill>
                  <a:srgbClr val="F4F7FA"/>
                </a:solidFill>
                <a:latin typeface="DejaVu Sans"/>
                <a:ea typeface="DejaVu Sans"/>
                <a:cs typeface="DejaVu Sans"/>
              </a:rPr>
              <a:t>Large Models</a:t>
            </a:r>
          </a:p>
        </p:txBody>
      </p:sp>
      <p:sp>
        <p:nvSpPr>
          <p:cNvPr id="14" name="">
            <a:extLst xmlns:a="http://schemas.openxmlformats.org/drawingml/2006/main">
              <a:ext uri="{FF2B5EF4-FFF2-40B4-BE49-F238E27FC236}">
                <a16:creationId xmlns:a16="http://schemas.microsoft.com/office/drawing/2014/main" id="{88762EE7-ABF2-4962-A768-F2852AC3720F}"/>
              </a:ext>
            </a:extLst>
          </p:cNvPr>
          <p:cNvSpPr>
            <a:spLocks xmlns:a="http://schemas.openxmlformats.org/drawingml/2006/main" noGrp="1"/>
          </p:cNvSpPr>
          <p:nvPr/>
        </p:nvSpPr>
        <p:spPr>
          <a:xfrm xmlns:a="http://schemas.openxmlformats.org/drawingml/2006/main">
            <a:off x="849630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5B61C"/>
                </a:solidFill>
                <a:latin typeface="DejaVu Sans"/>
                <a:ea typeface="DejaVu Sans"/>
                <a:cs typeface="DejaVu Sans"/>
              </a:defRPr>
            </a:pPr>
            <a:r>
              <a:rPr sz="2025" b="1">
                <a:solidFill>
                  <a:srgbClr val="F5B61C"/>
                </a:solidFill>
                <a:latin typeface="DejaVu Sans"/>
                <a:ea typeface="DejaVu Sans"/>
                <a:cs typeface="DejaVu Sans"/>
              </a:rPr>
              <a:t>Externalized</a:t>
            </a:r>
          </a:p>
          <a:p xmlns:a="http://schemas.openxmlformats.org/drawingml/2006/main">
            <a:pPr algn="l">
              <a:defRPr sz="2025" b="1">
                <a:solidFill>
                  <a:srgbClr val="F5B61C"/>
                </a:solidFill>
                <a:latin typeface="DejaVu Sans"/>
                <a:ea typeface="DejaVu Sans"/>
                <a:cs typeface="DejaVu Sans"/>
              </a:defRPr>
            </a:pPr>
            <a:r>
              <a:rPr sz="2025" b="1">
                <a:solidFill>
                  <a:srgbClr val="F5B61C"/>
                </a:solidFill>
                <a:latin typeface="DejaVu Sans"/>
                <a:ea typeface="DejaVu Sans"/>
                <a:cs typeface="DejaVu Sans"/>
              </a:rPr>
              <a:t>Cognition</a:t>
            </a:r>
          </a:p>
        </p:txBody>
      </p:sp>
      <p:sp>
        <p:nvSpPr>
          <p:cNvPr id="15" name="">
            <a:extLst xmlns:a="http://schemas.openxmlformats.org/drawingml/2006/main">
              <a:ext uri="{FF2B5EF4-FFF2-40B4-BE49-F238E27FC236}">
                <a16:creationId xmlns:a16="http://schemas.microsoft.com/office/drawing/2014/main" id="{D834D59A-236B-4B17-8225-44222ED2BB07}"/>
              </a:ext>
            </a:extLst>
          </p:cNvPr>
          <p:cNvSpPr>
            <a:spLocks xmlns:a="http://schemas.openxmlformats.org/drawingml/2006/main" noGrp="1"/>
          </p:cNvSpPr>
          <p:nvPr/>
        </p:nvSpPr>
        <p:spPr>
          <a:xfrm xmlns:a="http://schemas.openxmlformats.org/drawingml/2006/main">
            <a:off x="849630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DejaVu Sans"/>
                <a:ea typeface="DejaVu Sans"/>
                <a:cs typeface="DejaVu Sans"/>
              </a:defRPr>
            </a:pPr>
            <a:r>
              <a:rPr sz="1725" b="0">
                <a:solidFill>
                  <a:srgbClr val="ADB8C5"/>
                </a:solidFill>
                <a:latin typeface="DejaVu Sans"/>
                <a:ea typeface="DejaVu Sans"/>
                <a:cs typeface="DejaVu Sans"/>
              </a:rPr>
              <a:t>Judgment shaped</a:t>
            </a:r>
          </a:p>
          <a:p xmlns:a="http://schemas.openxmlformats.org/drawingml/2006/main">
            <a:pPr algn="l">
              <a:defRPr sz="1725" b="0">
                <a:solidFill>
                  <a:srgbClr val="ADB8C5"/>
                </a:solidFill>
                <a:latin typeface="DejaVu Sans"/>
                <a:ea typeface="DejaVu Sans"/>
                <a:cs typeface="DejaVu Sans"/>
              </a:defRPr>
            </a:pPr>
            <a:r>
              <a:rPr sz="1725" b="0">
                <a:solidFill>
                  <a:srgbClr val="ADB8C5"/>
                </a:solidFill>
                <a:latin typeface="DejaVu Sans"/>
                <a:ea typeface="DejaVu Sans"/>
                <a:cs typeface="DejaVu Sans"/>
              </a:rPr>
              <a:t>by context</a:t>
            </a:r>
          </a:p>
        </p:txBody>
      </p:sp>
      <p:cxnSp>
        <p:nvCxnSpPr>
          <p:cNvPr id="36" name=""/>
          <p:cNvCxnSpPr>
            <a:stCxn xmlns:a="http://schemas.openxmlformats.org/drawingml/2006/main" id="4" idx="3"/>
            <a:endCxn xmlns:a="http://schemas.openxmlformats.org/drawingml/2006/main" id="8" idx="1"/>
          </p:cNvCxnSpPr>
          <p:nvPr/>
        </p:nvCxnSpPr>
        <p:spPr>
          <a:xfrm xmlns:a="http://schemas.openxmlformats.org/drawingml/2006/main">
            <a:off x="3924300" y="3367088"/>
            <a:ext cx="742950" cy="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37" name=""/>
          <p:cNvCxnSpPr>
            <a:stCxn xmlns:a="http://schemas.openxmlformats.org/drawingml/2006/main" id="8" idx="3"/>
            <a:endCxn xmlns:a="http://schemas.openxmlformats.org/drawingml/2006/main" id="12" idx="1"/>
          </p:cNvCxnSpPr>
          <p:nvPr/>
        </p:nvCxnSpPr>
        <p:spPr>
          <a:xfrm xmlns:a="http://schemas.openxmlformats.org/drawingml/2006/main">
            <a:off x="7524750" y="3367088"/>
            <a:ext cx="74295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sp>
        <p:nvSpPr>
          <p:cNvPr id="18" name="">
            <a:extLst xmlns:a="http://schemas.openxmlformats.org/drawingml/2006/main">
              <a:ext uri="{FF2B5EF4-FFF2-40B4-BE49-F238E27FC236}">
                <a16:creationId xmlns:a16="http://schemas.microsoft.com/office/drawing/2014/main" id="{473EE5BD-F7A6-43C8-A87D-2CE26B2B2C1C}"/>
              </a:ext>
            </a:extLst>
          </p:cNvPr>
          <p:cNvSpPr>
            <a:spLocks xmlns:a="http://schemas.openxmlformats.org/drawingml/2006/main" noGrp="1"/>
          </p:cNvSpPr>
          <p:nvPr/>
        </p:nvSpPr>
        <p:spPr>
          <a:xfrm xmlns:a="http://schemas.openxmlformats.org/drawingml/2006/main">
            <a:off x="609600" y="49720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No assumption of will, consciousness or human-like understanding is required.</a:t>
            </a:r>
          </a:p>
        </p:txBody>
      </p:sp>
      <p:sp>
        <p:nvSpPr>
          <p:cNvPr id="19" name="">
            <a:extLst xmlns:a="http://schemas.openxmlformats.org/drawingml/2006/main">
              <a:ext uri="{FF2B5EF4-FFF2-40B4-BE49-F238E27FC236}">
                <a16:creationId xmlns:a16="http://schemas.microsoft.com/office/drawing/2014/main" id="{30548136-876D-4DB8-90D8-51CED12B93FD}"/>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7FFCC925-0782-4B85-887B-AEB424A7A15E}"/>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We design the environment in which behavior is generated at runtime.</a:t>
            </a:r>
          </a:p>
        </p:txBody>
      </p:sp>
    </p:spTree>
    <p:extLst>
      <p:ext uri="{BB962C8B-B14F-4D97-AF65-F5344CB8AC3E}">
        <p14:creationId xmlns:p14="http://schemas.microsoft.com/office/powerpoint/2010/main" val="502362224"/>
      </p:ext>
    </p:extLst>
  </p:cSld>
</p:sld>
</file>

<file path=ppt/slides/slide3.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68" name="">
            <a:extLst xmlns:a="http://schemas.openxmlformats.org/drawingml/2006/main">
              <a:ext uri="{FF2B5EF4-FFF2-40B4-BE49-F238E27FC236}">
                <a16:creationId xmlns:a16="http://schemas.microsoft.com/office/drawing/2014/main" id="{48D7AA54-5B14-4278-8205-57408A73B821}"/>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We Accelerated a Step. Not the System.</a:t>
            </a:r>
          </a:p>
        </p:txBody>
      </p:sp>
      <p:sp>
        <p:nvSpPr>
          <p:cNvPr id="2" name="">
            <a:extLst xmlns:a="http://schemas.openxmlformats.org/drawingml/2006/main">
              <a:ext uri="{FF2B5EF4-FFF2-40B4-BE49-F238E27FC236}">
                <a16:creationId xmlns:a16="http://schemas.microsoft.com/office/drawing/2014/main" id="{37299C0E-160E-42EE-A2FF-5D940B726385}"/>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48549BB5-BD5D-413A-8DAC-833C77B9AAC4}"/>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03</a:t>
            </a:r>
          </a:p>
        </p:txBody>
      </p:sp>
      <p:sp>
        <p:nvSpPr>
          <p:cNvPr id="4" name="">
            <a:extLst xmlns:a="http://schemas.openxmlformats.org/drawingml/2006/main">
              <a:ext uri="{FF2B5EF4-FFF2-40B4-BE49-F238E27FC236}">
                <a16:creationId xmlns:a16="http://schemas.microsoft.com/office/drawing/2014/main" id="{4FC282DD-B8AF-4242-A420-7BD86FF5939E}"/>
              </a:ext>
            </a:extLst>
          </p:cNvPr>
          <p:cNvSpPr>
            <a:spLocks xmlns:a="http://schemas.openxmlformats.org/drawingml/2006/main" noGrp="1"/>
          </p:cNvSpPr>
          <p:nvPr/>
        </p:nvSpPr>
        <p:spPr>
          <a:xfrm xmlns:a="http://schemas.openxmlformats.org/drawingml/2006/main">
            <a:off x="914400" y="1714500"/>
            <a:ext cx="10363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AI can affect every stage. Downstream gains are not automatic.</a:t>
            </a:r>
          </a:p>
        </p:txBody>
      </p:sp>
      <p:sp>
        <p:nvSpPr>
          <p:cNvPr id="5" name="">
            <a:extLst xmlns:a="http://schemas.openxmlformats.org/drawingml/2006/main">
              <a:ext uri="{FF2B5EF4-FFF2-40B4-BE49-F238E27FC236}">
                <a16:creationId xmlns:a16="http://schemas.microsoft.com/office/drawing/2014/main" id="{CB3C7D30-F108-4D3A-BFB9-B61FBCDD6924}"/>
              </a:ext>
            </a:extLst>
          </p:cNvPr>
          <p:cNvSpPr>
            <a:spLocks xmlns:a="http://schemas.openxmlformats.org/drawingml/2006/main" noGrp="1"/>
          </p:cNvSpPr>
          <p:nvPr/>
        </p:nvSpPr>
        <p:spPr>
          <a:xfrm xmlns:a="http://schemas.openxmlformats.org/drawingml/2006/main">
            <a:off x="9144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6" name="">
            <a:extLst xmlns:a="http://schemas.openxmlformats.org/drawingml/2006/main">
              <a:ext uri="{FF2B5EF4-FFF2-40B4-BE49-F238E27FC236}">
                <a16:creationId xmlns:a16="http://schemas.microsoft.com/office/drawing/2014/main" id="{E70ED2BA-6C5E-4EE2-A905-827409886D51}"/>
              </a:ext>
            </a:extLst>
          </p:cNvPr>
          <p:cNvSpPr>
            <a:spLocks xmlns:a="http://schemas.openxmlformats.org/drawingml/2006/main" noGrp="1"/>
          </p:cNvSpPr>
          <p:nvPr/>
        </p:nvSpPr>
        <p:spPr>
          <a:xfrm xmlns:a="http://schemas.openxmlformats.org/drawingml/2006/main">
            <a:off x="10287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DejaVu Sans"/>
                <a:ea typeface="DejaVu Sans"/>
                <a:cs typeface="DejaVu Sans"/>
              </a:defRPr>
            </a:pPr>
            <a:r>
              <a:rPr sz="1425" b="1">
                <a:solidFill>
                  <a:srgbClr val="F4F7FA"/>
                </a:solidFill>
                <a:latin typeface="DejaVu Sans"/>
                <a:ea typeface="DejaVu Sans"/>
                <a:cs typeface="DejaVu Sans"/>
              </a:rPr>
              <a:t>Intent</a:t>
            </a:r>
          </a:p>
        </p:txBody>
      </p:sp>
      <p:sp>
        <p:nvSpPr>
          <p:cNvPr id="7" name="">
            <a:extLst xmlns:a="http://schemas.openxmlformats.org/drawingml/2006/main">
              <a:ext uri="{FF2B5EF4-FFF2-40B4-BE49-F238E27FC236}">
                <a16:creationId xmlns:a16="http://schemas.microsoft.com/office/drawing/2014/main" id="{1DB38EB8-96CA-42DA-BEE0-E0F0D6368D87}"/>
              </a:ext>
            </a:extLst>
          </p:cNvPr>
          <p:cNvSpPr>
            <a:spLocks xmlns:a="http://schemas.openxmlformats.org/drawingml/2006/main" noGrp="1"/>
          </p:cNvSpPr>
          <p:nvPr/>
        </p:nvSpPr>
        <p:spPr>
          <a:xfrm xmlns:a="http://schemas.openxmlformats.org/drawingml/2006/main">
            <a:off x="22288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8" name="">
            <a:extLst xmlns:a="http://schemas.openxmlformats.org/drawingml/2006/main">
              <a:ext uri="{FF2B5EF4-FFF2-40B4-BE49-F238E27FC236}">
                <a16:creationId xmlns:a16="http://schemas.microsoft.com/office/drawing/2014/main" id="{5DC77D82-FC8D-47EE-A626-071D3CC8BC43}"/>
              </a:ext>
            </a:extLst>
          </p:cNvPr>
          <p:cNvSpPr>
            <a:spLocks xmlns:a="http://schemas.openxmlformats.org/drawingml/2006/main" noGrp="1"/>
          </p:cNvSpPr>
          <p:nvPr/>
        </p:nvSpPr>
        <p:spPr>
          <a:xfrm xmlns:a="http://schemas.openxmlformats.org/drawingml/2006/main">
            <a:off x="23431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DejaVu Sans"/>
                <a:ea typeface="DejaVu Sans"/>
                <a:cs typeface="DejaVu Sans"/>
              </a:defRPr>
            </a:pPr>
            <a:r>
              <a:rPr sz="1425" b="1">
                <a:solidFill>
                  <a:srgbClr val="F4F7FA"/>
                </a:solidFill>
                <a:latin typeface="DejaVu Sans"/>
                <a:ea typeface="DejaVu Sans"/>
                <a:cs typeface="DejaVu Sans"/>
              </a:rPr>
              <a:t>Design</a:t>
            </a:r>
          </a:p>
        </p:txBody>
      </p:sp>
      <p:sp>
        <p:nvSpPr>
          <p:cNvPr id="9" name="">
            <a:extLst xmlns:a="http://schemas.openxmlformats.org/drawingml/2006/main">
              <a:ext uri="{FF2B5EF4-FFF2-40B4-BE49-F238E27FC236}">
                <a16:creationId xmlns:a16="http://schemas.microsoft.com/office/drawing/2014/main" id="{CE6DCD31-B4B4-4079-BD6A-CD25256B127E}"/>
              </a:ext>
            </a:extLst>
          </p:cNvPr>
          <p:cNvSpPr>
            <a:spLocks xmlns:a="http://schemas.openxmlformats.org/drawingml/2006/main" noGrp="1"/>
          </p:cNvSpPr>
          <p:nvPr/>
        </p:nvSpPr>
        <p:spPr>
          <a:xfrm xmlns:a="http://schemas.openxmlformats.org/drawingml/2006/main">
            <a:off x="35433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0" name="">
            <a:extLst xmlns:a="http://schemas.openxmlformats.org/drawingml/2006/main">
              <a:ext uri="{FF2B5EF4-FFF2-40B4-BE49-F238E27FC236}">
                <a16:creationId xmlns:a16="http://schemas.microsoft.com/office/drawing/2014/main" id="{011F5C97-EC0C-4387-B905-A4CD14FDDDCA}"/>
              </a:ext>
            </a:extLst>
          </p:cNvPr>
          <p:cNvSpPr>
            <a:spLocks xmlns:a="http://schemas.openxmlformats.org/drawingml/2006/main" noGrp="1"/>
          </p:cNvSpPr>
          <p:nvPr/>
        </p:nvSpPr>
        <p:spPr>
          <a:xfrm xmlns:a="http://schemas.openxmlformats.org/drawingml/2006/main">
            <a:off x="36576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DejaVu Sans"/>
                <a:ea typeface="DejaVu Sans"/>
                <a:cs typeface="DejaVu Sans"/>
              </a:defRPr>
            </a:pPr>
            <a:r>
              <a:rPr sz="1425" b="1">
                <a:solidFill>
                  <a:srgbClr val="F4F7FA"/>
                </a:solidFill>
                <a:latin typeface="DejaVu Sans"/>
                <a:ea typeface="DejaVu Sans"/>
                <a:cs typeface="DejaVu Sans"/>
              </a:rPr>
              <a:t>Code</a:t>
            </a:r>
          </a:p>
        </p:txBody>
      </p:sp>
      <p:sp>
        <p:nvSpPr>
          <p:cNvPr id="11" name="">
            <a:extLst xmlns:a="http://schemas.openxmlformats.org/drawingml/2006/main">
              <a:ext uri="{FF2B5EF4-FFF2-40B4-BE49-F238E27FC236}">
                <a16:creationId xmlns:a16="http://schemas.microsoft.com/office/drawing/2014/main" id="{8EEE60B4-E072-4CCC-AED5-BDE06D28C86F}"/>
              </a:ext>
            </a:extLst>
          </p:cNvPr>
          <p:cNvSpPr>
            <a:spLocks xmlns:a="http://schemas.openxmlformats.org/drawingml/2006/main" noGrp="1"/>
          </p:cNvSpPr>
          <p:nvPr/>
        </p:nvSpPr>
        <p:spPr>
          <a:xfrm xmlns:a="http://schemas.openxmlformats.org/drawingml/2006/main">
            <a:off x="48577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2" name="">
            <a:extLst xmlns:a="http://schemas.openxmlformats.org/drawingml/2006/main">
              <a:ext uri="{FF2B5EF4-FFF2-40B4-BE49-F238E27FC236}">
                <a16:creationId xmlns:a16="http://schemas.microsoft.com/office/drawing/2014/main" id="{FAEF8406-32A6-414E-83BB-229C128282FA}"/>
              </a:ext>
            </a:extLst>
          </p:cNvPr>
          <p:cNvSpPr>
            <a:spLocks xmlns:a="http://schemas.openxmlformats.org/drawingml/2006/main" noGrp="1"/>
          </p:cNvSpPr>
          <p:nvPr/>
        </p:nvSpPr>
        <p:spPr>
          <a:xfrm xmlns:a="http://schemas.openxmlformats.org/drawingml/2006/main">
            <a:off x="49720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DejaVu Sans"/>
                <a:ea typeface="DejaVu Sans"/>
                <a:cs typeface="DejaVu Sans"/>
              </a:defRPr>
            </a:pPr>
            <a:r>
              <a:rPr sz="1425" b="1">
                <a:solidFill>
                  <a:srgbClr val="F4F7FA"/>
                </a:solidFill>
                <a:latin typeface="DejaVu Sans"/>
                <a:ea typeface="DejaVu Sans"/>
                <a:cs typeface="DejaVu Sans"/>
              </a:rPr>
              <a:t>Review</a:t>
            </a:r>
          </a:p>
        </p:txBody>
      </p:sp>
      <p:sp>
        <p:nvSpPr>
          <p:cNvPr id="13" name="">
            <a:extLst xmlns:a="http://schemas.openxmlformats.org/drawingml/2006/main">
              <a:ext uri="{FF2B5EF4-FFF2-40B4-BE49-F238E27FC236}">
                <a16:creationId xmlns:a16="http://schemas.microsoft.com/office/drawing/2014/main" id="{65F3F89D-0071-4271-B337-0D5562EDBD8D}"/>
              </a:ext>
            </a:extLst>
          </p:cNvPr>
          <p:cNvSpPr>
            <a:spLocks xmlns:a="http://schemas.openxmlformats.org/drawingml/2006/main" noGrp="1"/>
          </p:cNvSpPr>
          <p:nvPr/>
        </p:nvSpPr>
        <p:spPr>
          <a:xfrm xmlns:a="http://schemas.openxmlformats.org/drawingml/2006/main">
            <a:off x="61722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4" name="">
            <a:extLst xmlns:a="http://schemas.openxmlformats.org/drawingml/2006/main">
              <a:ext uri="{FF2B5EF4-FFF2-40B4-BE49-F238E27FC236}">
                <a16:creationId xmlns:a16="http://schemas.microsoft.com/office/drawing/2014/main" id="{2294344D-3983-4A5E-A406-F310395C68E3}"/>
              </a:ext>
            </a:extLst>
          </p:cNvPr>
          <p:cNvSpPr>
            <a:spLocks xmlns:a="http://schemas.openxmlformats.org/drawingml/2006/main" noGrp="1"/>
          </p:cNvSpPr>
          <p:nvPr/>
        </p:nvSpPr>
        <p:spPr>
          <a:xfrm xmlns:a="http://schemas.openxmlformats.org/drawingml/2006/main">
            <a:off x="62865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DejaVu Sans"/>
                <a:ea typeface="DejaVu Sans"/>
                <a:cs typeface="DejaVu Sans"/>
              </a:defRPr>
            </a:pPr>
            <a:r>
              <a:rPr sz="1425" b="1">
                <a:solidFill>
                  <a:srgbClr val="F4F7FA"/>
                </a:solidFill>
                <a:latin typeface="DejaVu Sans"/>
                <a:ea typeface="DejaVu Sans"/>
                <a:cs typeface="DejaVu Sans"/>
              </a:rPr>
              <a:t>Test</a:t>
            </a:r>
          </a:p>
        </p:txBody>
      </p:sp>
      <p:sp>
        <p:nvSpPr>
          <p:cNvPr id="15" name="">
            <a:extLst xmlns:a="http://schemas.openxmlformats.org/drawingml/2006/main">
              <a:ext uri="{FF2B5EF4-FFF2-40B4-BE49-F238E27FC236}">
                <a16:creationId xmlns:a16="http://schemas.microsoft.com/office/drawing/2014/main" id="{4E069790-0C99-4EB0-8DCA-ABCC96BDABF4}"/>
              </a:ext>
            </a:extLst>
          </p:cNvPr>
          <p:cNvSpPr>
            <a:spLocks xmlns:a="http://schemas.openxmlformats.org/drawingml/2006/main" noGrp="1"/>
          </p:cNvSpPr>
          <p:nvPr/>
        </p:nvSpPr>
        <p:spPr>
          <a:xfrm xmlns:a="http://schemas.openxmlformats.org/drawingml/2006/main">
            <a:off x="74866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6" name="">
            <a:extLst xmlns:a="http://schemas.openxmlformats.org/drawingml/2006/main">
              <a:ext uri="{FF2B5EF4-FFF2-40B4-BE49-F238E27FC236}">
                <a16:creationId xmlns:a16="http://schemas.microsoft.com/office/drawing/2014/main" id="{8C7EE108-3A26-43F9-9263-B66BAB47E3B1}"/>
              </a:ext>
            </a:extLst>
          </p:cNvPr>
          <p:cNvSpPr>
            <a:spLocks xmlns:a="http://schemas.openxmlformats.org/drawingml/2006/main" noGrp="1"/>
          </p:cNvSpPr>
          <p:nvPr/>
        </p:nvSpPr>
        <p:spPr>
          <a:xfrm xmlns:a="http://schemas.openxmlformats.org/drawingml/2006/main">
            <a:off x="76009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F4F7FA"/>
                </a:solidFill>
                <a:latin typeface="DejaVu Sans"/>
                <a:ea typeface="DejaVu Sans"/>
                <a:cs typeface="DejaVu Sans"/>
              </a:defRPr>
            </a:pPr>
            <a:r>
              <a:rPr sz="1350" b="1">
                <a:solidFill>
                  <a:srgbClr val="F4F7FA"/>
                </a:solidFill>
                <a:latin typeface="DejaVu Sans"/>
                <a:ea typeface="DejaVu Sans"/>
                <a:cs typeface="DejaVu Sans"/>
              </a:rPr>
              <a:t>Integrate</a:t>
            </a:r>
          </a:p>
        </p:txBody>
      </p:sp>
      <p:sp>
        <p:nvSpPr>
          <p:cNvPr id="17" name="">
            <a:extLst xmlns:a="http://schemas.openxmlformats.org/drawingml/2006/main">
              <a:ext uri="{FF2B5EF4-FFF2-40B4-BE49-F238E27FC236}">
                <a16:creationId xmlns:a16="http://schemas.microsoft.com/office/drawing/2014/main" id="{B080CF1F-0B16-4A34-9D30-7000185F0F1C}"/>
              </a:ext>
            </a:extLst>
          </p:cNvPr>
          <p:cNvSpPr>
            <a:spLocks xmlns:a="http://schemas.openxmlformats.org/drawingml/2006/main" noGrp="1"/>
          </p:cNvSpPr>
          <p:nvPr/>
        </p:nvSpPr>
        <p:spPr>
          <a:xfrm xmlns:a="http://schemas.openxmlformats.org/drawingml/2006/main">
            <a:off x="88011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8" name="">
            <a:extLst xmlns:a="http://schemas.openxmlformats.org/drawingml/2006/main">
              <a:ext uri="{FF2B5EF4-FFF2-40B4-BE49-F238E27FC236}">
                <a16:creationId xmlns:a16="http://schemas.microsoft.com/office/drawing/2014/main" id="{C64E4E3A-64CB-4B8D-8066-43C3C8B2501A}"/>
              </a:ext>
            </a:extLst>
          </p:cNvPr>
          <p:cNvSpPr>
            <a:spLocks xmlns:a="http://schemas.openxmlformats.org/drawingml/2006/main" noGrp="1"/>
          </p:cNvSpPr>
          <p:nvPr/>
        </p:nvSpPr>
        <p:spPr>
          <a:xfrm xmlns:a="http://schemas.openxmlformats.org/drawingml/2006/main">
            <a:off x="89154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DejaVu Sans"/>
                <a:ea typeface="DejaVu Sans"/>
                <a:cs typeface="DejaVu Sans"/>
              </a:defRPr>
            </a:pPr>
            <a:r>
              <a:rPr sz="1425" b="1">
                <a:solidFill>
                  <a:srgbClr val="F4F7FA"/>
                </a:solidFill>
                <a:latin typeface="DejaVu Sans"/>
                <a:ea typeface="DejaVu Sans"/>
                <a:cs typeface="DejaVu Sans"/>
              </a:rPr>
              <a:t>Deploy</a:t>
            </a:r>
          </a:p>
        </p:txBody>
      </p:sp>
      <p:sp>
        <p:nvSpPr>
          <p:cNvPr id="19" name="">
            <a:extLst xmlns:a="http://schemas.openxmlformats.org/drawingml/2006/main">
              <a:ext uri="{FF2B5EF4-FFF2-40B4-BE49-F238E27FC236}">
                <a16:creationId xmlns:a16="http://schemas.microsoft.com/office/drawing/2014/main" id="{47854E6D-8B79-4C66-82C3-538CB11ACD9D}"/>
              </a:ext>
            </a:extLst>
          </p:cNvPr>
          <p:cNvSpPr>
            <a:spLocks xmlns:a="http://schemas.openxmlformats.org/drawingml/2006/main" noGrp="1"/>
          </p:cNvSpPr>
          <p:nvPr/>
        </p:nvSpPr>
        <p:spPr>
          <a:xfrm xmlns:a="http://schemas.openxmlformats.org/drawingml/2006/main">
            <a:off x="101155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20" name="">
            <a:extLst xmlns:a="http://schemas.openxmlformats.org/drawingml/2006/main">
              <a:ext uri="{FF2B5EF4-FFF2-40B4-BE49-F238E27FC236}">
                <a16:creationId xmlns:a16="http://schemas.microsoft.com/office/drawing/2014/main" id="{9FD4E361-75D1-4ECC-9DAB-0E913A201BFB}"/>
              </a:ext>
            </a:extLst>
          </p:cNvPr>
          <p:cNvSpPr>
            <a:spLocks xmlns:a="http://schemas.openxmlformats.org/drawingml/2006/main" noGrp="1"/>
          </p:cNvSpPr>
          <p:nvPr/>
        </p:nvSpPr>
        <p:spPr>
          <a:xfrm xmlns:a="http://schemas.openxmlformats.org/drawingml/2006/main">
            <a:off x="102298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DejaVu Sans"/>
                <a:ea typeface="DejaVu Sans"/>
                <a:cs typeface="DejaVu Sans"/>
              </a:defRPr>
            </a:pPr>
            <a:r>
              <a:rPr sz="1425" b="1">
                <a:solidFill>
                  <a:srgbClr val="F4F7FA"/>
                </a:solidFill>
                <a:latin typeface="DejaVu Sans"/>
                <a:ea typeface="DejaVu Sans"/>
                <a:cs typeface="DejaVu Sans"/>
              </a:rPr>
              <a:t>Operate</a:t>
            </a:r>
          </a:p>
        </p:txBody>
      </p:sp>
      <p:sp>
        <p:nvSpPr>
          <p:cNvPr id="21" name="">
            <a:extLst xmlns:a="http://schemas.openxmlformats.org/drawingml/2006/main">
              <a:ext uri="{FF2B5EF4-FFF2-40B4-BE49-F238E27FC236}">
                <a16:creationId xmlns:a16="http://schemas.microsoft.com/office/drawing/2014/main" id="{BEC911C9-26F3-4A1F-9444-6C2FC6D56928}"/>
              </a:ext>
            </a:extLst>
          </p:cNvPr>
          <p:cNvSpPr>
            <a:spLocks xmlns:a="http://schemas.openxmlformats.org/drawingml/2006/main" noGrp="1"/>
          </p:cNvSpPr>
          <p:nvPr/>
        </p:nvSpPr>
        <p:spPr>
          <a:xfrm xmlns:a="http://schemas.openxmlformats.org/drawingml/2006/main" flipH="0" flipV="0">
            <a:off x="20764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2" name="">
            <a:extLst xmlns:a="http://schemas.openxmlformats.org/drawingml/2006/main">
              <a:ext uri="{FF2B5EF4-FFF2-40B4-BE49-F238E27FC236}">
                <a16:creationId xmlns:a16="http://schemas.microsoft.com/office/drawing/2014/main" id="{41C8AC11-E0CB-49B2-864D-6545752D9AD5}"/>
              </a:ext>
            </a:extLst>
          </p:cNvPr>
          <p:cNvSpPr>
            <a:spLocks xmlns:a="http://schemas.openxmlformats.org/drawingml/2006/main" noGrp="1"/>
          </p:cNvSpPr>
          <p:nvPr/>
        </p:nvSpPr>
        <p:spPr>
          <a:xfrm xmlns:a="http://schemas.openxmlformats.org/drawingml/2006/main" flipH="0" flipV="0">
            <a:off x="33909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3" name="">
            <a:extLst xmlns:a="http://schemas.openxmlformats.org/drawingml/2006/main">
              <a:ext uri="{FF2B5EF4-FFF2-40B4-BE49-F238E27FC236}">
                <a16:creationId xmlns:a16="http://schemas.microsoft.com/office/drawing/2014/main" id="{8517AFA9-92B0-4215-91DB-B3BF3E529F04}"/>
              </a:ext>
            </a:extLst>
          </p:cNvPr>
          <p:cNvSpPr>
            <a:spLocks xmlns:a="http://schemas.openxmlformats.org/drawingml/2006/main" noGrp="1"/>
          </p:cNvSpPr>
          <p:nvPr/>
        </p:nvSpPr>
        <p:spPr>
          <a:xfrm xmlns:a="http://schemas.openxmlformats.org/drawingml/2006/main" flipH="0" flipV="0">
            <a:off x="47053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4" name="">
            <a:extLst xmlns:a="http://schemas.openxmlformats.org/drawingml/2006/main">
              <a:ext uri="{FF2B5EF4-FFF2-40B4-BE49-F238E27FC236}">
                <a16:creationId xmlns:a16="http://schemas.microsoft.com/office/drawing/2014/main" id="{D03E8CB2-CDB2-4FFE-B6D6-73F5FE3D8A98}"/>
              </a:ext>
            </a:extLst>
          </p:cNvPr>
          <p:cNvSpPr>
            <a:spLocks xmlns:a="http://schemas.openxmlformats.org/drawingml/2006/main" noGrp="1"/>
          </p:cNvSpPr>
          <p:nvPr/>
        </p:nvSpPr>
        <p:spPr>
          <a:xfrm xmlns:a="http://schemas.openxmlformats.org/drawingml/2006/main" flipH="0" flipV="0">
            <a:off x="60198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5" name="">
            <a:extLst xmlns:a="http://schemas.openxmlformats.org/drawingml/2006/main">
              <a:ext uri="{FF2B5EF4-FFF2-40B4-BE49-F238E27FC236}">
                <a16:creationId xmlns:a16="http://schemas.microsoft.com/office/drawing/2014/main" id="{B2A63CE3-7821-4CFD-AE63-362887C9B908}"/>
              </a:ext>
            </a:extLst>
          </p:cNvPr>
          <p:cNvSpPr>
            <a:spLocks xmlns:a="http://schemas.openxmlformats.org/drawingml/2006/main" noGrp="1"/>
          </p:cNvSpPr>
          <p:nvPr/>
        </p:nvSpPr>
        <p:spPr>
          <a:xfrm xmlns:a="http://schemas.openxmlformats.org/drawingml/2006/main" flipH="0" flipV="0">
            <a:off x="73342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6" name="">
            <a:extLst xmlns:a="http://schemas.openxmlformats.org/drawingml/2006/main">
              <a:ext uri="{FF2B5EF4-FFF2-40B4-BE49-F238E27FC236}">
                <a16:creationId xmlns:a16="http://schemas.microsoft.com/office/drawing/2014/main" id="{B4BCF2D0-9F89-415C-B8A5-5E2B11BA067D}"/>
              </a:ext>
            </a:extLst>
          </p:cNvPr>
          <p:cNvSpPr>
            <a:spLocks xmlns:a="http://schemas.openxmlformats.org/drawingml/2006/main" noGrp="1"/>
          </p:cNvSpPr>
          <p:nvPr/>
        </p:nvSpPr>
        <p:spPr>
          <a:xfrm xmlns:a="http://schemas.openxmlformats.org/drawingml/2006/main" flipH="0" flipV="0">
            <a:off x="86487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7" name="">
            <a:extLst xmlns:a="http://schemas.openxmlformats.org/drawingml/2006/main">
              <a:ext uri="{FF2B5EF4-FFF2-40B4-BE49-F238E27FC236}">
                <a16:creationId xmlns:a16="http://schemas.microsoft.com/office/drawing/2014/main" id="{54125D5E-B18E-4AE2-BEE9-423D22744534}"/>
              </a:ext>
            </a:extLst>
          </p:cNvPr>
          <p:cNvSpPr>
            <a:spLocks xmlns:a="http://schemas.openxmlformats.org/drawingml/2006/main" noGrp="1"/>
          </p:cNvSpPr>
          <p:nvPr/>
        </p:nvSpPr>
        <p:spPr>
          <a:xfrm xmlns:a="http://schemas.openxmlformats.org/drawingml/2006/main" flipH="0" flipV="0">
            <a:off x="99631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8" name="">
            <a:extLst xmlns:a="http://schemas.openxmlformats.org/drawingml/2006/main">
              <a:ext uri="{FF2B5EF4-FFF2-40B4-BE49-F238E27FC236}">
                <a16:creationId xmlns:a16="http://schemas.microsoft.com/office/drawing/2014/main" id="{67788280-020F-4FAF-8A95-A41ECBCB126D}"/>
              </a:ext>
            </a:extLst>
          </p:cNvPr>
          <p:cNvSpPr>
            <a:spLocks xmlns:a="http://schemas.openxmlformats.org/drawingml/2006/main" noGrp="1"/>
          </p:cNvSpPr>
          <p:nvPr/>
        </p:nvSpPr>
        <p:spPr>
          <a:xfrm xmlns:a="http://schemas.openxmlformats.org/drawingml/2006/main">
            <a:off x="9144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DejaVu Sans"/>
                <a:ea typeface="DejaVu Sans"/>
                <a:cs typeface="DejaVu Sans"/>
              </a:defRPr>
            </a:pPr>
            <a:r>
              <a:rPr sz="1575" b="1">
                <a:solidFill>
                  <a:srgbClr val="F5B61C"/>
                </a:solidFill>
                <a:latin typeface="DejaVu Sans"/>
                <a:ea typeface="DejaVu Sans"/>
                <a:cs typeface="DejaVu Sans"/>
              </a:rPr>
              <a:t>?</a:t>
            </a:r>
          </a:p>
        </p:txBody>
      </p:sp>
      <p:sp>
        <p:nvSpPr>
          <p:cNvPr id="29" name="">
            <a:extLst xmlns:a="http://schemas.openxmlformats.org/drawingml/2006/main">
              <a:ext uri="{FF2B5EF4-FFF2-40B4-BE49-F238E27FC236}">
                <a16:creationId xmlns:a16="http://schemas.microsoft.com/office/drawing/2014/main" id="{4F152CA7-8844-41B0-BB03-9EC53DD7A0C1}"/>
              </a:ext>
            </a:extLst>
          </p:cNvPr>
          <p:cNvSpPr>
            <a:spLocks xmlns:a="http://schemas.openxmlformats.org/drawingml/2006/main" noGrp="1"/>
          </p:cNvSpPr>
          <p:nvPr/>
        </p:nvSpPr>
        <p:spPr>
          <a:xfrm xmlns:a="http://schemas.openxmlformats.org/drawingml/2006/main">
            <a:off x="22288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DejaVu Sans"/>
                <a:ea typeface="DejaVu Sans"/>
                <a:cs typeface="DejaVu Sans"/>
              </a:defRPr>
            </a:pPr>
            <a:r>
              <a:rPr sz="1575" b="1">
                <a:solidFill>
                  <a:srgbClr val="F5B61C"/>
                </a:solidFill>
                <a:latin typeface="DejaVu Sans"/>
                <a:ea typeface="DejaVu Sans"/>
                <a:cs typeface="DejaVu Sans"/>
              </a:rPr>
              <a:t>?</a:t>
            </a:r>
          </a:p>
        </p:txBody>
      </p:sp>
      <p:sp>
        <p:nvSpPr>
          <p:cNvPr id="30" name="">
            <a:extLst xmlns:a="http://schemas.openxmlformats.org/drawingml/2006/main">
              <a:ext uri="{FF2B5EF4-FFF2-40B4-BE49-F238E27FC236}">
                <a16:creationId xmlns:a16="http://schemas.microsoft.com/office/drawing/2014/main" id="{4433B475-6BF4-496F-AE32-7A6C04E6C288}"/>
              </a:ext>
            </a:extLst>
          </p:cNvPr>
          <p:cNvSpPr>
            <a:spLocks xmlns:a="http://schemas.openxmlformats.org/drawingml/2006/main" noGrp="1"/>
          </p:cNvSpPr>
          <p:nvPr/>
        </p:nvSpPr>
        <p:spPr>
          <a:xfrm xmlns:a="http://schemas.openxmlformats.org/drawingml/2006/main">
            <a:off x="48577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DejaVu Sans"/>
                <a:ea typeface="DejaVu Sans"/>
                <a:cs typeface="DejaVu Sans"/>
              </a:defRPr>
            </a:pPr>
            <a:r>
              <a:rPr sz="1575" b="1">
                <a:solidFill>
                  <a:srgbClr val="F5B61C"/>
                </a:solidFill>
                <a:latin typeface="DejaVu Sans"/>
                <a:ea typeface="DejaVu Sans"/>
                <a:cs typeface="DejaVu Sans"/>
              </a:rPr>
              <a:t>?</a:t>
            </a:r>
          </a:p>
        </p:txBody>
      </p:sp>
      <p:sp>
        <p:nvSpPr>
          <p:cNvPr id="31" name="">
            <a:extLst xmlns:a="http://schemas.openxmlformats.org/drawingml/2006/main">
              <a:ext uri="{FF2B5EF4-FFF2-40B4-BE49-F238E27FC236}">
                <a16:creationId xmlns:a16="http://schemas.microsoft.com/office/drawing/2014/main" id="{C0962C19-1A61-463E-BF1A-046242A0C9FB}"/>
              </a:ext>
            </a:extLst>
          </p:cNvPr>
          <p:cNvSpPr>
            <a:spLocks xmlns:a="http://schemas.openxmlformats.org/drawingml/2006/main" noGrp="1"/>
          </p:cNvSpPr>
          <p:nvPr/>
        </p:nvSpPr>
        <p:spPr>
          <a:xfrm xmlns:a="http://schemas.openxmlformats.org/drawingml/2006/main">
            <a:off x="61722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DejaVu Sans"/>
                <a:ea typeface="DejaVu Sans"/>
                <a:cs typeface="DejaVu Sans"/>
              </a:defRPr>
            </a:pPr>
            <a:r>
              <a:rPr sz="1575" b="1">
                <a:solidFill>
                  <a:srgbClr val="F5B61C"/>
                </a:solidFill>
                <a:latin typeface="DejaVu Sans"/>
                <a:ea typeface="DejaVu Sans"/>
                <a:cs typeface="DejaVu Sans"/>
              </a:rPr>
              <a:t>?</a:t>
            </a:r>
          </a:p>
        </p:txBody>
      </p:sp>
      <p:sp>
        <p:nvSpPr>
          <p:cNvPr id="32" name="">
            <a:extLst xmlns:a="http://schemas.openxmlformats.org/drawingml/2006/main">
              <a:ext uri="{FF2B5EF4-FFF2-40B4-BE49-F238E27FC236}">
                <a16:creationId xmlns:a16="http://schemas.microsoft.com/office/drawing/2014/main" id="{4D480C35-7861-47C5-867B-8DC0E8E1CD92}"/>
              </a:ext>
            </a:extLst>
          </p:cNvPr>
          <p:cNvSpPr>
            <a:spLocks xmlns:a="http://schemas.openxmlformats.org/drawingml/2006/main" noGrp="1"/>
          </p:cNvSpPr>
          <p:nvPr/>
        </p:nvSpPr>
        <p:spPr>
          <a:xfrm xmlns:a="http://schemas.openxmlformats.org/drawingml/2006/main">
            <a:off x="74866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DejaVu Sans"/>
                <a:ea typeface="DejaVu Sans"/>
                <a:cs typeface="DejaVu Sans"/>
              </a:defRPr>
            </a:pPr>
            <a:r>
              <a:rPr sz="1575" b="1">
                <a:solidFill>
                  <a:srgbClr val="F5B61C"/>
                </a:solidFill>
                <a:latin typeface="DejaVu Sans"/>
                <a:ea typeface="DejaVu Sans"/>
                <a:cs typeface="DejaVu Sans"/>
              </a:rPr>
              <a:t>?</a:t>
            </a:r>
          </a:p>
        </p:txBody>
      </p:sp>
      <p:sp>
        <p:nvSpPr>
          <p:cNvPr id="33" name="">
            <a:extLst xmlns:a="http://schemas.openxmlformats.org/drawingml/2006/main">
              <a:ext uri="{FF2B5EF4-FFF2-40B4-BE49-F238E27FC236}">
                <a16:creationId xmlns:a16="http://schemas.microsoft.com/office/drawing/2014/main" id="{AAEB0FEB-C0E8-4EAA-9850-7CA3B6E68BE8}"/>
              </a:ext>
            </a:extLst>
          </p:cNvPr>
          <p:cNvSpPr>
            <a:spLocks xmlns:a="http://schemas.openxmlformats.org/drawingml/2006/main" noGrp="1"/>
          </p:cNvSpPr>
          <p:nvPr/>
        </p:nvSpPr>
        <p:spPr>
          <a:xfrm xmlns:a="http://schemas.openxmlformats.org/drawingml/2006/main">
            <a:off x="88011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DejaVu Sans"/>
                <a:ea typeface="DejaVu Sans"/>
                <a:cs typeface="DejaVu Sans"/>
              </a:defRPr>
            </a:pPr>
            <a:r>
              <a:rPr sz="1575" b="1">
                <a:solidFill>
                  <a:srgbClr val="F5B61C"/>
                </a:solidFill>
                <a:latin typeface="DejaVu Sans"/>
                <a:ea typeface="DejaVu Sans"/>
                <a:cs typeface="DejaVu Sans"/>
              </a:rPr>
              <a:t>?</a:t>
            </a:r>
          </a:p>
        </p:txBody>
      </p:sp>
      <p:sp>
        <p:nvSpPr>
          <p:cNvPr id="34" name="">
            <a:extLst xmlns:a="http://schemas.openxmlformats.org/drawingml/2006/main">
              <a:ext uri="{FF2B5EF4-FFF2-40B4-BE49-F238E27FC236}">
                <a16:creationId xmlns:a16="http://schemas.microsoft.com/office/drawing/2014/main" id="{BDF78A04-4D12-4BE9-B3DC-B92D19E5FD91}"/>
              </a:ext>
            </a:extLst>
          </p:cNvPr>
          <p:cNvSpPr>
            <a:spLocks xmlns:a="http://schemas.openxmlformats.org/drawingml/2006/main" noGrp="1"/>
          </p:cNvSpPr>
          <p:nvPr/>
        </p:nvSpPr>
        <p:spPr>
          <a:xfrm xmlns:a="http://schemas.openxmlformats.org/drawingml/2006/main">
            <a:off x="101155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DejaVu Sans"/>
                <a:ea typeface="DejaVu Sans"/>
                <a:cs typeface="DejaVu Sans"/>
              </a:defRPr>
            </a:pPr>
            <a:r>
              <a:rPr sz="1575" b="1">
                <a:solidFill>
                  <a:srgbClr val="F5B61C"/>
                </a:solidFill>
                <a:latin typeface="DejaVu Sans"/>
                <a:ea typeface="DejaVu Sans"/>
                <a:cs typeface="DejaVu Sans"/>
              </a:rPr>
              <a:t>?</a:t>
            </a:r>
          </a:p>
        </p:txBody>
      </p:sp>
      <p:sp>
        <p:nvSpPr>
          <p:cNvPr id="35" name="">
            <a:extLst xmlns:a="http://schemas.openxmlformats.org/drawingml/2006/main">
              <a:ext uri="{FF2B5EF4-FFF2-40B4-BE49-F238E27FC236}">
                <a16:creationId xmlns:a16="http://schemas.microsoft.com/office/drawing/2014/main" id="{CED29E8E-BB87-4413-9EB0-1FD84344C64F}"/>
              </a:ext>
            </a:extLst>
          </p:cNvPr>
          <p:cNvSpPr>
            <a:spLocks xmlns:a="http://schemas.openxmlformats.org/drawingml/2006/main" noGrp="1"/>
          </p:cNvSpPr>
          <p:nvPr/>
        </p:nvSpPr>
        <p:spPr>
          <a:xfrm xmlns:a="http://schemas.openxmlformats.org/drawingml/2006/main">
            <a:off x="914400" y="3067050"/>
            <a:ext cx="10363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Illustrative team: changes per week; comparable work, fixed downstream capacity.</a:t>
            </a:r>
          </a:p>
        </p:txBody>
      </p:sp>
      <p:sp>
        <p:nvSpPr>
          <p:cNvPr id="36" name="">
            <a:extLst xmlns:a="http://schemas.openxmlformats.org/drawingml/2006/main">
              <a:ext uri="{FF2B5EF4-FFF2-40B4-BE49-F238E27FC236}">
                <a16:creationId xmlns:a16="http://schemas.microsoft.com/office/drawing/2014/main" id="{EA5D38D1-EA31-41F8-82CF-745254A68B57}"/>
              </a:ext>
            </a:extLst>
          </p:cNvPr>
          <p:cNvSpPr>
            <a:spLocks xmlns:a="http://schemas.openxmlformats.org/drawingml/2006/main" noGrp="1"/>
          </p:cNvSpPr>
          <p:nvPr/>
        </p:nvSpPr>
        <p:spPr>
          <a:xfrm xmlns:a="http://schemas.openxmlformats.org/drawingml/2006/main">
            <a:off x="323850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DejaVu Sans"/>
                <a:ea typeface="DejaVu Sans"/>
                <a:cs typeface="DejaVu Sans"/>
              </a:defRPr>
            </a:pPr>
            <a:r>
              <a:rPr sz="1650" b="1">
                <a:solidFill>
                  <a:srgbClr val="F4F7FA"/>
                </a:solidFill>
                <a:latin typeface="DejaVu Sans"/>
                <a:ea typeface="DejaVu Sans"/>
                <a:cs typeface="DejaVu Sans"/>
              </a:rPr>
              <a:t>Code</a:t>
            </a:r>
          </a:p>
        </p:txBody>
      </p:sp>
      <p:sp>
        <p:nvSpPr>
          <p:cNvPr id="37" name="">
            <a:extLst xmlns:a="http://schemas.openxmlformats.org/drawingml/2006/main">
              <a:ext uri="{FF2B5EF4-FFF2-40B4-BE49-F238E27FC236}">
                <a16:creationId xmlns:a16="http://schemas.microsoft.com/office/drawing/2014/main" id="{5F141D6E-7266-474F-B7DB-EDAB5475B9EC}"/>
              </a:ext>
            </a:extLst>
          </p:cNvPr>
          <p:cNvSpPr>
            <a:spLocks xmlns:a="http://schemas.openxmlformats.org/drawingml/2006/main" noGrp="1"/>
          </p:cNvSpPr>
          <p:nvPr/>
        </p:nvSpPr>
        <p:spPr>
          <a:xfrm xmlns:a="http://schemas.openxmlformats.org/drawingml/2006/main">
            <a:off x="531495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DejaVu Sans"/>
                <a:ea typeface="DejaVu Sans"/>
                <a:cs typeface="DejaVu Sans"/>
              </a:defRPr>
            </a:pPr>
            <a:r>
              <a:rPr sz="1650" b="1">
                <a:solidFill>
                  <a:srgbClr val="F4F7FA"/>
                </a:solidFill>
                <a:latin typeface="DejaVu Sans"/>
                <a:ea typeface="DejaVu Sans"/>
                <a:cs typeface="DejaVu Sans"/>
              </a:rPr>
              <a:t>Review</a:t>
            </a:r>
          </a:p>
        </p:txBody>
      </p:sp>
      <p:sp>
        <p:nvSpPr>
          <p:cNvPr id="38" name="">
            <a:extLst xmlns:a="http://schemas.openxmlformats.org/drawingml/2006/main">
              <a:ext uri="{FF2B5EF4-FFF2-40B4-BE49-F238E27FC236}">
                <a16:creationId xmlns:a16="http://schemas.microsoft.com/office/drawing/2014/main" id="{1A2A612F-31E2-41F3-B874-3D0A4672EC24}"/>
              </a:ext>
            </a:extLst>
          </p:cNvPr>
          <p:cNvSpPr>
            <a:spLocks xmlns:a="http://schemas.openxmlformats.org/drawingml/2006/main" noGrp="1"/>
          </p:cNvSpPr>
          <p:nvPr/>
        </p:nvSpPr>
        <p:spPr>
          <a:xfrm xmlns:a="http://schemas.openxmlformats.org/drawingml/2006/main">
            <a:off x="739140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DejaVu Sans"/>
                <a:ea typeface="DejaVu Sans"/>
                <a:cs typeface="DejaVu Sans"/>
              </a:defRPr>
            </a:pPr>
            <a:r>
              <a:rPr sz="1650" b="1">
                <a:solidFill>
                  <a:srgbClr val="F4F7FA"/>
                </a:solidFill>
                <a:latin typeface="DejaVu Sans"/>
                <a:ea typeface="DejaVu Sans"/>
                <a:cs typeface="DejaVu Sans"/>
              </a:rPr>
              <a:t>Integrate</a:t>
            </a:r>
          </a:p>
        </p:txBody>
      </p:sp>
      <p:sp>
        <p:nvSpPr>
          <p:cNvPr id="39" name="">
            <a:extLst xmlns:a="http://schemas.openxmlformats.org/drawingml/2006/main">
              <a:ext uri="{FF2B5EF4-FFF2-40B4-BE49-F238E27FC236}">
                <a16:creationId xmlns:a16="http://schemas.microsoft.com/office/drawing/2014/main" id="{5D2DE7B2-52F0-4C2A-93EE-4E62ED1187B0}"/>
              </a:ext>
            </a:extLst>
          </p:cNvPr>
          <p:cNvSpPr>
            <a:spLocks xmlns:a="http://schemas.openxmlformats.org/drawingml/2006/main" noGrp="1"/>
          </p:cNvSpPr>
          <p:nvPr/>
        </p:nvSpPr>
        <p:spPr>
          <a:xfrm xmlns:a="http://schemas.openxmlformats.org/drawingml/2006/main">
            <a:off x="9582150" y="342900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ADB8C5"/>
                </a:solidFill>
                <a:latin typeface="DejaVu Sans"/>
                <a:ea typeface="DejaVu Sans"/>
                <a:cs typeface="DejaVu Sans"/>
              </a:defRPr>
            </a:pPr>
            <a:r>
              <a:rPr sz="1500" b="1">
                <a:solidFill>
                  <a:srgbClr val="ADB8C5"/>
                </a:solidFill>
                <a:latin typeface="DejaVu Sans"/>
                <a:ea typeface="DejaVu Sans"/>
                <a:cs typeface="DejaVu Sans"/>
              </a:rPr>
              <a:t>BACKLOG</a:t>
            </a:r>
          </a:p>
        </p:txBody>
      </p:sp>
      <p:sp>
        <p:nvSpPr>
          <p:cNvPr id="40" name="">
            <a:extLst xmlns:a="http://schemas.openxmlformats.org/drawingml/2006/main">
              <a:ext uri="{FF2B5EF4-FFF2-40B4-BE49-F238E27FC236}">
                <a16:creationId xmlns:a16="http://schemas.microsoft.com/office/drawing/2014/main" id="{39D5F147-1CCB-45BF-BEFF-B7B3E8A89A71}"/>
              </a:ext>
            </a:extLst>
          </p:cNvPr>
          <p:cNvSpPr>
            <a:spLocks xmlns:a="http://schemas.openxmlformats.org/drawingml/2006/main" noGrp="1"/>
          </p:cNvSpPr>
          <p:nvPr/>
        </p:nvSpPr>
        <p:spPr>
          <a:xfrm xmlns:a="http://schemas.openxmlformats.org/drawingml/2006/main">
            <a:off x="914400" y="3829050"/>
            <a:ext cx="209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ADB8C5"/>
                </a:solidFill>
                <a:latin typeface="DejaVu Sans"/>
                <a:ea typeface="DejaVu Sans"/>
                <a:cs typeface="DejaVu Sans"/>
              </a:defRPr>
            </a:pPr>
            <a:r>
              <a:rPr sz="1650" b="1">
                <a:solidFill>
                  <a:srgbClr val="ADB8C5"/>
                </a:solidFill>
                <a:latin typeface="DejaVu Sans"/>
                <a:ea typeface="DejaVu Sans"/>
                <a:cs typeface="DejaVu Sans"/>
              </a:rPr>
              <a:t>BEFORE</a:t>
            </a:r>
          </a:p>
        </p:txBody>
      </p:sp>
      <p:sp>
        <p:nvSpPr>
          <p:cNvPr id="41" name="">
            <a:extLst xmlns:a="http://schemas.openxmlformats.org/drawingml/2006/main">
              <a:ext uri="{FF2B5EF4-FFF2-40B4-BE49-F238E27FC236}">
                <a16:creationId xmlns:a16="http://schemas.microsoft.com/office/drawing/2014/main" id="{987BE91D-931F-49CC-A333-4D6974BA7E1F}"/>
              </a:ext>
            </a:extLst>
          </p:cNvPr>
          <p:cNvSpPr>
            <a:spLocks xmlns:a="http://schemas.openxmlformats.org/drawingml/2006/main" noGrp="1"/>
          </p:cNvSpPr>
          <p:nvPr/>
        </p:nvSpPr>
        <p:spPr>
          <a:xfrm xmlns:a="http://schemas.openxmlformats.org/drawingml/2006/main">
            <a:off x="914400" y="4152900"/>
            <a:ext cx="2095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DejaVu Sans"/>
                <a:ea typeface="DejaVu Sans"/>
                <a:cs typeface="DejaVu Sans"/>
              </a:defRPr>
            </a:pPr>
            <a:r>
              <a:rPr sz="1350" b="0">
                <a:solidFill>
                  <a:srgbClr val="ADB8C5"/>
                </a:solidFill>
                <a:latin typeface="DejaVu Sans"/>
                <a:ea typeface="DejaVu Sans"/>
                <a:cs typeface="DejaVu Sans"/>
              </a:rPr>
              <a:t>Balanced flow</a:t>
            </a:r>
          </a:p>
        </p:txBody>
      </p:sp>
      <p:sp>
        <p:nvSpPr>
          <p:cNvPr id="42" name="">
            <a:extLst xmlns:a="http://schemas.openxmlformats.org/drawingml/2006/main">
              <a:ext uri="{FF2B5EF4-FFF2-40B4-BE49-F238E27FC236}">
                <a16:creationId xmlns:a16="http://schemas.microsoft.com/office/drawing/2014/main" id="{C7336280-9DF8-442E-92B0-716973314F24}"/>
              </a:ext>
            </a:extLst>
          </p:cNvPr>
          <p:cNvSpPr>
            <a:spLocks xmlns:a="http://schemas.openxmlformats.org/drawingml/2006/main" noGrp="1"/>
          </p:cNvSpPr>
          <p:nvPr/>
        </p:nvSpPr>
        <p:spPr>
          <a:xfrm xmlns:a="http://schemas.openxmlformats.org/drawingml/2006/main">
            <a:off x="323850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3" name="">
            <a:extLst xmlns:a="http://schemas.openxmlformats.org/drawingml/2006/main">
              <a:ext uri="{FF2B5EF4-FFF2-40B4-BE49-F238E27FC236}">
                <a16:creationId xmlns:a16="http://schemas.microsoft.com/office/drawing/2014/main" id="{D4FDB704-550F-4085-AD67-AD4367D8B865}"/>
              </a:ext>
            </a:extLst>
          </p:cNvPr>
          <p:cNvSpPr>
            <a:spLocks xmlns:a="http://schemas.openxmlformats.org/drawingml/2006/main" noGrp="1"/>
          </p:cNvSpPr>
          <p:nvPr/>
        </p:nvSpPr>
        <p:spPr>
          <a:xfrm xmlns:a="http://schemas.openxmlformats.org/drawingml/2006/main">
            <a:off x="335280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DejaVu Sans"/>
                <a:ea typeface="DejaVu Sans"/>
                <a:cs typeface="DejaVu Sans"/>
              </a:defRPr>
            </a:pPr>
            <a:r>
              <a:rPr sz="2700" b="1">
                <a:solidFill>
                  <a:srgbClr val="F4F7FA"/>
                </a:solidFill>
                <a:latin typeface="DejaVu Sans"/>
                <a:ea typeface="DejaVu Sans"/>
                <a:cs typeface="DejaVu Sans"/>
              </a:rPr>
              <a:t>8</a:t>
            </a:r>
          </a:p>
        </p:txBody>
      </p:sp>
      <p:sp>
        <p:nvSpPr>
          <p:cNvPr id="44" name="">
            <a:extLst xmlns:a="http://schemas.openxmlformats.org/drawingml/2006/main">
              <a:ext uri="{FF2B5EF4-FFF2-40B4-BE49-F238E27FC236}">
                <a16:creationId xmlns:a16="http://schemas.microsoft.com/office/drawing/2014/main" id="{E30726C3-C948-41FD-B577-78B7FFA8EAFB}"/>
              </a:ext>
            </a:extLst>
          </p:cNvPr>
          <p:cNvSpPr>
            <a:spLocks xmlns:a="http://schemas.openxmlformats.org/drawingml/2006/main" noGrp="1"/>
          </p:cNvSpPr>
          <p:nvPr/>
        </p:nvSpPr>
        <p:spPr>
          <a:xfrm xmlns:a="http://schemas.openxmlformats.org/drawingml/2006/main">
            <a:off x="531495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5" name="">
            <a:extLst xmlns:a="http://schemas.openxmlformats.org/drawingml/2006/main">
              <a:ext uri="{FF2B5EF4-FFF2-40B4-BE49-F238E27FC236}">
                <a16:creationId xmlns:a16="http://schemas.microsoft.com/office/drawing/2014/main" id="{B06DDDB2-132F-40B4-A88F-2299DC1EDEA9}"/>
              </a:ext>
            </a:extLst>
          </p:cNvPr>
          <p:cNvSpPr>
            <a:spLocks xmlns:a="http://schemas.openxmlformats.org/drawingml/2006/main" noGrp="1"/>
          </p:cNvSpPr>
          <p:nvPr/>
        </p:nvSpPr>
        <p:spPr>
          <a:xfrm xmlns:a="http://schemas.openxmlformats.org/drawingml/2006/main">
            <a:off x="542925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DejaVu Sans"/>
                <a:ea typeface="DejaVu Sans"/>
                <a:cs typeface="DejaVu Sans"/>
              </a:defRPr>
            </a:pPr>
            <a:r>
              <a:rPr sz="2700" b="1">
                <a:solidFill>
                  <a:srgbClr val="F4F7FA"/>
                </a:solidFill>
                <a:latin typeface="DejaVu Sans"/>
                <a:ea typeface="DejaVu Sans"/>
                <a:cs typeface="DejaVu Sans"/>
              </a:rPr>
              <a:t>8</a:t>
            </a:r>
          </a:p>
        </p:txBody>
      </p:sp>
      <p:sp>
        <p:nvSpPr>
          <p:cNvPr id="46" name="">
            <a:extLst xmlns:a="http://schemas.openxmlformats.org/drawingml/2006/main">
              <a:ext uri="{FF2B5EF4-FFF2-40B4-BE49-F238E27FC236}">
                <a16:creationId xmlns:a16="http://schemas.microsoft.com/office/drawing/2014/main" id="{67CC6F9C-76FD-4DB9-B4CC-0510F61F04A7}"/>
              </a:ext>
            </a:extLst>
          </p:cNvPr>
          <p:cNvSpPr>
            <a:spLocks xmlns:a="http://schemas.openxmlformats.org/drawingml/2006/main" noGrp="1"/>
          </p:cNvSpPr>
          <p:nvPr/>
        </p:nvSpPr>
        <p:spPr>
          <a:xfrm xmlns:a="http://schemas.openxmlformats.org/drawingml/2006/main">
            <a:off x="739140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7" name="">
            <a:extLst xmlns:a="http://schemas.openxmlformats.org/drawingml/2006/main">
              <a:ext uri="{FF2B5EF4-FFF2-40B4-BE49-F238E27FC236}">
                <a16:creationId xmlns:a16="http://schemas.microsoft.com/office/drawing/2014/main" id="{2DCF2516-95ED-466F-9E92-4DE82B6AB4C1}"/>
              </a:ext>
            </a:extLst>
          </p:cNvPr>
          <p:cNvSpPr>
            <a:spLocks xmlns:a="http://schemas.openxmlformats.org/drawingml/2006/main" noGrp="1"/>
          </p:cNvSpPr>
          <p:nvPr/>
        </p:nvSpPr>
        <p:spPr>
          <a:xfrm xmlns:a="http://schemas.openxmlformats.org/drawingml/2006/main">
            <a:off x="750570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DejaVu Sans"/>
                <a:ea typeface="DejaVu Sans"/>
                <a:cs typeface="DejaVu Sans"/>
              </a:defRPr>
            </a:pPr>
            <a:r>
              <a:rPr sz="2700" b="1">
                <a:solidFill>
                  <a:srgbClr val="F4F7FA"/>
                </a:solidFill>
                <a:latin typeface="DejaVu Sans"/>
                <a:ea typeface="DejaVu Sans"/>
                <a:cs typeface="DejaVu Sans"/>
              </a:rPr>
              <a:t>8</a:t>
            </a:r>
          </a:p>
        </p:txBody>
      </p:sp>
      <p:sp>
        <p:nvSpPr>
          <p:cNvPr id="48" name="">
            <a:extLst xmlns:a="http://schemas.openxmlformats.org/drawingml/2006/main">
              <a:ext uri="{FF2B5EF4-FFF2-40B4-BE49-F238E27FC236}">
                <a16:creationId xmlns:a16="http://schemas.microsoft.com/office/drawing/2014/main" id="{5BD3FB9E-2069-4B82-8535-ECAE405DF637}"/>
              </a:ext>
            </a:extLst>
          </p:cNvPr>
          <p:cNvSpPr>
            <a:spLocks xmlns:a="http://schemas.openxmlformats.org/drawingml/2006/main" noGrp="1"/>
          </p:cNvSpPr>
          <p:nvPr/>
        </p:nvSpPr>
        <p:spPr>
          <a:xfrm xmlns:a="http://schemas.openxmlformats.org/drawingml/2006/main" flipH="0" flipV="0">
            <a:off x="4876800" y="41243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49" name="">
            <a:extLst xmlns:a="http://schemas.openxmlformats.org/drawingml/2006/main">
              <a:ext uri="{FF2B5EF4-FFF2-40B4-BE49-F238E27FC236}">
                <a16:creationId xmlns:a16="http://schemas.microsoft.com/office/drawing/2014/main" id="{9626B6C5-0770-407E-AD35-CAC09D3C5921}"/>
              </a:ext>
            </a:extLst>
          </p:cNvPr>
          <p:cNvSpPr>
            <a:spLocks xmlns:a="http://schemas.openxmlformats.org/drawingml/2006/main" noGrp="1"/>
          </p:cNvSpPr>
          <p:nvPr/>
        </p:nvSpPr>
        <p:spPr>
          <a:xfrm xmlns:a="http://schemas.openxmlformats.org/drawingml/2006/main" flipH="0" flipV="0">
            <a:off x="6953250" y="41243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50" name="">
            <a:extLst xmlns:a="http://schemas.openxmlformats.org/drawingml/2006/main">
              <a:ext uri="{FF2B5EF4-FFF2-40B4-BE49-F238E27FC236}">
                <a16:creationId xmlns:a16="http://schemas.microsoft.com/office/drawing/2014/main" id="{4BD7222E-E2D1-43A5-A23B-D8065A6F1A47}"/>
              </a:ext>
            </a:extLst>
          </p:cNvPr>
          <p:cNvSpPr>
            <a:spLocks xmlns:a="http://schemas.openxmlformats.org/drawingml/2006/main" noGrp="1"/>
          </p:cNvSpPr>
          <p:nvPr/>
        </p:nvSpPr>
        <p:spPr>
          <a:xfrm xmlns:a="http://schemas.openxmlformats.org/drawingml/2006/main">
            <a:off x="9582150" y="3829050"/>
            <a:ext cx="1695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925" b="1">
                <a:solidFill>
                  <a:srgbClr val="ADB8C5"/>
                </a:solidFill>
                <a:latin typeface="DejaVu Sans"/>
                <a:ea typeface="DejaVu Sans"/>
                <a:cs typeface="DejaVu Sans"/>
              </a:defRPr>
            </a:pPr>
            <a:r>
              <a:rPr sz="2925" b="1">
                <a:solidFill>
                  <a:srgbClr val="ADB8C5"/>
                </a:solidFill>
                <a:latin typeface="DejaVu Sans"/>
                <a:ea typeface="DejaVu Sans"/>
                <a:cs typeface="DejaVu Sans"/>
              </a:rPr>
              <a:t>0</a:t>
            </a:r>
          </a:p>
        </p:txBody>
      </p:sp>
      <p:sp>
        <p:nvSpPr>
          <p:cNvPr id="51" name="">
            <a:extLst xmlns:a="http://schemas.openxmlformats.org/drawingml/2006/main">
              <a:ext uri="{FF2B5EF4-FFF2-40B4-BE49-F238E27FC236}">
                <a16:creationId xmlns:a16="http://schemas.microsoft.com/office/drawing/2014/main" id="{20048EC2-2A93-4284-A10C-36926C16185C}"/>
              </a:ext>
            </a:extLst>
          </p:cNvPr>
          <p:cNvSpPr>
            <a:spLocks xmlns:a="http://schemas.openxmlformats.org/drawingml/2006/main" noGrp="1"/>
          </p:cNvSpPr>
          <p:nvPr/>
        </p:nvSpPr>
        <p:spPr>
          <a:xfrm xmlns:a="http://schemas.openxmlformats.org/drawingml/2006/main">
            <a:off x="9582150" y="4286250"/>
            <a:ext cx="1695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DejaVu Sans"/>
                <a:ea typeface="DejaVu Sans"/>
                <a:cs typeface="DejaVu Sans"/>
              </a:defRPr>
            </a:pPr>
            <a:r>
              <a:rPr sz="1275" b="0">
                <a:solidFill>
                  <a:srgbClr val="ADB8C5"/>
                </a:solidFill>
                <a:latin typeface="DejaVu Sans"/>
                <a:ea typeface="DejaVu Sans"/>
                <a:cs typeface="DejaVu Sans"/>
              </a:rPr>
              <a:t>no accumulation</a:t>
            </a:r>
          </a:p>
        </p:txBody>
      </p:sp>
      <p:sp>
        <p:nvSpPr>
          <p:cNvPr id="52" name="">
            <a:extLst xmlns:a="http://schemas.openxmlformats.org/drawingml/2006/main">
              <a:ext uri="{FF2B5EF4-FFF2-40B4-BE49-F238E27FC236}">
                <a16:creationId xmlns:a16="http://schemas.microsoft.com/office/drawing/2014/main" id="{1FD2CB49-9D21-4484-BB7C-CD496B593F18}"/>
              </a:ext>
            </a:extLst>
          </p:cNvPr>
          <p:cNvSpPr>
            <a:spLocks xmlns:a="http://schemas.openxmlformats.org/drawingml/2006/main" noGrp="1"/>
          </p:cNvSpPr>
          <p:nvPr/>
        </p:nvSpPr>
        <p:spPr>
          <a:xfrm xmlns:a="http://schemas.openxmlformats.org/drawingml/2006/main">
            <a:off x="914400" y="4819650"/>
            <a:ext cx="209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DejaVu Sans"/>
                <a:ea typeface="DejaVu Sans"/>
                <a:cs typeface="DejaVu Sans"/>
              </a:defRPr>
            </a:pPr>
            <a:r>
              <a:rPr sz="1650" b="1">
                <a:solidFill>
                  <a:srgbClr val="28C7F7"/>
                </a:solidFill>
                <a:latin typeface="DejaVu Sans"/>
                <a:ea typeface="DejaVu Sans"/>
                <a:cs typeface="DejaVu Sans"/>
              </a:rPr>
              <a:t>AFTER AI</a:t>
            </a:r>
          </a:p>
        </p:txBody>
      </p:sp>
      <p:sp>
        <p:nvSpPr>
          <p:cNvPr id="53" name="">
            <a:extLst xmlns:a="http://schemas.openxmlformats.org/drawingml/2006/main">
              <a:ext uri="{FF2B5EF4-FFF2-40B4-BE49-F238E27FC236}">
                <a16:creationId xmlns:a16="http://schemas.microsoft.com/office/drawing/2014/main" id="{283F1E91-5AD5-41FB-9567-5998F0EEEFFD}"/>
              </a:ext>
            </a:extLst>
          </p:cNvPr>
          <p:cNvSpPr>
            <a:spLocks xmlns:a="http://schemas.openxmlformats.org/drawingml/2006/main" noGrp="1"/>
          </p:cNvSpPr>
          <p:nvPr/>
        </p:nvSpPr>
        <p:spPr>
          <a:xfrm xmlns:a="http://schemas.openxmlformats.org/drawingml/2006/main">
            <a:off x="914400" y="5143500"/>
            <a:ext cx="2095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DejaVu Sans"/>
                <a:ea typeface="DejaVu Sans"/>
                <a:cs typeface="DejaVu Sans"/>
              </a:defRPr>
            </a:pPr>
            <a:r>
              <a:rPr sz="1350" b="0">
                <a:solidFill>
                  <a:srgbClr val="ADB8C5"/>
                </a:solidFill>
                <a:latin typeface="DejaVu Sans"/>
                <a:ea typeface="DejaVu Sans"/>
                <a:cs typeface="DejaVu Sans"/>
              </a:rPr>
              <a:t>Other stages have</a:t>
            </a:r>
          </a:p>
          <a:p xmlns:a="http://schemas.openxmlformats.org/drawingml/2006/main">
            <a:pPr algn="l">
              <a:defRPr sz="1350" b="0">
                <a:solidFill>
                  <a:srgbClr val="ADB8C5"/>
                </a:solidFill>
                <a:latin typeface="DejaVu Sans"/>
                <a:ea typeface="DejaVu Sans"/>
                <a:cs typeface="DejaVu Sans"/>
              </a:defRPr>
            </a:pPr>
            <a:r>
              <a:rPr sz="1350" b="0">
                <a:solidFill>
                  <a:srgbClr val="ADB8C5"/>
                </a:solidFill>
                <a:latin typeface="DejaVu Sans"/>
                <a:ea typeface="DejaVu Sans"/>
                <a:cs typeface="DejaVu Sans"/>
              </a:rPr>
              <a:t>not sped up</a:t>
            </a:r>
          </a:p>
        </p:txBody>
      </p:sp>
      <p:sp>
        <p:nvSpPr>
          <p:cNvPr id="54" name="">
            <a:extLst xmlns:a="http://schemas.openxmlformats.org/drawingml/2006/main">
              <a:ext uri="{FF2B5EF4-FFF2-40B4-BE49-F238E27FC236}">
                <a16:creationId xmlns:a16="http://schemas.microsoft.com/office/drawing/2014/main" id="{D160DC6B-007B-4553-9ACC-89288A879539}"/>
              </a:ext>
            </a:extLst>
          </p:cNvPr>
          <p:cNvSpPr>
            <a:spLocks xmlns:a="http://schemas.openxmlformats.org/drawingml/2006/main" noGrp="1"/>
          </p:cNvSpPr>
          <p:nvPr/>
        </p:nvSpPr>
        <p:spPr>
          <a:xfrm xmlns:a="http://schemas.openxmlformats.org/drawingml/2006/main">
            <a:off x="323850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55" name="">
            <a:extLst xmlns:a="http://schemas.openxmlformats.org/drawingml/2006/main">
              <a:ext uri="{FF2B5EF4-FFF2-40B4-BE49-F238E27FC236}">
                <a16:creationId xmlns:a16="http://schemas.microsoft.com/office/drawing/2014/main" id="{E1A0D5B9-DAE1-4D67-848C-BE9705ADFF71}"/>
              </a:ext>
            </a:extLst>
          </p:cNvPr>
          <p:cNvSpPr>
            <a:spLocks xmlns:a="http://schemas.openxmlformats.org/drawingml/2006/main" noGrp="1"/>
          </p:cNvSpPr>
          <p:nvPr/>
        </p:nvSpPr>
        <p:spPr>
          <a:xfrm xmlns:a="http://schemas.openxmlformats.org/drawingml/2006/main">
            <a:off x="335280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28C7F7"/>
                </a:solidFill>
                <a:latin typeface="DejaVu Sans"/>
                <a:ea typeface="DejaVu Sans"/>
                <a:cs typeface="DejaVu Sans"/>
              </a:defRPr>
            </a:pPr>
            <a:r>
              <a:rPr sz="2700" b="1">
                <a:solidFill>
                  <a:srgbClr val="28C7F7"/>
                </a:solidFill>
                <a:latin typeface="DejaVu Sans"/>
                <a:ea typeface="DejaVu Sans"/>
                <a:cs typeface="DejaVu Sans"/>
              </a:rPr>
              <a:t>100</a:t>
            </a:r>
          </a:p>
        </p:txBody>
      </p:sp>
      <p:sp>
        <p:nvSpPr>
          <p:cNvPr id="56" name="">
            <a:extLst xmlns:a="http://schemas.openxmlformats.org/drawingml/2006/main">
              <a:ext uri="{FF2B5EF4-FFF2-40B4-BE49-F238E27FC236}">
                <a16:creationId xmlns:a16="http://schemas.microsoft.com/office/drawing/2014/main" id="{94D86F73-C55F-46C3-8855-EF01CA353F1B}"/>
              </a:ext>
            </a:extLst>
          </p:cNvPr>
          <p:cNvSpPr>
            <a:spLocks xmlns:a="http://schemas.openxmlformats.org/drawingml/2006/main" noGrp="1"/>
          </p:cNvSpPr>
          <p:nvPr/>
        </p:nvSpPr>
        <p:spPr>
          <a:xfrm xmlns:a="http://schemas.openxmlformats.org/drawingml/2006/main">
            <a:off x="531495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57" name="">
            <a:extLst xmlns:a="http://schemas.openxmlformats.org/drawingml/2006/main">
              <a:ext uri="{FF2B5EF4-FFF2-40B4-BE49-F238E27FC236}">
                <a16:creationId xmlns:a16="http://schemas.microsoft.com/office/drawing/2014/main" id="{F9278B03-C107-4F35-AC0E-B46668A34905}"/>
              </a:ext>
            </a:extLst>
          </p:cNvPr>
          <p:cNvSpPr>
            <a:spLocks xmlns:a="http://schemas.openxmlformats.org/drawingml/2006/main" noGrp="1"/>
          </p:cNvSpPr>
          <p:nvPr/>
        </p:nvSpPr>
        <p:spPr>
          <a:xfrm xmlns:a="http://schemas.openxmlformats.org/drawingml/2006/main">
            <a:off x="542925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DejaVu Sans"/>
                <a:ea typeface="DejaVu Sans"/>
                <a:cs typeface="DejaVu Sans"/>
              </a:defRPr>
            </a:pPr>
            <a:r>
              <a:rPr sz="2700" b="1">
                <a:solidFill>
                  <a:srgbClr val="F4F7FA"/>
                </a:solidFill>
                <a:latin typeface="DejaVu Sans"/>
                <a:ea typeface="DejaVu Sans"/>
                <a:cs typeface="DejaVu Sans"/>
              </a:rPr>
              <a:t>8</a:t>
            </a:r>
          </a:p>
        </p:txBody>
      </p:sp>
      <p:sp>
        <p:nvSpPr>
          <p:cNvPr id="58" name="">
            <a:extLst xmlns:a="http://schemas.openxmlformats.org/drawingml/2006/main">
              <a:ext uri="{FF2B5EF4-FFF2-40B4-BE49-F238E27FC236}">
                <a16:creationId xmlns:a16="http://schemas.microsoft.com/office/drawing/2014/main" id="{D8D48680-0429-461C-86CB-1D4306EF46EA}"/>
              </a:ext>
            </a:extLst>
          </p:cNvPr>
          <p:cNvSpPr>
            <a:spLocks xmlns:a="http://schemas.openxmlformats.org/drawingml/2006/main" noGrp="1"/>
          </p:cNvSpPr>
          <p:nvPr/>
        </p:nvSpPr>
        <p:spPr>
          <a:xfrm xmlns:a="http://schemas.openxmlformats.org/drawingml/2006/main">
            <a:off x="739140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59" name="">
            <a:extLst xmlns:a="http://schemas.openxmlformats.org/drawingml/2006/main">
              <a:ext uri="{FF2B5EF4-FFF2-40B4-BE49-F238E27FC236}">
                <a16:creationId xmlns:a16="http://schemas.microsoft.com/office/drawing/2014/main" id="{6C1ED67C-4F49-4B36-A42B-3F4D1E19DB77}"/>
              </a:ext>
            </a:extLst>
          </p:cNvPr>
          <p:cNvSpPr>
            <a:spLocks xmlns:a="http://schemas.openxmlformats.org/drawingml/2006/main" noGrp="1"/>
          </p:cNvSpPr>
          <p:nvPr/>
        </p:nvSpPr>
        <p:spPr>
          <a:xfrm xmlns:a="http://schemas.openxmlformats.org/drawingml/2006/main">
            <a:off x="750570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DejaVu Sans"/>
                <a:ea typeface="DejaVu Sans"/>
                <a:cs typeface="DejaVu Sans"/>
              </a:defRPr>
            </a:pPr>
            <a:r>
              <a:rPr sz="2700" b="1">
                <a:solidFill>
                  <a:srgbClr val="F4F7FA"/>
                </a:solidFill>
                <a:latin typeface="DejaVu Sans"/>
                <a:ea typeface="DejaVu Sans"/>
                <a:cs typeface="DejaVu Sans"/>
              </a:rPr>
              <a:t>8</a:t>
            </a:r>
          </a:p>
        </p:txBody>
      </p:sp>
      <p:sp>
        <p:nvSpPr>
          <p:cNvPr id="60" name="">
            <a:extLst xmlns:a="http://schemas.openxmlformats.org/drawingml/2006/main">
              <a:ext uri="{FF2B5EF4-FFF2-40B4-BE49-F238E27FC236}">
                <a16:creationId xmlns:a16="http://schemas.microsoft.com/office/drawing/2014/main" id="{E666C77D-7EEB-4BC0-B6D9-2DD2BEB0F4CC}"/>
              </a:ext>
            </a:extLst>
          </p:cNvPr>
          <p:cNvSpPr>
            <a:spLocks xmlns:a="http://schemas.openxmlformats.org/drawingml/2006/main" noGrp="1"/>
          </p:cNvSpPr>
          <p:nvPr/>
        </p:nvSpPr>
        <p:spPr>
          <a:xfrm xmlns:a="http://schemas.openxmlformats.org/drawingml/2006/main" flipH="0" flipV="0">
            <a:off x="4876800" y="51149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1" name="">
            <a:extLst xmlns:a="http://schemas.openxmlformats.org/drawingml/2006/main">
              <a:ext uri="{FF2B5EF4-FFF2-40B4-BE49-F238E27FC236}">
                <a16:creationId xmlns:a16="http://schemas.microsoft.com/office/drawing/2014/main" id="{220425E7-7AE7-4BF6-AA78-03535BEBF32B}"/>
              </a:ext>
            </a:extLst>
          </p:cNvPr>
          <p:cNvSpPr>
            <a:spLocks xmlns:a="http://schemas.openxmlformats.org/drawingml/2006/main" noGrp="1"/>
          </p:cNvSpPr>
          <p:nvPr/>
        </p:nvSpPr>
        <p:spPr>
          <a:xfrm xmlns:a="http://schemas.openxmlformats.org/drawingml/2006/main" flipH="0" flipV="0">
            <a:off x="6953250" y="51149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2" name="">
            <a:extLst xmlns:a="http://schemas.openxmlformats.org/drawingml/2006/main">
              <a:ext uri="{FF2B5EF4-FFF2-40B4-BE49-F238E27FC236}">
                <a16:creationId xmlns:a16="http://schemas.microsoft.com/office/drawing/2014/main" id="{F26F23AC-ECEB-47A7-85F3-B5C3AE1F213D}"/>
              </a:ext>
            </a:extLst>
          </p:cNvPr>
          <p:cNvSpPr>
            <a:spLocks xmlns:a="http://schemas.openxmlformats.org/drawingml/2006/main" noGrp="1"/>
          </p:cNvSpPr>
          <p:nvPr/>
        </p:nvSpPr>
        <p:spPr>
          <a:xfrm xmlns:a="http://schemas.openxmlformats.org/drawingml/2006/main">
            <a:off x="9582150" y="4819650"/>
            <a:ext cx="1695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925" b="1">
                <a:solidFill>
                  <a:srgbClr val="F5B61C"/>
                </a:solidFill>
                <a:latin typeface="DejaVu Sans"/>
                <a:ea typeface="DejaVu Sans"/>
                <a:cs typeface="DejaVu Sans"/>
              </a:defRPr>
            </a:pPr>
            <a:r>
              <a:rPr sz="2925" b="1">
                <a:solidFill>
                  <a:srgbClr val="F5B61C"/>
                </a:solidFill>
                <a:latin typeface="DejaVu Sans"/>
                <a:ea typeface="DejaVu Sans"/>
                <a:cs typeface="DejaVu Sans"/>
              </a:rPr>
              <a:t>+92</a:t>
            </a:r>
          </a:p>
        </p:txBody>
      </p:sp>
      <p:sp>
        <p:nvSpPr>
          <p:cNvPr id="63" name="">
            <a:extLst xmlns:a="http://schemas.openxmlformats.org/drawingml/2006/main">
              <a:ext uri="{FF2B5EF4-FFF2-40B4-BE49-F238E27FC236}">
                <a16:creationId xmlns:a16="http://schemas.microsoft.com/office/drawing/2014/main" id="{8D6D8715-7717-422B-9065-19F0400B1074}"/>
              </a:ext>
            </a:extLst>
          </p:cNvPr>
          <p:cNvSpPr>
            <a:spLocks xmlns:a="http://schemas.openxmlformats.org/drawingml/2006/main" noGrp="1"/>
          </p:cNvSpPr>
          <p:nvPr/>
        </p:nvSpPr>
        <p:spPr>
          <a:xfrm xmlns:a="http://schemas.openxmlformats.org/drawingml/2006/main">
            <a:off x="9582150" y="5276850"/>
            <a:ext cx="1695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DejaVu Sans"/>
                <a:ea typeface="DejaVu Sans"/>
                <a:cs typeface="DejaVu Sans"/>
              </a:defRPr>
            </a:pPr>
            <a:r>
              <a:rPr sz="1275" b="0">
                <a:solidFill>
                  <a:srgbClr val="ADB8C5"/>
                </a:solidFill>
                <a:latin typeface="DejaVu Sans"/>
                <a:ea typeface="DejaVu Sans"/>
                <a:cs typeface="DejaVu Sans"/>
              </a:rPr>
              <a:t>unfinished / week</a:t>
            </a:r>
          </a:p>
        </p:txBody>
      </p:sp>
      <p:sp>
        <p:nvSpPr>
          <p:cNvPr id="64" name="">
            <a:extLst xmlns:a="http://schemas.openxmlformats.org/drawingml/2006/main">
              <a:ext uri="{FF2B5EF4-FFF2-40B4-BE49-F238E27FC236}">
                <a16:creationId xmlns:a16="http://schemas.microsoft.com/office/drawing/2014/main" id="{A0C91B9A-D536-41A4-B208-13830D1B042C}"/>
              </a:ext>
            </a:extLst>
          </p:cNvPr>
          <p:cNvSpPr>
            <a:spLocks xmlns:a="http://schemas.openxmlformats.org/drawingml/2006/main" noGrp="1"/>
          </p:cNvSpPr>
          <p:nvPr/>
        </p:nvSpPr>
        <p:spPr>
          <a:xfrm xmlns:a="http://schemas.openxmlformats.org/drawingml/2006/main" flipH="0" flipV="0">
            <a:off x="914400" y="5705475"/>
            <a:ext cx="10363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65" name="">
            <a:extLst xmlns:a="http://schemas.openxmlformats.org/drawingml/2006/main">
              <a:ext uri="{FF2B5EF4-FFF2-40B4-BE49-F238E27FC236}">
                <a16:creationId xmlns:a16="http://schemas.microsoft.com/office/drawing/2014/main" id="{9A013D62-76D7-4B53-8636-118FAA10B426}"/>
              </a:ext>
            </a:extLst>
          </p:cNvPr>
          <p:cNvSpPr>
            <a:spLocks xmlns:a="http://schemas.openxmlformats.org/drawingml/2006/main" noGrp="1"/>
          </p:cNvSpPr>
          <p:nvPr/>
        </p:nvSpPr>
        <p:spPr>
          <a:xfrm xmlns:a="http://schemas.openxmlformats.org/drawingml/2006/main">
            <a:off x="914400" y="5829300"/>
            <a:ext cx="50958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DejaVu Sans"/>
                <a:ea typeface="DejaVu Sans"/>
                <a:cs typeface="DejaVu Sans"/>
              </a:defRPr>
            </a:pPr>
            <a:r>
              <a:rPr sz="1500" b="1">
                <a:solidFill>
                  <a:srgbClr val="28C7F7"/>
                </a:solidFill>
                <a:latin typeface="DejaVu Sans"/>
                <a:ea typeface="DejaVu Sans"/>
                <a:cs typeface="DejaVu Sans"/>
              </a:rPr>
              <a:t>THEORY OF CONSTRAINTS</a:t>
            </a:r>
          </a:p>
        </p:txBody>
      </p:sp>
      <p:sp>
        <p:nvSpPr>
          <p:cNvPr id="66" name="">
            <a:extLst xmlns:a="http://schemas.openxmlformats.org/drawingml/2006/main">
              <a:ext uri="{FF2B5EF4-FFF2-40B4-BE49-F238E27FC236}">
                <a16:creationId xmlns:a16="http://schemas.microsoft.com/office/drawing/2014/main" id="{A5B978DF-650C-4695-9804-52ED8F714593}"/>
              </a:ext>
            </a:extLst>
          </p:cNvPr>
          <p:cNvSpPr>
            <a:spLocks xmlns:a="http://schemas.openxmlformats.org/drawingml/2006/main" noGrp="1"/>
          </p:cNvSpPr>
          <p:nvPr/>
        </p:nvSpPr>
        <p:spPr>
          <a:xfrm xmlns:a="http://schemas.openxmlformats.org/drawingml/2006/main">
            <a:off x="914400" y="6143625"/>
            <a:ext cx="10363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Delivery stays at 8/week. WIP grows; overload can reduce quality.</a:t>
            </a:r>
          </a:p>
        </p:txBody>
      </p:sp>
      <p:sp>
        <p:nvSpPr>
          <p:cNvPr id="67" name="">
            <a:extLst xmlns:a="http://schemas.openxmlformats.org/drawingml/2006/main">
              <a:ext uri="{FF2B5EF4-FFF2-40B4-BE49-F238E27FC236}">
                <a16:creationId xmlns:a16="http://schemas.microsoft.com/office/drawing/2014/main" id="{742B74CA-86A9-440F-8400-6D82F407D64F}"/>
              </a:ext>
            </a:extLst>
          </p:cNvPr>
          <p:cNvSpPr>
            <a:spLocks xmlns:a="http://schemas.openxmlformats.org/drawingml/2006/main" noGrp="1"/>
          </p:cNvSpPr>
          <p:nvPr/>
        </p:nvSpPr>
        <p:spPr>
          <a:xfrm xmlns:a="http://schemas.openxmlformats.org/drawingml/2006/main">
            <a:off x="6381750" y="5829300"/>
            <a:ext cx="4895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350" b="0">
                <a:solidFill>
                  <a:srgbClr val="ADB8C5"/>
                </a:solidFill>
                <a:latin typeface="DejaVu Sans"/>
                <a:ea typeface="DejaVu Sans"/>
                <a:cs typeface="DejaVu Sans"/>
              </a:defRPr>
            </a:pPr>
            <a:r>
              <a:rPr sz="1350" b="0">
                <a:solidFill>
                  <a:srgbClr val="ADB8C5"/>
                </a:solidFill>
                <a:latin typeface="DejaVu Sans"/>
                <a:ea typeface="DejaVu Sans"/>
                <a:cs typeface="DejaVu Sans"/>
              </a:rPr>
              <a:t>Push system: no WIP limit, no discarded work.</a:t>
            </a:r>
          </a:p>
        </p:txBody>
      </p:sp>
    </p:spTree>
    <p:extLst>
      <p:ext uri="{BB962C8B-B14F-4D97-AF65-F5344CB8AC3E}">
        <p14:creationId xmlns:p14="http://schemas.microsoft.com/office/powerpoint/2010/main" val="1219210222"/>
      </p:ext>
    </p:extLst>
  </p:cSld>
</p:sld>
</file>

<file path=ppt/slides/slide4.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45" name="">
            <a:extLst xmlns:a="http://schemas.openxmlformats.org/drawingml/2006/main">
              <a:ext uri="{FF2B5EF4-FFF2-40B4-BE49-F238E27FC236}">
                <a16:creationId xmlns:a16="http://schemas.microsoft.com/office/drawing/2014/main" id="{177A3FF1-1C7D-42AC-88CF-F7EE10E04497}"/>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The Evidence Is Already Messy</a:t>
            </a:r>
          </a:p>
        </p:txBody>
      </p:sp>
      <p:sp>
        <p:nvSpPr>
          <p:cNvPr id="2" name="">
            <a:extLst xmlns:a="http://schemas.openxmlformats.org/drawingml/2006/main">
              <a:ext uri="{FF2B5EF4-FFF2-40B4-BE49-F238E27FC236}">
                <a16:creationId xmlns:a16="http://schemas.microsoft.com/office/drawing/2014/main" id="{D61B7F0D-189D-4E2F-AF05-5303515DF96B}"/>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E7C69D7E-39FE-48DC-A098-90518DDCDFF4}"/>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04</a:t>
            </a:r>
          </a:p>
        </p:txBody>
      </p:sp>
      <p:sp>
        <p:nvSpPr>
          <p:cNvPr id="4" name="">
            <a:extLst xmlns:a="http://schemas.openxmlformats.org/drawingml/2006/main">
              <a:ext uri="{FF2B5EF4-FFF2-40B4-BE49-F238E27FC236}">
                <a16:creationId xmlns:a16="http://schemas.microsoft.com/office/drawing/2014/main" id="{70FC410C-B7CB-464C-92B8-28A40BE57C8C}"/>
              </a:ext>
            </a:extLst>
          </p:cNvPr>
          <p:cNvSpPr>
            <a:spLocks xmlns:a="http://schemas.openxmlformats.org/drawingml/2006/main" noGrp="1"/>
          </p:cNvSpPr>
          <p:nvPr/>
        </p:nvSpPr>
        <p:spPr>
          <a:xfrm xmlns:a="http://schemas.openxmlformats.org/drawingml/2006/main" flipH="0" flipV="0">
            <a:off x="5553075" y="1847850"/>
            <a:ext cx="0" cy="39433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5" name="">
            <a:extLst xmlns:a="http://schemas.openxmlformats.org/drawingml/2006/main">
              <a:ext uri="{FF2B5EF4-FFF2-40B4-BE49-F238E27FC236}">
                <a16:creationId xmlns:a16="http://schemas.microsoft.com/office/drawing/2014/main" id="{23120FF3-B1D1-40FF-9189-6BC6021E1C93}"/>
              </a:ext>
            </a:extLst>
          </p:cNvPr>
          <p:cNvSpPr>
            <a:spLocks xmlns:a="http://schemas.openxmlformats.org/drawingml/2006/main" noGrp="1"/>
          </p:cNvSpPr>
          <p:nvPr/>
        </p:nvSpPr>
        <p:spPr>
          <a:xfrm xmlns:a="http://schemas.openxmlformats.org/drawingml/2006/main">
            <a:off x="609600" y="1857375"/>
            <a:ext cx="476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DejaVu Sans"/>
                <a:ea typeface="DejaVu Sans"/>
                <a:cs typeface="DejaVu Sans"/>
              </a:defRPr>
            </a:pPr>
            <a:r>
              <a:rPr sz="1650" b="1">
                <a:solidFill>
                  <a:srgbClr val="28C7F7"/>
                </a:solidFill>
                <a:latin typeface="DejaVu Sans"/>
                <a:ea typeface="DejaVu Sans"/>
                <a:cs typeface="DejaVu Sans"/>
              </a:rPr>
              <a:t>NBER · SEP 2026 REVISION</a:t>
            </a:r>
          </a:p>
        </p:txBody>
      </p:sp>
      <p:sp>
        <p:nvSpPr>
          <p:cNvPr id="6" name="">
            <a:extLst xmlns:a="http://schemas.openxmlformats.org/drawingml/2006/main">
              <a:ext uri="{FF2B5EF4-FFF2-40B4-BE49-F238E27FC236}">
                <a16:creationId xmlns:a16="http://schemas.microsoft.com/office/drawing/2014/main" id="{00E4B3BD-8F44-49BD-9140-6993669FEAED}"/>
              </a:ext>
            </a:extLst>
          </p:cNvPr>
          <p:cNvSpPr>
            <a:spLocks xmlns:a="http://schemas.openxmlformats.org/drawingml/2006/main" noGrp="1"/>
          </p:cNvSpPr>
          <p:nvPr/>
        </p:nvSpPr>
        <p:spPr>
          <a:xfrm xmlns:a="http://schemas.openxmlformats.org/drawingml/2006/main">
            <a:off x="609600" y="2343150"/>
            <a:ext cx="14954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DejaVu Sans"/>
                <a:ea typeface="DejaVu Sans"/>
                <a:cs typeface="DejaVu Sans"/>
              </a:defRPr>
            </a:pPr>
            <a:r>
              <a:rPr sz="3225" b="1">
                <a:solidFill>
                  <a:srgbClr val="F4F7FA"/>
                </a:solidFill>
                <a:latin typeface="DejaVu Sans"/>
                <a:ea typeface="DejaVu Sans"/>
                <a:cs typeface="DejaVu Sans"/>
              </a:rPr>
              <a:t>25.5×</a:t>
            </a:r>
          </a:p>
        </p:txBody>
      </p:sp>
      <p:sp>
        <p:nvSpPr>
          <p:cNvPr id="7" name="">
            <a:extLst xmlns:a="http://schemas.openxmlformats.org/drawingml/2006/main">
              <a:ext uri="{FF2B5EF4-FFF2-40B4-BE49-F238E27FC236}">
                <a16:creationId xmlns:a16="http://schemas.microsoft.com/office/drawing/2014/main" id="{83F63239-C813-45F7-A5CA-D7FF9A141CBF}"/>
              </a:ext>
            </a:extLst>
          </p:cNvPr>
          <p:cNvSpPr>
            <a:spLocks xmlns:a="http://schemas.openxmlformats.org/drawingml/2006/main" noGrp="1"/>
          </p:cNvSpPr>
          <p:nvPr/>
        </p:nvSpPr>
        <p:spPr>
          <a:xfrm xmlns:a="http://schemas.openxmlformats.org/drawingml/2006/main">
            <a:off x="609600" y="2924175"/>
            <a:ext cx="1495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DejaVu Sans"/>
                <a:ea typeface="DejaVu Sans"/>
                <a:cs typeface="DejaVu Sans"/>
              </a:defRPr>
            </a:pPr>
            <a:r>
              <a:rPr sz="1575" b="0">
                <a:solidFill>
                  <a:srgbClr val="ADB8C5"/>
                </a:solidFill>
                <a:latin typeface="DejaVu Sans"/>
                <a:ea typeface="DejaVu Sans"/>
                <a:cs typeface="DejaVu Sans"/>
              </a:rPr>
              <a:t>changed LOC</a:t>
            </a:r>
          </a:p>
        </p:txBody>
      </p:sp>
      <p:sp>
        <p:nvSpPr>
          <p:cNvPr id="8" name="">
            <a:extLst xmlns:a="http://schemas.openxmlformats.org/drawingml/2006/main">
              <a:ext uri="{FF2B5EF4-FFF2-40B4-BE49-F238E27FC236}">
                <a16:creationId xmlns:a16="http://schemas.microsoft.com/office/drawing/2014/main" id="{360E501E-6CE8-40E9-8F61-EEBE2070235F}"/>
              </a:ext>
            </a:extLst>
          </p:cNvPr>
          <p:cNvSpPr>
            <a:spLocks xmlns:a="http://schemas.openxmlformats.org/drawingml/2006/main" noGrp="1"/>
          </p:cNvSpPr>
          <p:nvPr/>
        </p:nvSpPr>
        <p:spPr>
          <a:xfrm xmlns:a="http://schemas.openxmlformats.org/drawingml/2006/main">
            <a:off x="2219325" y="2343150"/>
            <a:ext cx="14954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DejaVu Sans"/>
                <a:ea typeface="DejaVu Sans"/>
                <a:cs typeface="DejaVu Sans"/>
              </a:defRPr>
            </a:pPr>
            <a:r>
              <a:rPr sz="3225" b="1">
                <a:solidFill>
                  <a:srgbClr val="F4F7FA"/>
                </a:solidFill>
                <a:latin typeface="DejaVu Sans"/>
                <a:ea typeface="DejaVu Sans"/>
                <a:cs typeface="DejaVu Sans"/>
              </a:rPr>
              <a:t>3.4×</a:t>
            </a:r>
          </a:p>
        </p:txBody>
      </p:sp>
      <p:sp>
        <p:nvSpPr>
          <p:cNvPr id="9" name="">
            <a:extLst xmlns:a="http://schemas.openxmlformats.org/drawingml/2006/main">
              <a:ext uri="{FF2B5EF4-FFF2-40B4-BE49-F238E27FC236}">
                <a16:creationId xmlns:a16="http://schemas.microsoft.com/office/drawing/2014/main" id="{7D093178-F068-44C0-B35F-400B76DB263D}"/>
              </a:ext>
            </a:extLst>
          </p:cNvPr>
          <p:cNvSpPr>
            <a:spLocks xmlns:a="http://schemas.openxmlformats.org/drawingml/2006/main" noGrp="1"/>
          </p:cNvSpPr>
          <p:nvPr/>
        </p:nvSpPr>
        <p:spPr>
          <a:xfrm xmlns:a="http://schemas.openxmlformats.org/drawingml/2006/main">
            <a:off x="2219325" y="2924175"/>
            <a:ext cx="1495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DejaVu Sans"/>
                <a:ea typeface="DejaVu Sans"/>
                <a:cs typeface="DejaVu Sans"/>
              </a:defRPr>
            </a:pPr>
            <a:r>
              <a:rPr sz="1575" b="0">
                <a:solidFill>
                  <a:srgbClr val="ADB8C5"/>
                </a:solidFill>
                <a:latin typeface="DejaVu Sans"/>
                <a:ea typeface="DejaVu Sans"/>
                <a:cs typeface="DejaVu Sans"/>
              </a:rPr>
              <a:t>commits</a:t>
            </a:r>
          </a:p>
        </p:txBody>
      </p:sp>
      <p:sp>
        <p:nvSpPr>
          <p:cNvPr id="10" name="">
            <a:extLst xmlns:a="http://schemas.openxmlformats.org/drawingml/2006/main">
              <a:ext uri="{FF2B5EF4-FFF2-40B4-BE49-F238E27FC236}">
                <a16:creationId xmlns:a16="http://schemas.microsoft.com/office/drawing/2014/main" id="{72133A2F-1679-41A2-963D-3D7460378FFE}"/>
              </a:ext>
            </a:extLst>
          </p:cNvPr>
          <p:cNvSpPr>
            <a:spLocks xmlns:a="http://schemas.openxmlformats.org/drawingml/2006/main" noGrp="1"/>
          </p:cNvSpPr>
          <p:nvPr/>
        </p:nvSpPr>
        <p:spPr>
          <a:xfrm xmlns:a="http://schemas.openxmlformats.org/drawingml/2006/main">
            <a:off x="3829050" y="2343150"/>
            <a:ext cx="14954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DejaVu Sans"/>
                <a:ea typeface="DejaVu Sans"/>
                <a:cs typeface="DejaVu Sans"/>
              </a:defRPr>
            </a:pPr>
            <a:r>
              <a:rPr sz="3225" b="1">
                <a:solidFill>
                  <a:srgbClr val="F4F7FA"/>
                </a:solidFill>
                <a:latin typeface="DejaVu Sans"/>
                <a:ea typeface="DejaVu Sans"/>
                <a:cs typeface="DejaVu Sans"/>
              </a:rPr>
              <a:t>1.3×</a:t>
            </a:r>
          </a:p>
        </p:txBody>
      </p:sp>
      <p:sp>
        <p:nvSpPr>
          <p:cNvPr id="11" name="">
            <a:extLst xmlns:a="http://schemas.openxmlformats.org/drawingml/2006/main">
              <a:ext uri="{FF2B5EF4-FFF2-40B4-BE49-F238E27FC236}">
                <a16:creationId xmlns:a16="http://schemas.microsoft.com/office/drawing/2014/main" id="{D96DE59A-2C5C-438F-827F-CED05B07BAEA}"/>
              </a:ext>
            </a:extLst>
          </p:cNvPr>
          <p:cNvSpPr>
            <a:spLocks xmlns:a="http://schemas.openxmlformats.org/drawingml/2006/main" noGrp="1"/>
          </p:cNvSpPr>
          <p:nvPr/>
        </p:nvSpPr>
        <p:spPr>
          <a:xfrm xmlns:a="http://schemas.openxmlformats.org/drawingml/2006/main">
            <a:off x="3829050" y="2924175"/>
            <a:ext cx="1495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DejaVu Sans"/>
                <a:ea typeface="DejaVu Sans"/>
                <a:cs typeface="DejaVu Sans"/>
              </a:defRPr>
            </a:pPr>
            <a:r>
              <a:rPr sz="1575" b="0">
                <a:solidFill>
                  <a:srgbClr val="ADB8C5"/>
                </a:solidFill>
                <a:latin typeface="DejaVu Sans"/>
                <a:ea typeface="DejaVu Sans"/>
                <a:cs typeface="DejaVu Sans"/>
              </a:rPr>
              <a:t>releases</a:t>
            </a:r>
          </a:p>
        </p:txBody>
      </p:sp>
      <p:sp>
        <p:nvSpPr>
          <p:cNvPr id="12" name="">
            <a:extLst xmlns:a="http://schemas.openxmlformats.org/drawingml/2006/main">
              <a:ext uri="{FF2B5EF4-FFF2-40B4-BE49-F238E27FC236}">
                <a16:creationId xmlns:a16="http://schemas.microsoft.com/office/drawing/2014/main" id="{CBC6E8A1-5E61-4FEC-B91B-97E22E2785ED}"/>
              </a:ext>
            </a:extLst>
          </p:cNvPr>
          <p:cNvSpPr>
            <a:spLocks xmlns:a="http://schemas.openxmlformats.org/drawingml/2006/main" noGrp="1"/>
          </p:cNvSpPr>
          <p:nvPr/>
        </p:nvSpPr>
        <p:spPr>
          <a:xfrm xmlns:a="http://schemas.openxmlformats.org/drawingml/2006/main">
            <a:off x="609600" y="3324225"/>
            <a:ext cx="472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DejaVu Sans"/>
                <a:ea typeface="DejaVu Sans"/>
                <a:cs typeface="DejaVu Sans"/>
              </a:defRPr>
            </a:pPr>
            <a:r>
              <a:rPr sz="1575" b="1">
                <a:solidFill>
                  <a:srgbClr val="28C7F7"/>
                </a:solidFill>
                <a:latin typeface="DejaVu Sans"/>
                <a:ea typeface="DejaVu Sans"/>
                <a:cs typeface="DejaVu Sans"/>
              </a:rPr>
              <a:t>Cumulative across three tool generations</a:t>
            </a:r>
          </a:p>
        </p:txBody>
      </p:sp>
      <p:sp>
        <p:nvSpPr>
          <p:cNvPr id="13" name="">
            <a:extLst xmlns:a="http://schemas.openxmlformats.org/drawingml/2006/main">
              <a:ext uri="{FF2B5EF4-FFF2-40B4-BE49-F238E27FC236}">
                <a16:creationId xmlns:a16="http://schemas.microsoft.com/office/drawing/2014/main" id="{2D263FC5-5B12-4A37-BB50-0EB55AF50AF7}"/>
              </a:ext>
            </a:extLst>
          </p:cNvPr>
          <p:cNvSpPr>
            <a:spLocks xmlns:a="http://schemas.openxmlformats.org/drawingml/2006/main" noGrp="1"/>
          </p:cNvSpPr>
          <p:nvPr/>
        </p:nvSpPr>
        <p:spPr>
          <a:xfrm xmlns:a="http://schemas.openxmlformats.org/drawingml/2006/main">
            <a:off x="609600" y="3657600"/>
            <a:ext cx="47244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Fig. 1 rounded; LOC = additions + deletions.</a:t>
            </a:r>
          </a:p>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Async release effect not estimated.</a:t>
            </a:r>
          </a:p>
        </p:txBody>
      </p:sp>
      <p:sp>
        <p:nvSpPr>
          <p:cNvPr id="14" name="">
            <a:extLst xmlns:a="http://schemas.openxmlformats.org/drawingml/2006/main">
              <a:ext uri="{FF2B5EF4-FFF2-40B4-BE49-F238E27FC236}">
                <a16:creationId xmlns:a16="http://schemas.microsoft.com/office/drawing/2014/main" id="{D31079D4-499B-4356-ADF1-7FD09A02B4C0}"/>
              </a:ext>
            </a:extLst>
          </p:cNvPr>
          <p:cNvSpPr>
            <a:spLocks xmlns:a="http://schemas.openxmlformats.org/drawingml/2006/main" noGrp="1"/>
          </p:cNvSpPr>
          <p:nvPr/>
        </p:nvSpPr>
        <p:spPr>
          <a:xfrm xmlns:a="http://schemas.openxmlformats.org/drawingml/2006/main">
            <a:off x="609600" y="4257675"/>
            <a:ext cx="47244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More apps. Usage does not</a:t>
            </a:r>
          </a:p>
          <a:p xmlns:a="http://schemas.openxmlformats.org/drawingml/2006/main">
            <a:pPr algn="l">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keep pace with new releases.</a:t>
            </a:r>
          </a:p>
        </p:txBody>
      </p:sp>
      <p:sp>
        <p:nvSpPr>
          <p:cNvPr id="15" name="">
            <a:extLst xmlns:a="http://schemas.openxmlformats.org/drawingml/2006/main">
              <a:ext uri="{FF2B5EF4-FFF2-40B4-BE49-F238E27FC236}">
                <a16:creationId xmlns:a16="http://schemas.microsoft.com/office/drawing/2014/main" id="{7557DEA2-040C-4A1C-836A-D686EAD993CE}"/>
              </a:ext>
            </a:extLst>
          </p:cNvPr>
          <p:cNvSpPr>
            <a:spLocks xmlns:a="http://schemas.openxmlformats.org/drawingml/2006/main" noGrp="1"/>
          </p:cNvSpPr>
          <p:nvPr/>
        </p:nvSpPr>
        <p:spPr>
          <a:xfrm xmlns:a="http://schemas.openxmlformats.org/drawingml/2006/main">
            <a:off x="609600" y="4933950"/>
            <a:ext cx="2428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iOS: &lt;10 ratings</a:t>
            </a:r>
          </a:p>
        </p:txBody>
      </p:sp>
      <p:sp>
        <p:nvSpPr>
          <p:cNvPr id="16" name="">
            <a:extLst xmlns:a="http://schemas.openxmlformats.org/drawingml/2006/main">
              <a:ext uri="{FF2B5EF4-FFF2-40B4-BE49-F238E27FC236}">
                <a16:creationId xmlns:a16="http://schemas.microsoft.com/office/drawing/2014/main" id="{ED59D5D0-13A3-4C47-8A4E-26057C473A00}"/>
              </a:ext>
            </a:extLst>
          </p:cNvPr>
          <p:cNvSpPr>
            <a:spLocks xmlns:a="http://schemas.openxmlformats.org/drawingml/2006/main" noGrp="1"/>
          </p:cNvSpPr>
          <p:nvPr/>
        </p:nvSpPr>
        <p:spPr>
          <a:xfrm xmlns:a="http://schemas.openxmlformats.org/drawingml/2006/main">
            <a:off x="3038475" y="4933950"/>
            <a:ext cx="22955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725" b="1">
                <a:solidFill>
                  <a:srgbClr val="F5B61C"/>
                </a:solidFill>
                <a:latin typeface="DejaVu Sans"/>
                <a:ea typeface="DejaVu Sans"/>
                <a:cs typeface="DejaVu Sans"/>
              </a:defRPr>
            </a:pPr>
            <a:r>
              <a:rPr sz="1725" b="1">
                <a:solidFill>
                  <a:srgbClr val="F5B61C"/>
                </a:solidFill>
                <a:latin typeface="DejaVu Sans"/>
                <a:ea typeface="DejaVu Sans"/>
                <a:cs typeface="DejaVu Sans"/>
              </a:rPr>
              <a:t>≈78% → 87%</a:t>
            </a:r>
          </a:p>
        </p:txBody>
      </p:sp>
      <p:sp>
        <p:nvSpPr>
          <p:cNvPr id="17" name="">
            <a:extLst xmlns:a="http://schemas.openxmlformats.org/drawingml/2006/main">
              <a:ext uri="{FF2B5EF4-FFF2-40B4-BE49-F238E27FC236}">
                <a16:creationId xmlns:a16="http://schemas.microsoft.com/office/drawing/2014/main" id="{35941430-1637-4651-BF40-1B510659763B}"/>
              </a:ext>
            </a:extLst>
          </p:cNvPr>
          <p:cNvSpPr>
            <a:spLocks xmlns:a="http://schemas.openxmlformats.org/drawingml/2006/main" noGrp="1"/>
          </p:cNvSpPr>
          <p:nvPr/>
        </p:nvSpPr>
        <p:spPr>
          <a:xfrm xmlns:a="http://schemas.openxmlformats.org/drawingml/2006/main">
            <a:off x="609600" y="5257800"/>
            <a:ext cx="2428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Chrome: &lt;10 downloads</a:t>
            </a:r>
          </a:p>
        </p:txBody>
      </p:sp>
      <p:sp>
        <p:nvSpPr>
          <p:cNvPr id="18" name="">
            <a:extLst xmlns:a="http://schemas.openxmlformats.org/drawingml/2006/main">
              <a:ext uri="{FF2B5EF4-FFF2-40B4-BE49-F238E27FC236}">
                <a16:creationId xmlns:a16="http://schemas.microsoft.com/office/drawing/2014/main" id="{97BCB1BE-1DB7-4640-95EA-717EE3CEC7D9}"/>
              </a:ext>
            </a:extLst>
          </p:cNvPr>
          <p:cNvSpPr>
            <a:spLocks xmlns:a="http://schemas.openxmlformats.org/drawingml/2006/main" noGrp="1"/>
          </p:cNvSpPr>
          <p:nvPr/>
        </p:nvSpPr>
        <p:spPr>
          <a:xfrm xmlns:a="http://schemas.openxmlformats.org/drawingml/2006/main">
            <a:off x="3038475" y="5257800"/>
            <a:ext cx="22955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725" b="1">
                <a:solidFill>
                  <a:srgbClr val="F5B61C"/>
                </a:solidFill>
                <a:latin typeface="DejaVu Sans"/>
                <a:ea typeface="DejaVu Sans"/>
                <a:cs typeface="DejaVu Sans"/>
              </a:defRPr>
            </a:pPr>
            <a:r>
              <a:rPr sz="1725" b="1">
                <a:solidFill>
                  <a:srgbClr val="F5B61C"/>
                </a:solidFill>
                <a:latin typeface="DejaVu Sans"/>
                <a:ea typeface="DejaVu Sans"/>
                <a:cs typeface="DejaVu Sans"/>
              </a:rPr>
              <a:t>19% → 33%</a:t>
            </a:r>
          </a:p>
        </p:txBody>
      </p:sp>
      <p:sp>
        <p:nvSpPr>
          <p:cNvPr id="19" name="">
            <a:extLst xmlns:a="http://schemas.openxmlformats.org/drawingml/2006/main">
              <a:ext uri="{FF2B5EF4-FFF2-40B4-BE49-F238E27FC236}">
                <a16:creationId xmlns:a16="http://schemas.microsoft.com/office/drawing/2014/main" id="{ECAD0341-4908-4F24-AB7B-0637432C138B}"/>
              </a:ext>
            </a:extLst>
          </p:cNvPr>
          <p:cNvSpPr>
            <a:spLocks xmlns:a="http://schemas.openxmlformats.org/drawingml/2006/main" noGrp="1"/>
          </p:cNvSpPr>
          <p:nvPr/>
        </p:nvSpPr>
        <p:spPr>
          <a:xfrm xmlns:a="http://schemas.openxmlformats.org/drawingml/2006/main">
            <a:off x="609600" y="5572125"/>
            <a:ext cx="472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DejaVu Sans"/>
                <a:ea typeface="DejaVu Sans"/>
                <a:cs typeface="DejaVu Sans"/>
              </a:defRPr>
            </a:pPr>
            <a:r>
              <a:rPr sz="1425" b="0">
                <a:solidFill>
                  <a:srgbClr val="ADB8C5"/>
                </a:solidFill>
                <a:latin typeface="DejaVu Sans"/>
                <a:ea typeface="DejaVu Sans"/>
                <a:cs typeface="DejaVu Sans"/>
              </a:rPr>
              <a:t>Jan 2025 → Apr 2026; first 3 months.</a:t>
            </a:r>
          </a:p>
        </p:txBody>
      </p:sp>
      <p:sp>
        <p:nvSpPr>
          <p:cNvPr id="20" name="">
            <a:extLst xmlns:a="http://schemas.openxmlformats.org/drawingml/2006/main">
              <a:ext uri="{FF2B5EF4-FFF2-40B4-BE49-F238E27FC236}">
                <a16:creationId xmlns:a16="http://schemas.microsoft.com/office/drawing/2014/main" id="{0265A9F5-28CE-40E9-BD5A-DA75A2C97FC1}"/>
              </a:ext>
            </a:extLst>
          </p:cNvPr>
          <p:cNvSpPr>
            <a:spLocks xmlns:a="http://schemas.openxmlformats.org/drawingml/2006/main" noGrp="1"/>
          </p:cNvSpPr>
          <p:nvPr/>
        </p:nvSpPr>
        <p:spPr>
          <a:xfrm xmlns:a="http://schemas.openxmlformats.org/drawingml/2006/main">
            <a:off x="5867400" y="1857375"/>
            <a:ext cx="571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DejaVu Sans"/>
                <a:ea typeface="DejaVu Sans"/>
                <a:cs typeface="DejaVu Sans"/>
              </a:defRPr>
            </a:pPr>
            <a:r>
              <a:rPr sz="1650" b="1">
                <a:solidFill>
                  <a:srgbClr val="28C7F7"/>
                </a:solidFill>
                <a:latin typeface="DejaVu Sans"/>
                <a:ea typeface="DejaVu Sans"/>
                <a:cs typeface="DejaVu Sans"/>
              </a:rPr>
              <a:t>DORA · 2025</a:t>
            </a:r>
          </a:p>
        </p:txBody>
      </p:sp>
      <p:sp>
        <p:nvSpPr>
          <p:cNvPr id="21" name="">
            <a:extLst xmlns:a="http://schemas.openxmlformats.org/drawingml/2006/main">
              <a:ext uri="{FF2B5EF4-FFF2-40B4-BE49-F238E27FC236}">
                <a16:creationId xmlns:a16="http://schemas.microsoft.com/office/drawing/2014/main" id="{4B03BC84-8A11-4BB0-88D7-7BB7AFF6F82D}"/>
              </a:ext>
            </a:extLst>
          </p:cNvPr>
          <p:cNvSpPr>
            <a:spLocks xmlns:a="http://schemas.openxmlformats.org/drawingml/2006/main" noGrp="1"/>
          </p:cNvSpPr>
          <p:nvPr/>
        </p:nvSpPr>
        <p:spPr>
          <a:xfrm xmlns:a="http://schemas.openxmlformats.org/drawingml/2006/main">
            <a:off x="5867400" y="2190750"/>
            <a:ext cx="571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4F7FA"/>
                </a:solidFill>
                <a:latin typeface="DejaVu Sans"/>
                <a:ea typeface="DejaVu Sans"/>
                <a:cs typeface="DejaVu Sans"/>
              </a:defRPr>
            </a:pPr>
            <a:r>
              <a:rPr sz="2025" b="1">
                <a:solidFill>
                  <a:srgbClr val="F4F7FA"/>
                </a:solidFill>
                <a:latin typeface="DejaVu Sans"/>
                <a:ea typeface="DejaVu Sans"/>
                <a:cs typeface="DejaVu Sans"/>
              </a:rPr>
              <a:t>Higher throughput</a:t>
            </a:r>
          </a:p>
        </p:txBody>
      </p:sp>
      <p:sp>
        <p:nvSpPr>
          <p:cNvPr id="22" name="">
            <a:extLst xmlns:a="http://schemas.openxmlformats.org/drawingml/2006/main">
              <a:ext uri="{FF2B5EF4-FFF2-40B4-BE49-F238E27FC236}">
                <a16:creationId xmlns:a16="http://schemas.microsoft.com/office/drawing/2014/main" id="{C07600AA-5040-4BB3-9863-81FC5C0D980B}"/>
              </a:ext>
            </a:extLst>
          </p:cNvPr>
          <p:cNvSpPr>
            <a:spLocks xmlns:a="http://schemas.openxmlformats.org/drawingml/2006/main" noGrp="1"/>
          </p:cNvSpPr>
          <p:nvPr/>
        </p:nvSpPr>
        <p:spPr>
          <a:xfrm xmlns:a="http://schemas.openxmlformats.org/drawingml/2006/main">
            <a:off x="5867400" y="2505075"/>
            <a:ext cx="571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5B61C"/>
                </a:solidFill>
                <a:latin typeface="DejaVu Sans"/>
                <a:ea typeface="DejaVu Sans"/>
                <a:cs typeface="DejaVu Sans"/>
              </a:defRPr>
            </a:pPr>
            <a:r>
              <a:rPr sz="2025" b="1">
                <a:solidFill>
                  <a:srgbClr val="F5B61C"/>
                </a:solidFill>
                <a:latin typeface="DejaVu Sans"/>
                <a:ea typeface="DejaVu Sans"/>
                <a:cs typeface="DejaVu Sans"/>
              </a:rPr>
              <a:t>Lower delivery stability</a:t>
            </a:r>
          </a:p>
        </p:txBody>
      </p:sp>
      <p:sp>
        <p:nvSpPr>
          <p:cNvPr id="23" name="">
            <a:extLst xmlns:a="http://schemas.openxmlformats.org/drawingml/2006/main">
              <a:ext uri="{FF2B5EF4-FFF2-40B4-BE49-F238E27FC236}">
                <a16:creationId xmlns:a16="http://schemas.microsoft.com/office/drawing/2014/main" id="{0AF7A204-9DA0-43F5-BA3B-A1C77D1A5F72}"/>
              </a:ext>
            </a:extLst>
          </p:cNvPr>
          <p:cNvSpPr>
            <a:spLocks xmlns:a="http://schemas.openxmlformats.org/drawingml/2006/main" noGrp="1"/>
          </p:cNvSpPr>
          <p:nvPr/>
        </p:nvSpPr>
        <p:spPr>
          <a:xfrm xmlns:a="http://schemas.openxmlformats.org/drawingml/2006/main">
            <a:off x="5867400" y="2895600"/>
            <a:ext cx="571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F5B61C"/>
                </a:solidFill>
                <a:latin typeface="DejaVu Sans"/>
                <a:ea typeface="DejaVu Sans"/>
                <a:cs typeface="DejaVu Sans"/>
              </a:defRPr>
            </a:pPr>
            <a:r>
              <a:rPr sz="1425" b="0">
                <a:solidFill>
                  <a:srgbClr val="F5B61C"/>
                </a:solidFill>
                <a:latin typeface="DejaVu Sans"/>
                <a:ea typeface="DejaVu Sans"/>
                <a:cs typeface="DejaVu Sans"/>
              </a:rPr>
              <a:t>≈ +0.10 SD instability per +1 SD AI adoption</a:t>
            </a:r>
          </a:p>
        </p:txBody>
      </p:sp>
      <p:sp>
        <p:nvSpPr>
          <p:cNvPr id="24" name="">
            <a:extLst xmlns:a="http://schemas.openxmlformats.org/drawingml/2006/main">
              <a:ext uri="{FF2B5EF4-FFF2-40B4-BE49-F238E27FC236}">
                <a16:creationId xmlns:a16="http://schemas.microsoft.com/office/drawing/2014/main" id="{18344744-4083-4CFF-8E01-E62D30135374}"/>
              </a:ext>
            </a:extLst>
          </p:cNvPr>
          <p:cNvSpPr>
            <a:spLocks xmlns:a="http://schemas.openxmlformats.org/drawingml/2006/main" noGrp="1"/>
          </p:cNvSpPr>
          <p:nvPr/>
        </p:nvSpPr>
        <p:spPr>
          <a:xfrm xmlns:a="http://schemas.openxmlformats.org/drawingml/2006/main">
            <a:off x="5867400" y="3162300"/>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DejaVu Sans"/>
                <a:ea typeface="DejaVu Sans"/>
                <a:cs typeface="DejaVu Sans"/>
              </a:defRPr>
            </a:pPr>
            <a:r>
              <a:rPr sz="1350" b="0">
                <a:solidFill>
                  <a:srgbClr val="ADB8C5"/>
                </a:solidFill>
                <a:latin typeface="DejaVu Sans"/>
                <a:ea typeface="DejaVu Sans"/>
                <a:cs typeface="DejaVu Sans"/>
              </a:rPr>
              <a:t>89% credible interval ≈ +0.07 to +0.13</a:t>
            </a:r>
          </a:p>
        </p:txBody>
      </p:sp>
      <p:sp>
        <p:nvSpPr>
          <p:cNvPr id="25" name="">
            <a:extLst xmlns:a="http://schemas.openxmlformats.org/drawingml/2006/main">
              <a:ext uri="{FF2B5EF4-FFF2-40B4-BE49-F238E27FC236}">
                <a16:creationId xmlns:a16="http://schemas.microsoft.com/office/drawing/2014/main" id="{6F9DCFFF-5E24-4EE3-8690-430B33DE6990}"/>
              </a:ext>
            </a:extLst>
          </p:cNvPr>
          <p:cNvSpPr>
            <a:spLocks xmlns:a="http://schemas.openxmlformats.org/drawingml/2006/main" noGrp="1"/>
          </p:cNvSpPr>
          <p:nvPr/>
        </p:nvSpPr>
        <p:spPr>
          <a:xfrm xmlns:a="http://schemas.openxmlformats.org/drawingml/2006/main">
            <a:off x="5867400" y="3448050"/>
            <a:ext cx="571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DejaVu Sans"/>
                <a:ea typeface="DejaVu Sans"/>
                <a:cs typeface="DejaVu Sans"/>
              </a:defRPr>
            </a:pPr>
            <a:r>
              <a:rPr sz="1350" b="0">
                <a:solidFill>
                  <a:srgbClr val="ADB8C5"/>
                </a:solidFill>
                <a:latin typeface="DejaVu Sans"/>
                <a:ea typeface="DejaVu Sans"/>
                <a:cs typeface="DejaVu Sans"/>
              </a:rPr>
              <a:t>Survey model, rounded reading of Fig. 28.</a:t>
            </a:r>
          </a:p>
          <a:p xmlns:a="http://schemas.openxmlformats.org/drawingml/2006/main">
            <a:pPr algn="l">
              <a:defRPr sz="1350" b="0">
                <a:solidFill>
                  <a:srgbClr val="ADB8C5"/>
                </a:solidFill>
                <a:latin typeface="DejaVu Sans"/>
                <a:ea typeface="DejaVu Sans"/>
                <a:cs typeface="DejaVu Sans"/>
              </a:defRPr>
            </a:pPr>
            <a:r>
              <a:rPr sz="1350" b="0">
                <a:solidFill>
                  <a:srgbClr val="ADB8C5"/>
                </a:solidFill>
                <a:latin typeface="DejaVu Sans"/>
                <a:ea typeface="DejaVu Sans"/>
                <a:cs typeface="DejaVu Sans"/>
              </a:rPr>
              <a:t>SD = standard deviation, not a failure percentage.</a:t>
            </a:r>
          </a:p>
        </p:txBody>
      </p:sp>
      <p:sp>
        <p:nvSpPr>
          <p:cNvPr id="26" name="">
            <a:extLst xmlns:a="http://schemas.openxmlformats.org/drawingml/2006/main">
              <a:ext uri="{FF2B5EF4-FFF2-40B4-BE49-F238E27FC236}">
                <a16:creationId xmlns:a16="http://schemas.microsoft.com/office/drawing/2014/main" id="{F361B09F-1ED0-4C73-807C-24DA7EC9273B}"/>
              </a:ext>
            </a:extLst>
          </p:cNvPr>
          <p:cNvSpPr>
            <a:spLocks xmlns:a="http://schemas.openxmlformats.org/drawingml/2006/main" noGrp="1"/>
          </p:cNvSpPr>
          <p:nvPr/>
        </p:nvSpPr>
        <p:spPr>
          <a:xfrm xmlns:a="http://schemas.openxmlformats.org/drawingml/2006/main">
            <a:off x="5867400" y="3867150"/>
            <a:ext cx="571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DejaVu Sans"/>
                <a:ea typeface="DejaVu Sans"/>
                <a:cs typeface="DejaVu Sans"/>
              </a:defRPr>
            </a:pPr>
            <a:r>
              <a:rPr sz="1275" b="0">
                <a:solidFill>
                  <a:srgbClr val="ADB8C5"/>
                </a:solidFill>
                <a:latin typeface="DejaVu Sans"/>
                <a:ea typeface="DejaVu Sans"/>
                <a:cs typeface="DejaVu Sans"/>
              </a:rPr>
              <a:t>Respondents reporting improvement: &gt;80% productivity; 59% quality.</a:t>
            </a:r>
          </a:p>
        </p:txBody>
      </p:sp>
      <p:sp>
        <p:nvSpPr>
          <p:cNvPr id="27" name="">
            <a:extLst xmlns:a="http://schemas.openxmlformats.org/drawingml/2006/main">
              <a:ext uri="{FF2B5EF4-FFF2-40B4-BE49-F238E27FC236}">
                <a16:creationId xmlns:a16="http://schemas.microsoft.com/office/drawing/2014/main" id="{61DF519D-0754-4381-BFFB-5F63AE524978}"/>
              </a:ext>
            </a:extLst>
          </p:cNvPr>
          <p:cNvSpPr>
            <a:spLocks xmlns:a="http://schemas.openxmlformats.org/drawingml/2006/main" noGrp="1"/>
          </p:cNvSpPr>
          <p:nvPr/>
        </p:nvSpPr>
        <p:spPr>
          <a:xfrm xmlns:a="http://schemas.openxmlformats.org/drawingml/2006/main" flipH="0" flipV="0">
            <a:off x="5867400" y="4200525"/>
            <a:ext cx="57150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8" name="">
            <a:extLst xmlns:a="http://schemas.openxmlformats.org/drawingml/2006/main">
              <a:ext uri="{FF2B5EF4-FFF2-40B4-BE49-F238E27FC236}">
                <a16:creationId xmlns:a16="http://schemas.microsoft.com/office/drawing/2014/main" id="{7CFF986A-388A-42FD-BCCD-450983E21149}"/>
              </a:ext>
            </a:extLst>
          </p:cNvPr>
          <p:cNvSpPr>
            <a:spLocks xmlns:a="http://schemas.openxmlformats.org/drawingml/2006/main" noGrp="1"/>
          </p:cNvSpPr>
          <p:nvPr/>
        </p:nvSpPr>
        <p:spPr>
          <a:xfrm xmlns:a="http://schemas.openxmlformats.org/drawingml/2006/main">
            <a:off x="5867400" y="424815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DejaVu Sans"/>
                <a:ea typeface="DejaVu Sans"/>
                <a:cs typeface="DejaVu Sans"/>
              </a:defRPr>
            </a:pPr>
            <a:r>
              <a:rPr sz="1575" b="1">
                <a:solidFill>
                  <a:srgbClr val="28C7F7"/>
                </a:solidFill>
                <a:latin typeface="DejaVu Sans"/>
                <a:ea typeface="DejaVu Sans"/>
                <a:cs typeface="DejaVu Sans"/>
              </a:rPr>
              <a:t>GITCLEAR · 2023 → 2026 YTD*</a:t>
            </a:r>
          </a:p>
        </p:txBody>
      </p:sp>
      <p:sp>
        <p:nvSpPr>
          <p:cNvPr id="29" name="">
            <a:extLst xmlns:a="http://schemas.openxmlformats.org/drawingml/2006/main">
              <a:ext uri="{FF2B5EF4-FFF2-40B4-BE49-F238E27FC236}">
                <a16:creationId xmlns:a16="http://schemas.microsoft.com/office/drawing/2014/main" id="{577BC6DA-C106-488C-8ED1-D859CA9177FC}"/>
              </a:ext>
            </a:extLst>
          </p:cNvPr>
          <p:cNvSpPr>
            <a:spLocks xmlns:a="http://schemas.openxmlformats.org/drawingml/2006/main" noGrp="1"/>
          </p:cNvSpPr>
          <p:nvPr/>
        </p:nvSpPr>
        <p:spPr>
          <a:xfrm xmlns:a="http://schemas.openxmlformats.org/drawingml/2006/main">
            <a:off x="5867400" y="4543425"/>
            <a:ext cx="37242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DejaVu Sans"/>
                <a:ea typeface="DejaVu Sans"/>
                <a:cs typeface="DejaVu Sans"/>
              </a:defRPr>
            </a:pPr>
            <a:r>
              <a:rPr sz="1650" b="0">
                <a:solidFill>
                  <a:srgbClr val="F4F7FA"/>
                </a:solidFill>
                <a:latin typeface="DejaVu Sans"/>
                <a:ea typeface="DejaVu Sans"/>
                <a:cs typeface="DejaVu Sans"/>
              </a:rPr>
              <a:t>Moved-code share</a:t>
            </a:r>
          </a:p>
        </p:txBody>
      </p:sp>
      <p:sp>
        <p:nvSpPr>
          <p:cNvPr id="30" name="">
            <a:extLst xmlns:a="http://schemas.openxmlformats.org/drawingml/2006/main">
              <a:ext uri="{FF2B5EF4-FFF2-40B4-BE49-F238E27FC236}">
                <a16:creationId xmlns:a16="http://schemas.microsoft.com/office/drawing/2014/main" id="{67809F75-78F5-479A-899A-26DE089845B8}"/>
              </a:ext>
            </a:extLst>
          </p:cNvPr>
          <p:cNvSpPr>
            <a:spLocks xmlns:a="http://schemas.openxmlformats.org/drawingml/2006/main" noGrp="1"/>
          </p:cNvSpPr>
          <p:nvPr/>
        </p:nvSpPr>
        <p:spPr>
          <a:xfrm xmlns:a="http://schemas.openxmlformats.org/drawingml/2006/main">
            <a:off x="9591675" y="4543425"/>
            <a:ext cx="19907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13% → 3.8%</a:t>
            </a:r>
          </a:p>
        </p:txBody>
      </p:sp>
      <p:sp>
        <p:nvSpPr>
          <p:cNvPr id="31" name="">
            <a:extLst xmlns:a="http://schemas.openxmlformats.org/drawingml/2006/main">
              <a:ext uri="{FF2B5EF4-FFF2-40B4-BE49-F238E27FC236}">
                <a16:creationId xmlns:a16="http://schemas.microsoft.com/office/drawing/2014/main" id="{7252D147-C6DB-44F9-9C42-B4AF52370A39}"/>
              </a:ext>
            </a:extLst>
          </p:cNvPr>
          <p:cNvSpPr>
            <a:spLocks xmlns:a="http://schemas.openxmlformats.org/drawingml/2006/main" noGrp="1"/>
          </p:cNvSpPr>
          <p:nvPr/>
        </p:nvSpPr>
        <p:spPr>
          <a:xfrm xmlns:a="http://schemas.openxmlformats.org/drawingml/2006/main">
            <a:off x="5867400" y="4800600"/>
            <a:ext cx="571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DejaVu Sans"/>
                <a:ea typeface="DejaVu Sans"/>
                <a:cs typeface="DejaVu Sans"/>
              </a:defRPr>
            </a:pPr>
            <a:r>
              <a:rPr sz="1275" b="0">
                <a:solidFill>
                  <a:srgbClr val="ADB8C5"/>
                </a:solidFill>
                <a:latin typeface="DejaVu Sans"/>
                <a:ea typeface="DejaVu Sans"/>
                <a:cs typeface="DejaVu Sans"/>
              </a:rPr>
              <a:t>Moved / changed lines: −9.2 pp (−70.8%). Refactoring proxy.</a:t>
            </a:r>
          </a:p>
        </p:txBody>
      </p:sp>
      <p:sp>
        <p:nvSpPr>
          <p:cNvPr id="32" name="">
            <a:extLst xmlns:a="http://schemas.openxmlformats.org/drawingml/2006/main">
              <a:ext uri="{FF2B5EF4-FFF2-40B4-BE49-F238E27FC236}">
                <a16:creationId xmlns:a16="http://schemas.microsoft.com/office/drawing/2014/main" id="{F7C154FE-1B82-409F-9E9D-26737D84FD1D}"/>
              </a:ext>
            </a:extLst>
          </p:cNvPr>
          <p:cNvSpPr>
            <a:spLocks xmlns:a="http://schemas.openxmlformats.org/drawingml/2006/main" noGrp="1"/>
          </p:cNvSpPr>
          <p:nvPr/>
        </p:nvSpPr>
        <p:spPr>
          <a:xfrm xmlns:a="http://schemas.openxmlformats.org/drawingml/2006/main">
            <a:off x="5867400" y="5000625"/>
            <a:ext cx="37242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DejaVu Sans"/>
                <a:ea typeface="DejaVu Sans"/>
                <a:cs typeface="DejaVu Sans"/>
              </a:defRPr>
            </a:pPr>
            <a:r>
              <a:rPr sz="1650" b="0">
                <a:solidFill>
                  <a:srgbClr val="F4F7FA"/>
                </a:solidFill>
                <a:latin typeface="DejaVu Sans"/>
                <a:ea typeface="DejaVu Sans"/>
                <a:cs typeface="DejaVu Sans"/>
              </a:rPr>
              <a:t>Calls / 1k changed lines</a:t>
            </a:r>
          </a:p>
        </p:txBody>
      </p:sp>
      <p:sp>
        <p:nvSpPr>
          <p:cNvPr id="33" name="">
            <a:extLst xmlns:a="http://schemas.openxmlformats.org/drawingml/2006/main">
              <a:ext uri="{FF2B5EF4-FFF2-40B4-BE49-F238E27FC236}">
                <a16:creationId xmlns:a16="http://schemas.microsoft.com/office/drawing/2014/main" id="{8724B09D-9406-4575-89EF-7B351F7E6193}"/>
              </a:ext>
            </a:extLst>
          </p:cNvPr>
          <p:cNvSpPr>
            <a:spLocks xmlns:a="http://schemas.openxmlformats.org/drawingml/2006/main" noGrp="1"/>
          </p:cNvSpPr>
          <p:nvPr/>
        </p:nvSpPr>
        <p:spPr>
          <a:xfrm xmlns:a="http://schemas.openxmlformats.org/drawingml/2006/main">
            <a:off x="9591675" y="5000625"/>
            <a:ext cx="19907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343 → 223</a:t>
            </a:r>
          </a:p>
        </p:txBody>
      </p:sp>
      <p:sp>
        <p:nvSpPr>
          <p:cNvPr id="34" name="">
            <a:extLst xmlns:a="http://schemas.openxmlformats.org/drawingml/2006/main">
              <a:ext uri="{FF2B5EF4-FFF2-40B4-BE49-F238E27FC236}">
                <a16:creationId xmlns:a16="http://schemas.microsoft.com/office/drawing/2014/main" id="{F0417739-BCB7-4DFB-B465-65646B74CC58}"/>
              </a:ext>
            </a:extLst>
          </p:cNvPr>
          <p:cNvSpPr>
            <a:spLocks xmlns:a="http://schemas.openxmlformats.org/drawingml/2006/main" noGrp="1"/>
          </p:cNvSpPr>
          <p:nvPr/>
        </p:nvSpPr>
        <p:spPr>
          <a:xfrm xmlns:a="http://schemas.openxmlformats.org/drawingml/2006/main">
            <a:off x="5867400" y="5257800"/>
            <a:ext cx="571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DejaVu Sans"/>
                <a:ea typeface="DejaVu Sans"/>
                <a:cs typeface="DejaVu Sans"/>
              </a:defRPr>
            </a:pPr>
            <a:r>
              <a:rPr sz="1275" b="0">
                <a:solidFill>
                  <a:srgbClr val="ADB8C5"/>
                </a:solidFill>
                <a:latin typeface="DejaVu Sans"/>
                <a:ea typeface="DejaVu Sans"/>
                <a:cs typeface="DejaVu Sans"/>
              </a:rPr>
              <a:t>Other-function calls: −120 (≈−35%). Connectivity proxy.</a:t>
            </a:r>
          </a:p>
        </p:txBody>
      </p:sp>
      <p:sp>
        <p:nvSpPr>
          <p:cNvPr id="35" name="">
            <a:extLst xmlns:a="http://schemas.openxmlformats.org/drawingml/2006/main">
              <a:ext uri="{FF2B5EF4-FFF2-40B4-BE49-F238E27FC236}">
                <a16:creationId xmlns:a16="http://schemas.microsoft.com/office/drawing/2014/main" id="{2C6EC934-20BD-4721-9799-F6CBD9F42A5F}"/>
              </a:ext>
            </a:extLst>
          </p:cNvPr>
          <p:cNvSpPr>
            <a:spLocks xmlns:a="http://schemas.openxmlformats.org/drawingml/2006/main" noGrp="1"/>
          </p:cNvSpPr>
          <p:nvPr/>
        </p:nvSpPr>
        <p:spPr>
          <a:xfrm xmlns:a="http://schemas.openxmlformats.org/drawingml/2006/main">
            <a:off x="5867400" y="546735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F4F7FA"/>
                </a:solidFill>
                <a:latin typeface="DejaVu Sans"/>
                <a:ea typeface="DejaVu Sans"/>
                <a:cs typeface="DejaVu Sans"/>
              </a:defRPr>
            </a:pPr>
            <a:r>
              <a:rPr sz="1425" b="0">
                <a:solidFill>
                  <a:srgbClr val="F4F7FA"/>
                </a:solidFill>
                <a:latin typeface="DejaVu Sans"/>
                <a:ea typeface="DejaVu Sans"/>
                <a:cs typeface="DejaVu Sans"/>
              </a:rPr>
              <a:t>Duplicated blocks ≈+81%   ·   Two-week churn +15%*</a:t>
            </a:r>
          </a:p>
        </p:txBody>
      </p:sp>
      <p:sp>
        <p:nvSpPr>
          <p:cNvPr id="36" name="">
            <a:extLst xmlns:a="http://schemas.openxmlformats.org/drawingml/2006/main">
              <a:ext uri="{FF2B5EF4-FFF2-40B4-BE49-F238E27FC236}">
                <a16:creationId xmlns:a16="http://schemas.microsoft.com/office/drawing/2014/main" id="{513CE2E0-A17C-4899-8F02-7ACB418197D4}"/>
              </a:ext>
            </a:extLst>
          </p:cNvPr>
          <p:cNvSpPr>
            <a:spLocks xmlns:a="http://schemas.openxmlformats.org/drawingml/2006/main" noGrp="1"/>
          </p:cNvSpPr>
          <p:nvPr/>
        </p:nvSpPr>
        <p:spPr>
          <a:xfrm xmlns:a="http://schemas.openxmlformats.org/drawingml/2006/main">
            <a:off x="5867400" y="5695950"/>
            <a:ext cx="5715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F5B61C"/>
                </a:solidFill>
                <a:latin typeface="DejaVu Sans"/>
                <a:ea typeface="DejaVu Sans"/>
                <a:cs typeface="DejaVu Sans"/>
              </a:defRPr>
            </a:pPr>
            <a:r>
              <a:rPr sz="1275" b="0">
                <a:solidFill>
                  <a:srgbClr val="F5B61C"/>
                </a:solidFill>
                <a:latin typeface="DejaVu Sans"/>
                <a:ea typeface="DejaVu Sans"/>
                <a:cs typeface="DejaVu Sans"/>
              </a:rPr>
              <a:t>Less restructuring / reuse? Signals, not a quality verdict.</a:t>
            </a:r>
          </a:p>
        </p:txBody>
      </p:sp>
      <p:sp>
        <p:nvSpPr>
          <p:cNvPr id="37" name="">
            <a:extLst xmlns:a="http://schemas.openxmlformats.org/drawingml/2006/main">
              <a:ext uri="{FF2B5EF4-FFF2-40B4-BE49-F238E27FC236}">
                <a16:creationId xmlns:a16="http://schemas.microsoft.com/office/drawing/2014/main" id="{281D6E7B-7628-4D9D-BB68-30D277858C08}"/>
              </a:ext>
            </a:extLst>
          </p:cNvPr>
          <p:cNvSpPr>
            <a:spLocks xmlns:a="http://schemas.openxmlformats.org/drawingml/2006/main" noGrp="1"/>
          </p:cNvSpPr>
          <p:nvPr/>
        </p:nvSpPr>
        <p:spPr>
          <a:xfrm xmlns:a="http://schemas.openxmlformats.org/drawingml/2006/main" flipH="0" flipV="0">
            <a:off x="609600" y="58864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8" name="">
            <a:extLst xmlns:a="http://schemas.openxmlformats.org/drawingml/2006/main">
              <a:ext uri="{FF2B5EF4-FFF2-40B4-BE49-F238E27FC236}">
                <a16:creationId xmlns:a16="http://schemas.microsoft.com/office/drawing/2014/main" id="{71EC7834-FD81-4838-B4EA-278B058F5C4A}"/>
              </a:ext>
            </a:extLst>
          </p:cNvPr>
          <p:cNvSpPr>
            <a:spLocks xmlns:a="http://schemas.openxmlformats.org/drawingml/2006/main" noGrp="1"/>
          </p:cNvSpPr>
          <p:nvPr/>
        </p:nvSpPr>
        <p:spPr>
          <a:xfrm xmlns:a="http://schemas.openxmlformats.org/drawingml/2006/main">
            <a:off x="609600" y="5981700"/>
            <a:ext cx="2895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DejaVu Sans"/>
                <a:ea typeface="DejaVu Sans"/>
                <a:cs typeface="DejaVu Sans"/>
              </a:defRPr>
            </a:pPr>
            <a:r>
              <a:rPr sz="1500" b="1">
                <a:solidFill>
                  <a:srgbClr val="28C7F7"/>
                </a:solidFill>
                <a:latin typeface="DejaVu Sans"/>
                <a:ea typeface="DejaVu Sans"/>
                <a:cs typeface="DejaVu Sans"/>
              </a:rPr>
              <a:t>METR · MAY 2026</a:t>
            </a:r>
          </a:p>
        </p:txBody>
      </p:sp>
      <p:sp>
        <p:nvSpPr>
          <p:cNvPr id="39" name="">
            <a:extLst xmlns:a="http://schemas.openxmlformats.org/drawingml/2006/main">
              <a:ext uri="{FF2B5EF4-FFF2-40B4-BE49-F238E27FC236}">
                <a16:creationId xmlns:a16="http://schemas.microsoft.com/office/drawing/2014/main" id="{35CC6DFD-642C-4C1E-B03C-565C81334CC4}"/>
              </a:ext>
            </a:extLst>
          </p:cNvPr>
          <p:cNvSpPr>
            <a:spLocks xmlns:a="http://schemas.openxmlformats.org/drawingml/2006/main" noGrp="1"/>
          </p:cNvSpPr>
          <p:nvPr/>
        </p:nvSpPr>
        <p:spPr>
          <a:xfrm xmlns:a="http://schemas.openxmlformats.org/drawingml/2006/main">
            <a:off x="3543300" y="5962650"/>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725" b="1">
                <a:solidFill>
                  <a:srgbClr val="F4F7FA"/>
                </a:solidFill>
                <a:latin typeface="DejaVu Sans"/>
                <a:ea typeface="DejaVu Sans"/>
                <a:cs typeface="DejaVu Sans"/>
              </a:defRPr>
            </a:pPr>
            <a:r>
              <a:rPr sz="1725" b="1">
                <a:solidFill>
                  <a:srgbClr val="F4F7FA"/>
                </a:solidFill>
                <a:latin typeface="DejaVu Sans"/>
                <a:ea typeface="DejaVu Sans"/>
                <a:cs typeface="DejaVu Sans"/>
              </a:rPr>
              <a:t>1.4–2× work value</a:t>
            </a:r>
          </a:p>
        </p:txBody>
      </p:sp>
      <p:sp>
        <p:nvSpPr>
          <p:cNvPr id="40" name="">
            <a:extLst xmlns:a="http://schemas.openxmlformats.org/drawingml/2006/main">
              <a:ext uri="{FF2B5EF4-FFF2-40B4-BE49-F238E27FC236}">
                <a16:creationId xmlns:a16="http://schemas.microsoft.com/office/drawing/2014/main" id="{8E6A032C-A82E-4866-9D84-64BF39AAE523}"/>
              </a:ext>
            </a:extLst>
          </p:cNvPr>
          <p:cNvSpPr>
            <a:spLocks xmlns:a="http://schemas.openxmlformats.org/drawingml/2006/main" noGrp="1"/>
          </p:cNvSpPr>
          <p:nvPr/>
        </p:nvSpPr>
        <p:spPr>
          <a:xfrm xmlns:a="http://schemas.openxmlformats.org/drawingml/2006/main">
            <a:off x="609600" y="6267450"/>
            <a:ext cx="5257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DejaVu Sans"/>
                <a:ea typeface="DejaVu Sans"/>
                <a:cs typeface="DejaVu Sans"/>
              </a:defRPr>
            </a:pPr>
            <a:r>
              <a:rPr sz="1350" b="0">
                <a:solidFill>
                  <a:srgbClr val="ADB8C5"/>
                </a:solidFill>
                <a:latin typeface="DejaVu Sans"/>
                <a:ea typeface="DejaVu Sans"/>
                <a:cs typeface="DejaVu Sans"/>
              </a:rPr>
              <a:t>Medians across 3 questions; self-reported, not causal.</a:t>
            </a:r>
          </a:p>
        </p:txBody>
      </p:sp>
      <p:sp>
        <p:nvSpPr>
          <p:cNvPr id="41" name="">
            <a:extLst xmlns:a="http://schemas.openxmlformats.org/drawingml/2006/main">
              <a:ext uri="{FF2B5EF4-FFF2-40B4-BE49-F238E27FC236}">
                <a16:creationId xmlns:a16="http://schemas.microsoft.com/office/drawing/2014/main" id="{C8483467-EDBA-4ED3-8C79-E4BEB33F20D8}"/>
              </a:ext>
            </a:extLst>
          </p:cNvPr>
          <p:cNvSpPr>
            <a:spLocks xmlns:a="http://schemas.openxmlformats.org/drawingml/2006/main" noGrp="1"/>
          </p:cNvSpPr>
          <p:nvPr/>
        </p:nvSpPr>
        <p:spPr>
          <a:xfrm xmlns:a="http://schemas.openxmlformats.org/drawingml/2006/main">
            <a:off x="6153150" y="5981700"/>
            <a:ext cx="2895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DejaVu Sans"/>
                <a:ea typeface="DejaVu Sans"/>
                <a:cs typeface="DejaVu Sans"/>
              </a:defRPr>
            </a:pPr>
            <a:r>
              <a:rPr sz="1500" b="1">
                <a:solidFill>
                  <a:srgbClr val="28C7F7"/>
                </a:solidFill>
                <a:latin typeface="DejaVu Sans"/>
                <a:ea typeface="DejaVu Sans"/>
                <a:cs typeface="DejaVu Sans"/>
              </a:rPr>
              <a:t>AGARWAL · JAN 2026</a:t>
            </a:r>
          </a:p>
        </p:txBody>
      </p:sp>
      <p:sp>
        <p:nvSpPr>
          <p:cNvPr id="42" name="">
            <a:extLst xmlns:a="http://schemas.openxmlformats.org/drawingml/2006/main">
              <a:ext uri="{FF2B5EF4-FFF2-40B4-BE49-F238E27FC236}">
                <a16:creationId xmlns:a16="http://schemas.microsoft.com/office/drawing/2014/main" id="{86CA9ACF-285B-4A64-91BB-BF59E1733270}"/>
              </a:ext>
            </a:extLst>
          </p:cNvPr>
          <p:cNvSpPr>
            <a:spLocks xmlns:a="http://schemas.openxmlformats.org/drawingml/2006/main" noGrp="1"/>
          </p:cNvSpPr>
          <p:nvPr/>
        </p:nvSpPr>
        <p:spPr>
          <a:xfrm xmlns:a="http://schemas.openxmlformats.org/drawingml/2006/main">
            <a:off x="9086850" y="5962650"/>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575" b="1">
                <a:solidFill>
                  <a:srgbClr val="F4F7FA"/>
                </a:solidFill>
                <a:latin typeface="DejaVu Sans"/>
                <a:ea typeface="DejaVu Sans"/>
                <a:cs typeface="DejaVu Sans"/>
              </a:defRPr>
            </a:pPr>
            <a:r>
              <a:rPr sz="1575" b="1">
                <a:solidFill>
                  <a:srgbClr val="F4F7FA"/>
                </a:solidFill>
                <a:latin typeface="DejaVu Sans"/>
                <a:ea typeface="DejaVu Sans"/>
                <a:cs typeface="DejaVu Sans"/>
              </a:rPr>
              <a:t>+34.85% / +42.87%</a:t>
            </a:r>
          </a:p>
        </p:txBody>
      </p:sp>
      <p:sp>
        <p:nvSpPr>
          <p:cNvPr id="43" name="">
            <a:extLst xmlns:a="http://schemas.openxmlformats.org/drawingml/2006/main">
              <a:ext uri="{FF2B5EF4-FFF2-40B4-BE49-F238E27FC236}">
                <a16:creationId xmlns:a16="http://schemas.microsoft.com/office/drawing/2014/main" id="{56AE4072-B172-4129-986A-0031B3F70AF8}"/>
              </a:ext>
            </a:extLst>
          </p:cNvPr>
          <p:cNvSpPr>
            <a:spLocks xmlns:a="http://schemas.openxmlformats.org/drawingml/2006/main" noGrp="1"/>
          </p:cNvSpPr>
          <p:nvPr/>
        </p:nvSpPr>
        <p:spPr>
          <a:xfrm xmlns:a="http://schemas.openxmlformats.org/drawingml/2006/main">
            <a:off x="6153150" y="6267450"/>
            <a:ext cx="5257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DejaVu Sans"/>
                <a:ea typeface="DejaVu Sans"/>
                <a:cs typeface="DejaVu Sans"/>
              </a:defRPr>
            </a:pPr>
            <a:r>
              <a:rPr sz="1350" b="0">
                <a:solidFill>
                  <a:srgbClr val="ADB8C5"/>
                </a:solidFill>
                <a:latin typeface="DejaVu Sans"/>
                <a:ea typeface="DejaVu Sans"/>
                <a:cs typeface="DejaVu Sans"/>
              </a:rPr>
              <a:t>Complexity: Agent-first / IDE-first. Xu: workload shifts.</a:t>
            </a:r>
          </a:p>
        </p:txBody>
      </p:sp>
      <p:sp>
        <p:nvSpPr>
          <p:cNvPr id="44" name="">
            <a:extLst xmlns:a="http://schemas.openxmlformats.org/drawingml/2006/main">
              <a:ext uri="{FF2B5EF4-FFF2-40B4-BE49-F238E27FC236}">
                <a16:creationId xmlns:a16="http://schemas.microsoft.com/office/drawing/2014/main" id="{EC836E1C-C22E-4373-AE01-74BD2D8F4973}"/>
              </a:ext>
            </a:extLst>
          </p:cNvPr>
          <p:cNvSpPr>
            <a:spLocks xmlns:a="http://schemas.openxmlformats.org/drawingml/2006/main" noGrp="1"/>
          </p:cNvSpPr>
          <p:nvPr/>
        </p:nvSpPr>
        <p:spPr>
          <a:xfrm xmlns:a="http://schemas.openxmlformats.org/drawingml/2006/main">
            <a:off x="609600" y="6562725"/>
            <a:ext cx="10429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4F7FA"/>
                </a:solidFill>
                <a:latin typeface="DejaVu Sans"/>
                <a:ea typeface="DejaVu Sans"/>
                <a:cs typeface="DejaVu Sans"/>
              </a:defRPr>
            </a:pPr>
            <a:r>
              <a:rPr sz="1500" b="1">
                <a:solidFill>
                  <a:srgbClr val="F4F7FA"/>
                </a:solidFill>
                <a:latin typeface="DejaVu Sans"/>
                <a:ea typeface="DejaVu Sans"/>
                <a:cs typeface="DejaVu Sans"/>
              </a:rPr>
              <a:t>Code activity, delivery and user value are different outcomes.</a:t>
            </a:r>
          </a:p>
        </p:txBody>
      </p:sp>
    </p:spTree>
    <p:extLst>
      <p:ext uri="{BB962C8B-B14F-4D97-AF65-F5344CB8AC3E}">
        <p14:creationId xmlns:p14="http://schemas.microsoft.com/office/powerpoint/2010/main" val="1088049194"/>
      </p:ext>
    </p:extLst>
  </p:cSld>
</p:sld>
</file>

<file path=ppt/slides/slide5.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BDA1115B-CFE3-4854-B715-18C59559665A}"/>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The New Scarcity Is Human Comprehension</a:t>
            </a:r>
          </a:p>
        </p:txBody>
      </p:sp>
      <p:sp>
        <p:nvSpPr>
          <p:cNvPr id="2" name="">
            <a:extLst xmlns:a="http://schemas.openxmlformats.org/drawingml/2006/main">
              <a:ext uri="{FF2B5EF4-FFF2-40B4-BE49-F238E27FC236}">
                <a16:creationId xmlns:a16="http://schemas.microsoft.com/office/drawing/2014/main" id="{D5FF606D-1222-4C91-9804-4A02416BB12E}"/>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693B410F-3DDD-4261-AED6-2693FF23EAD5}"/>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05</a:t>
            </a:r>
          </a:p>
        </p:txBody>
      </p:sp>
      <p:sp>
        <p:nvSpPr>
          <p:cNvPr id="4" name="">
            <a:extLst xmlns:a="http://schemas.openxmlformats.org/drawingml/2006/main">
              <a:ext uri="{FF2B5EF4-FFF2-40B4-BE49-F238E27FC236}">
                <a16:creationId xmlns:a16="http://schemas.microsoft.com/office/drawing/2014/main" id="{94C82E57-4873-4F48-9457-9A8A81E78B4D}"/>
              </a:ext>
            </a:extLst>
          </p:cNvPr>
          <p:cNvSpPr>
            <a:spLocks xmlns:a="http://schemas.openxmlformats.org/drawingml/2006/main" noGrp="1"/>
          </p:cNvSpPr>
          <p:nvPr/>
        </p:nvSpPr>
        <p:spPr>
          <a:xfrm xmlns:a="http://schemas.openxmlformats.org/drawingml/2006/main" flipH="0" flipV="0">
            <a:off x="838200" y="4695825"/>
            <a:ext cx="66865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5" name="">
            <a:extLst xmlns:a="http://schemas.openxmlformats.org/drawingml/2006/main">
              <a:ext uri="{FF2B5EF4-FFF2-40B4-BE49-F238E27FC236}">
                <a16:creationId xmlns:a16="http://schemas.microsoft.com/office/drawing/2014/main" id="{B0E4A3DB-0AE1-4E85-B8D0-833964E7B4ED}"/>
              </a:ext>
            </a:extLst>
          </p:cNvPr>
          <p:cNvSpPr>
            <a:spLocks xmlns:a="http://schemas.openxmlformats.org/drawingml/2006/main" noGrp="1"/>
          </p:cNvSpPr>
          <p:nvPr/>
        </p:nvSpPr>
        <p:spPr>
          <a:xfrm xmlns:a="http://schemas.openxmlformats.org/drawingml/2006/main" flipH="0" flipV="1">
            <a:off x="838200" y="2171700"/>
            <a:ext cx="0" cy="2524125"/>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 name="">
            <a:extLst xmlns:a="http://schemas.openxmlformats.org/drawingml/2006/main">
              <a:ext uri="{FF2B5EF4-FFF2-40B4-BE49-F238E27FC236}">
                <a16:creationId xmlns:a16="http://schemas.microsoft.com/office/drawing/2014/main" id="{26F2B0DE-E7EC-4DB9-B7E3-68682B338F69}"/>
              </a:ext>
            </a:extLst>
          </p:cNvPr>
          <p:cNvSpPr>
            <a:spLocks xmlns:a="http://schemas.openxmlformats.org/drawingml/2006/main" noGrp="1"/>
          </p:cNvSpPr>
          <p:nvPr/>
        </p:nvSpPr>
        <p:spPr>
          <a:xfrm xmlns:a="http://schemas.openxmlformats.org/drawingml/2006/main">
            <a:off x="952500" y="2238375"/>
            <a:ext cx="6143625" cy="2190750"/>
          </a:xfrm>
          <a:custGeom xmlns:a="http://schemas.openxmlformats.org/drawingml/2006/main">
            <a:pathLst>
              <a:path w="6143625" h="2190750">
                <a:moveTo>
                  <a:pt x="0" y="2190750"/>
                </a:moveTo>
                <a:lnTo>
                  <a:pt x="51197" y="2187339"/>
                </a:lnTo>
                <a:lnTo>
                  <a:pt x="102394" y="2183679"/>
                </a:lnTo>
                <a:lnTo>
                  <a:pt x="153591" y="2179769"/>
                </a:lnTo>
                <a:lnTo>
                  <a:pt x="204788" y="2175609"/>
                </a:lnTo>
                <a:lnTo>
                  <a:pt x="255984" y="2171201"/>
                </a:lnTo>
                <a:lnTo>
                  <a:pt x="307181" y="2166542"/>
                </a:lnTo>
                <a:lnTo>
                  <a:pt x="358378" y="2161634"/>
                </a:lnTo>
                <a:lnTo>
                  <a:pt x="409575" y="2156477"/>
                </a:lnTo>
                <a:lnTo>
                  <a:pt x="460772" y="2151070"/>
                </a:lnTo>
                <a:lnTo>
                  <a:pt x="511969" y="2145414"/>
                </a:lnTo>
                <a:lnTo>
                  <a:pt x="563166" y="2139508"/>
                </a:lnTo>
                <a:lnTo>
                  <a:pt x="614363" y="2133352"/>
                </a:lnTo>
                <a:lnTo>
                  <a:pt x="665559" y="2126947"/>
                </a:lnTo>
                <a:lnTo>
                  <a:pt x="716756" y="2120293"/>
                </a:lnTo>
                <a:lnTo>
                  <a:pt x="767953" y="2113389"/>
                </a:lnTo>
                <a:lnTo>
                  <a:pt x="819150" y="2106236"/>
                </a:lnTo>
                <a:lnTo>
                  <a:pt x="870347" y="2098833"/>
                </a:lnTo>
                <a:lnTo>
                  <a:pt x="921544" y="2091180"/>
                </a:lnTo>
                <a:lnTo>
                  <a:pt x="972741" y="2083278"/>
                </a:lnTo>
                <a:lnTo>
                  <a:pt x="1023938" y="2075127"/>
                </a:lnTo>
                <a:lnTo>
                  <a:pt x="1075134" y="2066726"/>
                </a:lnTo>
                <a:lnTo>
                  <a:pt x="1126331" y="2058076"/>
                </a:lnTo>
                <a:lnTo>
                  <a:pt x="1177528" y="2049176"/>
                </a:lnTo>
                <a:lnTo>
                  <a:pt x="1228725" y="2040026"/>
                </a:lnTo>
                <a:lnTo>
                  <a:pt x="1279922" y="2030627"/>
                </a:lnTo>
                <a:lnTo>
                  <a:pt x="1331119" y="2020979"/>
                </a:lnTo>
                <a:lnTo>
                  <a:pt x="1382316" y="2011081"/>
                </a:lnTo>
                <a:lnTo>
                  <a:pt x="1433513" y="2000934"/>
                </a:lnTo>
                <a:lnTo>
                  <a:pt x="1484709" y="1990537"/>
                </a:lnTo>
                <a:lnTo>
                  <a:pt x="1535906" y="1979890"/>
                </a:lnTo>
                <a:lnTo>
                  <a:pt x="1587103" y="1968994"/>
                </a:lnTo>
                <a:lnTo>
                  <a:pt x="1638300" y="1957849"/>
                </a:lnTo>
                <a:lnTo>
                  <a:pt x="1689497" y="1946454"/>
                </a:lnTo>
                <a:lnTo>
                  <a:pt x="1740694" y="1934810"/>
                </a:lnTo>
                <a:lnTo>
                  <a:pt x="1791891" y="1922916"/>
                </a:lnTo>
                <a:lnTo>
                  <a:pt x="1843088" y="1910772"/>
                </a:lnTo>
                <a:lnTo>
                  <a:pt x="1894284" y="1898379"/>
                </a:lnTo>
                <a:lnTo>
                  <a:pt x="1945481" y="1885737"/>
                </a:lnTo>
                <a:lnTo>
                  <a:pt x="1996678" y="1872845"/>
                </a:lnTo>
                <a:lnTo>
                  <a:pt x="2047875" y="1859703"/>
                </a:lnTo>
                <a:lnTo>
                  <a:pt x="2099072" y="1846312"/>
                </a:lnTo>
                <a:lnTo>
                  <a:pt x="2150269" y="1832672"/>
                </a:lnTo>
                <a:lnTo>
                  <a:pt x="2201466" y="1818782"/>
                </a:lnTo>
                <a:lnTo>
                  <a:pt x="2252662" y="1804642"/>
                </a:lnTo>
                <a:lnTo>
                  <a:pt x="2303859" y="1790254"/>
                </a:lnTo>
                <a:lnTo>
                  <a:pt x="2355056" y="1775615"/>
                </a:lnTo>
                <a:lnTo>
                  <a:pt x="2406253" y="1760727"/>
                </a:lnTo>
                <a:lnTo>
                  <a:pt x="2457450" y="1745590"/>
                </a:lnTo>
                <a:lnTo>
                  <a:pt x="2508647" y="1730203"/>
                </a:lnTo>
                <a:lnTo>
                  <a:pt x="2559844" y="1714566"/>
                </a:lnTo>
                <a:lnTo>
                  <a:pt x="2611041" y="1698680"/>
                </a:lnTo>
                <a:lnTo>
                  <a:pt x="2662238" y="1682545"/>
                </a:lnTo>
                <a:lnTo>
                  <a:pt x="2713434" y="1666160"/>
                </a:lnTo>
                <a:lnTo>
                  <a:pt x="2764631" y="1649525"/>
                </a:lnTo>
                <a:lnTo>
                  <a:pt x="2815828" y="1632641"/>
                </a:lnTo>
                <a:lnTo>
                  <a:pt x="2867025" y="1615508"/>
                </a:lnTo>
                <a:lnTo>
                  <a:pt x="2918222" y="1598125"/>
                </a:lnTo>
                <a:lnTo>
                  <a:pt x="2969419" y="1580492"/>
                </a:lnTo>
                <a:lnTo>
                  <a:pt x="3020616" y="1562610"/>
                </a:lnTo>
                <a:lnTo>
                  <a:pt x="3071813" y="1544479"/>
                </a:lnTo>
                <a:lnTo>
                  <a:pt x="3123009" y="1526098"/>
                </a:lnTo>
                <a:lnTo>
                  <a:pt x="3174206" y="1507467"/>
                </a:lnTo>
                <a:lnTo>
                  <a:pt x="3225403" y="1488587"/>
                </a:lnTo>
                <a:lnTo>
                  <a:pt x="3276600" y="1469458"/>
                </a:lnTo>
                <a:lnTo>
                  <a:pt x="3327797" y="1450079"/>
                </a:lnTo>
                <a:lnTo>
                  <a:pt x="3378994" y="1430450"/>
                </a:lnTo>
                <a:lnTo>
                  <a:pt x="3430191" y="1410572"/>
                </a:lnTo>
                <a:lnTo>
                  <a:pt x="3481388" y="1390445"/>
                </a:lnTo>
                <a:lnTo>
                  <a:pt x="3532584" y="1370068"/>
                </a:lnTo>
                <a:lnTo>
                  <a:pt x="3583781" y="1349441"/>
                </a:lnTo>
                <a:lnTo>
                  <a:pt x="3634978" y="1328565"/>
                </a:lnTo>
                <a:lnTo>
                  <a:pt x="3686175" y="1307440"/>
                </a:lnTo>
                <a:lnTo>
                  <a:pt x="3737372" y="1286065"/>
                </a:lnTo>
                <a:lnTo>
                  <a:pt x="3788569" y="1264440"/>
                </a:lnTo>
                <a:lnTo>
                  <a:pt x="3839766" y="1242566"/>
                </a:lnTo>
                <a:lnTo>
                  <a:pt x="3890963" y="1220442"/>
                </a:lnTo>
                <a:lnTo>
                  <a:pt x="3942159" y="1198069"/>
                </a:lnTo>
                <a:lnTo>
                  <a:pt x="3993356" y="1175447"/>
                </a:lnTo>
                <a:lnTo>
                  <a:pt x="4044553" y="1152575"/>
                </a:lnTo>
                <a:lnTo>
                  <a:pt x="4095750" y="1129453"/>
                </a:lnTo>
                <a:lnTo>
                  <a:pt x="4146947" y="1106082"/>
                </a:lnTo>
                <a:lnTo>
                  <a:pt x="4198144" y="1082462"/>
                </a:lnTo>
                <a:lnTo>
                  <a:pt x="4249341" y="1058592"/>
                </a:lnTo>
                <a:lnTo>
                  <a:pt x="4300537" y="1034472"/>
                </a:lnTo>
                <a:lnTo>
                  <a:pt x="4351734" y="1010103"/>
                </a:lnTo>
                <a:lnTo>
                  <a:pt x="4402931" y="985485"/>
                </a:lnTo>
                <a:lnTo>
                  <a:pt x="4454128" y="960616"/>
                </a:lnTo>
                <a:lnTo>
                  <a:pt x="4505325" y="935499"/>
                </a:lnTo>
                <a:lnTo>
                  <a:pt x="4556522" y="910132"/>
                </a:lnTo>
                <a:lnTo>
                  <a:pt x="4607719" y="884515"/>
                </a:lnTo>
                <a:lnTo>
                  <a:pt x="4658916" y="858649"/>
                </a:lnTo>
                <a:lnTo>
                  <a:pt x="4710113" y="832534"/>
                </a:lnTo>
                <a:lnTo>
                  <a:pt x="4761309" y="806169"/>
                </a:lnTo>
                <a:lnTo>
                  <a:pt x="4812506" y="779554"/>
                </a:lnTo>
                <a:lnTo>
                  <a:pt x="4863703" y="752690"/>
                </a:lnTo>
                <a:lnTo>
                  <a:pt x="4914900" y="725576"/>
                </a:lnTo>
                <a:lnTo>
                  <a:pt x="4966097" y="698213"/>
                </a:lnTo>
                <a:lnTo>
                  <a:pt x="5017294" y="670601"/>
                </a:lnTo>
                <a:lnTo>
                  <a:pt x="5068491" y="642739"/>
                </a:lnTo>
                <a:lnTo>
                  <a:pt x="5119688" y="614627"/>
                </a:lnTo>
                <a:lnTo>
                  <a:pt x="5170884" y="586266"/>
                </a:lnTo>
                <a:lnTo>
                  <a:pt x="5222081" y="557655"/>
                </a:lnTo>
                <a:lnTo>
                  <a:pt x="5273278" y="528795"/>
                </a:lnTo>
                <a:lnTo>
                  <a:pt x="5324475" y="499686"/>
                </a:lnTo>
                <a:lnTo>
                  <a:pt x="5375672" y="470327"/>
                </a:lnTo>
                <a:lnTo>
                  <a:pt x="5426869" y="440718"/>
                </a:lnTo>
                <a:lnTo>
                  <a:pt x="5478066" y="410860"/>
                </a:lnTo>
                <a:lnTo>
                  <a:pt x="5529263" y="380752"/>
                </a:lnTo>
                <a:lnTo>
                  <a:pt x="5580459" y="350395"/>
                </a:lnTo>
                <a:lnTo>
                  <a:pt x="5631656" y="319789"/>
                </a:lnTo>
                <a:lnTo>
                  <a:pt x="5682853" y="288933"/>
                </a:lnTo>
                <a:lnTo>
                  <a:pt x="5734050" y="257827"/>
                </a:lnTo>
                <a:lnTo>
                  <a:pt x="5785247" y="226472"/>
                </a:lnTo>
                <a:lnTo>
                  <a:pt x="5836444" y="194867"/>
                </a:lnTo>
                <a:lnTo>
                  <a:pt x="5887641" y="163013"/>
                </a:lnTo>
                <a:lnTo>
                  <a:pt x="5938838" y="130909"/>
                </a:lnTo>
                <a:lnTo>
                  <a:pt x="5990034" y="98556"/>
                </a:lnTo>
                <a:lnTo>
                  <a:pt x="6041231" y="65954"/>
                </a:lnTo>
                <a:lnTo>
                  <a:pt x="6092428" y="33102"/>
                </a:lnTo>
                <a:lnTo>
                  <a:pt x="6143625" y="0"/>
                </a:lnTo>
              </a:path>
            </a:pathLst>
          </a:custGeom>
          <a:noFill xmlns:a="http://schemas.openxmlformats.org/drawingml/2006/main"/>
          <a:ln xmlns:a="http://schemas.openxmlformats.org/drawingml/2006/main" w="38100">
            <a:solidFill>
              <a:srgbClr val="28C7F7"/>
            </a:solidFill>
            <a:prstDash val="solid"/>
          </a:ln>
        </p:spPr>
      </p:sp>
      <p:sp>
        <p:nvSpPr>
          <p:cNvPr id="7" name="">
            <a:extLst xmlns:a="http://schemas.openxmlformats.org/drawingml/2006/main">
              <a:ext uri="{FF2B5EF4-FFF2-40B4-BE49-F238E27FC236}">
                <a16:creationId xmlns:a16="http://schemas.microsoft.com/office/drawing/2014/main" id="{01978856-B382-44BB-A7FA-7BFAB500D56B}"/>
              </a:ext>
            </a:extLst>
          </p:cNvPr>
          <p:cNvSpPr>
            <a:spLocks xmlns:a="http://schemas.openxmlformats.org/drawingml/2006/main" noGrp="1"/>
          </p:cNvSpPr>
          <p:nvPr/>
        </p:nvSpPr>
        <p:spPr>
          <a:xfrm xmlns:a="http://schemas.openxmlformats.org/drawingml/2006/main" flipH="0" flipV="0">
            <a:off x="952500" y="4429125"/>
            <a:ext cx="6143625" cy="0"/>
          </a:xfrm>
          <a:prstGeom xmlns:a="http://schemas.openxmlformats.org/drawingml/2006/main" prst="line">
            <a:avLst/>
          </a:prstGeom>
          <a:noFill xmlns:a="http://schemas.openxmlformats.org/drawingml/2006/main"/>
          <a:ln xmlns:a="http://schemas.openxmlformats.org/drawingml/2006/main" w="38100">
            <a:solidFill>
              <a:srgbClr val="F5B61C"/>
            </a:solidFill>
            <a:prstDash val="solid"/>
          </a:ln>
        </p:spPr>
      </p:sp>
      <p:sp>
        <p:nvSpPr>
          <p:cNvPr id="8" name="">
            <a:extLst xmlns:a="http://schemas.openxmlformats.org/drawingml/2006/main">
              <a:ext uri="{FF2B5EF4-FFF2-40B4-BE49-F238E27FC236}">
                <a16:creationId xmlns:a16="http://schemas.microsoft.com/office/drawing/2014/main" id="{1A2145D5-4E5B-4646-8DBD-EAC1E30A56DE}"/>
              </a:ext>
            </a:extLst>
          </p:cNvPr>
          <p:cNvSpPr>
            <a:spLocks xmlns:a="http://schemas.openxmlformats.org/drawingml/2006/main" noGrp="1"/>
          </p:cNvSpPr>
          <p:nvPr/>
        </p:nvSpPr>
        <p:spPr>
          <a:xfrm xmlns:a="http://schemas.openxmlformats.org/drawingml/2006/main">
            <a:off x="1047750" y="1838325"/>
            <a:ext cx="6000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28C7F7"/>
                </a:solidFill>
                <a:latin typeface="DejaVu Sans"/>
                <a:ea typeface="DejaVu Sans"/>
                <a:cs typeface="DejaVu Sans"/>
              </a:defRPr>
            </a:pPr>
            <a:r>
              <a:rPr sz="1875" b="1">
                <a:solidFill>
                  <a:srgbClr val="28C7F7"/>
                </a:solidFill>
                <a:latin typeface="DejaVu Sans"/>
                <a:ea typeface="DejaVu Sans"/>
                <a:cs typeface="DejaVu Sans"/>
              </a:rPr>
              <a:t>Machine generation capacity</a:t>
            </a:r>
          </a:p>
        </p:txBody>
      </p:sp>
      <p:sp>
        <p:nvSpPr>
          <p:cNvPr id="9" name="">
            <a:extLst xmlns:a="http://schemas.openxmlformats.org/drawingml/2006/main">
              <a:ext uri="{FF2B5EF4-FFF2-40B4-BE49-F238E27FC236}">
                <a16:creationId xmlns:a16="http://schemas.microsoft.com/office/drawing/2014/main" id="{EC9E13F8-D8AF-4DBE-B8DE-22B747EB86D8}"/>
              </a:ext>
            </a:extLst>
          </p:cNvPr>
          <p:cNvSpPr>
            <a:spLocks xmlns:a="http://schemas.openxmlformats.org/drawingml/2006/main" noGrp="1"/>
          </p:cNvSpPr>
          <p:nvPr/>
        </p:nvSpPr>
        <p:spPr>
          <a:xfrm xmlns:a="http://schemas.openxmlformats.org/drawingml/2006/main">
            <a:off x="1028700" y="4857750"/>
            <a:ext cx="647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5B61C"/>
                </a:solidFill>
                <a:latin typeface="DejaVu Sans"/>
                <a:ea typeface="DejaVu Sans"/>
                <a:cs typeface="DejaVu Sans"/>
              </a:defRPr>
            </a:pPr>
            <a:r>
              <a:rPr sz="1725" b="0">
                <a:solidFill>
                  <a:srgbClr val="F5B61C"/>
                </a:solidFill>
                <a:latin typeface="DejaVu Sans"/>
                <a:ea typeface="DejaVu Sans"/>
                <a:cs typeface="DejaVu Sans"/>
              </a:rPr>
              <a:t>Human comprehension capacity</a:t>
            </a:r>
          </a:p>
        </p:txBody>
      </p:sp>
      <p:sp>
        <p:nvSpPr>
          <p:cNvPr id="10" name="">
            <a:extLst xmlns:a="http://schemas.openxmlformats.org/drawingml/2006/main">
              <a:ext uri="{FF2B5EF4-FFF2-40B4-BE49-F238E27FC236}">
                <a16:creationId xmlns:a16="http://schemas.microsoft.com/office/drawing/2014/main" id="{E535D283-832B-472D-876F-A7A17C8FD42C}"/>
              </a:ext>
            </a:extLst>
          </p:cNvPr>
          <p:cNvSpPr>
            <a:spLocks xmlns:a="http://schemas.openxmlformats.org/drawingml/2006/main" noGrp="1"/>
          </p:cNvSpPr>
          <p:nvPr/>
        </p:nvSpPr>
        <p:spPr>
          <a:xfrm xmlns:a="http://schemas.openxmlformats.org/drawingml/2006/main">
            <a:off x="5000625" y="3524250"/>
            <a:ext cx="2476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Potential</a:t>
            </a:r>
          </a:p>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comprehension gap</a:t>
            </a:r>
          </a:p>
        </p:txBody>
      </p:sp>
      <p:sp>
        <p:nvSpPr>
          <p:cNvPr id="11" name="">
            <a:extLst xmlns:a="http://schemas.openxmlformats.org/drawingml/2006/main">
              <a:ext uri="{FF2B5EF4-FFF2-40B4-BE49-F238E27FC236}">
                <a16:creationId xmlns:a16="http://schemas.microsoft.com/office/drawing/2014/main" id="{61948817-CA75-47E2-8AD9-2B9BA0B2A651}"/>
              </a:ext>
            </a:extLst>
          </p:cNvPr>
          <p:cNvSpPr>
            <a:spLocks xmlns:a="http://schemas.openxmlformats.org/drawingml/2006/main" noGrp="1"/>
          </p:cNvSpPr>
          <p:nvPr/>
        </p:nvSpPr>
        <p:spPr>
          <a:xfrm xmlns:a="http://schemas.openxmlformats.org/drawingml/2006/main">
            <a:off x="5572125" y="4695825"/>
            <a:ext cx="1952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Adoption / time</a:t>
            </a:r>
          </a:p>
        </p:txBody>
      </p:sp>
      <p:sp>
        <p:nvSpPr>
          <p:cNvPr id="12" name="">
            <a:extLst xmlns:a="http://schemas.openxmlformats.org/drawingml/2006/main">
              <a:ext uri="{FF2B5EF4-FFF2-40B4-BE49-F238E27FC236}">
                <a16:creationId xmlns:a16="http://schemas.microsoft.com/office/drawing/2014/main" id="{1F775994-A61B-4AE2-908F-0CB4588E25F1}"/>
              </a:ext>
            </a:extLst>
          </p:cNvPr>
          <p:cNvSpPr>
            <a:spLocks xmlns:a="http://schemas.openxmlformats.org/drawingml/2006/main" noGrp="1"/>
          </p:cNvSpPr>
          <p:nvPr/>
        </p:nvSpPr>
        <p:spPr>
          <a:xfrm xmlns:a="http://schemas.openxmlformats.org/drawingml/2006/main">
            <a:off x="8048625" y="2095500"/>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DejaVu Sans"/>
                <a:ea typeface="DejaVu Sans"/>
                <a:cs typeface="DejaVu Sans"/>
              </a:defRPr>
            </a:pPr>
            <a:r>
              <a:rPr sz="1875" b="0">
                <a:solidFill>
                  <a:srgbClr val="ADB8C5"/>
                </a:solidFill>
                <a:latin typeface="DejaVu Sans"/>
                <a:ea typeface="DejaVu Sans"/>
                <a:cs typeface="DejaVu Sans"/>
              </a:rPr>
              <a:t>Can we generate faster?</a:t>
            </a:r>
          </a:p>
        </p:txBody>
      </p:sp>
      <p:sp>
        <p:nvSpPr>
          <p:cNvPr id="13" name="">
            <a:extLst xmlns:a="http://schemas.openxmlformats.org/drawingml/2006/main">
              <a:ext uri="{FF2B5EF4-FFF2-40B4-BE49-F238E27FC236}">
                <a16:creationId xmlns:a16="http://schemas.microsoft.com/office/drawing/2014/main" id="{35DAFF36-206B-4DA7-A66E-256B497C2325}"/>
              </a:ext>
            </a:extLst>
          </p:cNvPr>
          <p:cNvSpPr>
            <a:spLocks xmlns:a="http://schemas.openxmlformats.org/drawingml/2006/main" noGrp="1"/>
          </p:cNvSpPr>
          <p:nvPr/>
        </p:nvSpPr>
        <p:spPr>
          <a:xfrm xmlns:a="http://schemas.openxmlformats.org/drawingml/2006/main">
            <a:off x="8048625" y="2676525"/>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28C7F7"/>
                </a:solidFill>
                <a:latin typeface="DejaVu Sans"/>
                <a:ea typeface="DejaVu Sans"/>
                <a:cs typeface="DejaVu Sans"/>
              </a:defRPr>
            </a:pPr>
            <a:r>
              <a:rPr sz="2100" b="1">
                <a:solidFill>
                  <a:srgbClr val="28C7F7"/>
                </a:solidFill>
                <a:latin typeface="DejaVu Sans"/>
                <a:ea typeface="DejaVu Sans"/>
                <a:cs typeface="DejaVu Sans"/>
              </a:rPr>
              <a:t>YES</a:t>
            </a:r>
          </a:p>
        </p:txBody>
      </p:sp>
      <p:sp>
        <p:nvSpPr>
          <p:cNvPr id="14" name="">
            <a:extLst xmlns:a="http://schemas.openxmlformats.org/drawingml/2006/main">
              <a:ext uri="{FF2B5EF4-FFF2-40B4-BE49-F238E27FC236}">
                <a16:creationId xmlns:a16="http://schemas.microsoft.com/office/drawing/2014/main" id="{7ADD0FEE-EDB7-4BD7-A935-346440DBF901}"/>
              </a:ext>
            </a:extLst>
          </p:cNvPr>
          <p:cNvSpPr>
            <a:spLocks xmlns:a="http://schemas.openxmlformats.org/drawingml/2006/main" noGrp="1"/>
          </p:cNvSpPr>
          <p:nvPr/>
        </p:nvSpPr>
        <p:spPr>
          <a:xfrm xmlns:a="http://schemas.openxmlformats.org/drawingml/2006/main">
            <a:off x="8048625" y="3190875"/>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DejaVu Sans"/>
                <a:ea typeface="DejaVu Sans"/>
                <a:cs typeface="DejaVu Sans"/>
              </a:defRPr>
            </a:pPr>
            <a:r>
              <a:rPr sz="1875" b="0">
                <a:solidFill>
                  <a:srgbClr val="ADB8C5"/>
                </a:solidFill>
                <a:latin typeface="DejaVu Sans"/>
                <a:ea typeface="DejaVu Sans"/>
                <a:cs typeface="DejaVu Sans"/>
              </a:rPr>
              <a:t>Can review keep pace?</a:t>
            </a:r>
          </a:p>
        </p:txBody>
      </p:sp>
      <p:sp>
        <p:nvSpPr>
          <p:cNvPr id="15" name="">
            <a:extLst xmlns:a="http://schemas.openxmlformats.org/drawingml/2006/main">
              <a:ext uri="{FF2B5EF4-FFF2-40B4-BE49-F238E27FC236}">
                <a16:creationId xmlns:a16="http://schemas.microsoft.com/office/drawing/2014/main" id="{36CFA634-614D-44C2-8D85-47DDB19C3A0B}"/>
              </a:ext>
            </a:extLst>
          </p:cNvPr>
          <p:cNvSpPr>
            <a:spLocks xmlns:a="http://schemas.openxmlformats.org/drawingml/2006/main" noGrp="1"/>
          </p:cNvSpPr>
          <p:nvPr/>
        </p:nvSpPr>
        <p:spPr>
          <a:xfrm xmlns:a="http://schemas.openxmlformats.org/drawingml/2006/main">
            <a:off x="8048625" y="3771900"/>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5B61C"/>
                </a:solidFill>
                <a:latin typeface="DejaVu Sans"/>
                <a:ea typeface="DejaVu Sans"/>
                <a:cs typeface="DejaVu Sans"/>
              </a:defRPr>
            </a:pPr>
            <a:r>
              <a:rPr sz="2100" b="1">
                <a:solidFill>
                  <a:srgbClr val="F5B61C"/>
                </a:solidFill>
                <a:latin typeface="DejaVu Sans"/>
                <a:ea typeface="DejaVu Sans"/>
                <a:cs typeface="DejaVu Sans"/>
              </a:rPr>
              <a:t>NOT AT THIS RATE</a:t>
            </a:r>
          </a:p>
        </p:txBody>
      </p:sp>
      <p:sp>
        <p:nvSpPr>
          <p:cNvPr id="16" name="">
            <a:extLst xmlns:a="http://schemas.openxmlformats.org/drawingml/2006/main">
              <a:ext uri="{FF2B5EF4-FFF2-40B4-BE49-F238E27FC236}">
                <a16:creationId xmlns:a16="http://schemas.microsoft.com/office/drawing/2014/main" id="{A3B8C60F-2D9D-4C50-8A06-28A53E52AB48}"/>
              </a:ext>
            </a:extLst>
          </p:cNvPr>
          <p:cNvSpPr>
            <a:spLocks xmlns:a="http://schemas.openxmlformats.org/drawingml/2006/main" noGrp="1"/>
          </p:cNvSpPr>
          <p:nvPr/>
        </p:nvSpPr>
        <p:spPr>
          <a:xfrm xmlns:a="http://schemas.openxmlformats.org/drawingml/2006/main">
            <a:off x="8048625" y="4286250"/>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DejaVu Sans"/>
                <a:ea typeface="DejaVu Sans"/>
                <a:cs typeface="DejaVu Sans"/>
              </a:defRPr>
            </a:pPr>
            <a:r>
              <a:rPr sz="1875" b="0">
                <a:solidFill>
                  <a:srgbClr val="ADB8C5"/>
                </a:solidFill>
                <a:latin typeface="DejaVu Sans"/>
                <a:ea typeface="DejaVu Sans"/>
                <a:cs typeface="DejaVu Sans"/>
              </a:rPr>
              <a:t>Will we understand it</a:t>
            </a:r>
          </a:p>
          <a:p xmlns:a="http://schemas.openxmlformats.org/drawingml/2006/main">
            <a:pPr algn="l">
              <a:defRPr sz="1875" b="0">
                <a:solidFill>
                  <a:srgbClr val="ADB8C5"/>
                </a:solidFill>
                <a:latin typeface="DejaVu Sans"/>
                <a:ea typeface="DejaVu Sans"/>
                <a:cs typeface="DejaVu Sans"/>
              </a:defRPr>
            </a:pPr>
            <a:r>
              <a:rPr sz="1875" b="0">
                <a:solidFill>
                  <a:srgbClr val="ADB8C5"/>
                </a:solidFill>
                <a:latin typeface="DejaVu Sans"/>
                <a:ea typeface="DejaVu Sans"/>
                <a:cs typeface="DejaVu Sans"/>
              </a:rPr>
              <a:t>in 5 years?</a:t>
            </a:r>
          </a:p>
        </p:txBody>
      </p:sp>
      <p:sp>
        <p:nvSpPr>
          <p:cNvPr id="17" name="">
            <a:extLst xmlns:a="http://schemas.openxmlformats.org/drawingml/2006/main">
              <a:ext uri="{FF2B5EF4-FFF2-40B4-BE49-F238E27FC236}">
                <a16:creationId xmlns:a16="http://schemas.microsoft.com/office/drawing/2014/main" id="{F2825E5C-BB29-4300-BF46-9D23B09D897F}"/>
              </a:ext>
            </a:extLst>
          </p:cNvPr>
          <p:cNvSpPr>
            <a:spLocks xmlns:a="http://schemas.openxmlformats.org/drawingml/2006/main" noGrp="1"/>
          </p:cNvSpPr>
          <p:nvPr/>
        </p:nvSpPr>
        <p:spPr>
          <a:xfrm xmlns:a="http://schemas.openxmlformats.org/drawingml/2006/main">
            <a:off x="8048625" y="4867275"/>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75" b="1">
                <a:solidFill>
                  <a:srgbClr val="F5B61C"/>
                </a:solidFill>
                <a:latin typeface="DejaVu Sans"/>
                <a:ea typeface="DejaVu Sans"/>
                <a:cs typeface="DejaVu Sans"/>
              </a:defRPr>
            </a:pPr>
            <a:r>
              <a:rPr sz="3075" b="1">
                <a:solidFill>
                  <a:srgbClr val="F5B61C"/>
                </a:solidFill>
                <a:latin typeface="DejaVu Sans"/>
                <a:ea typeface="DejaVu Sans"/>
                <a:cs typeface="DejaVu Sans"/>
              </a:rPr>
              <a:t>?</a:t>
            </a:r>
          </a:p>
        </p:txBody>
      </p:sp>
      <p:sp>
        <p:nvSpPr>
          <p:cNvPr id="18" name="">
            <a:extLst xmlns:a="http://schemas.openxmlformats.org/drawingml/2006/main">
              <a:ext uri="{FF2B5EF4-FFF2-40B4-BE49-F238E27FC236}">
                <a16:creationId xmlns:a16="http://schemas.microsoft.com/office/drawing/2014/main" id="{9CEA6E0D-0517-408A-BDB8-F518412A1A82}"/>
              </a:ext>
            </a:extLst>
          </p:cNvPr>
          <p:cNvSpPr>
            <a:spLocks xmlns:a="http://schemas.openxmlformats.org/drawingml/2006/main" noGrp="1"/>
          </p:cNvSpPr>
          <p:nvPr/>
        </p:nvSpPr>
        <p:spPr>
          <a:xfrm xmlns:a="http://schemas.openxmlformats.org/drawingml/2006/main">
            <a:off x="838200" y="53435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Illustrative overload scenario. Not measured trends or a five-year forecast.</a:t>
            </a:r>
          </a:p>
        </p:txBody>
      </p:sp>
      <p:sp>
        <p:nvSpPr>
          <p:cNvPr id="19" name="">
            <a:extLst xmlns:a="http://schemas.openxmlformats.org/drawingml/2006/main">
              <a:ext uri="{FF2B5EF4-FFF2-40B4-BE49-F238E27FC236}">
                <a16:creationId xmlns:a16="http://schemas.microsoft.com/office/drawing/2014/main" id="{62A10FA2-3AA0-4A7D-BEAF-D3C40F465245}"/>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11F73369-2034-4174-B004-51A4A97267BC}"/>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Generation scales differently from comprehension.</a:t>
            </a:r>
          </a:p>
        </p:txBody>
      </p:sp>
    </p:spTree>
    <p:extLst>
      <p:ext uri="{BB962C8B-B14F-4D97-AF65-F5344CB8AC3E}">
        <p14:creationId xmlns:p14="http://schemas.microsoft.com/office/powerpoint/2010/main" val="89417242"/>
      </p:ext>
    </p:extLst>
  </p:cSld>
</p:sld>
</file>

<file path=ppt/slides/slide6.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3A7585E6-F89B-44D9-97BC-BEE3D0D28D25}"/>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The Team Is the Last Line of Defense</a:t>
            </a:r>
          </a:p>
        </p:txBody>
      </p:sp>
      <p:sp>
        <p:nvSpPr>
          <p:cNvPr id="2" name="">
            <a:extLst xmlns:a="http://schemas.openxmlformats.org/drawingml/2006/main">
              <a:ext uri="{FF2B5EF4-FFF2-40B4-BE49-F238E27FC236}">
                <a16:creationId xmlns:a16="http://schemas.microsoft.com/office/drawing/2014/main" id="{6C33510C-77B6-4159-B39A-A72C16E16E55}"/>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E50FB693-6B10-4BBE-A44F-BED751BDEDFC}"/>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06</a:t>
            </a:r>
          </a:p>
        </p:txBody>
      </p:sp>
      <p:sp>
        <p:nvSpPr>
          <p:cNvPr id="4" name="">
            <a:extLst xmlns:a="http://schemas.openxmlformats.org/drawingml/2006/main">
              <a:ext uri="{FF2B5EF4-FFF2-40B4-BE49-F238E27FC236}">
                <a16:creationId xmlns:a16="http://schemas.microsoft.com/office/drawing/2014/main" id="{FE8BA5E1-3AE1-42D3-91D8-197D69065156}"/>
              </a:ext>
            </a:extLst>
          </p:cNvPr>
          <p:cNvSpPr>
            <a:spLocks xmlns:a="http://schemas.openxmlformats.org/drawingml/2006/main" noGrp="1"/>
          </p:cNvSpPr>
          <p:nvPr/>
        </p:nvSpPr>
        <p:spPr>
          <a:xfrm xmlns:a="http://schemas.openxmlformats.org/drawingml/2006/main">
            <a:off x="609600" y="18097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75" b="1">
                <a:solidFill>
                  <a:srgbClr val="F4F7FA"/>
                </a:solidFill>
                <a:latin typeface="DejaVu Sans"/>
                <a:ea typeface="DejaVu Sans"/>
                <a:cs typeface="DejaVu Sans"/>
              </a:defRPr>
            </a:pPr>
            <a:r>
              <a:rPr sz="2175" b="1">
                <a:solidFill>
                  <a:srgbClr val="F4F7FA"/>
                </a:solidFill>
                <a:latin typeface="DejaVu Sans"/>
                <a:ea typeface="DejaVu Sans"/>
                <a:cs typeface="DejaVu Sans"/>
              </a:rPr>
              <a:t>AI code generators are technical systems with limits.</a:t>
            </a:r>
          </a:p>
        </p:txBody>
      </p:sp>
      <p:sp>
        <p:nvSpPr>
          <p:cNvPr id="5" name="">
            <a:extLst xmlns:a="http://schemas.openxmlformats.org/drawingml/2006/main">
              <a:ext uri="{FF2B5EF4-FFF2-40B4-BE49-F238E27FC236}">
                <a16:creationId xmlns:a16="http://schemas.microsoft.com/office/drawing/2014/main" id="{613DDB7B-E144-4077-A1A3-1C9B4E4678C4}"/>
              </a:ext>
            </a:extLst>
          </p:cNvPr>
          <p:cNvSpPr>
            <a:spLocks xmlns:a="http://schemas.openxmlformats.org/drawingml/2006/main" noGrp="1"/>
          </p:cNvSpPr>
          <p:nvPr/>
        </p:nvSpPr>
        <p:spPr>
          <a:xfrm xmlns:a="http://schemas.openxmlformats.org/drawingml/2006/main">
            <a:off x="609600" y="22669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DejaVu Sans"/>
                <a:ea typeface="DejaVu Sans"/>
                <a:cs typeface="DejaVu Sans"/>
              </a:defRPr>
            </a:pPr>
            <a:r>
              <a:rPr sz="1875" b="0">
                <a:solidFill>
                  <a:srgbClr val="ADB8C5"/>
                </a:solidFill>
                <a:latin typeface="DejaVu Sans"/>
                <a:ea typeface="DejaVu Sans"/>
                <a:cs typeface="DejaVu Sans"/>
              </a:rPr>
              <a:t>Their failure to fix an incident belongs in the project risk model.</a:t>
            </a:r>
          </a:p>
        </p:txBody>
      </p:sp>
      <p:sp>
        <p:nvSpPr>
          <p:cNvPr id="6" name="">
            <a:extLst xmlns:a="http://schemas.openxmlformats.org/drawingml/2006/main">
              <a:ext uri="{FF2B5EF4-FFF2-40B4-BE49-F238E27FC236}">
                <a16:creationId xmlns:a16="http://schemas.microsoft.com/office/drawing/2014/main" id="{56492529-B939-4C06-A186-22AB916A8052}"/>
              </a:ext>
            </a:extLst>
          </p:cNvPr>
          <p:cNvSpPr>
            <a:spLocks xmlns:a="http://schemas.openxmlformats.org/drawingml/2006/main" noGrp="1"/>
          </p:cNvSpPr>
          <p:nvPr/>
        </p:nvSpPr>
        <p:spPr>
          <a:xfrm xmlns:a="http://schemas.openxmlformats.org/drawingml/2006/main">
            <a:off x="6096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7" name="">
            <a:extLst xmlns:a="http://schemas.openxmlformats.org/drawingml/2006/main">
              <a:ext uri="{FF2B5EF4-FFF2-40B4-BE49-F238E27FC236}">
                <a16:creationId xmlns:a16="http://schemas.microsoft.com/office/drawing/2014/main" id="{AE9CC73C-0886-4D4F-B988-B5645313A61B}"/>
              </a:ext>
            </a:extLst>
          </p:cNvPr>
          <p:cNvSpPr>
            <a:spLocks xmlns:a="http://schemas.openxmlformats.org/drawingml/2006/main" noGrp="1"/>
          </p:cNvSpPr>
          <p:nvPr/>
        </p:nvSpPr>
        <p:spPr>
          <a:xfrm xmlns:a="http://schemas.openxmlformats.org/drawingml/2006/main">
            <a:off x="7239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Production</a:t>
            </a:r>
          </a:p>
          <a:p xmlns:a="http://schemas.openxmlformats.org/drawingml/2006/main">
            <a:pPr algn="ctr">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incident</a:t>
            </a:r>
          </a:p>
        </p:txBody>
      </p:sp>
      <p:sp>
        <p:nvSpPr>
          <p:cNvPr id="8" name="">
            <a:extLst xmlns:a="http://schemas.openxmlformats.org/drawingml/2006/main">
              <a:ext uri="{FF2B5EF4-FFF2-40B4-BE49-F238E27FC236}">
                <a16:creationId xmlns:a16="http://schemas.microsoft.com/office/drawing/2014/main" id="{9E0F02CC-6E0A-4282-9E4D-707B1280B26C}"/>
              </a:ext>
            </a:extLst>
          </p:cNvPr>
          <p:cNvSpPr>
            <a:spLocks xmlns:a="http://schemas.openxmlformats.org/drawingml/2006/main" noGrp="1"/>
          </p:cNvSpPr>
          <p:nvPr/>
        </p:nvSpPr>
        <p:spPr>
          <a:xfrm xmlns:a="http://schemas.openxmlformats.org/drawingml/2006/main">
            <a:off x="6096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Contain impact.</a:t>
            </a:r>
          </a:p>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Roll back or use</a:t>
            </a:r>
          </a:p>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fallback where safe.</a:t>
            </a:r>
          </a:p>
        </p:txBody>
      </p:sp>
      <p:sp>
        <p:nvSpPr>
          <p:cNvPr id="9" name="">
            <a:extLst xmlns:a="http://schemas.openxmlformats.org/drawingml/2006/main">
              <a:ext uri="{FF2B5EF4-FFF2-40B4-BE49-F238E27FC236}">
                <a16:creationId xmlns:a16="http://schemas.microsoft.com/office/drawing/2014/main" id="{0DCD5F5C-7AAB-4C46-B4A9-D08C74843858}"/>
              </a:ext>
            </a:extLst>
          </p:cNvPr>
          <p:cNvSpPr>
            <a:spLocks xmlns:a="http://schemas.openxmlformats.org/drawingml/2006/main" noGrp="1"/>
          </p:cNvSpPr>
          <p:nvPr/>
        </p:nvSpPr>
        <p:spPr>
          <a:xfrm xmlns:a="http://schemas.openxmlformats.org/drawingml/2006/main">
            <a:off x="34671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FF6B75"/>
            </a:solidFill>
            <a:prstDash val="solid"/>
          </a:ln>
        </p:spPr>
      </p:sp>
      <p:sp>
        <p:nvSpPr>
          <p:cNvPr id="10" name="">
            <a:extLst xmlns:a="http://schemas.openxmlformats.org/drawingml/2006/main">
              <a:ext uri="{FF2B5EF4-FFF2-40B4-BE49-F238E27FC236}">
                <a16:creationId xmlns:a16="http://schemas.microsoft.com/office/drawing/2014/main" id="{AA2E795E-0FA0-4813-886C-D0841220823B}"/>
              </a:ext>
            </a:extLst>
          </p:cNvPr>
          <p:cNvSpPr>
            <a:spLocks xmlns:a="http://schemas.openxmlformats.org/drawingml/2006/main" noGrp="1"/>
          </p:cNvSpPr>
          <p:nvPr/>
        </p:nvSpPr>
        <p:spPr>
          <a:xfrm xmlns:a="http://schemas.openxmlformats.org/drawingml/2006/main">
            <a:off x="35814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AI cannot</a:t>
            </a:r>
          </a:p>
          <a:p xmlns:a="http://schemas.openxmlformats.org/drawingml/2006/main">
            <a:pPr algn="ctr">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recover</a:t>
            </a:r>
          </a:p>
        </p:txBody>
      </p:sp>
      <p:sp>
        <p:nvSpPr>
          <p:cNvPr id="11" name="">
            <a:extLst xmlns:a="http://schemas.openxmlformats.org/drawingml/2006/main">
              <a:ext uri="{FF2B5EF4-FFF2-40B4-BE49-F238E27FC236}">
                <a16:creationId xmlns:a16="http://schemas.microsoft.com/office/drawing/2014/main" id="{A400112D-AAB4-4E2A-90B5-B6746622FDF7}"/>
              </a:ext>
            </a:extLst>
          </p:cNvPr>
          <p:cNvSpPr>
            <a:spLocks xmlns:a="http://schemas.openxmlformats.org/drawingml/2006/main" noGrp="1"/>
          </p:cNvSpPr>
          <p:nvPr/>
        </p:nvSpPr>
        <p:spPr>
          <a:xfrm xmlns:a="http://schemas.openxmlformats.org/drawingml/2006/main">
            <a:off x="34671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Stop at the agreed</a:t>
            </a:r>
          </a:p>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retry limit. Preserve</a:t>
            </a:r>
          </a:p>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traces and changes.</a:t>
            </a:r>
          </a:p>
        </p:txBody>
      </p:sp>
      <p:sp>
        <p:nvSpPr>
          <p:cNvPr id="12" name="">
            <a:extLst xmlns:a="http://schemas.openxmlformats.org/drawingml/2006/main">
              <a:ext uri="{FF2B5EF4-FFF2-40B4-BE49-F238E27FC236}">
                <a16:creationId xmlns:a16="http://schemas.microsoft.com/office/drawing/2014/main" id="{60D4CEDE-E40F-4651-B895-15AC4323A5D8}"/>
              </a:ext>
            </a:extLst>
          </p:cNvPr>
          <p:cNvSpPr>
            <a:spLocks xmlns:a="http://schemas.openxmlformats.org/drawingml/2006/main" noGrp="1"/>
          </p:cNvSpPr>
          <p:nvPr/>
        </p:nvSpPr>
        <p:spPr>
          <a:xfrm xmlns:a="http://schemas.openxmlformats.org/drawingml/2006/main">
            <a:off x="63246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3" name="">
            <a:extLst xmlns:a="http://schemas.openxmlformats.org/drawingml/2006/main">
              <a:ext uri="{FF2B5EF4-FFF2-40B4-BE49-F238E27FC236}">
                <a16:creationId xmlns:a16="http://schemas.microsoft.com/office/drawing/2014/main" id="{D0631AFB-076C-4F7A-8261-645947C4AF4D}"/>
              </a:ext>
            </a:extLst>
          </p:cNvPr>
          <p:cNvSpPr>
            <a:spLocks xmlns:a="http://schemas.openxmlformats.org/drawingml/2006/main" noGrp="1"/>
          </p:cNvSpPr>
          <p:nvPr/>
        </p:nvSpPr>
        <p:spPr>
          <a:xfrm xmlns:a="http://schemas.openxmlformats.org/drawingml/2006/main">
            <a:off x="64389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Team diagnoses</a:t>
            </a:r>
          </a:p>
          <a:p xmlns:a="http://schemas.openxmlformats.org/drawingml/2006/main">
            <a:pPr algn="ctr">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&amp; proposes fix</a:t>
            </a:r>
          </a:p>
        </p:txBody>
      </p:sp>
      <p:sp>
        <p:nvSpPr>
          <p:cNvPr id="14" name="">
            <a:extLst xmlns:a="http://schemas.openxmlformats.org/drawingml/2006/main">
              <a:ext uri="{FF2B5EF4-FFF2-40B4-BE49-F238E27FC236}">
                <a16:creationId xmlns:a16="http://schemas.microsoft.com/office/drawing/2014/main" id="{4BD18D14-5C3E-4AB7-AA27-25273CCF3D69}"/>
              </a:ext>
            </a:extLst>
          </p:cNvPr>
          <p:cNvSpPr>
            <a:spLocks xmlns:a="http://schemas.openxmlformats.org/drawingml/2006/main" noGrp="1"/>
          </p:cNvSpPr>
          <p:nvPr/>
        </p:nvSpPr>
        <p:spPr>
          <a:xfrm xmlns:a="http://schemas.openxmlformats.org/drawingml/2006/main">
            <a:off x="63246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Reconstruct intent,</a:t>
            </a:r>
          </a:p>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dependencies and</a:t>
            </a:r>
          </a:p>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system invariants.</a:t>
            </a:r>
          </a:p>
        </p:txBody>
      </p:sp>
      <p:sp>
        <p:nvSpPr>
          <p:cNvPr id="15" name="">
            <a:extLst xmlns:a="http://schemas.openxmlformats.org/drawingml/2006/main">
              <a:ext uri="{FF2B5EF4-FFF2-40B4-BE49-F238E27FC236}">
                <a16:creationId xmlns:a16="http://schemas.microsoft.com/office/drawing/2014/main" id="{5F9D34F5-C532-4AB3-B295-C7FF78CC569D}"/>
              </a:ext>
            </a:extLst>
          </p:cNvPr>
          <p:cNvSpPr>
            <a:spLocks xmlns:a="http://schemas.openxmlformats.org/drawingml/2006/main" noGrp="1"/>
          </p:cNvSpPr>
          <p:nvPr/>
        </p:nvSpPr>
        <p:spPr>
          <a:xfrm xmlns:a="http://schemas.openxmlformats.org/drawingml/2006/main">
            <a:off x="91821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6" name="">
            <a:extLst xmlns:a="http://schemas.openxmlformats.org/drawingml/2006/main">
              <a:ext uri="{FF2B5EF4-FFF2-40B4-BE49-F238E27FC236}">
                <a16:creationId xmlns:a16="http://schemas.microsoft.com/office/drawing/2014/main" id="{3271B41D-17B1-4C35-8E21-625B68F67496}"/>
              </a:ext>
            </a:extLst>
          </p:cNvPr>
          <p:cNvSpPr>
            <a:spLocks xmlns:a="http://schemas.openxmlformats.org/drawingml/2006/main" noGrp="1"/>
          </p:cNvSpPr>
          <p:nvPr/>
        </p:nvSpPr>
        <p:spPr>
          <a:xfrm xmlns:a="http://schemas.openxmlformats.org/drawingml/2006/main">
            <a:off x="92964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Validate fix</a:t>
            </a:r>
          </a:p>
          <a:p xmlns:a="http://schemas.openxmlformats.org/drawingml/2006/main">
            <a:pPr algn="ctr">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and restore</a:t>
            </a:r>
          </a:p>
        </p:txBody>
      </p:sp>
      <p:sp>
        <p:nvSpPr>
          <p:cNvPr id="17" name="">
            <a:extLst xmlns:a="http://schemas.openxmlformats.org/drawingml/2006/main">
              <a:ext uri="{FF2B5EF4-FFF2-40B4-BE49-F238E27FC236}">
                <a16:creationId xmlns:a16="http://schemas.microsoft.com/office/drawing/2014/main" id="{EEB7DBC9-17EF-4F61-8920-2820774ED1F5}"/>
              </a:ext>
            </a:extLst>
          </p:cNvPr>
          <p:cNvSpPr>
            <a:spLocks xmlns:a="http://schemas.openxmlformats.org/drawingml/2006/main" noGrp="1"/>
          </p:cNvSpPr>
          <p:nvPr/>
        </p:nvSpPr>
        <p:spPr>
          <a:xfrm xmlns:a="http://schemas.openxmlformats.org/drawingml/2006/main">
            <a:off x="91821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Test the repair.</a:t>
            </a:r>
          </a:p>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Restore under incident</a:t>
            </a:r>
          </a:p>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owner authority.</a:t>
            </a:r>
          </a:p>
        </p:txBody>
      </p:sp>
      <p:cxnSp>
        <p:nvCxnSpPr>
          <p:cNvPr id="41" name=""/>
          <p:cNvCxnSpPr>
            <a:stCxn xmlns:a="http://schemas.openxmlformats.org/drawingml/2006/main" id="6" idx="3"/>
            <a:endCxn xmlns:a="http://schemas.openxmlformats.org/drawingml/2006/main" id="9" idx="1"/>
          </p:cNvCxnSpPr>
          <p:nvPr/>
        </p:nvCxnSpPr>
        <p:spPr>
          <a:xfrm xmlns:a="http://schemas.openxmlformats.org/drawingml/2006/main">
            <a:off x="3009900" y="350520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42" name=""/>
          <p:cNvCxnSpPr>
            <a:stCxn xmlns:a="http://schemas.openxmlformats.org/drawingml/2006/main" id="9" idx="3"/>
            <a:endCxn xmlns:a="http://schemas.openxmlformats.org/drawingml/2006/main" id="12" idx="1"/>
          </p:cNvCxnSpPr>
          <p:nvPr/>
        </p:nvCxnSpPr>
        <p:spPr>
          <a:xfrm xmlns:a="http://schemas.openxmlformats.org/drawingml/2006/main">
            <a:off x="5867400" y="3505200"/>
            <a:ext cx="45720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43" name=""/>
          <p:cNvCxnSpPr>
            <a:stCxn xmlns:a="http://schemas.openxmlformats.org/drawingml/2006/main" id="12" idx="3"/>
            <a:endCxn xmlns:a="http://schemas.openxmlformats.org/drawingml/2006/main" id="15" idx="1"/>
          </p:cNvCxnSpPr>
          <p:nvPr/>
        </p:nvCxnSpPr>
        <p:spPr>
          <a:xfrm xmlns:a="http://schemas.openxmlformats.org/drawingml/2006/main">
            <a:off x="8724900" y="350520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21" name="">
            <a:extLst xmlns:a="http://schemas.openxmlformats.org/drawingml/2006/main">
              <a:ext uri="{FF2B5EF4-FFF2-40B4-BE49-F238E27FC236}">
                <a16:creationId xmlns:a16="http://schemas.microsoft.com/office/drawing/2014/main" id="{9BAFA669-261A-4914-AFA8-84AD6CC106D3}"/>
              </a:ext>
            </a:extLst>
          </p:cNvPr>
          <p:cNvSpPr>
            <a:spLocks xmlns:a="http://schemas.openxmlformats.org/drawingml/2006/main" noGrp="1"/>
          </p:cNvSpPr>
          <p:nvPr/>
        </p:nvSpPr>
        <p:spPr>
          <a:xfrm xmlns:a="http://schemas.openxmlformats.org/drawingml/2006/main">
            <a:off x="609600" y="532447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Hypothetical scenario. Rehearse the human recovery path before production.</a:t>
            </a:r>
          </a:p>
        </p:txBody>
      </p:sp>
      <p:sp>
        <p:nvSpPr>
          <p:cNvPr id="22" name="">
            <a:extLst xmlns:a="http://schemas.openxmlformats.org/drawingml/2006/main">
              <a:ext uri="{FF2B5EF4-FFF2-40B4-BE49-F238E27FC236}">
                <a16:creationId xmlns:a16="http://schemas.microsoft.com/office/drawing/2014/main" id="{DE2C84BD-ECF0-4662-B8EE-52FE94030A4C}"/>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3" name="">
            <a:extLst xmlns:a="http://schemas.openxmlformats.org/drawingml/2006/main">
              <a:ext uri="{FF2B5EF4-FFF2-40B4-BE49-F238E27FC236}">
                <a16:creationId xmlns:a16="http://schemas.microsoft.com/office/drawing/2014/main" id="{23C9E823-9EE1-4B20-916E-BC225CDC95B6}"/>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If AI cannot recover the system, the team still must.</a:t>
            </a:r>
          </a:p>
        </p:txBody>
      </p:sp>
    </p:spTree>
    <p:extLst>
      <p:ext uri="{BB962C8B-B14F-4D97-AF65-F5344CB8AC3E}">
        <p14:creationId xmlns:p14="http://schemas.microsoft.com/office/powerpoint/2010/main" val="1137507595"/>
      </p:ext>
    </p:extLst>
  </p:cSld>
</p:sld>
</file>

<file path=ppt/slides/slide7.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FF363E8F-BBC1-478D-B4D0-548AB7225AAA}"/>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We Are Searching for a New</a:t>
            </a:r>
          </a:p>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SDLC Equilibrium</a:t>
            </a:r>
          </a:p>
        </p:txBody>
      </p:sp>
      <p:sp>
        <p:nvSpPr>
          <p:cNvPr id="2" name="">
            <a:extLst xmlns:a="http://schemas.openxmlformats.org/drawingml/2006/main">
              <a:ext uri="{FF2B5EF4-FFF2-40B4-BE49-F238E27FC236}">
                <a16:creationId xmlns:a16="http://schemas.microsoft.com/office/drawing/2014/main" id="{F518DD26-1B16-4B85-A62F-FF3797A05D0D}"/>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B70BC294-4430-4D74-9F59-AD2BB28E1B60}"/>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07</a:t>
            </a:r>
          </a:p>
        </p:txBody>
      </p:sp>
      <p:sp>
        <p:nvSpPr>
          <p:cNvPr id="4" name="">
            <a:extLst xmlns:a="http://schemas.openxmlformats.org/drawingml/2006/main">
              <a:ext uri="{FF2B5EF4-FFF2-40B4-BE49-F238E27FC236}">
                <a16:creationId xmlns:a16="http://schemas.microsoft.com/office/drawing/2014/main" id="{6562BCD9-4CE2-4F50-9B11-503598CBFCD1}"/>
              </a:ext>
            </a:extLst>
          </p:cNvPr>
          <p:cNvSpPr>
            <a:spLocks xmlns:a="http://schemas.openxmlformats.org/drawingml/2006/main" noGrp="1"/>
          </p:cNvSpPr>
          <p:nvPr/>
        </p:nvSpPr>
        <p:spPr>
          <a:xfrm xmlns:a="http://schemas.openxmlformats.org/drawingml/2006/main">
            <a:off x="609600" y="1847850"/>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DB8C5"/>
                </a:solidFill>
                <a:latin typeface="DejaVu Sans"/>
                <a:ea typeface="DejaVu Sans"/>
                <a:cs typeface="DejaVu Sans"/>
              </a:defRPr>
            </a:pPr>
            <a:r>
              <a:rPr sz="1575" b="1">
                <a:solidFill>
                  <a:srgbClr val="ADB8C5"/>
                </a:solidFill>
                <a:latin typeface="DejaVu Sans"/>
                <a:ea typeface="DejaVu Sans"/>
                <a:cs typeface="DejaVu Sans"/>
              </a:rPr>
              <a:t>OLD EQUILIBRIUM</a:t>
            </a:r>
          </a:p>
        </p:txBody>
      </p:sp>
      <p:sp>
        <p:nvSpPr>
          <p:cNvPr id="5" name="">
            <a:extLst xmlns:a="http://schemas.openxmlformats.org/drawingml/2006/main">
              <a:ext uri="{FF2B5EF4-FFF2-40B4-BE49-F238E27FC236}">
                <a16:creationId xmlns:a16="http://schemas.microsoft.com/office/drawing/2014/main" id="{78C2CF3B-64CE-4595-B612-29C7654B676B}"/>
              </a:ext>
            </a:extLst>
          </p:cNvPr>
          <p:cNvSpPr>
            <a:spLocks xmlns:a="http://schemas.openxmlformats.org/drawingml/2006/main" noGrp="1"/>
          </p:cNvSpPr>
          <p:nvPr/>
        </p:nvSpPr>
        <p:spPr>
          <a:xfrm xmlns:a="http://schemas.openxmlformats.org/drawingml/2006/main">
            <a:off x="609600" y="21812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DejaVu Sans"/>
                <a:ea typeface="DejaVu Sans"/>
                <a:cs typeface="DejaVu Sans"/>
              </a:defRPr>
            </a:pPr>
            <a:r>
              <a:rPr sz="1650" b="0">
                <a:solidFill>
                  <a:srgbClr val="F4F7FA"/>
                </a:solidFill>
                <a:latin typeface="DejaVu Sans"/>
                <a:ea typeface="DejaVu Sans"/>
                <a:cs typeface="DejaVu Sans"/>
              </a:rPr>
              <a:t>Human-led flow</a:t>
            </a:r>
          </a:p>
        </p:txBody>
      </p:sp>
      <p:sp>
        <p:nvSpPr>
          <p:cNvPr id="6" name="">
            <a:extLst xmlns:a="http://schemas.openxmlformats.org/drawingml/2006/main">
              <a:ext uri="{FF2B5EF4-FFF2-40B4-BE49-F238E27FC236}">
                <a16:creationId xmlns:a16="http://schemas.microsoft.com/office/drawing/2014/main" id="{B4A66BB9-AF1B-4C27-87A3-F9D6FE1FC925}"/>
              </a:ext>
            </a:extLst>
          </p:cNvPr>
          <p:cNvSpPr>
            <a:spLocks xmlns:a="http://schemas.openxmlformats.org/drawingml/2006/main" noGrp="1"/>
          </p:cNvSpPr>
          <p:nvPr/>
        </p:nvSpPr>
        <p:spPr>
          <a:xfrm xmlns:a="http://schemas.openxmlformats.org/drawingml/2006/main">
            <a:off x="4400550" y="1847850"/>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DejaVu Sans"/>
                <a:ea typeface="DejaVu Sans"/>
                <a:cs typeface="DejaVu Sans"/>
              </a:defRPr>
            </a:pPr>
            <a:r>
              <a:rPr sz="1575" b="1">
                <a:solidFill>
                  <a:srgbClr val="28C7F7"/>
                </a:solidFill>
                <a:latin typeface="DejaVu Sans"/>
                <a:ea typeface="DejaVu Sans"/>
                <a:cs typeface="DejaVu Sans"/>
              </a:rPr>
              <a:t>TODAY</a:t>
            </a:r>
          </a:p>
        </p:txBody>
      </p:sp>
      <p:sp>
        <p:nvSpPr>
          <p:cNvPr id="7" name="">
            <a:extLst xmlns:a="http://schemas.openxmlformats.org/drawingml/2006/main">
              <a:ext uri="{FF2B5EF4-FFF2-40B4-BE49-F238E27FC236}">
                <a16:creationId xmlns:a16="http://schemas.microsoft.com/office/drawing/2014/main" id="{10BB1C42-63E6-4438-AD0D-582A8D749295}"/>
              </a:ext>
            </a:extLst>
          </p:cNvPr>
          <p:cNvSpPr>
            <a:spLocks xmlns:a="http://schemas.openxmlformats.org/drawingml/2006/main" noGrp="1"/>
          </p:cNvSpPr>
          <p:nvPr/>
        </p:nvSpPr>
        <p:spPr>
          <a:xfrm xmlns:a="http://schemas.openxmlformats.org/drawingml/2006/main">
            <a:off x="4400550" y="21812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DejaVu Sans"/>
                <a:ea typeface="DejaVu Sans"/>
                <a:cs typeface="DejaVu Sans"/>
              </a:defRPr>
            </a:pPr>
            <a:r>
              <a:rPr sz="1650" b="0">
                <a:solidFill>
                  <a:srgbClr val="F4F7FA"/>
                </a:solidFill>
                <a:latin typeface="DejaVu Sans"/>
                <a:ea typeface="DejaVu Sans"/>
                <a:cs typeface="DejaVu Sans"/>
              </a:rPr>
              <a:t>Generation outpaces review</a:t>
            </a:r>
          </a:p>
        </p:txBody>
      </p:sp>
      <p:sp>
        <p:nvSpPr>
          <p:cNvPr id="8" name="">
            <a:extLst xmlns:a="http://schemas.openxmlformats.org/drawingml/2006/main">
              <a:ext uri="{FF2B5EF4-FFF2-40B4-BE49-F238E27FC236}">
                <a16:creationId xmlns:a16="http://schemas.microsoft.com/office/drawing/2014/main" id="{5234924B-7AAC-43E8-9B77-BB5E451FA6E6}"/>
              </a:ext>
            </a:extLst>
          </p:cNvPr>
          <p:cNvSpPr>
            <a:spLocks xmlns:a="http://schemas.openxmlformats.org/drawingml/2006/main" noGrp="1"/>
          </p:cNvSpPr>
          <p:nvPr/>
        </p:nvSpPr>
        <p:spPr>
          <a:xfrm xmlns:a="http://schemas.openxmlformats.org/drawingml/2006/main">
            <a:off x="8191500" y="1847850"/>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DB8C5"/>
                </a:solidFill>
                <a:latin typeface="DejaVu Sans"/>
                <a:ea typeface="DejaVu Sans"/>
                <a:cs typeface="DejaVu Sans"/>
              </a:defRPr>
            </a:pPr>
            <a:r>
              <a:rPr sz="1575" b="1">
                <a:solidFill>
                  <a:srgbClr val="ADB8C5"/>
                </a:solidFill>
                <a:latin typeface="DejaVu Sans"/>
                <a:ea typeface="DejaVu Sans"/>
                <a:cs typeface="DejaVu Sans"/>
              </a:rPr>
              <a:t>NEW EQUILIBRIUM</a:t>
            </a:r>
          </a:p>
        </p:txBody>
      </p:sp>
      <p:sp>
        <p:nvSpPr>
          <p:cNvPr id="9" name="">
            <a:extLst xmlns:a="http://schemas.openxmlformats.org/drawingml/2006/main">
              <a:ext uri="{FF2B5EF4-FFF2-40B4-BE49-F238E27FC236}">
                <a16:creationId xmlns:a16="http://schemas.microsoft.com/office/drawing/2014/main" id="{243E416C-9AE6-4B01-BE1E-899CAF823DEB}"/>
              </a:ext>
            </a:extLst>
          </p:cNvPr>
          <p:cNvSpPr>
            <a:spLocks xmlns:a="http://schemas.openxmlformats.org/drawingml/2006/main" noGrp="1"/>
          </p:cNvSpPr>
          <p:nvPr/>
        </p:nvSpPr>
        <p:spPr>
          <a:xfrm xmlns:a="http://schemas.openxmlformats.org/drawingml/2006/main">
            <a:off x="8191500" y="21812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5B61C"/>
                </a:solidFill>
                <a:latin typeface="DejaVu Sans"/>
                <a:ea typeface="DejaVu Sans"/>
                <a:cs typeface="DejaVu Sans"/>
              </a:defRPr>
            </a:pPr>
            <a:r>
              <a:rPr sz="1650" b="0">
                <a:solidFill>
                  <a:srgbClr val="F5B61C"/>
                </a:solidFill>
                <a:latin typeface="DejaVu Sans"/>
                <a:ea typeface="DejaVu Sans"/>
                <a:cs typeface="DejaVu Sans"/>
              </a:rPr>
              <a:t>Sustainable flow?</a:t>
            </a:r>
          </a:p>
        </p:txBody>
      </p:sp>
      <p:sp>
        <p:nvSpPr>
          <p:cNvPr id="10" name="">
            <a:extLst xmlns:a="http://schemas.openxmlformats.org/drawingml/2006/main">
              <a:ext uri="{FF2B5EF4-FFF2-40B4-BE49-F238E27FC236}">
                <a16:creationId xmlns:a16="http://schemas.microsoft.com/office/drawing/2014/main" id="{C14F0CEC-8960-4084-A013-8B00B5AFC45E}"/>
              </a:ext>
            </a:extLst>
          </p:cNvPr>
          <p:cNvSpPr>
            <a:spLocks xmlns:a="http://schemas.openxmlformats.org/drawingml/2006/main" noGrp="1"/>
          </p:cNvSpPr>
          <p:nvPr/>
        </p:nvSpPr>
        <p:spPr>
          <a:xfrm xmlns:a="http://schemas.openxmlformats.org/drawingml/2006/main" flipH="0" flipV="0">
            <a:off x="609600" y="27813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1" name="">
            <a:extLst xmlns:a="http://schemas.openxmlformats.org/drawingml/2006/main">
              <a:ext uri="{FF2B5EF4-FFF2-40B4-BE49-F238E27FC236}">
                <a16:creationId xmlns:a16="http://schemas.microsoft.com/office/drawing/2014/main" id="{71FEE75D-11D5-4B55-8A30-E229A8A756EC}"/>
              </a:ext>
            </a:extLst>
          </p:cNvPr>
          <p:cNvSpPr>
            <a:spLocks xmlns:a="http://schemas.openxmlformats.org/drawingml/2006/main" noGrp="1"/>
          </p:cNvSpPr>
          <p:nvPr/>
        </p:nvSpPr>
        <p:spPr>
          <a:xfrm xmlns:a="http://schemas.openxmlformats.org/drawingml/2006/main">
            <a:off x="609600" y="2933700"/>
            <a:ext cx="5257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5B61C"/>
                </a:solidFill>
                <a:latin typeface="DejaVu Sans"/>
                <a:ea typeface="DejaVu Sans"/>
                <a:cs typeface="DejaVu Sans"/>
              </a:defRPr>
            </a:pPr>
            <a:r>
              <a:rPr sz="2025" b="1">
                <a:solidFill>
                  <a:srgbClr val="F5B61C"/>
                </a:solidFill>
                <a:latin typeface="DejaVu Sans"/>
                <a:ea typeface="DejaVu Sans"/>
                <a:cs typeface="DejaVu Sans"/>
              </a:rPr>
              <a:t>WATCH</a:t>
            </a:r>
          </a:p>
        </p:txBody>
      </p:sp>
      <p:sp>
        <p:nvSpPr>
          <p:cNvPr id="12" name="">
            <a:extLst xmlns:a="http://schemas.openxmlformats.org/drawingml/2006/main">
              <a:ext uri="{FF2B5EF4-FFF2-40B4-BE49-F238E27FC236}">
                <a16:creationId xmlns:a16="http://schemas.microsoft.com/office/drawing/2014/main" id="{8F986C30-FF4C-445E-B5E0-4AE416E16AA9}"/>
              </a:ext>
            </a:extLst>
          </p:cNvPr>
          <p:cNvSpPr>
            <a:spLocks xmlns:a="http://schemas.openxmlformats.org/drawingml/2006/main" noGrp="1"/>
          </p:cNvSpPr>
          <p:nvPr/>
        </p:nvSpPr>
        <p:spPr>
          <a:xfrm xmlns:a="http://schemas.openxmlformats.org/drawingml/2006/main">
            <a:off x="609600" y="34004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DejaVu Sans"/>
                <a:ea typeface="DejaVu Sans"/>
                <a:cs typeface="DejaVu Sans"/>
              </a:defRPr>
            </a:pPr>
            <a:r>
              <a:rPr sz="1725" b="1">
                <a:solidFill>
                  <a:srgbClr val="F4F7FA"/>
                </a:solidFill>
                <a:latin typeface="DejaVu Sans"/>
                <a:ea typeface="DejaVu Sans"/>
                <a:cs typeface="DejaVu Sans"/>
              </a:rPr>
              <a:t>Flow pressure</a:t>
            </a:r>
          </a:p>
        </p:txBody>
      </p:sp>
      <p:sp>
        <p:nvSpPr>
          <p:cNvPr id="13" name="">
            <a:extLst xmlns:a="http://schemas.openxmlformats.org/drawingml/2006/main">
              <a:ext uri="{FF2B5EF4-FFF2-40B4-BE49-F238E27FC236}">
                <a16:creationId xmlns:a16="http://schemas.microsoft.com/office/drawing/2014/main" id="{2596BDBC-4B36-427F-AB3D-5DF5CADF0047}"/>
              </a:ext>
            </a:extLst>
          </p:cNvPr>
          <p:cNvSpPr>
            <a:spLocks xmlns:a="http://schemas.openxmlformats.org/drawingml/2006/main" noGrp="1"/>
          </p:cNvSpPr>
          <p:nvPr/>
        </p:nvSpPr>
        <p:spPr>
          <a:xfrm xmlns:a="http://schemas.openxmlformats.org/drawingml/2006/main">
            <a:off x="609600" y="36671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Review age, batch size and WIP</a:t>
            </a:r>
          </a:p>
        </p:txBody>
      </p:sp>
      <p:sp>
        <p:nvSpPr>
          <p:cNvPr id="14" name="">
            <a:extLst xmlns:a="http://schemas.openxmlformats.org/drawingml/2006/main">
              <a:ext uri="{FF2B5EF4-FFF2-40B4-BE49-F238E27FC236}">
                <a16:creationId xmlns:a16="http://schemas.microsoft.com/office/drawing/2014/main" id="{C9EA5BF1-474D-4CD8-9D7E-13C539F74DBE}"/>
              </a:ext>
            </a:extLst>
          </p:cNvPr>
          <p:cNvSpPr>
            <a:spLocks xmlns:a="http://schemas.openxmlformats.org/drawingml/2006/main" noGrp="1"/>
          </p:cNvSpPr>
          <p:nvPr/>
        </p:nvSpPr>
        <p:spPr>
          <a:xfrm xmlns:a="http://schemas.openxmlformats.org/drawingml/2006/main">
            <a:off x="609600" y="39338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DejaVu Sans"/>
                <a:ea typeface="DejaVu Sans"/>
                <a:cs typeface="DejaVu Sans"/>
              </a:defRPr>
            </a:pPr>
            <a:r>
              <a:rPr sz="1725" b="1">
                <a:solidFill>
                  <a:srgbClr val="F4F7FA"/>
                </a:solidFill>
                <a:latin typeface="DejaVu Sans"/>
                <a:ea typeface="DejaVu Sans"/>
                <a:cs typeface="DejaVu Sans"/>
              </a:rPr>
              <a:t>Rework and structure</a:t>
            </a:r>
          </a:p>
        </p:txBody>
      </p:sp>
      <p:sp>
        <p:nvSpPr>
          <p:cNvPr id="15" name="">
            <a:extLst xmlns:a="http://schemas.openxmlformats.org/drawingml/2006/main">
              <a:ext uri="{FF2B5EF4-FFF2-40B4-BE49-F238E27FC236}">
                <a16:creationId xmlns:a16="http://schemas.microsoft.com/office/drawing/2014/main" id="{DDF0CE6F-7F88-4A00-97DE-44CAF8F35A69}"/>
              </a:ext>
            </a:extLst>
          </p:cNvPr>
          <p:cNvSpPr>
            <a:spLocks xmlns:a="http://schemas.openxmlformats.org/drawingml/2006/main" noGrp="1"/>
          </p:cNvSpPr>
          <p:nvPr/>
        </p:nvSpPr>
        <p:spPr>
          <a:xfrm xmlns:a="http://schemas.openxmlformats.org/drawingml/2006/main">
            <a:off x="609600" y="42005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Churn, duplication, reuse, complexity</a:t>
            </a:r>
          </a:p>
        </p:txBody>
      </p:sp>
      <p:sp>
        <p:nvSpPr>
          <p:cNvPr id="16" name="">
            <a:extLst xmlns:a="http://schemas.openxmlformats.org/drawingml/2006/main">
              <a:ext uri="{FF2B5EF4-FFF2-40B4-BE49-F238E27FC236}">
                <a16:creationId xmlns:a16="http://schemas.microsoft.com/office/drawing/2014/main" id="{67AA2D9B-75BB-49C4-A556-ADEFDB52B50F}"/>
              </a:ext>
            </a:extLst>
          </p:cNvPr>
          <p:cNvSpPr>
            <a:spLocks xmlns:a="http://schemas.openxmlformats.org/drawingml/2006/main" noGrp="1"/>
          </p:cNvSpPr>
          <p:nvPr/>
        </p:nvSpPr>
        <p:spPr>
          <a:xfrm xmlns:a="http://schemas.openxmlformats.org/drawingml/2006/main">
            <a:off x="609600" y="44672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DejaVu Sans"/>
                <a:ea typeface="DejaVu Sans"/>
                <a:cs typeface="DejaVu Sans"/>
              </a:defRPr>
            </a:pPr>
            <a:r>
              <a:rPr sz="1725" b="1">
                <a:solidFill>
                  <a:srgbClr val="F4F7FA"/>
                </a:solidFill>
                <a:latin typeface="DejaVu Sans"/>
                <a:ea typeface="DejaVu Sans"/>
                <a:cs typeface="DejaVu Sans"/>
              </a:rPr>
              <a:t>Ownership gaps</a:t>
            </a:r>
          </a:p>
        </p:txBody>
      </p:sp>
      <p:sp>
        <p:nvSpPr>
          <p:cNvPr id="17" name="">
            <a:extLst xmlns:a="http://schemas.openxmlformats.org/drawingml/2006/main">
              <a:ext uri="{FF2B5EF4-FFF2-40B4-BE49-F238E27FC236}">
                <a16:creationId xmlns:a16="http://schemas.microsoft.com/office/drawing/2014/main" id="{29B5E5A5-5AD8-411D-AB76-8BBFCF2BCE2F}"/>
              </a:ext>
            </a:extLst>
          </p:cNvPr>
          <p:cNvSpPr>
            <a:spLocks xmlns:a="http://schemas.openxmlformats.org/drawingml/2006/main" noGrp="1"/>
          </p:cNvSpPr>
          <p:nvPr/>
        </p:nvSpPr>
        <p:spPr>
          <a:xfrm xmlns:a="http://schemas.openxmlformats.org/drawingml/2006/main">
            <a:off x="609600" y="47339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Unowned changes and stale docs</a:t>
            </a:r>
          </a:p>
        </p:txBody>
      </p:sp>
      <p:sp>
        <p:nvSpPr>
          <p:cNvPr id="18" name="">
            <a:extLst xmlns:a="http://schemas.openxmlformats.org/drawingml/2006/main">
              <a:ext uri="{FF2B5EF4-FFF2-40B4-BE49-F238E27FC236}">
                <a16:creationId xmlns:a16="http://schemas.microsoft.com/office/drawing/2014/main" id="{9CF2580D-4F70-41E7-BCFD-0D214968A5F5}"/>
              </a:ext>
            </a:extLst>
          </p:cNvPr>
          <p:cNvSpPr>
            <a:spLocks xmlns:a="http://schemas.openxmlformats.org/drawingml/2006/main" noGrp="1"/>
          </p:cNvSpPr>
          <p:nvPr/>
        </p:nvSpPr>
        <p:spPr>
          <a:xfrm xmlns:a="http://schemas.openxmlformats.org/drawingml/2006/main">
            <a:off x="609600" y="50006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DejaVu Sans"/>
                <a:ea typeface="DejaVu Sans"/>
                <a:cs typeface="DejaVu Sans"/>
              </a:defRPr>
            </a:pPr>
            <a:r>
              <a:rPr sz="1725" b="1">
                <a:solidFill>
                  <a:srgbClr val="F4F7FA"/>
                </a:solidFill>
                <a:latin typeface="DejaVu Sans"/>
                <a:ea typeface="DejaVu Sans"/>
                <a:cs typeface="DejaVu Sans"/>
              </a:rPr>
              <a:t>Recovery readiness</a:t>
            </a:r>
          </a:p>
        </p:txBody>
      </p:sp>
      <p:sp>
        <p:nvSpPr>
          <p:cNvPr id="19" name="">
            <a:extLst xmlns:a="http://schemas.openxmlformats.org/drawingml/2006/main">
              <a:ext uri="{FF2B5EF4-FFF2-40B4-BE49-F238E27FC236}">
                <a16:creationId xmlns:a16="http://schemas.microsoft.com/office/drawing/2014/main" id="{E6FD1A87-3065-41B5-A38D-8EDDEB5CBA81}"/>
              </a:ext>
            </a:extLst>
          </p:cNvPr>
          <p:cNvSpPr>
            <a:spLocks xmlns:a="http://schemas.openxmlformats.org/drawingml/2006/main" noGrp="1"/>
          </p:cNvSpPr>
          <p:nvPr/>
        </p:nvSpPr>
        <p:spPr>
          <a:xfrm xmlns:a="http://schemas.openxmlformats.org/drawingml/2006/main">
            <a:off x="609600" y="52673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Unaided diagnosis and restore time</a:t>
            </a:r>
          </a:p>
        </p:txBody>
      </p:sp>
      <p:sp>
        <p:nvSpPr>
          <p:cNvPr id="20" name="">
            <a:extLst xmlns:a="http://schemas.openxmlformats.org/drawingml/2006/main">
              <a:ext uri="{FF2B5EF4-FFF2-40B4-BE49-F238E27FC236}">
                <a16:creationId xmlns:a16="http://schemas.microsoft.com/office/drawing/2014/main" id="{1287F918-99DD-4F1D-969B-C958A1B24087}"/>
              </a:ext>
            </a:extLst>
          </p:cNvPr>
          <p:cNvSpPr>
            <a:spLocks xmlns:a="http://schemas.openxmlformats.org/drawingml/2006/main" noGrp="1"/>
          </p:cNvSpPr>
          <p:nvPr/>
        </p:nvSpPr>
        <p:spPr>
          <a:xfrm xmlns:a="http://schemas.openxmlformats.org/drawingml/2006/main">
            <a:off x="6286500" y="2933700"/>
            <a:ext cx="5257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DejaVu Sans"/>
                <a:ea typeface="DejaVu Sans"/>
                <a:cs typeface="DejaVu Sans"/>
              </a:defRPr>
            </a:pPr>
            <a:r>
              <a:rPr sz="2025" b="1">
                <a:solidFill>
                  <a:srgbClr val="28C7F7"/>
                </a:solidFill>
                <a:latin typeface="DejaVu Sans"/>
                <a:ea typeface="DejaVu Sans"/>
                <a:cs typeface="DejaVu Sans"/>
              </a:rPr>
              <a:t>EXPLORE</a:t>
            </a:r>
          </a:p>
        </p:txBody>
      </p:sp>
      <p:sp>
        <p:nvSpPr>
          <p:cNvPr id="21" name="">
            <a:extLst xmlns:a="http://schemas.openxmlformats.org/drawingml/2006/main">
              <a:ext uri="{FF2B5EF4-FFF2-40B4-BE49-F238E27FC236}">
                <a16:creationId xmlns:a16="http://schemas.microsoft.com/office/drawing/2014/main" id="{5DE9C3B1-103F-4BAD-AF7F-79BDF88ABCB4}"/>
              </a:ext>
            </a:extLst>
          </p:cNvPr>
          <p:cNvSpPr>
            <a:spLocks xmlns:a="http://schemas.openxmlformats.org/drawingml/2006/main" noGrp="1"/>
          </p:cNvSpPr>
          <p:nvPr/>
        </p:nvSpPr>
        <p:spPr>
          <a:xfrm xmlns:a="http://schemas.openxmlformats.org/drawingml/2006/main">
            <a:off x="6286500" y="34004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DejaVu Sans"/>
                <a:ea typeface="DejaVu Sans"/>
                <a:cs typeface="DejaVu Sans"/>
              </a:defRPr>
            </a:pPr>
            <a:r>
              <a:rPr sz="1725" b="1">
                <a:solidFill>
                  <a:srgbClr val="F4F7FA"/>
                </a:solidFill>
                <a:latin typeface="DejaVu Sans"/>
                <a:ea typeface="DejaVu Sans"/>
                <a:cs typeface="DejaVu Sans"/>
              </a:rPr>
              <a:t>Small batches and WIP limits</a:t>
            </a:r>
          </a:p>
        </p:txBody>
      </p:sp>
      <p:sp>
        <p:nvSpPr>
          <p:cNvPr id="22" name="">
            <a:extLst xmlns:a="http://schemas.openxmlformats.org/drawingml/2006/main">
              <a:ext uri="{FF2B5EF4-FFF2-40B4-BE49-F238E27FC236}">
                <a16:creationId xmlns:a16="http://schemas.microsoft.com/office/drawing/2014/main" id="{A810D4FD-00A0-42E4-89F9-4BB74EF2F4F1}"/>
              </a:ext>
            </a:extLst>
          </p:cNvPr>
          <p:cNvSpPr>
            <a:spLocks xmlns:a="http://schemas.openxmlformats.org/drawingml/2006/main" noGrp="1"/>
          </p:cNvSpPr>
          <p:nvPr/>
        </p:nvSpPr>
        <p:spPr>
          <a:xfrm xmlns:a="http://schemas.openxmlformats.org/drawingml/2006/main">
            <a:off x="6286500" y="36671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Keep intake within review capacity</a:t>
            </a:r>
          </a:p>
        </p:txBody>
      </p:sp>
      <p:sp>
        <p:nvSpPr>
          <p:cNvPr id="23" name="">
            <a:extLst xmlns:a="http://schemas.openxmlformats.org/drawingml/2006/main">
              <a:ext uri="{FF2B5EF4-FFF2-40B4-BE49-F238E27FC236}">
                <a16:creationId xmlns:a16="http://schemas.microsoft.com/office/drawing/2014/main" id="{BA811E0D-F092-4150-B790-4D4D28459F50}"/>
              </a:ext>
            </a:extLst>
          </p:cNvPr>
          <p:cNvSpPr>
            <a:spLocks xmlns:a="http://schemas.openxmlformats.org/drawingml/2006/main" noGrp="1"/>
          </p:cNvSpPr>
          <p:nvPr/>
        </p:nvSpPr>
        <p:spPr>
          <a:xfrm xmlns:a="http://schemas.openxmlformats.org/drawingml/2006/main">
            <a:off x="6286500" y="39338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DejaVu Sans"/>
                <a:ea typeface="DejaVu Sans"/>
                <a:cs typeface="DejaVu Sans"/>
              </a:defRPr>
            </a:pPr>
            <a:r>
              <a:rPr sz="1725" b="1">
                <a:solidFill>
                  <a:srgbClr val="F4F7FA"/>
                </a:solidFill>
                <a:latin typeface="DejaVu Sans"/>
                <a:ea typeface="DejaVu Sans"/>
                <a:cs typeface="DejaVu Sans"/>
              </a:rPr>
              <a:t>Specs and living architecture</a:t>
            </a:r>
          </a:p>
        </p:txBody>
      </p:sp>
      <p:sp>
        <p:nvSpPr>
          <p:cNvPr id="24" name="">
            <a:extLst xmlns:a="http://schemas.openxmlformats.org/drawingml/2006/main">
              <a:ext uri="{FF2B5EF4-FFF2-40B4-BE49-F238E27FC236}">
                <a16:creationId xmlns:a16="http://schemas.microsoft.com/office/drawing/2014/main" id="{CE99304F-B7AC-41FF-9453-75F505DD18A8}"/>
              </a:ext>
            </a:extLst>
          </p:cNvPr>
          <p:cNvSpPr>
            <a:spLocks xmlns:a="http://schemas.openxmlformats.org/drawingml/2006/main" noGrp="1"/>
          </p:cNvSpPr>
          <p:nvPr/>
        </p:nvSpPr>
        <p:spPr>
          <a:xfrm xmlns:a="http://schemas.openxmlformats.org/drawingml/2006/main">
            <a:off x="6286500" y="42005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Review code and docs together</a:t>
            </a:r>
          </a:p>
        </p:txBody>
      </p:sp>
      <p:sp>
        <p:nvSpPr>
          <p:cNvPr id="25" name="">
            <a:extLst xmlns:a="http://schemas.openxmlformats.org/drawingml/2006/main">
              <a:ext uri="{FF2B5EF4-FFF2-40B4-BE49-F238E27FC236}">
                <a16:creationId xmlns:a16="http://schemas.microsoft.com/office/drawing/2014/main" id="{1E81D568-ECAA-473E-B884-4EC161D874F0}"/>
              </a:ext>
            </a:extLst>
          </p:cNvPr>
          <p:cNvSpPr>
            <a:spLocks xmlns:a="http://schemas.openxmlformats.org/drawingml/2006/main" noGrp="1"/>
          </p:cNvSpPr>
          <p:nvPr/>
        </p:nvSpPr>
        <p:spPr>
          <a:xfrm xmlns:a="http://schemas.openxmlformats.org/drawingml/2006/main">
            <a:off x="6286500" y="44672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DejaVu Sans"/>
                <a:ea typeface="DejaVu Sans"/>
                <a:cs typeface="DejaVu Sans"/>
              </a:defRPr>
            </a:pPr>
            <a:r>
              <a:rPr sz="1725" b="1">
                <a:solidFill>
                  <a:srgbClr val="F4F7FA"/>
                </a:solidFill>
                <a:latin typeface="DejaVu Sans"/>
                <a:ea typeface="DejaVu Sans"/>
                <a:cs typeface="DejaVu Sans"/>
              </a:rPr>
              <a:t>Repository intelligence</a:t>
            </a:r>
          </a:p>
        </p:txBody>
      </p:sp>
      <p:sp>
        <p:nvSpPr>
          <p:cNvPr id="26" name="">
            <a:extLst xmlns:a="http://schemas.openxmlformats.org/drawingml/2006/main">
              <a:ext uri="{FF2B5EF4-FFF2-40B4-BE49-F238E27FC236}">
                <a16:creationId xmlns:a16="http://schemas.microsoft.com/office/drawing/2014/main" id="{83348A66-F32F-41E8-9C28-EC0587FFC81A}"/>
              </a:ext>
            </a:extLst>
          </p:cNvPr>
          <p:cNvSpPr>
            <a:spLocks xmlns:a="http://schemas.openxmlformats.org/drawingml/2006/main" noGrp="1"/>
          </p:cNvSpPr>
          <p:nvPr/>
        </p:nvSpPr>
        <p:spPr>
          <a:xfrm xmlns:a="http://schemas.openxmlformats.org/drawingml/2006/main">
            <a:off x="6286500" y="47339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Trace dependencies and owners</a:t>
            </a:r>
          </a:p>
        </p:txBody>
      </p:sp>
      <p:sp>
        <p:nvSpPr>
          <p:cNvPr id="27" name="">
            <a:extLst xmlns:a="http://schemas.openxmlformats.org/drawingml/2006/main">
              <a:ext uri="{FF2B5EF4-FFF2-40B4-BE49-F238E27FC236}">
                <a16:creationId xmlns:a16="http://schemas.microsoft.com/office/drawing/2014/main" id="{676553F8-D5F1-49CD-9411-213B67900C07}"/>
              </a:ext>
            </a:extLst>
          </p:cNvPr>
          <p:cNvSpPr>
            <a:spLocks xmlns:a="http://schemas.openxmlformats.org/drawingml/2006/main" noGrp="1"/>
          </p:cNvSpPr>
          <p:nvPr/>
        </p:nvSpPr>
        <p:spPr>
          <a:xfrm xmlns:a="http://schemas.openxmlformats.org/drawingml/2006/main">
            <a:off x="6286500" y="50006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DejaVu Sans"/>
                <a:ea typeface="DejaVu Sans"/>
                <a:cs typeface="DejaVu Sans"/>
              </a:defRPr>
            </a:pPr>
            <a:r>
              <a:rPr sz="1725" b="1">
                <a:solidFill>
                  <a:srgbClr val="F4F7FA"/>
                </a:solidFill>
                <a:latin typeface="DejaVu Sans"/>
                <a:ea typeface="DejaVu Sans"/>
                <a:cs typeface="DejaVu Sans"/>
              </a:rPr>
              <a:t>Human recovery drills</a:t>
            </a:r>
          </a:p>
        </p:txBody>
      </p:sp>
      <p:sp>
        <p:nvSpPr>
          <p:cNvPr id="28" name="">
            <a:extLst xmlns:a="http://schemas.openxmlformats.org/drawingml/2006/main">
              <a:ext uri="{FF2B5EF4-FFF2-40B4-BE49-F238E27FC236}">
                <a16:creationId xmlns:a16="http://schemas.microsoft.com/office/drawing/2014/main" id="{9F131AD5-3373-463C-9414-E8785ED6474B}"/>
              </a:ext>
            </a:extLst>
          </p:cNvPr>
          <p:cNvSpPr>
            <a:spLocks xmlns:a="http://schemas.openxmlformats.org/drawingml/2006/main" noGrp="1"/>
          </p:cNvSpPr>
          <p:nvPr/>
        </p:nvSpPr>
        <p:spPr>
          <a:xfrm xmlns:a="http://schemas.openxmlformats.org/drawingml/2006/main">
            <a:off x="6286500" y="52673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Diagnose and fix without the agent</a:t>
            </a:r>
          </a:p>
        </p:txBody>
      </p:sp>
      <p:sp>
        <p:nvSpPr>
          <p:cNvPr id="29" name="">
            <a:extLst xmlns:a="http://schemas.openxmlformats.org/drawingml/2006/main">
              <a:ext uri="{FF2B5EF4-FFF2-40B4-BE49-F238E27FC236}">
                <a16:creationId xmlns:a16="http://schemas.microsoft.com/office/drawing/2014/main" id="{00DE2337-81FF-4794-A263-3A2C017A143C}"/>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0" name="">
            <a:extLst xmlns:a="http://schemas.openxmlformats.org/drawingml/2006/main">
              <a:ext uri="{FF2B5EF4-FFF2-40B4-BE49-F238E27FC236}">
                <a16:creationId xmlns:a16="http://schemas.microsoft.com/office/drawing/2014/main" id="{8ACB2D32-691F-4692-AEF5-E509799BBF89}"/>
              </a:ext>
            </a:extLst>
          </p:cNvPr>
          <p:cNvSpPr>
            <a:spLocks xmlns:a="http://schemas.openxmlformats.org/drawingml/2006/main" noGrp="1"/>
          </p:cNvSpPr>
          <p:nvPr/>
        </p:nvSpPr>
        <p:spPr>
          <a:xfrm xmlns:a="http://schemas.openxmlformats.org/drawingml/2006/main">
            <a:off x="609600" y="58578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The new equilibrium must preserve understanding and recovery.</a:t>
            </a:r>
          </a:p>
        </p:txBody>
      </p:sp>
      <p:sp>
        <p:nvSpPr>
          <p:cNvPr id="31" name="">
            <a:extLst xmlns:a="http://schemas.openxmlformats.org/drawingml/2006/main">
              <a:ext uri="{FF2B5EF4-FFF2-40B4-BE49-F238E27FC236}">
                <a16:creationId xmlns:a16="http://schemas.microsoft.com/office/drawing/2014/main" id="{D6FAD31F-FEA7-4901-93E1-9A01A2BB630C}"/>
              </a:ext>
            </a:extLst>
          </p:cNvPr>
          <p:cNvSpPr>
            <a:spLocks xmlns:a="http://schemas.openxmlformats.org/drawingml/2006/main" noGrp="1"/>
          </p:cNvSpPr>
          <p:nvPr/>
        </p:nvSpPr>
        <p:spPr>
          <a:xfrm xmlns:a="http://schemas.openxmlformats.org/drawingml/2006/main">
            <a:off x="609600" y="63246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28C7F7"/>
                </a:solidFill>
                <a:latin typeface="DejaVu Sans"/>
                <a:ea typeface="DejaVu Sans"/>
                <a:cs typeface="DejaVu Sans"/>
              </a:defRPr>
            </a:pPr>
            <a:r>
              <a:rPr sz="1725" b="0">
                <a:solidFill>
                  <a:srgbClr val="28C7F7"/>
                </a:solidFill>
                <a:latin typeface="DejaVu Sans"/>
                <a:ea typeface="DejaVu Sans"/>
                <a:cs typeface="DejaVu Sans"/>
              </a:rPr>
              <a:t>Measure delivery and recovery. Next: AI inside the product.</a:t>
            </a:r>
          </a:p>
        </p:txBody>
      </p:sp>
    </p:spTree>
    <p:extLst>
      <p:ext uri="{BB962C8B-B14F-4D97-AF65-F5344CB8AC3E}">
        <p14:creationId xmlns:p14="http://schemas.microsoft.com/office/powerpoint/2010/main" val="2031027582"/>
      </p:ext>
    </p:extLst>
  </p:cSld>
</p:sld>
</file>

<file path=ppt/slides/slide8.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FEF0828-9D23-43E1-A19A-C7EC625E9979}"/>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When Software Starts Thinking</a:t>
            </a:r>
          </a:p>
        </p:txBody>
      </p:sp>
      <p:sp>
        <p:nvSpPr>
          <p:cNvPr id="2" name="">
            <a:extLst xmlns:a="http://schemas.openxmlformats.org/drawingml/2006/main">
              <a:ext uri="{FF2B5EF4-FFF2-40B4-BE49-F238E27FC236}">
                <a16:creationId xmlns:a16="http://schemas.microsoft.com/office/drawing/2014/main" id="{007A661C-2305-40ED-BDDC-5AD8B7E5D76E}"/>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8274C139-48D9-46E9-BC8B-2321E27C2FCA}"/>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08</a:t>
            </a:r>
          </a:p>
        </p:txBody>
      </p:sp>
      <p:sp>
        <p:nvSpPr>
          <p:cNvPr id="4" name="">
            <a:extLst xmlns:a="http://schemas.openxmlformats.org/drawingml/2006/main">
              <a:ext uri="{FF2B5EF4-FFF2-40B4-BE49-F238E27FC236}">
                <a16:creationId xmlns:a16="http://schemas.microsoft.com/office/drawing/2014/main" id="{16C09216-A875-4EE1-A660-67E0BA548AF1}"/>
              </a:ext>
            </a:extLst>
          </p:cNvPr>
          <p:cNvSpPr>
            <a:spLocks xmlns:a="http://schemas.openxmlformats.org/drawingml/2006/main" noGrp="1"/>
          </p:cNvSpPr>
          <p:nvPr/>
        </p:nvSpPr>
        <p:spPr>
          <a:xfrm xmlns:a="http://schemas.openxmlformats.org/drawingml/2006/main">
            <a:off x="609600" y="1924050"/>
            <a:ext cx="106489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28C7F7"/>
                </a:solidFill>
                <a:latin typeface="DejaVu Sans"/>
                <a:ea typeface="DejaVu Sans"/>
                <a:cs typeface="DejaVu Sans"/>
              </a:defRPr>
            </a:pPr>
            <a:r>
              <a:rPr sz="1725" b="1">
                <a:solidFill>
                  <a:srgbClr val="28C7F7"/>
                </a:solidFill>
                <a:latin typeface="DejaVu Sans"/>
                <a:ea typeface="DejaVu Sans"/>
                <a:cs typeface="DejaVu Sans"/>
              </a:rPr>
              <a:t>THINKING SYSTEMS</a:t>
            </a:r>
          </a:p>
        </p:txBody>
      </p:sp>
      <p:sp>
        <p:nvSpPr>
          <p:cNvPr id="5" name="">
            <a:extLst xmlns:a="http://schemas.openxmlformats.org/drawingml/2006/main">
              <a:ext uri="{FF2B5EF4-FFF2-40B4-BE49-F238E27FC236}">
                <a16:creationId xmlns:a16="http://schemas.microsoft.com/office/drawing/2014/main" id="{3AAB8B8A-D9F1-4440-B1A6-305BBF94B2B5}"/>
              </a:ext>
            </a:extLst>
          </p:cNvPr>
          <p:cNvSpPr>
            <a:spLocks xmlns:a="http://schemas.openxmlformats.org/drawingml/2006/main" noGrp="1"/>
          </p:cNvSpPr>
          <p:nvPr/>
        </p:nvSpPr>
        <p:spPr>
          <a:xfrm xmlns:a="http://schemas.openxmlformats.org/drawingml/2006/main">
            <a:off x="609600" y="2390775"/>
            <a:ext cx="105156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00" b="1">
                <a:solidFill>
                  <a:srgbClr val="F4F7FA"/>
                </a:solidFill>
                <a:latin typeface="DejaVu Sans"/>
                <a:ea typeface="DejaVu Sans"/>
                <a:cs typeface="DejaVu Sans"/>
              </a:defRPr>
            </a:pPr>
            <a:r>
              <a:rPr sz="2400" b="1">
                <a:solidFill>
                  <a:srgbClr val="F4F7FA"/>
                </a:solidFill>
                <a:latin typeface="DejaVu Sans"/>
                <a:ea typeface="DejaVu Sans"/>
                <a:cs typeface="DejaVu Sans"/>
              </a:rPr>
              <a:t>A system where consequential runtime responsibility partly depends on probabilistic Model Judgment.</a:t>
            </a:r>
          </a:p>
        </p:txBody>
      </p:sp>
      <p:sp>
        <p:nvSpPr>
          <p:cNvPr id="6" name="">
            <a:extLst xmlns:a="http://schemas.openxmlformats.org/drawingml/2006/main">
              <a:ext uri="{FF2B5EF4-FFF2-40B4-BE49-F238E27FC236}">
                <a16:creationId xmlns:a16="http://schemas.microsoft.com/office/drawing/2014/main" id="{5D4C7D31-0C11-4AE9-9EFF-D3195795995C}"/>
              </a:ext>
            </a:extLst>
          </p:cNvPr>
          <p:cNvSpPr>
            <a:spLocks xmlns:a="http://schemas.openxmlformats.org/drawingml/2006/main" noGrp="1"/>
          </p:cNvSpPr>
          <p:nvPr/>
        </p:nvSpPr>
        <p:spPr>
          <a:xfrm xmlns:a="http://schemas.openxmlformats.org/drawingml/2006/main">
            <a:off x="609600" y="369570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ADB8C5"/>
                </a:solidFill>
                <a:latin typeface="DejaVu Sans"/>
                <a:ea typeface="DejaVu Sans"/>
                <a:cs typeface="DejaVu Sans"/>
              </a:defRPr>
            </a:pPr>
            <a:r>
              <a:rPr sz="1800" b="0">
                <a:solidFill>
                  <a:srgbClr val="ADB8C5"/>
                </a:solidFill>
                <a:latin typeface="DejaVu Sans"/>
                <a:ea typeface="DejaVu Sans"/>
                <a:cs typeface="DejaVu Sans"/>
              </a:rPr>
              <a:t>Software 1.0</a:t>
            </a:r>
          </a:p>
        </p:txBody>
      </p:sp>
      <p:sp>
        <p:nvSpPr>
          <p:cNvPr id="7" name="">
            <a:extLst xmlns:a="http://schemas.openxmlformats.org/drawingml/2006/main">
              <a:ext uri="{FF2B5EF4-FFF2-40B4-BE49-F238E27FC236}">
                <a16:creationId xmlns:a16="http://schemas.microsoft.com/office/drawing/2014/main" id="{259D1780-FF35-46E9-A38E-B271B2078103}"/>
              </a:ext>
            </a:extLst>
          </p:cNvPr>
          <p:cNvSpPr>
            <a:spLocks xmlns:a="http://schemas.openxmlformats.org/drawingml/2006/main" noGrp="1"/>
          </p:cNvSpPr>
          <p:nvPr/>
        </p:nvSpPr>
        <p:spPr>
          <a:xfrm xmlns:a="http://schemas.openxmlformats.org/drawingml/2006/main">
            <a:off x="609600" y="4257675"/>
            <a:ext cx="5143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4425" b="1">
                <a:solidFill>
                  <a:srgbClr val="28C7F7"/>
                </a:solidFill>
                <a:latin typeface="DejaVu Sans"/>
                <a:ea typeface="DejaVu Sans"/>
                <a:cs typeface="DejaVu Sans"/>
              </a:defRPr>
            </a:pPr>
            <a:r>
              <a:rPr sz="4425" b="1">
                <a:solidFill>
                  <a:srgbClr val="28C7F7"/>
                </a:solidFill>
                <a:latin typeface="DejaVu Sans"/>
                <a:ea typeface="DejaVu Sans"/>
                <a:cs typeface="DejaVu Sans"/>
              </a:rPr>
              <a:t>y = f(x)</a:t>
            </a:r>
          </a:p>
        </p:txBody>
      </p:sp>
      <p:sp>
        <p:nvSpPr>
          <p:cNvPr id="8" name="">
            <a:extLst xmlns:a="http://schemas.openxmlformats.org/drawingml/2006/main">
              <a:ext uri="{FF2B5EF4-FFF2-40B4-BE49-F238E27FC236}">
                <a16:creationId xmlns:a16="http://schemas.microsoft.com/office/drawing/2014/main" id="{6300C378-2264-4339-83F0-5D088F9BD1A0}"/>
              </a:ext>
            </a:extLst>
          </p:cNvPr>
          <p:cNvSpPr>
            <a:spLocks xmlns:a="http://schemas.openxmlformats.org/drawingml/2006/main" noGrp="1"/>
          </p:cNvSpPr>
          <p:nvPr/>
        </p:nvSpPr>
        <p:spPr>
          <a:xfrm xmlns:a="http://schemas.openxmlformats.org/drawingml/2006/main">
            <a:off x="6324600" y="369570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ADB8C5"/>
                </a:solidFill>
                <a:latin typeface="DejaVu Sans"/>
                <a:ea typeface="DejaVu Sans"/>
                <a:cs typeface="DejaVu Sans"/>
              </a:defRPr>
            </a:pPr>
            <a:r>
              <a:rPr sz="1800" b="0">
                <a:solidFill>
                  <a:srgbClr val="ADB8C5"/>
                </a:solidFill>
                <a:latin typeface="DejaVu Sans"/>
                <a:ea typeface="DejaVu Sans"/>
                <a:cs typeface="DejaVu Sans"/>
              </a:rPr>
              <a:t>Software with Model Judgment</a:t>
            </a:r>
          </a:p>
        </p:txBody>
      </p:sp>
      <p:sp>
        <p:nvSpPr>
          <p:cNvPr id="9" name="">
            <a:extLst xmlns:a="http://schemas.openxmlformats.org/drawingml/2006/main">
              <a:ext uri="{FF2B5EF4-FFF2-40B4-BE49-F238E27FC236}">
                <a16:creationId xmlns:a16="http://schemas.microsoft.com/office/drawing/2014/main" id="{B1F4C6F7-F55B-4C5D-9F36-512B1E61D180}"/>
              </a:ext>
            </a:extLst>
          </p:cNvPr>
          <p:cNvSpPr>
            <a:spLocks xmlns:a="http://schemas.openxmlformats.org/drawingml/2006/main" noGrp="1"/>
          </p:cNvSpPr>
          <p:nvPr/>
        </p:nvSpPr>
        <p:spPr>
          <a:xfrm xmlns:a="http://schemas.openxmlformats.org/drawingml/2006/main">
            <a:off x="6324600" y="4257675"/>
            <a:ext cx="5143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4425" b="1">
                <a:solidFill>
                  <a:srgbClr val="F5B61C"/>
                </a:solidFill>
                <a:latin typeface="DejaVu Sans"/>
                <a:ea typeface="DejaVu Sans"/>
                <a:cs typeface="DejaVu Sans"/>
              </a:defRPr>
            </a:pPr>
            <a:r>
              <a:rPr sz="4425" b="1">
                <a:solidFill>
                  <a:srgbClr val="F5B61C"/>
                </a:solidFill>
                <a:latin typeface="DejaVu Sans"/>
                <a:ea typeface="DejaVu Sans"/>
                <a:cs typeface="DejaVu Sans"/>
              </a:rPr>
              <a:t>y ~ P(y | x)</a:t>
            </a:r>
          </a:p>
        </p:txBody>
      </p:sp>
      <p:sp>
        <p:nvSpPr>
          <p:cNvPr id="10" name="">
            <a:extLst xmlns:a="http://schemas.openxmlformats.org/drawingml/2006/main">
              <a:ext uri="{FF2B5EF4-FFF2-40B4-BE49-F238E27FC236}">
                <a16:creationId xmlns:a16="http://schemas.microsoft.com/office/drawing/2014/main" id="{532C6010-9633-4FA0-BC82-F5876C445216}"/>
              </a:ext>
            </a:extLst>
          </p:cNvPr>
          <p:cNvSpPr>
            <a:spLocks xmlns:a="http://schemas.openxmlformats.org/drawingml/2006/main" noGrp="1"/>
          </p:cNvSpPr>
          <p:nvPr/>
        </p:nvSpPr>
        <p:spPr>
          <a:xfrm xmlns:a="http://schemas.openxmlformats.org/drawingml/2006/main">
            <a:off x="609600" y="5276850"/>
            <a:ext cx="106489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Distribution also depends on context, model and configuration.</a:t>
            </a:r>
          </a:p>
        </p:txBody>
      </p:sp>
      <p:sp>
        <p:nvSpPr>
          <p:cNvPr id="11" name="">
            <a:extLst xmlns:a="http://schemas.openxmlformats.org/drawingml/2006/main">
              <a:ext uri="{FF2B5EF4-FFF2-40B4-BE49-F238E27FC236}">
                <a16:creationId xmlns:a16="http://schemas.microsoft.com/office/drawing/2014/main" id="{244D7BBE-3FE6-4378-AE68-1DDDCB37494C}"/>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2" name="">
            <a:extLst xmlns:a="http://schemas.openxmlformats.org/drawingml/2006/main">
              <a:ext uri="{FF2B5EF4-FFF2-40B4-BE49-F238E27FC236}">
                <a16:creationId xmlns:a16="http://schemas.microsoft.com/office/drawing/2014/main" id="{0F66CB41-0CFE-4FEB-96BA-FCBD03C364C5}"/>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Engineer the useful region of behavior.</a:t>
            </a:r>
          </a:p>
        </p:txBody>
      </p:sp>
    </p:spTree>
    <p:extLst>
      <p:ext uri="{BB962C8B-B14F-4D97-AF65-F5344CB8AC3E}">
        <p14:creationId xmlns:p14="http://schemas.microsoft.com/office/powerpoint/2010/main" val="254677611"/>
      </p:ext>
    </p:extLst>
  </p:cSld>
</p:sld>
</file>

<file path=ppt/slides/slide9.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4CE832FC-DBA2-42A7-9ADD-31B048B6BF0A}"/>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Requirements Become Boundaries</a:t>
            </a:r>
          </a:p>
        </p:txBody>
      </p:sp>
      <p:sp>
        <p:nvSpPr>
          <p:cNvPr id="2" name="">
            <a:extLst xmlns:a="http://schemas.openxmlformats.org/drawingml/2006/main">
              <a:ext uri="{FF2B5EF4-FFF2-40B4-BE49-F238E27FC236}">
                <a16:creationId xmlns:a16="http://schemas.microsoft.com/office/drawing/2014/main" id="{67902339-9424-4642-929A-FFBFDFDE4FB0}"/>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84E521FD-64FA-4558-904F-6DF5BF3110A8}"/>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09</a:t>
            </a:r>
          </a:p>
        </p:txBody>
      </p:sp>
      <p:sp>
        <p:nvSpPr>
          <p:cNvPr id="4" name="">
            <a:extLst xmlns:a="http://schemas.openxmlformats.org/drawingml/2006/main">
              <a:ext uri="{FF2B5EF4-FFF2-40B4-BE49-F238E27FC236}">
                <a16:creationId xmlns:a16="http://schemas.microsoft.com/office/drawing/2014/main" id="{8063A72F-99FF-49EC-B947-5D81200860C2}"/>
              </a:ext>
            </a:extLst>
          </p:cNvPr>
          <p:cNvSpPr>
            <a:spLocks xmlns:a="http://schemas.openxmlformats.org/drawingml/2006/main" noGrp="1"/>
          </p:cNvSpPr>
          <p:nvPr/>
        </p:nvSpPr>
        <p:spPr>
          <a:xfrm xmlns:a="http://schemas.openxmlformats.org/drawingml/2006/main">
            <a:off x="609600" y="17526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DejaVu Sans"/>
                <a:ea typeface="DejaVu Sans"/>
                <a:cs typeface="DejaVu Sans"/>
              </a:defRPr>
            </a:pPr>
            <a:r>
              <a:rPr sz="1650" b="1">
                <a:solidFill>
                  <a:srgbClr val="28C7F7"/>
                </a:solidFill>
                <a:latin typeface="DejaVu Sans"/>
                <a:ea typeface="DejaVu Sans"/>
                <a:cs typeface="DejaVu Sans"/>
              </a:rPr>
              <a:t>PRODUCT MANAGER + BA · agree what acceptable behavior means</a:t>
            </a:r>
          </a:p>
        </p:txBody>
      </p:sp>
      <p:sp>
        <p:nvSpPr>
          <p:cNvPr id="5" name="">
            <a:extLst xmlns:a="http://schemas.openxmlformats.org/drawingml/2006/main">
              <a:ext uri="{FF2B5EF4-FFF2-40B4-BE49-F238E27FC236}">
                <a16:creationId xmlns:a16="http://schemas.microsoft.com/office/drawing/2014/main" id="{310A862A-E71B-4B21-A97C-13D3D3CEA4BC}"/>
              </a:ext>
            </a:extLst>
          </p:cNvPr>
          <p:cNvSpPr>
            <a:spLocks xmlns:a="http://schemas.openxmlformats.org/drawingml/2006/main" noGrp="1"/>
          </p:cNvSpPr>
          <p:nvPr/>
        </p:nvSpPr>
        <p:spPr>
          <a:xfrm xmlns:a="http://schemas.openxmlformats.org/drawingml/2006/main" flipH="0" flipV="0">
            <a:off x="5010150" y="2228850"/>
            <a:ext cx="0" cy="2333625"/>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6" name="">
            <a:extLst xmlns:a="http://schemas.openxmlformats.org/drawingml/2006/main">
              <a:ext uri="{FF2B5EF4-FFF2-40B4-BE49-F238E27FC236}">
                <a16:creationId xmlns:a16="http://schemas.microsoft.com/office/drawing/2014/main" id="{25933F98-A53E-4E79-9C36-ED2827D8B8DD}"/>
              </a:ext>
            </a:extLst>
          </p:cNvPr>
          <p:cNvSpPr>
            <a:spLocks xmlns:a="http://schemas.openxmlformats.org/drawingml/2006/main" noGrp="1"/>
          </p:cNvSpPr>
          <p:nvPr/>
        </p:nvSpPr>
        <p:spPr>
          <a:xfrm xmlns:a="http://schemas.openxmlformats.org/drawingml/2006/main">
            <a:off x="609600" y="2247900"/>
            <a:ext cx="41719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ADB8C5"/>
                </a:solidFill>
                <a:latin typeface="DejaVu Sans"/>
                <a:ea typeface="DejaVu Sans"/>
                <a:cs typeface="DejaVu Sans"/>
              </a:defRPr>
            </a:pPr>
            <a:r>
              <a:rPr sz="1425" b="1">
                <a:solidFill>
                  <a:srgbClr val="ADB8C5"/>
                </a:solidFill>
                <a:latin typeface="DejaVu Sans"/>
                <a:ea typeface="DejaVu Sans"/>
                <a:cs typeface="DejaVu Sans"/>
              </a:rPr>
              <a:t>SPECIFIED FLOW · STILL REQUIRED</a:t>
            </a:r>
          </a:p>
        </p:txBody>
      </p:sp>
      <p:sp>
        <p:nvSpPr>
          <p:cNvPr id="7" name="">
            <a:extLst xmlns:a="http://schemas.openxmlformats.org/drawingml/2006/main">
              <a:ext uri="{FF2B5EF4-FFF2-40B4-BE49-F238E27FC236}">
                <a16:creationId xmlns:a16="http://schemas.microsoft.com/office/drawing/2014/main" id="{ED0BB15B-D44D-46BD-A8F9-8F677392BD45}"/>
              </a:ext>
            </a:extLst>
          </p:cNvPr>
          <p:cNvSpPr>
            <a:spLocks xmlns:a="http://schemas.openxmlformats.org/drawingml/2006/main" noGrp="1"/>
          </p:cNvSpPr>
          <p:nvPr/>
        </p:nvSpPr>
        <p:spPr>
          <a:xfrm xmlns:a="http://schemas.openxmlformats.org/drawingml/2006/main">
            <a:off x="609600" y="2781300"/>
            <a:ext cx="1676400" cy="628650"/>
          </a:xfrm>
          <a:prstGeom xmlns:a="http://schemas.openxmlformats.org/drawingml/2006/main" prst="rect">
            <a:avLst/>
          </a:prstGeom>
          <a:solidFill xmlns:a="http://schemas.openxmlformats.org/drawingml/2006/main">
            <a:srgbClr val="141C26"/>
          </a:solidFill>
          <a:ln xmlns:a="http://schemas.openxmlformats.org/drawingml/2006/main" w="14288">
            <a:solidFill>
              <a:srgbClr val="ADB8C5"/>
            </a:solidFill>
            <a:prstDash val="solid"/>
          </a:ln>
        </p:spPr>
      </p:sp>
      <p:sp>
        <p:nvSpPr>
          <p:cNvPr id="8" name="">
            <a:extLst xmlns:a="http://schemas.openxmlformats.org/drawingml/2006/main">
              <a:ext uri="{FF2B5EF4-FFF2-40B4-BE49-F238E27FC236}">
                <a16:creationId xmlns:a16="http://schemas.microsoft.com/office/drawing/2014/main" id="{DCC2E575-2E33-4D98-9F9E-0ACD6F99778C}"/>
              </a:ext>
            </a:extLst>
          </p:cNvPr>
          <p:cNvSpPr>
            <a:spLocks xmlns:a="http://schemas.openxmlformats.org/drawingml/2006/main" noGrp="1"/>
          </p:cNvSpPr>
          <p:nvPr/>
        </p:nvSpPr>
        <p:spPr>
          <a:xfrm xmlns:a="http://schemas.openxmlformats.org/drawingml/2006/main">
            <a:off x="723900" y="2857500"/>
            <a:ext cx="1447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950" b="1">
                <a:solidFill>
                  <a:srgbClr val="F4F7FA"/>
                </a:solidFill>
                <a:latin typeface="DejaVu Sans"/>
                <a:ea typeface="DejaVu Sans"/>
                <a:cs typeface="DejaVu Sans"/>
              </a:defRPr>
            </a:pPr>
            <a:r>
              <a:rPr sz="1950" b="1">
                <a:solidFill>
                  <a:srgbClr val="F4F7FA"/>
                </a:solidFill>
                <a:latin typeface="DejaVu Sans"/>
                <a:ea typeface="DejaVu Sans"/>
                <a:cs typeface="DejaVu Sans"/>
              </a:rPr>
              <a:t>Button A</a:t>
            </a:r>
          </a:p>
        </p:txBody>
      </p:sp>
      <p:sp>
        <p:nvSpPr>
          <p:cNvPr id="9" name="">
            <a:extLst xmlns:a="http://schemas.openxmlformats.org/drawingml/2006/main">
              <a:ext uri="{FF2B5EF4-FFF2-40B4-BE49-F238E27FC236}">
                <a16:creationId xmlns:a16="http://schemas.microsoft.com/office/drawing/2014/main" id="{410BCB13-42F2-461E-A9E1-71F5417E7A42}"/>
              </a:ext>
            </a:extLst>
          </p:cNvPr>
          <p:cNvSpPr>
            <a:spLocks xmlns:a="http://schemas.openxmlformats.org/drawingml/2006/main" noGrp="1"/>
          </p:cNvSpPr>
          <p:nvPr/>
        </p:nvSpPr>
        <p:spPr>
          <a:xfrm xmlns:a="http://schemas.openxmlformats.org/drawingml/2006/main">
            <a:off x="2933700" y="2781300"/>
            <a:ext cx="1847850" cy="628650"/>
          </a:xfrm>
          <a:prstGeom xmlns:a="http://schemas.openxmlformats.org/drawingml/2006/main" prst="rect">
            <a:avLst/>
          </a:prstGeom>
          <a:solidFill xmlns:a="http://schemas.openxmlformats.org/drawingml/2006/main">
            <a:srgbClr val="141C26"/>
          </a:solidFill>
          <a:ln xmlns:a="http://schemas.openxmlformats.org/drawingml/2006/main" w="14288">
            <a:solidFill>
              <a:srgbClr val="ADB8C5"/>
            </a:solidFill>
            <a:prstDash val="solid"/>
          </a:ln>
        </p:spPr>
      </p:sp>
      <p:sp>
        <p:nvSpPr>
          <p:cNvPr id="10" name="">
            <a:extLst xmlns:a="http://schemas.openxmlformats.org/drawingml/2006/main">
              <a:ext uri="{FF2B5EF4-FFF2-40B4-BE49-F238E27FC236}">
                <a16:creationId xmlns:a16="http://schemas.microsoft.com/office/drawing/2014/main" id="{B414FFD1-51E7-49A6-8976-EDD2D4A173AD}"/>
              </a:ext>
            </a:extLst>
          </p:cNvPr>
          <p:cNvSpPr>
            <a:spLocks xmlns:a="http://schemas.openxmlformats.org/drawingml/2006/main" noGrp="1"/>
          </p:cNvSpPr>
          <p:nvPr/>
        </p:nvSpPr>
        <p:spPr>
          <a:xfrm xmlns:a="http://schemas.openxmlformats.org/drawingml/2006/main">
            <a:off x="3048000" y="2857500"/>
            <a:ext cx="1619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950" b="1">
                <a:solidFill>
                  <a:srgbClr val="F4F7FA"/>
                </a:solidFill>
                <a:latin typeface="DejaVu Sans"/>
                <a:ea typeface="DejaVu Sans"/>
                <a:cs typeface="DejaVu Sans"/>
              </a:defRPr>
            </a:pPr>
            <a:r>
              <a:rPr sz="1950" b="1">
                <a:solidFill>
                  <a:srgbClr val="F4F7FA"/>
                </a:solidFill>
                <a:latin typeface="DejaVu Sans"/>
                <a:ea typeface="DejaVu Sans"/>
                <a:cs typeface="DejaVu Sans"/>
              </a:rPr>
              <a:t>Window B</a:t>
            </a:r>
          </a:p>
        </p:txBody>
      </p:sp>
      <p:cxnSp>
        <p:nvCxnSpPr>
          <p:cNvPr id="39" name=""/>
          <p:cNvCxnSpPr>
            <a:stCxn xmlns:a="http://schemas.openxmlformats.org/drawingml/2006/main" id="7" idx="3"/>
            <a:endCxn xmlns:a="http://schemas.openxmlformats.org/drawingml/2006/main" id="9" idx="1"/>
          </p:cNvCxnSpPr>
          <p:nvPr/>
        </p:nvCxnSpPr>
        <p:spPr>
          <a:xfrm xmlns:a="http://schemas.openxmlformats.org/drawingml/2006/main">
            <a:off x="2286000" y="3095625"/>
            <a:ext cx="6477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12" name="">
            <a:extLst xmlns:a="http://schemas.openxmlformats.org/drawingml/2006/main">
              <a:ext uri="{FF2B5EF4-FFF2-40B4-BE49-F238E27FC236}">
                <a16:creationId xmlns:a16="http://schemas.microsoft.com/office/drawing/2014/main" id="{5B8EB3A1-44CF-456A-8903-AF2600E2F5FE}"/>
              </a:ext>
            </a:extLst>
          </p:cNvPr>
          <p:cNvSpPr>
            <a:spLocks xmlns:a="http://schemas.openxmlformats.org/drawingml/2006/main" noGrp="1"/>
          </p:cNvSpPr>
          <p:nvPr/>
        </p:nvSpPr>
        <p:spPr>
          <a:xfrm xmlns:a="http://schemas.openxmlformats.org/drawingml/2006/main">
            <a:off x="609600" y="3619500"/>
            <a:ext cx="41719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0">
                <a:solidFill>
                  <a:srgbClr val="F4F7FA"/>
                </a:solidFill>
                <a:latin typeface="DejaVu Sans"/>
                <a:ea typeface="DejaVu Sans"/>
                <a:cs typeface="DejaVu Sans"/>
              </a:defRPr>
            </a:pPr>
            <a:r>
              <a:rPr sz="2025" b="0">
                <a:solidFill>
                  <a:srgbClr val="F4F7FA"/>
                </a:solidFill>
                <a:latin typeface="DejaVu Sans"/>
                <a:ea typeface="DejaVu Sans"/>
                <a:cs typeface="DejaVu Sans"/>
              </a:rPr>
              <a:t>Exact states, permissions</a:t>
            </a:r>
          </a:p>
          <a:p xmlns:a="http://schemas.openxmlformats.org/drawingml/2006/main">
            <a:pPr algn="l">
              <a:defRPr sz="2025" b="0">
                <a:solidFill>
                  <a:srgbClr val="F4F7FA"/>
                </a:solidFill>
                <a:latin typeface="DejaVu Sans"/>
                <a:ea typeface="DejaVu Sans"/>
                <a:cs typeface="DejaVu Sans"/>
              </a:defRPr>
            </a:pPr>
            <a:r>
              <a:rPr sz="2025" b="0">
                <a:solidFill>
                  <a:srgbClr val="F4F7FA"/>
                </a:solidFill>
                <a:latin typeface="DejaVu Sans"/>
                <a:ea typeface="DejaVu Sans"/>
                <a:cs typeface="DejaVu Sans"/>
              </a:rPr>
              <a:t>and transitions.</a:t>
            </a:r>
          </a:p>
        </p:txBody>
      </p:sp>
      <p:sp>
        <p:nvSpPr>
          <p:cNvPr id="13" name="">
            <a:extLst xmlns:a="http://schemas.openxmlformats.org/drawingml/2006/main">
              <a:ext uri="{FF2B5EF4-FFF2-40B4-BE49-F238E27FC236}">
                <a16:creationId xmlns:a16="http://schemas.microsoft.com/office/drawing/2014/main" id="{BED56366-DFCF-41CF-A190-E76CA9E1A142}"/>
              </a:ext>
            </a:extLst>
          </p:cNvPr>
          <p:cNvSpPr>
            <a:spLocks xmlns:a="http://schemas.openxmlformats.org/drawingml/2006/main" noGrp="1"/>
          </p:cNvSpPr>
          <p:nvPr/>
        </p:nvSpPr>
        <p:spPr>
          <a:xfrm xmlns:a="http://schemas.openxmlformats.org/drawingml/2006/main">
            <a:off x="609600" y="4276725"/>
            <a:ext cx="41719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DejaVu Sans"/>
                <a:ea typeface="DejaVu Sans"/>
                <a:cs typeface="DejaVu Sans"/>
              </a:defRPr>
            </a:pPr>
            <a:r>
              <a:rPr sz="1425" b="0">
                <a:solidFill>
                  <a:srgbClr val="ADB8C5"/>
                </a:solidFill>
                <a:latin typeface="DejaVu Sans"/>
                <a:ea typeface="DejaVu Sans"/>
                <a:cs typeface="DejaVu Sans"/>
              </a:rPr>
              <a:t>Product + BA: examples and rubric.</a:t>
            </a:r>
          </a:p>
          <a:p xmlns:a="http://schemas.openxmlformats.org/drawingml/2006/main">
            <a:pPr algn="l">
              <a:defRPr sz="1425" b="0">
                <a:solidFill>
                  <a:srgbClr val="ADB8C5"/>
                </a:solidFill>
                <a:latin typeface="DejaVu Sans"/>
                <a:ea typeface="DejaVu Sans"/>
                <a:cs typeface="DejaVu Sans"/>
              </a:defRPr>
            </a:pPr>
            <a:r>
              <a:rPr sz="1425" b="0">
                <a:solidFill>
                  <a:srgbClr val="ADB8C5"/>
                </a:solidFill>
                <a:latin typeface="DejaVu Sans"/>
                <a:ea typeface="DejaVu Sans"/>
                <a:cs typeface="DejaVu Sans"/>
              </a:rPr>
              <a:t>Project Manager: stakeholder decisions.</a:t>
            </a:r>
          </a:p>
        </p:txBody>
      </p:sp>
      <p:sp>
        <p:nvSpPr>
          <p:cNvPr id="14" name="">
            <a:extLst xmlns:a="http://schemas.openxmlformats.org/drawingml/2006/main">
              <a:ext uri="{FF2B5EF4-FFF2-40B4-BE49-F238E27FC236}">
                <a16:creationId xmlns:a16="http://schemas.microsoft.com/office/drawing/2014/main" id="{0A7243D0-D2EE-4F26-88C4-DF7E2D4E90EB}"/>
              </a:ext>
            </a:extLst>
          </p:cNvPr>
          <p:cNvSpPr>
            <a:spLocks xmlns:a="http://schemas.openxmlformats.org/drawingml/2006/main" noGrp="1"/>
          </p:cNvSpPr>
          <p:nvPr/>
        </p:nvSpPr>
        <p:spPr>
          <a:xfrm xmlns:a="http://schemas.openxmlformats.org/drawingml/2006/main">
            <a:off x="5295900" y="2247900"/>
            <a:ext cx="628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DejaVu Sans"/>
                <a:ea typeface="DejaVu Sans"/>
                <a:cs typeface="DejaVu Sans"/>
              </a:defRPr>
            </a:pPr>
            <a:r>
              <a:rPr sz="1425" b="1">
                <a:solidFill>
                  <a:srgbClr val="28C7F7"/>
                </a:solidFill>
                <a:latin typeface="DejaVu Sans"/>
                <a:ea typeface="DejaVu Sans"/>
                <a:cs typeface="DejaVu Sans"/>
              </a:rPr>
              <a:t>VARIABLE BEHAVIOR · ALSO REQUIRED</a:t>
            </a:r>
          </a:p>
        </p:txBody>
      </p:sp>
      <p:sp>
        <p:nvSpPr>
          <p:cNvPr id="15" name="">
            <a:extLst xmlns:a="http://schemas.openxmlformats.org/drawingml/2006/main">
              <a:ext uri="{FF2B5EF4-FFF2-40B4-BE49-F238E27FC236}">
                <a16:creationId xmlns:a16="http://schemas.microsoft.com/office/drawing/2014/main" id="{403F893C-1D24-460A-B300-2C2E8F28AADC}"/>
              </a:ext>
            </a:extLst>
          </p:cNvPr>
          <p:cNvSpPr>
            <a:spLocks xmlns:a="http://schemas.openxmlformats.org/drawingml/2006/main" noGrp="1"/>
          </p:cNvSpPr>
          <p:nvPr/>
        </p:nvSpPr>
        <p:spPr>
          <a:xfrm xmlns:a="http://schemas.openxmlformats.org/drawingml/2006/main" flipH="0" flipV="0">
            <a:off x="5295900" y="2724150"/>
            <a:ext cx="0" cy="514350"/>
          </a:xfrm>
          <a:prstGeom xmlns:a="http://schemas.openxmlformats.org/drawingml/2006/main" prst="line">
            <a:avLst/>
          </a:prstGeom>
          <a:noFill xmlns:a="http://schemas.openxmlformats.org/drawingml/2006/main"/>
          <a:ln xmlns:a="http://schemas.openxmlformats.org/drawingml/2006/main" w="38100">
            <a:solidFill>
              <a:srgbClr val="28C7F7"/>
            </a:solidFill>
            <a:prstDash val="solid"/>
          </a:ln>
        </p:spPr>
      </p:sp>
      <p:sp>
        <p:nvSpPr>
          <p:cNvPr id="16" name="">
            <a:extLst xmlns:a="http://schemas.openxmlformats.org/drawingml/2006/main">
              <a:ext uri="{FF2B5EF4-FFF2-40B4-BE49-F238E27FC236}">
                <a16:creationId xmlns:a16="http://schemas.microsoft.com/office/drawing/2014/main" id="{7D963423-B380-4158-B2A9-9D1E98E44E01}"/>
              </a:ext>
            </a:extLst>
          </p:cNvPr>
          <p:cNvSpPr>
            <a:spLocks xmlns:a="http://schemas.openxmlformats.org/drawingml/2006/main" noGrp="1"/>
          </p:cNvSpPr>
          <p:nvPr/>
        </p:nvSpPr>
        <p:spPr>
          <a:xfrm xmlns:a="http://schemas.openxmlformats.org/drawingml/2006/main">
            <a:off x="5467350" y="2686050"/>
            <a:ext cx="61150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DejaVu Sans"/>
                <a:ea typeface="DejaVu Sans"/>
                <a:cs typeface="DejaVu Sans"/>
              </a:defRPr>
            </a:pPr>
            <a:r>
              <a:rPr sz="1500" b="1">
                <a:solidFill>
                  <a:srgbClr val="28C7F7"/>
                </a:solidFill>
                <a:latin typeface="DejaVu Sans"/>
                <a:ea typeface="DejaVu Sans"/>
                <a:cs typeface="DejaVu Sans"/>
              </a:rPr>
              <a:t>ALLOW</a:t>
            </a:r>
          </a:p>
        </p:txBody>
      </p:sp>
      <p:sp>
        <p:nvSpPr>
          <p:cNvPr id="17" name="">
            <a:extLst xmlns:a="http://schemas.openxmlformats.org/drawingml/2006/main">
              <a:ext uri="{FF2B5EF4-FFF2-40B4-BE49-F238E27FC236}">
                <a16:creationId xmlns:a16="http://schemas.microsoft.com/office/drawing/2014/main" id="{6E612FD7-A532-484C-992F-F15B5C6B8760}"/>
              </a:ext>
            </a:extLst>
          </p:cNvPr>
          <p:cNvSpPr>
            <a:spLocks xmlns:a="http://schemas.openxmlformats.org/drawingml/2006/main" noGrp="1"/>
          </p:cNvSpPr>
          <p:nvPr/>
        </p:nvSpPr>
        <p:spPr>
          <a:xfrm xmlns:a="http://schemas.openxmlformats.org/drawingml/2006/main">
            <a:off x="5467350" y="2971800"/>
            <a:ext cx="6115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4F7FA"/>
                </a:solidFill>
                <a:latin typeface="DejaVu Sans"/>
                <a:ea typeface="DejaVu Sans"/>
                <a:cs typeface="DejaVu Sans"/>
              </a:defRPr>
            </a:pPr>
            <a:r>
              <a:rPr sz="1725" b="0">
                <a:solidFill>
                  <a:srgbClr val="F4F7FA"/>
                </a:solidFill>
                <a:latin typeface="DejaVu Sans"/>
                <a:ea typeface="DejaVu Sans"/>
                <a:cs typeface="DejaVu Sans"/>
              </a:rPr>
              <a:t>Explain an approved support article.</a:t>
            </a:r>
          </a:p>
        </p:txBody>
      </p:sp>
      <p:sp>
        <p:nvSpPr>
          <p:cNvPr id="18" name="">
            <a:extLst xmlns:a="http://schemas.openxmlformats.org/drawingml/2006/main">
              <a:ext uri="{FF2B5EF4-FFF2-40B4-BE49-F238E27FC236}">
                <a16:creationId xmlns:a16="http://schemas.microsoft.com/office/drawing/2014/main" id="{2F361DA3-BF6A-4609-939B-02E495E9221F}"/>
              </a:ext>
            </a:extLst>
          </p:cNvPr>
          <p:cNvSpPr>
            <a:spLocks xmlns:a="http://schemas.openxmlformats.org/drawingml/2006/main" noGrp="1"/>
          </p:cNvSpPr>
          <p:nvPr/>
        </p:nvSpPr>
        <p:spPr>
          <a:xfrm xmlns:a="http://schemas.openxmlformats.org/drawingml/2006/main" flipH="0" flipV="0">
            <a:off x="5295900" y="3438525"/>
            <a:ext cx="0" cy="514350"/>
          </a:xfrm>
          <a:prstGeom xmlns:a="http://schemas.openxmlformats.org/drawingml/2006/main" prst="line">
            <a:avLst/>
          </a:prstGeom>
          <a:noFill xmlns:a="http://schemas.openxmlformats.org/drawingml/2006/main"/>
          <a:ln xmlns:a="http://schemas.openxmlformats.org/drawingml/2006/main" w="38100">
            <a:solidFill>
              <a:srgbClr val="F5B61C"/>
            </a:solidFill>
            <a:prstDash val="solid"/>
          </a:ln>
        </p:spPr>
      </p:sp>
      <p:sp>
        <p:nvSpPr>
          <p:cNvPr id="19" name="">
            <a:extLst xmlns:a="http://schemas.openxmlformats.org/drawingml/2006/main">
              <a:ext uri="{FF2B5EF4-FFF2-40B4-BE49-F238E27FC236}">
                <a16:creationId xmlns:a16="http://schemas.microsoft.com/office/drawing/2014/main" id="{D7223D41-4B5B-4C97-A115-5103191E96D6}"/>
              </a:ext>
            </a:extLst>
          </p:cNvPr>
          <p:cNvSpPr>
            <a:spLocks xmlns:a="http://schemas.openxmlformats.org/drawingml/2006/main" noGrp="1"/>
          </p:cNvSpPr>
          <p:nvPr/>
        </p:nvSpPr>
        <p:spPr>
          <a:xfrm xmlns:a="http://schemas.openxmlformats.org/drawingml/2006/main">
            <a:off x="5467350" y="3400425"/>
            <a:ext cx="61150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5B61C"/>
                </a:solidFill>
                <a:latin typeface="DejaVu Sans"/>
                <a:ea typeface="DejaVu Sans"/>
                <a:cs typeface="DejaVu Sans"/>
              </a:defRPr>
            </a:pPr>
            <a:r>
              <a:rPr sz="1500" b="1">
                <a:solidFill>
                  <a:srgbClr val="F5B61C"/>
                </a:solidFill>
                <a:latin typeface="DejaVu Sans"/>
                <a:ea typeface="DejaVu Sans"/>
                <a:cs typeface="DejaVu Sans"/>
              </a:rPr>
              <a:t>CLARIFY</a:t>
            </a:r>
          </a:p>
        </p:txBody>
      </p:sp>
      <p:sp>
        <p:nvSpPr>
          <p:cNvPr id="20" name="">
            <a:extLst xmlns:a="http://schemas.openxmlformats.org/drawingml/2006/main">
              <a:ext uri="{FF2B5EF4-FFF2-40B4-BE49-F238E27FC236}">
                <a16:creationId xmlns:a16="http://schemas.microsoft.com/office/drawing/2014/main" id="{C733BAD1-C014-4C33-80D6-03D36157D797}"/>
              </a:ext>
            </a:extLst>
          </p:cNvPr>
          <p:cNvSpPr>
            <a:spLocks xmlns:a="http://schemas.openxmlformats.org/drawingml/2006/main" noGrp="1"/>
          </p:cNvSpPr>
          <p:nvPr/>
        </p:nvSpPr>
        <p:spPr>
          <a:xfrm xmlns:a="http://schemas.openxmlformats.org/drawingml/2006/main">
            <a:off x="5467350" y="3686175"/>
            <a:ext cx="6115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4F7FA"/>
                </a:solidFill>
                <a:latin typeface="DejaVu Sans"/>
                <a:ea typeface="DejaVu Sans"/>
                <a:cs typeface="DejaVu Sans"/>
              </a:defRPr>
            </a:pPr>
            <a:r>
              <a:rPr sz="1725" b="0">
                <a:solidFill>
                  <a:srgbClr val="F4F7FA"/>
                </a:solidFill>
                <a:latin typeface="DejaVu Sans"/>
                <a:ea typeface="DejaVu Sans"/>
                <a:cs typeface="DejaVu Sans"/>
              </a:rPr>
              <a:t>Missing context? Ask before advising.</a:t>
            </a:r>
          </a:p>
        </p:txBody>
      </p:sp>
      <p:sp>
        <p:nvSpPr>
          <p:cNvPr id="21" name="">
            <a:extLst xmlns:a="http://schemas.openxmlformats.org/drawingml/2006/main">
              <a:ext uri="{FF2B5EF4-FFF2-40B4-BE49-F238E27FC236}">
                <a16:creationId xmlns:a16="http://schemas.microsoft.com/office/drawing/2014/main" id="{48AA075D-89AD-441B-BB10-B781158CC5AC}"/>
              </a:ext>
            </a:extLst>
          </p:cNvPr>
          <p:cNvSpPr>
            <a:spLocks xmlns:a="http://schemas.openxmlformats.org/drawingml/2006/main" noGrp="1"/>
          </p:cNvSpPr>
          <p:nvPr/>
        </p:nvSpPr>
        <p:spPr>
          <a:xfrm xmlns:a="http://schemas.openxmlformats.org/drawingml/2006/main" flipH="0" flipV="0">
            <a:off x="5295900" y="4152900"/>
            <a:ext cx="0" cy="514350"/>
          </a:xfrm>
          <a:prstGeom xmlns:a="http://schemas.openxmlformats.org/drawingml/2006/main" prst="line">
            <a:avLst/>
          </a:prstGeom>
          <a:noFill xmlns:a="http://schemas.openxmlformats.org/drawingml/2006/main"/>
          <a:ln xmlns:a="http://schemas.openxmlformats.org/drawingml/2006/main" w="38100">
            <a:solidFill>
              <a:srgbClr val="FF6B75"/>
            </a:solidFill>
            <a:prstDash val="solid"/>
          </a:ln>
        </p:spPr>
      </p:sp>
      <p:sp>
        <p:nvSpPr>
          <p:cNvPr id="22" name="">
            <a:extLst xmlns:a="http://schemas.openxmlformats.org/drawingml/2006/main">
              <a:ext uri="{FF2B5EF4-FFF2-40B4-BE49-F238E27FC236}">
                <a16:creationId xmlns:a16="http://schemas.microsoft.com/office/drawing/2014/main" id="{33DCF1D8-99DD-44ED-8E04-2A799209ED31}"/>
              </a:ext>
            </a:extLst>
          </p:cNvPr>
          <p:cNvSpPr>
            <a:spLocks xmlns:a="http://schemas.openxmlformats.org/drawingml/2006/main" noGrp="1"/>
          </p:cNvSpPr>
          <p:nvPr/>
        </p:nvSpPr>
        <p:spPr>
          <a:xfrm xmlns:a="http://schemas.openxmlformats.org/drawingml/2006/main">
            <a:off x="5467350" y="4114800"/>
            <a:ext cx="61150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F6B75"/>
                </a:solidFill>
                <a:latin typeface="DejaVu Sans"/>
                <a:ea typeface="DejaVu Sans"/>
                <a:cs typeface="DejaVu Sans"/>
              </a:defRPr>
            </a:pPr>
            <a:r>
              <a:rPr sz="1500" b="1">
                <a:solidFill>
                  <a:srgbClr val="FF6B75"/>
                </a:solidFill>
                <a:latin typeface="DejaVu Sans"/>
                <a:ea typeface="DejaVu Sans"/>
                <a:cs typeface="DejaVu Sans"/>
              </a:rPr>
              <a:t>PROHIBIT</a:t>
            </a:r>
          </a:p>
        </p:txBody>
      </p:sp>
      <p:sp>
        <p:nvSpPr>
          <p:cNvPr id="23" name="">
            <a:extLst xmlns:a="http://schemas.openxmlformats.org/drawingml/2006/main">
              <a:ext uri="{FF2B5EF4-FFF2-40B4-BE49-F238E27FC236}">
                <a16:creationId xmlns:a16="http://schemas.microsoft.com/office/drawing/2014/main" id="{31C6374B-2D67-48BD-84E8-6AC69D08523F}"/>
              </a:ext>
            </a:extLst>
          </p:cNvPr>
          <p:cNvSpPr>
            <a:spLocks xmlns:a="http://schemas.openxmlformats.org/drawingml/2006/main" noGrp="1"/>
          </p:cNvSpPr>
          <p:nvPr/>
        </p:nvSpPr>
        <p:spPr>
          <a:xfrm xmlns:a="http://schemas.openxmlformats.org/drawingml/2006/main">
            <a:off x="5467350" y="4400550"/>
            <a:ext cx="6115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4F7FA"/>
                </a:solidFill>
                <a:latin typeface="DejaVu Sans"/>
                <a:ea typeface="DejaVu Sans"/>
                <a:cs typeface="DejaVu Sans"/>
              </a:defRPr>
            </a:pPr>
            <a:r>
              <a:rPr sz="1725" b="0">
                <a:solidFill>
                  <a:srgbClr val="F4F7FA"/>
                </a:solidFill>
                <a:latin typeface="DejaVu Sans"/>
                <a:ea typeface="DejaVu Sans"/>
                <a:cs typeface="DejaVu Sans"/>
              </a:rPr>
              <a:t>Invent steps, expose data, bypass approval.</a:t>
            </a:r>
          </a:p>
        </p:txBody>
      </p:sp>
      <p:sp>
        <p:nvSpPr>
          <p:cNvPr id="24" name="">
            <a:extLst xmlns:a="http://schemas.openxmlformats.org/drawingml/2006/main">
              <a:ext uri="{FF2B5EF4-FFF2-40B4-BE49-F238E27FC236}">
                <a16:creationId xmlns:a16="http://schemas.microsoft.com/office/drawing/2014/main" id="{65BF7339-697B-4BBB-8DEB-F46AB8D25ADC}"/>
              </a:ext>
            </a:extLst>
          </p:cNvPr>
          <p:cNvSpPr>
            <a:spLocks xmlns:a="http://schemas.openxmlformats.org/drawingml/2006/main" noGrp="1"/>
          </p:cNvSpPr>
          <p:nvPr/>
        </p:nvSpPr>
        <p:spPr>
          <a:xfrm xmlns:a="http://schemas.openxmlformats.org/drawingml/2006/main" flipH="0" flipV="0">
            <a:off x="609600" y="4953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5" name="">
            <a:extLst xmlns:a="http://schemas.openxmlformats.org/drawingml/2006/main">
              <a:ext uri="{FF2B5EF4-FFF2-40B4-BE49-F238E27FC236}">
                <a16:creationId xmlns:a16="http://schemas.microsoft.com/office/drawing/2014/main" id="{EFEFA354-F800-4351-BDD1-F2BE78EF38C4}"/>
              </a:ext>
            </a:extLst>
          </p:cNvPr>
          <p:cNvSpPr>
            <a:spLocks xmlns:a="http://schemas.openxmlformats.org/drawingml/2006/main" noGrp="1"/>
          </p:cNvSpPr>
          <p:nvPr/>
        </p:nvSpPr>
        <p:spPr>
          <a:xfrm xmlns:a="http://schemas.openxmlformats.org/drawingml/2006/main">
            <a:off x="609600" y="5076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4F7FA"/>
                </a:solidFill>
                <a:latin typeface="DejaVu Sans"/>
                <a:ea typeface="DejaVu Sans"/>
                <a:cs typeface="DejaVu Sans"/>
              </a:defRPr>
            </a:pPr>
            <a:r>
              <a:rPr sz="1725" b="0">
                <a:solidFill>
                  <a:srgbClr val="F4F7FA"/>
                </a:solidFill>
                <a:latin typeface="DejaVu Sans"/>
                <a:ea typeface="DejaVu Sans"/>
                <a:cs typeface="DejaVu Sans"/>
              </a:rPr>
              <a:t>Shared quality vocabulary exists. Product-specific semantic limits still need agreement.</a:t>
            </a:r>
          </a:p>
        </p:txBody>
      </p:sp>
      <p:sp>
        <p:nvSpPr>
          <p:cNvPr id="26" name="">
            <a:extLst xmlns:a="http://schemas.openxmlformats.org/drawingml/2006/main">
              <a:ext uri="{FF2B5EF4-FFF2-40B4-BE49-F238E27FC236}">
                <a16:creationId xmlns:a16="http://schemas.microsoft.com/office/drawing/2014/main" id="{C40A2AD2-4E37-43F1-8032-38C00241F034}"/>
              </a:ext>
            </a:extLst>
          </p:cNvPr>
          <p:cNvSpPr>
            <a:spLocks xmlns:a="http://schemas.openxmlformats.org/drawingml/2006/main" noGrp="1"/>
          </p:cNvSpPr>
          <p:nvPr/>
        </p:nvSpPr>
        <p:spPr>
          <a:xfrm xmlns:a="http://schemas.openxmlformats.org/drawingml/2006/main">
            <a:off x="609600" y="544830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DejaVu Sans"/>
                <a:ea typeface="DejaVu Sans"/>
                <a:cs typeface="DejaVu Sans"/>
              </a:defRPr>
            </a:pPr>
            <a:r>
              <a:rPr sz="1425" b="0">
                <a:solidFill>
                  <a:srgbClr val="ADB8C5"/>
                </a:solidFill>
                <a:latin typeface="DejaVu Sans"/>
                <a:ea typeface="DejaVu Sans"/>
                <a:cs typeface="DejaVu Sans"/>
              </a:rPr>
              <a:t>Starting points: ISO/IEC 25059 · NIST AI RMF · CheckList (ACL 2020)</a:t>
            </a:r>
          </a:p>
        </p:txBody>
      </p:sp>
      <p:sp>
        <p:nvSpPr>
          <p:cNvPr id="27" name="">
            <a:extLst xmlns:a="http://schemas.openxmlformats.org/drawingml/2006/main">
              <a:ext uri="{FF2B5EF4-FFF2-40B4-BE49-F238E27FC236}">
                <a16:creationId xmlns:a16="http://schemas.microsoft.com/office/drawing/2014/main" id="{87AA7249-FB66-4F55-9FB0-62A5B19E53B8}"/>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8" name="">
            <a:extLst xmlns:a="http://schemas.openxmlformats.org/drawingml/2006/main">
              <a:ext uri="{FF2B5EF4-FFF2-40B4-BE49-F238E27FC236}">
                <a16:creationId xmlns:a16="http://schemas.microsoft.com/office/drawing/2014/main" id="{63F34775-F88E-4E65-BD41-93BBE6A74191}"/>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4F7FA"/>
                </a:solidFill>
                <a:latin typeface="DejaVu Sans"/>
                <a:ea typeface="DejaVu Sans"/>
                <a:cs typeface="DejaVu Sans"/>
              </a:defRPr>
            </a:pPr>
            <a:r>
              <a:rPr sz="2025" b="1">
                <a:solidFill>
                  <a:srgbClr val="F4F7FA"/>
                </a:solidFill>
                <a:latin typeface="DejaVu Sans"/>
                <a:ea typeface="DejaVu Sans"/>
                <a:cs typeface="DejaVu Sans"/>
              </a:rPr>
              <a:t>Business scenarios → examples + counterexamples → acceptance rules</a:t>
            </a:r>
          </a:p>
        </p:txBody>
      </p:sp>
    </p:spTree>
    <p:extLst>
      <p:ext uri="{BB962C8B-B14F-4D97-AF65-F5344CB8AC3E}">
        <p14:creationId xmlns:p14="http://schemas.microsoft.com/office/powerpoint/2010/main" val="254617073"/>
      </p:ext>
    </p:extLst>
  </p:cSld>
</p:sld>
</file>

<file path=ppt/slides/slide10.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BB344E98-1F58-48C9-8C94-17CDEAF5C950}"/>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One Green Test Proves Almost Nothing</a:t>
            </a:r>
          </a:p>
        </p:txBody>
      </p:sp>
      <p:sp>
        <p:nvSpPr>
          <p:cNvPr id="2" name="">
            <a:extLst xmlns:a="http://schemas.openxmlformats.org/drawingml/2006/main">
              <a:ext uri="{FF2B5EF4-FFF2-40B4-BE49-F238E27FC236}">
                <a16:creationId xmlns:a16="http://schemas.microsoft.com/office/drawing/2014/main" id="{41830D39-06E3-4D25-B2DF-9A9100EE1CB0}"/>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A121FA16-AC48-4014-BCA0-7860AACFCFF0}"/>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10</a:t>
            </a:r>
          </a:p>
        </p:txBody>
      </p:sp>
      <p:sp>
        <p:nvSpPr>
          <p:cNvPr id="4" name="">
            <a:extLst xmlns:a="http://schemas.openxmlformats.org/drawingml/2006/main">
              <a:ext uri="{FF2B5EF4-FFF2-40B4-BE49-F238E27FC236}">
                <a16:creationId xmlns:a16="http://schemas.microsoft.com/office/drawing/2014/main" id="{CCC030B0-D148-4789-9EE1-251CE3BF90A7}"/>
              </a:ext>
            </a:extLst>
          </p:cNvPr>
          <p:cNvSpPr>
            <a:spLocks xmlns:a="http://schemas.openxmlformats.org/drawingml/2006/main" noGrp="1"/>
          </p:cNvSpPr>
          <p:nvPr/>
        </p:nvSpPr>
        <p:spPr>
          <a:xfrm xmlns:a="http://schemas.openxmlformats.org/drawingml/2006/main">
            <a:off x="609600" y="17526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DejaVu Sans"/>
                <a:ea typeface="DejaVu Sans"/>
                <a:cs typeface="DejaVu Sans"/>
              </a:defRPr>
            </a:pPr>
            <a:r>
              <a:rPr sz="1650" b="1">
                <a:solidFill>
                  <a:srgbClr val="28C7F7"/>
                </a:solidFill>
                <a:latin typeface="DejaVu Sans"/>
                <a:ea typeface="DejaVu Sans"/>
                <a:cs typeface="DejaVu Sans"/>
              </a:rPr>
              <a:t>QA + DEVELOPERS · estimate behavior, uncertainty and consequences</a:t>
            </a:r>
          </a:p>
        </p:txBody>
      </p:sp>
      <p:sp>
        <p:nvSpPr>
          <p:cNvPr id="5" name="">
            <a:extLst xmlns:a="http://schemas.openxmlformats.org/drawingml/2006/main">
              <a:ext uri="{FF2B5EF4-FFF2-40B4-BE49-F238E27FC236}">
                <a16:creationId xmlns:a16="http://schemas.microsoft.com/office/drawing/2014/main" id="{0F11A703-3562-4A4B-83B1-EDD9C0AE386D}"/>
              </a:ext>
            </a:extLst>
          </p:cNvPr>
          <p:cNvSpPr>
            <a:spLocks xmlns:a="http://schemas.openxmlformats.org/drawingml/2006/main" noGrp="1"/>
          </p:cNvSpPr>
          <p:nvPr/>
        </p:nvSpPr>
        <p:spPr>
          <a:xfrm xmlns:a="http://schemas.openxmlformats.org/drawingml/2006/main" flipH="0" flipV="0">
            <a:off x="5934075" y="2209800"/>
            <a:ext cx="0" cy="2009775"/>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6" name="">
            <a:extLst xmlns:a="http://schemas.openxmlformats.org/drawingml/2006/main">
              <a:ext uri="{FF2B5EF4-FFF2-40B4-BE49-F238E27FC236}">
                <a16:creationId xmlns:a16="http://schemas.microsoft.com/office/drawing/2014/main" id="{8D88DCA5-6C36-4DC5-8742-5E76F66F3DF8}"/>
              </a:ext>
            </a:extLst>
          </p:cNvPr>
          <p:cNvSpPr>
            <a:spLocks xmlns:a="http://schemas.openxmlformats.org/drawingml/2006/main" noGrp="1"/>
          </p:cNvSpPr>
          <p:nvPr/>
        </p:nvSpPr>
        <p:spPr>
          <a:xfrm xmlns:a="http://schemas.openxmlformats.org/drawingml/2006/main">
            <a:off x="609600" y="2228850"/>
            <a:ext cx="50482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DejaVu Sans"/>
                <a:ea typeface="DejaVu Sans"/>
                <a:cs typeface="DejaVu Sans"/>
              </a:defRPr>
            </a:pPr>
            <a:r>
              <a:rPr sz="1650" b="1">
                <a:solidFill>
                  <a:srgbClr val="28C7F7"/>
                </a:solidFill>
                <a:latin typeface="DejaVu Sans"/>
                <a:ea typeface="DejaVu Sans"/>
                <a:cs typeface="DejaVu Sans"/>
              </a:rPr>
              <a:t>HOW OFTEN?</a:t>
            </a:r>
          </a:p>
        </p:txBody>
      </p:sp>
      <p:sp>
        <p:nvSpPr>
          <p:cNvPr id="7" name="">
            <a:extLst xmlns:a="http://schemas.openxmlformats.org/drawingml/2006/main">
              <a:ext uri="{FF2B5EF4-FFF2-40B4-BE49-F238E27FC236}">
                <a16:creationId xmlns:a16="http://schemas.microsoft.com/office/drawing/2014/main" id="{065D5202-B39F-4017-A2BE-7A40596A1F88}"/>
              </a:ext>
            </a:extLst>
          </p:cNvPr>
          <p:cNvSpPr>
            <a:spLocks xmlns:a="http://schemas.openxmlformats.org/drawingml/2006/main" noGrp="1"/>
          </p:cNvSpPr>
          <p:nvPr/>
        </p:nvSpPr>
        <p:spPr>
          <a:xfrm xmlns:a="http://schemas.openxmlformats.org/drawingml/2006/main">
            <a:off x="609600" y="2619375"/>
            <a:ext cx="5048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DejaVu Sans"/>
                <a:ea typeface="DejaVu Sans"/>
                <a:cs typeface="DejaVu Sans"/>
              </a:defRPr>
            </a:pPr>
            <a:r>
              <a:rPr sz="3225" b="1">
                <a:solidFill>
                  <a:srgbClr val="F4F7FA"/>
                </a:solidFill>
                <a:latin typeface="DejaVu Sans"/>
                <a:ea typeface="DejaVu Sans"/>
                <a:cs typeface="DejaVu Sans"/>
              </a:rPr>
              <a:t>4 / 200 = 2%</a:t>
            </a:r>
          </a:p>
        </p:txBody>
      </p:sp>
      <p:sp>
        <p:nvSpPr>
          <p:cNvPr id="8" name="">
            <a:extLst xmlns:a="http://schemas.openxmlformats.org/drawingml/2006/main">
              <a:ext uri="{FF2B5EF4-FFF2-40B4-BE49-F238E27FC236}">
                <a16:creationId xmlns:a16="http://schemas.microsoft.com/office/drawing/2014/main" id="{37108CD8-DB9D-4219-BF5A-370EB5C7A5CB}"/>
              </a:ext>
            </a:extLst>
          </p:cNvPr>
          <p:cNvSpPr>
            <a:spLocks xmlns:a="http://schemas.openxmlformats.org/drawingml/2006/main" noGrp="1"/>
          </p:cNvSpPr>
          <p:nvPr/>
        </p:nvSpPr>
        <p:spPr>
          <a:xfrm xmlns:a="http://schemas.openxmlformats.org/drawingml/2006/main">
            <a:off x="609600" y="3181350"/>
            <a:ext cx="5048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DejaVu Sans"/>
                <a:ea typeface="DejaVu Sans"/>
                <a:cs typeface="DejaVu Sans"/>
              </a:defRPr>
            </a:pPr>
            <a:r>
              <a:rPr sz="1575" b="0">
                <a:solidFill>
                  <a:srgbClr val="ADB8C5"/>
                </a:solidFill>
                <a:latin typeface="DejaVu Sans"/>
                <a:ea typeface="DejaVu Sans"/>
                <a:cs typeface="DejaVu Sans"/>
              </a:rPr>
              <a:t>Observed unacceptable outputs</a:t>
            </a:r>
          </a:p>
        </p:txBody>
      </p:sp>
      <p:sp>
        <p:nvSpPr>
          <p:cNvPr id="9" name="">
            <a:extLst xmlns:a="http://schemas.openxmlformats.org/drawingml/2006/main">
              <a:ext uri="{FF2B5EF4-FFF2-40B4-BE49-F238E27FC236}">
                <a16:creationId xmlns:a16="http://schemas.microsoft.com/office/drawing/2014/main" id="{D2A9B6B6-A2F5-4810-80CA-44FA6BBC4639}"/>
              </a:ext>
            </a:extLst>
          </p:cNvPr>
          <p:cNvSpPr>
            <a:spLocks xmlns:a="http://schemas.openxmlformats.org/drawingml/2006/main" noGrp="1"/>
          </p:cNvSpPr>
          <p:nvPr/>
        </p:nvSpPr>
        <p:spPr>
          <a:xfrm xmlns:a="http://schemas.openxmlformats.org/drawingml/2006/main">
            <a:off x="609600" y="3562350"/>
            <a:ext cx="50482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28C7F7"/>
                </a:solidFill>
                <a:latin typeface="DejaVu Sans"/>
                <a:ea typeface="DejaVu Sans"/>
                <a:cs typeface="DejaVu Sans"/>
              </a:defRPr>
            </a:pPr>
            <a:r>
              <a:rPr sz="1725" b="0">
                <a:solidFill>
                  <a:srgbClr val="28C7F7"/>
                </a:solidFill>
                <a:latin typeface="DejaVu Sans"/>
                <a:ea typeface="DejaVu Sans"/>
                <a:cs typeface="DejaVu Sans"/>
              </a:rPr>
              <a:t>95% Wilson interval ≈ 0.8%–5.0%</a:t>
            </a:r>
          </a:p>
        </p:txBody>
      </p:sp>
      <p:sp>
        <p:nvSpPr>
          <p:cNvPr id="10" name="">
            <a:extLst xmlns:a="http://schemas.openxmlformats.org/drawingml/2006/main">
              <a:ext uri="{FF2B5EF4-FFF2-40B4-BE49-F238E27FC236}">
                <a16:creationId xmlns:a16="http://schemas.microsoft.com/office/drawing/2014/main" id="{86CAAF69-19D1-424B-9235-2D9D6069C03C}"/>
              </a:ext>
            </a:extLst>
          </p:cNvPr>
          <p:cNvSpPr>
            <a:spLocks xmlns:a="http://schemas.openxmlformats.org/drawingml/2006/main" noGrp="1"/>
          </p:cNvSpPr>
          <p:nvPr/>
        </p:nvSpPr>
        <p:spPr>
          <a:xfrm xmlns:a="http://schemas.openxmlformats.org/drawingml/2006/main" flipH="0" flipV="0">
            <a:off x="895350" y="4038600"/>
            <a:ext cx="43815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1" name="">
            <a:extLst xmlns:a="http://schemas.openxmlformats.org/drawingml/2006/main">
              <a:ext uri="{FF2B5EF4-FFF2-40B4-BE49-F238E27FC236}">
                <a16:creationId xmlns:a16="http://schemas.microsoft.com/office/drawing/2014/main" id="{6EB08EB2-E896-4015-9E7E-BFA25F9D4FC0}"/>
              </a:ext>
            </a:extLst>
          </p:cNvPr>
          <p:cNvSpPr>
            <a:spLocks xmlns:a="http://schemas.openxmlformats.org/drawingml/2006/main" noGrp="1"/>
          </p:cNvSpPr>
          <p:nvPr/>
        </p:nvSpPr>
        <p:spPr>
          <a:xfrm xmlns:a="http://schemas.openxmlformats.org/drawingml/2006/main" flipH="0" flipV="0">
            <a:off x="1465268" y="4038600"/>
            <a:ext cx="3102296" cy="0"/>
          </a:xfrm>
          <a:prstGeom xmlns:a="http://schemas.openxmlformats.org/drawingml/2006/main" prst="line">
            <a:avLst/>
          </a:prstGeom>
          <a:noFill xmlns:a="http://schemas.openxmlformats.org/drawingml/2006/main"/>
          <a:ln xmlns:a="http://schemas.openxmlformats.org/drawingml/2006/main" w="38100">
            <a:solidFill>
              <a:srgbClr val="28C7F7"/>
            </a:solidFill>
            <a:prstDash val="solid"/>
          </a:ln>
        </p:spPr>
      </p:sp>
      <p:sp>
        <p:nvSpPr>
          <p:cNvPr id="12" name="">
            <a:extLst xmlns:a="http://schemas.openxmlformats.org/drawingml/2006/main">
              <a:ext uri="{FF2B5EF4-FFF2-40B4-BE49-F238E27FC236}">
                <a16:creationId xmlns:a16="http://schemas.microsoft.com/office/drawing/2014/main" id="{08ED7D7B-45F8-497E-B3C6-C7DC905518D6}"/>
              </a:ext>
            </a:extLst>
          </p:cNvPr>
          <p:cNvSpPr>
            <a:spLocks xmlns:a="http://schemas.openxmlformats.org/drawingml/2006/main" noGrp="1"/>
          </p:cNvSpPr>
          <p:nvPr/>
        </p:nvSpPr>
        <p:spPr>
          <a:xfrm xmlns:a="http://schemas.openxmlformats.org/drawingml/2006/main" flipH="0" flipV="0">
            <a:off x="1465268" y="3971925"/>
            <a:ext cx="0" cy="133350"/>
          </a:xfrm>
          <a:prstGeom xmlns:a="http://schemas.openxmlformats.org/drawingml/2006/main" prst="line">
            <a:avLst/>
          </a:prstGeom>
          <a:noFill xmlns:a="http://schemas.openxmlformats.org/drawingml/2006/main"/>
          <a:ln xmlns:a="http://schemas.openxmlformats.org/drawingml/2006/main" w="28575">
            <a:solidFill>
              <a:srgbClr val="28C7F7"/>
            </a:solidFill>
            <a:prstDash val="solid"/>
          </a:ln>
        </p:spPr>
      </p:sp>
      <p:sp>
        <p:nvSpPr>
          <p:cNvPr id="13" name="">
            <a:extLst xmlns:a="http://schemas.openxmlformats.org/drawingml/2006/main">
              <a:ext uri="{FF2B5EF4-FFF2-40B4-BE49-F238E27FC236}">
                <a16:creationId xmlns:a16="http://schemas.microsoft.com/office/drawing/2014/main" id="{DF928FB6-FF3F-4820-A625-01A5A3550F06}"/>
              </a:ext>
            </a:extLst>
          </p:cNvPr>
          <p:cNvSpPr>
            <a:spLocks xmlns:a="http://schemas.openxmlformats.org/drawingml/2006/main" noGrp="1"/>
          </p:cNvSpPr>
          <p:nvPr/>
        </p:nvSpPr>
        <p:spPr>
          <a:xfrm xmlns:a="http://schemas.openxmlformats.org/drawingml/2006/main" flipH="0" flipV="0">
            <a:off x="4567565" y="3971925"/>
            <a:ext cx="0" cy="133350"/>
          </a:xfrm>
          <a:prstGeom xmlns:a="http://schemas.openxmlformats.org/drawingml/2006/main" prst="line">
            <a:avLst/>
          </a:prstGeom>
          <a:noFill xmlns:a="http://schemas.openxmlformats.org/drawingml/2006/main"/>
          <a:ln xmlns:a="http://schemas.openxmlformats.org/drawingml/2006/main" w="28575">
            <a:solidFill>
              <a:srgbClr val="28C7F7"/>
            </a:solidFill>
            <a:prstDash val="solid"/>
          </a:ln>
        </p:spPr>
      </p:sp>
      <p:sp>
        <p:nvSpPr>
          <p:cNvPr id="14" name="">
            <a:extLst xmlns:a="http://schemas.openxmlformats.org/drawingml/2006/main">
              <a:ext uri="{FF2B5EF4-FFF2-40B4-BE49-F238E27FC236}">
                <a16:creationId xmlns:a16="http://schemas.microsoft.com/office/drawing/2014/main" id="{97FD3CA4-9BDC-4AAF-8BA2-0AAB9956D6B2}"/>
              </a:ext>
            </a:extLst>
          </p:cNvPr>
          <p:cNvSpPr>
            <a:spLocks xmlns:a="http://schemas.openxmlformats.org/drawingml/2006/main" noGrp="1"/>
          </p:cNvSpPr>
          <p:nvPr/>
        </p:nvSpPr>
        <p:spPr>
          <a:xfrm xmlns:a="http://schemas.openxmlformats.org/drawingml/2006/main">
            <a:off x="2308225" y="3990975"/>
            <a:ext cx="95250" cy="95250"/>
          </a:xfrm>
          <a:prstGeom xmlns:a="http://schemas.openxmlformats.org/drawingml/2006/main" prst="rect">
            <a:avLst/>
          </a:prstGeom>
          <a:solidFill xmlns:a="http://schemas.openxmlformats.org/drawingml/2006/main">
            <a:srgbClr val="F4F7FA"/>
          </a:solidFill>
          <a:ln xmlns:a="http://schemas.openxmlformats.org/drawingml/2006/main" w="14288">
            <a:solidFill>
              <a:srgbClr val="F4F7FA"/>
            </a:solidFill>
            <a:prstDash val="solid"/>
          </a:ln>
        </p:spPr>
      </p:sp>
      <p:sp>
        <p:nvSpPr>
          <p:cNvPr id="15" name="">
            <a:extLst xmlns:a="http://schemas.openxmlformats.org/drawingml/2006/main">
              <a:ext uri="{FF2B5EF4-FFF2-40B4-BE49-F238E27FC236}">
                <a16:creationId xmlns:a16="http://schemas.microsoft.com/office/drawing/2014/main" id="{73770C8D-213F-4F4F-BA37-10250BBE234F}"/>
              </a:ext>
            </a:extLst>
          </p:cNvPr>
          <p:cNvSpPr>
            <a:spLocks xmlns:a="http://schemas.openxmlformats.org/drawingml/2006/main" noGrp="1"/>
          </p:cNvSpPr>
          <p:nvPr/>
        </p:nvSpPr>
        <p:spPr>
          <a:xfrm xmlns:a="http://schemas.openxmlformats.org/drawingml/2006/main">
            <a:off x="714375" y="41719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DejaVu Sans"/>
                <a:ea typeface="DejaVu Sans"/>
                <a:cs typeface="DejaVu Sans"/>
              </a:defRPr>
            </a:pPr>
            <a:r>
              <a:rPr sz="1275" b="0">
                <a:solidFill>
                  <a:srgbClr val="ADB8C5"/>
                </a:solidFill>
                <a:latin typeface="DejaVu Sans"/>
                <a:ea typeface="DejaVu Sans"/>
                <a:cs typeface="DejaVu Sans"/>
              </a:rPr>
              <a:t>0%</a:t>
            </a:r>
          </a:p>
        </p:txBody>
      </p:sp>
      <p:sp>
        <p:nvSpPr>
          <p:cNvPr id="16" name="">
            <a:extLst xmlns:a="http://schemas.openxmlformats.org/drawingml/2006/main">
              <a:ext uri="{FF2B5EF4-FFF2-40B4-BE49-F238E27FC236}">
                <a16:creationId xmlns:a16="http://schemas.microsoft.com/office/drawing/2014/main" id="{B31346CD-C90B-49A2-BA30-A3965B1002CD}"/>
              </a:ext>
            </a:extLst>
          </p:cNvPr>
          <p:cNvSpPr>
            <a:spLocks xmlns:a="http://schemas.openxmlformats.org/drawingml/2006/main" noGrp="1"/>
          </p:cNvSpPr>
          <p:nvPr/>
        </p:nvSpPr>
        <p:spPr>
          <a:xfrm xmlns:a="http://schemas.openxmlformats.org/drawingml/2006/main">
            <a:off x="2174875" y="41719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DejaVu Sans"/>
                <a:ea typeface="DejaVu Sans"/>
                <a:cs typeface="DejaVu Sans"/>
              </a:defRPr>
            </a:pPr>
            <a:r>
              <a:rPr sz="1275" b="0">
                <a:solidFill>
                  <a:srgbClr val="ADB8C5"/>
                </a:solidFill>
                <a:latin typeface="DejaVu Sans"/>
                <a:ea typeface="DejaVu Sans"/>
                <a:cs typeface="DejaVu Sans"/>
              </a:rPr>
              <a:t>2%</a:t>
            </a:r>
          </a:p>
        </p:txBody>
      </p:sp>
      <p:sp>
        <p:nvSpPr>
          <p:cNvPr id="17" name="">
            <a:extLst xmlns:a="http://schemas.openxmlformats.org/drawingml/2006/main">
              <a:ext uri="{FF2B5EF4-FFF2-40B4-BE49-F238E27FC236}">
                <a16:creationId xmlns:a16="http://schemas.microsoft.com/office/drawing/2014/main" id="{DE94C438-08AA-48A0-A43F-B967DBE339AA}"/>
              </a:ext>
            </a:extLst>
          </p:cNvPr>
          <p:cNvSpPr>
            <a:spLocks xmlns:a="http://schemas.openxmlformats.org/drawingml/2006/main" noGrp="1"/>
          </p:cNvSpPr>
          <p:nvPr/>
        </p:nvSpPr>
        <p:spPr>
          <a:xfrm xmlns:a="http://schemas.openxmlformats.org/drawingml/2006/main">
            <a:off x="3635375" y="41719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DejaVu Sans"/>
                <a:ea typeface="DejaVu Sans"/>
                <a:cs typeface="DejaVu Sans"/>
              </a:defRPr>
            </a:pPr>
            <a:r>
              <a:rPr sz="1275" b="0">
                <a:solidFill>
                  <a:srgbClr val="ADB8C5"/>
                </a:solidFill>
                <a:latin typeface="DejaVu Sans"/>
                <a:ea typeface="DejaVu Sans"/>
                <a:cs typeface="DejaVu Sans"/>
              </a:rPr>
              <a:t>4%</a:t>
            </a:r>
          </a:p>
        </p:txBody>
      </p:sp>
      <p:sp>
        <p:nvSpPr>
          <p:cNvPr id="18" name="">
            <a:extLst xmlns:a="http://schemas.openxmlformats.org/drawingml/2006/main">
              <a:ext uri="{FF2B5EF4-FFF2-40B4-BE49-F238E27FC236}">
                <a16:creationId xmlns:a16="http://schemas.microsoft.com/office/drawing/2014/main" id="{5AAEC899-D503-45C9-84ED-ADA0ABF718ED}"/>
              </a:ext>
            </a:extLst>
          </p:cNvPr>
          <p:cNvSpPr>
            <a:spLocks xmlns:a="http://schemas.openxmlformats.org/drawingml/2006/main" noGrp="1"/>
          </p:cNvSpPr>
          <p:nvPr/>
        </p:nvSpPr>
        <p:spPr>
          <a:xfrm xmlns:a="http://schemas.openxmlformats.org/drawingml/2006/main">
            <a:off x="5095875" y="4171950"/>
            <a:ext cx="381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DejaVu Sans"/>
                <a:ea typeface="DejaVu Sans"/>
                <a:cs typeface="DejaVu Sans"/>
              </a:defRPr>
            </a:pPr>
            <a:r>
              <a:rPr sz="1275" b="0">
                <a:solidFill>
                  <a:srgbClr val="ADB8C5"/>
                </a:solidFill>
                <a:latin typeface="DejaVu Sans"/>
                <a:ea typeface="DejaVu Sans"/>
                <a:cs typeface="DejaVu Sans"/>
              </a:rPr>
              <a:t>6%</a:t>
            </a:r>
          </a:p>
        </p:txBody>
      </p:sp>
      <p:sp>
        <p:nvSpPr>
          <p:cNvPr id="19" name="">
            <a:extLst xmlns:a="http://schemas.openxmlformats.org/drawingml/2006/main">
              <a:ext uri="{FF2B5EF4-FFF2-40B4-BE49-F238E27FC236}">
                <a16:creationId xmlns:a16="http://schemas.microsoft.com/office/drawing/2014/main" id="{4C891F55-F3BB-4BC8-8F66-A42CC0AD8622}"/>
              </a:ext>
            </a:extLst>
          </p:cNvPr>
          <p:cNvSpPr>
            <a:spLocks xmlns:a="http://schemas.openxmlformats.org/drawingml/2006/main" noGrp="1"/>
          </p:cNvSpPr>
          <p:nvPr/>
        </p:nvSpPr>
        <p:spPr>
          <a:xfrm xmlns:a="http://schemas.openxmlformats.org/drawingml/2006/main">
            <a:off x="6286500" y="2228850"/>
            <a:ext cx="5295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F5B61C"/>
                </a:solidFill>
                <a:latin typeface="DejaVu Sans"/>
                <a:ea typeface="DejaVu Sans"/>
                <a:cs typeface="DejaVu Sans"/>
              </a:defRPr>
            </a:pPr>
            <a:r>
              <a:rPr sz="1650" b="1">
                <a:solidFill>
                  <a:srgbClr val="F5B61C"/>
                </a:solidFill>
                <a:latin typeface="DejaVu Sans"/>
                <a:ea typeface="DejaVu Sans"/>
                <a:cs typeface="DejaVu Sans"/>
              </a:rPr>
              <a:t>HOW HARMFUL?</a:t>
            </a:r>
          </a:p>
        </p:txBody>
      </p:sp>
      <p:sp>
        <p:nvSpPr>
          <p:cNvPr id="20" name="">
            <a:extLst xmlns:a="http://schemas.openxmlformats.org/drawingml/2006/main">
              <a:ext uri="{FF2B5EF4-FFF2-40B4-BE49-F238E27FC236}">
                <a16:creationId xmlns:a16="http://schemas.microsoft.com/office/drawing/2014/main" id="{37C7E754-A7DB-410F-AC4F-EE39B2289F3B}"/>
              </a:ext>
            </a:extLst>
          </p:cNvPr>
          <p:cNvSpPr>
            <a:spLocks xmlns:a="http://schemas.openxmlformats.org/drawingml/2006/main" noGrp="1"/>
          </p:cNvSpPr>
          <p:nvPr/>
        </p:nvSpPr>
        <p:spPr>
          <a:xfrm xmlns:a="http://schemas.openxmlformats.org/drawingml/2006/main">
            <a:off x="6286500" y="2676525"/>
            <a:ext cx="5295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F4F7FA"/>
                </a:solidFill>
                <a:latin typeface="DejaVu Sans"/>
                <a:ea typeface="DejaVu Sans"/>
                <a:cs typeface="DejaVu Sans"/>
              </a:defRPr>
            </a:pPr>
            <a:r>
              <a:rPr sz="1875" b="0">
                <a:solidFill>
                  <a:srgbClr val="F4F7FA"/>
                </a:solidFill>
                <a:latin typeface="DejaVu Sans"/>
                <a:ea typeface="DejaVu Sans"/>
                <a:cs typeface="DejaVu Sans"/>
              </a:rPr>
              <a:t>3 incorrect instructions → rework</a:t>
            </a:r>
          </a:p>
        </p:txBody>
      </p:sp>
      <p:sp>
        <p:nvSpPr>
          <p:cNvPr id="21" name="">
            <a:extLst xmlns:a="http://schemas.openxmlformats.org/drawingml/2006/main">
              <a:ext uri="{FF2B5EF4-FFF2-40B4-BE49-F238E27FC236}">
                <a16:creationId xmlns:a16="http://schemas.microsoft.com/office/drawing/2014/main" id="{A403A149-B6A2-48E3-BC4B-311B00A476EA}"/>
              </a:ext>
            </a:extLst>
          </p:cNvPr>
          <p:cNvSpPr>
            <a:spLocks xmlns:a="http://schemas.openxmlformats.org/drawingml/2006/main" noGrp="1"/>
          </p:cNvSpPr>
          <p:nvPr/>
        </p:nvSpPr>
        <p:spPr>
          <a:xfrm xmlns:a="http://schemas.openxmlformats.org/drawingml/2006/main">
            <a:off x="6286500" y="3152775"/>
            <a:ext cx="5295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FF6B75"/>
                </a:solidFill>
                <a:latin typeface="DejaVu Sans"/>
                <a:ea typeface="DejaVu Sans"/>
                <a:cs typeface="DejaVu Sans"/>
              </a:defRPr>
            </a:pPr>
            <a:r>
              <a:rPr sz="1875" b="0">
                <a:solidFill>
                  <a:srgbClr val="FF6B75"/>
                </a:solidFill>
                <a:latin typeface="DejaVu Sans"/>
                <a:ea typeface="DejaVu Sans"/>
                <a:cs typeface="DejaVu Sans"/>
              </a:rPr>
              <a:t>1 privacy leak → critical breach</a:t>
            </a:r>
          </a:p>
        </p:txBody>
      </p:sp>
      <p:sp>
        <p:nvSpPr>
          <p:cNvPr id="22" name="">
            <a:extLst xmlns:a="http://schemas.openxmlformats.org/drawingml/2006/main">
              <a:ext uri="{FF2B5EF4-FFF2-40B4-BE49-F238E27FC236}">
                <a16:creationId xmlns:a16="http://schemas.microsoft.com/office/drawing/2014/main" id="{1D7101D9-7086-4166-B1B2-7300DC8D7C1F}"/>
              </a:ext>
            </a:extLst>
          </p:cNvPr>
          <p:cNvSpPr>
            <a:spLocks xmlns:a="http://schemas.openxmlformats.org/drawingml/2006/main" noGrp="1"/>
          </p:cNvSpPr>
          <p:nvPr/>
        </p:nvSpPr>
        <p:spPr>
          <a:xfrm xmlns:a="http://schemas.openxmlformats.org/drawingml/2006/main">
            <a:off x="6286500" y="3752850"/>
            <a:ext cx="5295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F6B75"/>
                </a:solidFill>
                <a:latin typeface="DejaVu Sans"/>
                <a:ea typeface="DejaVu Sans"/>
                <a:cs typeface="DejaVu Sans"/>
              </a:defRPr>
            </a:pPr>
            <a:r>
              <a:rPr sz="2025" b="1">
                <a:solidFill>
                  <a:srgbClr val="FF6B75"/>
                </a:solidFill>
                <a:latin typeface="DejaVu Sans"/>
                <a:ea typeface="DejaVu Sans"/>
                <a:cs typeface="DejaVu Sans"/>
              </a:rPr>
              <a:t>Critical breach → BLOCK RELEASE</a:t>
            </a:r>
          </a:p>
        </p:txBody>
      </p:sp>
      <p:sp>
        <p:nvSpPr>
          <p:cNvPr id="23" name="">
            <a:extLst xmlns:a="http://schemas.openxmlformats.org/drawingml/2006/main">
              <a:ext uri="{FF2B5EF4-FFF2-40B4-BE49-F238E27FC236}">
                <a16:creationId xmlns:a16="http://schemas.microsoft.com/office/drawing/2014/main" id="{CDBD8DA2-6EB1-4A64-8F0A-3856D957352D}"/>
              </a:ext>
            </a:extLst>
          </p:cNvPr>
          <p:cNvSpPr>
            <a:spLocks xmlns:a="http://schemas.openxmlformats.org/drawingml/2006/main" noGrp="1"/>
          </p:cNvSpPr>
          <p:nvPr/>
        </p:nvSpPr>
        <p:spPr>
          <a:xfrm xmlns:a="http://schemas.openxmlformats.org/drawingml/2006/main">
            <a:off x="609600" y="452437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DejaVu Sans"/>
                <a:ea typeface="DejaVu Sans"/>
                <a:cs typeface="DejaVu Sans"/>
              </a:defRPr>
            </a:pPr>
            <a:r>
              <a:rPr sz="1350" b="0">
                <a:solidFill>
                  <a:srgbClr val="ADB8C5"/>
                </a:solidFill>
                <a:latin typeface="DejaVu Sans"/>
                <a:ea typeface="DejaVu Sans"/>
                <a:cs typeface="DejaVu Sans"/>
              </a:rPr>
              <a:t>Illustrative independent sample; 196 / 200 acceptable. No production guarantee.</a:t>
            </a:r>
          </a:p>
        </p:txBody>
      </p:sp>
      <p:sp>
        <p:nvSpPr>
          <p:cNvPr id="24" name="">
            <a:extLst xmlns:a="http://schemas.openxmlformats.org/drawingml/2006/main">
              <a:ext uri="{FF2B5EF4-FFF2-40B4-BE49-F238E27FC236}">
                <a16:creationId xmlns:a16="http://schemas.microsoft.com/office/drawing/2014/main" id="{77512A90-1163-48BC-B731-BE5600F9F427}"/>
              </a:ext>
            </a:extLst>
          </p:cNvPr>
          <p:cNvSpPr>
            <a:spLocks xmlns:a="http://schemas.openxmlformats.org/drawingml/2006/main" noGrp="1"/>
          </p:cNvSpPr>
          <p:nvPr/>
        </p:nvSpPr>
        <p:spPr>
          <a:xfrm xmlns:a="http://schemas.openxmlformats.org/drawingml/2006/main">
            <a:off x="609600" y="48768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F4F7FA"/>
                </a:solidFill>
                <a:latin typeface="DejaVu Sans"/>
                <a:ea typeface="DejaVu Sans"/>
                <a:cs typeface="DejaVu Sans"/>
              </a:defRPr>
            </a:pPr>
            <a:r>
              <a:rPr sz="1650" b="1">
                <a:solidFill>
                  <a:srgbClr val="F4F7FA"/>
                </a:solidFill>
                <a:latin typeface="DejaVu Sans"/>
                <a:ea typeface="DejaVu Sans"/>
                <a:cs typeface="DejaVu Sans"/>
              </a:rPr>
              <a:t>Ask the business: “How much rework is tolerable? Which harm must be prevented?”</a:t>
            </a:r>
          </a:p>
        </p:txBody>
      </p:sp>
      <p:sp>
        <p:nvSpPr>
          <p:cNvPr id="25" name="">
            <a:extLst xmlns:a="http://schemas.openxmlformats.org/drawingml/2006/main">
              <a:ext uri="{FF2B5EF4-FFF2-40B4-BE49-F238E27FC236}">
                <a16:creationId xmlns:a16="http://schemas.microsoft.com/office/drawing/2014/main" id="{978EEE14-5BFD-4F6E-826C-7A3DE71650F8}"/>
              </a:ext>
            </a:extLst>
          </p:cNvPr>
          <p:cNvSpPr>
            <a:spLocks xmlns:a="http://schemas.openxmlformats.org/drawingml/2006/main" noGrp="1"/>
          </p:cNvSpPr>
          <p:nvPr/>
        </p:nvSpPr>
        <p:spPr>
          <a:xfrm xmlns:a="http://schemas.openxmlformats.org/drawingml/2006/main">
            <a:off x="609600" y="5229225"/>
            <a:ext cx="352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28C7F7"/>
                </a:solidFill>
                <a:latin typeface="DejaVu Sans"/>
                <a:ea typeface="DejaVu Sans"/>
                <a:cs typeface="DejaVu Sans"/>
              </a:defRPr>
            </a:pPr>
            <a:r>
              <a:rPr sz="1275" b="1">
                <a:solidFill>
                  <a:srgbClr val="28C7F7"/>
                </a:solidFill>
                <a:latin typeface="DejaVu Sans"/>
                <a:ea typeface="DejaVu Sans"/>
                <a:cs typeface="DejaVu Sans"/>
              </a:rPr>
              <a:t>PRODUCT + BA</a:t>
            </a:r>
          </a:p>
        </p:txBody>
      </p:sp>
      <p:sp>
        <p:nvSpPr>
          <p:cNvPr id="26" name="">
            <a:extLst xmlns:a="http://schemas.openxmlformats.org/drawingml/2006/main">
              <a:ext uri="{FF2B5EF4-FFF2-40B4-BE49-F238E27FC236}">
                <a16:creationId xmlns:a16="http://schemas.microsoft.com/office/drawing/2014/main" id="{E133F901-F30C-4073-8D36-AE09189E033D}"/>
              </a:ext>
            </a:extLst>
          </p:cNvPr>
          <p:cNvSpPr>
            <a:spLocks xmlns:a="http://schemas.openxmlformats.org/drawingml/2006/main" noGrp="1"/>
          </p:cNvSpPr>
          <p:nvPr/>
        </p:nvSpPr>
        <p:spPr>
          <a:xfrm xmlns:a="http://schemas.openxmlformats.org/drawingml/2006/main">
            <a:off x="609600" y="5467350"/>
            <a:ext cx="3524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DejaVu Sans"/>
                <a:ea typeface="DejaVu Sans"/>
                <a:cs typeface="DejaVu Sans"/>
              </a:defRPr>
            </a:pPr>
            <a:r>
              <a:rPr sz="1350" b="0">
                <a:solidFill>
                  <a:srgbClr val="ADB8C5"/>
                </a:solidFill>
                <a:latin typeface="DejaVu Sans"/>
                <a:ea typeface="DejaVu Sans"/>
                <a:cs typeface="DejaVu Sans"/>
              </a:rPr>
              <a:t>Elicit impact; agree acceptance</a:t>
            </a:r>
          </a:p>
        </p:txBody>
      </p:sp>
      <p:sp>
        <p:nvSpPr>
          <p:cNvPr id="27" name="">
            <a:extLst xmlns:a="http://schemas.openxmlformats.org/drawingml/2006/main">
              <a:ext uri="{FF2B5EF4-FFF2-40B4-BE49-F238E27FC236}">
                <a16:creationId xmlns:a16="http://schemas.microsoft.com/office/drawing/2014/main" id="{59A001B3-5A2D-4B45-AD88-E7E2EFFBE15D}"/>
              </a:ext>
            </a:extLst>
          </p:cNvPr>
          <p:cNvSpPr>
            <a:spLocks xmlns:a="http://schemas.openxmlformats.org/drawingml/2006/main" noGrp="1"/>
          </p:cNvSpPr>
          <p:nvPr/>
        </p:nvSpPr>
        <p:spPr>
          <a:xfrm xmlns:a="http://schemas.openxmlformats.org/drawingml/2006/main">
            <a:off x="4391025" y="5229225"/>
            <a:ext cx="352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28C7F7"/>
                </a:solidFill>
                <a:latin typeface="DejaVu Sans"/>
                <a:ea typeface="DejaVu Sans"/>
                <a:cs typeface="DejaVu Sans"/>
              </a:defRPr>
            </a:pPr>
            <a:r>
              <a:rPr sz="1275" b="1">
                <a:solidFill>
                  <a:srgbClr val="28C7F7"/>
                </a:solidFill>
                <a:latin typeface="DejaVu Sans"/>
                <a:ea typeface="DejaVu Sans"/>
                <a:cs typeface="DejaVu Sans"/>
              </a:rPr>
              <a:t>QA + DEVELOPERS</a:t>
            </a:r>
          </a:p>
        </p:txBody>
      </p:sp>
      <p:sp>
        <p:nvSpPr>
          <p:cNvPr id="28" name="">
            <a:extLst xmlns:a="http://schemas.openxmlformats.org/drawingml/2006/main">
              <a:ext uri="{FF2B5EF4-FFF2-40B4-BE49-F238E27FC236}">
                <a16:creationId xmlns:a16="http://schemas.microsoft.com/office/drawing/2014/main" id="{9BBBC035-0922-491A-A3CC-C95B80782C58}"/>
              </a:ext>
            </a:extLst>
          </p:cNvPr>
          <p:cNvSpPr>
            <a:spLocks xmlns:a="http://schemas.openxmlformats.org/drawingml/2006/main" noGrp="1"/>
          </p:cNvSpPr>
          <p:nvPr/>
        </p:nvSpPr>
        <p:spPr>
          <a:xfrm xmlns:a="http://schemas.openxmlformats.org/drawingml/2006/main">
            <a:off x="4391025" y="5467350"/>
            <a:ext cx="3524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DejaVu Sans"/>
                <a:ea typeface="DejaVu Sans"/>
                <a:cs typeface="DejaVu Sans"/>
              </a:defRPr>
            </a:pPr>
            <a:r>
              <a:rPr sz="1350" b="0">
                <a:solidFill>
                  <a:srgbClr val="ADB8C5"/>
                </a:solidFill>
                <a:latin typeface="DejaVu Sans"/>
                <a:ea typeface="DejaVu Sans"/>
                <a:cs typeface="DejaVu Sans"/>
              </a:rPr>
              <a:t>Sample, calibrate, compare versions</a:t>
            </a:r>
          </a:p>
        </p:txBody>
      </p:sp>
      <p:sp>
        <p:nvSpPr>
          <p:cNvPr id="29" name="">
            <a:extLst xmlns:a="http://schemas.openxmlformats.org/drawingml/2006/main">
              <a:ext uri="{FF2B5EF4-FFF2-40B4-BE49-F238E27FC236}">
                <a16:creationId xmlns:a16="http://schemas.microsoft.com/office/drawing/2014/main" id="{3FA31293-0ACC-41AA-B2A1-DFEBD91C59EE}"/>
              </a:ext>
            </a:extLst>
          </p:cNvPr>
          <p:cNvSpPr>
            <a:spLocks xmlns:a="http://schemas.openxmlformats.org/drawingml/2006/main" noGrp="1"/>
          </p:cNvSpPr>
          <p:nvPr/>
        </p:nvSpPr>
        <p:spPr>
          <a:xfrm xmlns:a="http://schemas.openxmlformats.org/drawingml/2006/main">
            <a:off x="8172450" y="5229225"/>
            <a:ext cx="352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F5B61C"/>
                </a:solidFill>
                <a:latin typeface="DejaVu Sans"/>
                <a:ea typeface="DejaVu Sans"/>
                <a:cs typeface="DejaVu Sans"/>
              </a:defRPr>
            </a:pPr>
            <a:r>
              <a:rPr sz="1275" b="1">
                <a:solidFill>
                  <a:srgbClr val="F5B61C"/>
                </a:solidFill>
                <a:latin typeface="DejaVu Sans"/>
                <a:ea typeface="DejaVu Sans"/>
                <a:cs typeface="DejaVu Sans"/>
              </a:rPr>
              <a:t>RISK / RELEASE OWNER</a:t>
            </a:r>
          </a:p>
        </p:txBody>
      </p:sp>
      <p:sp>
        <p:nvSpPr>
          <p:cNvPr id="30" name="">
            <a:extLst xmlns:a="http://schemas.openxmlformats.org/drawingml/2006/main">
              <a:ext uri="{FF2B5EF4-FFF2-40B4-BE49-F238E27FC236}">
                <a16:creationId xmlns:a16="http://schemas.microsoft.com/office/drawing/2014/main" id="{99FEAE19-41FD-4D16-95BA-E40DEB54E555}"/>
              </a:ext>
            </a:extLst>
          </p:cNvPr>
          <p:cNvSpPr>
            <a:spLocks xmlns:a="http://schemas.openxmlformats.org/drawingml/2006/main" noGrp="1"/>
          </p:cNvSpPr>
          <p:nvPr/>
        </p:nvSpPr>
        <p:spPr>
          <a:xfrm xmlns:a="http://schemas.openxmlformats.org/drawingml/2006/main">
            <a:off x="8172450" y="5467350"/>
            <a:ext cx="3524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DejaVu Sans"/>
                <a:ea typeface="DejaVu Sans"/>
                <a:cs typeface="DejaVu Sans"/>
              </a:defRPr>
            </a:pPr>
            <a:r>
              <a:rPr sz="1350" b="0">
                <a:solidFill>
                  <a:srgbClr val="ADB8C5"/>
                </a:solidFill>
                <a:latin typeface="DejaVu Sans"/>
                <a:ea typeface="DejaVu Sans"/>
                <a:cs typeface="DejaVu Sans"/>
              </a:rPr>
              <a:t>Decide acceptability for this scope</a:t>
            </a:r>
          </a:p>
        </p:txBody>
      </p:sp>
      <p:sp>
        <p:nvSpPr>
          <p:cNvPr id="31" name="">
            <a:extLst xmlns:a="http://schemas.openxmlformats.org/drawingml/2006/main">
              <a:ext uri="{FF2B5EF4-FFF2-40B4-BE49-F238E27FC236}">
                <a16:creationId xmlns:a16="http://schemas.microsoft.com/office/drawing/2014/main" id="{A9A3B027-48DA-4B8B-93AB-6D303917AAB8}"/>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2" name="">
            <a:extLst xmlns:a="http://schemas.openxmlformats.org/drawingml/2006/main">
              <a:ext uri="{FF2B5EF4-FFF2-40B4-BE49-F238E27FC236}">
                <a16:creationId xmlns:a16="http://schemas.microsoft.com/office/drawing/2014/main" id="{71A8F1D0-5689-4A35-9900-E74B116E4D50}"/>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1">
                <a:solidFill>
                  <a:srgbClr val="F4F7FA"/>
                </a:solidFill>
                <a:latin typeface="DejaVu Sans"/>
                <a:ea typeface="DejaVu Sans"/>
                <a:cs typeface="DejaVu Sans"/>
              </a:defRPr>
            </a:pPr>
            <a:r>
              <a:rPr sz="1950" b="1">
                <a:solidFill>
                  <a:srgbClr val="F4F7FA"/>
                </a:solidFill>
                <a:latin typeface="DejaVu Sans"/>
                <a:ea typeface="DejaVu Sans"/>
                <a:cs typeface="DejaVu Sans"/>
              </a:rPr>
              <a:t>Statistics estimate frequency. Business authority decides acceptable consequences.</a:t>
            </a:r>
          </a:p>
        </p:txBody>
      </p:sp>
    </p:spTree>
    <p:extLst>
      <p:ext uri="{BB962C8B-B14F-4D97-AF65-F5344CB8AC3E}">
        <p14:creationId xmlns:p14="http://schemas.microsoft.com/office/powerpoint/2010/main" val="700230483"/>
      </p:ext>
    </p:extLst>
  </p:cSld>
</p:sld>
</file>

<file path=ppt/slides/slide11.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58230C6-A9CB-4C03-A09A-55AA6BCEB034}"/>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DoR / DoD Become Risk Contracts</a:t>
            </a:r>
          </a:p>
        </p:txBody>
      </p:sp>
      <p:sp>
        <p:nvSpPr>
          <p:cNvPr id="2" name="">
            <a:extLst xmlns:a="http://schemas.openxmlformats.org/drawingml/2006/main">
              <a:ext uri="{FF2B5EF4-FFF2-40B4-BE49-F238E27FC236}">
                <a16:creationId xmlns:a16="http://schemas.microsoft.com/office/drawing/2014/main" id="{3057E635-9C75-4B79-97DA-25C28B66DBD8}"/>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CF31CBFF-C604-4BB8-A63F-FDFE5404DA7A}"/>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11</a:t>
            </a:r>
          </a:p>
        </p:txBody>
      </p:sp>
      <p:sp>
        <p:nvSpPr>
          <p:cNvPr id="4" name="">
            <a:extLst xmlns:a="http://schemas.openxmlformats.org/drawingml/2006/main">
              <a:ext uri="{FF2B5EF4-FFF2-40B4-BE49-F238E27FC236}">
                <a16:creationId xmlns:a16="http://schemas.microsoft.com/office/drawing/2014/main" id="{1867C833-A0C1-4357-B07E-F301EA28AFA8}"/>
              </a:ext>
            </a:extLst>
          </p:cNvPr>
          <p:cNvSpPr>
            <a:spLocks xmlns:a="http://schemas.openxmlformats.org/drawingml/2006/main" noGrp="1"/>
          </p:cNvSpPr>
          <p:nvPr/>
        </p:nvSpPr>
        <p:spPr>
          <a:xfrm xmlns:a="http://schemas.openxmlformats.org/drawingml/2006/main">
            <a:off x="609600" y="17526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DejaVu Sans"/>
                <a:ea typeface="DejaVu Sans"/>
                <a:cs typeface="DejaVu Sans"/>
              </a:defRPr>
            </a:pPr>
            <a:r>
              <a:rPr sz="1650" b="1">
                <a:solidFill>
                  <a:srgbClr val="28C7F7"/>
                </a:solidFill>
                <a:latin typeface="DejaVu Sans"/>
                <a:ea typeface="DejaVu Sans"/>
                <a:cs typeface="DejaVu Sans"/>
              </a:rPr>
              <a:t>DEVELOPERS · deliver a reproducible evidence and recovery package</a:t>
            </a:r>
          </a:p>
        </p:txBody>
      </p:sp>
      <p:graphicFrame>
        <p:nvGraphicFramePr>
          <p:cNvPr id="13" name=""/>
          <p:cNvGraphicFramePr/>
          <p:nvPr/>
        </p:nvGraphicFramePr>
        <p:xfrm>
          <a:off xmlns:a="http://schemas.openxmlformats.org/drawingml/2006/main" x="609600" y="2276475"/>
          <a:ext xmlns:a="http://schemas.openxmlformats.org/drawingml/2006/main" cx="10972800" cy="2895600"/>
        </p:xfrm>
        <a:graphic xmlns:a="http://schemas.openxmlformats.org/drawingml/2006/main">
          <a:graphicData uri="http://schemas.openxmlformats.org/drawingml/2006/table">
            <a:tbl>
              <a:tblPr/>
              <a:tblGrid>
                <a:gridCol w="1466850"/>
                <a:gridCol w="4781550"/>
                <a:gridCol w="4724400"/>
              </a:tblGrid>
              <a:tr h="723900">
                <a:tc>
                  <a:txBody>
                    <a:bodyPr lIns="171450" tIns="76200" rIns="171450" bIns="76200">
                      <a:noAutofit/>
                    </a:bodyPr>
                    <a:lstStyle/>
                    <a:p>
                      <a:r>
                        <a:rPr sz="1575" b="1">
                          <a:solidFill>
                            <a:srgbClr val="F4F7FA"/>
                          </a:solidFill>
                          <a:latin typeface="DejaVu Sans"/>
                          <a:ea typeface="DejaVu Sans"/>
                          <a:cs typeface="DejaVu Sans"/>
                        </a:rPr>
                        <a:t>GATE</a:t>
                      </a:r>
                    </a:p>
                  </a:txBody>
                  <a:tcPr marL="91440" marR="91440" marT="45720" marB="45720" anchor="ctr">
                    <a:solidFill>
                      <a:srgbClr val="1A2734"/>
                    </a:solidFill>
                  </a:tcPr>
                </a:tc>
                <a:tc>
                  <a:txBody>
                    <a:bodyPr lIns="171450" tIns="76200" rIns="171450" bIns="76200">
                      <a:noAutofit/>
                    </a:bodyPr>
                    <a:lstStyle/>
                    <a:p>
                      <a:r>
                        <a:rPr sz="1575" b="1">
                          <a:solidFill>
                            <a:srgbClr val="F4F7FA"/>
                          </a:solidFill>
                          <a:latin typeface="DejaVu Sans"/>
                          <a:ea typeface="DejaVu Sans"/>
                          <a:cs typeface="DejaVu Sans"/>
                        </a:rPr>
                        <a:t>CONCRETE EVIDENCE</a:t>
                      </a:r>
                    </a:p>
                  </a:txBody>
                  <a:tcPr marL="91440" marR="91440" marT="45720" marB="45720" anchor="ctr">
                    <a:solidFill>
                      <a:srgbClr val="1A2734"/>
                    </a:solidFill>
                  </a:tcPr>
                </a:tc>
                <a:tc>
                  <a:txBody>
                    <a:bodyPr lIns="171450" tIns="76200" rIns="171450" bIns="76200">
                      <a:noAutofit/>
                    </a:bodyPr>
                    <a:lstStyle/>
                    <a:p>
                      <a:r>
                        <a:rPr sz="1575" b="1">
                          <a:solidFill>
                            <a:srgbClr val="28C7F7"/>
                          </a:solidFill>
                          <a:latin typeface="DejaVu Sans"/>
                          <a:ea typeface="DejaVu Sans"/>
                          <a:cs typeface="DejaVu Sans"/>
                        </a:rPr>
                        <a:t>DECISION / OWNER</a:t>
                      </a:r>
                    </a:p>
                  </a:txBody>
                  <a:tcPr marL="91440" marR="91440" marT="45720" marB="45720" anchor="ctr">
                    <a:solidFill>
                      <a:srgbClr val="1A2734"/>
                    </a:solidFill>
                  </a:tcPr>
                </a:tc>
              </a:tr>
              <a:tr h="723900">
                <a:tc>
                  <a:txBody>
                    <a:bodyPr lIns="171450" tIns="76200" rIns="171450" bIns="76200">
                      <a:noAutofit/>
                    </a:bodyPr>
                    <a:lstStyle/>
                    <a:p>
                      <a:r>
                        <a:rPr sz="1650" b="1">
                          <a:solidFill>
                            <a:srgbClr val="F4F7FA"/>
                          </a:solidFill>
                          <a:latin typeface="DejaVu Sans"/>
                          <a:ea typeface="DejaVu Sans"/>
                          <a:cs typeface="DejaVu Sans"/>
                        </a:rPr>
                        <a:t>READY</a:t>
                      </a:r>
                    </a:p>
                  </a:txBody>
                  <a:tcPr marL="91440" marR="91440" marT="45720" marB="45720" anchor="ctr">
                    <a:solidFill>
                      <a:srgbClr val="0B0F14"/>
                    </a:solidFill>
                  </a:tcPr>
                </a:tc>
                <a:tc>
                  <a:txBody>
                    <a:bodyPr lIns="171450" tIns="76200" rIns="171450" bIns="76200">
                      <a:noAutofit/>
                    </a:bodyPr>
                    <a:lstStyle/>
                    <a:p>
                      <a:r>
                        <a:rPr sz="1650" b="0">
                          <a:solidFill>
                            <a:srgbClr val="F4F7FA"/>
                          </a:solidFill>
                          <a:latin typeface="DejaVu Sans"/>
                          <a:ea typeface="DejaVu Sans"/>
                          <a:cs typeface="DejaVu Sans"/>
                        </a:rPr>
                        <a:t>Scope, rubric, evaluation plan</a:t>
                      </a:r>
                    </a:p>
                    <a:p>
                      <a:r>
                        <a:rPr sz="1650" b="0">
                          <a:solidFill>
                            <a:srgbClr val="F4F7FA"/>
                          </a:solidFill>
                          <a:latin typeface="DejaVu Sans"/>
                          <a:ea typeface="DejaVu Sans"/>
                          <a:cs typeface="DejaVu Sans"/>
                        </a:rPr>
                        <a:t>Fallback owner + dependencies</a:t>
                      </a:r>
                    </a:p>
                  </a:txBody>
                  <a:tcPr marL="91440" marR="91440" marT="45720" marB="45720" anchor="ctr">
                    <a:solidFill>
                      <a:srgbClr val="0B0F14"/>
                    </a:solidFill>
                  </a:tcPr>
                </a:tc>
                <a:tc>
                  <a:txBody>
                    <a:bodyPr lIns="171450" tIns="76200" rIns="171450" bIns="76200">
                      <a:noAutofit/>
                    </a:bodyPr>
                    <a:lstStyle/>
                    <a:p>
                      <a:r>
                        <a:rPr sz="1650" b="0">
                          <a:solidFill>
                            <a:srgbClr val="28C7F7"/>
                          </a:solidFill>
                          <a:latin typeface="DejaVu Sans"/>
                          <a:ea typeface="DejaVu Sans"/>
                          <a:cs typeface="DejaVu Sans"/>
                        </a:rPr>
                        <a:t>Product + BA agree criteria</a:t>
                      </a:r>
                    </a:p>
                    <a:p>
                      <a:r>
                        <a:rPr sz="1650" b="0">
                          <a:solidFill>
                            <a:srgbClr val="28C7F7"/>
                          </a:solidFill>
                          <a:latin typeface="DejaVu Sans"/>
                          <a:ea typeface="DejaVu Sans"/>
                          <a:cs typeface="DejaVu Sans"/>
                        </a:rPr>
                        <a:t>Project Manager clears blockers</a:t>
                      </a:r>
                    </a:p>
                  </a:txBody>
                  <a:tcPr marL="91440" marR="91440" marT="45720" marB="45720" anchor="ctr">
                    <a:solidFill>
                      <a:srgbClr val="0B0F14"/>
                    </a:solidFill>
                  </a:tcPr>
                </a:tc>
              </a:tr>
              <a:tr h="723900">
                <a:tc>
                  <a:txBody>
                    <a:bodyPr lIns="171450" tIns="76200" rIns="171450" bIns="76200">
                      <a:noAutofit/>
                    </a:bodyPr>
                    <a:lstStyle/>
                    <a:p>
                      <a:r>
                        <a:rPr sz="1650" b="1">
                          <a:solidFill>
                            <a:srgbClr val="F4F7FA"/>
                          </a:solidFill>
                          <a:latin typeface="DejaVu Sans"/>
                          <a:ea typeface="DejaVu Sans"/>
                          <a:cs typeface="DejaVu Sans"/>
                        </a:rPr>
                        <a:t>DONE</a:t>
                      </a:r>
                    </a:p>
                  </a:txBody>
                  <a:tcPr marL="91440" marR="91440" marT="45720" marB="45720" anchor="ctr">
                    <a:solidFill>
                      <a:srgbClr val="0B0F14"/>
                    </a:solidFill>
                  </a:tcPr>
                </a:tc>
                <a:tc>
                  <a:txBody>
                    <a:bodyPr lIns="171450" tIns="76200" rIns="171450" bIns="76200">
                      <a:noAutofit/>
                    </a:bodyPr>
                    <a:lstStyle/>
                    <a:p>
                      <a:r>
                        <a:rPr sz="1650" b="0">
                          <a:solidFill>
                            <a:srgbClr val="F4F7FA"/>
                          </a:solidFill>
                          <a:latin typeface="DejaVu Sans"/>
                          <a:ea typeface="DejaVu Sans"/>
                          <a:cs typeface="DejaVu Sans"/>
                        </a:rPr>
                        <a:t>Versioned model / prompt / data</a:t>
                      </a:r>
                    </a:p>
                    <a:p>
                      <a:r>
                        <a:rPr sz="1650" b="0">
                          <a:solidFill>
                            <a:srgbClr val="F4F7FA"/>
                          </a:solidFill>
                          <a:latin typeface="DejaVu Sans"/>
                          <a:ea typeface="DejaVu Sans"/>
                          <a:cs typeface="DejaVu Sans"/>
                        </a:rPr>
                        <a:t>Tests, evals, rollback rehearsal</a:t>
                      </a:r>
                    </a:p>
                  </a:txBody>
                  <a:tcPr marL="91440" marR="91440" marT="45720" marB="45720" anchor="ctr">
                    <a:solidFill>
                      <a:srgbClr val="0B0F14"/>
                    </a:solidFill>
                  </a:tcPr>
                </a:tc>
                <a:tc>
                  <a:txBody>
                    <a:bodyPr lIns="171450" tIns="76200" rIns="171450" bIns="76200">
                      <a:noAutofit/>
                    </a:bodyPr>
                    <a:lstStyle/>
                    <a:p>
                      <a:r>
                        <a:rPr sz="1650" b="0">
                          <a:solidFill>
                            <a:srgbClr val="28C7F7"/>
                          </a:solidFill>
                          <a:latin typeface="DejaVu Sans"/>
                          <a:ea typeface="DejaVu Sans"/>
                          <a:cs typeface="DejaVu Sans"/>
                        </a:rPr>
                        <a:t>Developer + QA verify the build</a:t>
                      </a:r>
                    </a:p>
                    <a:p>
                      <a:r>
                        <a:rPr sz="1650" b="0">
                          <a:solidFill>
                            <a:srgbClr val="28C7F7"/>
                          </a:solidFill>
                          <a:latin typeface="DejaVu Sans"/>
                          <a:ea typeface="DejaVu Sans"/>
                          <a:cs typeface="DejaVu Sans"/>
                        </a:rPr>
                        <a:t>Done does not authorize release</a:t>
                      </a:r>
                    </a:p>
                  </a:txBody>
                  <a:tcPr marL="91440" marR="91440" marT="45720" marB="45720" anchor="ctr">
                    <a:solidFill>
                      <a:srgbClr val="0B0F14"/>
                    </a:solidFill>
                  </a:tcPr>
                </a:tc>
              </a:tr>
              <a:tr h="723900">
                <a:tc>
                  <a:txBody>
                    <a:bodyPr lIns="171450" tIns="76200" rIns="171450" bIns="76200">
                      <a:noAutofit/>
                    </a:bodyPr>
                    <a:lstStyle/>
                    <a:p>
                      <a:r>
                        <a:rPr sz="1650" b="1">
                          <a:solidFill>
                            <a:srgbClr val="F4F7FA"/>
                          </a:solidFill>
                          <a:latin typeface="DejaVu Sans"/>
                          <a:ea typeface="DejaVu Sans"/>
                          <a:cs typeface="DejaVu Sans"/>
                        </a:rPr>
                        <a:t>RELEASE</a:t>
                      </a:r>
                    </a:p>
                  </a:txBody>
                  <a:tcPr marL="91440" marR="91440" marT="45720" marB="45720" anchor="ctr">
                    <a:solidFill>
                      <a:srgbClr val="0B0F14"/>
                    </a:solidFill>
                  </a:tcPr>
                </a:tc>
                <a:tc>
                  <a:txBody>
                    <a:bodyPr lIns="171450" tIns="76200" rIns="171450" bIns="76200">
                      <a:noAutofit/>
                    </a:bodyPr>
                    <a:lstStyle/>
                    <a:p>
                      <a:r>
                        <a:rPr sz="1650" b="0">
                          <a:solidFill>
                            <a:srgbClr val="F4F7FA"/>
                          </a:solidFill>
                          <a:latin typeface="DejaVu Sans"/>
                          <a:ea typeface="DejaVu Sans"/>
                          <a:cs typeface="DejaVu Sans"/>
                        </a:rPr>
                        <a:t>Population + tool permissions</a:t>
                      </a:r>
                    </a:p>
                    <a:p>
                      <a:r>
                        <a:rPr sz="1650" b="0">
                          <a:solidFill>
                            <a:srgbClr val="F4F7FA"/>
                          </a:solidFill>
                          <a:latin typeface="DejaVu Sans"/>
                          <a:ea typeface="DejaVu Sans"/>
                          <a:cs typeface="DejaVu Sans"/>
                        </a:rPr>
                        <a:t>Residual risk + stop triggers</a:t>
                      </a:r>
                    </a:p>
                  </a:txBody>
                  <a:tcPr marL="91440" marR="91440" marT="45720" marB="45720" anchor="ctr">
                    <a:solidFill>
                      <a:srgbClr val="0B0F14"/>
                    </a:solidFill>
                  </a:tcPr>
                </a:tc>
                <a:tc>
                  <a:txBody>
                    <a:bodyPr lIns="171450" tIns="76200" rIns="171450" bIns="76200">
                      <a:noAutofit/>
                    </a:bodyPr>
                    <a:lstStyle/>
                    <a:p>
                      <a:r>
                        <a:rPr sz="1650" b="0">
                          <a:solidFill>
                            <a:srgbClr val="28C7F7"/>
                          </a:solidFill>
                          <a:latin typeface="DejaVu Sans"/>
                          <a:ea typeface="DejaVu Sans"/>
                          <a:cs typeface="DejaVu Sans"/>
                        </a:rPr>
                        <a:t>Authorized owner accepts scope</a:t>
                      </a:r>
                    </a:p>
                    <a:p>
                      <a:r>
                        <a:rPr sz="1650" b="0">
                          <a:solidFill>
                            <a:srgbClr val="28C7F7"/>
                          </a:solidFill>
                          <a:latin typeface="DejaVu Sans"/>
                          <a:ea typeface="DejaVu Sans"/>
                          <a:cs typeface="DejaVu Sans"/>
                        </a:rPr>
                        <a:t>Or narrows, defers, rejects</a:t>
                      </a:r>
                    </a:p>
                  </a:txBody>
                  <a:tcPr marL="91440" marR="91440" marT="45720" marB="45720" anchor="ctr">
                    <a:solidFill>
                      <a:srgbClr val="0B0F14"/>
                    </a:solidFill>
                  </a:tcPr>
                </a:tc>
              </a:tr>
            </a:tbl>
          </a:graphicData>
        </a:graphic>
      </p:graphicFrame>
      <p:sp>
        <p:nvSpPr>
          <p:cNvPr id="6" name="">
            <a:extLst xmlns:a="http://schemas.openxmlformats.org/drawingml/2006/main">
              <a:ext uri="{FF2B5EF4-FFF2-40B4-BE49-F238E27FC236}">
                <a16:creationId xmlns:a16="http://schemas.microsoft.com/office/drawing/2014/main" id="{196DF559-6CB5-477B-B627-2C1EE556FD19}"/>
              </a:ext>
            </a:extLst>
          </p:cNvPr>
          <p:cNvSpPr>
            <a:spLocks xmlns:a="http://schemas.openxmlformats.org/drawingml/2006/main" noGrp="1"/>
          </p:cNvSpPr>
          <p:nvPr/>
        </p:nvSpPr>
        <p:spPr>
          <a:xfrm xmlns:a="http://schemas.openxmlformats.org/drawingml/2006/main">
            <a:off x="609600" y="53149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DejaVu Sans"/>
                <a:ea typeface="DejaVu Sans"/>
                <a:cs typeface="DejaVu Sans"/>
              </a:defRPr>
            </a:pPr>
            <a:r>
              <a:rPr sz="1575" b="0">
                <a:solidFill>
                  <a:srgbClr val="ADB8C5"/>
                </a:solidFill>
                <a:latin typeface="DejaVu Sans"/>
                <a:ea typeface="DejaVu Sans"/>
                <a:cs typeface="DejaVu Sans"/>
              </a:rPr>
              <a:t>IT assistant: approved sources → traceable build → restricted rollout + manual fallback.</a:t>
            </a:r>
          </a:p>
        </p:txBody>
      </p:sp>
      <p:sp>
        <p:nvSpPr>
          <p:cNvPr id="7" name="">
            <a:extLst xmlns:a="http://schemas.openxmlformats.org/drawingml/2006/main">
              <a:ext uri="{FF2B5EF4-FFF2-40B4-BE49-F238E27FC236}">
                <a16:creationId xmlns:a16="http://schemas.microsoft.com/office/drawing/2014/main" id="{358D1A04-21D9-41C1-A859-792E97912A4A}"/>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8" name="">
            <a:extLst xmlns:a="http://schemas.openxmlformats.org/drawingml/2006/main">
              <a:ext uri="{FF2B5EF4-FFF2-40B4-BE49-F238E27FC236}">
                <a16:creationId xmlns:a16="http://schemas.microsoft.com/office/drawing/2014/main" id="{A634C505-1574-4CF1-A800-B45E4BE07FE9}"/>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“Done” is an evidence package. Release is a separate, scoped decision.</a:t>
            </a:r>
          </a:p>
        </p:txBody>
      </p:sp>
    </p:spTree>
    <p:extLst>
      <p:ext uri="{BB962C8B-B14F-4D97-AF65-F5344CB8AC3E}">
        <p14:creationId xmlns:p14="http://schemas.microsoft.com/office/powerpoint/2010/main" val="70616389"/>
      </p:ext>
    </p:extLst>
  </p:cSld>
</p:sld>
</file>

<file path=ppt/slides/slide12.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49FF06A3-839E-4C90-9CF4-22E27FF9A2CE}"/>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Production Needs a Control Loop</a:t>
            </a:r>
          </a:p>
        </p:txBody>
      </p:sp>
      <p:sp>
        <p:nvSpPr>
          <p:cNvPr id="2" name="">
            <a:extLst xmlns:a="http://schemas.openxmlformats.org/drawingml/2006/main">
              <a:ext uri="{FF2B5EF4-FFF2-40B4-BE49-F238E27FC236}">
                <a16:creationId xmlns:a16="http://schemas.microsoft.com/office/drawing/2014/main" id="{5C276EAC-D1D9-4EAA-821B-800A49CF2517}"/>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3401D5A6-6A87-4108-B035-1E46822587DB}"/>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12</a:t>
            </a:r>
          </a:p>
        </p:txBody>
      </p:sp>
      <p:sp>
        <p:nvSpPr>
          <p:cNvPr id="4" name="">
            <a:extLst xmlns:a="http://schemas.openxmlformats.org/drawingml/2006/main">
              <a:ext uri="{FF2B5EF4-FFF2-40B4-BE49-F238E27FC236}">
                <a16:creationId xmlns:a16="http://schemas.microsoft.com/office/drawing/2014/main" id="{3FEDA2E4-7A61-4895-911C-0CAABE519909}"/>
              </a:ext>
            </a:extLst>
          </p:cNvPr>
          <p:cNvSpPr>
            <a:spLocks xmlns:a="http://schemas.openxmlformats.org/drawingml/2006/main" noGrp="1"/>
          </p:cNvSpPr>
          <p:nvPr/>
        </p:nvSpPr>
        <p:spPr>
          <a:xfrm xmlns:a="http://schemas.openxmlformats.org/drawingml/2006/main">
            <a:off x="609600" y="17526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DejaVu Sans"/>
                <a:ea typeface="DejaVu Sans"/>
                <a:cs typeface="DejaVu Sans"/>
              </a:defRPr>
            </a:pPr>
            <a:r>
              <a:rPr sz="1650" b="1">
                <a:solidFill>
                  <a:srgbClr val="28C7F7"/>
                </a:solidFill>
                <a:latin typeface="DejaVu Sans"/>
                <a:ea typeface="DejaVu Sans"/>
                <a:cs typeface="DejaVu Sans"/>
              </a:rPr>
              <a:t>ARCHITECT · make boundaries and corrective actions operational</a:t>
            </a:r>
          </a:p>
        </p:txBody>
      </p:sp>
      <p:sp>
        <p:nvSpPr>
          <p:cNvPr id="5" name="">
            <a:extLst xmlns:a="http://schemas.openxmlformats.org/drawingml/2006/main">
              <a:ext uri="{FF2B5EF4-FFF2-40B4-BE49-F238E27FC236}">
                <a16:creationId xmlns:a16="http://schemas.microsoft.com/office/drawing/2014/main" id="{7CCA36EA-FB77-4DB9-91AD-9D277D1D03C5}"/>
              </a:ext>
            </a:extLst>
          </p:cNvPr>
          <p:cNvSpPr>
            <a:spLocks xmlns:a="http://schemas.openxmlformats.org/drawingml/2006/main" noGrp="1"/>
          </p:cNvSpPr>
          <p:nvPr/>
        </p:nvSpPr>
        <p:spPr>
          <a:xfrm xmlns:a="http://schemas.openxmlformats.org/drawingml/2006/main">
            <a:off x="609600" y="2466975"/>
            <a:ext cx="2400300" cy="7429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6" name="">
            <a:extLst xmlns:a="http://schemas.openxmlformats.org/drawingml/2006/main">
              <a:ext uri="{FF2B5EF4-FFF2-40B4-BE49-F238E27FC236}">
                <a16:creationId xmlns:a16="http://schemas.microsoft.com/office/drawing/2014/main" id="{D730A37C-C3E4-47CF-8604-C76AC8878220}"/>
              </a:ext>
            </a:extLst>
          </p:cNvPr>
          <p:cNvSpPr>
            <a:spLocks xmlns:a="http://schemas.openxmlformats.org/drawingml/2006/main" noGrp="1"/>
          </p:cNvSpPr>
          <p:nvPr/>
        </p:nvSpPr>
        <p:spPr>
          <a:xfrm xmlns:a="http://schemas.openxmlformats.org/drawingml/2006/main">
            <a:off x="723900" y="2543175"/>
            <a:ext cx="2171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Approved context</a:t>
            </a:r>
          </a:p>
        </p:txBody>
      </p:sp>
      <p:sp>
        <p:nvSpPr>
          <p:cNvPr id="7" name="">
            <a:extLst xmlns:a="http://schemas.openxmlformats.org/drawingml/2006/main">
              <a:ext uri="{FF2B5EF4-FFF2-40B4-BE49-F238E27FC236}">
                <a16:creationId xmlns:a16="http://schemas.microsoft.com/office/drawing/2014/main" id="{A49F8FE7-CD44-4D78-B83B-9C586DFD48CC}"/>
              </a:ext>
            </a:extLst>
          </p:cNvPr>
          <p:cNvSpPr>
            <a:spLocks xmlns:a="http://schemas.openxmlformats.org/drawingml/2006/main" noGrp="1"/>
          </p:cNvSpPr>
          <p:nvPr/>
        </p:nvSpPr>
        <p:spPr>
          <a:xfrm xmlns:a="http://schemas.openxmlformats.org/drawingml/2006/main">
            <a:off x="3467100" y="2466975"/>
            <a:ext cx="2400300" cy="7429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8" name="">
            <a:extLst xmlns:a="http://schemas.openxmlformats.org/drawingml/2006/main">
              <a:ext uri="{FF2B5EF4-FFF2-40B4-BE49-F238E27FC236}">
                <a16:creationId xmlns:a16="http://schemas.microsoft.com/office/drawing/2014/main" id="{81B9F707-7D71-40E0-A798-5DD38D3688CD}"/>
              </a:ext>
            </a:extLst>
          </p:cNvPr>
          <p:cNvSpPr>
            <a:spLocks xmlns:a="http://schemas.openxmlformats.org/drawingml/2006/main" noGrp="1"/>
          </p:cNvSpPr>
          <p:nvPr/>
        </p:nvSpPr>
        <p:spPr>
          <a:xfrm xmlns:a="http://schemas.openxmlformats.org/drawingml/2006/main">
            <a:off x="3581400" y="2543175"/>
            <a:ext cx="2171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Model proposal</a:t>
            </a:r>
          </a:p>
        </p:txBody>
      </p:sp>
      <p:sp>
        <p:nvSpPr>
          <p:cNvPr id="9" name="">
            <a:extLst xmlns:a="http://schemas.openxmlformats.org/drawingml/2006/main">
              <a:ext uri="{FF2B5EF4-FFF2-40B4-BE49-F238E27FC236}">
                <a16:creationId xmlns:a16="http://schemas.microsoft.com/office/drawing/2014/main" id="{B8765F9D-3A63-4609-B4D1-575AC0A0A7C9}"/>
              </a:ext>
            </a:extLst>
          </p:cNvPr>
          <p:cNvSpPr>
            <a:spLocks xmlns:a="http://schemas.openxmlformats.org/drawingml/2006/main" noGrp="1"/>
          </p:cNvSpPr>
          <p:nvPr/>
        </p:nvSpPr>
        <p:spPr>
          <a:xfrm xmlns:a="http://schemas.openxmlformats.org/drawingml/2006/main">
            <a:off x="6324600" y="2466975"/>
            <a:ext cx="2400300" cy="74295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0" name="">
            <a:extLst xmlns:a="http://schemas.openxmlformats.org/drawingml/2006/main">
              <a:ext uri="{FF2B5EF4-FFF2-40B4-BE49-F238E27FC236}">
                <a16:creationId xmlns:a16="http://schemas.microsoft.com/office/drawing/2014/main" id="{50785248-4702-4998-82DD-ACAFF4D66208}"/>
              </a:ext>
            </a:extLst>
          </p:cNvPr>
          <p:cNvSpPr>
            <a:spLocks xmlns:a="http://schemas.openxmlformats.org/drawingml/2006/main" noGrp="1"/>
          </p:cNvSpPr>
          <p:nvPr/>
        </p:nvSpPr>
        <p:spPr>
          <a:xfrm xmlns:a="http://schemas.openxmlformats.org/drawingml/2006/main">
            <a:off x="6438900" y="2543175"/>
            <a:ext cx="2171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Permission gate</a:t>
            </a:r>
          </a:p>
        </p:txBody>
      </p:sp>
      <p:sp>
        <p:nvSpPr>
          <p:cNvPr id="11" name="">
            <a:extLst xmlns:a="http://schemas.openxmlformats.org/drawingml/2006/main">
              <a:ext uri="{FF2B5EF4-FFF2-40B4-BE49-F238E27FC236}">
                <a16:creationId xmlns:a16="http://schemas.microsoft.com/office/drawing/2014/main" id="{5E6E3C19-9615-49D9-B573-010E539796C1}"/>
              </a:ext>
            </a:extLst>
          </p:cNvPr>
          <p:cNvSpPr>
            <a:spLocks xmlns:a="http://schemas.openxmlformats.org/drawingml/2006/main" noGrp="1"/>
          </p:cNvSpPr>
          <p:nvPr/>
        </p:nvSpPr>
        <p:spPr>
          <a:xfrm xmlns:a="http://schemas.openxmlformats.org/drawingml/2006/main">
            <a:off x="9182100" y="2466975"/>
            <a:ext cx="2400300" cy="7429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2" name="">
            <a:extLst xmlns:a="http://schemas.openxmlformats.org/drawingml/2006/main">
              <a:ext uri="{FF2B5EF4-FFF2-40B4-BE49-F238E27FC236}">
                <a16:creationId xmlns:a16="http://schemas.microsoft.com/office/drawing/2014/main" id="{7BEEBA27-16A0-4F90-A588-46167DC2DF97}"/>
              </a:ext>
            </a:extLst>
          </p:cNvPr>
          <p:cNvSpPr>
            <a:spLocks xmlns:a="http://schemas.openxmlformats.org/drawingml/2006/main" noGrp="1"/>
          </p:cNvSpPr>
          <p:nvPr/>
        </p:nvSpPr>
        <p:spPr>
          <a:xfrm xmlns:a="http://schemas.openxmlformats.org/drawingml/2006/main">
            <a:off x="9296400" y="2543175"/>
            <a:ext cx="2171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Support tool</a:t>
            </a:r>
          </a:p>
        </p:txBody>
      </p:sp>
      <p:cxnSp>
        <p:nvCxnSpPr>
          <p:cNvPr id="46" name=""/>
          <p:cNvCxnSpPr>
            <a:stCxn xmlns:a="http://schemas.openxmlformats.org/drawingml/2006/main" id="5" idx="3"/>
            <a:endCxn xmlns:a="http://schemas.openxmlformats.org/drawingml/2006/main" id="7" idx="1"/>
          </p:cNvCxnSpPr>
          <p:nvPr/>
        </p:nvCxnSpPr>
        <p:spPr>
          <a:xfrm xmlns:a="http://schemas.openxmlformats.org/drawingml/2006/main">
            <a:off x="3009900" y="283845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47" name=""/>
          <p:cNvCxnSpPr>
            <a:stCxn xmlns:a="http://schemas.openxmlformats.org/drawingml/2006/main" id="7" idx="3"/>
            <a:endCxn xmlns:a="http://schemas.openxmlformats.org/drawingml/2006/main" id="9" idx="1"/>
          </p:cNvCxnSpPr>
          <p:nvPr/>
        </p:nvCxnSpPr>
        <p:spPr>
          <a:xfrm xmlns:a="http://schemas.openxmlformats.org/drawingml/2006/main">
            <a:off x="5867400" y="283845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48" name=""/>
          <p:cNvCxnSpPr>
            <a:stCxn xmlns:a="http://schemas.openxmlformats.org/drawingml/2006/main" id="9" idx="3"/>
            <a:endCxn xmlns:a="http://schemas.openxmlformats.org/drawingml/2006/main" id="11" idx="1"/>
          </p:cNvCxnSpPr>
          <p:nvPr/>
        </p:nvCxnSpPr>
        <p:spPr>
          <a:xfrm xmlns:a="http://schemas.openxmlformats.org/drawingml/2006/main">
            <a:off x="8724900" y="283845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16" name="">
            <a:extLst xmlns:a="http://schemas.openxmlformats.org/drawingml/2006/main">
              <a:ext uri="{FF2B5EF4-FFF2-40B4-BE49-F238E27FC236}">
                <a16:creationId xmlns:a16="http://schemas.microsoft.com/office/drawing/2014/main" id="{F262413E-65FE-40EC-BE2E-922AE23F29EA}"/>
              </a:ext>
            </a:extLst>
          </p:cNvPr>
          <p:cNvSpPr>
            <a:spLocks xmlns:a="http://schemas.openxmlformats.org/drawingml/2006/main" noGrp="1"/>
          </p:cNvSpPr>
          <p:nvPr/>
        </p:nvSpPr>
        <p:spPr>
          <a:xfrm xmlns:a="http://schemas.openxmlformats.org/drawingml/2006/main">
            <a:off x="609600" y="211455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Allowlist + required approval; deny when the gate is unavailable.</a:t>
            </a:r>
          </a:p>
        </p:txBody>
      </p:sp>
      <p:sp>
        <p:nvSpPr>
          <p:cNvPr id="17" name="">
            <a:extLst xmlns:a="http://schemas.openxmlformats.org/drawingml/2006/main">
              <a:ext uri="{FF2B5EF4-FFF2-40B4-BE49-F238E27FC236}">
                <a16:creationId xmlns:a16="http://schemas.microsoft.com/office/drawing/2014/main" id="{261C14CF-86FE-4A6C-8F1D-4C72C0CB5323}"/>
              </a:ext>
            </a:extLst>
          </p:cNvPr>
          <p:cNvSpPr>
            <a:spLocks xmlns:a="http://schemas.openxmlformats.org/drawingml/2006/main" noGrp="1"/>
          </p:cNvSpPr>
          <p:nvPr/>
        </p:nvSpPr>
        <p:spPr>
          <a:xfrm xmlns:a="http://schemas.openxmlformats.org/drawingml/2006/main">
            <a:off x="6324600" y="3781425"/>
            <a:ext cx="2400300" cy="409575"/>
          </a:xfrm>
          <a:prstGeom xmlns:a="http://schemas.openxmlformats.org/drawingml/2006/main" prst="rect">
            <a:avLst/>
          </a:prstGeom>
          <a:solidFill xmlns:a="http://schemas.openxmlformats.org/drawingml/2006/main">
            <a:srgbClr val="141C26"/>
          </a:solidFill>
          <a:ln xmlns:a="http://schemas.openxmlformats.org/drawingml/2006/main" w="14288">
            <a:solidFill>
              <a:srgbClr val="ADB8C5"/>
            </a:solidFill>
            <a:prstDash val="solid"/>
          </a:ln>
        </p:spPr>
      </p:sp>
      <p:sp>
        <p:nvSpPr>
          <p:cNvPr id="18" name="">
            <a:extLst xmlns:a="http://schemas.openxmlformats.org/drawingml/2006/main">
              <a:ext uri="{FF2B5EF4-FFF2-40B4-BE49-F238E27FC236}">
                <a16:creationId xmlns:a16="http://schemas.microsoft.com/office/drawing/2014/main" id="{49F794AC-21EA-4B86-8597-D52A812820CF}"/>
              </a:ext>
            </a:extLst>
          </p:cNvPr>
          <p:cNvSpPr>
            <a:spLocks xmlns:a="http://schemas.openxmlformats.org/drawingml/2006/main" noGrp="1"/>
          </p:cNvSpPr>
          <p:nvPr/>
        </p:nvSpPr>
        <p:spPr>
          <a:xfrm xmlns:a="http://schemas.openxmlformats.org/drawingml/2006/main">
            <a:off x="6438900" y="3857625"/>
            <a:ext cx="2171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F4F7FA"/>
                </a:solidFill>
                <a:latin typeface="DejaVu Sans"/>
                <a:ea typeface="DejaVu Sans"/>
                <a:cs typeface="DejaVu Sans"/>
              </a:defRPr>
            </a:pPr>
            <a:r>
              <a:rPr sz="1350" b="1">
                <a:solidFill>
                  <a:srgbClr val="F4F7FA"/>
                </a:solidFill>
                <a:latin typeface="DejaVu Sans"/>
                <a:ea typeface="DejaVu Sans"/>
                <a:cs typeface="DejaVu Sans"/>
              </a:rPr>
              <a:t>Approved limits</a:t>
            </a:r>
          </a:p>
        </p:txBody>
      </p:sp>
      <p:sp>
        <p:nvSpPr>
          <p:cNvPr id="19" name="">
            <a:extLst xmlns:a="http://schemas.openxmlformats.org/drawingml/2006/main">
              <a:ext uri="{FF2B5EF4-FFF2-40B4-BE49-F238E27FC236}">
                <a16:creationId xmlns:a16="http://schemas.microsoft.com/office/drawing/2014/main" id="{5C960AA5-4F38-4107-A9C7-773E21324EBB}"/>
              </a:ext>
            </a:extLst>
          </p:cNvPr>
          <p:cNvSpPr>
            <a:spLocks xmlns:a="http://schemas.openxmlformats.org/drawingml/2006/main" noGrp="1"/>
          </p:cNvSpPr>
          <p:nvPr/>
        </p:nvSpPr>
        <p:spPr>
          <a:xfrm xmlns:a="http://schemas.openxmlformats.org/drawingml/2006/main">
            <a:off x="9182100" y="4524375"/>
            <a:ext cx="2400300" cy="6667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20" name="">
            <a:extLst xmlns:a="http://schemas.openxmlformats.org/drawingml/2006/main">
              <a:ext uri="{FF2B5EF4-FFF2-40B4-BE49-F238E27FC236}">
                <a16:creationId xmlns:a16="http://schemas.microsoft.com/office/drawing/2014/main" id="{0801FF3C-0300-41EB-98B6-3AA98DBC75F4}"/>
              </a:ext>
            </a:extLst>
          </p:cNvPr>
          <p:cNvSpPr>
            <a:spLocks xmlns:a="http://schemas.openxmlformats.org/drawingml/2006/main" noGrp="1"/>
          </p:cNvSpPr>
          <p:nvPr/>
        </p:nvSpPr>
        <p:spPr>
          <a:xfrm xmlns:a="http://schemas.openxmlformats.org/drawingml/2006/main">
            <a:off x="9296400" y="4600575"/>
            <a:ext cx="2171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Observe</a:t>
            </a:r>
          </a:p>
        </p:txBody>
      </p:sp>
      <p:sp>
        <p:nvSpPr>
          <p:cNvPr id="21" name="">
            <a:extLst xmlns:a="http://schemas.openxmlformats.org/drawingml/2006/main">
              <a:ext uri="{FF2B5EF4-FFF2-40B4-BE49-F238E27FC236}">
                <a16:creationId xmlns:a16="http://schemas.microsoft.com/office/drawing/2014/main" id="{45BC42B4-41D5-4771-A1A6-64E3183335F1}"/>
              </a:ext>
            </a:extLst>
          </p:cNvPr>
          <p:cNvSpPr>
            <a:spLocks xmlns:a="http://schemas.openxmlformats.org/drawingml/2006/main" noGrp="1"/>
          </p:cNvSpPr>
          <p:nvPr/>
        </p:nvSpPr>
        <p:spPr>
          <a:xfrm xmlns:a="http://schemas.openxmlformats.org/drawingml/2006/main">
            <a:off x="6324600" y="4524375"/>
            <a:ext cx="2400300" cy="66675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22" name="">
            <a:extLst xmlns:a="http://schemas.openxmlformats.org/drawingml/2006/main">
              <a:ext uri="{FF2B5EF4-FFF2-40B4-BE49-F238E27FC236}">
                <a16:creationId xmlns:a16="http://schemas.microsoft.com/office/drawing/2014/main" id="{B0415D15-F5AB-492E-9901-A55B0955FD2F}"/>
              </a:ext>
            </a:extLst>
          </p:cNvPr>
          <p:cNvSpPr>
            <a:spLocks xmlns:a="http://schemas.openxmlformats.org/drawingml/2006/main" noGrp="1"/>
          </p:cNvSpPr>
          <p:nvPr/>
        </p:nvSpPr>
        <p:spPr>
          <a:xfrm xmlns:a="http://schemas.openxmlformats.org/drawingml/2006/main">
            <a:off x="6438900" y="4600575"/>
            <a:ext cx="2171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725" b="1">
                <a:solidFill>
                  <a:srgbClr val="F4F7FA"/>
                </a:solidFill>
                <a:latin typeface="DejaVu Sans"/>
                <a:ea typeface="DejaVu Sans"/>
                <a:cs typeface="DejaVu Sans"/>
              </a:defRPr>
            </a:pPr>
            <a:r>
              <a:rPr sz="1725" b="1">
                <a:solidFill>
                  <a:srgbClr val="F4F7FA"/>
                </a:solidFill>
                <a:latin typeface="DejaVu Sans"/>
                <a:ea typeface="DejaVu Sans"/>
                <a:cs typeface="DejaVu Sans"/>
              </a:rPr>
              <a:t>Compare / authorize</a:t>
            </a:r>
          </a:p>
        </p:txBody>
      </p:sp>
      <p:sp>
        <p:nvSpPr>
          <p:cNvPr id="23" name="">
            <a:extLst xmlns:a="http://schemas.openxmlformats.org/drawingml/2006/main">
              <a:ext uri="{FF2B5EF4-FFF2-40B4-BE49-F238E27FC236}">
                <a16:creationId xmlns:a16="http://schemas.microsoft.com/office/drawing/2014/main" id="{87195C1E-553C-4240-BC44-B0340303AFD5}"/>
              </a:ext>
            </a:extLst>
          </p:cNvPr>
          <p:cNvSpPr>
            <a:spLocks xmlns:a="http://schemas.openxmlformats.org/drawingml/2006/main" noGrp="1"/>
          </p:cNvSpPr>
          <p:nvPr/>
        </p:nvSpPr>
        <p:spPr>
          <a:xfrm xmlns:a="http://schemas.openxmlformats.org/drawingml/2006/main">
            <a:off x="3467100" y="4524375"/>
            <a:ext cx="2400300" cy="66675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24" name="">
            <a:extLst xmlns:a="http://schemas.openxmlformats.org/drawingml/2006/main">
              <a:ext uri="{FF2B5EF4-FFF2-40B4-BE49-F238E27FC236}">
                <a16:creationId xmlns:a16="http://schemas.microsoft.com/office/drawing/2014/main" id="{478FA471-CFF2-45F0-B66B-42C3BB4C0FDA}"/>
              </a:ext>
            </a:extLst>
          </p:cNvPr>
          <p:cNvSpPr>
            <a:spLocks xmlns:a="http://schemas.openxmlformats.org/drawingml/2006/main" noGrp="1"/>
          </p:cNvSpPr>
          <p:nvPr/>
        </p:nvSpPr>
        <p:spPr>
          <a:xfrm xmlns:a="http://schemas.openxmlformats.org/drawingml/2006/main">
            <a:off x="3581400" y="4600575"/>
            <a:ext cx="2171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725" b="1">
                <a:solidFill>
                  <a:srgbClr val="F4F7FA"/>
                </a:solidFill>
                <a:latin typeface="DejaVu Sans"/>
                <a:ea typeface="DejaVu Sans"/>
                <a:cs typeface="DejaVu Sans"/>
              </a:defRPr>
            </a:pPr>
            <a:r>
              <a:rPr sz="1725" b="1">
                <a:solidFill>
                  <a:srgbClr val="F4F7FA"/>
                </a:solidFill>
                <a:latin typeface="DejaVu Sans"/>
                <a:ea typeface="DejaVu Sans"/>
                <a:cs typeface="DejaVu Sans"/>
              </a:rPr>
              <a:t>Apply correction</a:t>
            </a:r>
          </a:p>
        </p:txBody>
      </p:sp>
      <p:cxnSp>
        <p:nvCxnSpPr>
          <p:cNvPr id="58" name=""/>
          <p:cNvCxnSpPr>
            <a:stCxn xmlns:a="http://schemas.openxmlformats.org/drawingml/2006/main" id="11" idx="2"/>
            <a:endCxn xmlns:a="http://schemas.openxmlformats.org/drawingml/2006/main" id="19" idx="0"/>
          </p:cNvCxnSpPr>
          <p:nvPr/>
        </p:nvCxnSpPr>
        <p:spPr>
          <a:xfrm xmlns:a="http://schemas.openxmlformats.org/drawingml/2006/main">
            <a:off x="10382250" y="3209925"/>
            <a:ext cx="0" cy="131445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59" name=""/>
          <p:cNvCxnSpPr>
            <a:stCxn xmlns:a="http://schemas.openxmlformats.org/drawingml/2006/main" id="19" idx="1"/>
            <a:endCxn xmlns:a="http://schemas.openxmlformats.org/drawingml/2006/main" id="21" idx="3"/>
          </p:cNvCxnSpPr>
          <p:nvPr/>
        </p:nvCxnSpPr>
        <p:spPr>
          <a:xfrm xmlns:a="http://schemas.openxmlformats.org/drawingml/2006/main" flipH="1">
            <a:off x="8724900" y="4857750"/>
            <a:ext cx="45720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60" name=""/>
          <p:cNvCxnSpPr>
            <a:stCxn xmlns:a="http://schemas.openxmlformats.org/drawingml/2006/main" id="17" idx="2"/>
            <a:endCxn xmlns:a="http://schemas.openxmlformats.org/drawingml/2006/main" id="21" idx="0"/>
          </p:cNvCxnSpPr>
          <p:nvPr/>
        </p:nvCxnSpPr>
        <p:spPr>
          <a:xfrm xmlns:a="http://schemas.openxmlformats.org/drawingml/2006/main">
            <a:off x="7524750" y="4191000"/>
            <a:ext cx="0" cy="333375"/>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61" name=""/>
          <p:cNvCxnSpPr>
            <a:stCxn xmlns:a="http://schemas.openxmlformats.org/drawingml/2006/main" id="21" idx="1"/>
            <a:endCxn xmlns:a="http://schemas.openxmlformats.org/drawingml/2006/main" id="23" idx="3"/>
          </p:cNvCxnSpPr>
          <p:nvPr/>
        </p:nvCxnSpPr>
        <p:spPr>
          <a:xfrm xmlns:a="http://schemas.openxmlformats.org/drawingml/2006/main" flipH="1">
            <a:off x="5867400" y="4857750"/>
            <a:ext cx="45720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62" name=""/>
          <p:cNvCxnSpPr>
            <a:stCxn xmlns:a="http://schemas.openxmlformats.org/drawingml/2006/main" id="23" idx="0"/>
            <a:endCxn xmlns:a="http://schemas.openxmlformats.org/drawingml/2006/main" id="7" idx="2"/>
          </p:cNvCxnSpPr>
          <p:nvPr/>
        </p:nvCxnSpPr>
        <p:spPr>
          <a:xfrm xmlns:a="http://schemas.openxmlformats.org/drawingml/2006/main" flipV="1">
            <a:off x="4667250" y="3209925"/>
            <a:ext cx="0" cy="131445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sp>
        <p:nvSpPr>
          <p:cNvPr id="30" name="">
            <a:extLst xmlns:a="http://schemas.openxmlformats.org/drawingml/2006/main">
              <a:ext uri="{FF2B5EF4-FFF2-40B4-BE49-F238E27FC236}">
                <a16:creationId xmlns:a16="http://schemas.microsoft.com/office/drawing/2014/main" id="{1555FACE-7D33-4263-B1CC-23CA8F225318}"/>
              </a:ext>
            </a:extLst>
          </p:cNvPr>
          <p:cNvSpPr>
            <a:spLocks xmlns:a="http://schemas.openxmlformats.org/drawingml/2006/main" noGrp="1"/>
          </p:cNvSpPr>
          <p:nvPr/>
        </p:nvSpPr>
        <p:spPr>
          <a:xfrm xmlns:a="http://schemas.openxmlformats.org/drawingml/2006/main">
            <a:off x="609600" y="53054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DejaVu Sans"/>
                <a:ea typeface="DejaVu Sans"/>
                <a:cs typeface="DejaVu Sans"/>
              </a:defRPr>
            </a:pPr>
            <a:r>
              <a:rPr sz="1650" b="0">
                <a:solidFill>
                  <a:srgbClr val="F4F7FA"/>
                </a:solidFill>
                <a:latin typeface="DejaVu Sans"/>
                <a:ea typeface="DejaVu Sans"/>
                <a:cs typeface="DejaVu Sans"/>
              </a:rPr>
              <a:t>Rollback / disable tool / manual fallback · inside delegated authority</a:t>
            </a:r>
          </a:p>
        </p:txBody>
      </p:sp>
      <p:sp>
        <p:nvSpPr>
          <p:cNvPr id="31" name="">
            <a:extLst xmlns:a="http://schemas.openxmlformats.org/drawingml/2006/main">
              <a:ext uri="{FF2B5EF4-FFF2-40B4-BE49-F238E27FC236}">
                <a16:creationId xmlns:a16="http://schemas.microsoft.com/office/drawing/2014/main" id="{74CC78A8-EEE5-4327-8A6A-469E13C64189}"/>
              </a:ext>
            </a:extLst>
          </p:cNvPr>
          <p:cNvSpPr>
            <a:spLocks xmlns:a="http://schemas.openxmlformats.org/drawingml/2006/main" noGrp="1"/>
          </p:cNvSpPr>
          <p:nvPr/>
        </p:nvSpPr>
        <p:spPr>
          <a:xfrm xmlns:a="http://schemas.openxmlformats.org/drawingml/2006/main">
            <a:off x="609600" y="56102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DejaVu Sans"/>
                <a:ea typeface="DejaVu Sans"/>
                <a:cs typeface="DejaVu Sans"/>
              </a:defRPr>
            </a:pPr>
            <a:r>
              <a:rPr sz="1425" b="0">
                <a:solidFill>
                  <a:srgbClr val="ADB8C5"/>
                </a:solidFill>
                <a:latin typeface="DejaVu Sans"/>
                <a:ea typeface="DejaVu Sans"/>
                <a:cs typeface="DejaVu Sans"/>
              </a:rPr>
              <a:t>Observe outcomes + gate health. Verify that the corrective action took effect.</a:t>
            </a:r>
          </a:p>
        </p:txBody>
      </p:sp>
      <p:sp>
        <p:nvSpPr>
          <p:cNvPr id="32" name="">
            <a:extLst xmlns:a="http://schemas.openxmlformats.org/drawingml/2006/main">
              <a:ext uri="{FF2B5EF4-FFF2-40B4-BE49-F238E27FC236}">
                <a16:creationId xmlns:a16="http://schemas.microsoft.com/office/drawing/2014/main" id="{496A9852-1E5A-4D32-88ED-C37DF817FAA7}"/>
              </a:ext>
            </a:extLst>
          </p:cNvPr>
          <p:cNvSpPr>
            <a:spLocks xmlns:a="http://schemas.openxmlformats.org/drawingml/2006/main" noGrp="1"/>
          </p:cNvSpPr>
          <p:nvPr/>
        </p:nvSpPr>
        <p:spPr>
          <a:xfrm xmlns:a="http://schemas.openxmlformats.org/drawingml/2006/main" flipH="0" flipV="0">
            <a:off x="609600" y="59055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3" name="">
            <a:extLst xmlns:a="http://schemas.openxmlformats.org/drawingml/2006/main">
              <a:ext uri="{FF2B5EF4-FFF2-40B4-BE49-F238E27FC236}">
                <a16:creationId xmlns:a16="http://schemas.microsoft.com/office/drawing/2014/main" id="{514473EA-D5F5-484F-932A-606CEC17727A}"/>
              </a:ext>
            </a:extLst>
          </p:cNvPr>
          <p:cNvSpPr>
            <a:spLocks xmlns:a="http://schemas.openxmlformats.org/drawingml/2006/main" noGrp="1"/>
          </p:cNvSpPr>
          <p:nvPr/>
        </p:nvSpPr>
        <p:spPr>
          <a:xfrm xmlns:a="http://schemas.openxmlformats.org/drawingml/2006/main">
            <a:off x="609600" y="6048375"/>
            <a:ext cx="10648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1">
                <a:solidFill>
                  <a:srgbClr val="F4F7FA"/>
                </a:solidFill>
                <a:latin typeface="DejaVu Sans"/>
                <a:ea typeface="DejaVu Sans"/>
                <a:cs typeface="DejaVu Sans"/>
              </a:defRPr>
            </a:pPr>
            <a:r>
              <a:rPr sz="1950" b="1">
                <a:solidFill>
                  <a:srgbClr val="F4F7FA"/>
                </a:solidFill>
                <a:latin typeface="DejaVu Sans"/>
                <a:ea typeface="DejaVu Sans"/>
                <a:cs typeface="DejaVu Sans"/>
              </a:rPr>
              <a:t>A dashboard sees a problem. An authorized control path can change operation.</a:t>
            </a:r>
          </a:p>
        </p:txBody>
      </p:sp>
    </p:spTree>
    <p:extLst>
      <p:ext uri="{BB962C8B-B14F-4D97-AF65-F5344CB8AC3E}">
        <p14:creationId xmlns:p14="http://schemas.microsoft.com/office/powerpoint/2010/main" val="1409284348"/>
      </p:ext>
    </p:extLst>
  </p:cSld>
</p:sld>
</file>

<file path=ppt/slides/slide13.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B2D1490C-88B9-4A2A-83F1-714A22424D70}"/>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The Roles Move With the System</a:t>
            </a:r>
          </a:p>
        </p:txBody>
      </p:sp>
      <p:sp>
        <p:nvSpPr>
          <p:cNvPr id="2" name="">
            <a:extLst xmlns:a="http://schemas.openxmlformats.org/drawingml/2006/main">
              <a:ext uri="{FF2B5EF4-FFF2-40B4-BE49-F238E27FC236}">
                <a16:creationId xmlns:a16="http://schemas.microsoft.com/office/drawing/2014/main" id="{494E81EE-95B5-496E-BB77-80B7DE3EE7C8}"/>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7311D1DE-9D78-4028-80B2-084AF3FA826F}"/>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13</a:t>
            </a:r>
          </a:p>
        </p:txBody>
      </p:sp>
      <p:sp>
        <p:nvSpPr>
          <p:cNvPr id="4" name="">
            <a:extLst xmlns:a="http://schemas.openxmlformats.org/drawingml/2006/main">
              <a:ext uri="{FF2B5EF4-FFF2-40B4-BE49-F238E27FC236}">
                <a16:creationId xmlns:a16="http://schemas.microsoft.com/office/drawing/2014/main" id="{C2324A97-DC60-4AF2-B131-ED0F1427666A}"/>
              </a:ext>
            </a:extLst>
          </p:cNvPr>
          <p:cNvSpPr>
            <a:spLocks xmlns:a="http://schemas.openxmlformats.org/drawingml/2006/main" noGrp="1"/>
          </p:cNvSpPr>
          <p:nvPr/>
        </p:nvSpPr>
        <p:spPr>
          <a:xfrm xmlns:a="http://schemas.openxmlformats.org/drawingml/2006/main">
            <a:off x="609600" y="17526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DejaVu Sans"/>
                <a:ea typeface="DejaVu Sans"/>
                <a:cs typeface="DejaVu Sans"/>
              </a:defRPr>
            </a:pPr>
            <a:r>
              <a:rPr sz="1650" b="1">
                <a:solidFill>
                  <a:srgbClr val="28C7F7"/>
                </a:solidFill>
                <a:latin typeface="DejaVu Sans"/>
                <a:ea typeface="DejaVu Sans"/>
                <a:cs typeface="DejaVu Sans"/>
              </a:rPr>
              <a:t>PROJECT MANAGER · manage the learning loop as well as delivery</a:t>
            </a:r>
          </a:p>
        </p:txBody>
      </p:sp>
      <p:sp>
        <p:nvSpPr>
          <p:cNvPr id="5" name="">
            <a:extLst xmlns:a="http://schemas.openxmlformats.org/drawingml/2006/main">
              <a:ext uri="{FF2B5EF4-FFF2-40B4-BE49-F238E27FC236}">
                <a16:creationId xmlns:a16="http://schemas.microsoft.com/office/drawing/2014/main" id="{05A0D32C-DF47-4D64-AD3A-B12F022E86CC}"/>
              </a:ext>
            </a:extLst>
          </p:cNvPr>
          <p:cNvSpPr>
            <a:spLocks xmlns:a="http://schemas.openxmlformats.org/drawingml/2006/main" noGrp="1"/>
          </p:cNvSpPr>
          <p:nvPr/>
        </p:nvSpPr>
        <p:spPr>
          <a:xfrm xmlns:a="http://schemas.openxmlformats.org/drawingml/2006/main">
            <a:off x="609600" y="2238375"/>
            <a:ext cx="2400300" cy="5715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6" name="">
            <a:extLst xmlns:a="http://schemas.openxmlformats.org/drawingml/2006/main">
              <a:ext uri="{FF2B5EF4-FFF2-40B4-BE49-F238E27FC236}">
                <a16:creationId xmlns:a16="http://schemas.microsoft.com/office/drawing/2014/main" id="{8B6BF1DF-A514-408A-84A0-4F7E48EFF348}"/>
              </a:ext>
            </a:extLst>
          </p:cNvPr>
          <p:cNvSpPr>
            <a:spLocks xmlns:a="http://schemas.openxmlformats.org/drawingml/2006/main" noGrp="1"/>
          </p:cNvSpPr>
          <p:nvPr/>
        </p:nvSpPr>
        <p:spPr>
          <a:xfrm xmlns:a="http://schemas.openxmlformats.org/drawingml/2006/main">
            <a:off x="723900" y="2314575"/>
            <a:ext cx="21717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Hypothesis</a:t>
            </a:r>
          </a:p>
        </p:txBody>
      </p:sp>
      <p:sp>
        <p:nvSpPr>
          <p:cNvPr id="7" name="">
            <a:extLst xmlns:a="http://schemas.openxmlformats.org/drawingml/2006/main">
              <a:ext uri="{FF2B5EF4-FFF2-40B4-BE49-F238E27FC236}">
                <a16:creationId xmlns:a16="http://schemas.microsoft.com/office/drawing/2014/main" id="{15406DEF-B5DA-4005-88CC-85060B0F29C7}"/>
              </a:ext>
            </a:extLst>
          </p:cNvPr>
          <p:cNvSpPr>
            <a:spLocks xmlns:a="http://schemas.openxmlformats.org/drawingml/2006/main" noGrp="1"/>
          </p:cNvSpPr>
          <p:nvPr/>
        </p:nvSpPr>
        <p:spPr>
          <a:xfrm xmlns:a="http://schemas.openxmlformats.org/drawingml/2006/main">
            <a:off x="3467100" y="2238375"/>
            <a:ext cx="2400300" cy="5715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8" name="">
            <a:extLst xmlns:a="http://schemas.openxmlformats.org/drawingml/2006/main">
              <a:ext uri="{FF2B5EF4-FFF2-40B4-BE49-F238E27FC236}">
                <a16:creationId xmlns:a16="http://schemas.microsoft.com/office/drawing/2014/main" id="{A58EE7B1-AF6A-4A86-8440-D1E8DBD2E9B9}"/>
              </a:ext>
            </a:extLst>
          </p:cNvPr>
          <p:cNvSpPr>
            <a:spLocks xmlns:a="http://schemas.openxmlformats.org/drawingml/2006/main" noGrp="1"/>
          </p:cNvSpPr>
          <p:nvPr/>
        </p:nvSpPr>
        <p:spPr>
          <a:xfrm xmlns:a="http://schemas.openxmlformats.org/drawingml/2006/main">
            <a:off x="3581400" y="2314575"/>
            <a:ext cx="21717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Bounded trial</a:t>
            </a:r>
          </a:p>
        </p:txBody>
      </p:sp>
      <p:sp>
        <p:nvSpPr>
          <p:cNvPr id="9" name="">
            <a:extLst xmlns:a="http://schemas.openxmlformats.org/drawingml/2006/main">
              <a:ext uri="{FF2B5EF4-FFF2-40B4-BE49-F238E27FC236}">
                <a16:creationId xmlns:a16="http://schemas.microsoft.com/office/drawing/2014/main" id="{9F5805CC-6FEE-4D34-B9F8-8E9A4B96E4F1}"/>
              </a:ext>
            </a:extLst>
          </p:cNvPr>
          <p:cNvSpPr>
            <a:spLocks xmlns:a="http://schemas.openxmlformats.org/drawingml/2006/main" noGrp="1"/>
          </p:cNvSpPr>
          <p:nvPr/>
        </p:nvSpPr>
        <p:spPr>
          <a:xfrm xmlns:a="http://schemas.openxmlformats.org/drawingml/2006/main">
            <a:off x="6324600" y="2238375"/>
            <a:ext cx="2400300" cy="5715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0" name="">
            <a:extLst xmlns:a="http://schemas.openxmlformats.org/drawingml/2006/main">
              <a:ext uri="{FF2B5EF4-FFF2-40B4-BE49-F238E27FC236}">
                <a16:creationId xmlns:a16="http://schemas.microsoft.com/office/drawing/2014/main" id="{6B09308B-5227-4601-AAB5-B6D6CC880BC6}"/>
              </a:ext>
            </a:extLst>
          </p:cNvPr>
          <p:cNvSpPr>
            <a:spLocks xmlns:a="http://schemas.openxmlformats.org/drawingml/2006/main" noGrp="1"/>
          </p:cNvSpPr>
          <p:nvPr/>
        </p:nvSpPr>
        <p:spPr>
          <a:xfrm xmlns:a="http://schemas.openxmlformats.org/drawingml/2006/main">
            <a:off x="6438900" y="2314575"/>
            <a:ext cx="21717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Evidence</a:t>
            </a:r>
          </a:p>
        </p:txBody>
      </p:sp>
      <p:sp>
        <p:nvSpPr>
          <p:cNvPr id="11" name="">
            <a:extLst xmlns:a="http://schemas.openxmlformats.org/drawingml/2006/main">
              <a:ext uri="{FF2B5EF4-FFF2-40B4-BE49-F238E27FC236}">
                <a16:creationId xmlns:a16="http://schemas.microsoft.com/office/drawing/2014/main" id="{D71F36EE-E4B8-4560-BCDF-8196F8EB2F12}"/>
              </a:ext>
            </a:extLst>
          </p:cNvPr>
          <p:cNvSpPr>
            <a:spLocks xmlns:a="http://schemas.openxmlformats.org/drawingml/2006/main" noGrp="1"/>
          </p:cNvSpPr>
          <p:nvPr/>
        </p:nvSpPr>
        <p:spPr>
          <a:xfrm xmlns:a="http://schemas.openxmlformats.org/drawingml/2006/main">
            <a:off x="9182100" y="2238375"/>
            <a:ext cx="2400300" cy="5715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2" name="">
            <a:extLst xmlns:a="http://schemas.openxmlformats.org/drawingml/2006/main">
              <a:ext uri="{FF2B5EF4-FFF2-40B4-BE49-F238E27FC236}">
                <a16:creationId xmlns:a16="http://schemas.microsoft.com/office/drawing/2014/main" id="{A0EA2ECC-6C87-4239-BC93-1E3D81E0D6FB}"/>
              </a:ext>
            </a:extLst>
          </p:cNvPr>
          <p:cNvSpPr>
            <a:spLocks xmlns:a="http://schemas.openxmlformats.org/drawingml/2006/main" noGrp="1"/>
          </p:cNvSpPr>
          <p:nvPr/>
        </p:nvSpPr>
        <p:spPr>
          <a:xfrm xmlns:a="http://schemas.openxmlformats.org/drawingml/2006/main">
            <a:off x="9296400" y="2314575"/>
            <a:ext cx="21717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Decision</a:t>
            </a:r>
          </a:p>
        </p:txBody>
      </p:sp>
      <p:cxnSp>
        <p:nvCxnSpPr>
          <p:cNvPr id="32" name=""/>
          <p:cNvCxnSpPr>
            <a:stCxn xmlns:a="http://schemas.openxmlformats.org/drawingml/2006/main" id="5" idx="3"/>
            <a:endCxn xmlns:a="http://schemas.openxmlformats.org/drawingml/2006/main" id="7" idx="1"/>
          </p:cNvCxnSpPr>
          <p:nvPr/>
        </p:nvCxnSpPr>
        <p:spPr>
          <a:xfrm xmlns:a="http://schemas.openxmlformats.org/drawingml/2006/main">
            <a:off x="3009900" y="2524125"/>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33" name=""/>
          <p:cNvCxnSpPr>
            <a:stCxn xmlns:a="http://schemas.openxmlformats.org/drawingml/2006/main" id="7" idx="3"/>
            <a:endCxn xmlns:a="http://schemas.openxmlformats.org/drawingml/2006/main" id="9" idx="1"/>
          </p:cNvCxnSpPr>
          <p:nvPr/>
        </p:nvCxnSpPr>
        <p:spPr>
          <a:xfrm xmlns:a="http://schemas.openxmlformats.org/drawingml/2006/main">
            <a:off x="5867400" y="2524125"/>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34" name=""/>
          <p:cNvCxnSpPr>
            <a:stCxn xmlns:a="http://schemas.openxmlformats.org/drawingml/2006/main" id="9" idx="3"/>
            <a:endCxn xmlns:a="http://schemas.openxmlformats.org/drawingml/2006/main" id="11" idx="1"/>
          </p:cNvCxnSpPr>
          <p:nvPr/>
        </p:nvCxnSpPr>
        <p:spPr>
          <a:xfrm xmlns:a="http://schemas.openxmlformats.org/drawingml/2006/main">
            <a:off x="8724900" y="2524125"/>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16" name="">
            <a:extLst xmlns:a="http://schemas.openxmlformats.org/drawingml/2006/main">
              <a:ext uri="{FF2B5EF4-FFF2-40B4-BE49-F238E27FC236}">
                <a16:creationId xmlns:a16="http://schemas.microsoft.com/office/drawing/2014/main" id="{0A4B6FBF-18F5-4D49-AE4A-8CD6C056E363}"/>
              </a:ext>
            </a:extLst>
          </p:cNvPr>
          <p:cNvSpPr>
            <a:spLocks xmlns:a="http://schemas.openxmlformats.org/drawingml/2006/main" noGrp="1"/>
          </p:cNvSpPr>
          <p:nvPr/>
        </p:nvSpPr>
        <p:spPr>
          <a:xfrm xmlns:a="http://schemas.openxmlformats.org/drawingml/2006/main">
            <a:off x="609600" y="293370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DejaVu Sans"/>
                <a:ea typeface="DejaVu Sans"/>
                <a:cs typeface="DejaVu Sans"/>
              </a:defRPr>
            </a:pPr>
            <a:r>
              <a:rPr sz="1575" b="0">
                <a:solidFill>
                  <a:srgbClr val="ADB8C5"/>
                </a:solidFill>
                <a:latin typeface="DejaVu Sans"/>
                <a:ea typeface="DejaVu Sans"/>
                <a:cs typeface="DejaVu Sans"/>
              </a:rPr>
              <a:t>Adapt or stop; production evidence feeds the next iteration.</a:t>
            </a:r>
          </a:p>
        </p:txBody>
      </p:sp>
      <p:graphicFrame>
        <p:nvGraphicFramePr>
          <p:cNvPr id="36" name=""/>
          <p:cNvGraphicFramePr/>
          <p:nvPr/>
        </p:nvGraphicFramePr>
        <p:xfrm>
          <a:off xmlns:a="http://schemas.openxmlformats.org/drawingml/2006/main" x="609600" y="3333750"/>
          <a:ext xmlns:a="http://schemas.openxmlformats.org/drawingml/2006/main" cx="10972800" cy="2266950"/>
        </p:xfrm>
        <a:graphic xmlns:a="http://schemas.openxmlformats.org/drawingml/2006/main">
          <a:graphicData uri="http://schemas.openxmlformats.org/drawingml/2006/table">
            <a:tbl>
              <a:tblPr/>
              <a:tblGrid>
                <a:gridCol w="2028825"/>
                <a:gridCol w="4467225"/>
                <a:gridCol w="4476750"/>
              </a:tblGrid>
              <a:tr h="566738">
                <a:tc>
                  <a:txBody>
                    <a:bodyPr lIns="171450" tIns="66675" rIns="171450" bIns="66675">
                      <a:noAutofit/>
                    </a:bodyPr>
                    <a:lstStyle/>
                    <a:p>
                      <a:r>
                        <a:rPr sz="1575" b="1">
                          <a:solidFill>
                            <a:srgbClr val="F4F7FA"/>
                          </a:solidFill>
                          <a:latin typeface="DejaVu Sans"/>
                          <a:ea typeface="DejaVu Sans"/>
                          <a:cs typeface="DejaVu Sans"/>
                        </a:rPr>
                        <a:t>CHECKPOINT</a:t>
                      </a:r>
                    </a:p>
                  </a:txBody>
                  <a:tcPr marL="91440" marR="91440" marT="45720" marB="45720" anchor="ctr">
                    <a:solidFill>
                      <a:srgbClr val="1A2734"/>
                    </a:solidFill>
                  </a:tcPr>
                </a:tc>
                <a:tc>
                  <a:txBody>
                    <a:bodyPr lIns="171450" tIns="66675" rIns="171450" bIns="66675">
                      <a:noAutofit/>
                    </a:bodyPr>
                    <a:lstStyle/>
                    <a:p>
                      <a:r>
                        <a:rPr sz="1575" b="1">
                          <a:solidFill>
                            <a:srgbClr val="F4F7FA"/>
                          </a:solidFill>
                          <a:latin typeface="DejaVu Sans"/>
                          <a:ea typeface="DejaVu Sans"/>
                          <a:cs typeface="DejaVu Sans"/>
                        </a:rPr>
                        <a:t>PROJECT MANAGER’S WORK</a:t>
                      </a:r>
                    </a:p>
                  </a:txBody>
                  <a:tcPr marL="91440" marR="91440" marT="45720" marB="45720" anchor="ctr">
                    <a:solidFill>
                      <a:srgbClr val="1A2734"/>
                    </a:solidFill>
                  </a:tcPr>
                </a:tc>
                <a:tc>
                  <a:txBody>
                    <a:bodyPr lIns="171450" tIns="66675" rIns="171450" bIns="66675">
                      <a:noAutofit/>
                    </a:bodyPr>
                    <a:lstStyle/>
                    <a:p>
                      <a:r>
                        <a:rPr sz="1575" b="1">
                          <a:solidFill>
                            <a:srgbClr val="28C7F7"/>
                          </a:solidFill>
                          <a:latin typeface="DejaVu Sans"/>
                          <a:ea typeface="DejaVu Sans"/>
                          <a:cs typeface="DejaVu Sans"/>
                        </a:rPr>
                        <a:t>VISIBLE RESULT</a:t>
                      </a:r>
                    </a:p>
                  </a:txBody>
                  <a:tcPr marL="91440" marR="91440" marT="45720" marB="45720" anchor="ctr">
                    <a:solidFill>
                      <a:srgbClr val="1A2734"/>
                    </a:solidFill>
                  </a:tcPr>
                </a:tc>
              </a:tr>
              <a:tr h="566738">
                <a:tc>
                  <a:txBody>
                    <a:bodyPr lIns="171450" tIns="66675" rIns="171450" bIns="66675">
                      <a:noAutofit/>
                    </a:bodyPr>
                    <a:lstStyle/>
                    <a:p>
                      <a:r>
                        <a:rPr sz="1500" b="1">
                          <a:solidFill>
                            <a:srgbClr val="F4F7FA"/>
                          </a:solidFill>
                          <a:latin typeface="DejaVu Sans"/>
                          <a:ea typeface="DejaVu Sans"/>
                          <a:cs typeface="DejaVu Sans"/>
                        </a:rPr>
                        <a:t>Planning</a:t>
                      </a:r>
                    </a:p>
                  </a:txBody>
                  <a:tcPr marL="91440" marR="91440" marT="45720" marB="45720" anchor="ctr">
                    <a:solidFill>
                      <a:srgbClr val="0B0F14"/>
                    </a:solidFill>
                  </a:tcPr>
                </a:tc>
                <a:tc>
                  <a:txBody>
                    <a:bodyPr lIns="171450" tIns="66675" rIns="171450" bIns="66675">
                      <a:noAutofit/>
                    </a:bodyPr>
                    <a:lstStyle/>
                    <a:p>
                      <a:r>
                        <a:rPr sz="1500" b="0">
                          <a:solidFill>
                            <a:srgbClr val="F4F7FA"/>
                          </a:solidFill>
                          <a:latin typeface="DejaVu Sans"/>
                          <a:ea typeface="DejaVu Sans"/>
                          <a:cs typeface="DejaVu Sans"/>
                        </a:rPr>
                        <a:t>Sequence evidence gaps + dependencies</a:t>
                      </a:r>
                    </a:p>
                  </a:txBody>
                  <a:tcPr marL="91440" marR="91440" marT="45720" marB="45720" anchor="ctr">
                    <a:solidFill>
                      <a:srgbClr val="0B0F14"/>
                    </a:solidFill>
                  </a:tcPr>
                </a:tc>
                <a:tc>
                  <a:txBody>
                    <a:bodyPr lIns="171450" tIns="66675" rIns="171450" bIns="66675">
                      <a:noAutofit/>
                    </a:bodyPr>
                    <a:lstStyle/>
                    <a:p>
                      <a:r>
                        <a:rPr sz="1500" b="0">
                          <a:solidFill>
                            <a:srgbClr val="28C7F7"/>
                          </a:solidFill>
                          <a:latin typeface="DejaVu Sans"/>
                          <a:ea typeface="DejaVu Sans"/>
                          <a:cs typeface="DejaVu Sans"/>
                        </a:rPr>
                        <a:t>Trial budget, owner, stop condition</a:t>
                      </a:r>
                    </a:p>
                  </a:txBody>
                  <a:tcPr marL="91440" marR="91440" marT="45720" marB="45720" anchor="ctr">
                    <a:solidFill>
                      <a:srgbClr val="0B0F14"/>
                    </a:solidFill>
                  </a:tcPr>
                </a:tc>
              </a:tr>
              <a:tr h="566738">
                <a:tc>
                  <a:txBody>
                    <a:bodyPr lIns="171450" tIns="66675" rIns="171450" bIns="66675">
                      <a:noAutofit/>
                    </a:bodyPr>
                    <a:lstStyle/>
                    <a:p>
                      <a:r>
                        <a:rPr sz="1500" b="1">
                          <a:solidFill>
                            <a:srgbClr val="F4F7FA"/>
                          </a:solidFill>
                          <a:latin typeface="DejaVu Sans"/>
                          <a:ea typeface="DejaVu Sans"/>
                          <a:cs typeface="DejaVu Sans"/>
                        </a:rPr>
                        <a:t>Sprint review</a:t>
                      </a:r>
                    </a:p>
                  </a:txBody>
                  <a:tcPr marL="91440" marR="91440" marT="45720" marB="45720" anchor="ctr">
                    <a:solidFill>
                      <a:srgbClr val="0B0F14"/>
                    </a:solidFill>
                  </a:tcPr>
                </a:tc>
                <a:tc>
                  <a:txBody>
                    <a:bodyPr lIns="171450" tIns="66675" rIns="171450" bIns="66675">
                      <a:noAutofit/>
                    </a:bodyPr>
                    <a:lstStyle/>
                    <a:p>
                      <a:r>
                        <a:rPr sz="1500" b="0">
                          <a:solidFill>
                            <a:srgbClr val="F4F7FA"/>
                          </a:solidFill>
                          <a:latin typeface="DejaVu Sans"/>
                          <a:ea typeface="DejaVu Sans"/>
                          <a:cs typeface="DejaVu Sans"/>
                        </a:rPr>
                        <a:t>Bring Product, BA, QA, Dev, Architect together</a:t>
                      </a:r>
                    </a:p>
                  </a:txBody>
                  <a:tcPr marL="91440" marR="91440" marT="45720" marB="45720" anchor="ctr">
                    <a:solidFill>
                      <a:srgbClr val="0B0F14"/>
                    </a:solidFill>
                  </a:tcPr>
                </a:tc>
                <a:tc>
                  <a:txBody>
                    <a:bodyPr lIns="171450" tIns="66675" rIns="171450" bIns="66675">
                      <a:noAutofit/>
                    </a:bodyPr>
                    <a:lstStyle/>
                    <a:p>
                      <a:r>
                        <a:rPr sz="1500" b="0">
                          <a:solidFill>
                            <a:srgbClr val="28C7F7"/>
                          </a:solidFill>
                          <a:latin typeface="DejaVu Sans"/>
                          <a:ea typeface="DejaVu Sans"/>
                          <a:cs typeface="DejaVu Sans"/>
                        </a:rPr>
                        <a:t>Accept, adjust, narrow or stop</a:t>
                      </a:r>
                    </a:p>
                  </a:txBody>
                  <a:tcPr marL="91440" marR="91440" marT="45720" marB="45720" anchor="ctr">
                    <a:solidFill>
                      <a:srgbClr val="0B0F14"/>
                    </a:solidFill>
                  </a:tcPr>
                </a:tc>
              </a:tr>
              <a:tr h="566738">
                <a:tc>
                  <a:txBody>
                    <a:bodyPr lIns="171450" tIns="66675" rIns="171450" bIns="66675">
                      <a:noAutofit/>
                    </a:bodyPr>
                    <a:lstStyle/>
                    <a:p>
                      <a:r>
                        <a:rPr sz="1500" b="1">
                          <a:solidFill>
                            <a:srgbClr val="F4F7FA"/>
                          </a:solidFill>
                          <a:latin typeface="DejaVu Sans"/>
                          <a:ea typeface="DejaVu Sans"/>
                          <a:cs typeface="DejaVu Sans"/>
                        </a:rPr>
                        <a:t>Release + operate</a:t>
                      </a:r>
                    </a:p>
                  </a:txBody>
                  <a:tcPr marL="91440" marR="91440" marT="45720" marB="45720" anchor="ctr">
                    <a:solidFill>
                      <a:srgbClr val="0B0F14"/>
                    </a:solidFill>
                  </a:tcPr>
                </a:tc>
                <a:tc>
                  <a:txBody>
                    <a:bodyPr lIns="171450" tIns="66675" rIns="171450" bIns="66675">
                      <a:noAutofit/>
                    </a:bodyPr>
                    <a:lstStyle/>
                    <a:p>
                      <a:r>
                        <a:rPr sz="1500" b="0">
                          <a:solidFill>
                            <a:srgbClr val="F4F7FA"/>
                          </a:solidFill>
                          <a:latin typeface="DejaVu Sans"/>
                          <a:ea typeface="DejaVu Sans"/>
                          <a:cs typeface="DejaVu Sans"/>
                        </a:rPr>
                        <a:t>Track authorization + response capacity</a:t>
                      </a:r>
                    </a:p>
                  </a:txBody>
                  <a:tcPr marL="91440" marR="91440" marT="45720" marB="45720" anchor="ctr">
                    <a:solidFill>
                      <a:srgbClr val="0B0F14"/>
                    </a:solidFill>
                  </a:tcPr>
                </a:tc>
                <a:tc>
                  <a:txBody>
                    <a:bodyPr lIns="171450" tIns="66675" rIns="171450" bIns="66675">
                      <a:noAutofit/>
                    </a:bodyPr>
                    <a:lstStyle/>
                    <a:p>
                      <a:r>
                        <a:rPr sz="1500" b="0">
                          <a:solidFill>
                            <a:srgbClr val="28C7F7"/>
                          </a:solidFill>
                          <a:latin typeface="DejaVu Sans"/>
                          <a:ea typeface="DejaVu Sans"/>
                          <a:cs typeface="DejaVu Sans"/>
                        </a:rPr>
                        <a:t>Scoped rollout; trigger to reopen</a:t>
                      </a:r>
                    </a:p>
                  </a:txBody>
                  <a:tcPr marL="91440" marR="91440" marT="45720" marB="45720" anchor="ctr">
                    <a:solidFill>
                      <a:srgbClr val="0B0F14"/>
                    </a:solidFill>
                  </a:tcPr>
                </a:tc>
              </a:tr>
            </a:tbl>
          </a:graphicData>
        </a:graphic>
      </p:graphicFrame>
      <p:sp>
        <p:nvSpPr>
          <p:cNvPr id="18" name="">
            <a:extLst xmlns:a="http://schemas.openxmlformats.org/drawingml/2006/main">
              <a:ext uri="{FF2B5EF4-FFF2-40B4-BE49-F238E27FC236}">
                <a16:creationId xmlns:a16="http://schemas.microsoft.com/office/drawing/2014/main" id="{7B600EB0-933F-409E-9F40-6A3BB57A9B1A}"/>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9" name="">
            <a:extLst xmlns:a="http://schemas.openxmlformats.org/drawingml/2006/main">
              <a:ext uri="{FF2B5EF4-FFF2-40B4-BE49-F238E27FC236}">
                <a16:creationId xmlns:a16="http://schemas.microsoft.com/office/drawing/2014/main" id="{8BE885E5-F4DA-41AA-B66C-1B85D61AF4CC}"/>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Progress = working capability + reduced uncertainty + explicit decisions.</a:t>
            </a:r>
          </a:p>
        </p:txBody>
      </p:sp>
    </p:spTree>
    <p:extLst>
      <p:ext uri="{BB962C8B-B14F-4D97-AF65-F5344CB8AC3E}">
        <p14:creationId xmlns:p14="http://schemas.microsoft.com/office/powerpoint/2010/main" val="921953218"/>
      </p:ext>
    </p:extLst>
  </p:cSld>
</p:sld>
</file>

<file path=ppt/slides/slide14.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DFC54680-98A8-49B9-BA25-7D9F4043F0D1}"/>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Engineering Rigor Moves —</a:t>
            </a:r>
          </a:p>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It Doesn’t Disappear</a:t>
            </a:r>
          </a:p>
        </p:txBody>
      </p:sp>
      <p:sp>
        <p:nvSpPr>
          <p:cNvPr id="2" name="">
            <a:extLst xmlns:a="http://schemas.openxmlformats.org/drawingml/2006/main">
              <a:ext uri="{FF2B5EF4-FFF2-40B4-BE49-F238E27FC236}">
                <a16:creationId xmlns:a16="http://schemas.microsoft.com/office/drawing/2014/main" id="{EC8DF953-C3D3-4B4A-99F3-803E10322C16}"/>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D350ADEA-CABC-440E-8AD8-294F1769DCF1}"/>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14</a:t>
            </a:r>
          </a:p>
        </p:txBody>
      </p:sp>
      <p:sp>
        <p:nvSpPr>
          <p:cNvPr id="4" name="">
            <a:extLst xmlns:a="http://schemas.openxmlformats.org/drawingml/2006/main">
              <a:ext uri="{FF2B5EF4-FFF2-40B4-BE49-F238E27FC236}">
                <a16:creationId xmlns:a16="http://schemas.microsoft.com/office/drawing/2014/main" id="{18F5733C-04A3-44EB-A339-79544DDD497B}"/>
              </a:ext>
            </a:extLst>
          </p:cNvPr>
          <p:cNvSpPr>
            <a:spLocks xmlns:a="http://schemas.openxmlformats.org/drawingml/2006/main" noGrp="1"/>
          </p:cNvSpPr>
          <p:nvPr/>
        </p:nvSpPr>
        <p:spPr>
          <a:xfrm xmlns:a="http://schemas.openxmlformats.org/drawingml/2006/main">
            <a:off x="609600" y="197167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28C7F7"/>
                </a:solidFill>
                <a:latin typeface="DejaVu Sans"/>
                <a:ea typeface="DejaVu Sans"/>
                <a:cs typeface="DejaVu Sans"/>
              </a:defRPr>
            </a:pPr>
            <a:r>
              <a:rPr sz="1725" b="1">
                <a:solidFill>
                  <a:srgbClr val="28C7F7"/>
                </a:solidFill>
                <a:latin typeface="DejaVu Sans"/>
                <a:ea typeface="DejaVu Sans"/>
                <a:cs typeface="DejaVu Sans"/>
              </a:rPr>
              <a:t>HOW WE BUILD</a:t>
            </a:r>
          </a:p>
        </p:txBody>
      </p:sp>
      <p:sp>
        <p:nvSpPr>
          <p:cNvPr id="5" name="">
            <a:extLst xmlns:a="http://schemas.openxmlformats.org/drawingml/2006/main">
              <a:ext uri="{FF2B5EF4-FFF2-40B4-BE49-F238E27FC236}">
                <a16:creationId xmlns:a16="http://schemas.microsoft.com/office/drawing/2014/main" id="{62B8D73A-0574-4DBC-A7EB-C5840C03538E}"/>
              </a:ext>
            </a:extLst>
          </p:cNvPr>
          <p:cNvSpPr>
            <a:spLocks xmlns:a="http://schemas.openxmlformats.org/drawingml/2006/main" noGrp="1"/>
          </p:cNvSpPr>
          <p:nvPr/>
        </p:nvSpPr>
        <p:spPr>
          <a:xfrm xmlns:a="http://schemas.openxmlformats.org/drawingml/2006/main">
            <a:off x="609600" y="2476500"/>
            <a:ext cx="5238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700" b="1">
                <a:solidFill>
                  <a:srgbClr val="F4F7FA"/>
                </a:solidFill>
                <a:latin typeface="DejaVu Sans"/>
                <a:ea typeface="DejaVu Sans"/>
                <a:cs typeface="DejaVu Sans"/>
              </a:defRPr>
            </a:pPr>
            <a:r>
              <a:rPr sz="2700" b="1">
                <a:solidFill>
                  <a:srgbClr val="F4F7FA"/>
                </a:solidFill>
                <a:latin typeface="DejaVu Sans"/>
                <a:ea typeface="DejaVu Sans"/>
                <a:cs typeface="DejaVu Sans"/>
              </a:rPr>
              <a:t>Protect delivery</a:t>
            </a:r>
          </a:p>
        </p:txBody>
      </p:sp>
      <p:sp>
        <p:nvSpPr>
          <p:cNvPr id="6" name="">
            <a:extLst xmlns:a="http://schemas.openxmlformats.org/drawingml/2006/main">
              <a:ext uri="{FF2B5EF4-FFF2-40B4-BE49-F238E27FC236}">
                <a16:creationId xmlns:a16="http://schemas.microsoft.com/office/drawing/2014/main" id="{259B71BF-AAA1-4270-9B35-1471D103EE76}"/>
              </a:ext>
            </a:extLst>
          </p:cNvPr>
          <p:cNvSpPr>
            <a:spLocks xmlns:a="http://schemas.openxmlformats.org/drawingml/2006/main" noGrp="1"/>
          </p:cNvSpPr>
          <p:nvPr/>
        </p:nvSpPr>
        <p:spPr>
          <a:xfrm xmlns:a="http://schemas.openxmlformats.org/drawingml/2006/main" flipH="0" flipV="0">
            <a:off x="609600" y="3181350"/>
            <a:ext cx="5238750" cy="0"/>
          </a:xfrm>
          <a:prstGeom xmlns:a="http://schemas.openxmlformats.org/drawingml/2006/main" prst="line">
            <a:avLst/>
          </a:prstGeom>
          <a:noFill xmlns:a="http://schemas.openxmlformats.org/drawingml/2006/main"/>
          <a:ln xmlns:a="http://schemas.openxmlformats.org/drawingml/2006/main" w="19050">
            <a:solidFill>
              <a:srgbClr val="28C7F7"/>
            </a:solidFill>
            <a:prstDash val="solid"/>
          </a:ln>
        </p:spPr>
      </p:sp>
      <p:sp>
        <p:nvSpPr>
          <p:cNvPr id="7" name="">
            <a:extLst xmlns:a="http://schemas.openxmlformats.org/drawingml/2006/main">
              <a:ext uri="{FF2B5EF4-FFF2-40B4-BE49-F238E27FC236}">
                <a16:creationId xmlns:a16="http://schemas.microsoft.com/office/drawing/2014/main" id="{412C98BB-E300-43A4-8FE1-7B394562730A}"/>
              </a:ext>
            </a:extLst>
          </p:cNvPr>
          <p:cNvSpPr>
            <a:spLocks xmlns:a="http://schemas.openxmlformats.org/drawingml/2006/main" noGrp="1"/>
          </p:cNvSpPr>
          <p:nvPr/>
        </p:nvSpPr>
        <p:spPr>
          <a:xfrm xmlns:a="http://schemas.openxmlformats.org/drawingml/2006/main">
            <a:off x="609600" y="33718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DejaVu Sans"/>
                <a:ea typeface="DejaVu Sans"/>
                <a:cs typeface="DejaVu Sans"/>
              </a:defRPr>
            </a:pPr>
            <a:r>
              <a:rPr sz="1875" b="0">
                <a:solidFill>
                  <a:srgbClr val="ADB8C5"/>
                </a:solidFill>
                <a:latin typeface="DejaVu Sans"/>
                <a:ea typeface="DejaVu Sans"/>
                <a:cs typeface="DejaVu Sans"/>
              </a:rPr>
              <a:t>Team: comprehension + ownership</a:t>
            </a:r>
          </a:p>
        </p:txBody>
      </p:sp>
      <p:sp>
        <p:nvSpPr>
          <p:cNvPr id="8" name="">
            <a:extLst xmlns:a="http://schemas.openxmlformats.org/drawingml/2006/main">
              <a:ext uri="{FF2B5EF4-FFF2-40B4-BE49-F238E27FC236}">
                <a16:creationId xmlns:a16="http://schemas.microsoft.com/office/drawing/2014/main" id="{722B3B39-DF4A-453D-A0A9-E598E023E83F}"/>
              </a:ext>
            </a:extLst>
          </p:cNvPr>
          <p:cNvSpPr>
            <a:spLocks xmlns:a="http://schemas.openxmlformats.org/drawingml/2006/main" noGrp="1"/>
          </p:cNvSpPr>
          <p:nvPr/>
        </p:nvSpPr>
        <p:spPr>
          <a:xfrm xmlns:a="http://schemas.openxmlformats.org/drawingml/2006/main">
            <a:off x="609600" y="37909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DejaVu Sans"/>
                <a:ea typeface="DejaVu Sans"/>
                <a:cs typeface="DejaVu Sans"/>
              </a:defRPr>
            </a:pPr>
            <a:r>
              <a:rPr sz="1875" b="0">
                <a:solidFill>
                  <a:srgbClr val="ADB8C5"/>
                </a:solidFill>
                <a:latin typeface="DejaVu Sans"/>
                <a:ea typeface="DejaVu Sans"/>
                <a:cs typeface="DejaVu Sans"/>
              </a:rPr>
              <a:t>Project Manager: evidence + flow</a:t>
            </a:r>
          </a:p>
        </p:txBody>
      </p:sp>
      <p:sp>
        <p:nvSpPr>
          <p:cNvPr id="9" name="">
            <a:extLst xmlns:a="http://schemas.openxmlformats.org/drawingml/2006/main">
              <a:ext uri="{FF2B5EF4-FFF2-40B4-BE49-F238E27FC236}">
                <a16:creationId xmlns:a16="http://schemas.microsoft.com/office/drawing/2014/main" id="{CB32989A-8069-4D02-8611-3106F9FC4BC0}"/>
              </a:ext>
            </a:extLst>
          </p:cNvPr>
          <p:cNvSpPr>
            <a:spLocks xmlns:a="http://schemas.openxmlformats.org/drawingml/2006/main" noGrp="1"/>
          </p:cNvSpPr>
          <p:nvPr/>
        </p:nvSpPr>
        <p:spPr>
          <a:xfrm xmlns:a="http://schemas.openxmlformats.org/drawingml/2006/main">
            <a:off x="609600" y="42100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DejaVu Sans"/>
                <a:ea typeface="DejaVu Sans"/>
                <a:cs typeface="DejaVu Sans"/>
              </a:defRPr>
            </a:pPr>
            <a:r>
              <a:rPr sz="1875" b="0">
                <a:solidFill>
                  <a:srgbClr val="ADB8C5"/>
                </a:solidFill>
                <a:latin typeface="DejaVu Sans"/>
                <a:ea typeface="DejaVu Sans"/>
                <a:cs typeface="DejaVu Sans"/>
              </a:rPr>
              <a:t>Small batches, bounded experiments</a:t>
            </a:r>
          </a:p>
        </p:txBody>
      </p:sp>
      <p:sp>
        <p:nvSpPr>
          <p:cNvPr id="10" name="">
            <a:extLst xmlns:a="http://schemas.openxmlformats.org/drawingml/2006/main">
              <a:ext uri="{FF2B5EF4-FFF2-40B4-BE49-F238E27FC236}">
                <a16:creationId xmlns:a16="http://schemas.microsoft.com/office/drawing/2014/main" id="{AB4FD72E-7581-4AB2-8504-C9A1D04A227A}"/>
              </a:ext>
            </a:extLst>
          </p:cNvPr>
          <p:cNvSpPr>
            <a:spLocks xmlns:a="http://schemas.openxmlformats.org/drawingml/2006/main" noGrp="1"/>
          </p:cNvSpPr>
          <p:nvPr/>
        </p:nvSpPr>
        <p:spPr>
          <a:xfrm xmlns:a="http://schemas.openxmlformats.org/drawingml/2006/main">
            <a:off x="609600" y="46291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DejaVu Sans"/>
                <a:ea typeface="DejaVu Sans"/>
                <a:cs typeface="DejaVu Sans"/>
              </a:defRPr>
            </a:pPr>
            <a:r>
              <a:rPr sz="1875" b="0">
                <a:solidFill>
                  <a:srgbClr val="ADB8C5"/>
                </a:solidFill>
                <a:latin typeface="DejaVu Sans"/>
                <a:ea typeface="DejaVu Sans"/>
                <a:cs typeface="DejaVu Sans"/>
              </a:rPr>
              <a:t>Review decisions, not just demos</a:t>
            </a:r>
          </a:p>
        </p:txBody>
      </p:sp>
      <p:sp>
        <p:nvSpPr>
          <p:cNvPr id="11" name="">
            <a:extLst xmlns:a="http://schemas.openxmlformats.org/drawingml/2006/main">
              <a:ext uri="{FF2B5EF4-FFF2-40B4-BE49-F238E27FC236}">
                <a16:creationId xmlns:a16="http://schemas.microsoft.com/office/drawing/2014/main" id="{189DB6C2-71BF-4D40-968B-DC4AB3F2BC83}"/>
              </a:ext>
            </a:extLst>
          </p:cNvPr>
          <p:cNvSpPr>
            <a:spLocks xmlns:a="http://schemas.openxmlformats.org/drawingml/2006/main" noGrp="1"/>
          </p:cNvSpPr>
          <p:nvPr/>
        </p:nvSpPr>
        <p:spPr>
          <a:xfrm xmlns:a="http://schemas.openxmlformats.org/drawingml/2006/main">
            <a:off x="6324600" y="197167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5B61C"/>
                </a:solidFill>
                <a:latin typeface="DejaVu Sans"/>
                <a:ea typeface="DejaVu Sans"/>
                <a:cs typeface="DejaVu Sans"/>
              </a:defRPr>
            </a:pPr>
            <a:r>
              <a:rPr sz="1725" b="1">
                <a:solidFill>
                  <a:srgbClr val="F5B61C"/>
                </a:solidFill>
                <a:latin typeface="DejaVu Sans"/>
                <a:ea typeface="DejaVu Sans"/>
                <a:cs typeface="DejaVu Sans"/>
              </a:rPr>
              <a:t>WHAT WE BUILD</a:t>
            </a:r>
          </a:p>
        </p:txBody>
      </p:sp>
      <p:sp>
        <p:nvSpPr>
          <p:cNvPr id="12" name="">
            <a:extLst xmlns:a="http://schemas.openxmlformats.org/drawingml/2006/main">
              <a:ext uri="{FF2B5EF4-FFF2-40B4-BE49-F238E27FC236}">
                <a16:creationId xmlns:a16="http://schemas.microsoft.com/office/drawing/2014/main" id="{84D9E6F4-20FD-4607-B12E-4BCA79643814}"/>
              </a:ext>
            </a:extLst>
          </p:cNvPr>
          <p:cNvSpPr>
            <a:spLocks xmlns:a="http://schemas.openxmlformats.org/drawingml/2006/main" noGrp="1"/>
          </p:cNvSpPr>
          <p:nvPr/>
        </p:nvSpPr>
        <p:spPr>
          <a:xfrm xmlns:a="http://schemas.openxmlformats.org/drawingml/2006/main">
            <a:off x="6324600" y="2476500"/>
            <a:ext cx="5238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700" b="1">
                <a:solidFill>
                  <a:srgbClr val="F4F7FA"/>
                </a:solidFill>
                <a:latin typeface="DejaVu Sans"/>
                <a:ea typeface="DejaVu Sans"/>
                <a:cs typeface="DejaVu Sans"/>
              </a:defRPr>
            </a:pPr>
            <a:r>
              <a:rPr sz="2700" b="1">
                <a:solidFill>
                  <a:srgbClr val="F4F7FA"/>
                </a:solidFill>
                <a:latin typeface="DejaVu Sans"/>
                <a:ea typeface="DejaVu Sans"/>
                <a:cs typeface="DejaVu Sans"/>
              </a:rPr>
              <a:t>Govern behavior</a:t>
            </a:r>
          </a:p>
        </p:txBody>
      </p:sp>
      <p:sp>
        <p:nvSpPr>
          <p:cNvPr id="13" name="">
            <a:extLst xmlns:a="http://schemas.openxmlformats.org/drawingml/2006/main">
              <a:ext uri="{FF2B5EF4-FFF2-40B4-BE49-F238E27FC236}">
                <a16:creationId xmlns:a16="http://schemas.microsoft.com/office/drawing/2014/main" id="{8FBF9A08-0276-4F5C-B7FA-39CF2EDC3510}"/>
              </a:ext>
            </a:extLst>
          </p:cNvPr>
          <p:cNvSpPr>
            <a:spLocks xmlns:a="http://schemas.openxmlformats.org/drawingml/2006/main" noGrp="1"/>
          </p:cNvSpPr>
          <p:nvPr/>
        </p:nvSpPr>
        <p:spPr>
          <a:xfrm xmlns:a="http://schemas.openxmlformats.org/drawingml/2006/main" flipH="0" flipV="0">
            <a:off x="6324600" y="3181350"/>
            <a:ext cx="5238750" cy="0"/>
          </a:xfrm>
          <a:prstGeom xmlns:a="http://schemas.openxmlformats.org/drawingml/2006/main" prst="line">
            <a:avLst/>
          </a:prstGeom>
          <a:noFill xmlns:a="http://schemas.openxmlformats.org/drawingml/2006/main"/>
          <a:ln xmlns:a="http://schemas.openxmlformats.org/drawingml/2006/main" w="19050">
            <a:solidFill>
              <a:srgbClr val="F5B61C"/>
            </a:solidFill>
            <a:prstDash val="solid"/>
          </a:ln>
        </p:spPr>
      </p:sp>
      <p:sp>
        <p:nvSpPr>
          <p:cNvPr id="14" name="">
            <a:extLst xmlns:a="http://schemas.openxmlformats.org/drawingml/2006/main">
              <a:ext uri="{FF2B5EF4-FFF2-40B4-BE49-F238E27FC236}">
                <a16:creationId xmlns:a16="http://schemas.microsoft.com/office/drawing/2014/main" id="{37DD2BC7-E6D5-454D-9DDC-05606D8A2CEA}"/>
              </a:ext>
            </a:extLst>
          </p:cNvPr>
          <p:cNvSpPr>
            <a:spLocks xmlns:a="http://schemas.openxmlformats.org/drawingml/2006/main" noGrp="1"/>
          </p:cNvSpPr>
          <p:nvPr/>
        </p:nvSpPr>
        <p:spPr>
          <a:xfrm xmlns:a="http://schemas.openxmlformats.org/drawingml/2006/main">
            <a:off x="6324600" y="33718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DejaVu Sans"/>
                <a:ea typeface="DejaVu Sans"/>
                <a:cs typeface="DejaVu Sans"/>
              </a:defRPr>
            </a:pPr>
            <a:r>
              <a:rPr sz="1875" b="0">
                <a:solidFill>
                  <a:srgbClr val="ADB8C5"/>
                </a:solidFill>
                <a:latin typeface="DejaVu Sans"/>
                <a:ea typeface="DejaVu Sans"/>
                <a:cs typeface="DejaVu Sans"/>
              </a:rPr>
              <a:t>Product + BA: agreed acceptance</a:t>
            </a:r>
          </a:p>
        </p:txBody>
      </p:sp>
      <p:sp>
        <p:nvSpPr>
          <p:cNvPr id="15" name="">
            <a:extLst xmlns:a="http://schemas.openxmlformats.org/drawingml/2006/main">
              <a:ext uri="{FF2B5EF4-FFF2-40B4-BE49-F238E27FC236}">
                <a16:creationId xmlns:a16="http://schemas.microsoft.com/office/drawing/2014/main" id="{7D903544-16EC-420E-B2D4-35EF21F78C64}"/>
              </a:ext>
            </a:extLst>
          </p:cNvPr>
          <p:cNvSpPr>
            <a:spLocks xmlns:a="http://schemas.openxmlformats.org/drawingml/2006/main" noGrp="1"/>
          </p:cNvSpPr>
          <p:nvPr/>
        </p:nvSpPr>
        <p:spPr>
          <a:xfrm xmlns:a="http://schemas.openxmlformats.org/drawingml/2006/main">
            <a:off x="6324600" y="37909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DejaVu Sans"/>
                <a:ea typeface="DejaVu Sans"/>
                <a:cs typeface="DejaVu Sans"/>
              </a:defRPr>
            </a:pPr>
            <a:r>
              <a:rPr sz="1875" b="0">
                <a:solidFill>
                  <a:srgbClr val="ADB8C5"/>
                </a:solidFill>
                <a:latin typeface="DejaVu Sans"/>
                <a:ea typeface="DejaVu Sans"/>
                <a:cs typeface="DejaVu Sans"/>
              </a:rPr>
              <a:t>QA + Dev: calibrated evidence</a:t>
            </a:r>
          </a:p>
        </p:txBody>
      </p:sp>
      <p:sp>
        <p:nvSpPr>
          <p:cNvPr id="16" name="">
            <a:extLst xmlns:a="http://schemas.openxmlformats.org/drawingml/2006/main">
              <a:ext uri="{FF2B5EF4-FFF2-40B4-BE49-F238E27FC236}">
                <a16:creationId xmlns:a16="http://schemas.microsoft.com/office/drawing/2014/main" id="{F1C9BBEC-D3D6-489A-91BD-F455DC680BBD}"/>
              </a:ext>
            </a:extLst>
          </p:cNvPr>
          <p:cNvSpPr>
            <a:spLocks xmlns:a="http://schemas.openxmlformats.org/drawingml/2006/main" noGrp="1"/>
          </p:cNvSpPr>
          <p:nvPr/>
        </p:nvSpPr>
        <p:spPr>
          <a:xfrm xmlns:a="http://schemas.openxmlformats.org/drawingml/2006/main">
            <a:off x="6324600" y="42100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DejaVu Sans"/>
                <a:ea typeface="DejaVu Sans"/>
                <a:cs typeface="DejaVu Sans"/>
              </a:defRPr>
            </a:pPr>
            <a:r>
              <a:rPr sz="1875" b="0">
                <a:solidFill>
                  <a:srgbClr val="ADB8C5"/>
                </a:solidFill>
                <a:latin typeface="DejaVu Sans"/>
                <a:ea typeface="DejaVu Sans"/>
                <a:cs typeface="DejaVu Sans"/>
              </a:rPr>
              <a:t>Architect: effective control paths</a:t>
            </a:r>
          </a:p>
        </p:txBody>
      </p:sp>
      <p:sp>
        <p:nvSpPr>
          <p:cNvPr id="17" name="">
            <a:extLst xmlns:a="http://schemas.openxmlformats.org/drawingml/2006/main">
              <a:ext uri="{FF2B5EF4-FFF2-40B4-BE49-F238E27FC236}">
                <a16:creationId xmlns:a16="http://schemas.microsoft.com/office/drawing/2014/main" id="{BCD57387-EF9A-4533-ACD7-2CDB32AC3DA3}"/>
              </a:ext>
            </a:extLst>
          </p:cNvPr>
          <p:cNvSpPr>
            <a:spLocks xmlns:a="http://schemas.openxmlformats.org/drawingml/2006/main" noGrp="1"/>
          </p:cNvSpPr>
          <p:nvPr/>
        </p:nvSpPr>
        <p:spPr>
          <a:xfrm xmlns:a="http://schemas.openxmlformats.org/drawingml/2006/main">
            <a:off x="6324600" y="46291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DejaVu Sans"/>
                <a:ea typeface="DejaVu Sans"/>
                <a:cs typeface="DejaVu Sans"/>
              </a:defRPr>
            </a:pPr>
            <a:r>
              <a:rPr sz="1875" b="0">
                <a:solidFill>
                  <a:srgbClr val="ADB8C5"/>
                </a:solidFill>
                <a:latin typeface="DejaVu Sans"/>
                <a:ea typeface="DejaVu Sans"/>
                <a:cs typeface="DejaVu Sans"/>
              </a:rPr>
              <a:t>Release owner: scope + residual risk</a:t>
            </a:r>
          </a:p>
        </p:txBody>
      </p:sp>
      <p:sp>
        <p:nvSpPr>
          <p:cNvPr id="18" name="">
            <a:extLst xmlns:a="http://schemas.openxmlformats.org/drawingml/2006/main">
              <a:ext uri="{FF2B5EF4-FFF2-40B4-BE49-F238E27FC236}">
                <a16:creationId xmlns:a16="http://schemas.microsoft.com/office/drawing/2014/main" id="{2ACC1B10-C426-4A0B-B5CE-96AE75E9A6CB}"/>
              </a:ext>
            </a:extLst>
          </p:cNvPr>
          <p:cNvSpPr>
            <a:spLocks xmlns:a="http://schemas.openxmlformats.org/drawingml/2006/main" noGrp="1"/>
          </p:cNvSpPr>
          <p:nvPr/>
        </p:nvSpPr>
        <p:spPr>
          <a:xfrm xmlns:a="http://schemas.openxmlformats.org/drawingml/2006/main">
            <a:off x="609600" y="53149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F4F7FA"/>
                </a:solidFill>
                <a:latin typeface="DejaVu Sans"/>
                <a:ea typeface="DejaVu Sans"/>
                <a:cs typeface="DejaVu Sans"/>
              </a:defRPr>
            </a:pPr>
            <a:r>
              <a:rPr sz="1875" b="0">
                <a:solidFill>
                  <a:srgbClr val="F4F7FA"/>
                </a:solidFill>
                <a:latin typeface="DejaVu Sans"/>
                <a:ea typeface="DejaVu Sans"/>
                <a:cs typeface="DejaVu Sans"/>
              </a:rPr>
              <a:t>Team process: hypothesize → measure → decide → adapt</a:t>
            </a:r>
          </a:p>
        </p:txBody>
      </p:sp>
      <p:sp>
        <p:nvSpPr>
          <p:cNvPr id="19" name="">
            <a:extLst xmlns:a="http://schemas.openxmlformats.org/drawingml/2006/main">
              <a:ext uri="{FF2B5EF4-FFF2-40B4-BE49-F238E27FC236}">
                <a16:creationId xmlns:a16="http://schemas.microsoft.com/office/drawing/2014/main" id="{D5A1A6A6-27E8-47DA-B7E8-82FD89B3EA41}"/>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7CB224A5-60BA-4BF1-AEA4-D7F426E06DFE}"/>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DejaVu Sans"/>
                <a:ea typeface="DejaVu Sans"/>
                <a:cs typeface="DejaVu Sans"/>
              </a:defRPr>
            </a:pPr>
            <a:r>
              <a:rPr sz="2250" b="1">
                <a:solidFill>
                  <a:srgbClr val="F4F7FA"/>
                </a:solidFill>
                <a:latin typeface="DejaVu Sans"/>
                <a:ea typeface="DejaVu Sans"/>
                <a:cs typeface="DejaVu Sans"/>
              </a:rPr>
              <a:t>The team remains accountable for the whole system.</a:t>
            </a:r>
          </a:p>
        </p:txBody>
      </p:sp>
    </p:spTree>
    <p:extLst>
      <p:ext uri="{BB962C8B-B14F-4D97-AF65-F5344CB8AC3E}">
        <p14:creationId xmlns:p14="http://schemas.microsoft.com/office/powerpoint/2010/main" val="200995971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2026-09-21T17:11:54.9240000Z</dcterms:created>
  <dcterms:modified xsi:type="dcterms:W3CDTF">2026-09-21T17:11:54.9240000Z</dcterms:modified>
</coreProperties>
</file>