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d47567c07bb4e08" /><Relationship Type="http://schemas.openxmlformats.org/officeDocument/2006/relationships/extended-properties" Target="/docProps/app.xml" Id="Rb7fadf0974124d86" /><Relationship Type="http://schemas.openxmlformats.org/officeDocument/2006/relationships/officeDocument" Target="/ppt/presentation.xml" Id="R2ed83644920a4589" /></Relationships>
</file>

<file path=ppt/presentation.xml><?xml version="1.0" encoding="utf-8"?>
<p:presentation xmlns:p="http://schemas.openxmlformats.org/presentationml/2006/main">
  <p:sldMasterIdLst>
    <p:sldMasterId xmlns:r="http://schemas.openxmlformats.org/officeDocument/2006/relationships" id="2147483648" r:id="R77d7b5f966ea40dc"/>
  </p:sldMasterIdLst>
  <p:notesMasterIdLst>
    <p:notesMasterId xmlns:r="http://schemas.openxmlformats.org/officeDocument/2006/relationships" r:id="R04be28827726481a"/>
  </p:notesMasterIdLst>
  <p:sldIdLst>
    <p:sldId xmlns:r="http://schemas.openxmlformats.org/officeDocument/2006/relationships" id="256" r:id="R0a677aadf31148fa"/>
    <p:sldId xmlns:r="http://schemas.openxmlformats.org/officeDocument/2006/relationships" id="257" r:id="Re529b1bfe6c94bb5"/>
    <p:sldId xmlns:r="http://schemas.openxmlformats.org/officeDocument/2006/relationships" id="258" r:id="R5338469d95fb48be"/>
    <p:sldId xmlns:r="http://schemas.openxmlformats.org/officeDocument/2006/relationships" id="259" r:id="Rd1d5f3c465534863"/>
    <p:sldId xmlns:r="http://schemas.openxmlformats.org/officeDocument/2006/relationships" id="260" r:id="Rce2d980faf6d45bf"/>
    <p:sldId xmlns:r="http://schemas.openxmlformats.org/officeDocument/2006/relationships" id="261" r:id="Re97a514db26e41fc"/>
    <p:sldId xmlns:r="http://schemas.openxmlformats.org/officeDocument/2006/relationships" id="262" r:id="R89e1b67663e344ec"/>
    <p:sldId xmlns:r="http://schemas.openxmlformats.org/officeDocument/2006/relationships" id="263" r:id="R1ca939d77c644975"/>
    <p:sldId xmlns:r="http://schemas.openxmlformats.org/officeDocument/2006/relationships" id="264" r:id="R04a012f9c3284cc7"/>
    <p:sldId xmlns:r="http://schemas.openxmlformats.org/officeDocument/2006/relationships" id="265" r:id="Rc34af7d18bda4cfd"/>
    <p:sldId xmlns:r="http://schemas.openxmlformats.org/officeDocument/2006/relationships" id="266" r:id="R904374b6ecd0447e"/>
    <p:sldId xmlns:r="http://schemas.openxmlformats.org/officeDocument/2006/relationships" id="267" r:id="Rada2458896764b16"/>
    <p:sldId xmlns:r="http://schemas.openxmlformats.org/officeDocument/2006/relationships" id="268" r:id="R6bbac3830afc4e6f"/>
    <p:sldId xmlns:r="http://schemas.openxmlformats.org/officeDocument/2006/relationships" id="269" r:id="R84612743f64d4346"/>
    <p:sldId xmlns:r="http://schemas.openxmlformats.org/officeDocument/2006/relationships" id="270" r:id="R54571d04add44e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7bbd972e71e43b3" /><Relationship Type="http://schemas.openxmlformats.org/officeDocument/2006/relationships/slideMaster" Target="/ppt/slideMasters/slideMaster1.xml" Id="R77d7b5f966ea40dc" /><Relationship Type="http://schemas.openxmlformats.org/officeDocument/2006/relationships/notesMaster" Target="/ppt/notesMasters/notesMaster1.xml" Id="R04be28827726481a" /><Relationship Type="http://schemas.openxmlformats.org/officeDocument/2006/relationships/presProps" Target="/ppt/presProps.xml" Id="R66fd29477c784a39" /><Relationship Type="http://schemas.openxmlformats.org/officeDocument/2006/relationships/tableStyles" Target="/ppt/tableStyles.xml" Id="R4a5fa1262d48497b" /><Relationship Type="http://schemas.openxmlformats.org/officeDocument/2006/relationships/slide" Target="/ppt/slides/slide1.xml" Id="R0a677aadf31148fa" /><Relationship Type="http://schemas.openxmlformats.org/officeDocument/2006/relationships/slide" Target="/ppt/slides/slide2.xml" Id="Re529b1bfe6c94bb5" /><Relationship Type="http://schemas.openxmlformats.org/officeDocument/2006/relationships/slide" Target="/ppt/slides/slide3.xml" Id="R5338469d95fb48be" /><Relationship Type="http://schemas.openxmlformats.org/officeDocument/2006/relationships/slide" Target="/ppt/slides/slide4.xml" Id="Rd1d5f3c465534863" /><Relationship Type="http://schemas.openxmlformats.org/officeDocument/2006/relationships/slide" Target="/ppt/slides/slide5.xml" Id="Rce2d980faf6d45bf" /><Relationship Type="http://schemas.openxmlformats.org/officeDocument/2006/relationships/slide" Target="/ppt/slides/slide6.xml" Id="Re97a514db26e41fc" /><Relationship Type="http://schemas.openxmlformats.org/officeDocument/2006/relationships/slide" Target="/ppt/slides/slide7.xml" Id="R89e1b67663e344ec" /><Relationship Type="http://schemas.openxmlformats.org/officeDocument/2006/relationships/slide" Target="/ppt/slides/slide8.xml" Id="R1ca939d77c644975" /><Relationship Type="http://schemas.openxmlformats.org/officeDocument/2006/relationships/slide" Target="/ppt/slides/slide9.xml" Id="R04a012f9c3284cc7" /><Relationship Type="http://schemas.openxmlformats.org/officeDocument/2006/relationships/slide" Target="/ppt/slides/slide10.xml" Id="Rc34af7d18bda4cfd" /><Relationship Type="http://schemas.openxmlformats.org/officeDocument/2006/relationships/slide" Target="/ppt/slides/slide11.xml" Id="R904374b6ecd0447e" /><Relationship Type="http://schemas.openxmlformats.org/officeDocument/2006/relationships/slide" Target="/ppt/slides/slide12.xml" Id="Rada2458896764b16" /><Relationship Type="http://schemas.openxmlformats.org/officeDocument/2006/relationships/slide" Target="/ppt/slides/slide13.xml" Id="R6bbac3830afc4e6f" /><Relationship Type="http://schemas.openxmlformats.org/officeDocument/2006/relationships/slide" Target="/ppt/slides/slide14.xml" Id="R84612743f64d4346" /><Relationship Type="http://schemas.openxmlformats.org/officeDocument/2006/relationships/slide" Target="/ppt/slides/slide15.xml" Id="R54571d04add44e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3ee3d1321c40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3342000dda424a" /><Relationship Type="http://schemas.openxmlformats.org/officeDocument/2006/relationships/notesMaster" Target="/ppt/notesMasters/notesMaster1.xml" Id="R54557875293e4e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229c7471bf42bd" /><Relationship Type="http://schemas.openxmlformats.org/officeDocument/2006/relationships/notesMaster" Target="/ppt/notesMasters/notesMaster1.xml" Id="Rf7ccbc1ac66645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440f6fbe0c43d2" /><Relationship Type="http://schemas.openxmlformats.org/officeDocument/2006/relationships/notesMaster" Target="/ppt/notesMasters/notesMaster1.xml" Id="R07ecf341b56741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a1e7ffcc3445cf" /><Relationship Type="http://schemas.openxmlformats.org/officeDocument/2006/relationships/notesMaster" Target="/ppt/notesMasters/notesMaster1.xml" Id="R029e595928f747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be2f1a325349dc" /><Relationship Type="http://schemas.openxmlformats.org/officeDocument/2006/relationships/notesMaster" Target="/ppt/notesMasters/notesMaster1.xml" Id="R0d131d9b244f42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3dc8f1fa2c4563" /><Relationship Type="http://schemas.openxmlformats.org/officeDocument/2006/relationships/notesMaster" Target="/ppt/notesMasters/notesMaster1.xml" Id="Ra55896c4015347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6503d3713724474" /><Relationship Type="http://schemas.openxmlformats.org/officeDocument/2006/relationships/notesMaster" Target="/ppt/notesMasters/notesMaster1.xml" Id="R0ce6b1201c644d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8a760fd80346f5" /><Relationship Type="http://schemas.openxmlformats.org/officeDocument/2006/relationships/notesMaster" Target="/ppt/notesMasters/notesMaster1.xml" Id="R65438dbd97f84c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89dc6f09bbe4fca" /><Relationship Type="http://schemas.openxmlformats.org/officeDocument/2006/relationships/notesMaster" Target="/ppt/notesMasters/notesMaster1.xml" Id="R6c456551dfbb40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031c908ee34d62" /><Relationship Type="http://schemas.openxmlformats.org/officeDocument/2006/relationships/notesMaster" Target="/ppt/notesMasters/notesMaster1.xml" Id="R8128552bbe2d4c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177767ab9741d7" /><Relationship Type="http://schemas.openxmlformats.org/officeDocument/2006/relationships/notesMaster" Target="/ppt/notesMasters/notesMaster1.xml" Id="Rd10a199afd1349c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227d2f56fc64b94" /><Relationship Type="http://schemas.openxmlformats.org/officeDocument/2006/relationships/notesMaster" Target="/ppt/notesMasters/notesMaster1.xml" Id="R4b5d9708fa0f44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bde8af863a4d3d" /><Relationship Type="http://schemas.openxmlformats.org/officeDocument/2006/relationships/notesMaster" Target="/ppt/notesMasters/notesMaster1.xml" Id="R2a70af3203c34bf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10c7fd7e9a42c3" /><Relationship Type="http://schemas.openxmlformats.org/officeDocument/2006/relationships/notesMaster" Target="/ppt/notesMasters/notesMaster1.xml" Id="R64066f08f4dc401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340529930f9404b" /><Relationship Type="http://schemas.openxmlformats.org/officeDocument/2006/relationships/notesMaster" Target="/ppt/notesMasters/notesMaster1.xml" Id="R538e7c1951d540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a:p xmlns:a="http://schemas.openxmlformats.org/drawingml/2006/main">
            <a:r>
              <a:t/>
            </a:r>
          </a:p>
          <a:p xmlns:a="http://schemas.openxmlformats.org/drawingml/2006/main">
            <a:r>
              <a:t>Уточнення v23 — назва та вступна теза, 23.09.2026:</a:t>
            </a:r>
          </a:p>
          <a:p xmlns:a="http://schemas.openxmlformats.org/drawingml/2006/main">
            <a:r>
              <a:t>Назва AI Changes the Delivery System and the Product Itself робить явними два зсуви доповіді. HOW — змінюється не лише швидкість написання коду, а співвідношення робіт, bottlenecks, людського розуміння та відповідальності у delivery. WHAT — змінюється сам інженерний об’єкт, коли частина суттєвої runtime-поведінки залежить від Model Judgment. Це не твердження, що будь-який продукт із AI має однаковий ризик або що AI-assisted coding обов’язково створює Thinking System.</a:t>
            </a:r>
          </a:p>
          <a:p xmlns:a="http://schemas.openxmlformats.org/drawingml/2006/main">
            <a:r>
              <a:t>Стартова теза: нові можливості змінюють обмеження системи; інженерна відповідальність має охопити ці зміни. Відповідальність залишається в людей, але предмет їхньої роботи, потрібні докази й точки контролю розширюються. Це синтез доповіді, а не окремий емпіричний результат або універсальна оцінка ефекту AI.</a:t>
            </a:r>
          </a:p>
          <a:p xmlns:a="http://schemas.openxmlformats.org/drawingml/2006/main">
            <a:r>
              <a:t>Вступ: «Сьогодні не про те, наскільки швидше можна написати код. ШІ змінює систему, якою ми доставляємо software, і сам продукт, який ми проєктуємо. Спочатку — як керувати новим балансом delivery. Потім — як проєктувати й експлуатувати продукт із Model Judgment. В обох випадках відповідальність за цілу систему залишається за командою».</a:t>
            </a:r>
          </a:p>
          <a:p xmlns:a="http://schemas.openxmlformats.org/drawingml/2006/main">
            <a:r>
              <a:t>Дві початкові сцени та підписи HOW / WHAT залишені як прості приклади. Нова назва описує їхні ширші наслідки. Контакти, зображення та їхнє походження незмінні.</a:t>
            </a:r>
          </a:p>
          <a:p xmlns:a="http://schemas.openxmlformats.org/drawingml/2006/main">
            <a:r>
              <a:t>Перехід: «Яка нова можливість запустила ці дві інженерні зміни?»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Актуальний сценарій слайда 2 — v25, 23.09.2026.</a:t>
            </a:r>
          </a:p>
          <a:p xmlns:a="http://schemas.openxmlformats.org/drawingml/2006/main">
            <a:r>
              <a:t>Чинна назва: A New Capability Changes the Delegation Boundary. Видимий слайд не змінено порівняно з v24.</a:t>
            </a:r>
          </a:p>
          <a:p xmlns:a="http://schemas.openxmlformats.org/drawingml/2006/main">
            <a:r>
              <a:t>Головна думка: нова можливість розширює клас роботи, який можна делегувати технології. Writing / Externalized Memory, Computers / Externalized Calculation та Large Models / Externalized Cognition — функціональна аналогія. Для великих моделей тут ідеться про частину інтерпретації контексту та judgment, а не про свідомість або людське розуміння.</a:t>
            </a:r>
          </a:p>
          <a:p xmlns:a="http://schemas.openxmlformats.org/drawingml/2006/main">
            <a:r>
              <a:t>Межа делегування в цьому заголовку — межа роботи, яку технологія дозволяє передати моделі. Вона не є автоматичним дозволом діяти: спроможність запропонувати дію не надає права її виконувати. Дозволені повноваження, погоджені межі та відповідальність визначаються для конкретної системи; відповідальність не переноситься на модель.</a:t>
            </a:r>
          </a:p>
          <a:p xmlns:a="http://schemas.openxmlformats.org/drawingml/2006/main">
            <a:r>
              <a:t>HOW: rebalance the delivery system — перевіряємо нове співвідношення generation, review, integration, людського розуміння та recovery. WHAT: engineer behavior, evidence and control — проєктуємо допустиму поведінку продукту, потрібні докази та дієздатний контроль наслідків. Це дві лінії наступних слайдів, а не твердження про однаковий ефект ШІ для всіх команд і продуктів.</a:t>
            </a:r>
          </a:p>
          <a:p xmlns:a="http://schemas.openxmlformats.org/drawingml/2006/main">
            <a:r>
              <a:t>Коротке усне пояснення: «Письмо дозволило винести частину пам’яті в записи; комп’ютери — делегувати обчислення. Великі моделі дозволяють делегувати частину інтерпретації та judgment. Але “може запропонувати” не означає “має право виконати”. Ця можливість змінює і роботу команди, і поведінку продукту».</a:t>
            </a:r>
          </a:p>
          <a:p xmlns:a="http://schemas.openxmlformats.org/drawingml/2006/main">
            <a:r>
              <a:t>Перехід до слайда 3: «Почнімо з HOW: що відбувається із системою delivery, коли один із її етапів раптом прискорився?»</a:t>
            </a:r>
          </a:p>
          <a:p xmlns:a="http://schemas.openxmlformats.org/drawingml/2006/main">
            <a:r>
              <a:t/>
            </a:r>
          </a:p>
          <a:p xmlns:a="http://schemas.openxmlformats.org/drawingml/2006/main">
            <a:r>
              <a:t>ІСТОРИЧНІ РЕДАКТОРСЬКІ НОТАТКИ — НЕ АКТУАЛЬНИЙ СЦЕНАРІЙ.</a:t>
            </a:r>
          </a:p>
          <a:p xmlns:a="http://schemas.openxmlformats.org/drawingml/2006/main">
            <a:r>
              <a:t>Нижче збережено попередні формулювання. This Is a Real Phase Transition та A New Capability. Two Engineering Shifts. — історичні назви. Чинна назва й пояснення наведені вище.</a:t>
            </a:r>
          </a:p>
          <a:p xmlns:a="http://schemas.openxmlformats.org/drawingml/2006/main">
            <a:r>
              <a:t/>
            </a:r>
          </a:p>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a:p xmlns:a="http://schemas.openxmlformats.org/drawingml/2006/main">
            <a:r>
              <a:t/>
            </a:r>
          </a:p>
          <a:p xmlns:a="http://schemas.openxmlformats.org/drawingml/2006/main">
            <a:r>
              <a:t>Історична редакція v23 — попередня назва та інженерні наслідки, 23.09.2026:</a:t>
            </a:r>
          </a:p>
          <a:p xmlns:a="http://schemas.openxmlformats.org/drawingml/2006/main">
            <a:r>
              <a:t>У v23 назва A New Capability. Two Engineering Shifts. замінила This Is a Real Phase Transition. Попередня фраза лишається вище як історична нотатка про функціональну аналогію, а не теза про фізичний закон. Схема Writing / Computers / Large Models, її терміни та caveat про відсутність припущень щодо свідомості збережені.</a:t>
            </a:r>
          </a:p>
          <a:p xmlns:a="http://schemas.openxmlformats.org/drawingml/2006/main">
            <a:r>
              <a:t>Нова можливість тут — делегувати моделі частину інтерпретації контексту та judgment без явного виписування кожного можливого результату. Вона працює у двох різних місцях: як інструмент розробки і як компонент runtime-продукту. Це не твердження, що попередні системи не мали невизначеності, автоматизації чи контрольних механізмів.</a:t>
            </a:r>
          </a:p>
          <a:p xmlns:a="http://schemas.openxmlformats.org/drawingml/2006/main">
            <a:r>
              <a:t>HOW: rebalance the delivery system — перевірити, які обмеження й навантаження змінилися, чи зростає end-to-end результат та чи зберігаються розуміння, ownership і recovery. Не припускаємо однакового ефекту в усіх командах.</a:t>
            </a:r>
          </a:p>
          <a:p xmlns:a="http://schemas.openxmlformats.org/drawingml/2006/main">
            <a:r>
              <a:t>WHAT: engineer behavior, evidence and control — для суттєвого Model Judgment проєктувати допустиму поведінку, відповідну доказову базу та реальну здатність керувати наслідками. Попередня теза про проєктування середовища runtime-поведінки зберігається в цьому поясненні. Вимоги, перевірки та відповідальності доповнюються, а не скасовуються; контроль має бути пропорційним наслідкам, повноваженням і оборотності.</a:t>
            </a:r>
          </a:p>
          <a:p xmlns:a="http://schemas.openxmlformats.org/drawingml/2006/main">
            <a:r>
              <a:t>Обсяг делегування змінюється, але не виникає права перекласти відповідальність на модель. Подальші слайди розгортають ці дві лінії; це рамка аргументу, не готовий доказ безпеки або універсальний рецепт процесу.</a:t>
            </a:r>
          </a:p>
          <a:p xmlns:a="http://schemas.openxmlformats.org/drawingml/2006/main">
            <a:r>
              <a:t>Перехід до 3: «Почнімо з HOW: що відбувається із системою delivery, коли один із її етапів раптом прискорився?»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Актуальне уточнення v33 — evidence slide cleanup.</a:t>
            </a:r>
          </a:p>
          <a:p xmlns:a="http://schemas.openxmlformats.org/drawingml/2006/main">
            <a:r>
              <a:t>Xu прибрано з видимого слайда 4. Дані Xu охоплюють 2020–2022 і корисні лише як ранній Copilot-era background; поруч із NBER/DORA/GitClear/Agarwal 2025–2026 вони послаблювали актуальність основної evidence story.</a:t>
            </a:r>
          </a:p>
          <a:p xmlns:a="http://schemas.openxmlformats.org/drawingml/2006/main">
            <a:r>
              <a:t>GitClear: H1 2026 розшифровано як first half 2026 для неспеціалізованої PM-аудиторії. Moved-code лишається proxy for refactoring/reuse; copy/paste — proxy for duplication/cloning.</a:t>
            </a:r>
          </a:p>
          <a:p xmlns:a="http://schemas.openxmlformats.org/drawingml/2006/main">
            <a:r>
              <a:t/>
            </a:r>
          </a:p>
          <a:p xmlns:a="http://schemas.openxmlformats.org/drawingml/2006/main">
            <a:r>
              <a:t>Актуальне уточнення v32 — DORA / GitClear / Agarwal / Xu.</a:t>
            </a:r>
          </a:p>
          <a:p xmlns:a="http://schemas.openxmlformats.org/drawingml/2006/main">
            <a:r>
              <a:t>DORA 2025: &gt;80% respondents reported increased personal productivity from AI; 59% reported a positive impact on their code quality. Це self-reported perceived gains. Окремо regression model показує, що higher AI adoption is associated with both higher software-delivery throughput and higher software-delivery instability. Instability тут НЕ означає нестабільність AI-відповідей і не є загальною reliability metric. DORA визначає software-delivery instability через change fail rate (production changes/releases that degrade service and require remediation) та deployment rework rate (unplanned deployments to fix user-facing bugs). ≈+0.10 SD per +1 SD AI adoption — standardized association, not +10% failures and not proof that AI causally created those failures.</a:t>
            </a:r>
          </a:p>
          <a:p xmlns:a="http://schemas.openxmlformats.org/drawingml/2006/main">
            <a:r>
              <a:t>GitClear: moved-code share використовується як proxy for refactoring/reuse activity — переміщення вже наявного коду замість написання нового дубля. Copy/paste share — proxy for cloning/duplication behavior. Це proxies структурних практик, не прямі вимірювання maintainability або causal AI effects. Cross-edition comparability caveat лишається чинним.</a:t>
            </a:r>
          </a:p>
          <a:p xmlns:a="http://schemas.openxmlformats.org/drawingml/2006/main">
            <a:r>
              <a:t>Agarwal: дві cohort estimates тепер розшифровані без AF/IF: Agent-first +34.85%; repositories with prior AI-IDE usage +42.87%. Outcome = repository-level cognitive complexity after agent adoption vs matched controls; 19,236 repository-months.</a:t>
            </a:r>
          </a:p>
          <a:p xmlns:a="http://schemas.openxmlformats.org/drawingml/2006/main">
            <a:r>
              <a:t>Xu винесено в окремий рядок, бо це інше дослідження: 2020–22 data; 1,699 contributors in the individual-level analysis and 2,755 repos overall. Його функція на слайді — сигнал workload shifts across contributors, не evidence про cognitive complexity.</a:t>
            </a:r>
          </a:p>
          <a:p xmlns:a="http://schemas.openxmlformats.org/drawingml/2006/main">
            <a:r>
              <a:t/>
            </a:r>
          </a:p>
          <a:p xmlns:a="http://schemas.openxmlformats.org/drawingml/2006/main">
            <a:r>
              <a:t>Актуальне уточнення v30 — виправлений evidence slide після критичного рев’ю.</a:t>
            </a:r>
          </a:p>
          <a:p xmlns:a="http://schemas.openxmlformats.org/drawingml/2006/main">
            <a:r>
              <a:t>GitClear: повернуто явні data periods 2021→YTD 2026 та 2021→H1 2026. Scale labels refer to report datasets: 2025 report = 211M changed lines covering 2020–24; 2026 report = 623M analyzed changes covering 2023–26. Це не одна harmonized panel.</a:t>
            </a:r>
          </a:p>
          <a:p xmlns:a="http://schemas.openxmlformats.org/drawingml/2006/main">
            <a:r>
              <a:t>METR: 349 technical workers, не 349 software engineers; 1.4–2× — self-reported work value.</a:t>
            </a:r>
          </a:p>
          <a:p xmlns:a="http://schemas.openxmlformats.org/drawingml/2006/main">
            <a:r>
              <a:t>Agarwal: +34.85% AF та +42.87% IF показані окремо, бо це дві cohort estimates, а не interval. AF = Agent-First; IF = repositories with prior AI-IDE usage before agent adoption. Outcome = repository-level cognitive complexity after coding-agent adoption vs matched controls. Scale = 1,197 repositories and 19,236 repository-month observations.</a:t>
            </a:r>
          </a:p>
          <a:p xmlns:a="http://schemas.openxmlformats.org/drawingml/2006/main">
            <a:r>
              <a:t>Xu: повернуто сам результат workload shifts; 1,699 contributors — individual-level analysis, 2,755 repositories — overall project-level dataset, data 2020–22.</a:t>
            </a:r>
          </a:p>
          <a:p xmlns:a="http://schemas.openxmlformats.org/drawingml/2006/main">
            <a:r>
              <a:t>Sample sizes communicate evidence scale only; they do not remove observational, selection, self-report, or cross-edition limitations.</a:t>
            </a:r>
          </a:p>
          <a:p xmlns:a="http://schemas.openxmlformats.org/drawingml/2006/main">
            <a:r>
              <a:t/>
            </a:r>
          </a:p>
          <a:p xmlns:a="http://schemas.openxmlformats.org/drawingml/2006/main">
            <a:r>
              <a:t>Актуальне уточнення v29 — масштаб вибірок усіх evidence sources на слайді 4.</a:t>
            </a:r>
          </a:p>
          <a:p xmlns:a="http://schemas.openxmlformats.org/drawingml/2006/main">
            <a:r>
              <a:t>NBER (September 2026 revision): official NBER abstract reports data on more than 500,000 GitHub developers combined with AI-usage telemetry; the paper also checks aggregate outcomes across four major software marketplaces. The exact regression sample can vary by generation/outcome, so the slide states &gt;500K developers + 4 marketplaces rather than a false single exact n.</a:t>
            </a:r>
          </a:p>
          <a:p xmlns:a="http://schemas.openxmlformats.org/drawingml/2006/main">
            <a:r>
              <a:t>DORA 2025: the report states 4,867 total survey respondents globally, plus over 100 hours of qualitative data. The visible label says Survey: 4,867 respondents; it does not claim every regression uses all 4,867 complete cases.</a:t>
            </a:r>
          </a:p>
          <a:p xmlns:a="http://schemas.openxmlformats.org/drawingml/2006/main">
            <a:r>
              <a:t>GitClear: the 2025 report analyzes 211 million meaningful changed lines from 2020-2024; the 2026 Maintainability Gap reports 623 million analyzed changes for 2023-2026. Because the slide intentionally combines cross-edition snapshots, both dataset scales are shown and comparability remains explicitly limited.</a:t>
            </a:r>
          </a:p>
          <a:p xmlns:a="http://schemas.openxmlformats.org/drawingml/2006/main">
            <a:r>
              <a:t>METR May 2026: clean survey sample n=349 technical workers after filtering 10 of 359 raw respondents for data-quality issues.</a:t>
            </a:r>
          </a:p>
          <a:p xmlns:a="http://schemas.openxmlformats.org/drawingml/2006/main">
            <a:r>
              <a:t>Agarwal et al.: Figure 2 comprises 401+606 Agent-First treated/control repositories and 117+73 IDE-First treated/control repositories: 1,197 repositories total and 19,236 repository-month observations.</a:t>
            </a:r>
          </a:p>
          <a:p xmlns:a="http://schemas.openxmlformats.org/drawingml/2006/main">
            <a:r>
              <a:t>Xu et al.: project-level dataset contains 2,755 Microsoft-owned OSS repositories; the individual-level dataset used for the contributor workload analysis contains 1,699 contributors (from 37,334 contributors who made at least one contribution before filtering). The workload-shift numbers on the slide correspond to the contributor-level analysis, so n=1,699 is the key visible sample size.</a:t>
            </a:r>
          </a:p>
          <a:p xmlns:a="http://schemas.openxmlformats.org/drawingml/2006/main">
            <a:r>
              <a:t>These sample-size labels communicate evidence scale only. Large n does not repair observational design, selection, comparability, self-report, or external-validity limitations.</a:t>
            </a:r>
          </a:p>
          <a:p xmlns:a="http://schemas.openxmlformats.org/drawingml/2006/main">
            <a:r>
              <a:t/>
            </a:r>
          </a:p>
          <a:p xmlns:a="http://schemas.openxmlformats.org/drawingml/2006/main">
            <a:r>
              <a:t>Актуальне уточнення v28 — розмір вибірки Agarwal et al.</a:t>
            </a:r>
          </a:p>
          <a:p xmlns:a="http://schemas.openxmlformats.org/drawingml/2006/main">
            <a:r>
              <a:t>Paper reports 401 Agent-First treated repositories matched to 606 controls and 117 IDE-First treated repositories matched to 73 controls: together 518 treated repositories + 679 matched controls. Figure 2 reports 15,664 AF and 3,572 IF repository-month observations, together 19,236 repo-months. Outcomes are aggregated at repository-month level. The paper does NOT report this effect as a fixed total number of analyzed lines of code or as a sample of individual developers; it explicitly states that developer-level interactions / usage intensity cannot be directly measured. Therefore the slide reports repositories and repo-month observations, not invented LOC/person counts.</a:t>
            </a:r>
          </a:p>
          <a:p xmlns:a="http://schemas.openxmlformats.org/drawingml/2006/main">
            <a:r>
              <a:t/>
            </a:r>
          </a:p>
          <a:p xmlns:a="http://schemas.openxmlformats.org/drawingml/2006/main">
            <a:r>
              <a:t>Актуальне уточнення v27 — неоднозначні порівняння на evidence slide.</a:t>
            </a:r>
          </a:p>
          <a:p xmlns:a="http://schemas.openxmlformats.org/drawingml/2006/main">
            <a:r>
              <a:t>DORA: формулювання Associated with higher throughput / associated with lower stability навмисно не є causal claim; це зв'язок у survey model.</a:t>
            </a:r>
          </a:p>
          <a:p xmlns:a="http://schemas.openxmlformats.org/drawingml/2006/main">
            <a:r>
              <a:t>METR: 1.4–2× — self-reported work value, не виміряний causal productivity multiplier.</a:t>
            </a:r>
          </a:p>
          <a:p xmlns:a="http://schemas.openxmlformats.org/drawingml/2006/main">
            <a:r>
              <a:t>Agarwal et al.: ≈+35–43% cognitive complexity означає оцінений post-adoption effect після coding-agent adoption проти matched counterfactual repositories у staggered difference-in-differences. Це НЕ «AI-код на 35–43% складніший за людський код» і не пряме попарне порівняння однакових задач. Agent-first estimate = +34.85%; repositories with prior AI-IDE usage = +42.87%. На екрані округлено для ясності; точні числа лишаються в source notes.</a:t>
            </a:r>
          </a:p>
          <a:p xmlns:a="http://schemas.openxmlformats.org/drawingml/2006/main">
            <a:r>
              <a:t/>
            </a:r>
          </a:p>
          <a:p xmlns:a="http://schemas.openxmlformats.org/drawingml/2006/main">
            <a:r>
              <a:t>Актуальний сценарій слайда 4 — v26, 23.09.2026.</a:t>
            </a:r>
          </a:p>
          <a:p xmlns:a="http://schemas.openxmlformats.org/drawingml/2006/main">
            <a:r>
              <a:t>Головна думка: різні дослідження вимірюють різні outcomes. Це не одна сукупна оцінка продуктивності та не доведення універсальної шкоди ШІ. Пройти три контрасти: code activity і delivery — не те саме; throughput і stability можуть змінюватися по-різному; structural proxies потребують контексту.</a:t>
            </a:r>
          </a:p>
          <a:p xmlns:a="http://schemas.openxmlformats.org/drawingml/2006/main">
            <a:r>
              <a:t>NBER: changed LOC — додавання плюс видалення, а не чисте зростання кодової бази. Множник LOC сам по собі не визначає навантаження на review, складність збереженої системи чи бізнес-цінність. Показники LOC / commits / releases не утворюють коефіцієнт перетворення коду на користь. Застереження щодо неоціненого окремо async release effect залишається.</a:t>
            </a:r>
          </a:p>
          <a:p xmlns:a="http://schemas.openxmlformats.org/drawingml/2006/main">
            <a:r>
              <a:t>GitClear: зіставність і причинність — різні питання. Різні випуски, вибірки й перерахунки обмежують зіставність наведених зрізів. Відсоткова арифметика між двома опублікованими числами не встановлює точну зміну в одній незмінній популяції і не дає оцінки причинного ефекту ШІ. Використовуємо ці snapshots як контекст для перевірки підтримуваності; не озвучуємо їх як точне вимірювання того, наскільки ШІ погіршив рефакторинг. Фактичний churn, прогноз і окремий індекс мають власні позначені періоди й бази.</a:t>
            </a:r>
          </a:p>
          <a:p xmlns:a="http://schemas.openxmlformats.org/drawingml/2006/main">
            <a:r>
              <a:t>Позитивні результати не заперечують системної тези: якщо команда отримала end-to-end виграш, його слід перевірити разом зі stability, review, understanding та recovery. Тут не доводиться, що всі команди втратили продуктивність.</a:t>
            </a:r>
          </a:p>
          <a:p xmlns:a="http://schemas.openxmlformats.org/drawingml/2006/main">
            <a:r>
              <a:t>Перехід до 5: «Ці результати не виміряли comprehension gap. Вони мотивують перевірити, чи встигають review, розуміння й підтримка за обсягом змін у нашій команді».</a:t>
            </a:r>
          </a:p>
          <a:p xmlns:a="http://schemas.openxmlformats.org/drawingml/2006/main">
            <a:r>
              <a:t>ПОПЕРЕДНІ ДЖЕРЕЛЬНІ Й РЕДАКТОРСЬКІ НОТАТКИ.</a:t>
            </a:r>
          </a:p>
          <a:p xmlns:a="http://schemas.openxmlformats.org/drawingml/2006/main">
            <a:r>
              <a:t>Нижче збережено попередній матеріал без змін. Для поточної подачі пріоритет має сценарій v26 вище; попередні назви, композиції та формулювання не є новою екранною редакцією.</a:t>
            </a:r>
          </a:p>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Екранна ієрархія: три контрасти. NBER — масштаб зміни коду, commits та releases не збігається; DORA — throughput і stability є різними outcomes; GitClear — зміни структурних proxy потребують контексту. Не зачитувати всі метрики. NBER числа 25.5× / 3.4× / 1.3× накопичені за трьома поколіннями інструментів, LOC означає additions + deletions, асинхронний effect для releases не оцінено. Marketplace: iOS &lt;10 ratings ≈78% → 87%, Chrome &lt;10 downloads 19% → 33%, Jan 2025 → Apr 2026 за перші три місяці. Це відмінні міри adoption, а не прямий доказ відсутності user value.</a:t>
            </a:r>
          </a:p>
          <a:p xmlns:a="http://schemas.openxmlformats.org/drawingml/2006/main">
            <a:r>
              <a:t/>
            </a:r>
          </a:p>
          <a:p xmlns:a="http://schemas.openxmlformats.org/drawingml/2006/main">
            <a:r>
              <a:t>Додаткові числа для обговорення: DORA &gt;80% respondents повідомляли про productivity improvement, 59% — quality improvement; це self-reported perceptions, окремі від моделі delivery instability. Приблизна оцінка моделі: +0.10 SD instability на +1 SD AI adoption, 89% credible interval ≈+0.07…+0.13 SD. GitClear moved-code share 13% → 3.8% = −9.2 pp / −70.8%, calls per 1k changed lines 343 → 223 = −120 / ≈−35%; duplicates ≈+81% та two-week churn +15% мають окремо описані baseline/limitations. Нижче залишаються попередні джерельні пояснення. METR May 2026: medians 1.4–2× self-reported work value across three questions, не causal effect. Agarwal Jan 2026: complexity +34.85% Agent-first / +42.87% IDE-first; Xu описує workload shifts. Ці допоміжні свідчення доповнюють три основні контрасти, але не утворюють єдину сукупну оцінку.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Уточнення churn за першоджерелами, 23 вересня 2026. Public GitClear Coding on Copilot, January 2024, описує дані 2020–2023 та прогноз приблизного подвоєння two-week churn у 2024 проти baseline 2021. Це близько +100% projected relative change, не вже виміряний результат 2024. Public 2026 Maintainability Gap прямо містить +15% two-week churn. У тексті не наведено окремої пари churn endpoints, тому тут це reported number із явно неповною baseline-пояснювальною базою, не independently recomputed effect. Не зіставляти +15% і старе ~2× як єдиний часовий ряд або свідчення зниження churn. Різні vintage / periods / samples потребують однакових визначень і baseline. Two-week churn означає частку нещодавно написаних рядків, які невдовзі переглянуто чи видалено; не duplication, не defect rate і не percentage-point increase. Екранна зірочка прямо попереджає про відсутній standalone baseline. Попередня двоколонкова композиція повертає на екран METR, Agarwal та арифметичне пояснення GitClear. Джерела: https://www.gitclear.com/coding_on_copilot_data_shows_ais_downward_pressure_on_code_quality ; https://www.gitclear.com/the_ai_code_quality_maintainability_gap .</a:t>
            </a:r>
          </a:p>
          <a:p xmlns:a="http://schemas.openxmlformats.org/drawingml/2006/main">
            <a:r>
              <a:t/>
            </a:r>
          </a:p>
          <a:p xmlns:a="http://schemas.openxmlformats.org/drawingml/2006/main">
            <a:r>
              <a:t>Поточне пояснення GitClear: 2021 і 2026, фактичні значення та прогнози (23.09.2026).</a:t>
            </a:r>
          </a:p>
          <a:p xmlns:a="http://schemas.openxmlformats.org/drawingml/2006/main">
            <a:r>
              <a:t>Це уточнення замінює попередню заяву, що baseline року для +15% невідомий. Авторський index chart має 2023 = 100; churn 2026 близько 115. Отже +15% стосується 2023→2026, але абсолютна churn rate 2026 не опублікована у перевіреному public summary. Не можна домножити 2021/2024 дані іншого випуску на 1.15 й отримати точний 2026.</a:t>
            </a:r>
          </a:p>
          <a:p xmlns:a="http://schemas.openxmlformats.org/drawingml/2006/main">
            <a:r>
              <a:t>Повний офіційний GitClear 2025 PDF v2025.2.5 тепер перевірено: Appendix A1, PDF page 23 (24-та сторінка), містить точні частки. Основна таблиця page 6 дає дещо інші округлені значення, тому для 2021 і churn послідовно використано A1. 2020–2024 — спостереження, 2025 — прогноз, а не нові спостереження. Moved share 2021 24.65%; copy/paste 8.66%; churn 3.27%. Churn 2024 5.67%, forecast 2025 6.87%.</a:t>
            </a:r>
          </a:p>
          <a:p xmlns:a="http://schemas.openxmlformats.org/drawingml/2006/main">
            <a:r>
              <a:t>На екрані snapshots: moved 24.65% (2021, report 2025) → 3.8% (YTD 2026, summary 2026): −20.85 в.п., арифметично −84.58%, округлено −85%. Copy/paste 8.66% → 15.7% (H1 2026): +7.04 в.п., +81.29%, округлено +81%. YTD і H1 у рядках означають період кінцевого значення 2026. Різні випуски мають різні вибірки/перерахунки; це контекстні зрізи, не одна узгоджена panel і не оцінка причинного ефекту AI. Наприклад, moved 2023 = 15.88% у A1 звіту 2025, але 13% у summary 2026.</a:t>
            </a:r>
          </a:p>
          <a:p xmlns:a="http://schemas.openxmlformats.org/drawingml/2006/main">
            <a:r>
              <a:t>Churn: (5.67/3.27−1)×100 = +73.39% фактично за 2021→2024 (+2.40 в.п.). Прогноз (6.87/3.27−1)×100 = +110.09% на 2025, не спостережений результат і не число для 2026. Саме прогноз пояснює, звідки у старих матеріалах понад 100%; старий звіт 2024 також прогнозував приблизне подвоєння 2024 проти 2021. Two-week churn — написані й запушені рядки, суттєво переглянуті або reverted протягом двох тижнів. Це не defect rate. A1 all-line churn не підмінюється часткою churn лише серед new lines з іншого додатка.</a:t>
            </a:r>
          </a:p>
          <a:p xmlns:a="http://schemas.openxmlformats.org/drawingml/2006/main">
            <a:r>
              <a:t>Збережені додаткові сигнали 2023→2026: function calls 343→223 на 1000 змінених рядків, −120 (≈−35%); duplicated blocks ≈+81%. Для duplication у public summary є конфлікт абсолютних одиниць, тому використано лише відносну зміну. Старий показник частки commits із duplicate blocks (0.48% 2021→6.66% 2024) має інший знаменник і не з'єднується з нормованим на рядки показником 2026. Значень 2021 для function-call density і legacy-update share у перевірених таблицях немає.</a:t>
            </a:r>
          </a:p>
          <a:p xmlns:a="http://schemas.openxmlformats.org/drawingml/2006/main">
            <a:r>
              <a:t>Moved lines — proxy рефакторингу, copy/paste і duplicate blocks — різні міри дублювання, calls — proxy зв'язності, не весь reuse. Вони допомагають поставити питання про підтримуваність, але окремо не визначають якість. 2021 коректніше називати періодом до масового використання: Copilot technical preview стартував 29.06.2021. Повний звіт 2026 і сирі дані не перевірено; повний 2025 PDF перевірено. Джерела: https://gitclear-public.s3.us-west-2.amazonaws.com/GitClear-AI-Copilot-Code-Quality-2025.pdf ; https://www.gitclear.com/the_ai_code_quality_maintainability_gap ; https://www.gitclear.com/blog/annual_ai_code_quality_research_2026_diff_digest_git_ai_diff_viewer .</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a:p xmlns:a="http://schemas.openxmlformats.org/drawingml/2006/main">
            <a:r>
              <a:t>https://www.gitclear.com/coding_on_copilot_data_shows_ais_downward_pressure_on_code_quality</a:t>
            </a:r>
          </a:p>
          <a:p xmlns:a="http://schemas.openxmlformats.org/drawingml/2006/main">
            <a:r>
              <a:t>https://gitclear-public.s3.us-west-2.amazonaws.com/GitClear-AI-Copilot-Code-Quality-2025.pdf</a:t>
            </a:r>
          </a:p>
          <a:p xmlns:a="http://schemas.openxmlformats.org/drawingml/2006/main">
            <a:r>
              <a:t>https://www.gitclear.com/blog/annual_ai_code_quality_research_2026_diff_digest_git_ai_diff_viewer</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Перед числами пояснити: різні дослідження вимірюють різні outcomes, їх не можна скласти в один універсальний ефект продуктивності. Пройти три сигнали: активність не дорівнює результату; throughput і stability — різні outcomes; структурні proxies потребують контексту. Двоколонкова композиція, усі числа, періоди й методологічні застереження збережені. Нижній висновок скорочено лише для усунення переносу за межі слайда.</a:t>
            </a:r>
          </a:p>
          <a:p xmlns:a="http://schemas.openxmlformats.org/drawingml/2006/main">
            <a:r>
              <a:t/>
            </a:r>
          </a:p>
          <a:p xmlns:a="http://schemas.openxmlformats.org/drawingml/2006/main">
            <a:r>
              <a:t>Уточнення після змістовного review, 1 жовтня 2026.</a:t>
            </a:r>
          </a:p>
          <a:p xmlns:a="http://schemas.openxmlformats.org/drawingml/2006/main">
            <a:r>
              <a:t>На екрані GitClear показано два зрізи різних видань у окремих стовпцях. 2021: Appendix A1 звіту 2025, 211M lines (2020–2024); 2026: public summary, 623M changes (2023–2026). Moved-code share — proxy refactoring / reuse, copy/paste — duplication proxy; це не defect rates. 24.65% та 3.8% YTD, 8.66% та 15.7% H1 залишаються точними опублікованими endpoints. Арифметичні −84.58% (≈−85%) і +81.29% (≈+81%) не є оцінкою зміни в зіставній вибірці: навіть 2023 moved-code share різниться між виданнями (15.88% проти 13%). Не подавати їх як узгоджений часовий ряд або causal AI effect.</a:t>
            </a:r>
          </a:p>
          <a:p xmlns:a="http://schemas.openxmlformats.org/drawingml/2006/main">
            <a:r>
              <a:t>Збережені другорядні screen details v33 нижче пояснюють конкретні метрики, одиниці, observed / forecast / indexed status; основна екранна теза — різні дослідження вимірюють різні outcomes. Для DORA instability включає failed production changes та unplanned fix deployments; +0.10 SD не є відсотком збоїв.</a:t>
            </a:r>
          </a:p>
          <a:p xmlns:a="http://schemas.openxmlformats.org/drawingml/2006/main">
            <a:r>
              <a:t>gitclearChurnTitle: "Two-week churn · lines revised / reverted within 14 days"</a:t>
            </a:r>
          </a:p>
          <a:p xmlns:a="http://schemas.openxmlformats.org/drawingml/2006/main">
            <a:r>
              <a:t>gitclearChurn: ["2021 → 2024 actual: 3.27% → 5.67% (+73%)", "2025 forecast: 6.87% (+110% vs 2021); not observed", "2026: +15% vs 2023 index; absolute rate unavailable"]</a:t>
            </a:r>
          </a:p>
          <a:p xmlns:a="http://schemas.openxmlformats.org/drawingml/2006/main">
            <a:r>
              <a:t>gitclearSecondary: "2023→26: calls 343 → 223 / 1k changed lines; duplicates ≈+81%"</a:t>
            </a:r>
          </a:p>
          <a:p xmlns:a="http://schemas.openxmlformats.org/drawingml/2006/main">
            <a:r>
              <a:t>gitclearSource: "GITCLEAR · CROSS-EDITION · 211M lines (2020–24) / 623M changes (2023–26)*"</a:t>
            </a:r>
          </a:p>
          <a:p xmlns:a="http://schemas.openxmlformats.org/drawingml/2006/main">
            <a:r>
              <a:t>doraInstability: "≈ +0.10 SD"</a:t>
            </a:r>
          </a:p>
          <a:p xmlns:a="http://schemas.openxmlformats.org/drawingml/2006/main">
            <a:r>
              <a:t>doraDefinition: "Instability = failed production changes + unplanned fix deployments"</a:t>
            </a:r>
          </a:p>
          <a:p xmlns:a="http://schemas.openxmlformats.org/drawingml/2006/main">
            <a:r>
              <a:t>doraMeasures: "Survey model; association, not causal. SD = standard deviation, not a failure percentage."</a:t>
            </a:r>
          </a:p>
          <a:p xmlns:a="http://schemas.openxmlformats.org/drawingml/2006/main">
            <a:r>
              <a:t>takeaway: "Three signals: activity ≠ outcomes · stability is separate · maintainability needs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Актуальне уточнення v27.</a:t>
            </a:r>
          </a:p>
          <a:p xmlns:a="http://schemas.openxmlformats.org/drawingml/2006/main">
            <a:r>
              <a:t>Екранне Generation can scale faster than comprehension зберігає статус сценарію як гіпотези. Ми не стверджуємо універсального закону, що generation завжди масштабується швидше за comprehension; це ризик, який команда перевіряє через review capacity, ownership і recovery.</a:t>
            </a:r>
          </a:p>
          <a:p xmlns:a="http://schemas.openxmlformats.org/drawingml/2006/main">
            <a:r>
              <a:t/>
            </a:r>
          </a:p>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Актуальний сценарій слайда 7 — v31.</a:t>
            </a:r>
          </a:p>
          <a:p xmlns:a="http://schemas.openxmlformats.org/drawingml/2006/main">
            <a:r>
              <a:t>Слайд тепер розділяє дві задачі: WATCH / MEASURE — які сигнали показують, що generation почала перевищувати здатність команди перевіряти, розуміти й підтримувати систему; EXPLORE / TEST — які контрзаходи можна пробувати. Це не готовий рецепт нового SDLC.</a:t>
            </a:r>
          </a:p>
          <a:p xmlns:a="http://schemas.openxmlformats.org/drawingml/2006/main">
            <a:r>
              <a:t>FLOW &amp; REVIEW: review age, PR/batch size, queue depth/WIP і lead time показують downstream pressure. Не оптимізувати одну метрику ізольовано: менші PR не допомагають, якщо черга та lead time ростуть.</a:t>
            </a:r>
          </a:p>
          <a:p xmlns:a="http://schemas.openxmlformats.org/drawingml/2006/main">
            <a:r>
              <a:t>CODEBASE &amp; MAINTAINABILITY: churn, duplication, cognitive complexity, dependency growth та codebase growth відносно delivered value — контекстні сигнали, а не автоматичні дефекти. Важливі trend/baseline і пояснення зміни.</a:t>
            </a:r>
          </a:p>
          <a:p xmlns:a="http://schemas.openxmlformats.org/drawingml/2006/main">
            <a:r>
              <a:t>DELIVERY &amp; PRODUCTION: дивимося разом на throughput і stability — release/deploy rate, rollback/hotfix/change-failure signals, post-release incidents і MTTR. Більше релізів саме по собі не означає кращий delivery.</a:t>
            </a:r>
          </a:p>
          <a:p xmlns:a="http://schemas.openxmlformats.org/drawingml/2006/main">
            <a:r>
              <a:t>TEAM / OWNERSHIP / RECOVERY: review load, on-call/interruption load, after-hours pressure, короткі pulse surveys, knowledge concentration, unowned code та час unaided diagnosis/restore. Burnout не виводиться з одного telemetry metric; це окремий human signal, який треба збирати етично й у контексті.</a:t>
            </a:r>
          </a:p>
          <a:p xmlns:a="http://schemas.openxmlformats.org/drawingml/2006/main">
            <a:r>
              <a:t>FLOW CONTROL: small batches, WIP/intake limits і throttling generation до реальної review capacity — гіпотези для перевірки, не універсальне правило.</a:t>
            </a:r>
          </a:p>
          <a:p xmlns:a="http://schemas.openxmlformats.org/drawingml/2006/main">
            <a:r>
              <a:t>SPEC-FIRST / DISPOSABLE CODE: SDD означає зробити specification, tests/contracts та acceptance evidence сильнішими anchors. Disposable-code підхід тут означає, що implementation можна дешевше перегенерувати з довіреної специфікації, ніж нескінченно підтримувати випадково згенерований artifact. Це не дозвіл ігнорувати review, security або production ownership.</a:t>
            </a:r>
          </a:p>
          <a:p xmlns:a="http://schemas.openxmlformats.org/drawingml/2006/main">
            <a:r>
              <a:t>KNOWLEDGE FOR HUMANS + AGENTS: living architecture, repo→docs, owner/dependency maps, repository knowledge bases, RAG чи ontologies можуть скоротити navigation/context gap, але самі створюють maintenance cost і можуть застарівати або вводити агента в оману.</a:t>
            </a:r>
          </a:p>
          <a:p xmlns:a="http://schemas.openxmlformats.org/drawingml/2006/main">
            <a:r>
              <a:t>AI-ASSISTED REVIEW: agentic або second-model review, static analysis та eval gates можуть збільшити review capacity, але не є незалежною істиною — моделі можуть мати спільні failure modes. Людина та recovery capability залишаються частиною системи.</a:t>
            </a:r>
          </a:p>
          <a:p xmlns:a="http://schemas.openxmlformats.org/drawingml/2006/main">
            <a:r>
              <a:t>Головне: це candidate countermeasures, not proven fixes. Для кожної практики потрібні baseline, bounded trial, owner, decision date і stop condition. Перевіряємо, чи реально зменшився generation↔comprehension gap без погіршення delivery, quality, cost або team health.</a:t>
            </a:r>
          </a:p>
          <a:p xmlns:a="http://schemas.openxmlformats.org/drawingml/2006/main">
            <a:r>
              <a:t>Перехід до слайда 8: «І навіть якщо ми знайдемо новий equilibrium для HOW, друга зміна нікуди не зникає: AI дедалі частіше входить у runtime самого продукту».</a:t>
            </a:r>
          </a:p>
          <a:p xmlns:a="http://schemas.openxmlformats.org/drawingml/2006/main">
            <a:r>
              <a:t/>
            </a:r>
          </a:p>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a:p xmlns:a="http://schemas.openxmlformats.org/drawingml/2006/main">
            <a:r>
              <a:t/>
            </a:r>
          </a:p>
          <a:p xmlns:a="http://schemas.openxmlformats.org/drawingml/2006/main">
            <a:r>
              <a:t>Уточнення v22 — поточна редакція, 23.09.2026:</a:t>
            </a:r>
          </a:p>
          <a:p xmlns:a="http://schemas.openxmlformats.org/drawingml/2006/main">
            <a:r>
              <a:t>Екранне формулювання тепер Generation can outpace review. Це можливий дисбаланс після прискорення генерації, а не твердження про всі команди сьогодні. Воно узгоджене з illustrative overload hypothesis на 5. Watch / Explore означає перевірити фактичний flow, review capacity, rework і recovery у своїй команді; конкретні практики не є універсальною гарантією нового equilibrium.</a:t>
            </a:r>
          </a:p>
          <a:p xmlns:a="http://schemas.openxmlformats.org/drawingml/2006/main">
            <a:r>
              <a:t/>
            </a:r>
          </a:p>
          <a:p xmlns:a="http://schemas.openxmlformats.org/drawingml/2006/main">
            <a:r>
              <a:t>Розгорнуті переліки для виступу, 1 жовтня 2026.</a:t>
            </a:r>
          </a:p>
          <a:p xmlns:a="http://schemas.openxmlformats.org/drawingml/2006/main">
            <a:r>
              <a:t>Екранні підписи скорочено для читабельності. Повний перелік v33 збережено нижче; ці candidate countermeasures потребують перевірки у власній команді, а не оголошуються доведеними fixes.</a:t>
            </a:r>
          </a:p>
          <a:p xmlns:a="http://schemas.openxmlformats.org/drawingml/2006/main">
            <a:r>
              <a:t>watchRows: [["FLOW &amp; REVIEW", "Review age · PR/batch size · queue/WIP · lead time"], ["CODEBASE &amp; MAINTAINABILITY", "Churn · duplication · complexity · codebase growth vs delivered value · dependency growth"], ["DELIVERY &amp; PRODUCTION", "Release throughput/stability · rollback/hotfix · post-release incidents · MTTR"], ["TEAM, OWNERSHIP &amp; RECOVERY", "Review/on-call load · fatigue/burnout pulse · unowned code · unaided diagnosis/restore"]]</a:t>
            </a:r>
          </a:p>
          <a:p xmlns:a="http://schemas.openxmlformats.org/drawingml/2006/main">
            <a:r>
              <a:t>exploreRows: [["FLOW CONTROL", "Small batches · WIP/intake limits · throttle generation to review capacity"], ["SPEC-FIRST / DISPOSABLE CODE", "Spec-driven dev · tests/contracts as anchors · regenerate from trusted specs when cheaper"], ["KNOWLEDGE FOR HUMANS + AGENTS", "Living architecture · repo→docs · owner/dependency maps · knowledge bases / RAG / ontologies"], ["AI-ASSISTED REVIEW &amp; RECOVERY", "Agentic code review · second-model checks · static/eval gates · code+docs review · recovery drills"]]</a:t>
            </a:r>
          </a:p>
          <a:p xmlns:a="http://schemas.openxmlformats.org/drawingml/2006/main">
            <a:r>
              <a:t>caption: "Test whether they narrow the generation ↔ comprehension gap without worsening delivery, quality, cost or team health. Next: AI inside the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Наскрізний приклад другої частини — внутрішній IT-асистент, який допомагає працівнику відновити доступ за затвердженою інструкцією. Він може пояснити recovery steps, попросити уточнення або запропонувати дозволену дію; proposal залишається внутрішнім недовіреним результатом до перевірок та delivery/execution. Це ілюстративний design case, а не опис уже впровадженого продукту. Бажаний outcome — відновлений доступ, менше повторних звернень і прийнятні повні витрати. Текст відповіді може варіюватися, але authority, permissions і заборонені outcomes не розширюються. На 9 погоджуємо контракт, на 10 перевіряємо результати, на 11 вирішуємо readiness/completion/release, на 12 показуємо здійсненний control path. Це послідовність пояснення; design, evaluation й operational feasibility опрацьовують разом.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Для IT-асистента Product / PO визначає цінність відновленого доступу та пріоритети, BA разом із QA / domain expert перетворює межі на приклади acceptance, Project Manager забезпечує своєчасність залежних рішень. Risk/business authority погоджує допустимі наслідки. Вихід — один придатний до перевірки контракт: approved knowledge і права поточного користувача, потрібне уточнення замість припущення, заборона іншої особи private data або обходу approval, support fallback. Вимірюємо успішне вирішення й repeat contacts разом із latency, token/review cost. Жодного універсального числового threshold цей приклад не задає. Попередні посилання ISO/IEC 25059, NIST AI RMF і CheckList лишаються вихідними матеріалами, а конкретну семантику продукту команда погоджує сама.</a:t>
            </a:r>
          </a:p>
          <a:p xmlns:a="http://schemas.openxmlformats.org/drawingml/2006/main">
            <a:r>
              <a:t/>
            </a:r>
          </a:p>
          <a:p xmlns:a="http://schemas.openxmlformats.org/drawingml/2006/main">
            <a:r>
              <a:t>Поточне пояснення слайда 9: визначений шлях і простір варіантів, v18, 23.09.2026.</a:t>
            </a:r>
          </a:p>
          <a:p xmlns:a="http://schemas.openxmlformats.org/drawingml/2006/main">
            <a:r>
              <a:t>Головна теза цього слайда — зміна роботи з вимогами. Порівнюємо конкретний детермінований сценарій із model-mediated поведінкою. Зліва: за того самого визначеного стану натискання A має відкрити B. Команда задає стани, переходи, гілки, правила й очікувані результати. Червоні відхилення біля шляху позначають можливі порушення цього контракту. Це навчальне спрощення, а не твердження, що все класичне ПЗ лінійне, просте або позбавлене комбінаторних дефектів.</a:t>
            </a:r>
          </a:p>
          <a:p xmlns:a="http://schemas.openxmlformats.org/drawingml/2006/main">
            <a:r>
              <a:t>Справа: одного правильного рядка чи однієї траєкторії вже недостатньо. Для дозволених намірів, вхідних даних, контексту, джерел і прав доступу визначаємо простір прийнятних відповідей та дій. Результатами можуть бути відповідь, уточнення або ескалація; заборонені наслідки, наприклад unauthorized disclosure, не стають прийнятними через рідкість. Потрібно описувати не лише output, а й умови, за яких система взагалі має право діяти: supported tasks, unsupported requests, data provenance, permissions, required meaning, допустима варіативність, заборони, failure handling. Intended value, latency/cost, deterministic obligations і контроль залишаються частинами повної вимоги, навіть коли на схемі виділено саме semantic space.</a:t>
            </a:r>
          </a:p>
          <a:p xmlns:a="http://schemas.openxmlformats.org/drawingml/2006/main">
            <a:r>
              <a:t>Пунктирна межа — спосіб показати труднощі повного й однозначного семантичного опису та перевірки, не дозвіл на нечіткі обов’язкові заборони. Схема не є universal semantic coordinate system, confidence region, емпіричною геометрією або probability density. Немає підстав обчислювати ймовірність дефекту з площі чи кількості намальованих точок. Structural schemas, permissions і відомі invariants можуть мати точні машинні перевірки. Але релевантність, коректність пояснення, допустима порада й відповідність бізнес-контексту часто потребують product-specific критеріїв, прикладів, контрприкладів і каліброваного judgment. Природномовний опис boundary не означає, що implemented system її гарантовано дотримується.</a:t>
            </a:r>
          </a:p>
          <a:p xmlns:a="http://schemas.openxmlformats.org/drawingml/2006/main">
            <a:r>
              <a:t>Чому робота складніша: комбінації inputs, контекстів, станів інструментів, відповідей і дій розширюють простір поведінки та кількість потенційно пропущених вимог. Обмежений набір happy paths не характеризує весь простір. Непередбачені комбінації можуть дійти до production, якщо вимоги, покриття або контролі їх не врахували. Це аргумент про specification/coverage risk, а не доведене універсальне зростання production defect rate. Частота залежить від реального usage distribution, probability mass неприйнятних результатів, обмеженості задачі, реалізації та ефективності контролю; impact — окремий вимір. Також детерміновані системи вже можуть мати величезний простір станів та комбінацій.</a:t>
            </a:r>
          </a:p>
          <a:p xmlns:a="http://schemas.openxmlformats.org/drawingml/2006/main">
            <a:r>
              <a:t>Стандарти існують. Повторно перевірено офіційні public abstracts: ISO/IEC 25059:2023 дає quality model і спільну термінологію для specification, measurement та evaluation; ISO/IEC TS 25058:2024 дає guidance для оцінювання AI systems із застосуванням quality model. Це не готова вичерпна semantic specification конкретного продукту. Не стверджуємо, що ніхто не знає, як описувати AI-вимоги, або що стандартів немає. Невирішена практична робота — перетворити загальні характеристики на погоджені критерії й перевірювані межі саме нашої системи. Пропонований робочий ланцюжок: quality characteristic → product-specific criterion → examples/counterexamples → calibrated rubric and evaluator → evidence in relevant contexts. Це приклад адаптації доповіді, не цитата чи обов’язковий prescribed workflow ISO. Повні платні ISO тексти не перевірено; NIST AI RMF Core прочитано як відкрите джерело context/risk/evaluation підходу. Станом на перевірку 25059:2023 published, наступна FDIS edition under development; не називаємо draft чинною виданою заміною.</a:t>
            </a:r>
          </a:p>
          <a:p xmlns:a="http://schemas.openxmlformats.org/drawingml/2006/main">
            <a:r>
              <a:t>Product / PO формулює корисний outcome та priorities, BA допомагає зробити умови й semantic criteria операційними, QA / Dev разом із domain experts перевіряють їхню вимірюваність і можливість реалізації. Уповноважений business/risk owner погоджує межі у своєму scope. Project Manager забезпечує доступ до цих людей, час на уточнення й дослідження, залежності та своєчасність рішень; роль не стає одноосібним risk owner. Попередній IT-assistant contract залишається прикладом у нотатках, а на слайді 9 основним знову є загальне порівняння. Перехід до 10: коли прийнятна поведінка задається простором, потрібно погодити, що є порушенням, як його виміряти та які evidence достатні.</a:t>
            </a:r>
          </a:p>
          <a:p xmlns:a="http://schemas.openxmlformats.org/drawingml/2006/main">
            <a:r>
              <a:t>Джерела: надана стара презентація, PDF page 5 Designing the Space of Possibilities; https://www.iso.org/standard/80655.html ; https://www.iso.org/standard/82570.html ; https://airc.nist.gov/airmf-resources/airmf/5-sec-core/ ; UA Requirements, Correctness and Bugs. Стару метафору single path / zero drift адаптовано без універсальних тверджень про все класичне ПЗ.</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a:p xmlns:a="http://schemas.openxmlformats.org/drawingml/2006/main">
            <a:r>
              <a:t>https://www.iso.org/standard/82570.html</a:t>
            </a:r>
          </a:p>
          <a:p xmlns:a="http://schemas.openxmlformats.org/drawingml/2006/main">
            <a:r>
              <a:t>https://airc.nist.gov/airmf-resources/airmf/5-sec-core/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Ті самі 200 ілюстративних незалежних відповідей тепер явно стосуються IT-асистента: 196 допустимих, три з неправильними recovery instructions і одна з disclosure чужих приватних даних. Об’єднані 4/200 = 2% і 95% Wilson interval ≈0.8–5.0% оцінюють частоту any contract violation за умовами вибірки; вони не оцінюють окремо частоту critical harm і не перетворюють її на прийнятну. Інтервал потрібен для рішення про звичайну надійність та очікуване навантаження rework; він не компенсує заборонену подію. Для цього погодженого contract одна disclosure блокує candidate. Golden Set — curated набір важливих сценаріїв, а representative sample потрібна для rate estimation. Eval Gates — погоджені criteria порівняння evidence версії з умовами використання, не обіцянка математичного доведення безпеки. Нуль знайдених critical events також не доводить їх неможливість. Наступний слайд показує, як evidence впливає на завершеність і дозвіл використання.</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Підписи outcome chart читаються як count (share): 196 (98%), 3 (1.5%), 1 (0.5%). Це ті самі 200 ілюстративних відповідей. Число 19698% не є метрикою. Відсотки стосуються часток відповідної категорії, а 4/200 і Wilson interval — сукупної події порушення контракту. Однорядковий запис чітко відділяє число випадків від частки.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a:p xmlns:a="http://schemas.openxmlformats.org/drawingml/2006/main">
            <a:r>
              <a:t/>
            </a:r>
          </a:p>
          <a:p xmlns:a="http://schemas.openxmlformats.org/drawingml/2006/main">
            <a:r>
              <a:t>Уточнення v22 — поточна редакція, 23.09.2026:</a:t>
            </a:r>
          </a:p>
          <a:p xmlns:a="http://schemas.openxmlformats.org/drawingml/2006/main">
            <a:r>
              <a:t>Усне уточнення до 196 acceptable outcomes: прийнятність визначається всім погодженим контрактом, включно з корисністю, а не лише відсутністю забороненої дії. Належне уточнення або ескалація може бути правильним результатом для конкретного сценарію; постійно відмовляти чи перекладати всі запити на підтримку не означає автоматично виконати ціль продукту. Перевіряємо правильне вирішення звернення та навантаження на користувача/підтримку поряд із безпечністю, cost і latency. Цифри 196/3/1, 4/200 та Wilson interval не змінюються.</a:t>
            </a:r>
          </a:p>
          <a:p xmlns:a="http://schemas.openxmlformats.org/drawingml/2006/main">
            <a:r>
              <a:t>Верхня схема і нижня вибірка — різні навчальні об’єкти. Рідкісний результат не обов’язково неправильний, а частий — не обов’язково правильний; колір на схемі показує відповідність контракту, не частоту. Середній показник або нуль знайдених критичних відмов не є дозволом на заборонений наслідок і не доводить його неможливості.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 цьому етапі прикладу IT-асистент ще не готовий до релізу: evidence з 10 містить заборонену disclosure. Стовпець IT ASSISTANT: ADDED REQUIREMENTS описує потрібні умови, а не стверджує, що candidate їх виконав. Команда виправляє джерело порушення, перевіряє permissions і containment, додає regression case, повторює релевантне оцінювання. Release owner не може довільно перекрити inherited prohibition низьким середнім error rate. Зміна меж або scope потребує відповідної authority і re-evaluation. Після виконання критеріїв окремо авторизують scope / residual risk і підтверджують operational capacity. Permission checks та rehearsal support fallback на 12 є частиною попереднього дизайну і реалізації, а не кроком після релізу.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Порівняння відновлює зміст слайда From Static Requirements to Statistical Gates зі старої Designing Non-Deterministic Systems (сторінка 6 PDF, змістовний слайд 5). Порівнюємо не один IT-case, а загальні умови роботи: готовність, завершеність та авторизацію використання. У традиційному software також є ризик, вартість, performance і нефункціональні вимоги; це не caricature «один unit test — і в production». Thinking Systems потребують явних behavioral tolerances і заборонених outcomes, контрольованого cost envelope, evaluation coverage, uncertainty та operating capacity.</a:t>
            </a:r>
          </a:p>
          <a:p xmlns:a="http://schemas.openxmlformats.org/drawingml/2006/main">
            <a:r>
              <a:t/>
            </a:r>
          </a:p>
          <a:p xmlns:a="http://schemas.openxmlformats.org/drawingml/2006/main">
            <a:r>
              <a:t>DoR: до розробки погоджуємо risk profile, допустиму варіативність, заборонені області, Golden Set / representative sampling, критерії Eval Gates і здійсненний повний control / human-response design. Token/evaluation/review costs, latency й спроможність responders входять у readiness budget, а не утворюють окремий рівнозначний DoR/DoD об’єкт. DoD: versioned evidence демонструє досягнення критеріїв на релевантних сценаріях і вибірках, межі невизначеності задокументовано, controls/fallback/HITL реалізовано й перевірено, limits підтверджено вимірюваннями. Велика вибірка не доводить universal safety: замість історичного «large-sample runs prove» говоримо про evidence та uncertainty під конкретними assumptions.</a:t>
            </a:r>
          </a:p>
          <a:p xmlns:a="http://schemas.openxmlformats.org/drawingml/2006/main">
            <a:r>
              <a:t/>
            </a:r>
          </a:p>
          <a:p xmlns:a="http://schemas.openxmlformats.org/drawingml/2006/main">
            <a:r>
              <a:t>Release: уповноважений owner приймає evidence, релевантні error bounds і residual risk для визначеного scope. Confidence interval є input до рішення, а не самостійний дозвіл на harm; prohibited disclosure у прикладі з 10 залишається blocker. Потрібен повний і дієздатний control loop, включно з human authority там, де вона потрібна за approved architecture, моніторингом, response capacity, containment/fallback і rollback лише для оборотних ефектів. Production incidents живлять regression cases, Eval Gates і monitoring rules. Sprint Review не є формальним release gate, DoR — можлива командна практика, DoD — shared quality commitment. Product / PO, BA, Dev, QA, Architect, service / risk / release owners і PM мають різні внески в спільний контракт.</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Актуальний сценарій слайда 12 — v26, 23.09.2026.</a:t>
            </a:r>
          </a:p>
          <a:p xmlns:a="http://schemas.openxmlformats.org/drawingml/2006/main">
            <a:r>
              <a:t>Головна думка: схема називає потрібні функції контролю, але сама наявність блоків не доводить їхню ефективність. Перевіряємо не лише продукт, а й здатність контролю виявити проблему та реально вплинути на неї. Нових блоків або універсальної архітектури ця ітерація не додає.</a:t>
            </a:r>
          </a:p>
          <a:p xmlns:a="http://schemas.openxmlformats.org/drawingml/2006/main">
            <a:r>
              <a:t>Semantic check against criteria лишається fallible і не підмінює permissions / required approval. Його придатність перевіряємо на релевантних прикладах, з domain experts: які небезпечні результати пропускає, які корисні блокує, чи узгоджена rubric. Дані для підсумкового оцінювання відділяємо від налаштування. Запуск evaluator сам по собі не є доказом правильності результату.</a:t>
            </a:r>
          </a:p>
          <a:p xmlns:a="http://schemas.openxmlformats.org/drawingml/2006/main">
            <a:r>
              <a:t>Observe all paths означає охоплення дозволених відповідей і дій, відмов, fallback та людської ескалації спостереженням. Telemetry підтверджує лише те, що вона фактично вимірює. Лог «відповідь видано» не доводить, що працівник правильно відновив доступ; для task success та наслідків потрібні відповідні evidence. Відсутність сигналу про помилку не оголошуємо підтвердженим успіхом.</a:t>
            </a:r>
          </a:p>
          <a:p xmlns:a="http://schemas.openxmlformats.org/drawingml/2006/main">
            <a:r>
              <a:t>Controller порівнює evidence з погодженими limits і авторизує корекцію у своїх повноваженнях. Після цього перевіряємо, чи actuator справді виконав дію, чи вона змінила результат і чи вклалася реакція в допустимий час. Human authority потребує контексту, компетенції, прав, часу й capacity. Fallback також має спостережуваний outcome; пунктирна лінія не повертає відхилену дію на виконання.</a:t>
            </a:r>
          </a:p>
          <a:p xmlns:a="http://schemas.openxmlformats.org/drawingml/2006/main">
            <a:r>
              <a:t>Застереження щодо незворотного disclosure та окреме вето збережені. Три джерела складності не є формулою вето. Якщо дієвого контрольного шляху для погоджених наслідків немає, потрібні звуження, redesign або відмова від цього AI path через уповноваженого owner. PM забезпечує власників, час, evidence і readiness залежностей, а не одноосібно засвідчує безпеку.</a:t>
            </a:r>
          </a:p>
          <a:p xmlns:a="http://schemas.openxmlformats.org/drawingml/2006/main">
            <a:r>
              <a:t>ПОПЕРЕДНІ ДЖЕРЕЛЬНІ Й РЕДАКТОРСЬКІ НОТАТКИ.</a:t>
            </a:r>
          </a:p>
          <a:p xmlns:a="http://schemas.openxmlformats.org/drawingml/2006/main">
            <a:r>
              <a:t>Нижче збережено попередній матеріал без змін. Для поточної подачі пріоритет має сценарій v26 вище; попередні назви, композиції та формулювання не є новою екранною редакцією.</a:t>
            </a:r>
          </a:p>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У схемі proposal відокремлено від delivery/execution. Перевірка прав, scope дозволеного tool call і потрібного approval працює перед дією; рішення моделі саме по собі не може надати їй нові повноваження. У разі відмови або недоступності gate цей шлях відхиляє дію й використовує safe fallback. Контекст і retrieval також мають поважати access controls: не слід спочатку передавати моделі чужі дані, а потім покладатися лише на output judge. Доступні deterministic checks гарантують лише перевірювані властивості власної реалізації та trusted boundary, не всі семантичні наслідки природної мови. Semantic evaluation і human review можуть помилятися, тому дизайн обмежує authority/exposure і перевіряє реальну ефективність.</a:t>
            </a:r>
          </a:p>
          <a:p xmlns:a="http://schemas.openxmlformats.org/drawingml/2006/main">
            <a:r>
              <a:t/>
            </a:r>
          </a:p>
          <a:p xmlns:a="http://schemas.openxmlformats.org/drawingml/2006/main">
            <a:r>
              <a:t>Після виконання sensor спостерігає outcome і control health, controller вирішує в межах delegated authority, actuator може зупинити або звузити подальшу роботу чи вимкнути tool. Human Authority має evidence/context, компетенцію, decision rights, доступний час, peak capacity і backup. Людина залучається там, де цього вимагає approved design, а не до кожної відповіді. Схематичний зв’язок з gate означає required approval, не обхід checks. Уже розкриті дані feedback або rollback не повертає; rollback придатний лише до оборотних змін.</a:t>
            </a:r>
          </a:p>
          <a:p xmlns:a="http://schemas.openxmlformats.org/drawingml/2006/main">
            <a:r>
              <a:t/>
            </a:r>
          </a:p>
          <a:p xmlns:a="http://schemas.openxmlformats.org/drawingml/2006/main">
            <a:r>
              <a:t>Пропорційність: draft для компетентної людини перед використанням має іншу authority та reversibility, ніж автономна зміна доступу. Навіть draft може розкривати дані, тому access boundary лишається. Для автономної дії потрібні перевірки дозволів і required approval перед effect, дієздатний containment та response. Лише назва HITL не робить шлях керованим. Latency, людська спроможність, full token/evaluation/review costs і opaque vendor changes перевіряють в економіці та operability. Якщо обов’язковий контроль не можна реалізувати або забезпечити response capacity — звузити scope, змінити архітектуру чи відмовитися від цього AI path. Bounded trial допустимий тільки з working controls, exposure limits і stop criteria.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Центральний control loop, pre-action permission/approval, human authority та застереження щодо незворотного disclosure збережені. Нижня частина тепер містить три окремі джерела складності: latency та реальна human capacity; повна вартість tokens/evaluations/retries/human review; зміни model/routing/provider assumptions. Це не формула вето і не причинна стрілка до нього. Окремо нижче: якщо надійний та операційно дієвий control path неможливо побудувати й підтримувати для заданих наслідків, звузити, перепроєктувати або відхилити цей AI path через належного decision owner. Пропорційність і приклади draft-for-human-review та autonomous access change залишаються в попередніх notes; вони не скасовуються новою композицією. Semantic checks не ототожнюються з permission gate.</a:t>
            </a:r>
          </a:p>
          <a:p xmlns:a="http://schemas.openxmlformats.org/drawingml/2006/main">
            <a:r>
              <a:t/>
            </a:r>
          </a:p>
          <a:p xmlns:a="http://schemas.openxmlformats.org/drawingml/2006/main">
            <a:r>
              <a:t>Уточнення v22 — поточна редакція, 23.09.2026:</a:t>
            </a:r>
          </a:p>
          <a:p xmlns:a="http://schemas.openxmlformats.org/drawingml/2006/main">
            <a:r>
              <a:t>Це уточнення чинної схеми, а не нова універсальна архітектура. До pre-action шляху додано окремий Semantic check against criteria (fallible), щоб не ототожнювати змістову допустимість з permissions/required approval. Для цього IT-assistant case потрібні і прийнятний зміст за погодженими критеріями, і право видати/виконати результат. Відхилений результат або недоступний обов’язковий check спрямовується в погоджений deny/fallback; різні перевірки мають різні обов’язки. Семантична перевірка може помилитися, тому сама по собі не гарантує правильності довільної інструкції. Для необхідних заборон потрібні придатні enforcement paths, обмеження authority/exposure та перевірені припущення. Access controls для context/retrieval працюють також до передавання даних моделі, а не лише перед disclosure.</a:t>
            </a:r>
          </a:p>
          <a:p xmlns:a="http://schemas.openxmlformats.org/drawingml/2006/main">
            <a:r>
              <a:t>Спостереження охоплює всі шляхи: дозволені відповіді/дії, відмови, fallback і передавання людині. Пунктирна блакитна лінія від fallback до Observe показує телеметрію його outcomes, workload, черг, response time та фактичної human capacity; це не дозвіл відновити відхилену дію. Controller порівнює evidence з погодженими limits і авторизує correction лише у межах делегованих прав. Після втручання перевіряється ефект. Людська authority, три джерела складності, окремий критерій veto та застереження про незворотні наслідки зберігаються. Замкнутий контур не є самостійним доказом безпеки.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WHAT-стовпець тепер показує результат координації: погоджені критерії, компетентний domain reviewer, визначений responder із перевіреною спроможністю та evidence, достатня для рішення. Для IT-асистента відсутність такого responder або невиконаний privacy criterion є delivery dependency, яку не закриває демонстрація working code. Project Manager організовує owner, час і proof of closure, але не підмінює продуктову, технічну або risk authority. На HOW так само потрібні qualified reviewer та людина, здатна підтримати й відновити незнайомий компонент. Existing people можуть поєднувати ці відповідальності. Не створюємо обов’язкового нового headcount чи комітетів.</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Основна теза: одночасно змінюються HOW — система delivery, її bottlenecks і баланс — та WHAT — продукт, у якому runtime judgment частково ймовірнісний. Саме їхній спільний вплив змінює ролі, розподіл роботи, feedback cadence й операційну модель. Геп експертизи — один ілюстративний наслідок, а не тема всього слайда.</a:t>
            </a:r>
          </a:p>
          <a:p xmlns:a="http://schemas.openxmlformats.org/drawingml/2006/main">
            <a:r>
              <a:t/>
            </a:r>
          </a:p>
          <a:p xmlns:a="http://schemas.openxmlformats.org/drawingml/2006/main">
            <a:r>
              <a:t>HOW: прискорення generation не означає однакового прискорення review, integration, validation або team understanding. Потрібно бачити поточне constraint, WIP / queues / rework, якість review, ability to maintain/recover та зміну навантаження; перевіряти локальний evidence, а не проголошувати універсальне падіння productivity. Це може вимагати інших batch sizes, capacity allocation, learning time, ownership і delivery commitments. WHAT: evaluation, monitoring, drift/provider/model changes, full operating cost і timely human response стають частиною повсякденної роботи. QA, Product / PO / BA, architect/engineers та service owners переузгоджують критерії, evidence, authority й handoffs; назви відповідальностей не зобов’язують створювати нові посади.</a:t>
            </a:r>
          </a:p>
          <a:p xmlns:a="http://schemas.openxmlformats.org/drawingml/2006/main">
            <a:r>
              <a:t/>
            </a:r>
          </a:p>
          <a:p xmlns:a="http://schemas.openxmlformats.org/drawingml/2006/main">
            <a:r>
              <a:t>Новий напрям роботи PM — підтримувати придатність operating model під ці зміни: розуміти механізм двох зсувів, регулярно аналізувати bottlenecks і нові dependencies, добиватися owner / часу / capacity / evidence для їх закриття й адаптувати план та спосіб роботи разом із профільними власниками. PM не стає одноосібним technical чи risk authority, але відповідає за інтеграцію залежних рішень у delivery. Це практичний напрям розвитку ролі, а не універсальна нова job description.</a:t>
            </a:r>
          </a:p>
          <a:p xmlns:a="http://schemas.openxmlformats.org/drawingml/2006/main">
            <a:r>
              <a:t/>
            </a:r>
          </a:p>
          <a:p xmlns:a="http://schemas.openxmlformats.org/drawingml/2006/main">
            <a:r>
              <a:t>Приклад: генератор швидко додає код на незнайомій команді мові. Невелика частина стає critical dependency, а qualified review / maintenance / recovery coverage не зростає разом із нею. Expertise gap впливає на оцінки, acceptance, терміни, operational recovery і клієнтські commitments, тому його слід трекати як delivery dependency. PM разом із tech owner погоджує closure plan: навчання, reviewer/backup, staffing, звуження scope або заміна технології, потрібний час і доказ реальної спроможності. Інші приклади того самого класу — недостатня eval capacity, model/provider dependency, response staffing, review queue і latency/cost envelope. Старі scope / schedule / cost / risk / stakeholder responsibilities зберігаються, але їхній предмет суттєво розширюється.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Підсумок узагальнює expertise example: матеріальне невідоме стає delivery dependency, коли його незакритість може блокувати acceptance, operation або recovery. Це може бути експертиза, evaluator readiness, domain-expert availability, людська response capacity, зовнішня залежність чи невизначена здійсненність. Не кожне невідоме автоматично потребує нового реєстру: PM разом із профільним owner визначає питання, строк/trigger, потрібні evidence й рішення в наявному delivery plan. HOW/WHAT table та конкретний expertise example збережені. Time-box material unknowns before promising production capability залишається видимою тезою.</a:t>
            </a:r>
          </a:p>
          <a:p xmlns:a="http://schemas.openxmlformats.org/drawingml/2006/main">
            <a:r>
              <a:t/>
            </a:r>
          </a:p>
          <a:p xmlns:a="http://schemas.openxmlformats.org/drawingml/2006/main">
            <a:r>
              <a:t>Уточнення v22 — поточна редакція, 23.09.2026:</a:t>
            </a:r>
          </a:p>
          <a:p xmlns:a="http://schemas.openxmlformats.org/drawingml/2006/main">
            <a:r>
              <a:t>Останній екранний рядок тепер: Required decisions, evidence and capabilities belong in the delivery dependency plan. Він замінює попереднє надто широке ототожнення unknowns та dependencies. Невідоме — питання; наявна прогалина компетенції — issue; можливий зрив чи неможливість recovery — risk; потрібний qualified reviewer, доказ спроможності або рішення до розширення використання — dependency готовності. Коли невідоме може блокувати acceptance, operation або recovery, PM разом із профільним owner планує перевірку, потрібні evidence, рішення та capabilities у наявних механізмах delivery. Це не новий реєстр чи передача PM технічної/risk authority. HOW/WHAT table, expertise example та time-box before production commitment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Практичний перший крок після доповіді: обрати один workflow відновлення доступу, визначити observable useful outcome й погоджені межі, призначити існуючих відповідальних за evidence / decisions / operations та відрепетирувати support fallback. Порівняти evidence з погодженими умовами і вирішити continue, narrow або stop. Розмір controls залежить від consequences, authority й reversibility, показаних на 12, а не від вимоги максимальної governance до кожного AI feature. Existing team cadence включає ці рішення в planning, роботу, review й operations. Laboratory loop доповнює delivery commitments; він не є підставою для нескінченного експерименту без критеріїв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Верхній empirical loop не змінено. Нижня частина розрізняє review evidence від окремого authorized release checkpoint між review та operation. Review з Product/PO і командою аналізує evidence та uncertainty; release/risk owner окремо авторизує scope і residual risk у своїх повноваженнях. Це логічне розділення рішень, не нова обов’язкова Scrum ceremony, не waterfall і не дозвіл обійти обов’язкову заборону. До дозволеного trial з реальним exposure також потрібна відповідна авторизація. Короткий practical first step стоїть над фінальним висновком: More capability still requires engineering responsibility. HOW/WHAT outcomes і production feedback збережені.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a:p xmlns:a="http://schemas.openxmlformats.org/drawingml/2006/main">
            <a:r>
              <a:t/>
            </a:r>
          </a:p>
          <a:p xmlns:a="http://schemas.openxmlformats.org/drawingml/2006/main">
            <a:r>
              <a:t>Уточнення v20 — поточна екранна редакція, 23.09.2026:</a:t>
            </a:r>
          </a:p>
          <a:p xmlns:a="http://schemas.openxmlformats.org/drawingml/2006/main">
            <a:r>
              <a:t>WHAT WE BUILD та HOW WE BUILD розміщені окремими короткими підписами над відповідними ресурсами, щоб замкнути дві частини першого слайда. Обидва QR-коди, їхні зображення, розміри, розташування та hyperlink destinations збережено без зміни.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b23cca79a6464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4fe74d19b84a41" /><Relationship Type="http://schemas.openxmlformats.org/officeDocument/2006/relationships/slideLayout" Target="/ppt/slideLayouts/slideLayout1.xml" Id="R0e3a49f91d404705"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0e3a49f91d404705"/>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2b93a313081491d" /><Relationship Type="http://schemas.openxmlformats.org/officeDocument/2006/relationships/image" Target="/ppt/media/image.png" Id="Rc765ae508fda45f4" /><Relationship Type="http://schemas.openxmlformats.org/officeDocument/2006/relationships/hyperlink" Target="mailto:oborskyivitalii@gmail.com" TargetMode="External" Id="Rb8e2ec0388f24d02" /><Relationship Type="http://schemas.openxmlformats.org/officeDocument/2006/relationships/hyperlink" Target="https://www.linkedin.com/in/vitaliioborskyi/" TargetMode="External" Id="Rdcb135e44fc64fb7" /><Relationship Type="http://schemas.openxmlformats.org/officeDocument/2006/relationships/notesSlide" Target="/ppt/notesSlides/notesSlide1.xml" Id="Rb66eac3278fa4b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a8a1cc553f4b9c" /><Relationship Type="http://schemas.openxmlformats.org/officeDocument/2006/relationships/notesSlide" Target="/ppt/notesSlides/notesSlide2.xml" Id="R34818c36f0d547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1a7365c85194232" /><Relationship Type="http://schemas.openxmlformats.org/officeDocument/2006/relationships/notesSlide" Target="/ppt/notesSlides/notesSlide3.xml" Id="Rfd49a94d35e049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e67708a45ed455b" /><Relationship Type="http://schemas.openxmlformats.org/officeDocument/2006/relationships/notesSlide" Target="/ppt/notesSlides/notesSlide4.xml" Id="R02fc5a4ecc8346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00b2285da2d4792" /><Relationship Type="http://schemas.openxmlformats.org/officeDocument/2006/relationships/notesSlide" Target="/ppt/notesSlides/notesSlide5.xml" Id="Ra58db983df0744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8d26a64c984332" /><Relationship Type="http://schemas.openxmlformats.org/officeDocument/2006/relationships/notesSlide" Target="/ppt/notesSlides/notesSlide6.xml" Id="R4546937841db44e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144b4fa39054a87" /><Relationship Type="http://schemas.openxmlformats.org/officeDocument/2006/relationships/notesSlide" Target="/ppt/notesSlides/notesSlide7.xml" Id="R2ae9f2106d9c46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63216ee349d4e77" /><Relationship Type="http://schemas.openxmlformats.org/officeDocument/2006/relationships/notesSlide" Target="/ppt/notesSlides/notesSlide8.xml" Id="R6f18fac5a3ed44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185af8c5cd0434b" /><Relationship Type="http://schemas.openxmlformats.org/officeDocument/2006/relationships/notesSlide" Target="/ppt/notesSlides/notesSlide9.xml" Id="R546ebcd29bdc4f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9b73d2167ee4f60" /><Relationship Type="http://schemas.openxmlformats.org/officeDocument/2006/relationships/chart" Target="/ppt/slides/charts/chart1.xml" Id="R7eb9f4f78216436c" /><Relationship Type="http://schemas.openxmlformats.org/officeDocument/2006/relationships/notesSlide" Target="/ppt/notesSlides/notesSlide10.xml" Id="Rb3b0df93c660427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5e4f9136c5a421e" /><Relationship Type="http://schemas.openxmlformats.org/officeDocument/2006/relationships/notesSlide" Target="/ppt/notesSlides/notesSlide11.xml" Id="Rcb740f209aaa41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845ebb889f546d2" /><Relationship Type="http://schemas.openxmlformats.org/officeDocument/2006/relationships/notesSlide" Target="/ppt/notesSlides/notesSlide12.xml" Id="Rc02d36cb35804d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7f318c204794009" /><Relationship Type="http://schemas.openxmlformats.org/officeDocument/2006/relationships/notesSlide" Target="/ppt/notesSlides/notesSlide13.xml" Id="Re247d10ff2b74f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807ee4cb7b94882" /><Relationship Type="http://schemas.openxmlformats.org/officeDocument/2006/relationships/notesSlide" Target="/ppt/notesSlides/notesSlide14.xml" Id="R2161d283df4b44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0231e5049b243e4" /><Relationship Type="http://schemas.openxmlformats.org/officeDocument/2006/relationships/image" Target="/ppt/media/image2.png" Id="Rd9a7dd4852bb4418" /><Relationship Type="http://schemas.openxmlformats.org/officeDocument/2006/relationships/hyperlink" Target="https://github.com/UncertaintyArchitectureGroup/uncertainty-architecture" TargetMode="External" Id="R56f2279741084637" /><Relationship Type="http://schemas.openxmlformats.org/officeDocument/2006/relationships/hyperlink" Target="https://github.com/UncertaintyArchitectureGroup/uncertainty-architecture" TargetMode="External" Id="R8cc7f0da27ff4222" /><Relationship Type="http://schemas.openxmlformats.org/officeDocument/2006/relationships/image" Target="/ppt/media/image3.png" Id="R85dfc790f32e4e17" /><Relationship Type="http://schemas.openxmlformats.org/officeDocument/2006/relationships/hyperlink" Target="https://github.com/UncertaintyArchitectureGroup/The-Subprime-Code-Crisis" TargetMode="External" Id="Rc16d36a67a7e44da" /><Relationship Type="http://schemas.openxmlformats.org/officeDocument/2006/relationships/hyperlink" Target="https://github.com/UncertaintyArchitectureGroup/The-Subprime-Code-Crisis" TargetMode="External" Id="R7d31488fd7734e60" /><Relationship Type="http://schemas.openxmlformats.org/officeDocument/2006/relationships/hyperlink" Target="mailto:oborskyivitalii@gmail.com" TargetMode="External" Id="Raeb7bbae3b19404f" /><Relationship Type="http://schemas.openxmlformats.org/officeDocument/2006/relationships/hyperlink" Target="https://www.linkedin.com/in/vitaliioborskyi/" TargetMode="External" Id="R9df8d43fee184339" /><Relationship Type="http://schemas.openxmlformats.org/officeDocument/2006/relationships/notesSlide" Target="/ppt/notesSlides/notesSlide15.xml" Id="R84ffddc4daa94c5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spPr>
            <a:noFill xmlns:a="http://schemas.openxmlformats.org/drawingml/2006/main"/>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F5DBD24-A6CA-43F8-B67E-A8E10123C68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F3F8982B-8D00-4EE9-8723-84CD406DDCF9}"/>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the Delivery System</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and the Product Itself</a:t>
            </a:r>
          </a:p>
        </p:txBody>
      </p:sp>
      <p:sp>
        <p:nvSpPr>
          <p:cNvPr id="3" name="">
            <a:extLst xmlns:a="http://schemas.openxmlformats.org/drawingml/2006/main">
              <a:ext uri="{FF2B5EF4-FFF2-40B4-BE49-F238E27FC236}">
                <a16:creationId xmlns:a16="http://schemas.microsoft.com/office/drawing/2014/main" id="{1505CB88-01EF-4232-8555-1163A16FE8FD}"/>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New capabilities shift constraints. Engineering must adapt around them.</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765ae508fda45f4"/>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10271D8-F5E5-42EB-9B88-2B95DB3E8182}"/>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CE9B797E-C52B-4966-8439-78E41B642BD0}"/>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F8224464-FEBA-4FD6-8E45-DC4CAD4AA535}"/>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811DAE3A-4FDD-48A8-8E41-68C7CBFDFDA7}"/>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FC783871-7604-4AA8-8A86-753C29C84462}"/>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7D44D36C-048E-4769-B4B2-5CF7CA14F85E}"/>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790194FD-C53F-4F79-A94B-6AC5C5737D82}"/>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F94670D5-6C6F-4F0B-99E6-0D8E65762D39}"/>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b8e2ec0388f24d02"/>
              </a:rPr>
              <a:t>oborskyivitalii@gmail.com</a:t>
            </a:r>
          </a:p>
        </p:txBody>
      </p:sp>
      <p:sp>
        <p:nvSpPr>
          <p:cNvPr id="13" name="">
            <a:extLst xmlns:a="http://schemas.openxmlformats.org/drawingml/2006/main">
              <a:ext uri="{FF2B5EF4-FFF2-40B4-BE49-F238E27FC236}">
                <a16:creationId xmlns:a16="http://schemas.microsoft.com/office/drawing/2014/main" id="{5E1A9AD7-EA9B-4519-B7E1-AD707EA763BC}"/>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dcb135e44fc64fb7"/>
              </a:rPr>
              <a:t>https://www.linkedin.com/in/vitaliioborskyi/</a:t>
            </a:r>
          </a:p>
        </p:txBody>
      </p:sp>
    </p:spTree>
    <p:extLst>
      <p:ext uri="{BB962C8B-B14F-4D97-AF65-F5344CB8AC3E}">
        <p14:creationId xmlns:p14="http://schemas.microsoft.com/office/powerpoint/2010/main" val="1441845840"/>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21"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22"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23" name="">
            <a:extLst xmlns:a="http://schemas.openxmlformats.org/drawingml/2006/main">
              <a:ext uri="{FF2B5EF4-FFF2-40B4-BE49-F238E27FC236}">
                <a16:creationId xmlns:a16="http://schemas.microsoft.com/office/drawing/2014/main" id="{C6D0BA3C-043D-4F59-914B-D6CF3E5F93A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A New Capability Changes the Delegation Boundary</a:t>
            </a:r>
          </a:p>
        </p:txBody>
      </p:sp>
      <p:sp>
        <p:nvSpPr>
          <p:cNvPr id="2" name="">
            <a:extLst xmlns:a="http://schemas.openxmlformats.org/drawingml/2006/main">
              <a:ext uri="{FF2B5EF4-FFF2-40B4-BE49-F238E27FC236}">
                <a16:creationId xmlns:a16="http://schemas.microsoft.com/office/drawing/2014/main" id="{99D68A37-6F52-4BAD-BB3D-C8FF4EF6FA9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5352DC6-6057-4BEF-AD69-621446488C8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C43BB7B5-16A9-4AD3-9F3D-C9E14FF20342}"/>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A5CEEE56-2E77-49CC-99D4-0841679A99B6}"/>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57CCDFE5-3814-4608-AB5F-6EBC31BA6359}"/>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F1CB8C13-D99D-4A1F-BF3F-04408ADECF1D}"/>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EB26B06F-71AC-457C-B1B6-C5AEFB3A4D86}"/>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048AA86A-D8D9-4089-A82A-0BC840D4B970}"/>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CCA529F2-8403-4623-9554-0DA6B317DD64}"/>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56683976-58F6-4A8F-8003-61291074ED0A}"/>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263DB042-8BF0-4274-A16F-907EC1118D28}"/>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98D904B2-F5D1-48DD-AE87-A5378482DB8E}"/>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40A50871-3FE5-4C5D-A18F-FC10BC560399}"/>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3AB339AC-D5C5-4E8F-882F-9BA49199B2C0}"/>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sp>
        <p:nvSpPr>
          <p:cNvPr id="18" name="">
            <a:extLst xmlns:a="http://schemas.openxmlformats.org/drawingml/2006/main">
              <a:ext uri="{FF2B5EF4-FFF2-40B4-BE49-F238E27FC236}">
                <a16:creationId xmlns:a16="http://schemas.microsoft.com/office/drawing/2014/main" id="{E322AEC5-967C-48AF-8066-5EB2B1B5DDF5}"/>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E0613D3D-1D36-48DC-9A30-D514F85A0B0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47EF6D8-A554-42E4-9B35-3E4A4CB256F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HOW: rebalance the delivery system.</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WHAT: engineer behavior, evidence and control.</a:t>
            </a:r>
          </a:p>
        </p:txBody>
      </p:sp>
    </p:spTree>
    <p:extLst>
      <p:ext uri="{BB962C8B-B14F-4D97-AF65-F5344CB8AC3E}">
        <p14:creationId xmlns:p14="http://schemas.microsoft.com/office/powerpoint/2010/main" val="27403100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FAD794EC-2038-4704-99DE-AB5C9D31B36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DD833353-FCBC-4F3B-BEFD-E724AF5ACBB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E52480B-F9FE-4D2B-83A0-89F795EA243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1A09DF6F-7876-42AF-AA79-E02D260FFD5E}"/>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0F7B0828-00D4-4AC2-B78F-E571D35D44EA}"/>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0E7767C3-CD05-40F3-BAF4-D071E4D8ACBD}"/>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7896ABEA-9883-4558-81B7-0160C86ADDA8}"/>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D132B709-0E49-4835-897E-61A122E79D14}"/>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6101CFD0-CA53-481C-A615-02CF5923E728}"/>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56051758-BD46-4E32-BE22-304CE75501CA}"/>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6ADE3CA0-4F44-4C79-8244-29106FEFDA44}"/>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A35916A5-FFA2-434E-9BC2-7D0E3DA7C828}"/>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1FAC332B-FC31-402F-8359-27AF5F9F483F}"/>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A68ED7CD-5BBB-46F0-B941-BAC10F5526FE}"/>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C26DC578-C302-4CED-87A0-AA83F5FB00C5}"/>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CE6529C3-78DD-41A1-B1AB-8CEF54AAB9C6}"/>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B69FF806-91FD-4371-86B3-6B1916AF0EC8}"/>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8F7569C8-B649-4988-B322-BAB38B83FA8B}"/>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1DC64ADC-8970-4ABF-8269-798B9CA28C0F}"/>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DC150C06-9A50-4F4C-AE36-39DE66D9D137}"/>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77024F76-0980-41F1-9DB5-F3334BF1097A}"/>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D219E03E-4017-4CA3-BFF6-BF0E48C0A1D4}"/>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7CCCEF0F-C5F2-40CA-92A0-281F8C1B3B18}"/>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970A7504-E46B-4B5F-B338-6CA567DD7C06}"/>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8366E64C-2B95-459C-AA5F-1A4106E19852}"/>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238FC8DD-D7FC-4BA4-93E0-865AF0C8E1D1}"/>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FF53C49E-D4ED-4844-A27C-D48A7BB940E8}"/>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D919320F-59F2-4AD5-B161-9A99D115106C}"/>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43DBF3E1-69C6-4230-AEDC-73F2F6C55E77}"/>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62737337-B99F-40B2-AA11-D3AAE91BA046}"/>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C06D505E-E54E-4957-9831-B61C6B6AFF1E}"/>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C1EFFA35-0A20-4C0F-91D4-8A62B50244B2}"/>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29F76A2B-102D-4F33-A1EC-D07F8ADA9BA2}"/>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70FF997D-01B2-49B1-811D-DA478B3E64FE}"/>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1752A399-143F-45C3-813C-3B56ECC90915}"/>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DBA71DAF-CF51-45CA-8961-16E9A726C823}"/>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92C894C4-1BC9-4C95-B0B8-2ED3E2EFFA0E}"/>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844D2C45-F5D0-4FA1-8686-0EAA94376DEC}"/>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38F82894-2AC7-4D50-86E6-A7F66149B5A9}"/>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31A81BB5-E927-493B-B8D1-6A41DCA9317C}"/>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7032DCAA-FC49-497C-9271-26A1D725C4F1}"/>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614BFCF3-B358-40F7-9F4E-267EC3D119D0}"/>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B7116F83-25C9-4D46-A479-6F1F8CB27DBE}"/>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30A77A28-81A2-4867-B07F-E0048000EFB3}"/>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B97E0E09-D0CF-4A38-8C62-13001203611D}"/>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3909F4C7-EFA4-425F-9496-C1911D0676BD}"/>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864E302B-E59A-419C-B933-F8563E84AB91}"/>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4AB6E477-8E18-4427-A01C-3EA5304BFCA4}"/>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615F4943-3F74-45A7-B2AD-579E5290B4B7}"/>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B1D2B8FE-C185-4EBD-B65C-626839C76AB5}"/>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81FECEFC-7ADD-411F-A837-B126A6B16A19}"/>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2841D30B-1BB1-48DA-9253-1FE641B4FDB6}"/>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65A69212-2345-42F8-A628-0421B0D28D0C}"/>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78DC7368-2C2C-473E-884C-463CC688FEF8}"/>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8E2F2439-7329-4E2F-ABB3-B4961813D50F}"/>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47E1E873-3269-4290-B85C-64226A0F0021}"/>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8DA19831-2DEC-4B1B-98F5-ED8AF4478F59}"/>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C4C6EA9B-297C-44BA-89CA-4680CE05C268}"/>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87D2DE9D-B41B-428B-97F7-78CFD7A53842}"/>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D4833AFA-DDD2-458D-9C98-073979725D05}"/>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C3A1DD67-43A1-41A4-97A6-65CEA7237EA3}"/>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55EEC234-F52D-4D97-A2C2-7877CA62BD31}"/>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6B3625C8-030D-4C74-8479-00CAC1186B45}"/>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E242F1D9-5A15-4867-8E73-5762F5BC01F9}"/>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8ABECD70-2D6F-43C2-9B47-55E90DB9EE6E}"/>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FBD64121-E19E-4D58-96EE-8DEB0505361F}"/>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DEC6A5C7-9F8C-4A89-BC56-EFAB2452465F}"/>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430036407"/>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5D2DFD1B-23D8-4DA0-862E-105B9804827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D0F6FC83-1EF3-4074-8543-48CDA9E876D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A28DB65-FBEE-47DE-81CA-9E3D035A6B1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03DC1413-D0EF-4AAE-A7BE-65D5A8795C07}"/>
              </a:ext>
            </a:extLst>
          </p:cNvPr>
          <p:cNvSpPr>
            <a:spLocks xmlns:a="http://schemas.openxmlformats.org/drawingml/2006/main" noGrp="1"/>
          </p:cNvSpPr>
          <p:nvPr/>
        </p:nvSpPr>
        <p:spPr>
          <a:xfrm xmlns:a="http://schemas.openxmlformats.org/drawingml/2006/main">
            <a:off x="609600" y="11525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Different studies measure different outcomes — not one universal productivity effect.</a:t>
            </a:r>
          </a:p>
        </p:txBody>
      </p:sp>
      <p:sp>
        <p:nvSpPr>
          <p:cNvPr id="5" name="">
            <a:extLst xmlns:a="http://schemas.openxmlformats.org/drawingml/2006/main">
              <a:ext uri="{FF2B5EF4-FFF2-40B4-BE49-F238E27FC236}">
                <a16:creationId xmlns:a16="http://schemas.microsoft.com/office/drawing/2014/main" id="{3141AC38-9BFE-4BAE-ACE7-F4B3BC522F2D}"/>
              </a:ext>
            </a:extLst>
          </p:cNvPr>
          <p:cNvSpPr>
            <a:spLocks xmlns:a="http://schemas.openxmlformats.org/drawingml/2006/main" noGrp="1"/>
          </p:cNvSpPr>
          <p:nvPr/>
        </p:nvSpPr>
        <p:spPr>
          <a:xfrm xmlns:a="http://schemas.openxmlformats.org/drawingml/2006/main" flipH="0" flipV="0">
            <a:off x="5553075" y="1743075"/>
            <a:ext cx="0" cy="36480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CD120600-9349-4891-88D6-115C988A9D4D}"/>
              </a:ext>
            </a:extLst>
          </p:cNvPr>
          <p:cNvSpPr>
            <a:spLocks xmlns:a="http://schemas.openxmlformats.org/drawingml/2006/main" noGrp="1"/>
          </p:cNvSpPr>
          <p:nvPr/>
        </p:nvSpPr>
        <p:spPr>
          <a:xfrm xmlns:a="http://schemas.openxmlformats.org/drawingml/2006/main">
            <a:off x="609600" y="1714500"/>
            <a:ext cx="4800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NBER · SEP 2026 · &gt;500K GITHUB DEVS</a:t>
            </a:r>
          </a:p>
        </p:txBody>
      </p:sp>
      <p:sp>
        <p:nvSpPr>
          <p:cNvPr id="7" name="">
            <a:extLst xmlns:a="http://schemas.openxmlformats.org/drawingml/2006/main">
              <a:ext uri="{FF2B5EF4-FFF2-40B4-BE49-F238E27FC236}">
                <a16:creationId xmlns:a16="http://schemas.microsoft.com/office/drawing/2014/main" id="{4FDAF2B5-B626-4D44-A465-829C57C8E053}"/>
              </a:ext>
            </a:extLst>
          </p:cNvPr>
          <p:cNvSpPr>
            <a:spLocks xmlns:a="http://schemas.openxmlformats.org/drawingml/2006/main" noGrp="1"/>
          </p:cNvSpPr>
          <p:nvPr/>
        </p:nvSpPr>
        <p:spPr>
          <a:xfrm xmlns:a="http://schemas.openxmlformats.org/drawingml/2006/main">
            <a:off x="609600" y="2085975"/>
            <a:ext cx="1495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25.5×</a:t>
            </a:r>
          </a:p>
        </p:txBody>
      </p:sp>
      <p:sp>
        <p:nvSpPr>
          <p:cNvPr id="8" name="">
            <a:extLst xmlns:a="http://schemas.openxmlformats.org/drawingml/2006/main">
              <a:ext uri="{FF2B5EF4-FFF2-40B4-BE49-F238E27FC236}">
                <a16:creationId xmlns:a16="http://schemas.microsoft.com/office/drawing/2014/main" id="{D782CD67-8636-47A0-9A0B-FA8F4D622EA2}"/>
              </a:ext>
            </a:extLst>
          </p:cNvPr>
          <p:cNvSpPr>
            <a:spLocks xmlns:a="http://schemas.openxmlformats.org/drawingml/2006/main" noGrp="1"/>
          </p:cNvSpPr>
          <p:nvPr/>
        </p:nvSpPr>
        <p:spPr>
          <a:xfrm xmlns:a="http://schemas.openxmlformats.org/drawingml/2006/main">
            <a:off x="609600" y="2600325"/>
            <a:ext cx="1495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9" name="">
            <a:extLst xmlns:a="http://schemas.openxmlformats.org/drawingml/2006/main">
              <a:ext uri="{FF2B5EF4-FFF2-40B4-BE49-F238E27FC236}">
                <a16:creationId xmlns:a16="http://schemas.microsoft.com/office/drawing/2014/main" id="{AE9038B3-E8AD-422F-A424-4F2FDE85F1D9}"/>
              </a:ext>
            </a:extLst>
          </p:cNvPr>
          <p:cNvSpPr>
            <a:spLocks xmlns:a="http://schemas.openxmlformats.org/drawingml/2006/main" noGrp="1"/>
          </p:cNvSpPr>
          <p:nvPr/>
        </p:nvSpPr>
        <p:spPr>
          <a:xfrm xmlns:a="http://schemas.openxmlformats.org/drawingml/2006/main">
            <a:off x="2219325" y="2085975"/>
            <a:ext cx="1495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3.4×</a:t>
            </a:r>
          </a:p>
        </p:txBody>
      </p:sp>
      <p:sp>
        <p:nvSpPr>
          <p:cNvPr id="10" name="">
            <a:extLst xmlns:a="http://schemas.openxmlformats.org/drawingml/2006/main">
              <a:ext uri="{FF2B5EF4-FFF2-40B4-BE49-F238E27FC236}">
                <a16:creationId xmlns:a16="http://schemas.microsoft.com/office/drawing/2014/main" id="{63CCFAB3-3D48-4FED-AE3A-DADEDFD00F35}"/>
              </a:ext>
            </a:extLst>
          </p:cNvPr>
          <p:cNvSpPr>
            <a:spLocks xmlns:a="http://schemas.openxmlformats.org/drawingml/2006/main" noGrp="1"/>
          </p:cNvSpPr>
          <p:nvPr/>
        </p:nvSpPr>
        <p:spPr>
          <a:xfrm xmlns:a="http://schemas.openxmlformats.org/drawingml/2006/main">
            <a:off x="2219325" y="2600325"/>
            <a:ext cx="1495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1" name="">
            <a:extLst xmlns:a="http://schemas.openxmlformats.org/drawingml/2006/main">
              <a:ext uri="{FF2B5EF4-FFF2-40B4-BE49-F238E27FC236}">
                <a16:creationId xmlns:a16="http://schemas.microsoft.com/office/drawing/2014/main" id="{98690DCF-D994-4818-B02E-B8FE5AC597A1}"/>
              </a:ext>
            </a:extLst>
          </p:cNvPr>
          <p:cNvSpPr>
            <a:spLocks xmlns:a="http://schemas.openxmlformats.org/drawingml/2006/main" noGrp="1"/>
          </p:cNvSpPr>
          <p:nvPr/>
        </p:nvSpPr>
        <p:spPr>
          <a:xfrm xmlns:a="http://schemas.openxmlformats.org/drawingml/2006/main">
            <a:off x="3829050" y="2085975"/>
            <a:ext cx="14954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1.3×</a:t>
            </a:r>
          </a:p>
        </p:txBody>
      </p:sp>
      <p:sp>
        <p:nvSpPr>
          <p:cNvPr id="12" name="">
            <a:extLst xmlns:a="http://schemas.openxmlformats.org/drawingml/2006/main">
              <a:ext uri="{FF2B5EF4-FFF2-40B4-BE49-F238E27FC236}">
                <a16:creationId xmlns:a16="http://schemas.microsoft.com/office/drawing/2014/main" id="{EAF0B9F8-D02C-4805-AA41-094D0FC54DCB}"/>
              </a:ext>
            </a:extLst>
          </p:cNvPr>
          <p:cNvSpPr>
            <a:spLocks xmlns:a="http://schemas.openxmlformats.org/drawingml/2006/main" noGrp="1"/>
          </p:cNvSpPr>
          <p:nvPr/>
        </p:nvSpPr>
        <p:spPr>
          <a:xfrm xmlns:a="http://schemas.openxmlformats.org/drawingml/2006/main">
            <a:off x="3829050" y="2600325"/>
            <a:ext cx="1495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3" name="">
            <a:extLst xmlns:a="http://schemas.openxmlformats.org/drawingml/2006/main">
              <a:ext uri="{FF2B5EF4-FFF2-40B4-BE49-F238E27FC236}">
                <a16:creationId xmlns:a16="http://schemas.microsoft.com/office/drawing/2014/main" id="{44A6E0D6-DAAC-467E-9224-381E67E524B6}"/>
              </a:ext>
            </a:extLst>
          </p:cNvPr>
          <p:cNvSpPr>
            <a:spLocks xmlns:a="http://schemas.openxmlformats.org/drawingml/2006/main" noGrp="1"/>
          </p:cNvSpPr>
          <p:nvPr/>
        </p:nvSpPr>
        <p:spPr>
          <a:xfrm xmlns:a="http://schemas.openxmlformats.org/drawingml/2006/main">
            <a:off x="609600" y="29908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Cumulative across three tool generations</a:t>
            </a:r>
          </a:p>
        </p:txBody>
      </p:sp>
      <p:sp>
        <p:nvSpPr>
          <p:cNvPr id="14" name="">
            <a:extLst xmlns:a="http://schemas.openxmlformats.org/drawingml/2006/main">
              <a:ext uri="{FF2B5EF4-FFF2-40B4-BE49-F238E27FC236}">
                <a16:creationId xmlns:a16="http://schemas.microsoft.com/office/drawing/2014/main" id="{68C17D00-80DF-49DE-91C0-25129D5FDBCE}"/>
              </a:ext>
            </a:extLst>
          </p:cNvPr>
          <p:cNvSpPr>
            <a:spLocks xmlns:a="http://schemas.openxmlformats.org/drawingml/2006/main" noGrp="1"/>
          </p:cNvSpPr>
          <p:nvPr/>
        </p:nvSpPr>
        <p:spPr>
          <a:xfrm xmlns:a="http://schemas.openxmlformats.org/drawingml/2006/main">
            <a:off x="609600" y="3324225"/>
            <a:ext cx="4800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Changed LOC = additions + deletions.</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Fig. 1 rounded; async releases not estimated.</a:t>
            </a:r>
          </a:p>
        </p:txBody>
      </p:sp>
      <p:sp>
        <p:nvSpPr>
          <p:cNvPr id="15" name="">
            <a:extLst xmlns:a="http://schemas.openxmlformats.org/drawingml/2006/main">
              <a:ext uri="{FF2B5EF4-FFF2-40B4-BE49-F238E27FC236}">
                <a16:creationId xmlns:a16="http://schemas.microsoft.com/office/drawing/2014/main" id="{87A936E8-FCDA-4823-8327-15AC6C5ACE68}"/>
              </a:ext>
            </a:extLst>
          </p:cNvPr>
          <p:cNvSpPr>
            <a:spLocks xmlns:a="http://schemas.openxmlformats.org/drawingml/2006/main" noGrp="1"/>
          </p:cNvSpPr>
          <p:nvPr/>
        </p:nvSpPr>
        <p:spPr>
          <a:xfrm xmlns:a="http://schemas.openxmlformats.org/drawingml/2006/main">
            <a:off x="609600" y="3981450"/>
            <a:ext cx="4800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More apps. Low-usage shares rise.</a:t>
            </a:r>
          </a:p>
        </p:txBody>
      </p:sp>
      <p:sp>
        <p:nvSpPr>
          <p:cNvPr id="16" name="">
            <a:extLst xmlns:a="http://schemas.openxmlformats.org/drawingml/2006/main">
              <a:ext uri="{FF2B5EF4-FFF2-40B4-BE49-F238E27FC236}">
                <a16:creationId xmlns:a16="http://schemas.microsoft.com/office/drawing/2014/main" id="{2C22ED37-2FC7-49F9-9126-9E7649B9F20B}"/>
              </a:ext>
            </a:extLst>
          </p:cNvPr>
          <p:cNvSpPr>
            <a:spLocks xmlns:a="http://schemas.openxmlformats.org/drawingml/2006/main" noGrp="1"/>
          </p:cNvSpPr>
          <p:nvPr/>
        </p:nvSpPr>
        <p:spPr>
          <a:xfrm xmlns:a="http://schemas.openxmlformats.org/drawingml/2006/main">
            <a:off x="609600" y="4362450"/>
            <a:ext cx="24669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iOS: &lt;10 ratings</a:t>
            </a:r>
          </a:p>
        </p:txBody>
      </p:sp>
      <p:sp>
        <p:nvSpPr>
          <p:cNvPr id="17" name="">
            <a:extLst xmlns:a="http://schemas.openxmlformats.org/drawingml/2006/main">
              <a:ext uri="{FF2B5EF4-FFF2-40B4-BE49-F238E27FC236}">
                <a16:creationId xmlns:a16="http://schemas.microsoft.com/office/drawing/2014/main" id="{2C4E441D-7E3C-446E-B705-5199C3C3C00A}"/>
              </a:ext>
            </a:extLst>
          </p:cNvPr>
          <p:cNvSpPr>
            <a:spLocks xmlns:a="http://schemas.openxmlformats.org/drawingml/2006/main" noGrp="1"/>
          </p:cNvSpPr>
          <p:nvPr/>
        </p:nvSpPr>
        <p:spPr>
          <a:xfrm xmlns:a="http://schemas.openxmlformats.org/drawingml/2006/main">
            <a:off x="3076575" y="4362450"/>
            <a:ext cx="2333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8" name="">
            <a:extLst xmlns:a="http://schemas.openxmlformats.org/drawingml/2006/main">
              <a:ext uri="{FF2B5EF4-FFF2-40B4-BE49-F238E27FC236}">
                <a16:creationId xmlns:a16="http://schemas.microsoft.com/office/drawing/2014/main" id="{C08C848D-4A0A-4B2C-B6AA-9CB910D2300D}"/>
              </a:ext>
            </a:extLst>
          </p:cNvPr>
          <p:cNvSpPr>
            <a:spLocks xmlns:a="http://schemas.openxmlformats.org/drawingml/2006/main" noGrp="1"/>
          </p:cNvSpPr>
          <p:nvPr/>
        </p:nvSpPr>
        <p:spPr>
          <a:xfrm xmlns:a="http://schemas.openxmlformats.org/drawingml/2006/main">
            <a:off x="609600" y="4667250"/>
            <a:ext cx="24669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Chrome: &lt;10 downloads</a:t>
            </a:r>
          </a:p>
        </p:txBody>
      </p:sp>
      <p:sp>
        <p:nvSpPr>
          <p:cNvPr id="19" name="">
            <a:extLst xmlns:a="http://schemas.openxmlformats.org/drawingml/2006/main">
              <a:ext uri="{FF2B5EF4-FFF2-40B4-BE49-F238E27FC236}">
                <a16:creationId xmlns:a16="http://schemas.microsoft.com/office/drawing/2014/main" id="{B7901632-9DA3-4C35-8198-8528F5898739}"/>
              </a:ext>
            </a:extLst>
          </p:cNvPr>
          <p:cNvSpPr>
            <a:spLocks xmlns:a="http://schemas.openxmlformats.org/drawingml/2006/main" noGrp="1"/>
          </p:cNvSpPr>
          <p:nvPr/>
        </p:nvSpPr>
        <p:spPr>
          <a:xfrm xmlns:a="http://schemas.openxmlformats.org/drawingml/2006/main">
            <a:off x="3076575" y="4667250"/>
            <a:ext cx="2333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20" name="">
            <a:extLst xmlns:a="http://schemas.openxmlformats.org/drawingml/2006/main">
              <a:ext uri="{FF2B5EF4-FFF2-40B4-BE49-F238E27FC236}">
                <a16:creationId xmlns:a16="http://schemas.microsoft.com/office/drawing/2014/main" id="{60AB2631-07DC-4E82-AF0F-183E586791D6}"/>
              </a:ext>
            </a:extLst>
          </p:cNvPr>
          <p:cNvSpPr>
            <a:spLocks xmlns:a="http://schemas.openxmlformats.org/drawingml/2006/main" noGrp="1"/>
          </p:cNvSpPr>
          <p:nvPr/>
        </p:nvSpPr>
        <p:spPr>
          <a:xfrm xmlns:a="http://schemas.openxmlformats.org/drawingml/2006/main">
            <a:off x="609600" y="5010150"/>
            <a:ext cx="4800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4 marketplaces; iOS / Chrome shown.</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Jan 2025–Apr 2026; first 3 months.</a:t>
            </a:r>
          </a:p>
        </p:txBody>
      </p:sp>
      <p:sp>
        <p:nvSpPr>
          <p:cNvPr id="21" name="">
            <a:extLst xmlns:a="http://schemas.openxmlformats.org/drawingml/2006/main">
              <a:ext uri="{FF2B5EF4-FFF2-40B4-BE49-F238E27FC236}">
                <a16:creationId xmlns:a16="http://schemas.microsoft.com/office/drawing/2014/main" id="{0D46F468-96DF-4244-8BB5-9CAF30D88280}"/>
              </a:ext>
            </a:extLst>
          </p:cNvPr>
          <p:cNvSpPr>
            <a:spLocks xmlns:a="http://schemas.openxmlformats.org/drawingml/2006/main" noGrp="1"/>
          </p:cNvSpPr>
          <p:nvPr/>
        </p:nvSpPr>
        <p:spPr>
          <a:xfrm xmlns:a="http://schemas.openxmlformats.org/drawingml/2006/main">
            <a:off x="5867400" y="1714500"/>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DORA · 2025 · n = 4,867</a:t>
            </a:r>
          </a:p>
        </p:txBody>
      </p:sp>
      <p:sp>
        <p:nvSpPr>
          <p:cNvPr id="22" name="">
            <a:extLst xmlns:a="http://schemas.openxmlformats.org/drawingml/2006/main">
              <a:ext uri="{FF2B5EF4-FFF2-40B4-BE49-F238E27FC236}">
                <a16:creationId xmlns:a16="http://schemas.microsoft.com/office/drawing/2014/main" id="{15F276B9-0363-46F5-806A-FB51ADB20B34}"/>
              </a:ext>
            </a:extLst>
          </p:cNvPr>
          <p:cNvSpPr>
            <a:spLocks xmlns:a="http://schemas.openxmlformats.org/drawingml/2006/main" noGrp="1"/>
          </p:cNvSpPr>
          <p:nvPr/>
        </p:nvSpPr>
        <p:spPr>
          <a:xfrm xmlns:a="http://schemas.openxmlformats.org/drawingml/2006/main">
            <a:off x="5867400" y="2057400"/>
            <a:ext cx="571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Respondents reporting improvement:</a:t>
            </a:r>
          </a:p>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Productivity &gt;80% · Code quality 59%</a:t>
            </a:r>
          </a:p>
        </p:txBody>
      </p:sp>
      <p:sp>
        <p:nvSpPr>
          <p:cNvPr id="23" name="">
            <a:extLst xmlns:a="http://schemas.openxmlformats.org/drawingml/2006/main">
              <a:ext uri="{FF2B5EF4-FFF2-40B4-BE49-F238E27FC236}">
                <a16:creationId xmlns:a16="http://schemas.microsoft.com/office/drawing/2014/main" id="{0182A840-F863-4CA4-82CA-1FBC4EDFC66A}"/>
              </a:ext>
            </a:extLst>
          </p:cNvPr>
          <p:cNvSpPr>
            <a:spLocks xmlns:a="http://schemas.openxmlformats.org/drawingml/2006/main" noGrp="1"/>
          </p:cNvSpPr>
          <p:nvPr/>
        </p:nvSpPr>
        <p:spPr>
          <a:xfrm xmlns:a="http://schemas.openxmlformats.org/drawingml/2006/main">
            <a:off x="5867400" y="26289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Higher adoption ↔ throughput + instability</a:t>
            </a:r>
          </a:p>
        </p:txBody>
      </p:sp>
      <p:sp>
        <p:nvSpPr>
          <p:cNvPr id="24" name="">
            <a:extLst xmlns:a="http://schemas.openxmlformats.org/drawingml/2006/main">
              <a:ext uri="{FF2B5EF4-FFF2-40B4-BE49-F238E27FC236}">
                <a16:creationId xmlns:a16="http://schemas.microsoft.com/office/drawing/2014/main" id="{E903ECBC-6848-4A93-8A3E-EE7F5F7E2C1E}"/>
              </a:ext>
            </a:extLst>
          </p:cNvPr>
          <p:cNvSpPr>
            <a:spLocks xmlns:a="http://schemas.openxmlformats.org/drawingml/2006/main" noGrp="1"/>
          </p:cNvSpPr>
          <p:nvPr/>
        </p:nvSpPr>
        <p:spPr>
          <a:xfrm xmlns:a="http://schemas.openxmlformats.org/drawingml/2006/main">
            <a:off x="5867400" y="29241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Instability: failed production changes + unplanned fixes.</a:t>
            </a:r>
          </a:p>
        </p:txBody>
      </p:sp>
      <p:sp>
        <p:nvSpPr>
          <p:cNvPr id="25" name="">
            <a:extLst xmlns:a="http://schemas.openxmlformats.org/drawingml/2006/main">
              <a:ext uri="{FF2B5EF4-FFF2-40B4-BE49-F238E27FC236}">
                <a16:creationId xmlns:a16="http://schemas.microsoft.com/office/drawing/2014/main" id="{0665B7C4-B331-4860-8C33-0C12540CD25E}"/>
              </a:ext>
            </a:extLst>
          </p:cNvPr>
          <p:cNvSpPr>
            <a:spLocks xmlns:a="http://schemas.openxmlformats.org/drawingml/2006/main" noGrp="1"/>
          </p:cNvSpPr>
          <p:nvPr/>
        </p:nvSpPr>
        <p:spPr>
          <a:xfrm xmlns:a="http://schemas.openxmlformats.org/drawingml/2006/main">
            <a:off x="5867400" y="317182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association; no causal estimate.</a:t>
            </a:r>
          </a:p>
        </p:txBody>
      </p:sp>
      <p:sp>
        <p:nvSpPr>
          <p:cNvPr id="26" name="">
            <a:extLst xmlns:a="http://schemas.openxmlformats.org/drawingml/2006/main">
              <a:ext uri="{FF2B5EF4-FFF2-40B4-BE49-F238E27FC236}">
                <a16:creationId xmlns:a16="http://schemas.microsoft.com/office/drawing/2014/main" id="{806CD37B-5529-46A6-8EE6-0E65C7A48BE9}"/>
              </a:ext>
            </a:extLst>
          </p:cNvPr>
          <p:cNvSpPr>
            <a:spLocks xmlns:a="http://schemas.openxmlformats.org/drawingml/2006/main" noGrp="1"/>
          </p:cNvSpPr>
          <p:nvPr/>
        </p:nvSpPr>
        <p:spPr>
          <a:xfrm xmlns:a="http://schemas.openxmlformats.org/drawingml/2006/main" flipH="0" flipV="0">
            <a:off x="5867400" y="349567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7" name="">
            <a:extLst xmlns:a="http://schemas.openxmlformats.org/drawingml/2006/main">
              <a:ext uri="{FF2B5EF4-FFF2-40B4-BE49-F238E27FC236}">
                <a16:creationId xmlns:a16="http://schemas.microsoft.com/office/drawing/2014/main" id="{BFF90E6A-EC93-422C-8545-F841E489BC81}"/>
              </a:ext>
            </a:extLst>
          </p:cNvPr>
          <p:cNvSpPr>
            <a:spLocks xmlns:a="http://schemas.openxmlformats.org/drawingml/2006/main" noGrp="1"/>
          </p:cNvSpPr>
          <p:nvPr/>
        </p:nvSpPr>
        <p:spPr>
          <a:xfrm xmlns:a="http://schemas.openxmlformats.org/drawingml/2006/main">
            <a:off x="5867400" y="35623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GITCLEAR · SHARES OF CHANGED LINES</a:t>
            </a:r>
          </a:p>
        </p:txBody>
      </p:sp>
      <p:graphicFrame>
        <p:nvGraphicFramePr>
          <p:cNvPr id="67" name=""/>
          <p:cNvGraphicFramePr/>
          <p:nvPr/>
        </p:nvGraphicFramePr>
        <p:xfrm>
          <a:off xmlns:a="http://schemas.openxmlformats.org/drawingml/2006/main" x="5867400" y="3886200"/>
          <a:ext xmlns:a="http://schemas.openxmlformats.org/drawingml/2006/main" cx="5715000" cy="942975"/>
        </p:xfrm>
        <a:graphic xmlns:a="http://schemas.openxmlformats.org/drawingml/2006/main">
          <a:graphicData uri="http://schemas.openxmlformats.org/drawingml/2006/table">
            <a:tbl>
              <a:tblPr/>
              <a:tblGrid>
                <a:gridCol w="2381250"/>
                <a:gridCol w="1524000"/>
                <a:gridCol w="1809750"/>
              </a:tblGrid>
              <a:tr h="314325">
                <a:tc>
                  <a:txBody>
                    <a:bodyPr lIns="171450" tIns="19050" rIns="171450" bIns="19050">
                      <a:noAutofit/>
                    </a:bodyPr>
                    <a:lstStyle/>
                    <a:p>
                      <a:r>
                        <a:rPr sz="1575" b="1">
                          <a:solidFill>
                            <a:srgbClr val="F4F7FA"/>
                          </a:solidFill>
                          <a:latin typeface="Arial"/>
                          <a:ea typeface="Arial"/>
                          <a:cs typeface="Arial"/>
                        </a:rPr>
                        <a:t>Metric</a:t>
                      </a:r>
                    </a:p>
                  </a:txBody>
                  <a:tcPr marL="91440" marR="91440" marT="45720" marB="45720" anchor="ctr">
                    <a:solidFill>
                      <a:srgbClr val="1A2734"/>
                    </a:solidFill>
                  </a:tcPr>
                </a:tc>
                <a:tc>
                  <a:txBody>
                    <a:bodyPr lIns="171450" tIns="19050" rIns="171450" bIns="19050">
                      <a:noAutofit/>
                    </a:bodyPr>
                    <a:lstStyle/>
                    <a:p>
                      <a:r>
                        <a:rPr sz="1575" b="1">
                          <a:solidFill>
                            <a:srgbClr val="F4F7FA"/>
                          </a:solidFill>
                          <a:latin typeface="Arial"/>
                          <a:ea typeface="Arial"/>
                          <a:cs typeface="Arial"/>
                        </a:rPr>
                        <a:t>2021¹</a:t>
                      </a:r>
                    </a:p>
                  </a:txBody>
                  <a:tcPr marL="91440" marR="91440" marT="45720" marB="45720" anchor="ctr">
                    <a:solidFill>
                      <a:srgbClr val="1A2734"/>
                    </a:solidFill>
                  </a:tcPr>
                </a:tc>
                <a:tc>
                  <a:txBody>
                    <a:bodyPr lIns="171450" tIns="19050" rIns="171450" bIns="19050">
                      <a:noAutofit/>
                    </a:bodyPr>
                    <a:lstStyle/>
                    <a:p>
                      <a:r>
                        <a:rPr sz="1575" b="1">
                          <a:solidFill>
                            <a:srgbClr val="28C7F7"/>
                          </a:solidFill>
                          <a:latin typeface="Arial"/>
                          <a:ea typeface="Arial"/>
                          <a:cs typeface="Arial"/>
                        </a:rPr>
                        <a:t>2026²</a:t>
                      </a:r>
                    </a:p>
                  </a:txBody>
                  <a:tcPr marL="91440" marR="91440" marT="45720" marB="45720" anchor="ctr">
                    <a:solidFill>
                      <a:srgbClr val="1A2734"/>
                    </a:solidFill>
                  </a:tcPr>
                </a:tc>
              </a:tr>
              <a:tr h="314325">
                <a:tc>
                  <a:txBody>
                    <a:bodyPr lIns="171450" tIns="19050" rIns="171450" bIns="19050">
                      <a:noAutofit/>
                    </a:bodyPr>
                    <a:lstStyle/>
                    <a:p>
                      <a:r>
                        <a:rPr sz="1500" b="1">
                          <a:solidFill>
                            <a:srgbClr val="F4F7FA"/>
                          </a:solidFill>
                          <a:latin typeface="Arial"/>
                          <a:ea typeface="Arial"/>
                          <a:cs typeface="Arial"/>
                        </a:rPr>
                        <a:t>Moved code</a:t>
                      </a:r>
                    </a:p>
                  </a:txBody>
                  <a:tcPr marL="91440" marR="91440" marT="45720" marB="45720" anchor="ctr">
                    <a:solidFill>
                      <a:srgbClr val="0B0F14"/>
                    </a:solidFill>
                  </a:tcPr>
                </a:tc>
                <a:tc>
                  <a:txBody>
                    <a:bodyPr lIns="171450" tIns="19050" rIns="171450" bIns="19050">
                      <a:noAutofit/>
                    </a:bodyPr>
                    <a:lstStyle/>
                    <a:p>
                      <a:r>
                        <a:rPr sz="1500" b="0">
                          <a:solidFill>
                            <a:srgbClr val="F4F7FA"/>
                          </a:solidFill>
                          <a:latin typeface="Arial"/>
                          <a:ea typeface="Arial"/>
                          <a:cs typeface="Arial"/>
                        </a:rPr>
                        <a:t>24.65%</a:t>
                      </a:r>
                    </a:p>
                  </a:txBody>
                  <a:tcPr marL="91440" marR="91440" marT="45720" marB="45720" anchor="ctr">
                    <a:solidFill>
                      <a:srgbClr val="0B0F14"/>
                    </a:solidFill>
                  </a:tcPr>
                </a:tc>
                <a:tc>
                  <a:txBody>
                    <a:bodyPr lIns="171450" tIns="19050" rIns="171450" bIns="19050">
                      <a:noAutofit/>
                    </a:bodyPr>
                    <a:lstStyle/>
                    <a:p>
                      <a:r>
                        <a:rPr sz="1500" b="0">
                          <a:solidFill>
                            <a:srgbClr val="28C7F7"/>
                          </a:solidFill>
                          <a:latin typeface="Arial"/>
                          <a:ea typeface="Arial"/>
                          <a:cs typeface="Arial"/>
                        </a:rPr>
                        <a:t>3.8% YTD</a:t>
                      </a:r>
                    </a:p>
                  </a:txBody>
                  <a:tcPr marL="91440" marR="91440" marT="45720" marB="45720" anchor="ctr">
                    <a:solidFill>
                      <a:srgbClr val="0B0F14"/>
                    </a:solidFill>
                  </a:tcPr>
                </a:tc>
              </a:tr>
              <a:tr h="314325">
                <a:tc>
                  <a:txBody>
                    <a:bodyPr lIns="171450" tIns="19050" rIns="171450" bIns="19050">
                      <a:noAutofit/>
                    </a:bodyPr>
                    <a:lstStyle/>
                    <a:p>
                      <a:r>
                        <a:rPr sz="1500" b="1">
                          <a:solidFill>
                            <a:srgbClr val="F4F7FA"/>
                          </a:solidFill>
                          <a:latin typeface="Arial"/>
                          <a:ea typeface="Arial"/>
                          <a:cs typeface="Arial"/>
                        </a:rPr>
                        <a:t>Copy/paste</a:t>
                      </a:r>
                    </a:p>
                  </a:txBody>
                  <a:tcPr marL="91440" marR="91440" marT="45720" marB="45720" anchor="ctr">
                    <a:solidFill>
                      <a:srgbClr val="0B0F14"/>
                    </a:solidFill>
                  </a:tcPr>
                </a:tc>
                <a:tc>
                  <a:txBody>
                    <a:bodyPr lIns="171450" tIns="19050" rIns="171450" bIns="19050">
                      <a:noAutofit/>
                    </a:bodyPr>
                    <a:lstStyle/>
                    <a:p>
                      <a:r>
                        <a:rPr sz="1500" b="0">
                          <a:solidFill>
                            <a:srgbClr val="F4F7FA"/>
                          </a:solidFill>
                          <a:latin typeface="Arial"/>
                          <a:ea typeface="Arial"/>
                          <a:cs typeface="Arial"/>
                        </a:rPr>
                        <a:t>8.66%</a:t>
                      </a:r>
                    </a:p>
                  </a:txBody>
                  <a:tcPr marL="91440" marR="91440" marT="45720" marB="45720" anchor="ctr">
                    <a:solidFill>
                      <a:srgbClr val="0B0F14"/>
                    </a:solidFill>
                  </a:tcPr>
                </a:tc>
                <a:tc>
                  <a:txBody>
                    <a:bodyPr lIns="171450" tIns="19050" rIns="171450" bIns="19050">
                      <a:noAutofit/>
                    </a:bodyPr>
                    <a:lstStyle/>
                    <a:p>
                      <a:r>
                        <a:rPr sz="1500" b="0">
                          <a:solidFill>
                            <a:srgbClr val="28C7F7"/>
                          </a:solidFill>
                          <a:latin typeface="Arial"/>
                          <a:ea typeface="Arial"/>
                          <a:cs typeface="Arial"/>
                        </a:rPr>
                        <a:t>15.7% H1</a:t>
                      </a:r>
                    </a:p>
                  </a:txBody>
                  <a:tcPr marL="91440" marR="91440" marT="45720" marB="45720" anchor="ctr">
                    <a:solidFill>
                      <a:srgbClr val="0B0F14"/>
                    </a:solidFill>
                  </a:tcPr>
                </a:tc>
              </a:tr>
            </a:tbl>
          </a:graphicData>
        </a:graphic>
      </p:graphicFrame>
      <p:sp>
        <p:nvSpPr>
          <p:cNvPr id="29" name="">
            <a:extLst xmlns:a="http://schemas.openxmlformats.org/drawingml/2006/main">
              <a:ext uri="{FF2B5EF4-FFF2-40B4-BE49-F238E27FC236}">
                <a16:creationId xmlns:a16="http://schemas.microsoft.com/office/drawing/2014/main" id="{F5EE1500-4B5C-47EF-9403-A10EB3027CEE}"/>
              </a:ext>
            </a:extLst>
          </p:cNvPr>
          <p:cNvSpPr>
            <a:spLocks xmlns:a="http://schemas.openxmlformats.org/drawingml/2006/main" noGrp="1"/>
          </p:cNvSpPr>
          <p:nvPr/>
        </p:nvSpPr>
        <p:spPr>
          <a:xfrm xmlns:a="http://schemas.openxmlformats.org/drawingml/2006/main">
            <a:off x="5867400" y="487680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¹2025 report  ²2026 report; different samples.</a:t>
            </a:r>
          </a:p>
        </p:txBody>
      </p:sp>
      <p:sp>
        <p:nvSpPr>
          <p:cNvPr id="30" name="">
            <a:extLst xmlns:a="http://schemas.openxmlformats.org/drawingml/2006/main">
              <a:ext uri="{FF2B5EF4-FFF2-40B4-BE49-F238E27FC236}">
                <a16:creationId xmlns:a16="http://schemas.microsoft.com/office/drawing/2014/main" id="{9264C81D-09AD-41EB-8F63-028A526DCC76}"/>
              </a:ext>
            </a:extLst>
          </p:cNvPr>
          <p:cNvSpPr>
            <a:spLocks xmlns:a="http://schemas.openxmlformats.org/drawingml/2006/main" noGrp="1"/>
          </p:cNvSpPr>
          <p:nvPr/>
        </p:nvSpPr>
        <p:spPr>
          <a:xfrm xmlns:a="http://schemas.openxmlformats.org/drawingml/2006/main">
            <a:off x="5867400" y="51244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Snapshots only; no comparable trend or causal estimate.</a:t>
            </a:r>
          </a:p>
        </p:txBody>
      </p:sp>
      <p:sp>
        <p:nvSpPr>
          <p:cNvPr id="31" name="">
            <a:extLst xmlns:a="http://schemas.openxmlformats.org/drawingml/2006/main">
              <a:ext uri="{FF2B5EF4-FFF2-40B4-BE49-F238E27FC236}">
                <a16:creationId xmlns:a16="http://schemas.microsoft.com/office/drawing/2014/main" id="{E09859F7-8260-4235-9991-22F870BDFBFC}"/>
              </a:ext>
            </a:extLst>
          </p:cNvPr>
          <p:cNvSpPr>
            <a:spLocks xmlns:a="http://schemas.openxmlformats.org/drawingml/2006/main" noGrp="1"/>
          </p:cNvSpPr>
          <p:nvPr/>
        </p:nvSpPr>
        <p:spPr>
          <a:xfrm xmlns:a="http://schemas.openxmlformats.org/drawingml/2006/main" flipH="0" flipV="0">
            <a:off x="609600" y="54959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BCE50901-83C2-4EBD-8494-C75681CFBED9}"/>
              </a:ext>
            </a:extLst>
          </p:cNvPr>
          <p:cNvSpPr>
            <a:spLocks xmlns:a="http://schemas.openxmlformats.org/drawingml/2006/main" noGrp="1"/>
          </p:cNvSpPr>
          <p:nvPr/>
        </p:nvSpPr>
        <p:spPr>
          <a:xfrm xmlns:a="http://schemas.openxmlformats.org/drawingml/2006/main">
            <a:off x="609600" y="5581650"/>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METR · MAY 2026 · n = 349</a:t>
            </a:r>
          </a:p>
        </p:txBody>
      </p:sp>
      <p:sp>
        <p:nvSpPr>
          <p:cNvPr id="33" name="">
            <a:extLst xmlns:a="http://schemas.openxmlformats.org/drawingml/2006/main">
              <a:ext uri="{FF2B5EF4-FFF2-40B4-BE49-F238E27FC236}">
                <a16:creationId xmlns:a16="http://schemas.microsoft.com/office/drawing/2014/main" id="{FD80D0FA-7B21-437C-937C-565229B22D0C}"/>
              </a:ext>
            </a:extLst>
          </p:cNvPr>
          <p:cNvSpPr>
            <a:spLocks xmlns:a="http://schemas.openxmlformats.org/drawingml/2006/main" noGrp="1"/>
          </p:cNvSpPr>
          <p:nvPr/>
        </p:nvSpPr>
        <p:spPr>
          <a:xfrm xmlns:a="http://schemas.openxmlformats.org/drawingml/2006/main">
            <a:off x="609600" y="589597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1.4–2× self-reported work value</a:t>
            </a:r>
          </a:p>
        </p:txBody>
      </p:sp>
      <p:sp>
        <p:nvSpPr>
          <p:cNvPr id="34" name="">
            <a:extLst xmlns:a="http://schemas.openxmlformats.org/drawingml/2006/main">
              <a:ext uri="{FF2B5EF4-FFF2-40B4-BE49-F238E27FC236}">
                <a16:creationId xmlns:a16="http://schemas.microsoft.com/office/drawing/2014/main" id="{3F967FAA-FEF0-4A45-B788-99A409A98171}"/>
              </a:ext>
            </a:extLst>
          </p:cNvPr>
          <p:cNvSpPr>
            <a:spLocks xmlns:a="http://schemas.openxmlformats.org/drawingml/2006/main" noGrp="1"/>
          </p:cNvSpPr>
          <p:nvPr/>
        </p:nvSpPr>
        <p:spPr>
          <a:xfrm xmlns:a="http://schemas.openxmlformats.org/drawingml/2006/main">
            <a:off x="609600" y="6191250"/>
            <a:ext cx="525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Medians across three questions.</a:t>
            </a:r>
          </a:p>
        </p:txBody>
      </p:sp>
      <p:sp>
        <p:nvSpPr>
          <p:cNvPr id="35" name="">
            <a:extLst xmlns:a="http://schemas.openxmlformats.org/drawingml/2006/main">
              <a:ext uri="{FF2B5EF4-FFF2-40B4-BE49-F238E27FC236}">
                <a16:creationId xmlns:a16="http://schemas.microsoft.com/office/drawing/2014/main" id="{AFCEA862-9C53-4900-A1B9-7FE9748E37BD}"/>
              </a:ext>
            </a:extLst>
          </p:cNvPr>
          <p:cNvSpPr>
            <a:spLocks xmlns:a="http://schemas.openxmlformats.org/drawingml/2006/main" noGrp="1"/>
          </p:cNvSpPr>
          <p:nvPr/>
        </p:nvSpPr>
        <p:spPr>
          <a:xfrm xmlns:a="http://schemas.openxmlformats.org/drawingml/2006/main">
            <a:off x="609600" y="6448425"/>
            <a:ext cx="525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Technical workers; no causal estimate.</a:t>
            </a:r>
          </a:p>
        </p:txBody>
      </p:sp>
      <p:sp>
        <p:nvSpPr>
          <p:cNvPr id="36" name="">
            <a:extLst xmlns:a="http://schemas.openxmlformats.org/drawingml/2006/main">
              <a:ext uri="{FF2B5EF4-FFF2-40B4-BE49-F238E27FC236}">
                <a16:creationId xmlns:a16="http://schemas.microsoft.com/office/drawing/2014/main" id="{E3FF626B-6639-4197-BF52-5594AFDC817B}"/>
              </a:ext>
            </a:extLst>
          </p:cNvPr>
          <p:cNvSpPr>
            <a:spLocks xmlns:a="http://schemas.openxmlformats.org/drawingml/2006/main" noGrp="1"/>
          </p:cNvSpPr>
          <p:nvPr/>
        </p:nvSpPr>
        <p:spPr>
          <a:xfrm xmlns:a="http://schemas.openxmlformats.org/drawingml/2006/main">
            <a:off x="6153150" y="5581650"/>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AGARWAL · JAN 2026 · 1,197 REPOS</a:t>
            </a:r>
          </a:p>
        </p:txBody>
      </p:sp>
      <p:sp>
        <p:nvSpPr>
          <p:cNvPr id="37" name="">
            <a:extLst xmlns:a="http://schemas.openxmlformats.org/drawingml/2006/main">
              <a:ext uri="{FF2B5EF4-FFF2-40B4-BE49-F238E27FC236}">
                <a16:creationId xmlns:a16="http://schemas.microsoft.com/office/drawing/2014/main" id="{E84F1321-0644-4FB3-A496-E028A6862104}"/>
              </a:ext>
            </a:extLst>
          </p:cNvPr>
          <p:cNvSpPr>
            <a:spLocks xmlns:a="http://schemas.openxmlformats.org/drawingml/2006/main" noGrp="1"/>
          </p:cNvSpPr>
          <p:nvPr/>
        </p:nvSpPr>
        <p:spPr>
          <a:xfrm xmlns:a="http://schemas.openxmlformats.org/drawingml/2006/main">
            <a:off x="6153150" y="589597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Cognitive complexity after agent adoption</a:t>
            </a:r>
          </a:p>
        </p:txBody>
      </p:sp>
      <p:sp>
        <p:nvSpPr>
          <p:cNvPr id="38" name="">
            <a:extLst xmlns:a="http://schemas.openxmlformats.org/drawingml/2006/main">
              <a:ext uri="{FF2B5EF4-FFF2-40B4-BE49-F238E27FC236}">
                <a16:creationId xmlns:a16="http://schemas.microsoft.com/office/drawing/2014/main" id="{1EBA12CE-7F34-43C6-8A11-9FB2DF554E79}"/>
              </a:ext>
            </a:extLst>
          </p:cNvPr>
          <p:cNvSpPr>
            <a:spLocks xmlns:a="http://schemas.openxmlformats.org/drawingml/2006/main" noGrp="1"/>
          </p:cNvSpPr>
          <p:nvPr/>
        </p:nvSpPr>
        <p:spPr>
          <a:xfrm xmlns:a="http://schemas.openxmlformats.org/drawingml/2006/main">
            <a:off x="6153150" y="6191250"/>
            <a:ext cx="525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Agent-first +34.85% · Prior AI-IDE +42.87%</a:t>
            </a:r>
          </a:p>
        </p:txBody>
      </p:sp>
      <p:sp>
        <p:nvSpPr>
          <p:cNvPr id="39" name="">
            <a:extLst xmlns:a="http://schemas.openxmlformats.org/drawingml/2006/main">
              <a:ext uri="{FF2B5EF4-FFF2-40B4-BE49-F238E27FC236}">
                <a16:creationId xmlns:a16="http://schemas.microsoft.com/office/drawing/2014/main" id="{A60D3B73-1608-471A-B06F-8B7B51175D45}"/>
              </a:ext>
            </a:extLst>
          </p:cNvPr>
          <p:cNvSpPr>
            <a:spLocks xmlns:a="http://schemas.openxmlformats.org/drawingml/2006/main" noGrp="1"/>
          </p:cNvSpPr>
          <p:nvPr/>
        </p:nvSpPr>
        <p:spPr>
          <a:xfrm xmlns:a="http://schemas.openxmlformats.org/drawingml/2006/main">
            <a:off x="6153150" y="6448425"/>
            <a:ext cx="525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Matched controls; 19,236 repo-months.</a:t>
            </a:r>
          </a:p>
        </p:txBody>
      </p:sp>
    </p:spTree>
    <p:extLst>
      <p:ext uri="{BB962C8B-B14F-4D97-AF65-F5344CB8AC3E}">
        <p14:creationId xmlns:p14="http://schemas.microsoft.com/office/powerpoint/2010/main" val="382677822"/>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0F61564-7EC1-48B1-B159-6BACB6611A3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3BDD678B-3C22-4322-8383-45EA4270DE8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FF9C4C5-E915-430D-9401-EBF6976EB62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0D0C3C3A-CC8D-4C98-BF13-7C70C48E229C}"/>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991D6D29-2A47-4B87-81AE-5098D8F68A8C}"/>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F6F4BC3C-187B-4B5A-871D-B2331E2232C8}"/>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8730F7C4-4241-44EE-84AF-1CE2D9FD8C11}"/>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5C96F6D3-6918-4344-9F4A-1A32145868C7}"/>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6529C8D8-2625-4144-82BF-F5D39D5E0843}"/>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60F02E5C-C357-4DE1-B9F3-89DD844538C5}"/>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7185BB0D-B86F-431A-9EE5-4672C31D6F01}"/>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688D689A-6FF0-41CE-A459-AE95817EDE68}"/>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590344D4-2F13-4B21-93EF-16FF0B9B246D}"/>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E5F9F1C3-202F-4F5F-BD0E-F92712140D3A}"/>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0C7EFD6C-EEDD-4008-97F5-B66FDC3F16F4}"/>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ACF33074-DA5E-4A2D-ABD7-316E110F171B}"/>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278790C6-9478-43CC-A0A3-00B574B0F9CE}"/>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13262338-56D5-4079-AF5D-13D306205415}"/>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hypothesis — motivated by slide 4, not measured by those studies.</a:t>
            </a:r>
          </a:p>
        </p:txBody>
      </p:sp>
      <p:sp>
        <p:nvSpPr>
          <p:cNvPr id="19" name="">
            <a:extLst xmlns:a="http://schemas.openxmlformats.org/drawingml/2006/main">
              <a:ext uri="{FF2B5EF4-FFF2-40B4-BE49-F238E27FC236}">
                <a16:creationId xmlns:a16="http://schemas.microsoft.com/office/drawing/2014/main" id="{C7E794E0-9EBF-4AA4-9202-4A379835851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DF37E198-CED7-4202-AE33-750A2A444B6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can scale faster than comprehension.</a:t>
            </a:r>
          </a:p>
        </p:txBody>
      </p:sp>
    </p:spTree>
    <p:extLst>
      <p:ext uri="{BB962C8B-B14F-4D97-AF65-F5344CB8AC3E}">
        <p14:creationId xmlns:p14="http://schemas.microsoft.com/office/powerpoint/2010/main" val="326020407"/>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24"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25"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26"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7" name="">
            <a:extLst xmlns:a="http://schemas.openxmlformats.org/drawingml/2006/main">
              <a:ext uri="{FF2B5EF4-FFF2-40B4-BE49-F238E27FC236}">
                <a16:creationId xmlns:a16="http://schemas.microsoft.com/office/drawing/2014/main" id="{4C93A4C7-D1DD-408B-9125-29CC35148FF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BEF2AE8E-86EA-46AF-8CBD-FB2470F6C84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6D7CDAF-CDE8-464C-BE94-6387832B425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7E452C44-B7F5-45AC-8702-06740CE045B8}"/>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039DA01A-30FB-4A3A-9A8B-77F0D89D5B7D}"/>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F8790911-742A-408D-BA47-5ADF8B20C934}"/>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984ABAA3-BB3C-4B96-887F-F806FB92F4CC}"/>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EAC303D5-88A5-4DB1-A81B-0BC45B92E279}"/>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A428AD2D-94BD-4553-84CB-12C18B56F193}"/>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DBED9205-E7C6-4D3C-BD8A-AFFCCA3ED749}"/>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36D55289-0A4A-4E10-9981-A3B8765D8901}"/>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353E379D-0F3A-4F4D-B5B7-F086746826AF}"/>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BBD0F470-3B00-4051-81A9-E0B1D870C1C9}"/>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0190C4F9-487D-4104-BC1F-443ECCDD3ADF}"/>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0C4716BD-13E3-4288-B727-A897B058ABFF}"/>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4A09126C-86DC-46B9-A0BE-9DA0C2FD4BFD}"/>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E51D87FF-3B37-4DDA-A41C-BBFFD5F924F7}"/>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sp>
        <p:nvSpPr>
          <p:cNvPr id="21" name="">
            <a:extLst xmlns:a="http://schemas.openxmlformats.org/drawingml/2006/main">
              <a:ext uri="{FF2B5EF4-FFF2-40B4-BE49-F238E27FC236}">
                <a16:creationId xmlns:a16="http://schemas.microsoft.com/office/drawing/2014/main" id="{E6F85D1C-F936-405D-83E1-C9C2DBBFD6E3}"/>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114C4E5D-1E29-4435-AB5B-E8BE5FEE7A8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18745FC6-D28F-4A3F-8B61-E94E0DECC88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416428602"/>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8193453-7990-4B7C-9819-A81F6404FA9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2A60C43F-71EC-4F45-BB95-90CF31E1B1B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60797D8-5887-4329-8327-FB3AB5F1B2E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D087E1AF-FDA4-4946-936D-176EEFFAA147}"/>
              </a:ext>
            </a:extLst>
          </p:cNvPr>
          <p:cNvSpPr>
            <a:spLocks xmlns:a="http://schemas.openxmlformats.org/drawingml/2006/main" noGrp="1"/>
          </p:cNvSpPr>
          <p:nvPr/>
        </p:nvSpPr>
        <p:spPr>
          <a:xfrm xmlns:a="http://schemas.openxmlformats.org/drawingml/2006/main">
            <a:off x="609600" y="1762125"/>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0FA6B746-B350-435E-B2C2-E470A18DA275}"/>
              </a:ext>
            </a:extLst>
          </p:cNvPr>
          <p:cNvSpPr>
            <a:spLocks xmlns:a="http://schemas.openxmlformats.org/drawingml/2006/main" noGrp="1"/>
          </p:cNvSpPr>
          <p:nvPr/>
        </p:nvSpPr>
        <p:spPr>
          <a:xfrm xmlns:a="http://schemas.openxmlformats.org/drawingml/2006/main">
            <a:off x="609600" y="212407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24BE07E1-86D8-4BF0-86C5-68D0A0DD6B56}"/>
              </a:ext>
            </a:extLst>
          </p:cNvPr>
          <p:cNvSpPr>
            <a:spLocks xmlns:a="http://schemas.openxmlformats.org/drawingml/2006/main" noGrp="1"/>
          </p:cNvSpPr>
          <p:nvPr/>
        </p:nvSpPr>
        <p:spPr>
          <a:xfrm xmlns:a="http://schemas.openxmlformats.org/drawingml/2006/main">
            <a:off x="4400550" y="1762125"/>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19A85357-7E94-4543-B18D-503D912898F4}"/>
              </a:ext>
            </a:extLst>
          </p:cNvPr>
          <p:cNvSpPr>
            <a:spLocks xmlns:a="http://schemas.openxmlformats.org/drawingml/2006/main" noGrp="1"/>
          </p:cNvSpPr>
          <p:nvPr/>
        </p:nvSpPr>
        <p:spPr>
          <a:xfrm xmlns:a="http://schemas.openxmlformats.org/drawingml/2006/main">
            <a:off x="4400550" y="212407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can outpace review</a:t>
            </a:r>
          </a:p>
        </p:txBody>
      </p:sp>
      <p:sp>
        <p:nvSpPr>
          <p:cNvPr id="8" name="">
            <a:extLst xmlns:a="http://schemas.openxmlformats.org/drawingml/2006/main">
              <a:ext uri="{FF2B5EF4-FFF2-40B4-BE49-F238E27FC236}">
                <a16:creationId xmlns:a16="http://schemas.microsoft.com/office/drawing/2014/main" id="{7AD3A518-7691-49EA-82AC-BCC21D393751}"/>
              </a:ext>
            </a:extLst>
          </p:cNvPr>
          <p:cNvSpPr>
            <a:spLocks xmlns:a="http://schemas.openxmlformats.org/drawingml/2006/main" noGrp="1"/>
          </p:cNvSpPr>
          <p:nvPr/>
        </p:nvSpPr>
        <p:spPr>
          <a:xfrm xmlns:a="http://schemas.openxmlformats.org/drawingml/2006/main">
            <a:off x="8191500" y="1762125"/>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262DC350-232B-499C-AC14-E584FEF80CB0}"/>
              </a:ext>
            </a:extLst>
          </p:cNvPr>
          <p:cNvSpPr>
            <a:spLocks xmlns:a="http://schemas.openxmlformats.org/drawingml/2006/main" noGrp="1"/>
          </p:cNvSpPr>
          <p:nvPr/>
        </p:nvSpPr>
        <p:spPr>
          <a:xfrm xmlns:a="http://schemas.openxmlformats.org/drawingml/2006/main">
            <a:off x="8191500" y="212407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7DBB225B-43CD-4ECE-B131-901C9959417B}"/>
              </a:ext>
            </a:extLst>
          </p:cNvPr>
          <p:cNvSpPr>
            <a:spLocks xmlns:a="http://schemas.openxmlformats.org/drawingml/2006/main" noGrp="1"/>
          </p:cNvSpPr>
          <p:nvPr/>
        </p:nvSpPr>
        <p:spPr>
          <a:xfrm xmlns:a="http://schemas.openxmlformats.org/drawingml/2006/main" flipH="0" flipV="0">
            <a:off x="609600" y="26479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B28F4104-4037-4D59-B54C-336D6C70FAB0}"/>
              </a:ext>
            </a:extLst>
          </p:cNvPr>
          <p:cNvSpPr>
            <a:spLocks xmlns:a="http://schemas.openxmlformats.org/drawingml/2006/main" noGrp="1"/>
          </p:cNvSpPr>
          <p:nvPr/>
        </p:nvSpPr>
        <p:spPr>
          <a:xfrm xmlns:a="http://schemas.openxmlformats.org/drawingml/2006/main">
            <a:off x="609600" y="2809875"/>
            <a:ext cx="5257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Arial"/>
                <a:ea typeface="Arial"/>
                <a:cs typeface="Arial"/>
              </a:defRPr>
            </a:pPr>
            <a:r>
              <a:rPr sz="1725" b="1">
                <a:solidFill>
                  <a:srgbClr val="F5B61C"/>
                </a:solidFill>
                <a:latin typeface="Arial"/>
                <a:ea typeface="Arial"/>
                <a:cs typeface="Arial"/>
              </a:rPr>
              <a:t>WATCH / MEASURE</a:t>
            </a:r>
          </a:p>
        </p:txBody>
      </p:sp>
      <p:sp>
        <p:nvSpPr>
          <p:cNvPr id="12" name="">
            <a:extLst xmlns:a="http://schemas.openxmlformats.org/drawingml/2006/main">
              <a:ext uri="{FF2B5EF4-FFF2-40B4-BE49-F238E27FC236}">
                <a16:creationId xmlns:a16="http://schemas.microsoft.com/office/drawing/2014/main" id="{59915334-0C09-4853-8E82-C42B5F2CED7A}"/>
              </a:ext>
            </a:extLst>
          </p:cNvPr>
          <p:cNvSpPr>
            <a:spLocks xmlns:a="http://schemas.openxmlformats.org/drawingml/2006/main" noGrp="1"/>
          </p:cNvSpPr>
          <p:nvPr/>
        </p:nvSpPr>
        <p:spPr>
          <a:xfrm xmlns:a="http://schemas.openxmlformats.org/drawingml/2006/main">
            <a:off x="609600" y="32575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FLOW &amp; REVIEW</a:t>
            </a:r>
          </a:p>
        </p:txBody>
      </p:sp>
      <p:sp>
        <p:nvSpPr>
          <p:cNvPr id="13" name="">
            <a:extLst xmlns:a="http://schemas.openxmlformats.org/drawingml/2006/main">
              <a:ext uri="{FF2B5EF4-FFF2-40B4-BE49-F238E27FC236}">
                <a16:creationId xmlns:a16="http://schemas.microsoft.com/office/drawing/2014/main" id="{BDE8F7A5-B3A1-4920-B7F3-7C14AC5A2BF0}"/>
              </a:ext>
            </a:extLst>
          </p:cNvPr>
          <p:cNvSpPr>
            <a:spLocks xmlns:a="http://schemas.openxmlformats.org/drawingml/2006/main" noGrp="1"/>
          </p:cNvSpPr>
          <p:nvPr/>
        </p:nvSpPr>
        <p:spPr>
          <a:xfrm xmlns:a="http://schemas.openxmlformats.org/drawingml/2006/main">
            <a:off x="609600" y="35147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Lead time</a:t>
            </a:r>
          </a:p>
        </p:txBody>
      </p:sp>
      <p:sp>
        <p:nvSpPr>
          <p:cNvPr id="14" name="">
            <a:extLst xmlns:a="http://schemas.openxmlformats.org/drawingml/2006/main">
              <a:ext uri="{FF2B5EF4-FFF2-40B4-BE49-F238E27FC236}">
                <a16:creationId xmlns:a16="http://schemas.microsoft.com/office/drawing/2014/main" id="{898EECFE-F030-4363-8BC4-7F39B0B35D82}"/>
              </a:ext>
            </a:extLst>
          </p:cNvPr>
          <p:cNvSpPr>
            <a:spLocks xmlns:a="http://schemas.openxmlformats.org/drawingml/2006/main" noGrp="1"/>
          </p:cNvSpPr>
          <p:nvPr/>
        </p:nvSpPr>
        <p:spPr>
          <a:xfrm xmlns:a="http://schemas.openxmlformats.org/drawingml/2006/main">
            <a:off x="609600" y="39433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CODEBASE &amp; MAINTAINABILITY</a:t>
            </a:r>
          </a:p>
        </p:txBody>
      </p:sp>
      <p:sp>
        <p:nvSpPr>
          <p:cNvPr id="15" name="">
            <a:extLst xmlns:a="http://schemas.openxmlformats.org/drawingml/2006/main">
              <a:ext uri="{FF2B5EF4-FFF2-40B4-BE49-F238E27FC236}">
                <a16:creationId xmlns:a16="http://schemas.microsoft.com/office/drawing/2014/main" id="{57C00EED-B101-45DC-92EB-557AE3B5BD46}"/>
              </a:ext>
            </a:extLst>
          </p:cNvPr>
          <p:cNvSpPr>
            <a:spLocks xmlns:a="http://schemas.openxmlformats.org/drawingml/2006/main" noGrp="1"/>
          </p:cNvSpPr>
          <p:nvPr/>
        </p:nvSpPr>
        <p:spPr>
          <a:xfrm xmlns:a="http://schemas.openxmlformats.org/drawingml/2006/main">
            <a:off x="609600" y="42005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and complexity</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Code / dependency growth vs value</a:t>
            </a:r>
          </a:p>
        </p:txBody>
      </p:sp>
      <p:sp>
        <p:nvSpPr>
          <p:cNvPr id="16" name="">
            <a:extLst xmlns:a="http://schemas.openxmlformats.org/drawingml/2006/main">
              <a:ext uri="{FF2B5EF4-FFF2-40B4-BE49-F238E27FC236}">
                <a16:creationId xmlns:a16="http://schemas.microsoft.com/office/drawing/2014/main" id="{0F342B70-9C33-42CC-AB63-1085458EE2F3}"/>
              </a:ext>
            </a:extLst>
          </p:cNvPr>
          <p:cNvSpPr>
            <a:spLocks xmlns:a="http://schemas.openxmlformats.org/drawingml/2006/main" noGrp="1"/>
          </p:cNvSpPr>
          <p:nvPr/>
        </p:nvSpPr>
        <p:spPr>
          <a:xfrm xmlns:a="http://schemas.openxmlformats.org/drawingml/2006/main">
            <a:off x="609600" y="46291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DELIVERY &amp; PRODUCTION</a:t>
            </a:r>
          </a:p>
        </p:txBody>
      </p:sp>
      <p:sp>
        <p:nvSpPr>
          <p:cNvPr id="17" name="">
            <a:extLst xmlns:a="http://schemas.openxmlformats.org/drawingml/2006/main">
              <a:ext uri="{FF2B5EF4-FFF2-40B4-BE49-F238E27FC236}">
                <a16:creationId xmlns:a16="http://schemas.microsoft.com/office/drawing/2014/main" id="{BCF4A1DA-940D-4918-B78A-8036DD993C26}"/>
              </a:ext>
            </a:extLst>
          </p:cNvPr>
          <p:cNvSpPr>
            <a:spLocks xmlns:a="http://schemas.openxmlformats.org/drawingml/2006/main" noGrp="1"/>
          </p:cNvSpPr>
          <p:nvPr/>
        </p:nvSpPr>
        <p:spPr>
          <a:xfrm xmlns:a="http://schemas.openxmlformats.org/drawingml/2006/main">
            <a:off x="609600" y="48863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Release throughput and stability</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Incidents, rollback and recovery time</a:t>
            </a:r>
          </a:p>
        </p:txBody>
      </p:sp>
      <p:sp>
        <p:nvSpPr>
          <p:cNvPr id="18" name="">
            <a:extLst xmlns:a="http://schemas.openxmlformats.org/drawingml/2006/main">
              <a:ext uri="{FF2B5EF4-FFF2-40B4-BE49-F238E27FC236}">
                <a16:creationId xmlns:a16="http://schemas.microsoft.com/office/drawing/2014/main" id="{26342FD9-579F-4A05-9FD3-B95029C80A0D}"/>
              </a:ext>
            </a:extLst>
          </p:cNvPr>
          <p:cNvSpPr>
            <a:spLocks xmlns:a="http://schemas.openxmlformats.org/drawingml/2006/main" noGrp="1"/>
          </p:cNvSpPr>
          <p:nvPr/>
        </p:nvSpPr>
        <p:spPr>
          <a:xfrm xmlns:a="http://schemas.openxmlformats.org/drawingml/2006/main">
            <a:off x="609600" y="53149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TEAM, OWNERSHIP &amp; RECOVERY</a:t>
            </a:r>
          </a:p>
        </p:txBody>
      </p:sp>
      <p:sp>
        <p:nvSpPr>
          <p:cNvPr id="19" name="">
            <a:extLst xmlns:a="http://schemas.openxmlformats.org/drawingml/2006/main">
              <a:ext uri="{FF2B5EF4-FFF2-40B4-BE49-F238E27FC236}">
                <a16:creationId xmlns:a16="http://schemas.microsoft.com/office/drawing/2014/main" id="{394B3661-D124-4A24-8A06-C2EABFC75F46}"/>
              </a:ext>
            </a:extLst>
          </p:cNvPr>
          <p:cNvSpPr>
            <a:spLocks xmlns:a="http://schemas.openxmlformats.org/drawingml/2006/main" noGrp="1"/>
          </p:cNvSpPr>
          <p:nvPr/>
        </p:nvSpPr>
        <p:spPr>
          <a:xfrm xmlns:a="http://schemas.openxmlformats.org/drawingml/2006/main">
            <a:off x="609600" y="55721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 on-call load and ownership</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Team health; recovery without AI</a:t>
            </a:r>
          </a:p>
        </p:txBody>
      </p:sp>
      <p:sp>
        <p:nvSpPr>
          <p:cNvPr id="20" name="">
            <a:extLst xmlns:a="http://schemas.openxmlformats.org/drawingml/2006/main">
              <a:ext uri="{FF2B5EF4-FFF2-40B4-BE49-F238E27FC236}">
                <a16:creationId xmlns:a16="http://schemas.microsoft.com/office/drawing/2014/main" id="{A490A3DB-D7E1-468C-A5B1-6603F51E98B9}"/>
              </a:ext>
            </a:extLst>
          </p:cNvPr>
          <p:cNvSpPr>
            <a:spLocks xmlns:a="http://schemas.openxmlformats.org/drawingml/2006/main" noGrp="1"/>
          </p:cNvSpPr>
          <p:nvPr/>
        </p:nvSpPr>
        <p:spPr>
          <a:xfrm xmlns:a="http://schemas.openxmlformats.org/drawingml/2006/main">
            <a:off x="6286500" y="2809875"/>
            <a:ext cx="5257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Arial"/>
                <a:ea typeface="Arial"/>
                <a:cs typeface="Arial"/>
              </a:defRPr>
            </a:pPr>
            <a:r>
              <a:rPr sz="1725" b="1">
                <a:solidFill>
                  <a:srgbClr val="28C7F7"/>
                </a:solidFill>
                <a:latin typeface="Arial"/>
                <a:ea typeface="Arial"/>
                <a:cs typeface="Arial"/>
              </a:rPr>
              <a:t>EXPLORE / TEST</a:t>
            </a:r>
          </a:p>
        </p:txBody>
      </p:sp>
      <p:sp>
        <p:nvSpPr>
          <p:cNvPr id="21" name="">
            <a:extLst xmlns:a="http://schemas.openxmlformats.org/drawingml/2006/main">
              <a:ext uri="{FF2B5EF4-FFF2-40B4-BE49-F238E27FC236}">
                <a16:creationId xmlns:a16="http://schemas.microsoft.com/office/drawing/2014/main" id="{DB20BE35-EA50-4092-A854-E55A45C3AA3B}"/>
              </a:ext>
            </a:extLst>
          </p:cNvPr>
          <p:cNvSpPr>
            <a:spLocks xmlns:a="http://schemas.openxmlformats.org/drawingml/2006/main" noGrp="1"/>
          </p:cNvSpPr>
          <p:nvPr/>
        </p:nvSpPr>
        <p:spPr>
          <a:xfrm xmlns:a="http://schemas.openxmlformats.org/drawingml/2006/main">
            <a:off x="6286500" y="32575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FLOW CONTROL</a:t>
            </a:r>
          </a:p>
        </p:txBody>
      </p:sp>
      <p:sp>
        <p:nvSpPr>
          <p:cNvPr id="22" name="">
            <a:extLst xmlns:a="http://schemas.openxmlformats.org/drawingml/2006/main">
              <a:ext uri="{FF2B5EF4-FFF2-40B4-BE49-F238E27FC236}">
                <a16:creationId xmlns:a16="http://schemas.microsoft.com/office/drawing/2014/main" id="{9E17DB60-2903-4167-9E6B-3223EF85D9AB}"/>
              </a:ext>
            </a:extLst>
          </p:cNvPr>
          <p:cNvSpPr>
            <a:spLocks xmlns:a="http://schemas.openxmlformats.org/drawingml/2006/main" noGrp="1"/>
          </p:cNvSpPr>
          <p:nvPr/>
        </p:nvSpPr>
        <p:spPr>
          <a:xfrm xmlns:a="http://schemas.openxmlformats.org/drawingml/2006/main">
            <a:off x="6286500" y="35147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Small batches and WIP limits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Match generation to review capacity</a:t>
            </a:r>
          </a:p>
        </p:txBody>
      </p:sp>
      <p:sp>
        <p:nvSpPr>
          <p:cNvPr id="23" name="">
            <a:extLst xmlns:a="http://schemas.openxmlformats.org/drawingml/2006/main">
              <a:ext uri="{FF2B5EF4-FFF2-40B4-BE49-F238E27FC236}">
                <a16:creationId xmlns:a16="http://schemas.microsoft.com/office/drawing/2014/main" id="{56E86402-EBC5-48BA-931B-B2062E360B57}"/>
              </a:ext>
            </a:extLst>
          </p:cNvPr>
          <p:cNvSpPr>
            <a:spLocks xmlns:a="http://schemas.openxmlformats.org/drawingml/2006/main" noGrp="1"/>
          </p:cNvSpPr>
          <p:nvPr/>
        </p:nvSpPr>
        <p:spPr>
          <a:xfrm xmlns:a="http://schemas.openxmlformats.org/drawingml/2006/main">
            <a:off x="6286500" y="39433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SPEC-FIRST / DISPOSABLE CODE</a:t>
            </a:r>
          </a:p>
        </p:txBody>
      </p:sp>
      <p:sp>
        <p:nvSpPr>
          <p:cNvPr id="24" name="">
            <a:extLst xmlns:a="http://schemas.openxmlformats.org/drawingml/2006/main">
              <a:ext uri="{FF2B5EF4-FFF2-40B4-BE49-F238E27FC236}">
                <a16:creationId xmlns:a16="http://schemas.microsoft.com/office/drawing/2014/main" id="{3E29A5C5-700F-4FA2-9C51-03450034E97C}"/>
              </a:ext>
            </a:extLst>
          </p:cNvPr>
          <p:cNvSpPr>
            <a:spLocks xmlns:a="http://schemas.openxmlformats.org/drawingml/2006/main" noGrp="1"/>
          </p:cNvSpPr>
          <p:nvPr/>
        </p:nvSpPr>
        <p:spPr>
          <a:xfrm xmlns:a="http://schemas.openxmlformats.org/drawingml/2006/main">
            <a:off x="6286500" y="42005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Trusted specs and tests as anchors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Regenerate only when cheaper</a:t>
            </a:r>
          </a:p>
        </p:txBody>
      </p:sp>
      <p:sp>
        <p:nvSpPr>
          <p:cNvPr id="25" name="">
            <a:extLst xmlns:a="http://schemas.openxmlformats.org/drawingml/2006/main">
              <a:ext uri="{FF2B5EF4-FFF2-40B4-BE49-F238E27FC236}">
                <a16:creationId xmlns:a16="http://schemas.microsoft.com/office/drawing/2014/main" id="{6B209835-BC15-4966-8FCC-24281E7AFF9D}"/>
              </a:ext>
            </a:extLst>
          </p:cNvPr>
          <p:cNvSpPr>
            <a:spLocks xmlns:a="http://schemas.openxmlformats.org/drawingml/2006/main" noGrp="1"/>
          </p:cNvSpPr>
          <p:nvPr/>
        </p:nvSpPr>
        <p:spPr>
          <a:xfrm xmlns:a="http://schemas.openxmlformats.org/drawingml/2006/main">
            <a:off x="6286500" y="46291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KNOWLEDGE FOR HUMANS + AGENTS</a:t>
            </a:r>
          </a:p>
        </p:txBody>
      </p:sp>
      <p:sp>
        <p:nvSpPr>
          <p:cNvPr id="26" name="">
            <a:extLst xmlns:a="http://schemas.openxmlformats.org/drawingml/2006/main">
              <a:ext uri="{FF2B5EF4-FFF2-40B4-BE49-F238E27FC236}">
                <a16:creationId xmlns:a16="http://schemas.microsoft.com/office/drawing/2014/main" id="{4D6E1E8E-1C2C-4E1C-BC3B-29E98F387726}"/>
              </a:ext>
            </a:extLst>
          </p:cNvPr>
          <p:cNvSpPr>
            <a:spLocks xmlns:a="http://schemas.openxmlformats.org/drawingml/2006/main" noGrp="1"/>
          </p:cNvSpPr>
          <p:nvPr/>
        </p:nvSpPr>
        <p:spPr>
          <a:xfrm xmlns:a="http://schemas.openxmlformats.org/drawingml/2006/main">
            <a:off x="6286500" y="48863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Living docs and ownership maps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Knowledge retrieval for people + agents</a:t>
            </a:r>
          </a:p>
        </p:txBody>
      </p:sp>
      <p:sp>
        <p:nvSpPr>
          <p:cNvPr id="27" name="">
            <a:extLst xmlns:a="http://schemas.openxmlformats.org/drawingml/2006/main">
              <a:ext uri="{FF2B5EF4-FFF2-40B4-BE49-F238E27FC236}">
                <a16:creationId xmlns:a16="http://schemas.microsoft.com/office/drawing/2014/main" id="{C768F2B9-3BFB-46E1-938C-6942E2E75133}"/>
              </a:ext>
            </a:extLst>
          </p:cNvPr>
          <p:cNvSpPr>
            <a:spLocks xmlns:a="http://schemas.openxmlformats.org/drawingml/2006/main" noGrp="1"/>
          </p:cNvSpPr>
          <p:nvPr/>
        </p:nvSpPr>
        <p:spPr>
          <a:xfrm xmlns:a="http://schemas.openxmlformats.org/drawingml/2006/main">
            <a:off x="6286500" y="53149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AI-ASSISTED REVIEW &amp; RECOVERY</a:t>
            </a:r>
          </a:p>
        </p:txBody>
      </p:sp>
      <p:sp>
        <p:nvSpPr>
          <p:cNvPr id="28" name="">
            <a:extLst xmlns:a="http://schemas.openxmlformats.org/drawingml/2006/main">
              <a:ext uri="{FF2B5EF4-FFF2-40B4-BE49-F238E27FC236}">
                <a16:creationId xmlns:a16="http://schemas.microsoft.com/office/drawing/2014/main" id="{4FB3584E-08EE-4247-BEAD-7A061FC40CB1}"/>
              </a:ext>
            </a:extLst>
          </p:cNvPr>
          <p:cNvSpPr>
            <a:spLocks xmlns:a="http://schemas.openxmlformats.org/drawingml/2006/main" noGrp="1"/>
          </p:cNvSpPr>
          <p:nvPr/>
        </p:nvSpPr>
        <p:spPr>
          <a:xfrm xmlns:a="http://schemas.openxmlformats.org/drawingml/2006/main">
            <a:off x="6286500" y="5572125"/>
            <a:ext cx="525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AI review plus static and eval gates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Code + docs review; recovery drills</a:t>
            </a:r>
          </a:p>
        </p:txBody>
      </p:sp>
      <p:sp>
        <p:nvSpPr>
          <p:cNvPr id="29" name="">
            <a:extLst xmlns:a="http://schemas.openxmlformats.org/drawingml/2006/main">
              <a:ext uri="{FF2B5EF4-FFF2-40B4-BE49-F238E27FC236}">
                <a16:creationId xmlns:a16="http://schemas.microsoft.com/office/drawing/2014/main" id="{1C70EBAD-55D8-43F6-8B31-81FB15D3B1A9}"/>
              </a:ext>
            </a:extLst>
          </p:cNvPr>
          <p:cNvSpPr>
            <a:spLocks xmlns:a="http://schemas.openxmlformats.org/drawingml/2006/main" noGrp="1"/>
          </p:cNvSpPr>
          <p:nvPr/>
        </p:nvSpPr>
        <p:spPr>
          <a:xfrm xmlns:a="http://schemas.openxmlformats.org/drawingml/2006/main" flipH="0" flipV="0">
            <a:off x="609600" y="6086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539146E0-32BA-4F6A-8A42-55CD9861B301}"/>
              </a:ext>
            </a:extLst>
          </p:cNvPr>
          <p:cNvSpPr>
            <a:spLocks xmlns:a="http://schemas.openxmlformats.org/drawingml/2006/main" noGrp="1"/>
          </p:cNvSpPr>
          <p:nvPr/>
        </p:nvSpPr>
        <p:spPr>
          <a:xfrm xmlns:a="http://schemas.openxmlformats.org/drawingml/2006/main">
            <a:off x="609600" y="617220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Candidate countermeasures — not proven fixes.</a:t>
            </a:r>
          </a:p>
        </p:txBody>
      </p:sp>
      <p:sp>
        <p:nvSpPr>
          <p:cNvPr id="31" name="">
            <a:extLst xmlns:a="http://schemas.openxmlformats.org/drawingml/2006/main">
              <a:ext uri="{FF2B5EF4-FFF2-40B4-BE49-F238E27FC236}">
                <a16:creationId xmlns:a16="http://schemas.microsoft.com/office/drawing/2014/main" id="{256FD84E-5225-40F3-8B96-A707D85C24E4}"/>
              </a:ext>
            </a:extLst>
          </p:cNvPr>
          <p:cNvSpPr>
            <a:spLocks xmlns:a="http://schemas.openxmlformats.org/drawingml/2006/main" noGrp="1"/>
          </p:cNvSpPr>
          <p:nvPr/>
        </p:nvSpPr>
        <p:spPr>
          <a:xfrm xmlns:a="http://schemas.openxmlformats.org/drawingml/2006/main">
            <a:off x="609600" y="6515100"/>
            <a:ext cx="10429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rPr>
              <a:t>Test the gap, delivery, quality, full cost and team health.</a:t>
            </a:r>
          </a:p>
        </p:txBody>
      </p:sp>
    </p:spTree>
    <p:extLst>
      <p:ext uri="{BB962C8B-B14F-4D97-AF65-F5344CB8AC3E}">
        <p14:creationId xmlns:p14="http://schemas.microsoft.com/office/powerpoint/2010/main" val="1686489309"/>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027AD5CF-4B35-48C1-8665-7EB1620F1E1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39E9C270-32FB-42D6-B96E-3E844B7EA27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4D6E4DF-3E00-4EF3-A2DE-49507443E59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8E2641A1-04BA-42B4-9FB9-E8F961617BBE}"/>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PRODUCT / PO · BA · PROJECT MANAGER · ENGINEERING · QA · OPERATIONS</a:t>
            </a:r>
          </a:p>
        </p:txBody>
      </p:sp>
      <p:sp>
        <p:nvSpPr>
          <p:cNvPr id="5" name="">
            <a:extLst xmlns:a="http://schemas.openxmlformats.org/drawingml/2006/main">
              <a:ext uri="{FF2B5EF4-FFF2-40B4-BE49-F238E27FC236}">
                <a16:creationId xmlns:a16="http://schemas.microsoft.com/office/drawing/2014/main" id="{6C5430E3-7834-4E1C-B50F-6C7B1D93FA78}"/>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963B3263-7C0F-42CE-A4F2-FB524FD09C07}"/>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F580E137-7388-476F-9908-F0E9C2E7F98F}"/>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827F9455-9819-4F1B-921D-3B191D7432CC}"/>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6C38F2A9-F223-4042-ABCA-091EABFE97E4}"/>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103BF9B1-8D72-4F55-B2BA-16C2728E23B2}"/>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9183152E-C4C6-45C1-BD49-69D261C38476}"/>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BC43FFE6-BDC5-4C13-BFAE-123FE3277878}"/>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43CC66CE-2A09-4117-8745-4D60CFF5366F}"/>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4B75E753-6868-44CF-AF8E-49764C1F798A}"/>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4467089B-3833-4849-85AE-4402A357C9C5}"/>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794E76F9-E99D-4F76-9CFB-963066E412B1}"/>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007AC055-6707-4BD3-8513-061D61CFBFC5}"/>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55D8F64F-042A-4F5A-8133-A8D10F3E925B}"/>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7D81B7EC-8348-41AE-B5D7-2CD42A1343C4}"/>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6B4D827B-FC31-4B19-98F6-6AE80E0FA142}"/>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6EE250B4-226A-407D-B7F9-E35DE10A56D0}"/>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F9ED95BE-690A-4935-A44F-9D266B736EF7}"/>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637137B1-BA1E-4531-8DB3-03D141663AC5}"/>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0FFF65FC-AB00-4C35-BE9C-B0F2A5BFD2DD}"/>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47D92507-B5C4-4105-9143-BD35426DA043}"/>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2B340D92-7A2A-4B93-B2D2-8C5D29729BBE}"/>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7533BD27-1176-4945-8C39-01CBAF724368}"/>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E0932ACB-2053-46E0-ABAE-A8EF8B91FE85}"/>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940E5FBD-D575-4A11-B45E-F1D4C8012E41}"/>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796CA344-D56E-4C0A-9677-D010091DD667}"/>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F2B352B5-8201-42E4-B069-4748DA0A7E7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E8F4C9C0-B83F-4A91-9ABA-5710F2475B31}"/>
              </a:ext>
            </a:extLst>
          </p:cNvPr>
          <p:cNvSpPr>
            <a:spLocks xmlns:a="http://schemas.openxmlformats.org/drawingml/2006/main" noGrp="1"/>
          </p:cNvSpPr>
          <p:nvPr/>
        </p:nvSpPr>
        <p:spPr>
          <a:xfrm xmlns:a="http://schemas.openxmlformats.org/drawingml/2006/main">
            <a:off x="609600" y="6029325"/>
            <a:ext cx="10648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IT assistant: help employees recover access</a:t>
            </a:r>
          </a:p>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using approved guidance and permitted actions.</a:t>
            </a:r>
          </a:p>
        </p:txBody>
      </p:sp>
      <p:sp>
        <p:nvSpPr>
          <p:cNvPr id="33" name="">
            <a:extLst xmlns:a="http://schemas.openxmlformats.org/drawingml/2006/main">
              <a:ext uri="{FF2B5EF4-FFF2-40B4-BE49-F238E27FC236}">
                <a16:creationId xmlns:a16="http://schemas.microsoft.com/office/drawing/2014/main" id="{E4D30C3D-6786-446A-A789-146D7172FF53}"/>
              </a:ext>
            </a:extLst>
          </p:cNvPr>
          <p:cNvSpPr>
            <a:spLocks xmlns:a="http://schemas.openxmlformats.org/drawingml/2006/main" noGrp="1"/>
          </p:cNvSpPr>
          <p:nvPr/>
        </p:nvSpPr>
        <p:spPr>
          <a:xfrm xmlns:a="http://schemas.openxmlformats.org/drawingml/2006/main">
            <a:off x="609600" y="57721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Same request, different responses. Context, model and configuration also matter.</a:t>
            </a:r>
          </a:p>
        </p:txBody>
      </p:sp>
      <p:sp>
        <p:nvSpPr>
          <p:cNvPr id="34" name="">
            <a:extLst xmlns:a="http://schemas.openxmlformats.org/drawingml/2006/main">
              <a:ext uri="{FF2B5EF4-FFF2-40B4-BE49-F238E27FC236}">
                <a16:creationId xmlns:a16="http://schemas.microsoft.com/office/drawing/2014/main" id="{F34D82E6-EE8D-4D08-B9FC-FD7DED291172}"/>
              </a:ext>
            </a:extLst>
          </p:cNvPr>
          <p:cNvSpPr>
            <a:spLocks xmlns:a="http://schemas.openxmlformats.org/drawingml/2006/main" noGrp="1"/>
          </p:cNvSpPr>
          <p:nvPr/>
        </p:nvSpPr>
        <p:spPr>
          <a:xfrm xmlns:a="http://schemas.openxmlformats.org/drawingml/2006/main">
            <a:off x="609600" y="6619875"/>
            <a:ext cx="10648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645092531"/>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52" name=""/>
          <p:cNvCxnSpPr>
            <a:stCxn xmlns:a="http://schemas.openxmlformats.org/drawingml/2006/main" id="7" idx="3"/>
            <a:endCxn xmlns:a="http://schemas.openxmlformats.org/drawingml/2006/main" id="9" idx="1"/>
          </p:cNvCxnSpPr>
          <p:nvPr/>
        </p:nvCxnSpPr>
        <p:spPr>
          <a:xfrm xmlns:a="http://schemas.openxmlformats.org/drawingml/2006/main">
            <a:off x="2219325" y="28575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53" name="">
            <a:extLst xmlns:a="http://schemas.openxmlformats.org/drawingml/2006/main">
              <a:ext uri="{FF2B5EF4-FFF2-40B4-BE49-F238E27FC236}">
                <a16:creationId xmlns:a16="http://schemas.microsoft.com/office/drawing/2014/main" id="{513142D7-0D47-4C16-A2B0-6D48E01A688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40570848-A269-43BD-9274-8A86C6CF0DD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1A5C5D8-5C54-4BC9-927B-10E60C87939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12D13C8A-2AA9-4647-95ED-96682A5022D8}"/>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QA / DEV · PROJECT MANAGER</a:t>
            </a:r>
          </a:p>
        </p:txBody>
      </p:sp>
      <p:sp>
        <p:nvSpPr>
          <p:cNvPr id="5" name="">
            <a:extLst xmlns:a="http://schemas.openxmlformats.org/drawingml/2006/main">
              <a:ext uri="{FF2B5EF4-FFF2-40B4-BE49-F238E27FC236}">
                <a16:creationId xmlns:a16="http://schemas.microsoft.com/office/drawing/2014/main" id="{E148C61D-3094-4103-8016-1EF489878AF5}"/>
              </a:ext>
            </a:extLst>
          </p:cNvPr>
          <p:cNvSpPr>
            <a:spLocks xmlns:a="http://schemas.openxmlformats.org/drawingml/2006/main" noGrp="1"/>
          </p:cNvSpPr>
          <p:nvPr/>
        </p:nvSpPr>
        <p:spPr>
          <a:xfrm xmlns:a="http://schemas.openxmlformats.org/drawingml/2006/main" flipH="0" flipV="0">
            <a:off x="4838700" y="2095500"/>
            <a:ext cx="0" cy="22669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596D99EA-8648-4D63-8A5E-BB1313B8B473}"/>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ADB8C5"/>
                </a:solidFill>
                <a:latin typeface="Arial"/>
                <a:ea typeface="Arial"/>
                <a:cs typeface="Arial"/>
              </a:defRPr>
            </a:pPr>
            <a:r>
              <a:rPr sz="1500" b="1">
                <a:solidFill>
                  <a:srgbClr val="ADB8C5"/>
                </a:solidFill>
                <a:latin typeface="Arial"/>
                <a:ea typeface="Arial"/>
                <a:cs typeface="Arial"/>
              </a:rPr>
              <a:t>BEFORE: SPECIFY THE PATH</a:t>
            </a:r>
          </a:p>
        </p:txBody>
      </p:sp>
      <p:sp>
        <p:nvSpPr>
          <p:cNvPr id="7" name="">
            <a:extLst xmlns:a="http://schemas.openxmlformats.org/drawingml/2006/main">
              <a:ext uri="{FF2B5EF4-FFF2-40B4-BE49-F238E27FC236}">
                <a16:creationId xmlns:a16="http://schemas.microsoft.com/office/drawing/2014/main" id="{09C4179A-5869-46C8-81F2-D3D841D9D5B2}"/>
              </a:ext>
            </a:extLst>
          </p:cNvPr>
          <p:cNvSpPr>
            <a:spLocks xmlns:a="http://schemas.openxmlformats.org/drawingml/2006/main" noGrp="1"/>
          </p:cNvSpPr>
          <p:nvPr/>
        </p:nvSpPr>
        <p:spPr>
          <a:xfrm xmlns:a="http://schemas.openxmlformats.org/drawingml/2006/main">
            <a:off x="609600" y="25812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ECB252E6-3B1D-4BC3-A881-B08A4D285611}"/>
              </a:ext>
            </a:extLst>
          </p:cNvPr>
          <p:cNvSpPr>
            <a:spLocks xmlns:a="http://schemas.openxmlformats.org/drawingml/2006/main" noGrp="1"/>
          </p:cNvSpPr>
          <p:nvPr/>
        </p:nvSpPr>
        <p:spPr>
          <a:xfrm xmlns:a="http://schemas.openxmlformats.org/drawingml/2006/main">
            <a:off x="723900" y="26574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Press A</a:t>
            </a:r>
          </a:p>
        </p:txBody>
      </p:sp>
      <p:sp>
        <p:nvSpPr>
          <p:cNvPr id="9" name="">
            <a:extLst xmlns:a="http://schemas.openxmlformats.org/drawingml/2006/main">
              <a:ext uri="{FF2B5EF4-FFF2-40B4-BE49-F238E27FC236}">
                <a16:creationId xmlns:a16="http://schemas.microsoft.com/office/drawing/2014/main" id="{264BA04F-5E29-44EA-8D1F-CB80CF05BC97}"/>
              </a:ext>
            </a:extLst>
          </p:cNvPr>
          <p:cNvSpPr>
            <a:spLocks xmlns:a="http://schemas.openxmlformats.org/drawingml/2006/main" noGrp="1"/>
          </p:cNvSpPr>
          <p:nvPr/>
        </p:nvSpPr>
        <p:spPr>
          <a:xfrm xmlns:a="http://schemas.openxmlformats.org/drawingml/2006/main">
            <a:off x="2876550" y="25812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B85C51C9-0AC9-4C24-9965-9F517A3DE551}"/>
              </a:ext>
            </a:extLst>
          </p:cNvPr>
          <p:cNvSpPr>
            <a:spLocks xmlns:a="http://schemas.openxmlformats.org/drawingml/2006/main" noGrp="1"/>
          </p:cNvSpPr>
          <p:nvPr/>
        </p:nvSpPr>
        <p:spPr>
          <a:xfrm xmlns:a="http://schemas.openxmlformats.org/drawingml/2006/main">
            <a:off x="2990850" y="26574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sp>
        <p:nvSpPr>
          <p:cNvPr id="12" name="">
            <a:extLst xmlns:a="http://schemas.openxmlformats.org/drawingml/2006/main">
              <a:ext uri="{FF2B5EF4-FFF2-40B4-BE49-F238E27FC236}">
                <a16:creationId xmlns:a16="http://schemas.microsoft.com/office/drawing/2014/main" id="{701EF340-1F4B-472A-80F0-A436D8857B85}"/>
              </a:ext>
            </a:extLst>
          </p:cNvPr>
          <p:cNvSpPr>
            <a:spLocks xmlns:a="http://schemas.openxmlformats.org/drawingml/2006/main" noGrp="1"/>
          </p:cNvSpPr>
          <p:nvPr/>
        </p:nvSpPr>
        <p:spPr>
          <a:xfrm xmlns:a="http://schemas.openxmlformats.org/drawingml/2006/main" flipH="0" flipV="0">
            <a:off x="2381250" y="2476500"/>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3" name="">
            <a:extLst xmlns:a="http://schemas.openxmlformats.org/drawingml/2006/main">
              <a:ext uri="{FF2B5EF4-FFF2-40B4-BE49-F238E27FC236}">
                <a16:creationId xmlns:a16="http://schemas.microsoft.com/office/drawing/2014/main" id="{244001B8-7B1E-4F31-8253-F8FD6E2D373B}"/>
              </a:ext>
            </a:extLst>
          </p:cNvPr>
          <p:cNvSpPr>
            <a:spLocks xmlns:a="http://schemas.openxmlformats.org/drawingml/2006/main" noGrp="1"/>
          </p:cNvSpPr>
          <p:nvPr/>
        </p:nvSpPr>
        <p:spPr>
          <a:xfrm xmlns:a="http://schemas.openxmlformats.org/drawingml/2006/main" flipH="0" flipV="1">
            <a:off x="2381250" y="2476500"/>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4" name="">
            <a:extLst xmlns:a="http://schemas.openxmlformats.org/drawingml/2006/main">
              <a:ext uri="{FF2B5EF4-FFF2-40B4-BE49-F238E27FC236}">
                <a16:creationId xmlns:a16="http://schemas.microsoft.com/office/drawing/2014/main" id="{C243DC4E-4547-4BF9-BE81-30168565ACE4}"/>
              </a:ext>
            </a:extLst>
          </p:cNvPr>
          <p:cNvSpPr>
            <a:spLocks xmlns:a="http://schemas.openxmlformats.org/drawingml/2006/main" noGrp="1"/>
          </p:cNvSpPr>
          <p:nvPr/>
        </p:nvSpPr>
        <p:spPr>
          <a:xfrm xmlns:a="http://schemas.openxmlformats.org/drawingml/2006/main" flipH="0" flipV="0">
            <a:off x="2609850" y="3171825"/>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5" name="">
            <a:extLst xmlns:a="http://schemas.openxmlformats.org/drawingml/2006/main">
              <a:ext uri="{FF2B5EF4-FFF2-40B4-BE49-F238E27FC236}">
                <a16:creationId xmlns:a16="http://schemas.microsoft.com/office/drawing/2014/main" id="{A7A35EE0-852E-4484-AE34-7C6CD0EB8077}"/>
              </a:ext>
            </a:extLst>
          </p:cNvPr>
          <p:cNvSpPr>
            <a:spLocks xmlns:a="http://schemas.openxmlformats.org/drawingml/2006/main" noGrp="1"/>
          </p:cNvSpPr>
          <p:nvPr/>
        </p:nvSpPr>
        <p:spPr>
          <a:xfrm xmlns:a="http://schemas.openxmlformats.org/drawingml/2006/main" flipH="0" flipV="1">
            <a:off x="2609850" y="3171825"/>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FEB487ED-9528-4DBD-901A-690D23294583}"/>
              </a:ext>
            </a:extLst>
          </p:cNvPr>
          <p:cNvSpPr>
            <a:spLocks xmlns:a="http://schemas.openxmlformats.org/drawingml/2006/main" noGrp="1"/>
          </p:cNvSpPr>
          <p:nvPr/>
        </p:nvSpPr>
        <p:spPr>
          <a:xfrm xmlns:a="http://schemas.openxmlformats.org/drawingml/2006/main">
            <a:off x="609600" y="3314700"/>
            <a:ext cx="4000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Given the same state,</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 must open window B.</a:t>
            </a:r>
          </a:p>
        </p:txBody>
      </p:sp>
      <p:sp>
        <p:nvSpPr>
          <p:cNvPr id="17" name="">
            <a:extLst xmlns:a="http://schemas.openxmlformats.org/drawingml/2006/main">
              <a:ext uri="{FF2B5EF4-FFF2-40B4-BE49-F238E27FC236}">
                <a16:creationId xmlns:a16="http://schemas.microsoft.com/office/drawing/2014/main" id="{1F7534AE-8779-41FE-840F-C6218BB5D250}"/>
              </a:ext>
            </a:extLst>
          </p:cNvPr>
          <p:cNvSpPr>
            <a:spLocks xmlns:a="http://schemas.openxmlformats.org/drawingml/2006/main" noGrp="1"/>
          </p:cNvSpPr>
          <p:nvPr/>
        </p:nvSpPr>
        <p:spPr>
          <a:xfrm xmlns:a="http://schemas.openxmlformats.org/drawingml/2006/main">
            <a:off x="609600" y="39433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Expected states and branches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anchor the acceptance checks.</a:t>
            </a:r>
          </a:p>
        </p:txBody>
      </p:sp>
      <p:sp>
        <p:nvSpPr>
          <p:cNvPr id="18" name="">
            <a:extLst xmlns:a="http://schemas.openxmlformats.org/drawingml/2006/main">
              <a:ext uri="{FF2B5EF4-FFF2-40B4-BE49-F238E27FC236}">
                <a16:creationId xmlns:a16="http://schemas.microsoft.com/office/drawing/2014/main" id="{37A3300E-2682-4265-B2C8-3B882119516F}"/>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NOW: SPECIFY A SPACE OF VARIANTS</a:t>
            </a:r>
          </a:p>
        </p:txBody>
      </p:sp>
      <p:sp>
        <p:nvSpPr>
          <p:cNvPr id="19" name="">
            <a:extLst xmlns:a="http://schemas.openxmlformats.org/drawingml/2006/main">
              <a:ext uri="{FF2B5EF4-FFF2-40B4-BE49-F238E27FC236}">
                <a16:creationId xmlns:a16="http://schemas.microsoft.com/office/drawing/2014/main" id="{BB6F9419-C26B-4138-BA9D-E6644D5C0749}"/>
              </a:ext>
            </a:extLst>
          </p:cNvPr>
          <p:cNvSpPr>
            <a:spLocks xmlns:a="http://schemas.openxmlformats.org/drawingml/2006/main" noGrp="1"/>
          </p:cNvSpPr>
          <p:nvPr/>
        </p:nvSpPr>
        <p:spPr>
          <a:xfrm xmlns:a="http://schemas.openxmlformats.org/drawingml/2006/main">
            <a:off x="5305425" y="2400300"/>
            <a:ext cx="6276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INPUT: intents, context, data and permissions</a:t>
            </a:r>
          </a:p>
        </p:txBody>
      </p:sp>
      <p:sp>
        <p:nvSpPr>
          <p:cNvPr id="20" name="">
            <a:extLst xmlns:a="http://schemas.openxmlformats.org/drawingml/2006/main">
              <a:ext uri="{FF2B5EF4-FFF2-40B4-BE49-F238E27FC236}">
                <a16:creationId xmlns:a16="http://schemas.microsoft.com/office/drawing/2014/main" id="{3CB91018-0635-46B8-BF0E-390F84092954}"/>
              </a:ext>
            </a:extLst>
          </p:cNvPr>
          <p:cNvSpPr>
            <a:spLocks xmlns:a="http://schemas.openxmlformats.org/drawingml/2006/main" noGrp="1"/>
          </p:cNvSpPr>
          <p:nvPr/>
        </p:nvSpPr>
        <p:spPr>
          <a:xfrm xmlns:a="http://schemas.openxmlformats.org/drawingml/2006/main" flipH="0" flipV="0">
            <a:off x="5305425" y="2857500"/>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610C1865-D9F6-4585-AD2D-57A56ED83D14}"/>
              </a:ext>
            </a:extLst>
          </p:cNvPr>
          <p:cNvSpPr>
            <a:spLocks xmlns:a="http://schemas.openxmlformats.org/drawingml/2006/main" noGrp="1"/>
          </p:cNvSpPr>
          <p:nvPr/>
        </p:nvSpPr>
        <p:spPr>
          <a:xfrm xmlns:a="http://schemas.openxmlformats.org/drawingml/2006/main" flipH="0" flipV="0">
            <a:off x="5305425" y="3190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298DF2B7-C07D-42E7-8014-5C9D6EEB0B61}"/>
              </a:ext>
            </a:extLst>
          </p:cNvPr>
          <p:cNvSpPr>
            <a:spLocks xmlns:a="http://schemas.openxmlformats.org/drawingml/2006/main" noGrp="1"/>
          </p:cNvSpPr>
          <p:nvPr/>
        </p:nvSpPr>
        <p:spPr>
          <a:xfrm xmlns:a="http://schemas.openxmlformats.org/drawingml/2006/main" flipH="0" flipV="0">
            <a:off x="5305425" y="3524250"/>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D3B3268B-788A-44C9-94F1-DD565411F270}"/>
              </a:ext>
            </a:extLst>
          </p:cNvPr>
          <p:cNvSpPr>
            <a:spLocks xmlns:a="http://schemas.openxmlformats.org/drawingml/2006/main" noGrp="1"/>
          </p:cNvSpPr>
          <p:nvPr/>
        </p:nvSpPr>
        <p:spPr>
          <a:xfrm xmlns:a="http://schemas.openxmlformats.org/drawingml/2006/main" flipH="0" flipV="0">
            <a:off x="5305425" y="385762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2AC5018C-62C3-48AB-A532-6F3DEA693D63}"/>
              </a:ext>
            </a:extLst>
          </p:cNvPr>
          <p:cNvSpPr>
            <a:spLocks xmlns:a="http://schemas.openxmlformats.org/drawingml/2006/main" noGrp="1"/>
          </p:cNvSpPr>
          <p:nvPr/>
        </p:nvSpPr>
        <p:spPr>
          <a:xfrm xmlns:a="http://schemas.openxmlformats.org/drawingml/2006/main" flipH="0" flipV="1">
            <a:off x="53054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02388104-2CB3-494E-ABD0-7E73F2D532C4}"/>
              </a:ext>
            </a:extLst>
          </p:cNvPr>
          <p:cNvSpPr>
            <a:spLocks xmlns:a="http://schemas.openxmlformats.org/drawingml/2006/main" noGrp="1"/>
          </p:cNvSpPr>
          <p:nvPr/>
        </p:nvSpPr>
        <p:spPr>
          <a:xfrm xmlns:a="http://schemas.openxmlformats.org/drawingml/2006/main" flipH="0" flipV="1">
            <a:off x="63531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A61ED211-690F-48FB-B67D-4EA06772726F}"/>
              </a:ext>
            </a:extLst>
          </p:cNvPr>
          <p:cNvSpPr>
            <a:spLocks xmlns:a="http://schemas.openxmlformats.org/drawingml/2006/main" noGrp="1"/>
          </p:cNvSpPr>
          <p:nvPr/>
        </p:nvSpPr>
        <p:spPr>
          <a:xfrm xmlns:a="http://schemas.openxmlformats.org/drawingml/2006/main" flipH="0" flipV="1">
            <a:off x="74009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7" name="">
            <a:extLst xmlns:a="http://schemas.openxmlformats.org/drawingml/2006/main">
              <a:ext uri="{FF2B5EF4-FFF2-40B4-BE49-F238E27FC236}">
                <a16:creationId xmlns:a16="http://schemas.microsoft.com/office/drawing/2014/main" id="{97E86127-A38E-4B5D-8339-9BFE4072A2ED}"/>
              </a:ext>
            </a:extLst>
          </p:cNvPr>
          <p:cNvSpPr>
            <a:spLocks xmlns:a="http://schemas.openxmlformats.org/drawingml/2006/main" noGrp="1"/>
          </p:cNvSpPr>
          <p:nvPr/>
        </p:nvSpPr>
        <p:spPr>
          <a:xfrm xmlns:a="http://schemas.openxmlformats.org/drawingml/2006/main" flipH="0" flipV="1">
            <a:off x="84486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E0126A5C-85D3-45B8-AA01-DB5CE0773A79}"/>
              </a:ext>
            </a:extLst>
          </p:cNvPr>
          <p:cNvSpPr>
            <a:spLocks xmlns:a="http://schemas.openxmlformats.org/drawingml/2006/main" noGrp="1"/>
          </p:cNvSpPr>
          <p:nvPr/>
        </p:nvSpPr>
        <p:spPr>
          <a:xfrm xmlns:a="http://schemas.openxmlformats.org/drawingml/2006/main" flipH="0" flipV="1">
            <a:off x="94964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9" name="">
            <a:extLst xmlns:a="http://schemas.openxmlformats.org/drawingml/2006/main">
              <a:ext uri="{FF2B5EF4-FFF2-40B4-BE49-F238E27FC236}">
                <a16:creationId xmlns:a16="http://schemas.microsoft.com/office/drawing/2014/main" id="{FE159F45-DB5F-47F7-BB7C-A42274DB4F72}"/>
              </a:ext>
            </a:extLst>
          </p:cNvPr>
          <p:cNvSpPr>
            <a:spLocks xmlns:a="http://schemas.openxmlformats.org/drawingml/2006/main" noGrp="1"/>
          </p:cNvSpPr>
          <p:nvPr/>
        </p:nvSpPr>
        <p:spPr>
          <a:xfrm xmlns:a="http://schemas.openxmlformats.org/drawingml/2006/main" flipH="0" flipV="1">
            <a:off x="105441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3DD8BE8D-FFB9-4FCB-9129-263575DD1B9E}"/>
              </a:ext>
            </a:extLst>
          </p:cNvPr>
          <p:cNvSpPr>
            <a:spLocks xmlns:a="http://schemas.openxmlformats.org/drawingml/2006/main" noGrp="1"/>
          </p:cNvSpPr>
          <p:nvPr/>
        </p:nvSpPr>
        <p:spPr>
          <a:xfrm xmlns:a="http://schemas.openxmlformats.org/drawingml/2006/main">
            <a:off x="5810250" y="2752725"/>
            <a:ext cx="4476750" cy="1171575"/>
          </a:xfrm>
          <a:custGeom xmlns:a="http://schemas.openxmlformats.org/drawingml/2006/main">
            <a:pathLst>
              <a:path w="4476750" h="1171575">
                <a:moveTo>
                  <a:pt x="419100" y="0"/>
                </a:moveTo>
                <a:lnTo>
                  <a:pt x="4476750" y="0"/>
                </a:lnTo>
                <a:lnTo>
                  <a:pt x="4057650" y="1171575"/>
                </a:lnTo>
                <a:lnTo>
                  <a:pt x="0" y="1171575"/>
                </a:lnTo>
                <a:close/>
              </a:path>
            </a:pathLst>
          </a:custGeom>
          <a:solidFill xmlns:a="http://schemas.openxmlformats.org/drawingml/2006/main">
            <a:srgbClr val="24231B"/>
          </a:solidFill>
          <a:ln xmlns:a="http://schemas.openxmlformats.org/drawingml/2006/main" w="19050">
            <a:solidFill>
              <a:srgbClr val="F5B61C"/>
            </a:solidFill>
            <a:prstDash val="dash"/>
          </a:ln>
        </p:spPr>
      </p:sp>
      <p:sp>
        <p:nvSpPr>
          <p:cNvPr id="31" name="">
            <a:extLst xmlns:a="http://schemas.openxmlformats.org/drawingml/2006/main">
              <a:ext uri="{FF2B5EF4-FFF2-40B4-BE49-F238E27FC236}">
                <a16:creationId xmlns:a16="http://schemas.microsoft.com/office/drawing/2014/main" id="{F9F98C83-1BD6-4814-AAA2-6DAAE6C29426}"/>
              </a:ext>
            </a:extLst>
          </p:cNvPr>
          <p:cNvSpPr>
            <a:spLocks xmlns:a="http://schemas.openxmlformats.org/drawingml/2006/main" noGrp="1"/>
          </p:cNvSpPr>
          <p:nvPr/>
        </p:nvSpPr>
        <p:spPr>
          <a:xfrm xmlns:a="http://schemas.openxmlformats.org/drawingml/2006/main">
            <a:off x="6515100" y="3000375"/>
            <a:ext cx="3228975" cy="714375"/>
          </a:xfrm>
          <a:custGeom xmlns:a="http://schemas.openxmlformats.org/drawingml/2006/main">
            <a:pathLst>
              <a:path w="3228975" h="714375">
                <a:moveTo>
                  <a:pt x="219075" y="0"/>
                </a:moveTo>
                <a:lnTo>
                  <a:pt x="3228975" y="0"/>
                </a:lnTo>
                <a:lnTo>
                  <a:pt x="3009900" y="714375"/>
                </a:lnTo>
                <a:lnTo>
                  <a:pt x="0" y="714375"/>
                </a:lnTo>
                <a:close/>
              </a:path>
            </a:pathLst>
          </a:custGeom>
          <a:solidFill xmlns:a="http://schemas.openxmlformats.org/drawingml/2006/main">
            <a:srgbClr val="122934"/>
          </a:solidFill>
          <a:ln xmlns:a="http://schemas.openxmlformats.org/drawingml/2006/main" w="19050">
            <a:solidFill>
              <a:srgbClr val="28C7F7"/>
            </a:solidFill>
            <a:prstDash val="dash"/>
          </a:ln>
        </p:spPr>
      </p:sp>
      <p:sp>
        <p:nvSpPr>
          <p:cNvPr id="32" name="">
            <a:extLst xmlns:a="http://schemas.openxmlformats.org/drawingml/2006/main">
              <a:ext uri="{FF2B5EF4-FFF2-40B4-BE49-F238E27FC236}">
                <a16:creationId xmlns:a16="http://schemas.microsoft.com/office/drawing/2014/main" id="{7890D6B4-12D4-41B3-A2CD-E369DF192C42}"/>
              </a:ext>
            </a:extLst>
          </p:cNvPr>
          <p:cNvSpPr>
            <a:spLocks xmlns:a="http://schemas.openxmlformats.org/drawingml/2006/main" noGrp="1"/>
          </p:cNvSpPr>
          <p:nvPr/>
        </p:nvSpPr>
        <p:spPr>
          <a:xfrm xmlns:a="http://schemas.openxmlformats.org/drawingml/2006/main">
            <a:off x="6267450" y="2762250"/>
            <a:ext cx="3743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F5B61C"/>
                </a:solidFill>
                <a:latin typeface="Arial"/>
                <a:ea typeface="Arial"/>
                <a:cs typeface="Arial"/>
              </a:defRPr>
            </a:pPr>
            <a:r>
              <a:rPr sz="1200" b="0">
                <a:solidFill>
                  <a:srgbClr val="F5B61C"/>
                </a:solidFill>
                <a:latin typeface="Arial"/>
                <a:ea typeface="Arial"/>
                <a:cs typeface="Arial"/>
              </a:rPr>
              <a:t>Boundary cases need contextual judgment</a:t>
            </a:r>
          </a:p>
        </p:txBody>
      </p:sp>
      <p:sp>
        <p:nvSpPr>
          <p:cNvPr id="33" name="">
            <a:extLst xmlns:a="http://schemas.openxmlformats.org/drawingml/2006/main">
              <a:ext uri="{FF2B5EF4-FFF2-40B4-BE49-F238E27FC236}">
                <a16:creationId xmlns:a16="http://schemas.microsoft.com/office/drawing/2014/main" id="{F6E1B97D-6543-4543-96CD-4E3E8DA95805}"/>
              </a:ext>
            </a:extLst>
          </p:cNvPr>
          <p:cNvSpPr>
            <a:spLocks xmlns:a="http://schemas.openxmlformats.org/drawingml/2006/main" noGrp="1"/>
          </p:cNvSpPr>
          <p:nvPr/>
        </p:nvSpPr>
        <p:spPr>
          <a:xfrm xmlns:a="http://schemas.openxmlformats.org/drawingml/2006/main">
            <a:off x="6753225" y="304800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28C7F7"/>
                </a:solidFill>
                <a:latin typeface="Arial"/>
                <a:ea typeface="Arial"/>
                <a:cs typeface="Arial"/>
              </a:defRPr>
            </a:pPr>
            <a:r>
              <a:rPr sz="1425" b="1">
                <a:solidFill>
                  <a:srgbClr val="28C7F7"/>
                </a:solidFill>
                <a:latin typeface="Arial"/>
                <a:ea typeface="Arial"/>
                <a:cs typeface="Arial"/>
              </a:rPr>
              <a:t>Acceptable outputs / actions</a:t>
            </a:r>
          </a:p>
        </p:txBody>
      </p:sp>
      <p:sp>
        <p:nvSpPr>
          <p:cNvPr id="34" name="">
            <a:extLst xmlns:a="http://schemas.openxmlformats.org/drawingml/2006/main">
              <a:ext uri="{FF2B5EF4-FFF2-40B4-BE49-F238E27FC236}">
                <a16:creationId xmlns:a16="http://schemas.microsoft.com/office/drawing/2014/main" id="{BE12721F-F688-4806-8649-6115EE96A3F0}"/>
              </a:ext>
            </a:extLst>
          </p:cNvPr>
          <p:cNvSpPr>
            <a:spLocks xmlns:a="http://schemas.openxmlformats.org/drawingml/2006/main" noGrp="1"/>
          </p:cNvSpPr>
          <p:nvPr/>
        </p:nvSpPr>
        <p:spPr>
          <a:xfrm xmlns:a="http://schemas.openxmlformats.org/drawingml/2006/main">
            <a:off x="6829425"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5" name="">
            <a:extLst xmlns:a="http://schemas.openxmlformats.org/drawingml/2006/main">
              <a:ext uri="{FF2B5EF4-FFF2-40B4-BE49-F238E27FC236}">
                <a16:creationId xmlns:a16="http://schemas.microsoft.com/office/drawing/2014/main" id="{CDE4D5A8-806C-49B5-86BA-7164D7EBAC45}"/>
              </a:ext>
            </a:extLst>
          </p:cNvPr>
          <p:cNvSpPr>
            <a:spLocks xmlns:a="http://schemas.openxmlformats.org/drawingml/2006/main" noGrp="1"/>
          </p:cNvSpPr>
          <p:nvPr/>
        </p:nvSpPr>
        <p:spPr>
          <a:xfrm xmlns:a="http://schemas.openxmlformats.org/drawingml/2006/main">
            <a:off x="6905625"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Answer</a:t>
            </a:r>
          </a:p>
        </p:txBody>
      </p:sp>
      <p:sp>
        <p:nvSpPr>
          <p:cNvPr id="36" name="">
            <a:extLst xmlns:a="http://schemas.openxmlformats.org/drawingml/2006/main">
              <a:ext uri="{FF2B5EF4-FFF2-40B4-BE49-F238E27FC236}">
                <a16:creationId xmlns:a16="http://schemas.microsoft.com/office/drawing/2014/main" id="{A154BDAE-7AEE-424F-922C-9D2A8EF79DFA}"/>
              </a:ext>
            </a:extLst>
          </p:cNvPr>
          <p:cNvSpPr>
            <a:spLocks xmlns:a="http://schemas.openxmlformats.org/drawingml/2006/main" noGrp="1"/>
          </p:cNvSpPr>
          <p:nvPr/>
        </p:nvSpPr>
        <p:spPr>
          <a:xfrm xmlns:a="http://schemas.openxmlformats.org/drawingml/2006/main">
            <a:off x="7772400"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7" name="">
            <a:extLst xmlns:a="http://schemas.openxmlformats.org/drawingml/2006/main">
              <a:ext uri="{FF2B5EF4-FFF2-40B4-BE49-F238E27FC236}">
                <a16:creationId xmlns:a16="http://schemas.microsoft.com/office/drawing/2014/main" id="{12A01D30-7680-4C06-A1E5-EC3E1D09D491}"/>
              </a:ext>
            </a:extLst>
          </p:cNvPr>
          <p:cNvSpPr>
            <a:spLocks xmlns:a="http://schemas.openxmlformats.org/drawingml/2006/main" noGrp="1"/>
          </p:cNvSpPr>
          <p:nvPr/>
        </p:nvSpPr>
        <p:spPr>
          <a:xfrm xmlns:a="http://schemas.openxmlformats.org/drawingml/2006/main">
            <a:off x="7848600"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Clarify</a:t>
            </a:r>
          </a:p>
        </p:txBody>
      </p:sp>
      <p:sp>
        <p:nvSpPr>
          <p:cNvPr id="38" name="">
            <a:extLst xmlns:a="http://schemas.openxmlformats.org/drawingml/2006/main">
              <a:ext uri="{FF2B5EF4-FFF2-40B4-BE49-F238E27FC236}">
                <a16:creationId xmlns:a16="http://schemas.microsoft.com/office/drawing/2014/main" id="{8DAE10F2-44E0-468F-824C-199D90E454E9}"/>
              </a:ext>
            </a:extLst>
          </p:cNvPr>
          <p:cNvSpPr>
            <a:spLocks xmlns:a="http://schemas.openxmlformats.org/drawingml/2006/main" noGrp="1"/>
          </p:cNvSpPr>
          <p:nvPr/>
        </p:nvSpPr>
        <p:spPr>
          <a:xfrm xmlns:a="http://schemas.openxmlformats.org/drawingml/2006/main">
            <a:off x="8715375"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9" name="">
            <a:extLst xmlns:a="http://schemas.openxmlformats.org/drawingml/2006/main">
              <a:ext uri="{FF2B5EF4-FFF2-40B4-BE49-F238E27FC236}">
                <a16:creationId xmlns:a16="http://schemas.microsoft.com/office/drawing/2014/main" id="{61B14132-065F-47C8-AFD5-1167F4B4D656}"/>
              </a:ext>
            </a:extLst>
          </p:cNvPr>
          <p:cNvSpPr>
            <a:spLocks xmlns:a="http://schemas.openxmlformats.org/drawingml/2006/main" noGrp="1"/>
          </p:cNvSpPr>
          <p:nvPr/>
        </p:nvSpPr>
        <p:spPr>
          <a:xfrm xmlns:a="http://schemas.openxmlformats.org/drawingml/2006/main">
            <a:off x="8791575"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Escalate</a:t>
            </a:r>
          </a:p>
        </p:txBody>
      </p:sp>
      <p:sp>
        <p:nvSpPr>
          <p:cNvPr id="40" name="">
            <a:extLst xmlns:a="http://schemas.openxmlformats.org/drawingml/2006/main">
              <a:ext uri="{FF2B5EF4-FFF2-40B4-BE49-F238E27FC236}">
                <a16:creationId xmlns:a16="http://schemas.microsoft.com/office/drawing/2014/main" id="{72F4F25C-4284-4B13-A879-00D248839E88}"/>
              </a:ext>
            </a:extLst>
          </p:cNvPr>
          <p:cNvSpPr>
            <a:spLocks xmlns:a="http://schemas.openxmlformats.org/drawingml/2006/main" noGrp="1"/>
          </p:cNvSpPr>
          <p:nvPr/>
        </p:nvSpPr>
        <p:spPr>
          <a:xfrm xmlns:a="http://schemas.openxmlformats.org/drawingml/2006/main">
            <a:off x="11106150" y="3048000"/>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41" name="">
            <a:extLst xmlns:a="http://schemas.openxmlformats.org/drawingml/2006/main">
              <a:ext uri="{FF2B5EF4-FFF2-40B4-BE49-F238E27FC236}">
                <a16:creationId xmlns:a16="http://schemas.microsoft.com/office/drawing/2014/main" id="{CD4D5F8A-EDA8-4F2D-97EB-423FD3308B9E}"/>
              </a:ext>
            </a:extLst>
          </p:cNvPr>
          <p:cNvSpPr>
            <a:spLocks xmlns:a="http://schemas.openxmlformats.org/drawingml/2006/main" noGrp="1"/>
          </p:cNvSpPr>
          <p:nvPr/>
        </p:nvSpPr>
        <p:spPr>
          <a:xfrm xmlns:a="http://schemas.openxmlformats.org/drawingml/2006/main">
            <a:off x="10344150" y="3248025"/>
            <a:ext cx="123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Unauthorized</a:t>
            </a:r>
          </a:p>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disclosure</a:t>
            </a:r>
          </a:p>
        </p:txBody>
      </p:sp>
      <p:sp>
        <p:nvSpPr>
          <p:cNvPr id="42" name="">
            <a:extLst xmlns:a="http://schemas.openxmlformats.org/drawingml/2006/main">
              <a:ext uri="{FF2B5EF4-FFF2-40B4-BE49-F238E27FC236}">
                <a16:creationId xmlns:a16="http://schemas.microsoft.com/office/drawing/2014/main" id="{A148C1ED-ADED-4E6A-A461-2B7D65AA2A0A}"/>
              </a:ext>
            </a:extLst>
          </p:cNvPr>
          <p:cNvSpPr>
            <a:spLocks xmlns:a="http://schemas.openxmlformats.org/drawingml/2006/main" noGrp="1"/>
          </p:cNvSpPr>
          <p:nvPr/>
        </p:nvSpPr>
        <p:spPr>
          <a:xfrm xmlns:a="http://schemas.openxmlformats.org/drawingml/2006/main">
            <a:off x="5305425" y="3981450"/>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Semantic limits are harder to make unambiguous</a:t>
            </a:r>
          </a:p>
        </p:txBody>
      </p:sp>
      <p:sp>
        <p:nvSpPr>
          <p:cNvPr id="43" name="">
            <a:extLst xmlns:a="http://schemas.openxmlformats.org/drawingml/2006/main">
              <a:ext uri="{FF2B5EF4-FFF2-40B4-BE49-F238E27FC236}">
                <a16:creationId xmlns:a16="http://schemas.microsoft.com/office/drawing/2014/main" id="{4F37898C-C8B3-44D0-8C44-2568EA8C3B2F}"/>
              </a:ext>
            </a:extLst>
          </p:cNvPr>
          <p:cNvSpPr>
            <a:spLocks xmlns:a="http://schemas.openxmlformats.org/drawingml/2006/main" noGrp="1"/>
          </p:cNvSpPr>
          <p:nvPr/>
        </p:nvSpPr>
        <p:spPr>
          <a:xfrm xmlns:a="http://schemas.openxmlformats.org/drawingml/2006/main">
            <a:off x="5305425" y="4238625"/>
            <a:ext cx="62769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Schematic space, not a measured probability or distance</a:t>
            </a:r>
          </a:p>
        </p:txBody>
      </p:sp>
      <p:sp>
        <p:nvSpPr>
          <p:cNvPr id="44" name="">
            <a:extLst xmlns:a="http://schemas.openxmlformats.org/drawingml/2006/main">
              <a:ext uri="{FF2B5EF4-FFF2-40B4-BE49-F238E27FC236}">
                <a16:creationId xmlns:a16="http://schemas.microsoft.com/office/drawing/2014/main" id="{035C667D-730D-4127-A5DC-2EF071314307}"/>
              </a:ext>
            </a:extLst>
          </p:cNvPr>
          <p:cNvSpPr>
            <a:spLocks xmlns:a="http://schemas.openxmlformats.org/drawingml/2006/main" noGrp="1"/>
          </p:cNvSpPr>
          <p:nvPr/>
        </p:nvSpPr>
        <p:spPr>
          <a:xfrm xmlns:a="http://schemas.openxmlformats.org/drawingml/2006/main">
            <a:off x="609600" y="444817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 Potential violations of the specified path</a:t>
            </a:r>
          </a:p>
        </p:txBody>
      </p:sp>
      <p:sp>
        <p:nvSpPr>
          <p:cNvPr id="45" name="">
            <a:extLst xmlns:a="http://schemas.openxmlformats.org/drawingml/2006/main">
              <a:ext uri="{FF2B5EF4-FFF2-40B4-BE49-F238E27FC236}">
                <a16:creationId xmlns:a16="http://schemas.microsoft.com/office/drawing/2014/main" id="{655237BE-12A6-4E4C-BBB6-180ED1298B9B}"/>
              </a:ext>
            </a:extLst>
          </p:cNvPr>
          <p:cNvSpPr>
            <a:spLocks xmlns:a="http://schemas.openxmlformats.org/drawingml/2006/main" noGrp="1"/>
          </p:cNvSpPr>
          <p:nvPr/>
        </p:nvSpPr>
        <p:spPr>
          <a:xfrm xmlns:a="http://schemas.openxmlformats.org/drawingml/2006/main" flipH="0" flipV="0">
            <a:off x="609600" y="4705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6" name="">
            <a:extLst xmlns:a="http://schemas.openxmlformats.org/drawingml/2006/main">
              <a:ext uri="{FF2B5EF4-FFF2-40B4-BE49-F238E27FC236}">
                <a16:creationId xmlns:a16="http://schemas.microsoft.com/office/drawing/2014/main" id="{E0088C29-CDF9-4E15-A624-77A1C14C30E6}"/>
              </a:ext>
            </a:extLst>
          </p:cNvPr>
          <p:cNvSpPr>
            <a:spLocks xmlns:a="http://schemas.openxmlformats.org/drawingml/2006/main" noGrp="1"/>
          </p:cNvSpPr>
          <p:nvPr/>
        </p:nvSpPr>
        <p:spPr>
          <a:xfrm xmlns:a="http://schemas.openxmlformats.org/drawingml/2006/main">
            <a:off x="609600" y="48101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MORE COMBINATIONS MAKE SPECIFICATION AND COVERAGE HARDER</a:t>
            </a:r>
          </a:p>
        </p:txBody>
      </p:sp>
      <p:sp>
        <p:nvSpPr>
          <p:cNvPr id="47" name="">
            <a:extLst xmlns:a="http://schemas.openxmlformats.org/drawingml/2006/main">
              <a:ext uri="{FF2B5EF4-FFF2-40B4-BE49-F238E27FC236}">
                <a16:creationId xmlns:a16="http://schemas.microsoft.com/office/drawing/2014/main" id="{3A9933E4-DD46-4352-88B8-8108EE83CDC6}"/>
              </a:ext>
            </a:extLst>
          </p:cNvPr>
          <p:cNvSpPr>
            <a:spLocks xmlns:a="http://schemas.openxmlformats.org/drawingml/2006/main" noGrp="1"/>
          </p:cNvSpPr>
          <p:nvPr/>
        </p:nvSpPr>
        <p:spPr>
          <a:xfrm xmlns:a="http://schemas.openxmlformats.org/drawingml/2006/main">
            <a:off x="609600" y="51339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Inputs × context × outputs create more ways to miss a requirement.</a:t>
            </a:r>
          </a:p>
        </p:txBody>
      </p:sp>
      <p:sp>
        <p:nvSpPr>
          <p:cNvPr id="48" name="">
            <a:extLst xmlns:a="http://schemas.openxmlformats.org/drawingml/2006/main">
              <a:ext uri="{FF2B5EF4-FFF2-40B4-BE49-F238E27FC236}">
                <a16:creationId xmlns:a16="http://schemas.microsoft.com/office/drawing/2014/main" id="{2AF5423B-3FCB-4435-B061-6880C4509F60}"/>
              </a:ext>
            </a:extLst>
          </p:cNvPr>
          <p:cNvSpPr>
            <a:spLocks xmlns:a="http://schemas.openxmlformats.org/drawingml/2006/main" noGrp="1"/>
          </p:cNvSpPr>
          <p:nvPr/>
        </p:nvSpPr>
        <p:spPr>
          <a:xfrm xmlns:a="http://schemas.openxmlformats.org/drawingml/2006/main">
            <a:off x="609600" y="54483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Known scenarios can pass while unseen combinations fail in production.</a:t>
            </a:r>
          </a:p>
        </p:txBody>
      </p:sp>
      <p:sp>
        <p:nvSpPr>
          <p:cNvPr id="49" name="">
            <a:extLst xmlns:a="http://schemas.openxmlformats.org/drawingml/2006/main">
              <a:ext uri="{FF2B5EF4-FFF2-40B4-BE49-F238E27FC236}">
                <a16:creationId xmlns:a16="http://schemas.microsoft.com/office/drawing/2014/main" id="{8F267AED-5FF4-4AC6-A0C1-BC921AECDE5D}"/>
              </a:ext>
            </a:extLst>
          </p:cNvPr>
          <p:cNvSpPr>
            <a:spLocks xmlns:a="http://schemas.openxmlformats.org/drawingml/2006/main" noGrp="1"/>
          </p:cNvSpPr>
          <p:nvPr/>
        </p:nvSpPr>
        <p:spPr>
          <a:xfrm xmlns:a="http://schemas.openxmlformats.org/drawingml/2006/main">
            <a:off x="609600" y="58102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rPr>
              <a:t>ISO/IEC 25059: quality model. ISO/IEC TS 25058: evaluation guidance.</a:t>
            </a:r>
          </a:p>
        </p:txBody>
      </p:sp>
      <p:sp>
        <p:nvSpPr>
          <p:cNvPr id="50" name="">
            <a:extLst xmlns:a="http://schemas.openxmlformats.org/drawingml/2006/main">
              <a:ext uri="{FF2B5EF4-FFF2-40B4-BE49-F238E27FC236}">
                <a16:creationId xmlns:a16="http://schemas.microsoft.com/office/drawing/2014/main" id="{E101482A-E799-4F8D-AA73-7281ED6B527A}"/>
              </a:ext>
            </a:extLst>
          </p:cNvPr>
          <p:cNvSpPr>
            <a:spLocks xmlns:a="http://schemas.openxmlformats.org/drawingml/2006/main" noGrp="1"/>
          </p:cNvSpPr>
          <p:nvPr/>
        </p:nvSpPr>
        <p:spPr>
          <a:xfrm xmlns:a="http://schemas.openxmlformats.org/drawingml/2006/main">
            <a:off x="609600" y="60674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Teams still define semantic criteria, examples, counterexamples and prohibitions.</a:t>
            </a:r>
          </a:p>
        </p:txBody>
      </p:sp>
      <p:sp>
        <p:nvSpPr>
          <p:cNvPr id="51" name="">
            <a:extLst xmlns:a="http://schemas.openxmlformats.org/drawingml/2006/main">
              <a:ext uri="{FF2B5EF4-FFF2-40B4-BE49-F238E27FC236}">
                <a16:creationId xmlns:a16="http://schemas.microsoft.com/office/drawing/2014/main" id="{BEE3C33C-DBD3-43DB-A716-836621CAC4D6}"/>
              </a:ext>
            </a:extLst>
          </p:cNvPr>
          <p:cNvSpPr>
            <a:spLocks xmlns:a="http://schemas.openxmlformats.org/drawingml/2006/main" noGrp="1"/>
          </p:cNvSpPr>
          <p:nvPr/>
        </p:nvSpPr>
        <p:spPr>
          <a:xfrm xmlns:a="http://schemas.openxmlformats.org/drawingml/2006/main">
            <a:off x="609600" y="638175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criteria. QA / Dev: checks. PM: decisions, experts and time.</a:t>
            </a:r>
          </a:p>
        </p:txBody>
      </p:sp>
    </p:spTree>
    <p:extLst>
      <p:ext uri="{BB962C8B-B14F-4D97-AF65-F5344CB8AC3E}">
        <p14:creationId xmlns:p14="http://schemas.microsoft.com/office/powerpoint/2010/main" val="697095126"/>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4096C8E8-36E7-49DF-B751-8784F65CD6C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6B0694B5-DD2D-4633-A5D1-951416F82EA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DF53BFA-2A66-4B84-B870-02CD6266F63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02E041D1-8907-4BF3-A513-4FBF06FD0CA7}"/>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DOMAIN EXPERTS · DEVELOPERS · PRODUCT / PO · PROJECT MANAGER</a:t>
            </a:r>
          </a:p>
        </p:txBody>
      </p:sp>
      <p:sp>
        <p:nvSpPr>
          <p:cNvPr id="5" name="">
            <a:extLst xmlns:a="http://schemas.openxmlformats.org/drawingml/2006/main">
              <a:ext uri="{FF2B5EF4-FFF2-40B4-BE49-F238E27FC236}">
                <a16:creationId xmlns:a16="http://schemas.microsoft.com/office/drawing/2014/main" id="{A065373C-23E9-47C2-816E-90F16DC56FCA}"/>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539E3EEF-1612-4076-9E26-E7E4853F5B58}"/>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908BF6EE-48D4-4274-8594-07519A201D5D}"/>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wrong recovery steps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another user’s private data.</a:t>
            </a:r>
          </a:p>
        </p:txBody>
      </p:sp>
      <p:sp>
        <p:nvSpPr>
          <p:cNvPr id="8" name="">
            <a:extLst xmlns:a="http://schemas.openxmlformats.org/drawingml/2006/main">
              <a:ext uri="{FF2B5EF4-FFF2-40B4-BE49-F238E27FC236}">
                <a16:creationId xmlns:a16="http://schemas.microsoft.com/office/drawing/2014/main" id="{11B0A31E-0D10-4F95-A81F-9F958A78D13A}"/>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5DDD7F48-96D3-47FF-8B4E-BCEA8B47EBA1}"/>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B0CAFB24-9E8A-4DAD-AC4B-E6CBDDF62F98}"/>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92FDBA3-505A-44FA-853F-33B321DA1EFE}"/>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2F714559-542D-465E-BD5D-6BECEF6B25F2}"/>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3FB75DEE-ECE6-4D1C-B3F1-2092BAD1E8BE}"/>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D55F55F1-C2DE-460A-BE7B-BDD2532F3CFD}"/>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6C44F87D-5DB8-467F-B31A-05A89D11ACA4}"/>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6FB701A9-305A-4662-AB0E-AE339A80B90A}"/>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1D8D6CE5-A449-4B39-9D2D-12C6C8B06E32}"/>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37043E53-91D4-47AB-A5E5-47FB88AE695A}"/>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1799E0AE-0E8B-4CE9-8D8C-69B2F9AB554F}"/>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5FA88079-04C3-4306-A72E-93A2F6C27B95}"/>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7A31310A-AF6E-4D6C-BE3F-4ECB43F646A6}"/>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176DC07D-D631-4168-A712-9E6E6B618F11}"/>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C8D6BE80-294D-4376-B3B2-B0C33DC47A76}"/>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80279613-ED58-4DD1-860F-1240DEF33F75}"/>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B4FD44FF-DAAF-484C-8635-284E34EC9013}"/>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DB54AE05-D4BF-4378-BF94-93649E1C5DBA}"/>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09BD2625-FE55-46CF-A055-FBEFCF30B24B}"/>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32C5E9B7-0CE3-483A-BF73-24B592C1C0F8}"/>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F2842654-A1A7-414B-BB74-F99CBAF42814}"/>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824D7C03-E74C-410C-9542-B6B84F09A098}"/>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E94CEFE2-1475-40F3-9257-901EE1D626D1}"/>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7927ED11-9A52-4863-93E0-A223FACBFEEF}"/>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5B9379B7-F9DA-40CB-9CFC-7CD8F1F113D7}"/>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330BB240-3733-4237-BCFC-0C4D1139001E}"/>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3" name="Chart"/>
          <p:cNvGraphicFramePr/>
          <p:nvPr/>
        </p:nvGraphicFramePr>
        <p:xfrm>
          <a:off xmlns:a="http://schemas.openxmlformats.org/drawingml/2006/main" x="609600" y="4800600"/>
          <a:ext xmlns:a="http://schemas.openxmlformats.org/drawingml/2006/main" cx="5143500" cy="1038225"/>
        </p:xfrm>
        <a:graphic xmlns:a="http://schemas.openxmlformats.org/drawingml/2006/main">
          <a:graphicData uri="http://schemas.openxmlformats.org/drawingml/2006/chart">
            <c:chart xmlns:r="http://schemas.openxmlformats.org/officeDocument/2006/relationships" xmlns:c="http://schemas.openxmlformats.org/drawingml/2006/chart" r:id="R7eb9f4f78216436c"/>
          </a:graphicData>
        </a:graphic>
      </p:graphicFrame>
      <p:sp>
        <p:nvSpPr>
          <p:cNvPr id="36" name="">
            <a:extLst xmlns:a="http://schemas.openxmlformats.org/drawingml/2006/main">
              <a:ext uri="{FF2B5EF4-FFF2-40B4-BE49-F238E27FC236}">
                <a16:creationId xmlns:a16="http://schemas.microsoft.com/office/drawing/2014/main" id="{21F1C814-C8AC-4441-BA63-261B40E4531D}"/>
              </a:ext>
            </a:extLst>
          </p:cNvPr>
          <p:cNvSpPr>
            <a:spLocks xmlns:a="http://schemas.openxmlformats.org/drawingml/2006/main" noGrp="1"/>
          </p:cNvSpPr>
          <p:nvPr/>
        </p:nvSpPr>
        <p:spPr>
          <a:xfrm xmlns:a="http://schemas.openxmlformats.org/drawingml/2006/main">
            <a:off x="1095375" y="46101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196 (98%)</a:t>
            </a:r>
          </a:p>
        </p:txBody>
      </p:sp>
      <p:sp>
        <p:nvSpPr>
          <p:cNvPr id="37" name="">
            <a:extLst xmlns:a="http://schemas.openxmlformats.org/drawingml/2006/main">
              <a:ext uri="{FF2B5EF4-FFF2-40B4-BE49-F238E27FC236}">
                <a16:creationId xmlns:a16="http://schemas.microsoft.com/office/drawing/2014/main" id="{53C67369-1BC5-47DE-B816-03A83027BB50}"/>
              </a:ext>
            </a:extLst>
          </p:cNvPr>
          <p:cNvSpPr>
            <a:spLocks xmlns:a="http://schemas.openxmlformats.org/drawingml/2006/main" noGrp="1"/>
          </p:cNvSpPr>
          <p:nvPr/>
        </p:nvSpPr>
        <p:spPr>
          <a:xfrm xmlns:a="http://schemas.openxmlformats.org/drawingml/2006/main">
            <a:off x="26574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3 (1.5%)</a:t>
            </a:r>
          </a:p>
        </p:txBody>
      </p:sp>
      <p:sp>
        <p:nvSpPr>
          <p:cNvPr id="38" name="">
            <a:extLst xmlns:a="http://schemas.openxmlformats.org/drawingml/2006/main">
              <a:ext uri="{FF2B5EF4-FFF2-40B4-BE49-F238E27FC236}">
                <a16:creationId xmlns:a16="http://schemas.microsoft.com/office/drawing/2014/main" id="{ED3869C1-51F0-47F5-B0BA-7757218ADFD9}"/>
              </a:ext>
            </a:extLst>
          </p:cNvPr>
          <p:cNvSpPr>
            <a:spLocks xmlns:a="http://schemas.openxmlformats.org/drawingml/2006/main" noGrp="1"/>
          </p:cNvSpPr>
          <p:nvPr/>
        </p:nvSpPr>
        <p:spPr>
          <a:xfrm xmlns:a="http://schemas.openxmlformats.org/drawingml/2006/main">
            <a:off x="42195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 (0.5%)</a:t>
            </a:r>
          </a:p>
        </p:txBody>
      </p:sp>
      <p:sp>
        <p:nvSpPr>
          <p:cNvPr id="39" name="">
            <a:extLst xmlns:a="http://schemas.openxmlformats.org/drawingml/2006/main">
              <a:ext uri="{FF2B5EF4-FFF2-40B4-BE49-F238E27FC236}">
                <a16:creationId xmlns:a16="http://schemas.microsoft.com/office/drawing/2014/main" id="{00A52129-DFCB-4EA9-8A85-AAE717B7C2F5}"/>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82820699-6BDF-4CE9-96F1-45833BE35322}"/>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41" name="">
            <a:extLst xmlns:a="http://schemas.openxmlformats.org/drawingml/2006/main">
              <a:ext uri="{FF2B5EF4-FFF2-40B4-BE49-F238E27FC236}">
                <a16:creationId xmlns:a16="http://schemas.microsoft.com/office/drawing/2014/main" id="{8E44055C-3CC9-4C27-97ED-65962D8C160C}"/>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Any contract violation</a:t>
            </a:r>
          </a:p>
        </p:txBody>
      </p:sp>
      <p:sp>
        <p:nvSpPr>
          <p:cNvPr id="42" name="">
            <a:extLst xmlns:a="http://schemas.openxmlformats.org/drawingml/2006/main">
              <a:ext uri="{FF2B5EF4-FFF2-40B4-BE49-F238E27FC236}">
                <a16:creationId xmlns:a16="http://schemas.microsoft.com/office/drawing/2014/main" id="{7E065588-F364-431A-A2D2-3CB315D54E44}"/>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3" name="">
            <a:extLst xmlns:a="http://schemas.openxmlformats.org/drawingml/2006/main">
              <a:ext uri="{FF2B5EF4-FFF2-40B4-BE49-F238E27FC236}">
                <a16:creationId xmlns:a16="http://schemas.microsoft.com/office/drawing/2014/main" id="{0E56C2A0-B13E-4574-B882-94EA5B4F64C9}"/>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4" name="">
            <a:extLst xmlns:a="http://schemas.openxmlformats.org/drawingml/2006/main">
              <a:ext uri="{FF2B5EF4-FFF2-40B4-BE49-F238E27FC236}">
                <a16:creationId xmlns:a16="http://schemas.microsoft.com/office/drawing/2014/main" id="{C98EBBEF-A3EF-4C21-9394-C495D0DBA70F}"/>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5" name="">
            <a:extLst xmlns:a="http://schemas.openxmlformats.org/drawingml/2006/main">
              <a:ext uri="{FF2B5EF4-FFF2-40B4-BE49-F238E27FC236}">
                <a16:creationId xmlns:a16="http://schemas.microsoft.com/office/drawing/2014/main" id="{BAD73FC2-6EF3-4DF3-B1AC-813D81AEFB6C}"/>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6" name="">
            <a:extLst xmlns:a="http://schemas.openxmlformats.org/drawingml/2006/main">
              <a:ext uri="{FF2B5EF4-FFF2-40B4-BE49-F238E27FC236}">
                <a16:creationId xmlns:a16="http://schemas.microsoft.com/office/drawing/2014/main" id="{B0454162-99EB-4ECF-8BC3-FB505542EA5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 known scenarios. Representative sample: estimate error rates.</a:t>
            </a:r>
          </a:p>
        </p:txBody>
      </p:sp>
      <p:sp>
        <p:nvSpPr>
          <p:cNvPr id="47" name="">
            <a:extLst xmlns:a="http://schemas.openxmlformats.org/drawingml/2006/main">
              <a:ext uri="{FF2B5EF4-FFF2-40B4-BE49-F238E27FC236}">
                <a16:creationId xmlns:a16="http://schemas.microsoft.com/office/drawing/2014/main" id="{6801E986-52CD-4DC4-BFD0-D51E6A861214}"/>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scoring. Eval Gates compare evidence with release criteria.</a:t>
            </a:r>
          </a:p>
        </p:txBody>
      </p:sp>
      <p:sp>
        <p:nvSpPr>
          <p:cNvPr id="48" name="">
            <a:extLst xmlns:a="http://schemas.openxmlformats.org/drawingml/2006/main">
              <a:ext uri="{FF2B5EF4-FFF2-40B4-BE49-F238E27FC236}">
                <a16:creationId xmlns:a16="http://schemas.microsoft.com/office/drawing/2014/main" id="{80EFF33C-0656-4415-8EB5-99C5C9D79214}"/>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 low average error rate does not excuse a prohibited disclosure.</a:t>
            </a:r>
          </a:p>
        </p:txBody>
      </p:sp>
    </p:spTree>
    <p:extLst>
      <p:ext uri="{BB962C8B-B14F-4D97-AF65-F5344CB8AC3E}">
        <p14:creationId xmlns:p14="http://schemas.microsoft.com/office/powerpoint/2010/main" val="1288085893"/>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DF5A70-CABB-43D0-8104-20B2830265C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CFD22F6D-9258-410E-B27B-8D0F4EB6BF9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D42FECE-97C5-4927-8E0E-EC997377E16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1BCC7E52-8FA5-4B69-91D2-93DC5177F87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 PO + BA · DEVELOPERS + QA · PROJECT MANAGER · OPERATIONS</a:t>
            </a:r>
          </a:p>
        </p:txBody>
      </p:sp>
      <p:sp>
        <p:nvSpPr>
          <p:cNvPr id="5" name="">
            <a:extLst xmlns:a="http://schemas.openxmlformats.org/drawingml/2006/main">
              <a:ext uri="{FF2B5EF4-FFF2-40B4-BE49-F238E27FC236}">
                <a16:creationId xmlns:a16="http://schemas.microsoft.com/office/drawing/2014/main" id="{4A03868C-FDB1-43B5-AA73-359BEDBBE051}"/>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Thinking Systems add behavioral limits, cost envelopes and statistical evidence to delivery contracts.</a:t>
            </a:r>
          </a:p>
        </p:txBody>
      </p:sp>
      <p:graphicFrame>
        <p:nvGraphicFramePr>
          <p:cNvPr id="14" name=""/>
          <p:cNvGraphicFramePr/>
          <p:nvPr/>
        </p:nvGraphicFramePr>
        <p:xfrm>
          <a:off xmlns:a="http://schemas.openxmlformats.org/drawingml/2006/main" x="609600" y="2409825"/>
          <a:ext xmlns:a="http://schemas.openxmlformats.org/drawingml/2006/main" cx="10972800" cy="3276600"/>
        </p:xfrm>
        <a:graphic xmlns:a="http://schemas.openxmlformats.org/drawingml/2006/main">
          <a:graphicData uri="http://schemas.openxmlformats.org/drawingml/2006/table">
            <a:tbl>
              <a:tblPr/>
              <a:tblGrid>
                <a:gridCol w="1381125"/>
                <a:gridCol w="4000500"/>
                <a:gridCol w="5591175"/>
              </a:tblGrid>
              <a:tr h="381000">
                <a:tc>
                  <a:txBody>
                    <a:bodyPr lIns="171450" tIns="66675" rIns="171450" bIns="66675">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971550">
                <a:tc>
                  <a:txBody>
                    <a:bodyPr lIns="171450" tIns="66675" rIns="171450" bIns="66675">
                      <a:noAutofit/>
                    </a:bodyPr>
                    <a:lstStyle/>
                    <a:p>
                      <a:r>
                        <a:rPr sz="1500" b="1">
                          <a:solidFill>
                            <a:srgbClr val="F4F7FA"/>
                          </a:solidFill>
                          <a:latin typeface="Arial"/>
                          <a:ea typeface="Arial"/>
                          <a:cs typeface="Arial"/>
                        </a:rPr>
                        <a:t>DoR</a:t>
                      </a:r>
                    </a:p>
                    <a:p>
                      <a:r>
                        <a:rPr sz="1500" b="1">
                          <a:solidFill>
                            <a:srgbClr val="F4F7FA"/>
                          </a:solidFill>
                          <a:latin typeface="Arial"/>
                          <a:ea typeface="Arial"/>
                          <a:cs typeface="Arial"/>
                        </a:rPr>
                        <a:t>READY</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Specified behavior + acceptance criteria</a:t>
                      </a:r>
                    </a:p>
                    <a:p>
                      <a:r>
                        <a:rPr sz="1500" b="0">
                          <a:solidFill>
                            <a:srgbClr val="F4F7FA"/>
                          </a:solidFill>
                          <a:latin typeface="Arial"/>
                          <a:ea typeface="Arial"/>
                          <a:cs typeface="Arial"/>
                        </a:rPr>
                        <a:t>Dependencies and feasibility</a:t>
                      </a:r>
                    </a:p>
                    <a:p>
                      <a:r>
                        <a:rPr sz="1500" b="0">
                          <a:solidFill>
                            <a:srgbClr val="F4F7FA"/>
                          </a:solidFill>
                          <a:latin typeface="Arial"/>
                          <a:ea typeface="Arial"/>
                          <a:cs typeface="Arial"/>
                        </a:rPr>
                        <a:t>Test approach and operating limits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Business tolerances + prohibited outcomes</a:t>
                      </a:r>
                    </a:p>
                    <a:p>
                      <a:r>
                        <a:rPr sz="1500" b="0">
                          <a:solidFill>
                            <a:srgbClr val="28C7F7"/>
                          </a:solidFill>
                          <a:latin typeface="Arial"/>
                          <a:ea typeface="Arial"/>
                          <a:cs typeface="Arial"/>
                        </a:rPr>
                        <a:t>Golden Set, sampling and control / HITL plan</a:t>
                      </a:r>
                    </a:p>
                    <a:p>
                      <a:r>
                        <a:rPr sz="1500" b="0">
                          <a:solidFill>
                            <a:srgbClr val="28C7F7"/>
                          </a:solidFill>
                          <a:latin typeface="Arial"/>
                          <a:ea typeface="Arial"/>
                          <a:cs typeface="Arial"/>
                        </a:rPr>
                        <a:t>Cost, latency and response-capacity budget</a:t>
                      </a:r>
                    </a:p>
                  </a:txBody>
                  <a:tcPr marL="91440" marR="91440" marT="45720" marB="45720" anchor="ctr">
                    <a:solidFill>
                      <a:srgbClr val="0B0F14"/>
                    </a:solidFill>
                  </a:tcPr>
                </a:tc>
              </a:tr>
              <a:tr h="971550">
                <a:tc>
                  <a:txBody>
                    <a:bodyPr lIns="171450" tIns="66675" rIns="171450" bIns="66675">
                      <a:noAutofit/>
                    </a:bodyPr>
                    <a:lstStyle/>
                    <a:p>
                      <a:r>
                        <a:rPr sz="1500" b="1">
                          <a:solidFill>
                            <a:srgbClr val="F4F7FA"/>
                          </a:solidFill>
                          <a:latin typeface="Arial"/>
                          <a:ea typeface="Arial"/>
                          <a:cs typeface="Arial"/>
                        </a:rPr>
                        <a:t>DoD</a:t>
                      </a:r>
                    </a:p>
                    <a:p>
                      <a:r>
                        <a:rPr sz="1500" b="1">
                          <a:solidFill>
                            <a:srgbClr val="F4F7FA"/>
                          </a:solidFill>
                          <a:latin typeface="Arial"/>
                          <a:ea typeface="Arial"/>
                          <a:cs typeface="Arial"/>
                        </a:rPr>
                        <a:t>DONE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Implementation reviewed</a:t>
                      </a:r>
                    </a:p>
                    <a:p>
                      <a:r>
                        <a:rPr sz="1500" b="0">
                          <a:solidFill>
                            <a:srgbClr val="F4F7FA"/>
                          </a:solidFill>
                          <a:latin typeface="Arial"/>
                          <a:ea typeface="Arial"/>
                          <a:cs typeface="Arial"/>
                        </a:rPr>
                        <a:t>Required tests + acceptance checks pass</a:t>
                      </a:r>
                    </a:p>
                    <a:p>
                      <a:r>
                        <a:rPr sz="1500" b="0">
                          <a:solidFill>
                            <a:srgbClr val="F4F7FA"/>
                          </a:solidFill>
                          <a:latin typeface="Arial"/>
                          <a:ea typeface="Arial"/>
                          <a:cs typeface="Arial"/>
                        </a:rPr>
                        <a:t>Operational handover complete</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Eval Gates meet approved criteria</a:t>
                      </a:r>
                    </a:p>
                    <a:p>
                      <a:r>
                        <a:rPr sz="1500" b="0">
                          <a:solidFill>
                            <a:srgbClr val="28C7F7"/>
                          </a:solidFill>
                          <a:latin typeface="Arial"/>
                          <a:ea typeface="Arial"/>
                          <a:cs typeface="Arial"/>
                        </a:rPr>
                        <a:t>Coverage + uncertainty documented</a:t>
                      </a:r>
                    </a:p>
                    <a:p>
                      <a:r>
                        <a:rPr sz="1500" b="0">
                          <a:solidFill>
                            <a:srgbClr val="28C7F7"/>
                          </a:solidFill>
                          <a:latin typeface="Arial"/>
                          <a:ea typeface="Arial"/>
                          <a:cs typeface="Arial"/>
                        </a:rPr>
                        <a:t>Controls / human fallback tested within budget</a:t>
                      </a:r>
                    </a:p>
                  </a:txBody>
                  <a:tcPr marL="91440" marR="91440" marT="45720" marB="45720" anchor="ctr">
                    <a:solidFill>
                      <a:srgbClr val="0B0F14"/>
                    </a:solidFill>
                  </a:tcPr>
                </a:tc>
              </a:tr>
              <a:tr h="952500">
                <a:tc>
                  <a:txBody>
                    <a:bodyPr lIns="171450" tIns="66675" rIns="171450" bIns="66675">
                      <a:noAutofit/>
                    </a:bodyPr>
                    <a:lstStyle/>
                    <a:p>
                      <a:r>
                        <a:rPr sz="1500" b="1">
                          <a:solidFill>
                            <a:srgbClr val="F4F7FA"/>
                          </a:solidFill>
                          <a:latin typeface="Arial"/>
                          <a:ea typeface="Arial"/>
                          <a:cs typeface="Arial"/>
                        </a:rPr>
                        <a:t>RELEASE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Decision against agreed criteria</a:t>
                      </a:r>
                    </a:p>
                    <a:p>
                      <a:r>
                        <a:rPr sz="1500" b="0">
                          <a:solidFill>
                            <a:srgbClr val="F4F7FA"/>
                          </a:solidFill>
                          <a:latin typeface="Arial"/>
                          <a:ea typeface="Arial"/>
                          <a:cs typeface="Arial"/>
                        </a:rPr>
                        <a:t>Operational owner accepts the handover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Error bounds + residual risk accepted</a:t>
                      </a:r>
                    </a:p>
                    <a:p>
                      <a:r>
                        <a:rPr sz="1500" b="0">
                          <a:solidFill>
                            <a:srgbClr val="28C7F7"/>
                          </a:solidFill>
                          <a:latin typeface="Arial"/>
                          <a:ea typeface="Arial"/>
                          <a:cs typeface="Arial"/>
                        </a:rPr>
                        <a:t>Monitoring, response and rollback ready</a:t>
                      </a:r>
                    </a:p>
                    <a:p>
                      <a:r>
                        <a:rPr sz="1500" b="0">
                          <a:solidFill>
                            <a:srgbClr val="28C7F7"/>
                          </a:solidFill>
                          <a:latin typeface="Arial"/>
                          <a:ea typeface="Arial"/>
                          <a:cs typeface="Arial"/>
                        </a:rPr>
                        <a:t>Incidents update regression / gates / monitors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65F09533-472C-4321-B50C-2E8DF31EFD21}"/>
              </a:ext>
            </a:extLst>
          </p:cNvPr>
          <p:cNvSpPr>
            <a:spLocks xmlns:a="http://schemas.openxmlformats.org/drawingml/2006/main" noGrp="1"/>
          </p:cNvSpPr>
          <p:nvPr/>
        </p:nvSpPr>
        <p:spPr>
          <a:xfrm xmlns:a="http://schemas.openxmlformats.org/drawingml/2006/main">
            <a:off x="609600" y="58102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is a team practice. DoD is a quality commitment. Release is an authorized decision.</a:t>
            </a:r>
          </a:p>
        </p:txBody>
      </p:sp>
      <p:sp>
        <p:nvSpPr>
          <p:cNvPr id="8" name="">
            <a:extLst xmlns:a="http://schemas.openxmlformats.org/drawingml/2006/main">
              <a:ext uri="{FF2B5EF4-FFF2-40B4-BE49-F238E27FC236}">
                <a16:creationId xmlns:a16="http://schemas.microsoft.com/office/drawing/2014/main" id="{EB260D3B-A3EB-40E0-89C8-64A99EFA3867}"/>
              </a:ext>
            </a:extLst>
          </p:cNvPr>
          <p:cNvSpPr>
            <a:spLocks xmlns:a="http://schemas.openxmlformats.org/drawingml/2006/main" noGrp="1"/>
          </p:cNvSpPr>
          <p:nvPr/>
        </p:nvSpPr>
        <p:spPr>
          <a:xfrm xmlns:a="http://schemas.openxmlformats.org/drawingml/2006/main">
            <a:off x="609600" y="6191250"/>
            <a:ext cx="10648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Beyond a green run: measured behavior within approved limits,</a:t>
            </a:r>
          </a:p>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with a complete, operable control loop.</a:t>
            </a:r>
          </a:p>
        </p:txBody>
      </p:sp>
    </p:spTree>
    <p:extLst>
      <p:ext uri="{BB962C8B-B14F-4D97-AF65-F5344CB8AC3E}">
        <p14:creationId xmlns:p14="http://schemas.microsoft.com/office/powerpoint/2010/main" val="859742892"/>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52" name=""/>
          <p:cNvCxnSpPr>
            <a:stCxn xmlns:a="http://schemas.openxmlformats.org/drawingml/2006/main" id="37" idx="1"/>
            <a:endCxn xmlns:a="http://schemas.openxmlformats.org/drawingml/2006/main" id="39" idx="3"/>
          </p:cNvCxnSpPr>
          <p:nvPr/>
        </p:nvCxnSpPr>
        <p:spPr>
          <a:xfrm xmlns:a="http://schemas.openxmlformats.org/drawingml/2006/main" flipH="1">
            <a:off x="8705850" y="4510088"/>
            <a:ext cx="5334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3" name=""/>
          <p:cNvCxnSpPr>
            <a:stCxn xmlns:a="http://schemas.openxmlformats.org/drawingml/2006/main" id="25" idx="2"/>
            <a:endCxn xmlns:a="http://schemas.openxmlformats.org/drawingml/2006/main" id="37" idx="0"/>
          </p:cNvCxnSpPr>
          <p:nvPr/>
        </p:nvCxnSpPr>
        <p:spPr>
          <a:xfrm xmlns:a="http://schemas.openxmlformats.org/drawingml/2006/main">
            <a:off x="10410825" y="3352800"/>
            <a:ext cx="0" cy="8286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4" name=""/>
          <p:cNvCxnSpPr>
            <a:stCxn xmlns:a="http://schemas.openxmlformats.org/drawingml/2006/main" id="23" idx="3"/>
            <a:endCxn xmlns:a="http://schemas.openxmlformats.org/drawingml/2006/main" id="25" idx="1"/>
          </p:cNvCxnSpPr>
          <p:nvPr/>
        </p:nvCxnSpPr>
        <p:spPr>
          <a:xfrm xmlns:a="http://schemas.openxmlformats.org/drawingml/2006/main">
            <a:off x="8953500"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cxnSp>
        <p:nvCxnSpPr>
          <p:cNvPr id="55" name=""/>
          <p:cNvCxnSpPr>
            <a:stCxn xmlns:a="http://schemas.openxmlformats.org/drawingml/2006/main" id="21" idx="3"/>
            <a:endCxn xmlns:a="http://schemas.openxmlformats.org/drawingml/2006/main" id="23" idx="1"/>
          </p:cNvCxnSpPr>
          <p:nvPr/>
        </p:nvCxnSpPr>
        <p:spPr>
          <a:xfrm xmlns:a="http://schemas.openxmlformats.org/drawingml/2006/main">
            <a:off x="6705600"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cxnSp>
        <p:nvCxnSpPr>
          <p:cNvPr id="56" name=""/>
          <p:cNvCxnSpPr>
            <a:stCxn xmlns:a="http://schemas.openxmlformats.org/drawingml/2006/main" id="19" idx="3"/>
            <a:endCxn xmlns:a="http://schemas.openxmlformats.org/drawingml/2006/main" id="21" idx="1"/>
          </p:cNvCxnSpPr>
          <p:nvPr/>
        </p:nvCxnSpPr>
        <p:spPr>
          <a:xfrm xmlns:a="http://schemas.openxmlformats.org/drawingml/2006/main">
            <a:off x="4391025"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cxnSp>
        <p:nvCxnSpPr>
          <p:cNvPr id="57" name=""/>
          <p:cNvCxnSpPr>
            <a:stCxn xmlns:a="http://schemas.openxmlformats.org/drawingml/2006/main" id="17" idx="3"/>
            <a:endCxn xmlns:a="http://schemas.openxmlformats.org/drawingml/2006/main" id="19" idx="1"/>
          </p:cNvCxnSpPr>
          <p:nvPr/>
        </p:nvCxnSpPr>
        <p:spPr>
          <a:xfrm xmlns:a="http://schemas.openxmlformats.org/drawingml/2006/main">
            <a:off x="2247900" y="3000375"/>
            <a:ext cx="285750" cy="0"/>
          </a:xfrm>
          <a:prstGeom xmlns:a="http://schemas.openxmlformats.org/drawingml/2006/main" prst="straightConnector1">
            <a:avLst/>
          </a:prstGeom>
          <a:ln xmlns:a="http://schemas.openxmlformats.org/drawingml/2006/main" w="19050">
            <a:solidFill>
              <a:srgbClr val="28C7F7"/>
            </a:solidFill>
            <a:prstDash val="solid"/>
            <a:tailEnd type="triangle" w="sm" len="sm"/>
          </a:ln>
        </p:spPr>
      </p:cxnSp>
      <p:sp>
        <p:nvSpPr>
          <p:cNvPr id="58" name="">
            <a:extLst xmlns:a="http://schemas.openxmlformats.org/drawingml/2006/main">
              <a:ext uri="{FF2B5EF4-FFF2-40B4-BE49-F238E27FC236}">
                <a16:creationId xmlns:a16="http://schemas.microsoft.com/office/drawing/2014/main" id="{D1685580-2D1F-4A9F-9B8E-233ADDC2DE6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12BA7707-C2ED-4152-A23B-10486E02AD93}"/>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21689E8-EE2D-49B2-9BDF-914D32E9BCE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4BBD3791-5A83-448B-B1E0-69D834CD7BB2}"/>
              </a:ext>
            </a:extLst>
          </p:cNvPr>
          <p:cNvSpPr>
            <a:spLocks xmlns:a="http://schemas.openxmlformats.org/drawingml/2006/main" noGrp="1"/>
          </p:cNvSpPr>
          <p:nvPr/>
        </p:nvSpPr>
        <p:spPr>
          <a:xfrm xmlns:a="http://schemas.openxmlformats.org/drawingml/2006/main">
            <a:off x="609600" y="11525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Validate control effectiveness. Telemetry alone does not establish correctness.</a:t>
            </a:r>
          </a:p>
        </p:txBody>
      </p:sp>
      <p:sp>
        <p:nvSpPr>
          <p:cNvPr id="5" name="">
            <a:extLst xmlns:a="http://schemas.openxmlformats.org/drawingml/2006/main">
              <a:ext uri="{FF2B5EF4-FFF2-40B4-BE49-F238E27FC236}">
                <a16:creationId xmlns:a16="http://schemas.microsoft.com/office/drawing/2014/main" id="{CF794562-EFCD-48E7-B673-4A54B5E941A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ARCHITECT + DEV: implement · QA: verify · SERVICE OWNER: operate · PM: dependencies</a:t>
            </a:r>
          </a:p>
        </p:txBody>
      </p:sp>
      <p:sp>
        <p:nvSpPr>
          <p:cNvPr id="6" name="">
            <a:extLst xmlns:a="http://schemas.openxmlformats.org/drawingml/2006/main">
              <a:ext uri="{FF2B5EF4-FFF2-40B4-BE49-F238E27FC236}">
                <a16:creationId xmlns:a16="http://schemas.microsoft.com/office/drawing/2014/main" id="{F6F44DE8-77D2-4A5D-BB74-0B98B9923224}"/>
              </a:ext>
            </a:extLst>
          </p:cNvPr>
          <p:cNvSpPr>
            <a:spLocks xmlns:a="http://schemas.openxmlformats.org/drawingml/2006/main" noGrp="1"/>
          </p:cNvSpPr>
          <p:nvPr/>
        </p:nvSpPr>
        <p:spPr>
          <a:xfrm xmlns:a="http://schemas.openxmlformats.org/drawingml/2006/main">
            <a:off x="609600" y="20764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IT ASSISTANT: CONTROL BEFORE ACTION AND AFTER DEPLOYMENT</a:t>
            </a:r>
          </a:p>
        </p:txBody>
      </p:sp>
      <p:sp>
        <p:nvSpPr>
          <p:cNvPr id="7" name="">
            <a:extLst xmlns:a="http://schemas.openxmlformats.org/drawingml/2006/main">
              <a:ext uri="{FF2B5EF4-FFF2-40B4-BE49-F238E27FC236}">
                <a16:creationId xmlns:a16="http://schemas.microsoft.com/office/drawing/2014/main" id="{F2A7AC9A-1A44-41BD-9205-E54FF8F59E46}"/>
              </a:ext>
            </a:extLst>
          </p:cNvPr>
          <p:cNvSpPr>
            <a:spLocks xmlns:a="http://schemas.openxmlformats.org/drawingml/2006/main" noGrp="1"/>
          </p:cNvSpPr>
          <p:nvPr/>
        </p:nvSpPr>
        <p:spPr>
          <a:xfrm xmlns:a="http://schemas.openxmlformats.org/drawingml/2006/main">
            <a:off x="457200" y="2476500"/>
            <a:ext cx="5233988" cy="2033588"/>
          </a:xfrm>
          <a:custGeom xmlns:a="http://schemas.openxmlformats.org/drawingml/2006/main">
            <a:pathLst>
              <a:path w="5233988" h="2033588">
                <a:moveTo>
                  <a:pt x="152400" y="2033588"/>
                </a:moveTo>
                <a:lnTo>
                  <a:pt x="0" y="2033588"/>
                </a:lnTo>
                <a:lnTo>
                  <a:pt x="0" y="0"/>
                </a:lnTo>
                <a:lnTo>
                  <a:pt x="5233988" y="0"/>
                </a:lnTo>
                <a:lnTo>
                  <a:pt x="5233988" y="171450"/>
                </a:lnTo>
              </a:path>
            </a:pathLst>
          </a:custGeom>
          <a:noFill xmlns:a="http://schemas.openxmlformats.org/drawingml/2006/main"/>
          <a:ln xmlns:a="http://schemas.openxmlformats.org/drawingml/2006/main" w="19050">
            <a:solidFill>
              <a:srgbClr val="ADB8C5"/>
            </a:solidFill>
            <a:prstDash val="solid"/>
          </a:ln>
        </p:spPr>
      </p:sp>
      <p:sp>
        <p:nvSpPr>
          <p:cNvPr id="8" name="">
            <a:extLst xmlns:a="http://schemas.openxmlformats.org/drawingml/2006/main">
              <a:ext uri="{FF2B5EF4-FFF2-40B4-BE49-F238E27FC236}">
                <a16:creationId xmlns:a16="http://schemas.microsoft.com/office/drawing/2014/main" id="{37B07775-13D4-4E6A-BB58-268666DFB516}"/>
              </a:ext>
            </a:extLst>
          </p:cNvPr>
          <p:cNvSpPr>
            <a:spLocks xmlns:a="http://schemas.openxmlformats.org/drawingml/2006/main" noGrp="1"/>
          </p:cNvSpPr>
          <p:nvPr/>
        </p:nvSpPr>
        <p:spPr>
          <a:xfrm xmlns:a="http://schemas.openxmlformats.org/drawingml/2006/main">
            <a:off x="5672138" y="2600325"/>
            <a:ext cx="38100" cy="47625"/>
          </a:xfrm>
          <a:custGeom xmlns:a="http://schemas.openxmlformats.org/drawingml/2006/main">
            <a:pathLst>
              <a:path w="38100" h="47625">
                <a:moveTo>
                  <a:pt x="19050" y="47625"/>
                </a:moveTo>
                <a:lnTo>
                  <a:pt x="0" y="0"/>
                </a:lnTo>
                <a:lnTo>
                  <a:pt x="38100" y="0"/>
                </a:lnTo>
                <a:close/>
              </a:path>
            </a:pathLst>
          </a:custGeom>
          <a:solidFill xmlns:a="http://schemas.openxmlformats.org/drawingml/2006/main">
            <a:srgbClr val="ADB8C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4B05BF4-600F-4F4B-9E8D-FD9203647FE3}"/>
              </a:ext>
            </a:extLst>
          </p:cNvPr>
          <p:cNvSpPr>
            <a:spLocks xmlns:a="http://schemas.openxmlformats.org/drawingml/2006/main" noGrp="1"/>
          </p:cNvSpPr>
          <p:nvPr/>
        </p:nvSpPr>
        <p:spPr>
          <a:xfrm xmlns:a="http://schemas.openxmlformats.org/drawingml/2006/main">
            <a:off x="4657725" y="3352800"/>
            <a:ext cx="1033463" cy="828675"/>
          </a:xfrm>
          <a:custGeom xmlns:a="http://schemas.openxmlformats.org/drawingml/2006/main">
            <a:pathLst>
              <a:path w="1033463" h="828675">
                <a:moveTo>
                  <a:pt x="1033463" y="0"/>
                </a:moveTo>
                <a:lnTo>
                  <a:pt x="1033463" y="285750"/>
                </a:lnTo>
                <a:lnTo>
                  <a:pt x="0" y="285750"/>
                </a:lnTo>
                <a:lnTo>
                  <a:pt x="0" y="828675"/>
                </a:lnTo>
              </a:path>
            </a:pathLst>
          </a:custGeom>
          <a:noFill xmlns:a="http://schemas.openxmlformats.org/drawingml/2006/main"/>
          <a:ln xmlns:a="http://schemas.openxmlformats.org/drawingml/2006/main" w="19050">
            <a:solidFill>
              <a:srgbClr val="F5B61C"/>
            </a:solidFill>
            <a:prstDash val="solid"/>
          </a:ln>
        </p:spPr>
      </p:sp>
      <p:sp>
        <p:nvSpPr>
          <p:cNvPr id="10" name="">
            <a:extLst xmlns:a="http://schemas.openxmlformats.org/drawingml/2006/main">
              <a:ext uri="{FF2B5EF4-FFF2-40B4-BE49-F238E27FC236}">
                <a16:creationId xmlns:a16="http://schemas.microsoft.com/office/drawing/2014/main" id="{050B3F5D-6FB4-4B84-A02C-0C641BA3D848}"/>
              </a:ext>
            </a:extLst>
          </p:cNvPr>
          <p:cNvSpPr>
            <a:spLocks xmlns:a="http://schemas.openxmlformats.org/drawingml/2006/main" noGrp="1"/>
          </p:cNvSpPr>
          <p:nvPr/>
        </p:nvSpPr>
        <p:spPr>
          <a:xfrm xmlns:a="http://schemas.openxmlformats.org/drawingml/2006/main">
            <a:off x="4638675" y="4133850"/>
            <a:ext cx="38100" cy="47625"/>
          </a:xfrm>
          <a:custGeom xmlns:a="http://schemas.openxmlformats.org/drawingml/2006/main">
            <a:pathLst>
              <a:path w="38100" h="47625">
                <a:moveTo>
                  <a:pt x="19050" y="47625"/>
                </a:moveTo>
                <a:lnTo>
                  <a:pt x="0" y="0"/>
                </a:lnTo>
                <a:lnTo>
                  <a:pt x="38100" y="0"/>
                </a:lnTo>
                <a:close/>
              </a:path>
            </a:pathLst>
          </a:custGeom>
          <a:solidFill xmlns:a="http://schemas.openxmlformats.org/drawingml/2006/main">
            <a:srgbClr val="F5B61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4E8CB6-86AF-47CC-8D4E-CF0DA5062565}"/>
              </a:ext>
            </a:extLst>
          </p:cNvPr>
          <p:cNvSpPr>
            <a:spLocks xmlns:a="http://schemas.openxmlformats.org/drawingml/2006/main" noGrp="1"/>
          </p:cNvSpPr>
          <p:nvPr/>
        </p:nvSpPr>
        <p:spPr>
          <a:xfrm xmlns:a="http://schemas.openxmlformats.org/drawingml/2006/main">
            <a:off x="3462338" y="3352800"/>
            <a:ext cx="1195388" cy="828675"/>
          </a:xfrm>
          <a:custGeom xmlns:a="http://schemas.openxmlformats.org/drawingml/2006/main">
            <a:pathLst>
              <a:path w="1195388" h="828675">
                <a:moveTo>
                  <a:pt x="0" y="0"/>
                </a:moveTo>
                <a:lnTo>
                  <a:pt x="0" y="485775"/>
                </a:lnTo>
                <a:lnTo>
                  <a:pt x="1195388" y="485775"/>
                </a:lnTo>
                <a:lnTo>
                  <a:pt x="1195388" y="828675"/>
                </a:lnTo>
              </a:path>
            </a:pathLst>
          </a:custGeom>
          <a:noFill xmlns:a="http://schemas.openxmlformats.org/drawingml/2006/main"/>
          <a:ln xmlns:a="http://schemas.openxmlformats.org/drawingml/2006/main" w="19050">
            <a:solidFill>
              <a:srgbClr val="F5B61C"/>
            </a:solidFill>
            <a:prstDash val="solid"/>
          </a:ln>
        </p:spPr>
      </p:sp>
      <p:sp>
        <p:nvSpPr>
          <p:cNvPr id="12" name="">
            <a:extLst xmlns:a="http://schemas.openxmlformats.org/drawingml/2006/main">
              <a:ext uri="{FF2B5EF4-FFF2-40B4-BE49-F238E27FC236}">
                <a16:creationId xmlns:a16="http://schemas.microsoft.com/office/drawing/2014/main" id="{6B0EE5F9-05AA-4CCA-8C64-C9EADBC29FDA}"/>
              </a:ext>
            </a:extLst>
          </p:cNvPr>
          <p:cNvSpPr>
            <a:spLocks xmlns:a="http://schemas.openxmlformats.org/drawingml/2006/main" noGrp="1"/>
          </p:cNvSpPr>
          <p:nvPr/>
        </p:nvSpPr>
        <p:spPr>
          <a:xfrm xmlns:a="http://schemas.openxmlformats.org/drawingml/2006/main">
            <a:off x="4638675" y="4133850"/>
            <a:ext cx="38100" cy="47625"/>
          </a:xfrm>
          <a:custGeom xmlns:a="http://schemas.openxmlformats.org/drawingml/2006/main">
            <a:pathLst>
              <a:path w="38100" h="47625">
                <a:moveTo>
                  <a:pt x="19050" y="47625"/>
                </a:moveTo>
                <a:lnTo>
                  <a:pt x="0" y="0"/>
                </a:lnTo>
                <a:lnTo>
                  <a:pt x="38100" y="0"/>
                </a:lnTo>
                <a:close/>
              </a:path>
            </a:pathLst>
          </a:custGeom>
          <a:solidFill xmlns:a="http://schemas.openxmlformats.org/drawingml/2006/main">
            <a:srgbClr val="F5B61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4EE3344-112E-42CE-BEA8-73F5792E17FF}"/>
              </a:ext>
            </a:extLst>
          </p:cNvPr>
          <p:cNvSpPr>
            <a:spLocks xmlns:a="http://schemas.openxmlformats.org/drawingml/2006/main" noGrp="1"/>
          </p:cNvSpPr>
          <p:nvPr/>
        </p:nvSpPr>
        <p:spPr>
          <a:xfrm xmlns:a="http://schemas.openxmlformats.org/drawingml/2006/main">
            <a:off x="7534275" y="3352800"/>
            <a:ext cx="438150" cy="828675"/>
          </a:xfrm>
          <a:custGeom xmlns:a="http://schemas.openxmlformats.org/drawingml/2006/main">
            <a:pathLst>
              <a:path w="438150" h="828675">
                <a:moveTo>
                  <a:pt x="0" y="828675"/>
                </a:moveTo>
                <a:lnTo>
                  <a:pt x="0" y="571500"/>
                </a:lnTo>
                <a:lnTo>
                  <a:pt x="438150" y="571500"/>
                </a:lnTo>
                <a:lnTo>
                  <a:pt x="438150" y="0"/>
                </a:lnTo>
              </a:path>
            </a:pathLst>
          </a:cu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4A72EB5E-6705-4A3A-8146-EB2507122B8C}"/>
              </a:ext>
            </a:extLst>
          </p:cNvPr>
          <p:cNvSpPr>
            <a:spLocks xmlns:a="http://schemas.openxmlformats.org/drawingml/2006/main" noGrp="1"/>
          </p:cNvSpPr>
          <p:nvPr/>
        </p:nvSpPr>
        <p:spPr>
          <a:xfrm xmlns:a="http://schemas.openxmlformats.org/drawingml/2006/main">
            <a:off x="7953375" y="3352800"/>
            <a:ext cx="38100" cy="47625"/>
          </a:xfrm>
          <a:custGeom xmlns:a="http://schemas.openxmlformats.org/drawingml/2006/main">
            <a:pathLst>
              <a:path w="38100" h="47625">
                <a:moveTo>
                  <a:pt x="19050" y="0"/>
                </a:moveTo>
                <a:lnTo>
                  <a:pt x="38100" y="47625"/>
                </a:lnTo>
                <a:lnTo>
                  <a:pt x="0" y="47625"/>
                </a:lnTo>
                <a:close/>
              </a:path>
            </a:pathLst>
          </a:custGeom>
          <a:solidFill xmlns:a="http://schemas.openxmlformats.org/drawingml/2006/main">
            <a:srgbClr val="F5B61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B3E6223-C6EB-4328-9D72-4A4D0DD8A33D}"/>
              </a:ext>
            </a:extLst>
          </p:cNvPr>
          <p:cNvSpPr>
            <a:spLocks xmlns:a="http://schemas.openxmlformats.org/drawingml/2006/main" noGrp="1"/>
          </p:cNvSpPr>
          <p:nvPr/>
        </p:nvSpPr>
        <p:spPr>
          <a:xfrm xmlns:a="http://schemas.openxmlformats.org/drawingml/2006/main">
            <a:off x="5829300" y="3000375"/>
            <a:ext cx="5886450" cy="1914525"/>
          </a:xfrm>
          <a:custGeom xmlns:a="http://schemas.openxmlformats.org/drawingml/2006/main">
            <a:pathLst>
              <a:path w="5886450" h="1914525">
                <a:moveTo>
                  <a:pt x="0" y="1509713"/>
                </a:moveTo>
                <a:lnTo>
                  <a:pt x="247650" y="1509713"/>
                </a:lnTo>
                <a:lnTo>
                  <a:pt x="247650" y="1914525"/>
                </a:lnTo>
                <a:lnTo>
                  <a:pt x="5886450" y="1914525"/>
                </a:lnTo>
                <a:lnTo>
                  <a:pt x="5886450" y="0"/>
                </a:lnTo>
                <a:lnTo>
                  <a:pt x="5753100" y="0"/>
                </a:lnTo>
              </a:path>
            </a:pathLst>
          </a:custGeom>
          <a:noFill xmlns:a="http://schemas.openxmlformats.org/drawingml/2006/main"/>
          <a:ln xmlns:a="http://schemas.openxmlformats.org/drawingml/2006/main" w="16193">
            <a:solidFill>
              <a:srgbClr val="28C7F7"/>
            </a:solidFill>
            <a:prstDash val="dash"/>
          </a:ln>
        </p:spPr>
      </p:sp>
      <p:sp>
        <p:nvSpPr>
          <p:cNvPr id="16" name="">
            <a:extLst xmlns:a="http://schemas.openxmlformats.org/drawingml/2006/main">
              <a:ext uri="{FF2B5EF4-FFF2-40B4-BE49-F238E27FC236}">
                <a16:creationId xmlns:a16="http://schemas.microsoft.com/office/drawing/2014/main" id="{9772AAE2-B9B4-48D2-8D9C-EFCFCF99DCB4}"/>
              </a:ext>
            </a:extLst>
          </p:cNvPr>
          <p:cNvSpPr>
            <a:spLocks xmlns:a="http://schemas.openxmlformats.org/drawingml/2006/main" noGrp="1"/>
          </p:cNvSpPr>
          <p:nvPr/>
        </p:nvSpPr>
        <p:spPr>
          <a:xfrm xmlns:a="http://schemas.openxmlformats.org/drawingml/2006/main">
            <a:off x="11582400" y="2981325"/>
            <a:ext cx="47625" cy="38100"/>
          </a:xfrm>
          <a:custGeom xmlns:a="http://schemas.openxmlformats.org/drawingml/2006/main">
            <a:pathLst>
              <a:path w="47625" h="38100">
                <a:moveTo>
                  <a:pt x="0" y="19050"/>
                </a:moveTo>
                <a:lnTo>
                  <a:pt x="47625" y="0"/>
                </a:lnTo>
                <a:lnTo>
                  <a:pt x="47625" y="38100"/>
                </a:lnTo>
                <a:close/>
              </a:path>
            </a:pathLst>
          </a:custGeom>
          <a:solidFill xmlns:a="http://schemas.openxmlformats.org/drawingml/2006/main">
            <a:srgbClr val="28C7F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EF85DC0-5458-4BE4-8969-05D65E68FFB7}"/>
              </a:ext>
            </a:extLst>
          </p:cNvPr>
          <p:cNvSpPr>
            <a:spLocks xmlns:a="http://schemas.openxmlformats.org/drawingml/2006/main" noGrp="1"/>
          </p:cNvSpPr>
          <p:nvPr/>
        </p:nvSpPr>
        <p:spPr>
          <a:xfrm xmlns:a="http://schemas.openxmlformats.org/drawingml/2006/main">
            <a:off x="609600" y="2647950"/>
            <a:ext cx="163830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8" name="">
            <a:extLst xmlns:a="http://schemas.openxmlformats.org/drawingml/2006/main">
              <a:ext uri="{FF2B5EF4-FFF2-40B4-BE49-F238E27FC236}">
                <a16:creationId xmlns:a16="http://schemas.microsoft.com/office/drawing/2014/main" id="{DE24B02D-201A-4C8E-95C5-85CD54105147}"/>
              </a:ext>
            </a:extLst>
          </p:cNvPr>
          <p:cNvSpPr>
            <a:spLocks xmlns:a="http://schemas.openxmlformats.org/drawingml/2006/main" noGrp="1"/>
          </p:cNvSpPr>
          <p:nvPr/>
        </p:nvSpPr>
        <p:spPr>
          <a:xfrm xmlns:a="http://schemas.openxmlformats.org/drawingml/2006/main">
            <a:off x="723900" y="2724150"/>
            <a:ext cx="1409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proposal</a:t>
            </a:r>
          </a:p>
        </p:txBody>
      </p:sp>
      <p:sp>
        <p:nvSpPr>
          <p:cNvPr id="19" name="">
            <a:extLst xmlns:a="http://schemas.openxmlformats.org/drawingml/2006/main">
              <a:ext uri="{FF2B5EF4-FFF2-40B4-BE49-F238E27FC236}">
                <a16:creationId xmlns:a16="http://schemas.microsoft.com/office/drawing/2014/main" id="{A50D4BF3-3D9C-490E-8A00-372185EC7C0C}"/>
              </a:ext>
            </a:extLst>
          </p:cNvPr>
          <p:cNvSpPr>
            <a:spLocks xmlns:a="http://schemas.openxmlformats.org/drawingml/2006/main" noGrp="1"/>
          </p:cNvSpPr>
          <p:nvPr/>
        </p:nvSpPr>
        <p:spPr>
          <a:xfrm xmlns:a="http://schemas.openxmlformats.org/drawingml/2006/main">
            <a:off x="2533650" y="2647950"/>
            <a:ext cx="1857375"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0" name="">
            <a:extLst xmlns:a="http://schemas.openxmlformats.org/drawingml/2006/main">
              <a:ext uri="{FF2B5EF4-FFF2-40B4-BE49-F238E27FC236}">
                <a16:creationId xmlns:a16="http://schemas.microsoft.com/office/drawing/2014/main" id="{11256B1B-DC04-49A5-A691-D17C2BDC6594}"/>
              </a:ext>
            </a:extLst>
          </p:cNvPr>
          <p:cNvSpPr>
            <a:spLocks xmlns:a="http://schemas.openxmlformats.org/drawingml/2006/main" noGrp="1"/>
          </p:cNvSpPr>
          <p:nvPr/>
        </p:nvSpPr>
        <p:spPr>
          <a:xfrm xmlns:a="http://schemas.openxmlformats.org/drawingml/2006/main">
            <a:off x="2628900" y="2695575"/>
            <a:ext cx="1666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Semantic check</a:t>
            </a:r>
          </a:p>
          <a:p xmlns:a="http://schemas.openxmlformats.org/drawingml/2006/main">
            <a:pPr algn="ctr">
              <a:defRPr sz="1500" b="1">
                <a:solidFill>
                  <a:srgbClr val="F4F7FA"/>
                </a:solidFill>
                <a:latin typeface="Arial"/>
                <a:ea typeface="Arial"/>
                <a:cs typeface="Arial"/>
              </a:defRPr>
            </a:pPr>
            <a:r>
              <a:rPr sz="1350" b="1">
                <a:solidFill>
                  <a:srgbClr val="F4F7FA"/>
                </a:solidFill>
                <a:latin typeface="Arial"/>
                <a:ea typeface="Arial"/>
                <a:cs typeface="Arial"/>
              </a:rPr>
              <a:t>against criteria</a:t>
            </a:r>
          </a:p>
          <a:p xmlns:a="http://schemas.openxmlformats.org/drawingml/2006/main">
            <a:pPr algn="ctr">
              <a:defRPr sz="1500" b="1">
                <a:solidFill>
                  <a:srgbClr val="F4F7FA"/>
                </a:solidFill>
                <a:latin typeface="Arial"/>
                <a:ea typeface="Arial"/>
                <a:cs typeface="Arial"/>
              </a:defRPr>
            </a:pPr>
            <a:r>
              <a:rPr sz="1200" b="0">
                <a:solidFill>
                  <a:srgbClr val="ADB8C5"/>
                </a:solidFill>
                <a:latin typeface="Arial"/>
                <a:ea typeface="Arial"/>
                <a:cs typeface="Arial"/>
              </a:rPr>
              <a:t>(fallible)</a:t>
            </a:r>
          </a:p>
        </p:txBody>
      </p:sp>
      <p:sp>
        <p:nvSpPr>
          <p:cNvPr id="21" name="">
            <a:extLst xmlns:a="http://schemas.openxmlformats.org/drawingml/2006/main">
              <a:ext uri="{FF2B5EF4-FFF2-40B4-BE49-F238E27FC236}">
                <a16:creationId xmlns:a16="http://schemas.microsoft.com/office/drawing/2014/main" id="{9CDBE4DE-324A-4A59-8D60-DD1D9B8060DC}"/>
              </a:ext>
            </a:extLst>
          </p:cNvPr>
          <p:cNvSpPr>
            <a:spLocks xmlns:a="http://schemas.openxmlformats.org/drawingml/2006/main" noGrp="1"/>
          </p:cNvSpPr>
          <p:nvPr/>
        </p:nvSpPr>
        <p:spPr>
          <a:xfrm xmlns:a="http://schemas.openxmlformats.org/drawingml/2006/main">
            <a:off x="4676775" y="2647950"/>
            <a:ext cx="2028825"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848DDC07-43AD-448F-979B-B4B64A3E6C70}"/>
              </a:ext>
            </a:extLst>
          </p:cNvPr>
          <p:cNvSpPr>
            <a:spLocks xmlns:a="http://schemas.openxmlformats.org/drawingml/2006/main" noGrp="1"/>
          </p:cNvSpPr>
          <p:nvPr/>
        </p:nvSpPr>
        <p:spPr>
          <a:xfrm xmlns:a="http://schemas.openxmlformats.org/drawingml/2006/main">
            <a:off x="4791075" y="2724150"/>
            <a:ext cx="1800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Check permissions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 required approval</a:t>
            </a:r>
          </a:p>
        </p:txBody>
      </p:sp>
      <p:sp>
        <p:nvSpPr>
          <p:cNvPr id="23" name="">
            <a:extLst xmlns:a="http://schemas.openxmlformats.org/drawingml/2006/main">
              <a:ext uri="{FF2B5EF4-FFF2-40B4-BE49-F238E27FC236}">
                <a16:creationId xmlns:a16="http://schemas.microsoft.com/office/drawing/2014/main" id="{E46E7D63-76F1-4B52-BEA5-093AC85CE8F3}"/>
              </a:ext>
            </a:extLst>
          </p:cNvPr>
          <p:cNvSpPr>
            <a:spLocks xmlns:a="http://schemas.openxmlformats.org/drawingml/2006/main" noGrp="1"/>
          </p:cNvSpPr>
          <p:nvPr/>
        </p:nvSpPr>
        <p:spPr>
          <a:xfrm xmlns:a="http://schemas.openxmlformats.org/drawingml/2006/main">
            <a:off x="6991350" y="2647950"/>
            <a:ext cx="1962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4" name="">
            <a:extLst xmlns:a="http://schemas.openxmlformats.org/drawingml/2006/main">
              <a:ext uri="{FF2B5EF4-FFF2-40B4-BE49-F238E27FC236}">
                <a16:creationId xmlns:a16="http://schemas.microsoft.com/office/drawing/2014/main" id="{EF7A57C5-58A7-43E1-84E7-EF90BD6578AE}"/>
              </a:ext>
            </a:extLst>
          </p:cNvPr>
          <p:cNvSpPr>
            <a:spLocks xmlns:a="http://schemas.openxmlformats.org/drawingml/2006/main" noGrp="1"/>
          </p:cNvSpPr>
          <p:nvPr/>
        </p:nvSpPr>
        <p:spPr>
          <a:xfrm xmlns:a="http://schemas.openxmlformats.org/drawingml/2006/main">
            <a:off x="7086600" y="2724150"/>
            <a:ext cx="1771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Deliver / execute</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allowed result</a:t>
            </a:r>
          </a:p>
        </p:txBody>
      </p:sp>
      <p:sp>
        <p:nvSpPr>
          <p:cNvPr id="25" name="">
            <a:extLst xmlns:a="http://schemas.openxmlformats.org/drawingml/2006/main">
              <a:ext uri="{FF2B5EF4-FFF2-40B4-BE49-F238E27FC236}">
                <a16:creationId xmlns:a16="http://schemas.microsoft.com/office/drawing/2014/main" id="{A846C54A-61B5-49EB-A2AA-8916F704064F}"/>
              </a:ext>
            </a:extLst>
          </p:cNvPr>
          <p:cNvSpPr>
            <a:spLocks xmlns:a="http://schemas.openxmlformats.org/drawingml/2006/main" noGrp="1"/>
          </p:cNvSpPr>
          <p:nvPr/>
        </p:nvSpPr>
        <p:spPr>
          <a:xfrm xmlns:a="http://schemas.openxmlformats.org/drawingml/2006/main">
            <a:off x="92392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6" name="">
            <a:extLst xmlns:a="http://schemas.openxmlformats.org/drawingml/2006/main">
              <a:ext uri="{FF2B5EF4-FFF2-40B4-BE49-F238E27FC236}">
                <a16:creationId xmlns:a16="http://schemas.microsoft.com/office/drawing/2014/main" id="{F6FAF461-AF04-42A6-8804-00F134B4C90F}"/>
              </a:ext>
            </a:extLst>
          </p:cNvPr>
          <p:cNvSpPr>
            <a:spLocks xmlns:a="http://schemas.openxmlformats.org/drawingml/2006/main" noGrp="1"/>
          </p:cNvSpPr>
          <p:nvPr/>
        </p:nvSpPr>
        <p:spPr>
          <a:xfrm xmlns:a="http://schemas.openxmlformats.org/drawingml/2006/main">
            <a:off x="93535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Observe all paths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control health</a:t>
            </a:r>
          </a:p>
        </p:txBody>
      </p:sp>
      <p:sp>
        <p:nvSpPr>
          <p:cNvPr id="31" name="">
            <a:extLst xmlns:a="http://schemas.openxmlformats.org/drawingml/2006/main">
              <a:ext uri="{FF2B5EF4-FFF2-40B4-BE49-F238E27FC236}">
                <a16:creationId xmlns:a16="http://schemas.microsoft.com/office/drawing/2014/main" id="{E1C64D90-B013-4C46-99E8-CBA76B90E8A8}"/>
              </a:ext>
            </a:extLst>
          </p:cNvPr>
          <p:cNvSpPr>
            <a:spLocks xmlns:a="http://schemas.openxmlformats.org/drawingml/2006/main" noGrp="1"/>
          </p:cNvSpPr>
          <p:nvPr/>
        </p:nvSpPr>
        <p:spPr>
          <a:xfrm xmlns:a="http://schemas.openxmlformats.org/drawingml/2006/main">
            <a:off x="6096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32" name="">
            <a:extLst xmlns:a="http://schemas.openxmlformats.org/drawingml/2006/main">
              <a:ext uri="{FF2B5EF4-FFF2-40B4-BE49-F238E27FC236}">
                <a16:creationId xmlns:a16="http://schemas.microsoft.com/office/drawing/2014/main" id="{C50C6019-B208-4301-BBF3-B012058EBA58}"/>
              </a:ext>
            </a:extLst>
          </p:cNvPr>
          <p:cNvSpPr>
            <a:spLocks xmlns:a="http://schemas.openxmlformats.org/drawingml/2006/main" noGrp="1"/>
          </p:cNvSpPr>
          <p:nvPr/>
        </p:nvSpPr>
        <p:spPr>
          <a:xfrm xmlns:a="http://schemas.openxmlformats.org/drawingml/2006/main">
            <a:off x="7239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Human authority</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when required</a:t>
            </a:r>
          </a:p>
        </p:txBody>
      </p:sp>
      <p:sp>
        <p:nvSpPr>
          <p:cNvPr id="33" name="">
            <a:extLst xmlns:a="http://schemas.openxmlformats.org/drawingml/2006/main">
              <a:ext uri="{FF2B5EF4-FFF2-40B4-BE49-F238E27FC236}">
                <a16:creationId xmlns:a16="http://schemas.microsoft.com/office/drawing/2014/main" id="{D6791283-D580-4B7E-AD48-D0A17F97A193}"/>
              </a:ext>
            </a:extLst>
          </p:cNvPr>
          <p:cNvSpPr>
            <a:spLocks xmlns:a="http://schemas.openxmlformats.org/drawingml/2006/main" noGrp="1"/>
          </p:cNvSpPr>
          <p:nvPr/>
        </p:nvSpPr>
        <p:spPr>
          <a:xfrm xmlns:a="http://schemas.openxmlformats.org/drawingml/2006/main">
            <a:off x="609600" y="4886325"/>
            <a:ext cx="2343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Evidence, decision rights,</a:t>
            </a:r>
          </a:p>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competence, time and capacity</a:t>
            </a:r>
          </a:p>
        </p:txBody>
      </p:sp>
      <p:sp>
        <p:nvSpPr>
          <p:cNvPr id="34" name="">
            <a:extLst xmlns:a="http://schemas.openxmlformats.org/drawingml/2006/main">
              <a:ext uri="{FF2B5EF4-FFF2-40B4-BE49-F238E27FC236}">
                <a16:creationId xmlns:a16="http://schemas.microsoft.com/office/drawing/2014/main" id="{740884A1-A114-498E-9E22-D4DDAF470BDA}"/>
              </a:ext>
            </a:extLst>
          </p:cNvPr>
          <p:cNvSpPr>
            <a:spLocks xmlns:a="http://schemas.openxmlformats.org/drawingml/2006/main" noGrp="1"/>
          </p:cNvSpPr>
          <p:nvPr/>
        </p:nvSpPr>
        <p:spPr>
          <a:xfrm xmlns:a="http://schemas.openxmlformats.org/drawingml/2006/main">
            <a:off x="34861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35" name="">
            <a:extLst xmlns:a="http://schemas.openxmlformats.org/drawingml/2006/main">
              <a:ext uri="{FF2B5EF4-FFF2-40B4-BE49-F238E27FC236}">
                <a16:creationId xmlns:a16="http://schemas.microsoft.com/office/drawing/2014/main" id="{8800BFA1-0DCF-4D5D-ACC2-69C8A8B066A1}"/>
              </a:ext>
            </a:extLst>
          </p:cNvPr>
          <p:cNvSpPr>
            <a:spLocks xmlns:a="http://schemas.openxmlformats.org/drawingml/2006/main" noGrp="1"/>
          </p:cNvSpPr>
          <p:nvPr/>
        </p:nvSpPr>
        <p:spPr>
          <a:xfrm xmlns:a="http://schemas.openxmlformats.org/drawingml/2006/main">
            <a:off x="36004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Deny / safe fallback</a:t>
            </a:r>
          </a:p>
        </p:txBody>
      </p:sp>
      <p:sp>
        <p:nvSpPr>
          <p:cNvPr id="36" name="">
            <a:extLst xmlns:a="http://schemas.openxmlformats.org/drawingml/2006/main">
              <a:ext uri="{FF2B5EF4-FFF2-40B4-BE49-F238E27FC236}">
                <a16:creationId xmlns:a16="http://schemas.microsoft.com/office/drawing/2014/main" id="{F87B5CBC-7643-469E-A375-0665A4C26B90}"/>
              </a:ext>
            </a:extLst>
          </p:cNvPr>
          <p:cNvSpPr>
            <a:spLocks xmlns:a="http://schemas.openxmlformats.org/drawingml/2006/main" noGrp="1"/>
          </p:cNvSpPr>
          <p:nvPr/>
        </p:nvSpPr>
        <p:spPr>
          <a:xfrm xmlns:a="http://schemas.openxmlformats.org/drawingml/2006/main">
            <a:off x="4791075" y="3695700"/>
            <a:ext cx="1495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5B61C"/>
                </a:solidFill>
                <a:latin typeface="Arial"/>
                <a:ea typeface="Arial"/>
                <a:cs typeface="Arial"/>
              </a:defRPr>
            </a:pPr>
            <a:r>
              <a:rPr sz="1200" b="0">
                <a:solidFill>
                  <a:srgbClr val="F5B61C"/>
                </a:solidFill>
                <a:latin typeface="Arial"/>
                <a:ea typeface="Arial"/>
                <a:cs typeface="Arial"/>
              </a:rPr>
              <a:t>Rejected / denied</a:t>
            </a:r>
          </a:p>
          <a:p xmlns:a="http://schemas.openxmlformats.org/drawingml/2006/main">
            <a:pPr algn="l">
              <a:defRPr sz="1200" b="0">
                <a:solidFill>
                  <a:srgbClr val="F5B61C"/>
                </a:solidFill>
                <a:latin typeface="Arial"/>
                <a:ea typeface="Arial"/>
                <a:cs typeface="Arial"/>
              </a:defRPr>
            </a:pPr>
            <a:r>
              <a:rPr sz="1200" b="0">
                <a:solidFill>
                  <a:srgbClr val="F5B61C"/>
                </a:solidFill>
                <a:latin typeface="Arial"/>
                <a:ea typeface="Arial"/>
                <a:cs typeface="Arial"/>
              </a:rPr>
              <a:t>or unavailable</a:t>
            </a:r>
          </a:p>
        </p:txBody>
      </p:sp>
      <p:sp>
        <p:nvSpPr>
          <p:cNvPr id="37" name="">
            <a:extLst xmlns:a="http://schemas.openxmlformats.org/drawingml/2006/main">
              <a:ext uri="{FF2B5EF4-FFF2-40B4-BE49-F238E27FC236}">
                <a16:creationId xmlns:a16="http://schemas.microsoft.com/office/drawing/2014/main" id="{1A3C97EC-4344-4C08-9A5D-94787457A1FD}"/>
              </a:ext>
            </a:extLst>
          </p:cNvPr>
          <p:cNvSpPr>
            <a:spLocks xmlns:a="http://schemas.openxmlformats.org/drawingml/2006/main" noGrp="1"/>
          </p:cNvSpPr>
          <p:nvPr/>
        </p:nvSpPr>
        <p:spPr>
          <a:xfrm xmlns:a="http://schemas.openxmlformats.org/drawingml/2006/main">
            <a:off x="92392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38" name="">
            <a:extLst xmlns:a="http://schemas.openxmlformats.org/drawingml/2006/main">
              <a:ext uri="{FF2B5EF4-FFF2-40B4-BE49-F238E27FC236}">
                <a16:creationId xmlns:a16="http://schemas.microsoft.com/office/drawing/2014/main" id="{55B05C80-ECE3-459B-824A-0DAF9401B991}"/>
              </a:ext>
            </a:extLst>
          </p:cNvPr>
          <p:cNvSpPr>
            <a:spLocks xmlns:a="http://schemas.openxmlformats.org/drawingml/2006/main" noGrp="1"/>
          </p:cNvSpPr>
          <p:nvPr/>
        </p:nvSpPr>
        <p:spPr>
          <a:xfrm xmlns:a="http://schemas.openxmlformats.org/drawingml/2006/main">
            <a:off x="93535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Compare with limits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Authorize correction</a:t>
            </a:r>
          </a:p>
        </p:txBody>
      </p:sp>
      <p:sp>
        <p:nvSpPr>
          <p:cNvPr id="39" name="">
            <a:extLst xmlns:a="http://schemas.openxmlformats.org/drawingml/2006/main">
              <a:ext uri="{FF2B5EF4-FFF2-40B4-BE49-F238E27FC236}">
                <a16:creationId xmlns:a16="http://schemas.microsoft.com/office/drawing/2014/main" id="{7978E11A-C14A-471A-BC2B-49C1A2892816}"/>
              </a:ext>
            </a:extLst>
          </p:cNvPr>
          <p:cNvSpPr>
            <a:spLocks xmlns:a="http://schemas.openxmlformats.org/drawingml/2006/main" noGrp="1"/>
          </p:cNvSpPr>
          <p:nvPr/>
        </p:nvSpPr>
        <p:spPr>
          <a:xfrm xmlns:a="http://schemas.openxmlformats.org/drawingml/2006/main">
            <a:off x="63627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40" name="">
            <a:extLst xmlns:a="http://schemas.openxmlformats.org/drawingml/2006/main">
              <a:ext uri="{FF2B5EF4-FFF2-40B4-BE49-F238E27FC236}">
                <a16:creationId xmlns:a16="http://schemas.microsoft.com/office/drawing/2014/main" id="{79510CC5-E602-4BEA-81EC-84829DD7A521}"/>
              </a:ext>
            </a:extLst>
          </p:cNvPr>
          <p:cNvSpPr>
            <a:spLocks xmlns:a="http://schemas.openxmlformats.org/drawingml/2006/main" noGrp="1"/>
          </p:cNvSpPr>
          <p:nvPr/>
        </p:nvSpPr>
        <p:spPr>
          <a:xfrm xmlns:a="http://schemas.openxmlformats.org/drawingml/2006/main">
            <a:off x="64770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Disable tools</a:t>
            </a:r>
          </a:p>
        </p:txBody>
      </p:sp>
      <p:sp>
        <p:nvSpPr>
          <p:cNvPr id="43" name="">
            <a:extLst xmlns:a="http://schemas.openxmlformats.org/drawingml/2006/main">
              <a:ext uri="{FF2B5EF4-FFF2-40B4-BE49-F238E27FC236}">
                <a16:creationId xmlns:a16="http://schemas.microsoft.com/office/drawing/2014/main" id="{B6E45796-14C1-4467-8903-FC7FADFDCEB9}"/>
              </a:ext>
            </a:extLst>
          </p:cNvPr>
          <p:cNvSpPr>
            <a:spLocks xmlns:a="http://schemas.openxmlformats.org/drawingml/2006/main" noGrp="1"/>
          </p:cNvSpPr>
          <p:nvPr/>
        </p:nvSpPr>
        <p:spPr>
          <a:xfrm xmlns:a="http://schemas.openxmlformats.org/drawingml/2006/main">
            <a:off x="3314700" y="4972050"/>
            <a:ext cx="8267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Check access before disclosure. Feedback cannot undo an irreversible effect.</a:t>
            </a:r>
          </a:p>
        </p:txBody>
      </p:sp>
      <p:sp>
        <p:nvSpPr>
          <p:cNvPr id="44" name="">
            <a:extLst xmlns:a="http://schemas.openxmlformats.org/drawingml/2006/main">
              <a:ext uri="{FF2B5EF4-FFF2-40B4-BE49-F238E27FC236}">
                <a16:creationId xmlns:a16="http://schemas.microsoft.com/office/drawing/2014/main" id="{F2C5F20A-11F9-4E42-9448-BC6B155E876D}"/>
              </a:ext>
            </a:extLst>
          </p:cNvPr>
          <p:cNvSpPr>
            <a:spLocks xmlns:a="http://schemas.openxmlformats.org/drawingml/2006/main" noGrp="1"/>
          </p:cNvSpPr>
          <p:nvPr/>
        </p:nvSpPr>
        <p:spPr>
          <a:xfrm xmlns:a="http://schemas.openxmlformats.org/drawingml/2006/main" flipH="0" flipV="0">
            <a:off x="609600" y="5410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5" name="">
            <a:extLst xmlns:a="http://schemas.openxmlformats.org/drawingml/2006/main">
              <a:ext uri="{FF2B5EF4-FFF2-40B4-BE49-F238E27FC236}">
                <a16:creationId xmlns:a16="http://schemas.microsoft.com/office/drawing/2014/main" id="{F91EB375-BD13-4C04-A27D-4CC31ABFAA76}"/>
              </a:ext>
            </a:extLst>
          </p:cNvPr>
          <p:cNvSpPr>
            <a:spLocks xmlns:a="http://schemas.openxmlformats.org/drawingml/2006/main" noGrp="1"/>
          </p:cNvSpPr>
          <p:nvPr/>
        </p:nvSpPr>
        <p:spPr>
          <a:xfrm xmlns:a="http://schemas.openxmlformats.org/drawingml/2006/main">
            <a:off x="609600" y="5505450"/>
            <a:ext cx="342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LATENCY &amp; PEOPLE</a:t>
            </a:r>
          </a:p>
        </p:txBody>
      </p:sp>
      <p:sp>
        <p:nvSpPr>
          <p:cNvPr id="46" name="">
            <a:extLst xmlns:a="http://schemas.openxmlformats.org/drawingml/2006/main">
              <a:ext uri="{FF2B5EF4-FFF2-40B4-BE49-F238E27FC236}">
                <a16:creationId xmlns:a16="http://schemas.microsoft.com/office/drawing/2014/main" id="{FF6FDED3-3CC0-4475-B364-9967E60C4136}"/>
              </a:ext>
            </a:extLst>
          </p:cNvPr>
          <p:cNvSpPr>
            <a:spLocks xmlns:a="http://schemas.openxmlformats.org/drawingml/2006/main" noGrp="1"/>
          </p:cNvSpPr>
          <p:nvPr/>
        </p:nvSpPr>
        <p:spPr>
          <a:xfrm xmlns:a="http://schemas.openxmlformats.org/drawingml/2006/main">
            <a:off x="609600" y="57816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Can control act before consequence?</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Is human capacity real?</a:t>
            </a:r>
          </a:p>
        </p:txBody>
      </p:sp>
      <p:sp>
        <p:nvSpPr>
          <p:cNvPr id="47" name="">
            <a:extLst xmlns:a="http://schemas.openxmlformats.org/drawingml/2006/main">
              <a:ext uri="{FF2B5EF4-FFF2-40B4-BE49-F238E27FC236}">
                <a16:creationId xmlns:a16="http://schemas.microsoft.com/office/drawing/2014/main" id="{2697EF52-D1F3-4794-A965-E9E4846CB724}"/>
              </a:ext>
            </a:extLst>
          </p:cNvPr>
          <p:cNvSpPr>
            <a:spLocks xmlns:a="http://schemas.openxmlformats.org/drawingml/2006/main" noGrp="1"/>
          </p:cNvSpPr>
          <p:nvPr/>
        </p:nvSpPr>
        <p:spPr>
          <a:xfrm xmlns:a="http://schemas.openxmlformats.org/drawingml/2006/main">
            <a:off x="4381500" y="5505450"/>
            <a:ext cx="342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FULL CONTROL COST</a:t>
            </a:r>
          </a:p>
        </p:txBody>
      </p:sp>
      <p:sp>
        <p:nvSpPr>
          <p:cNvPr id="48" name="">
            <a:extLst xmlns:a="http://schemas.openxmlformats.org/drawingml/2006/main">
              <a:ext uri="{FF2B5EF4-FFF2-40B4-BE49-F238E27FC236}">
                <a16:creationId xmlns:a16="http://schemas.microsoft.com/office/drawing/2014/main" id="{7ABEBBD2-89D0-4AA4-90B0-6243D34BAFFD}"/>
              </a:ext>
            </a:extLst>
          </p:cNvPr>
          <p:cNvSpPr>
            <a:spLocks xmlns:a="http://schemas.openxmlformats.org/drawingml/2006/main" noGrp="1"/>
          </p:cNvSpPr>
          <p:nvPr/>
        </p:nvSpPr>
        <p:spPr>
          <a:xfrm xmlns:a="http://schemas.openxmlformats.org/drawingml/2006/main">
            <a:off x="4381500" y="57816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Tokens, evaluations, retries</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and human review.</a:t>
            </a:r>
          </a:p>
        </p:txBody>
      </p:sp>
      <p:sp>
        <p:nvSpPr>
          <p:cNvPr id="49" name="">
            <a:extLst xmlns:a="http://schemas.openxmlformats.org/drawingml/2006/main">
              <a:ext uri="{FF2B5EF4-FFF2-40B4-BE49-F238E27FC236}">
                <a16:creationId xmlns:a16="http://schemas.microsoft.com/office/drawing/2014/main" id="{A5131BB9-E0EA-49BB-95F8-BFB7525FA1B2}"/>
              </a:ext>
            </a:extLst>
          </p:cNvPr>
          <p:cNvSpPr>
            <a:spLocks xmlns:a="http://schemas.openxmlformats.org/drawingml/2006/main" noGrp="1"/>
          </p:cNvSpPr>
          <p:nvPr/>
        </p:nvSpPr>
        <p:spPr>
          <a:xfrm xmlns:a="http://schemas.openxmlformats.org/drawingml/2006/main">
            <a:off x="8153400" y="5505450"/>
            <a:ext cx="342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EXTERNAL CHANGE</a:t>
            </a:r>
          </a:p>
        </p:txBody>
      </p:sp>
      <p:sp>
        <p:nvSpPr>
          <p:cNvPr id="50" name="">
            <a:extLst xmlns:a="http://schemas.openxmlformats.org/drawingml/2006/main">
              <a:ext uri="{FF2B5EF4-FFF2-40B4-BE49-F238E27FC236}">
                <a16:creationId xmlns:a16="http://schemas.microsoft.com/office/drawing/2014/main" id="{8DC94EDF-DD4A-4DCC-87D3-9474A231AE8A}"/>
              </a:ext>
            </a:extLst>
          </p:cNvPr>
          <p:cNvSpPr>
            <a:spLocks xmlns:a="http://schemas.openxmlformats.org/drawingml/2006/main" noGrp="1"/>
          </p:cNvSpPr>
          <p:nvPr/>
        </p:nvSpPr>
        <p:spPr>
          <a:xfrm xmlns:a="http://schemas.openxmlformats.org/drawingml/2006/main">
            <a:off x="8153400" y="5781675"/>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Model, routing and provider</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assumptions can change.</a:t>
            </a:r>
          </a:p>
        </p:txBody>
      </p:sp>
      <p:sp>
        <p:nvSpPr>
          <p:cNvPr id="51" name="">
            <a:extLst xmlns:a="http://schemas.openxmlformats.org/drawingml/2006/main">
              <a:ext uri="{FF2B5EF4-FFF2-40B4-BE49-F238E27FC236}">
                <a16:creationId xmlns:a16="http://schemas.microsoft.com/office/drawing/2014/main" id="{329EEAA4-EBB4-4039-9DB7-5B5012CFC9E8}"/>
              </a:ext>
            </a:extLst>
          </p:cNvPr>
          <p:cNvSpPr>
            <a:spLocks xmlns:a="http://schemas.openxmlformats.org/drawingml/2006/main" noGrp="1"/>
          </p:cNvSpPr>
          <p:nvPr/>
        </p:nvSpPr>
        <p:spPr>
          <a:xfrm xmlns:a="http://schemas.openxmlformats.org/drawingml/2006/main">
            <a:off x="609600" y="6419850"/>
            <a:ext cx="1064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No reliable, operable control path? Narrow, redesign or reject this AI path.</a:t>
            </a:r>
          </a:p>
        </p:txBody>
      </p:sp>
    </p:spTree>
    <p:extLst>
      <p:ext uri="{BB962C8B-B14F-4D97-AF65-F5344CB8AC3E}">
        <p14:creationId xmlns:p14="http://schemas.microsoft.com/office/powerpoint/2010/main" val="1557323077"/>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19" name=""/>
          <p:cNvCxnSpPr>
            <a:stCxn xmlns:a="http://schemas.openxmlformats.org/drawingml/2006/main" id="12" idx="3"/>
            <a:endCxn xmlns:a="http://schemas.openxmlformats.org/drawingml/2006/main" id="14" idx="1"/>
          </p:cNvCxnSpPr>
          <p:nvPr/>
        </p:nvCxnSpPr>
        <p:spPr>
          <a:xfrm xmlns:a="http://schemas.openxmlformats.org/drawingml/2006/main">
            <a:off x="7677150" y="5995988"/>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cxnSp>
        <p:nvCxnSpPr>
          <p:cNvPr id="20" name=""/>
          <p:cNvCxnSpPr>
            <a:stCxn xmlns:a="http://schemas.openxmlformats.org/drawingml/2006/main" id="10" idx="3"/>
            <a:endCxn xmlns:a="http://schemas.openxmlformats.org/drawingml/2006/main" id="12" idx="1"/>
          </p:cNvCxnSpPr>
          <p:nvPr/>
        </p:nvCxnSpPr>
        <p:spPr>
          <a:xfrm xmlns:a="http://schemas.openxmlformats.org/drawingml/2006/main">
            <a:off x="3771900" y="5995988"/>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FEC311F6-0BA4-4BE3-8BFD-0368004EF02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0ABB76D7-AF86-4672-A7DE-07D96532901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980B3B9-F68D-4C71-8B4C-B4F3D65C79A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D9F74882-D04E-42EC-863C-D0B7F2FAC039}"/>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Product / PO · BA · QA · Dev · Architect · Operations</a:t>
            </a:r>
          </a:p>
        </p:txBody>
      </p:sp>
      <p:sp>
        <p:nvSpPr>
          <p:cNvPr id="5" name="">
            <a:extLst xmlns:a="http://schemas.openxmlformats.org/drawingml/2006/main">
              <a:ext uri="{FF2B5EF4-FFF2-40B4-BE49-F238E27FC236}">
                <a16:creationId xmlns:a16="http://schemas.microsoft.com/office/drawing/2014/main" id="{38F8D421-0997-4034-9E75-C9B1CFEDEBAE}"/>
              </a:ext>
            </a:extLst>
          </p:cNvPr>
          <p:cNvSpPr>
            <a:spLocks xmlns:a="http://schemas.openxmlformats.org/drawingml/2006/main" noGrp="1"/>
          </p:cNvSpPr>
          <p:nvPr/>
        </p:nvSpPr>
        <p:spPr>
          <a:xfrm xmlns:a="http://schemas.openxmlformats.org/drawingml/2006/main">
            <a:off x="609600" y="20383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Two shifts change the delivery system, its roles and operating model.</a:t>
            </a:r>
          </a:p>
        </p:txBody>
      </p:sp>
      <p:graphicFrame>
        <p:nvGraphicFramePr>
          <p:cNvPr id="26" name=""/>
          <p:cNvGraphicFramePr/>
          <p:nvPr/>
        </p:nvGraphicFramePr>
        <p:xfrm>
          <a:off xmlns:a="http://schemas.openxmlformats.org/drawingml/2006/main" x="609600" y="2590800"/>
          <a:ext xmlns:a="http://schemas.openxmlformats.org/drawingml/2006/main" cx="10972800" cy="1847850"/>
        </p:xfrm>
        <a:graphic xmlns:a="http://schemas.openxmlformats.org/drawingml/2006/main">
          <a:graphicData uri="http://schemas.openxmlformats.org/drawingml/2006/table">
            <a:tbl>
              <a:tblPr/>
              <a:tblGrid>
                <a:gridCol w="1562100"/>
                <a:gridCol w="4705350"/>
                <a:gridCol w="4705350"/>
              </a:tblGrid>
              <a:tr h="361950">
                <a:tc>
                  <a:txBody>
                    <a:bodyPr lIns="171450" tIns="66675" rIns="171450" bIns="66675">
                      <a:noAutofit/>
                    </a:bodyPr>
                    <a:lstStyle/>
                    <a:p>
                      <a:r>
                        <a:rPr sz="1575" b="1">
                          <a:solidFill>
                            <a:srgbClr val="F4F7FA"/>
                          </a:solidFill>
                          <a:latin typeface="Arial"/>
                          <a:ea typeface="Arial"/>
                          <a:cs typeface="Arial"/>
                        </a:rPr>
                        <a:t>SHIFT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742950">
                <a:tc>
                  <a:txBody>
                    <a:bodyPr lIns="171450" tIns="66675" rIns="171450" bIns="66675">
                      <a:noAutofit/>
                    </a:bodyPr>
                    <a:lstStyle/>
                    <a:p>
                      <a:r>
                        <a:rPr sz="1575" b="1">
                          <a:solidFill>
                            <a:srgbClr val="F4F7FA"/>
                          </a:solidFill>
                          <a:latin typeface="Arial"/>
                          <a:ea typeface="Arial"/>
                          <a:cs typeface="Arial"/>
                        </a:rPr>
                        <a:t>New balance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Faster generation shifts bottlenecks</a:t>
                      </a:r>
                    </a:p>
                    <a:p>
                      <a:r>
                        <a:rPr sz="1575" b="0">
                          <a:solidFill>
                            <a:srgbClr val="F4F7FA"/>
                          </a:solidFill>
                          <a:latin typeface="Arial"/>
                          <a:ea typeface="Arial"/>
                          <a:cs typeface="Arial"/>
                        </a:rPr>
                        <a:t>Review, integration and team understanding</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Probabilistic behavior enters the product</a:t>
                      </a:r>
                    </a:p>
                    <a:p>
                      <a:r>
                        <a:rPr sz="1575" b="0">
                          <a:solidFill>
                            <a:srgbClr val="28C7F7"/>
                          </a:solidFill>
                          <a:latin typeface="Arial"/>
                          <a:ea typeface="Arial"/>
                          <a:cs typeface="Arial"/>
                        </a:rPr>
                        <a:t>Evaluation, control and incident feedback</a:t>
                      </a:r>
                    </a:p>
                  </a:txBody>
                  <a:tcPr marL="91440" marR="91440" marT="45720" marB="45720" anchor="ctr">
                    <a:solidFill>
                      <a:srgbClr val="0B0F14"/>
                    </a:solidFill>
                  </a:tcPr>
                </a:tc>
              </a:tr>
              <a:tr h="742950">
                <a:tc>
                  <a:txBody>
                    <a:bodyPr lIns="171450" tIns="66675" rIns="171450" bIns="66675">
                      <a:noAutofit/>
                    </a:bodyPr>
                    <a:lstStyle/>
                    <a:p>
                      <a:r>
                        <a:rPr sz="1575" b="1">
                          <a:solidFill>
                            <a:srgbClr val="F4F7FA"/>
                          </a:solidFill>
                          <a:latin typeface="Arial"/>
                          <a:ea typeface="Arial"/>
                          <a:cs typeface="Arial"/>
                        </a:rPr>
                        <a:t>New work</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Rebalance capacity, review and learning</a:t>
                      </a:r>
                    </a:p>
                    <a:p>
                      <a:r>
                        <a:rPr sz="1575" b="0">
                          <a:solidFill>
                            <a:srgbClr val="F4F7FA"/>
                          </a:solidFill>
                          <a:latin typeface="Arial"/>
                          <a:ea typeface="Arial"/>
                          <a:cs typeface="Arial"/>
                        </a:rPr>
                        <a:t>Protect ownership and recovery capability</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Assign evaluation and response ownership</a:t>
                      </a:r>
                    </a:p>
                    <a:p>
                      <a:r>
                        <a:rPr sz="1575" b="0">
                          <a:solidFill>
                            <a:srgbClr val="28C7F7"/>
                          </a:solidFill>
                          <a:latin typeface="Arial"/>
                          <a:ea typeface="Arial"/>
                          <a:cs typeface="Arial"/>
                        </a:rPr>
                        <a:t>Plan for model changes and human capacity</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CE34AF63-3AA9-42F3-B48D-161CF23461AB}"/>
              </a:ext>
            </a:extLst>
          </p:cNvPr>
          <p:cNvSpPr>
            <a:spLocks xmlns:a="http://schemas.openxmlformats.org/drawingml/2006/main" noGrp="1"/>
          </p:cNvSpPr>
          <p:nvPr/>
        </p:nvSpPr>
        <p:spPr>
          <a:xfrm xmlns:a="http://schemas.openxmlformats.org/drawingml/2006/main">
            <a:off x="609600" y="4610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PM RESPONSIBILITY: KEEP THE OPERATING MODEL FIT FOR DELIVERY</a:t>
            </a:r>
          </a:p>
        </p:txBody>
      </p:sp>
      <p:sp>
        <p:nvSpPr>
          <p:cNvPr id="8" name="">
            <a:extLst xmlns:a="http://schemas.openxmlformats.org/drawingml/2006/main">
              <a:ext uri="{FF2B5EF4-FFF2-40B4-BE49-F238E27FC236}">
                <a16:creationId xmlns:a16="http://schemas.microsoft.com/office/drawing/2014/main" id="{3ED478DE-AF82-4005-8009-5B26A939291E}"/>
              </a:ext>
            </a:extLst>
          </p:cNvPr>
          <p:cNvSpPr>
            <a:spLocks xmlns:a="http://schemas.openxmlformats.org/drawingml/2006/main" noGrp="1"/>
          </p:cNvSpPr>
          <p:nvPr/>
        </p:nvSpPr>
        <p:spPr>
          <a:xfrm xmlns:a="http://schemas.openxmlformats.org/drawingml/2006/main">
            <a:off x="609600" y="4962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Track bottlenecks and dependencies. Time-box material unknowns before promising production capability.</a:t>
            </a:r>
          </a:p>
        </p:txBody>
      </p:sp>
      <p:sp>
        <p:nvSpPr>
          <p:cNvPr id="9" name="">
            <a:extLst xmlns:a="http://schemas.openxmlformats.org/drawingml/2006/main">
              <a:ext uri="{FF2B5EF4-FFF2-40B4-BE49-F238E27FC236}">
                <a16:creationId xmlns:a16="http://schemas.microsoft.com/office/drawing/2014/main" id="{250FFE13-3233-44F3-8330-12A487502990}"/>
              </a:ext>
            </a:extLst>
          </p:cNvPr>
          <p:cNvSpPr>
            <a:spLocks xmlns:a="http://schemas.openxmlformats.org/drawingml/2006/main" noGrp="1"/>
          </p:cNvSpPr>
          <p:nvPr/>
        </p:nvSpPr>
        <p:spPr>
          <a:xfrm xmlns:a="http://schemas.openxmlformats.org/drawingml/2006/main">
            <a:off x="609600" y="54197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ONE EXAMPLE OF A NEW DEPENDENCY: EXPERTISE</a:t>
            </a:r>
          </a:p>
        </p:txBody>
      </p:sp>
      <p:sp>
        <p:nvSpPr>
          <p:cNvPr id="10" name="">
            <a:extLst xmlns:a="http://schemas.openxmlformats.org/drawingml/2006/main">
              <a:ext uri="{FF2B5EF4-FFF2-40B4-BE49-F238E27FC236}">
                <a16:creationId xmlns:a16="http://schemas.microsoft.com/office/drawing/2014/main" id="{80004D8C-CDC5-4265-ACC8-5C8BA12F2AF9}"/>
              </a:ext>
            </a:extLst>
          </p:cNvPr>
          <p:cNvSpPr>
            <a:spLocks xmlns:a="http://schemas.openxmlformats.org/drawingml/2006/main" noGrp="1"/>
          </p:cNvSpPr>
          <p:nvPr/>
        </p:nvSpPr>
        <p:spPr>
          <a:xfrm xmlns:a="http://schemas.openxmlformats.org/drawingml/2006/main">
            <a:off x="6096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8FBA0024-9B86-4A97-B367-6C1B15324238}"/>
              </a:ext>
            </a:extLst>
          </p:cNvPr>
          <p:cNvSpPr>
            <a:spLocks xmlns:a="http://schemas.openxmlformats.org/drawingml/2006/main" noGrp="1"/>
          </p:cNvSpPr>
          <p:nvPr/>
        </p:nvSpPr>
        <p:spPr>
          <a:xfrm xmlns:a="http://schemas.openxmlformats.org/drawingml/2006/main">
            <a:off x="7239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AI adds code in a language</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team does not know</a:t>
            </a:r>
          </a:p>
        </p:txBody>
      </p:sp>
      <p:sp>
        <p:nvSpPr>
          <p:cNvPr id="12" name="">
            <a:extLst xmlns:a="http://schemas.openxmlformats.org/drawingml/2006/main">
              <a:ext uri="{FF2B5EF4-FFF2-40B4-BE49-F238E27FC236}">
                <a16:creationId xmlns:a16="http://schemas.microsoft.com/office/drawing/2014/main" id="{DA8FAD3F-259E-4F9C-8A64-DAABA2D26916}"/>
              </a:ext>
            </a:extLst>
          </p:cNvPr>
          <p:cNvSpPr>
            <a:spLocks xmlns:a="http://schemas.openxmlformats.org/drawingml/2006/main" noGrp="1"/>
          </p:cNvSpPr>
          <p:nvPr/>
        </p:nvSpPr>
        <p:spPr>
          <a:xfrm xmlns:a="http://schemas.openxmlformats.org/drawingml/2006/main">
            <a:off x="451485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92948546-50A7-4669-96BE-35916C18A1A3}"/>
              </a:ext>
            </a:extLst>
          </p:cNvPr>
          <p:cNvSpPr>
            <a:spLocks xmlns:a="http://schemas.openxmlformats.org/drawingml/2006/main" noGrp="1"/>
          </p:cNvSpPr>
          <p:nvPr/>
        </p:nvSpPr>
        <p:spPr>
          <a:xfrm xmlns:a="http://schemas.openxmlformats.org/drawingml/2006/main">
            <a:off x="462915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component becomes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critical dependency</a:t>
            </a:r>
          </a:p>
        </p:txBody>
      </p:sp>
      <p:sp>
        <p:nvSpPr>
          <p:cNvPr id="14" name="">
            <a:extLst xmlns:a="http://schemas.openxmlformats.org/drawingml/2006/main">
              <a:ext uri="{FF2B5EF4-FFF2-40B4-BE49-F238E27FC236}">
                <a16:creationId xmlns:a16="http://schemas.microsoft.com/office/drawing/2014/main" id="{A38E9854-08E8-4B7C-A02B-2175620239BE}"/>
              </a:ext>
            </a:extLst>
          </p:cNvPr>
          <p:cNvSpPr>
            <a:spLocks xmlns:a="http://schemas.openxmlformats.org/drawingml/2006/main" noGrp="1"/>
          </p:cNvSpPr>
          <p:nvPr/>
        </p:nvSpPr>
        <p:spPr>
          <a:xfrm xmlns:a="http://schemas.openxmlformats.org/drawingml/2006/main">
            <a:off x="84201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5" name="">
            <a:extLst xmlns:a="http://schemas.openxmlformats.org/drawingml/2006/main">
              <a:ext uri="{FF2B5EF4-FFF2-40B4-BE49-F238E27FC236}">
                <a16:creationId xmlns:a16="http://schemas.microsoft.com/office/drawing/2014/main" id="{86B84E03-B357-476E-AD5E-38954A0B2A3D}"/>
              </a:ext>
            </a:extLst>
          </p:cNvPr>
          <p:cNvSpPr>
            <a:spLocks xmlns:a="http://schemas.openxmlformats.org/drawingml/2006/main" noGrp="1"/>
          </p:cNvSpPr>
          <p:nvPr/>
        </p:nvSpPr>
        <p:spPr>
          <a:xfrm xmlns:a="http://schemas.openxmlformats.org/drawingml/2006/main">
            <a:off x="85344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review and recovery gap</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now threatens delivery</a:t>
            </a:r>
          </a:p>
        </p:txBody>
      </p:sp>
      <p:sp>
        <p:nvSpPr>
          <p:cNvPr id="18" name="">
            <a:extLst xmlns:a="http://schemas.openxmlformats.org/drawingml/2006/main">
              <a:ext uri="{FF2B5EF4-FFF2-40B4-BE49-F238E27FC236}">
                <a16:creationId xmlns:a16="http://schemas.microsoft.com/office/drawing/2014/main" id="{AD4DB840-6821-4523-B67F-74E0B7CFE352}"/>
              </a:ext>
            </a:extLst>
          </p:cNvPr>
          <p:cNvSpPr>
            <a:spLocks xmlns:a="http://schemas.openxmlformats.org/drawingml/2006/main" noGrp="1"/>
          </p:cNvSpPr>
          <p:nvPr/>
        </p:nvSpPr>
        <p:spPr>
          <a:xfrm xmlns:a="http://schemas.openxmlformats.org/drawingml/2006/main">
            <a:off x="609600" y="6410325"/>
            <a:ext cx="10648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Required decisions, evidence and capabilities belong in the delivery dependency plan.</a:t>
            </a:r>
          </a:p>
        </p:txBody>
      </p:sp>
    </p:spTree>
    <p:extLst>
      <p:ext uri="{BB962C8B-B14F-4D97-AF65-F5344CB8AC3E}">
        <p14:creationId xmlns:p14="http://schemas.microsoft.com/office/powerpoint/2010/main" val="553218717"/>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cxnSp>
        <p:nvCxnSpPr>
          <p:cNvPr id="43"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4"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5"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47" name="">
            <a:extLst xmlns:a="http://schemas.openxmlformats.org/drawingml/2006/main">
              <a:ext uri="{FF2B5EF4-FFF2-40B4-BE49-F238E27FC236}">
                <a16:creationId xmlns:a16="http://schemas.microsoft.com/office/drawing/2014/main" id="{170182DE-530E-46E1-A769-307D97B3E52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809C3BD0-D33A-47CD-AFEC-A63F6DFBC99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FF54B52-FD18-4D14-938F-A25C3104C4C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51471388-747D-4F7D-BEA2-DAFEC1E84C94}"/>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1A9C47FF-1BFA-4633-A4E8-A6B1E8A92E43}"/>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F06F93F6-975B-445E-9930-CD5CE249FBA9}"/>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Delivery commitments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operational ownership.</a:t>
            </a:r>
          </a:p>
        </p:txBody>
      </p:sp>
      <p:sp>
        <p:nvSpPr>
          <p:cNvPr id="7" name="">
            <a:extLst xmlns:a="http://schemas.openxmlformats.org/drawingml/2006/main">
              <a:ext uri="{FF2B5EF4-FFF2-40B4-BE49-F238E27FC236}">
                <a16:creationId xmlns:a16="http://schemas.microsoft.com/office/drawing/2014/main" id="{06453C83-A82F-42D2-9144-A43D3BA6316E}"/>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4CA1006B-3283-4F9E-A620-66AEBDF3E9AA}"/>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Re-evaluate after material changes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 model, data or authority.</a:t>
            </a:r>
          </a:p>
        </p:txBody>
      </p:sp>
      <p:sp>
        <p:nvSpPr>
          <p:cNvPr id="9" name="">
            <a:extLst xmlns:a="http://schemas.openxmlformats.org/drawingml/2006/main">
              <a:ext uri="{FF2B5EF4-FFF2-40B4-BE49-F238E27FC236}">
                <a16:creationId xmlns:a16="http://schemas.microsoft.com/office/drawing/2014/main" id="{8DEA02F9-ED8C-48C8-904D-83132E642D91}"/>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A6194FEE-6F65-4188-85BB-4BC2C49CAA58}"/>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ED3B1A6A-1E18-463E-B1C1-987CA3DA022D}"/>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D4D04DD6-38F0-4ECC-B7E5-D4236AE911BD}"/>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2300DB8F-0E9A-4873-B9FC-76DDF512EC2B}"/>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06C2B5F6-D9D4-4F41-97A8-497C80E571D9}"/>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3E108C0D-C934-4696-A9D0-C8E8D67676F1}"/>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3BD634B4-C597-45B3-BE06-8198491C4C3D}"/>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031EEA97-47E2-49CA-A4DC-4BA36AFD79C2}"/>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sp>
        <p:nvSpPr>
          <p:cNvPr id="22" name="">
            <a:extLst xmlns:a="http://schemas.openxmlformats.org/drawingml/2006/main">
              <a:ext uri="{FF2B5EF4-FFF2-40B4-BE49-F238E27FC236}">
                <a16:creationId xmlns:a16="http://schemas.microsoft.com/office/drawing/2014/main" id="{A39BEEBB-7D92-45DC-9076-414DD84E884F}"/>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AC3C71AE-C822-48DC-B53A-9B9D2524ED3A}"/>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B9A1F4B1-0086-4E4C-A270-D45D7DA5A702}"/>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EXISTING TEAM CADENCE · Project Manager coordinates decisions</a:t>
            </a:r>
          </a:p>
        </p:txBody>
      </p:sp>
      <p:sp>
        <p:nvSpPr>
          <p:cNvPr id="25" name="">
            <a:extLst xmlns:a="http://schemas.openxmlformats.org/drawingml/2006/main">
              <a:ext uri="{FF2B5EF4-FFF2-40B4-BE49-F238E27FC236}">
                <a16:creationId xmlns:a16="http://schemas.microsoft.com/office/drawing/2014/main" id="{E3ADD602-0879-482D-BBCB-CC4002E57463}"/>
              </a:ext>
            </a:extLst>
          </p:cNvPr>
          <p:cNvSpPr>
            <a:spLocks xmlns:a="http://schemas.openxmlformats.org/drawingml/2006/main" noGrp="1"/>
          </p:cNvSpPr>
          <p:nvPr/>
        </p:nvSpPr>
        <p:spPr>
          <a:xfrm xmlns:a="http://schemas.openxmlformats.org/drawingml/2006/main">
            <a:off x="609600" y="48482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2C61F2A1-87CF-4326-8178-D0330F73479C}"/>
              </a:ext>
            </a:extLst>
          </p:cNvPr>
          <p:cNvSpPr>
            <a:spLocks xmlns:a="http://schemas.openxmlformats.org/drawingml/2006/main" noGrp="1"/>
          </p:cNvSpPr>
          <p:nvPr/>
        </p:nvSpPr>
        <p:spPr>
          <a:xfrm xmlns:a="http://schemas.openxmlformats.org/drawingml/2006/main">
            <a:off x="609600" y="5143500"/>
            <a:ext cx="2057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Product / PO + BA + team</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Value, limits + evidence</a:t>
            </a:r>
          </a:p>
        </p:txBody>
      </p:sp>
      <p:sp>
        <p:nvSpPr>
          <p:cNvPr id="27" name="">
            <a:extLst xmlns:a="http://schemas.openxmlformats.org/drawingml/2006/main">
              <a:ext uri="{FF2B5EF4-FFF2-40B4-BE49-F238E27FC236}">
                <a16:creationId xmlns:a16="http://schemas.microsoft.com/office/drawing/2014/main" id="{66169787-6371-45E6-8F30-594FDC4D97BF}"/>
              </a:ext>
            </a:extLst>
          </p:cNvPr>
          <p:cNvSpPr>
            <a:spLocks xmlns:a="http://schemas.openxmlformats.org/drawingml/2006/main" noGrp="1"/>
          </p:cNvSpPr>
          <p:nvPr/>
        </p:nvSpPr>
        <p:spPr>
          <a:xfrm xmlns:a="http://schemas.openxmlformats.org/drawingml/2006/main">
            <a:off x="2857500" y="48482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2C0127B5-5BFC-4A77-98E0-528655D69525}"/>
              </a:ext>
            </a:extLst>
          </p:cNvPr>
          <p:cNvSpPr>
            <a:spLocks xmlns:a="http://schemas.openxmlformats.org/drawingml/2006/main" noGrp="1"/>
          </p:cNvSpPr>
          <p:nvPr/>
        </p:nvSpPr>
        <p:spPr>
          <a:xfrm xmlns:a="http://schemas.openxmlformats.org/drawingml/2006/main">
            <a:off x="2857500" y="514350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Dev + QA + Architect</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Build, evaluate, close gaps</a:t>
            </a:r>
          </a:p>
        </p:txBody>
      </p:sp>
      <p:sp>
        <p:nvSpPr>
          <p:cNvPr id="29" name="">
            <a:extLst xmlns:a="http://schemas.openxmlformats.org/drawingml/2006/main">
              <a:ext uri="{FF2B5EF4-FFF2-40B4-BE49-F238E27FC236}">
                <a16:creationId xmlns:a16="http://schemas.microsoft.com/office/drawing/2014/main" id="{6D363AF3-EF7A-45A2-96AB-271BCD1373BD}"/>
              </a:ext>
            </a:extLst>
          </p:cNvPr>
          <p:cNvSpPr>
            <a:spLocks xmlns:a="http://schemas.openxmlformats.org/drawingml/2006/main" noGrp="1"/>
          </p:cNvSpPr>
          <p:nvPr/>
        </p:nvSpPr>
        <p:spPr>
          <a:xfrm xmlns:a="http://schemas.openxmlformats.org/drawingml/2006/main">
            <a:off x="4953000" y="484822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 EVIDENCE</a:t>
            </a:r>
          </a:p>
        </p:txBody>
      </p:sp>
      <p:sp>
        <p:nvSpPr>
          <p:cNvPr id="30" name="">
            <a:extLst xmlns:a="http://schemas.openxmlformats.org/drawingml/2006/main">
              <a:ext uri="{FF2B5EF4-FFF2-40B4-BE49-F238E27FC236}">
                <a16:creationId xmlns:a16="http://schemas.microsoft.com/office/drawing/2014/main" id="{98527CC0-5CAB-4E3B-95FE-8296FD9F79ED}"/>
              </a:ext>
            </a:extLst>
          </p:cNvPr>
          <p:cNvSpPr>
            <a:spLocks xmlns:a="http://schemas.openxmlformats.org/drawingml/2006/main" noGrp="1"/>
          </p:cNvSpPr>
          <p:nvPr/>
        </p:nvSpPr>
        <p:spPr>
          <a:xfrm xmlns:a="http://schemas.openxmlformats.org/drawingml/2006/main">
            <a:off x="4953000" y="514350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Product / PO + team</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Evidence + uncertainty</a:t>
            </a:r>
          </a:p>
        </p:txBody>
      </p:sp>
      <p:sp>
        <p:nvSpPr>
          <p:cNvPr id="31" name="">
            <a:extLst xmlns:a="http://schemas.openxmlformats.org/drawingml/2006/main">
              <a:ext uri="{FF2B5EF4-FFF2-40B4-BE49-F238E27FC236}">
                <a16:creationId xmlns:a16="http://schemas.microsoft.com/office/drawing/2014/main" id="{12433076-78FC-4165-A25B-ADAD3BBBFD75}"/>
              </a:ext>
            </a:extLst>
          </p:cNvPr>
          <p:cNvSpPr>
            <a:spLocks xmlns:a="http://schemas.openxmlformats.org/drawingml/2006/main" noGrp="1"/>
          </p:cNvSpPr>
          <p:nvPr/>
        </p:nvSpPr>
        <p:spPr>
          <a:xfrm xmlns:a="http://schemas.openxmlformats.org/drawingml/2006/main">
            <a:off x="9525000" y="48482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9F93CF28-7216-4610-B4D6-4C6090B9FD84}"/>
              </a:ext>
            </a:extLst>
          </p:cNvPr>
          <p:cNvSpPr>
            <a:spLocks xmlns:a="http://schemas.openxmlformats.org/drawingml/2006/main" noGrp="1"/>
          </p:cNvSpPr>
          <p:nvPr/>
        </p:nvSpPr>
        <p:spPr>
          <a:xfrm xmlns:a="http://schemas.openxmlformats.org/drawingml/2006/main">
            <a:off x="9525000" y="5143500"/>
            <a:ext cx="2057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Service owner + responders</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7BFA8973-0A47-49A4-A71F-855E7DE78B8A}"/>
              </a:ext>
            </a:extLst>
          </p:cNvPr>
          <p:cNvSpPr>
            <a:spLocks xmlns:a="http://schemas.openxmlformats.org/drawingml/2006/main" noGrp="1"/>
          </p:cNvSpPr>
          <p:nvPr/>
        </p:nvSpPr>
        <p:spPr>
          <a:xfrm xmlns:a="http://schemas.openxmlformats.org/drawingml/2006/main">
            <a:off x="7277100" y="4829175"/>
            <a:ext cx="20764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34" name="">
            <a:extLst xmlns:a="http://schemas.openxmlformats.org/drawingml/2006/main">
              <a:ext uri="{FF2B5EF4-FFF2-40B4-BE49-F238E27FC236}">
                <a16:creationId xmlns:a16="http://schemas.microsoft.com/office/drawing/2014/main" id="{9A5A03A6-318B-431B-8959-802BD316710B}"/>
              </a:ext>
            </a:extLst>
          </p:cNvPr>
          <p:cNvSpPr>
            <a:spLocks xmlns:a="http://schemas.openxmlformats.org/drawingml/2006/main" noGrp="1"/>
          </p:cNvSpPr>
          <p:nvPr/>
        </p:nvSpPr>
        <p:spPr>
          <a:xfrm xmlns:a="http://schemas.openxmlformats.org/drawingml/2006/main">
            <a:off x="7372350" y="4886325"/>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1">
                <a:solidFill>
                  <a:srgbClr val="F5B61C"/>
                </a:solidFill>
                <a:latin typeface="Arial"/>
                <a:ea typeface="Arial"/>
                <a:cs typeface="Arial"/>
              </a:defRPr>
            </a:pPr>
            <a:r>
              <a:rPr sz="1275" b="1">
                <a:solidFill>
                  <a:srgbClr val="F5B61C"/>
                </a:solidFill>
                <a:latin typeface="Arial"/>
                <a:ea typeface="Arial"/>
                <a:cs typeface="Arial"/>
              </a:rPr>
              <a:t>AUTHORIZED RELEASE</a:t>
            </a:r>
          </a:p>
        </p:txBody>
      </p:sp>
      <p:sp>
        <p:nvSpPr>
          <p:cNvPr id="35" name="">
            <a:extLst xmlns:a="http://schemas.openxmlformats.org/drawingml/2006/main">
              <a:ext uri="{FF2B5EF4-FFF2-40B4-BE49-F238E27FC236}">
                <a16:creationId xmlns:a16="http://schemas.microsoft.com/office/drawing/2014/main" id="{9E874958-636C-4C1B-8A2D-4195EBEE64B0}"/>
              </a:ext>
            </a:extLst>
          </p:cNvPr>
          <p:cNvSpPr>
            <a:spLocks xmlns:a="http://schemas.openxmlformats.org/drawingml/2006/main" noGrp="1"/>
          </p:cNvSpPr>
          <p:nvPr/>
        </p:nvSpPr>
        <p:spPr>
          <a:xfrm xmlns:a="http://schemas.openxmlformats.org/drawingml/2006/main">
            <a:off x="7372350" y="5162550"/>
            <a:ext cx="1885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Release / risk owner</a:t>
            </a:r>
          </a:p>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Scope + residual risk</a:t>
            </a:r>
          </a:p>
        </p:txBody>
      </p:sp>
      <p:sp>
        <p:nvSpPr>
          <p:cNvPr id="36" name="">
            <a:extLst xmlns:a="http://schemas.openxmlformats.org/drawingml/2006/main">
              <a:ext uri="{FF2B5EF4-FFF2-40B4-BE49-F238E27FC236}">
                <a16:creationId xmlns:a16="http://schemas.microsoft.com/office/drawing/2014/main" id="{7DA22560-E3C5-42EB-B84F-96A408B09FFC}"/>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93DB000B-6703-4662-86E3-160BDC79DC90}"/>
              </a:ext>
            </a:extLst>
          </p:cNvPr>
          <p:cNvSpPr>
            <a:spLocks xmlns:a="http://schemas.openxmlformats.org/drawingml/2006/main" noGrp="1"/>
          </p:cNvSpPr>
          <p:nvPr/>
        </p:nvSpPr>
        <p:spPr>
          <a:xfrm xmlns:a="http://schemas.openxmlformats.org/drawingml/2006/main">
            <a:off x="609600" y="5772150"/>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8" name="">
            <a:extLst xmlns:a="http://schemas.openxmlformats.org/drawingml/2006/main">
              <a:ext uri="{FF2B5EF4-FFF2-40B4-BE49-F238E27FC236}">
                <a16:creationId xmlns:a16="http://schemas.microsoft.com/office/drawing/2014/main" id="{3D38765A-38EE-4AE2-8B71-5C7CD8DB8883}"/>
              </a:ext>
            </a:extLst>
          </p:cNvPr>
          <p:cNvSpPr>
            <a:spLocks xmlns:a="http://schemas.openxmlformats.org/drawingml/2006/main" noGrp="1"/>
          </p:cNvSpPr>
          <p:nvPr/>
        </p:nvSpPr>
        <p:spPr>
          <a:xfrm xmlns:a="http://schemas.openxmlformats.org/drawingml/2006/main">
            <a:off x="4200525" y="5772150"/>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Review throughput, rework and team understanding.</a:t>
            </a:r>
          </a:p>
        </p:txBody>
      </p:sp>
      <p:sp>
        <p:nvSpPr>
          <p:cNvPr id="39" name="">
            <a:extLst xmlns:a="http://schemas.openxmlformats.org/drawingml/2006/main">
              <a:ext uri="{FF2B5EF4-FFF2-40B4-BE49-F238E27FC236}">
                <a16:creationId xmlns:a16="http://schemas.microsoft.com/office/drawing/2014/main" id="{B13F6478-D183-4CC4-A055-03FE7863E651}"/>
              </a:ext>
            </a:extLst>
          </p:cNvPr>
          <p:cNvSpPr>
            <a:spLocks xmlns:a="http://schemas.openxmlformats.org/drawingml/2006/main" noGrp="1"/>
          </p:cNvSpPr>
          <p:nvPr/>
        </p:nvSpPr>
        <p:spPr>
          <a:xfrm xmlns:a="http://schemas.openxmlformats.org/drawingml/2006/main">
            <a:off x="609600" y="60102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40" name="">
            <a:extLst xmlns:a="http://schemas.openxmlformats.org/drawingml/2006/main">
              <a:ext uri="{FF2B5EF4-FFF2-40B4-BE49-F238E27FC236}">
                <a16:creationId xmlns:a16="http://schemas.microsoft.com/office/drawing/2014/main" id="{514B155E-AE14-4CFD-8F79-D4DF5DB9FCD4}"/>
              </a:ext>
            </a:extLst>
          </p:cNvPr>
          <p:cNvSpPr>
            <a:spLocks xmlns:a="http://schemas.openxmlformats.org/drawingml/2006/main" noGrp="1"/>
          </p:cNvSpPr>
          <p:nvPr/>
        </p:nvSpPr>
        <p:spPr>
          <a:xfrm xmlns:a="http://schemas.openxmlformats.org/drawingml/2006/main">
            <a:off x="4200525" y="60102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Useful outcomes, failure impact and full operating cost.</a:t>
            </a:r>
          </a:p>
        </p:txBody>
      </p:sp>
      <p:sp>
        <p:nvSpPr>
          <p:cNvPr id="41" name="">
            <a:extLst xmlns:a="http://schemas.openxmlformats.org/drawingml/2006/main">
              <a:ext uri="{FF2B5EF4-FFF2-40B4-BE49-F238E27FC236}">
                <a16:creationId xmlns:a16="http://schemas.microsoft.com/office/drawing/2014/main" id="{800149B4-82D4-4883-94B9-C46F0F7A542A}"/>
              </a:ext>
            </a:extLst>
          </p:cNvPr>
          <p:cNvSpPr>
            <a:spLocks xmlns:a="http://schemas.openxmlformats.org/drawingml/2006/main" noGrp="1"/>
          </p:cNvSpPr>
          <p:nvPr/>
        </p:nvSpPr>
        <p:spPr>
          <a:xfrm xmlns:a="http://schemas.openxmlformats.org/drawingml/2006/main">
            <a:off x="609600" y="6267450"/>
            <a:ext cx="10648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Start with one workflow: approved limits, evidence, owners and a rehearsed fallback.</a:t>
            </a:r>
          </a:p>
        </p:txBody>
      </p:sp>
      <p:sp>
        <p:nvSpPr>
          <p:cNvPr id="42" name="">
            <a:extLst xmlns:a="http://schemas.openxmlformats.org/drawingml/2006/main">
              <a:ext uri="{FF2B5EF4-FFF2-40B4-BE49-F238E27FC236}">
                <a16:creationId xmlns:a16="http://schemas.microsoft.com/office/drawing/2014/main" id="{F8660A65-DBF8-4C32-94F5-81D3AE131B96}"/>
              </a:ext>
            </a:extLst>
          </p:cNvPr>
          <p:cNvSpPr>
            <a:spLocks xmlns:a="http://schemas.openxmlformats.org/drawingml/2006/main" noGrp="1"/>
          </p:cNvSpPr>
          <p:nvPr/>
        </p:nvSpPr>
        <p:spPr>
          <a:xfrm xmlns:a="http://schemas.openxmlformats.org/drawingml/2006/main">
            <a:off x="609600" y="6515100"/>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More capability still requires engineering responsibility.</a:t>
            </a:r>
          </a:p>
        </p:txBody>
      </p:sp>
    </p:spTree>
    <p:extLst>
      <p:ext uri="{BB962C8B-B14F-4D97-AF65-F5344CB8AC3E}">
        <p14:creationId xmlns:p14="http://schemas.microsoft.com/office/powerpoint/2010/main" val="48240125"/>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22D4994-5BB9-45EF-AFFE-3A5A43E8154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DA8479BD-1E68-4753-9355-3C00FEF0571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1EB4E2C-8CC5-4308-B10C-F8DF93C928C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D7BA731F-ED72-4311-AB42-6E23F3CEF81C}"/>
              </a:ext>
            </a:extLst>
          </p:cNvPr>
          <p:cNvSpPr>
            <a:spLocks xmlns:a="http://schemas.openxmlformats.org/drawingml/2006/main" noGrp="1"/>
          </p:cNvSpPr>
          <p:nvPr/>
        </p:nvSpPr>
        <p:spPr>
          <a:xfrm xmlns:a="http://schemas.openxmlformats.org/drawingml/2006/main">
            <a:off x="6400800" y="1809750"/>
            <a:ext cx="518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WHAT WE BUILD</a:t>
            </a:r>
          </a:p>
        </p:txBody>
      </p:sp>
      <p:sp>
        <p:nvSpPr>
          <p:cNvPr id="5" name="">
            <a:extLst xmlns:a="http://schemas.openxmlformats.org/drawingml/2006/main">
              <a:ext uri="{FF2B5EF4-FFF2-40B4-BE49-F238E27FC236}">
                <a16:creationId xmlns:a16="http://schemas.microsoft.com/office/drawing/2014/main" id="{2EF4D987-4D33-4C15-A7CA-E836FF277D83}"/>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6C8F24D6-3C08-42B7-9DE3-C7A27327DE83}"/>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d9a7dd4852bb4418"/>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1541F21-0554-4FCA-BD0B-5D08E27DCFF1}"/>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56f2279741084637"/>
              </a:rPr>
              <a:t>github.com/UncertaintyArchitectureGroup/</a:t>
            </a:r>
          </a:p>
        </p:txBody>
      </p:sp>
      <p:sp>
        <p:nvSpPr>
          <p:cNvPr id="9" name="">
            <a:extLst xmlns:a="http://schemas.openxmlformats.org/drawingml/2006/main">
              <a:ext uri="{FF2B5EF4-FFF2-40B4-BE49-F238E27FC236}">
                <a16:creationId xmlns:a16="http://schemas.microsoft.com/office/drawing/2014/main" id="{E896D860-3BA6-48A5-AA93-8F17E4B50397}"/>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8cc7f0da27ff4222"/>
              </a:rPr>
              <a:t>uncertainty-architecture</a:t>
            </a:r>
          </a:p>
        </p:txBody>
      </p:sp>
      <p:sp>
        <p:nvSpPr>
          <p:cNvPr id="10" name="">
            <a:extLst xmlns:a="http://schemas.openxmlformats.org/drawingml/2006/main">
              <a:ext uri="{FF2B5EF4-FFF2-40B4-BE49-F238E27FC236}">
                <a16:creationId xmlns:a16="http://schemas.microsoft.com/office/drawing/2014/main" id="{EB268DBF-EB27-46DC-92FB-89FD6547AD83}"/>
              </a:ext>
            </a:extLst>
          </p:cNvPr>
          <p:cNvSpPr>
            <a:spLocks xmlns:a="http://schemas.openxmlformats.org/drawingml/2006/main" noGrp="1"/>
          </p:cNvSpPr>
          <p:nvPr/>
        </p:nvSpPr>
        <p:spPr>
          <a:xfrm xmlns:a="http://schemas.openxmlformats.org/drawingml/2006/main">
            <a:off x="609600" y="1809750"/>
            <a:ext cx="518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HOW WE BUILD</a:t>
            </a:r>
          </a:p>
        </p:txBody>
      </p:sp>
      <p:sp>
        <p:nvSpPr>
          <p:cNvPr id="11" name="">
            <a:extLst xmlns:a="http://schemas.openxmlformats.org/drawingml/2006/main">
              <a:ext uri="{FF2B5EF4-FFF2-40B4-BE49-F238E27FC236}">
                <a16:creationId xmlns:a16="http://schemas.microsoft.com/office/drawing/2014/main" id="{828D8C03-D8EA-45E5-A99D-7D8B5476BD43}"/>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The Subprime Code Crisis</a:t>
            </a:r>
          </a:p>
        </p:txBody>
      </p:sp>
      <p:sp>
        <p:nvSpPr>
          <p:cNvPr id="12" name="">
            <a:extLst xmlns:a="http://schemas.openxmlformats.org/drawingml/2006/main">
              <a:ext uri="{FF2B5EF4-FFF2-40B4-BE49-F238E27FC236}">
                <a16:creationId xmlns:a16="http://schemas.microsoft.com/office/drawing/2014/main" id="{5D6B02AB-84EA-4291-8B80-87A4BE908876}"/>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85dfc790f32e4e17"/>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726958F5-6C47-4715-B8B5-414D7E00354B}"/>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c16d36a67a7e44da"/>
              </a:rPr>
              <a:t>github.com/UncertaintyArchitectureGroup/</a:t>
            </a:r>
          </a:p>
        </p:txBody>
      </p:sp>
      <p:sp>
        <p:nvSpPr>
          <p:cNvPr id="15" name="">
            <a:extLst xmlns:a="http://schemas.openxmlformats.org/drawingml/2006/main">
              <a:ext uri="{FF2B5EF4-FFF2-40B4-BE49-F238E27FC236}">
                <a16:creationId xmlns:a16="http://schemas.microsoft.com/office/drawing/2014/main" id="{1B7F464D-9420-422B-B168-781C781C508D}"/>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7d31488fd7734e60"/>
              </a:rPr>
              <a:t>The-Subprime-Code-Crisis</a:t>
            </a:r>
          </a:p>
        </p:txBody>
      </p:sp>
      <p:sp>
        <p:nvSpPr>
          <p:cNvPr id="16" name="">
            <a:extLst xmlns:a="http://schemas.openxmlformats.org/drawingml/2006/main">
              <a:ext uri="{FF2B5EF4-FFF2-40B4-BE49-F238E27FC236}">
                <a16:creationId xmlns:a16="http://schemas.microsoft.com/office/drawing/2014/main" id="{3325BE22-4AD5-40FF-8F77-A365DF18198A}"/>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41B9CDE1-C775-423E-917C-B094A8C52CA8}"/>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63625B3D-CEFC-4685-A7A7-2427885A1D0C}"/>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9" name="">
            <a:extLst xmlns:a="http://schemas.openxmlformats.org/drawingml/2006/main">
              <a:ext uri="{FF2B5EF4-FFF2-40B4-BE49-F238E27FC236}">
                <a16:creationId xmlns:a16="http://schemas.microsoft.com/office/drawing/2014/main" id="{305933A6-58D7-4A58-A021-6150F51AC716}"/>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aeb7bbae3b19404f"/>
              </a:rPr>
              <a:t>oborskyivitalii@gmail.com</a:t>
            </a:r>
          </a:p>
        </p:txBody>
      </p:sp>
      <p:sp>
        <p:nvSpPr>
          <p:cNvPr id="20" name="">
            <a:extLst xmlns:a="http://schemas.openxmlformats.org/drawingml/2006/main">
              <a:ext uri="{FF2B5EF4-FFF2-40B4-BE49-F238E27FC236}">
                <a16:creationId xmlns:a16="http://schemas.microsoft.com/office/drawing/2014/main" id="{A839D3FE-64D5-45D8-B2DD-43186EF6E9F0}"/>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9df8d43fee184339"/>
              </a:rPr>
              <a:t>https://www.linkedin.com/in/vitaliioborskyi/</a:t>
            </a:r>
          </a:p>
        </p:txBody>
      </p:sp>
    </p:spTree>
    <p:extLst>
      <p:ext uri="{BB962C8B-B14F-4D97-AF65-F5344CB8AC3E}">
        <p14:creationId xmlns:p14="http://schemas.microsoft.com/office/powerpoint/2010/main" val="17969115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2026-10-01T11:27:35.0340000Z</dcterms:created>
  <dcterms:modified xsi:type="dcterms:W3CDTF">2026-10-01T11:27:35.0340000Z</dcterms:modified>
</coreProperties>
</file>