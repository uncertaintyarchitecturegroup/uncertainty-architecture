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23428a0148b4e48" /><Relationship Type="http://schemas.openxmlformats.org/officeDocument/2006/relationships/extended-properties" Target="/docProps/app.xml" Id="Rfc6b4fd42a2b4dba" /><Relationship Type="http://schemas.openxmlformats.org/officeDocument/2006/relationships/officeDocument" Target="/ppt/presentation.xml" Id="Re8f6fa6e4f9c4699" /></Relationships>
</file>

<file path=ppt/presentation.xml><?xml version="1.0" encoding="utf-8"?>
<p:presentation xmlns:p="http://schemas.openxmlformats.org/presentationml/2006/main">
  <p:sldMasterIdLst>
    <p:sldMasterId xmlns:r="http://schemas.openxmlformats.org/officeDocument/2006/relationships" id="2147483648" r:id="Rc873000fcd5f422c"/>
  </p:sldMasterIdLst>
  <p:notesMasterIdLst>
    <p:notesMasterId xmlns:r="http://schemas.openxmlformats.org/officeDocument/2006/relationships" r:id="R151e1b471e0142b4"/>
  </p:notesMasterIdLst>
  <p:sldIdLst>
    <p:sldId xmlns:r="http://schemas.openxmlformats.org/officeDocument/2006/relationships" id="256" r:id="R3227fd2bcc674812"/>
    <p:sldId xmlns:r="http://schemas.openxmlformats.org/officeDocument/2006/relationships" id="257" r:id="R314e3560f5194831"/>
    <p:sldId xmlns:r="http://schemas.openxmlformats.org/officeDocument/2006/relationships" id="258" r:id="R49703fffa9f3412c"/>
    <p:sldId xmlns:r="http://schemas.openxmlformats.org/officeDocument/2006/relationships" id="259" r:id="Rc82b201499c84ef9"/>
    <p:sldId xmlns:r="http://schemas.openxmlformats.org/officeDocument/2006/relationships" id="260" r:id="R0ea785d8421744aa"/>
    <p:sldId xmlns:r="http://schemas.openxmlformats.org/officeDocument/2006/relationships" id="261" r:id="R1a0fd7040d7844eb"/>
    <p:sldId xmlns:r="http://schemas.openxmlformats.org/officeDocument/2006/relationships" id="262" r:id="Rf9ba2cb00a0d4a90"/>
    <p:sldId xmlns:r="http://schemas.openxmlformats.org/officeDocument/2006/relationships" id="263" r:id="R1def214697df417e"/>
    <p:sldId xmlns:r="http://schemas.openxmlformats.org/officeDocument/2006/relationships" id="264" r:id="R2658c732754e4dac"/>
    <p:sldId xmlns:r="http://schemas.openxmlformats.org/officeDocument/2006/relationships" id="265" r:id="R26b90522ba5a40b3"/>
    <p:sldId xmlns:r="http://schemas.openxmlformats.org/officeDocument/2006/relationships" id="266" r:id="Ra3b2af2cba3f4717"/>
    <p:sldId xmlns:r="http://schemas.openxmlformats.org/officeDocument/2006/relationships" id="267" r:id="R0a6b4f2fc9994e3b"/>
    <p:sldId xmlns:r="http://schemas.openxmlformats.org/officeDocument/2006/relationships" id="268" r:id="R55c5c893ad7049f3"/>
    <p:sldId xmlns:r="http://schemas.openxmlformats.org/officeDocument/2006/relationships" id="269" r:id="Re93866c9f3ce489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b77127372ae4a82" /><Relationship Type="http://schemas.openxmlformats.org/officeDocument/2006/relationships/slideMaster" Target="/ppt/slideMasters/slideMaster1.xml" Id="Rc873000fcd5f422c" /><Relationship Type="http://schemas.openxmlformats.org/officeDocument/2006/relationships/notesMaster" Target="/ppt/notesMasters/notesMaster1.xml" Id="R151e1b471e0142b4" /><Relationship Type="http://schemas.openxmlformats.org/officeDocument/2006/relationships/presProps" Target="/ppt/presProps.xml" Id="Rf83a5ce50fd747e6" /><Relationship Type="http://schemas.openxmlformats.org/officeDocument/2006/relationships/tableStyles" Target="/ppt/tableStyles.xml" Id="Rd568b8f5f85f455a" /><Relationship Type="http://schemas.openxmlformats.org/officeDocument/2006/relationships/slide" Target="/ppt/slides/slide1.xml" Id="R3227fd2bcc674812" /><Relationship Type="http://schemas.openxmlformats.org/officeDocument/2006/relationships/slide" Target="/ppt/slides/slide2.xml" Id="R314e3560f5194831" /><Relationship Type="http://schemas.openxmlformats.org/officeDocument/2006/relationships/slide" Target="/ppt/slides/slide3.xml" Id="R49703fffa9f3412c" /><Relationship Type="http://schemas.openxmlformats.org/officeDocument/2006/relationships/slide" Target="/ppt/slides/slide4.xml" Id="Rc82b201499c84ef9" /><Relationship Type="http://schemas.openxmlformats.org/officeDocument/2006/relationships/slide" Target="/ppt/slides/slide5.xml" Id="R0ea785d8421744aa" /><Relationship Type="http://schemas.openxmlformats.org/officeDocument/2006/relationships/slide" Target="/ppt/slides/slide6.xml" Id="R1a0fd7040d7844eb" /><Relationship Type="http://schemas.openxmlformats.org/officeDocument/2006/relationships/slide" Target="/ppt/slides/slide7.xml" Id="Rf9ba2cb00a0d4a90" /><Relationship Type="http://schemas.openxmlformats.org/officeDocument/2006/relationships/slide" Target="/ppt/slides/slide8.xml" Id="R1def214697df417e" /><Relationship Type="http://schemas.openxmlformats.org/officeDocument/2006/relationships/slide" Target="/ppt/slides/slide9.xml" Id="R2658c732754e4dac" /><Relationship Type="http://schemas.openxmlformats.org/officeDocument/2006/relationships/slide" Target="/ppt/slides/slide10.xml" Id="R26b90522ba5a40b3" /><Relationship Type="http://schemas.openxmlformats.org/officeDocument/2006/relationships/slide" Target="/ppt/slides/slide11.xml" Id="Ra3b2af2cba3f4717" /><Relationship Type="http://schemas.openxmlformats.org/officeDocument/2006/relationships/slide" Target="/ppt/slides/slide12.xml" Id="R0a6b4f2fc9994e3b" /><Relationship Type="http://schemas.openxmlformats.org/officeDocument/2006/relationships/slide" Target="/ppt/slides/slide13.xml" Id="R55c5c893ad7049f3" /><Relationship Type="http://schemas.openxmlformats.org/officeDocument/2006/relationships/slide" Target="/ppt/slides/slide14.xml" Id="Re93866c9f3ce489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b24cff3364b49b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6c6468b15e84de0" /><Relationship Type="http://schemas.openxmlformats.org/officeDocument/2006/relationships/notesMaster" Target="/ppt/notesMasters/notesMaster1.xml" Id="R338bfe876fa744a3" /></Relationships>
</file>

<file path=ppt/notesSlides/_rels/notesSlide2.xml.rels>&#65279;<?xml version="1.0" encoding="utf-8"?><Relationships xmlns="http://schemas.openxmlformats.org/package/2006/relationships"><Relationship Type="http://schemas.openxmlformats.org/officeDocument/2006/relationships/slide" Target="/ppt/slides/slide2.xml" Id="R5cb6f5d3b25f4650" /><Relationship Type="http://schemas.openxmlformats.org/officeDocument/2006/relationships/notesMaster" Target="/ppt/notesMasters/notesMaster1.xml" Id="Rc678cbe9094e4490" /></Relationships>
</file>

<file path=ppt/notesSlides/_rels/notesSlide3.xml.rels>&#65279;<?xml version="1.0" encoding="utf-8"?><Relationships xmlns="http://schemas.openxmlformats.org/package/2006/relationships"><Relationship Type="http://schemas.openxmlformats.org/officeDocument/2006/relationships/slide" Target="/ppt/slides/slide3.xml" Id="Ra6bbef3c31e6409d" /><Relationship Type="http://schemas.openxmlformats.org/officeDocument/2006/relationships/notesMaster" Target="/ppt/notesMasters/notesMaster1.xml" Id="R2aec19e308b04a2d" /></Relationships>
</file>

<file path=ppt/notesSlides/_rels/notesSlide4.xml.rels>&#65279;<?xml version="1.0" encoding="utf-8"?><Relationships xmlns="http://schemas.openxmlformats.org/package/2006/relationships"><Relationship Type="http://schemas.openxmlformats.org/officeDocument/2006/relationships/slide" Target="/ppt/slides/slide4.xml" Id="R607ef49fbdb945f0" /><Relationship Type="http://schemas.openxmlformats.org/officeDocument/2006/relationships/notesMaster" Target="/ppt/notesMasters/notesMaster1.xml" Id="R507b5c302ab44527" /></Relationships>
</file>

<file path=ppt/notesSlides/_rels/notesSlide5.xml.rels>&#65279;<?xml version="1.0" encoding="utf-8"?><Relationships xmlns="http://schemas.openxmlformats.org/package/2006/relationships"><Relationship Type="http://schemas.openxmlformats.org/officeDocument/2006/relationships/slide" Target="/ppt/slides/slide5.xml" Id="Rfac04bddb79943c3" /><Relationship Type="http://schemas.openxmlformats.org/officeDocument/2006/relationships/notesMaster" Target="/ppt/notesMasters/notesMaster1.xml" Id="R08ab5b72445f4fb1" /></Relationships>
</file>

<file path=ppt/notesSlides/_rels/notesSlide6.xml.rels>&#65279;<?xml version="1.0" encoding="utf-8"?><Relationships xmlns="http://schemas.openxmlformats.org/package/2006/relationships"><Relationship Type="http://schemas.openxmlformats.org/officeDocument/2006/relationships/slide" Target="/ppt/slides/slide6.xml" Id="Rbf2859ce5e004540" /><Relationship Type="http://schemas.openxmlformats.org/officeDocument/2006/relationships/notesMaster" Target="/ppt/notesMasters/notesMaster1.xml" Id="R5498102278a747e2" /></Relationships>
</file>

<file path=ppt/notesSlides/_rels/notesSlide7.xml.rels>&#65279;<?xml version="1.0" encoding="utf-8"?><Relationships xmlns="http://schemas.openxmlformats.org/package/2006/relationships"><Relationship Type="http://schemas.openxmlformats.org/officeDocument/2006/relationships/slide" Target="/ppt/slides/slide7.xml" Id="R849c0d1d306c45bb" /><Relationship Type="http://schemas.openxmlformats.org/officeDocument/2006/relationships/notesMaster" Target="/ppt/notesMasters/notesMaster1.xml" Id="Rdf7a7e00e6cc4acd" /></Relationships>
</file>

<file path=ppt/notesSlides/_rels/notesSlide8.xml.rels>&#65279;<?xml version="1.0" encoding="utf-8"?><Relationships xmlns="http://schemas.openxmlformats.org/package/2006/relationships"><Relationship Type="http://schemas.openxmlformats.org/officeDocument/2006/relationships/slide" Target="/ppt/slides/slide8.xml" Id="R80d8e8b12dcb41c7" /><Relationship Type="http://schemas.openxmlformats.org/officeDocument/2006/relationships/notesMaster" Target="/ppt/notesMasters/notesMaster1.xml" Id="R65c0c327e48a429a" /></Relationships>
</file>

<file path=ppt/notesSlides/_rels/notesSlide9.xml.rels>&#65279;<?xml version="1.0" encoding="utf-8"?><Relationships xmlns="http://schemas.openxmlformats.org/package/2006/relationships"><Relationship Type="http://schemas.openxmlformats.org/officeDocument/2006/relationships/slide" Target="/ppt/slides/slide9.xml" Id="Rbefb319adb43459c" /><Relationship Type="http://schemas.openxmlformats.org/officeDocument/2006/relationships/notesMaster" Target="/ppt/notesMasters/notesMaster1.xml" Id="R2a535a6aba294f8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1f27d401d9042ad" /><Relationship Type="http://schemas.openxmlformats.org/officeDocument/2006/relationships/notesMaster" Target="/ppt/notesMasters/notesMaster1.xml" Id="R72a0725bcb3c474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3fba149a6764840" /><Relationship Type="http://schemas.openxmlformats.org/officeDocument/2006/relationships/notesMaster" Target="/ppt/notesMasters/notesMaster1.xml" Id="Rd0c25c1732bd4c3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81cd8de227145c3" /><Relationship Type="http://schemas.openxmlformats.org/officeDocument/2006/relationships/notesMaster" Target="/ppt/notesMasters/notesMaster1.xml" Id="Rbdc5cdca2cbb4d0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8ea590bf4124767" /><Relationship Type="http://schemas.openxmlformats.org/officeDocument/2006/relationships/notesMaster" Target="/ppt/notesMasters/notesMaster1.xml" Id="R0182f19f2a7441a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a33d35b750b4169" /><Relationship Type="http://schemas.openxmlformats.org/officeDocument/2006/relationships/notesMaster" Target="/ppt/notesMasters/notesMaster1.xml" Id="R9b7f2970f3b9456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Відділити AI для розробки від Model Judgment усередині продукту. Перше змінює виробництво software, друге — поведінку системи. Не починати з реклами UA чи anti-AI тези.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Phase transition — функціональна рамка, не фізичний закон. Cognition-like operations: інтерпретація запиту, зіставлення контексту, пропозиція коду чи плану. Engineering consequence: ми задаємо контекст, інструменти, межі та перевірку поведінки.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Навчальний приклад, не виміряні дані: writing capacity 20 змін/тиждень, review 10, integration 8. Зростання writing до 100 не змінює незмінну потужність integration. AI може прискорювати інші етапи; ефект треба перевіряти, а не припускати.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NBER: понад 100 тисяч GitHub developers; matched event study, не RCT. Changed LOC = additions + deletions, не чисте зростання кодової бази.</a:t>
            </a:r>
          </a:p>
          <a:p xmlns:a="http://schemas.openxmlformats.org/drawingml/2006/main">
            <a:r>
              <a:t>Table 5, друкована с. 33, тижні 21–30: Autocomplete — LOC +228.2%, commits +35.9%, PRs +11.0%, releases +10.2%. Synchronous agents — LOC +741.3%, commits +109.1%, PRs +65.5%, releases +20.3%. Asynchronous agents — LOC +658.3%, commits +33.6%, PRs +71.8%; releases не оцінено окремо. Figure 1, с. 3: cumulative LOC 17.3×, files 3.9×, commits 2.8×, PRs 2.5×, repos 1.5×, releases 1.3×. Не перемножувати компоненти.</a:t>
            </a:r>
          </a:p>
          <a:p xmlns:a="http://schemas.openxmlformats.org/drawingml/2006/main">
            <a:r>
              <a:t>Figure 12, с. 41; §8.2, с. 42–43: iOS — 30–50 тисяч нових apps/month → близько 100 тисяч у квітні 2026; Android — 42 тисячі у січні 2025 → близько 60 тисяч у середині 2026; Chrome — 5 тисяч у 2023 → близько 13 тисяч у середині 2026. Total cohort usage за перші 3 місяці стабільне або знижується. Частка iOS apps із &lt;10 ratings: 79→86%; Chrome extensions із &lt;10 downloads: 18→31%. SourceForge без прискорення entry, не входить у три usage panels. Це не всі existing apps, не весь software market і не пряме вимірювання consumer welfare. Chrome decline передував agentic era.</a:t>
            </a:r>
          </a:p>
          <a:p xmlns:a="http://schemas.openxmlformats.org/drawingml/2006/main">
            <a:r>
              <a:t>DORA 2025: позитивні associations AI adoption із throughput і product performance, негативні — зі stability; не підставляти коефіцієнти 2024 року.</a:t>
            </a:r>
          </a:p>
          <a:p xmlns:a="http://schemas.openxmlformats.org/drawingml/2006/main">
            <a:r>
              <a:t>METR, травень 2026: 349 technical workers; 1.4–2× median self-reported work value залежно від питання, 3× self-reported speed; є selection bias. Старий RCT 2025 із +19% часу — лише історичний контекст.</a:t>
            </a:r>
          </a:p>
          <a:p xmlns:a="http://schemas.openxmlformats.org/drawingml/2006/main">
            <a:r>
              <a:t>GitClear 2026: refactoring share 13→3.8%, duplication приблизно +81%; observational proxies.</a:t>
            </a:r>
          </a:p>
          <a:p xmlns:a="http://schemas.openxmlformats.org/drawingml/2006/main">
            <a:r>
              <a:t>Xu, v3 від січня 2026, дані 2020–22: top activity quartile — commits −19%, reviews +6.5%; bottom quartile — commits +43.5%, PRs +17.7%; rework +2.4%. Це не кадрові грейди й не агенти 2026 року.</a:t>
            </a:r>
          </a:p>
          <a:p xmlns:a="http://schemas.openxmlformats.org/drawingml/2006/main">
            <a:r>
              <a:t>Agarwal, v2, Table 2: complexity +34.85/+42.87%, warnings +17.73/+19.00%; зміна IDE-first warnings статистично незначуща. Не трактувати це як борг на одну фічу.</a:t>
            </a:r>
          </a:p>
          <a:p xmlns:a="http://schemas.openxmlformats.org/drawingml/2006/main">
            <a:r>
              <a:t/>
            </a:r>
          </a:p>
          <a:p xmlns:a="http://schemas.openxmlformats.org/drawingml/2006/main">
            <a:r>
              <a:t>Sources:</a:t>
            </a:r>
          </a:p>
          <a:p xmlns:a="http://schemas.openxmlformats.org/drawingml/2006/main">
            <a:r>
              <a:t>https://www.nber.org/papers/w35275</a:t>
            </a:r>
          </a:p>
          <a:p xmlns:a="http://schemas.openxmlformats.org/drawingml/2006/main">
            <a:r>
              <a:t>https://cloud.google.com/blog/products/ai-machine-learning/announcing-the-2025-dora-report</a:t>
            </a:r>
          </a:p>
          <a:p xmlns:a="http://schemas.openxmlformats.org/drawingml/2006/main">
            <a:r>
              <a:t>https://metr.org/blog/2026-05-11-ai-usage-survey/</a:t>
            </a:r>
          </a:p>
          <a:p xmlns:a="http://schemas.openxmlformats.org/drawingml/2006/main">
            <a:r>
              <a:t>https://www.gitclear.com/the_ai_code_quality_maintainability_gap</a:t>
            </a:r>
          </a:p>
          <a:p xmlns:a="http://schemas.openxmlformats.org/drawingml/2006/main">
            <a:r>
              <a:t>https://arxiv.org/html/2510.10165v3</a:t>
            </a:r>
          </a:p>
          <a:p xmlns:a="http://schemas.openxmlformats.org/drawingml/2006/main">
            <a:r>
              <a:t>https://arxiv.org/html/2601.13597v2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 може допомагати й comprehension. Криві не виміряні, людська спроможність не є незмінною. Comprehension debt — рамка ризику: прийняті зміни випереджають розуміння системи. Complexity, volume, duplication, ownership, architecture comprehension — signals, не прямий вимір боргу.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Умовний сценарій, не case study. Перевірити, хто розуміє інваріанти й залежності, хто може обмежити наслідки, зупинити зміни, відкотити й відновити систему. SDD = spec-driven development. Документація та repository intelligence — гіпотези/інструменти, не доведена універсальна відповідь.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Невідоме не те, чи AI допомагає взагалі. Позитивні результати реальні. Ми ще шукаємо умови стійкої конверсії локальних gains у командну продуктивність. Old equilibrium — спрощення, не заперечення попередньої автоматизації.</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Thinking Systems — інженерна категорія, не твердження про свідомість. Формули — спрощений контраст. Точніше P(y | x, c, m): контекст, модель і конфігурація також мають значення. Стабільне повторення не гарантує істинності. Наскрізний умовний кейс: IT-асистент використовує дозволені джерела, але не має права на неавторизовані зміни доступу.</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https://github.com/UncertaintyArchitectureGroup/uncertainty-architecture/blob/main/00-doctrine/uncertainty-in-the-controlled-object.md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Для IT-асистента: лише затверджені джерела й доступний цьому користувачу контекст. Можна перефразувати, але не вигадувати кроки чи прибирати approval. Недостатні докази означають уточнення або ескалацію. Заборони реалізуються також поза моделлю. Operating Envelope доповнює повний Requirement, не підміняє його. API, права доступу та детерміновані інваріанти залишаються.</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https://github.com/UncertaintyArchitectureGroup/uncertainty-architecture/blob/main/00-doctrine/requirements-correctness-and-bugs.md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Навчальний приклад: 99/100 routine, 39/40 ambiguous, 39/40 missing evidence, 19/20 access/privacy = 196/200 = 98%. Одна помилка — витік чужих даних. Загальний utility gate не перекриває critical boundary. Golden Set потребує покриття сценаріїв; repeated runs не роблять нерепрезентативні дані репрезентативними. Semantic judges калібруємо. Unit, integration і security tests залишаються.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Ready: scope, заборонені дії, ризики, рубрика, Golden Set, ескалація та decision owner. Done: зафіксована конфігурація model/prompt/retrieval/tools/policy, результати за сегментами, перевірені permissions і rollback. Release: погоджені аудиторія пілота, monitoring та умови зупинки. Класичний engineering також працює з ризиком. PM координує, але не привласнює security/business authority. Delivery release не розширює project authorization.</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https://github.com/UncertaintyArchitectureGroup/uncertainty-architecture/blob/main/01-patterns/thinking-system-review.md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Архітектура спрощена. Policy gate стоїть перед зовнішньою дією. Evidence саме по собі не control: потрібні reference conditions, уповноважене рішення й ефективний шлях виконання. Runtime не розширює меж вищого рівня. Retry має бюджет. Kill switch має owner і runbook. Монітор має false positives / false negatives. Інцидент після review поповнює Golden Set; автоматичного навчання на приватних даних не припускаємо.</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https://github.com/UncertaintyArchitectureGroup/uncertainty-architecture/blob/main/00-doctrine/control-loop-anatomy.md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Функції розширюються, а попередні обов'язки не зникають. PM координує tolerance. QA калібрує вимірювання. Architect визначає дозволений judgment, permissions і containment. Developer відповідає за implementation, ownership, instrumentation та runbooks. Це не вимога нового headcount і не передача всіх рішень PM.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 gives us extraordinary leverage. But leverage does not remove engineering responsibility. It moves where engineering rigor has to live. Для HOW: protect comprehension and ownership. Для WHAT: measure, bound and control judgment. Стрілки означають розширення предмета інженерії, не усунення tests або requirements.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cf996e58d27407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795bd6df5c74787" /><Relationship Type="http://schemas.openxmlformats.org/officeDocument/2006/relationships/slideLayout" Target="/ppt/slideLayouts/slideLayout1.xml" Id="R76d14d6010264c9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6d14d6010264c9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31d0ddc2c4b4c1d" /><Relationship Type="http://schemas.openxmlformats.org/officeDocument/2006/relationships/notesSlide" Target="/ppt/notesSlides/notesSlide1.xml" Id="R5f97e47002ad4fb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d25232fb9b64de7" /><Relationship Type="http://schemas.openxmlformats.org/officeDocument/2006/relationships/notesSlide" Target="/ppt/notesSlides/notesSlide2.xml" Id="Re10bddf12a7a43a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075296f38f944d3" /><Relationship Type="http://schemas.openxmlformats.org/officeDocument/2006/relationships/notesSlide" Target="/ppt/notesSlides/notesSlide3.xml" Id="Rcdb0bfa4dce84cd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a314e61f9a74595" /><Relationship Type="http://schemas.openxmlformats.org/officeDocument/2006/relationships/notesSlide" Target="/ppt/notesSlides/notesSlide4.xml" Id="R93cc9748fec84da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e27ea9046684a09" /><Relationship Type="http://schemas.openxmlformats.org/officeDocument/2006/relationships/notesSlide" Target="/ppt/notesSlides/notesSlide5.xml" Id="Re3ea43d8a258410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2aeadcfb32449bd" /><Relationship Type="http://schemas.openxmlformats.org/officeDocument/2006/relationships/notesSlide" Target="/ppt/notesSlides/notesSlide6.xml" Id="R85edb2f51b554e02"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1840feee16140b6" /><Relationship Type="http://schemas.openxmlformats.org/officeDocument/2006/relationships/notesSlide" Target="/ppt/notesSlides/notesSlide7.xml" Id="R133af644955a492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4f80280f9fb4468" /><Relationship Type="http://schemas.openxmlformats.org/officeDocument/2006/relationships/notesSlide" Target="/ppt/notesSlides/notesSlide8.xml" Id="R5787f21c810943a8"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c6644c842734018" /><Relationship Type="http://schemas.openxmlformats.org/officeDocument/2006/relationships/notesSlide" Target="/ppt/notesSlides/notesSlide9.xml" Id="R03b6ad061b79419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7b3e1d237934b73" /><Relationship Type="http://schemas.openxmlformats.org/officeDocument/2006/relationships/notesSlide" Target="/ppt/notesSlides/notesSlide10.xml" Id="R690489f39a14405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481c95f808614592" /><Relationship Type="http://schemas.openxmlformats.org/officeDocument/2006/relationships/notesSlide" Target="/ppt/notesSlides/notesSlide11.xml" Id="Ra77804c27c024e0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a4d9657cf7ed42be" /><Relationship Type="http://schemas.openxmlformats.org/officeDocument/2006/relationships/notesSlide" Target="/ppt/notesSlides/notesSlide12.xml" Id="Re538739e26144db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b57ac6238a764da0" /><Relationship Type="http://schemas.openxmlformats.org/officeDocument/2006/relationships/notesSlide" Target="/ppt/notesSlides/notesSlide13.xml" Id="R8519087f132d41b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c7fe1a6762a24350" /><Relationship Type="http://schemas.openxmlformats.org/officeDocument/2006/relationships/notesSlide" Target="/ppt/notesSlides/notesSlide14.xml" Id="R5ed8d0db4eb04cdb" /></Relationships>
</file>

<file path=ppt/slides/slide1.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F36F248-1C47-45ED-8F54-EFC08AAE6C6B}"/>
              </a:ext>
            </a:extLst>
          </p:cNvPr>
          <p:cNvSpPr>
            <a:spLocks xmlns:a="http://schemas.openxmlformats.org/drawingml/2006/main" noGrp="1"/>
          </p:cNvSpPr>
          <p:nvPr/>
        </p:nvSpPr>
        <p:spPr>
          <a:xfrm xmlns:a="http://schemas.openxmlformats.org/drawingml/2006/main">
            <a:off x="11287125" y="6477000"/>
            <a:ext cx="4476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75" b="0">
                <a:solidFill>
                  <a:srgbClr val="ADB8C5"/>
                </a:solidFill>
                <a:latin typeface="DejaVu Sans"/>
                <a:ea typeface="DejaVu Sans"/>
                <a:cs typeface="DejaVu Sans"/>
              </a:defRPr>
            </a:pPr>
            <a:r>
              <a:rPr sz="1275" b="0">
                <a:solidFill>
                  <a:srgbClr val="ADB8C5"/>
                </a:solidFill>
                <a:latin typeface="DejaVu Sans"/>
                <a:ea typeface="DejaVu Sans"/>
                <a:cs typeface="DejaVu Sans"/>
              </a:rPr>
              <a:t>01</a:t>
            </a:r>
          </a:p>
        </p:txBody>
      </p:sp>
      <p:sp>
        <p:nvSpPr>
          <p:cNvPr id="2" name="">
            <a:extLst xmlns:a="http://schemas.openxmlformats.org/drawingml/2006/main">
              <a:ext uri="{FF2B5EF4-FFF2-40B4-BE49-F238E27FC236}">
                <a16:creationId xmlns:a16="http://schemas.microsoft.com/office/drawing/2014/main" id="{7CFB1D1E-6F9B-4642-9AE6-8DEDEA96157E}"/>
              </a:ext>
            </a:extLst>
          </p:cNvPr>
          <p:cNvSpPr>
            <a:spLocks xmlns:a="http://schemas.openxmlformats.org/drawingml/2006/main" noGrp="1"/>
          </p:cNvSpPr>
          <p:nvPr/>
        </p:nvSpPr>
        <p:spPr>
          <a:xfrm xmlns:a="http://schemas.openxmlformats.org/drawingml/2006/main">
            <a:off x="457200" y="552450"/>
            <a:ext cx="112395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4050" b="1">
                <a:solidFill>
                  <a:srgbClr val="F4F7FA"/>
                </a:solidFill>
                <a:latin typeface="DejaVu Sans"/>
                <a:ea typeface="DejaVu Sans"/>
                <a:cs typeface="DejaVu Sans"/>
              </a:defRPr>
            </a:pPr>
            <a:r>
              <a:rPr sz="4050" b="1">
                <a:solidFill>
                  <a:srgbClr val="F4F7FA"/>
                </a:solidFill>
                <a:latin typeface="DejaVu Sans"/>
                <a:ea typeface="DejaVu Sans"/>
                <a:cs typeface="DejaVu Sans"/>
              </a:rPr>
              <a:t>AI Changes Both Sides</a:t>
            </a:r>
          </a:p>
          <a:p xmlns:a="http://schemas.openxmlformats.org/drawingml/2006/main">
            <a:pPr algn="l">
              <a:defRPr sz="4050" b="1">
                <a:solidFill>
                  <a:srgbClr val="F4F7FA"/>
                </a:solidFill>
                <a:latin typeface="DejaVu Sans"/>
                <a:ea typeface="DejaVu Sans"/>
                <a:cs typeface="DejaVu Sans"/>
              </a:defRPr>
            </a:pPr>
            <a:r>
              <a:rPr sz="4050" b="1">
                <a:solidFill>
                  <a:srgbClr val="F4F7FA"/>
                </a:solidFill>
                <a:latin typeface="DejaVu Sans"/>
                <a:ea typeface="DejaVu Sans"/>
                <a:cs typeface="DejaVu Sans"/>
              </a:rPr>
              <a:t>of Software Engineering</a:t>
            </a:r>
          </a:p>
        </p:txBody>
      </p:sp>
      <p:sp>
        <p:nvSpPr>
          <p:cNvPr id="3" name="">
            <a:extLst xmlns:a="http://schemas.openxmlformats.org/drawingml/2006/main">
              <a:ext uri="{FF2B5EF4-FFF2-40B4-BE49-F238E27FC236}">
                <a16:creationId xmlns:a16="http://schemas.microsoft.com/office/drawing/2014/main" id="{F133E5BE-213D-4087-943E-F58152A7D3FC}"/>
              </a:ext>
            </a:extLst>
          </p:cNvPr>
          <p:cNvSpPr>
            <a:spLocks xmlns:a="http://schemas.openxmlformats.org/drawingml/2006/main" noGrp="1"/>
          </p:cNvSpPr>
          <p:nvPr/>
        </p:nvSpPr>
        <p:spPr>
          <a:xfrm xmlns:a="http://schemas.openxmlformats.org/drawingml/2006/main">
            <a:off x="457200" y="2143125"/>
            <a:ext cx="10858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0">
                <a:solidFill>
                  <a:srgbClr val="ADB8C5"/>
                </a:solidFill>
                <a:latin typeface="DejaVu Sans"/>
                <a:ea typeface="DejaVu Sans"/>
                <a:cs typeface="DejaVu Sans"/>
              </a:defRPr>
            </a:pPr>
            <a:r>
              <a:rPr sz="2325" b="0">
                <a:solidFill>
                  <a:srgbClr val="ADB8C5"/>
                </a:solidFill>
                <a:latin typeface="DejaVu Sans"/>
                <a:ea typeface="DejaVu Sans"/>
                <a:cs typeface="DejaVu Sans"/>
              </a:rPr>
              <a:t>How we build software. And what software is.</a:t>
            </a:r>
          </a:p>
        </p:txBody>
      </p:sp>
      <p:sp>
        <p:nvSpPr>
          <p:cNvPr id="4" name="">
            <a:extLst xmlns:a="http://schemas.openxmlformats.org/drawingml/2006/main">
              <a:ext uri="{FF2B5EF4-FFF2-40B4-BE49-F238E27FC236}">
                <a16:creationId xmlns:a16="http://schemas.microsoft.com/office/drawing/2014/main" id="{12990AEC-316C-412E-BCD2-D2F70B6C380F}"/>
              </a:ext>
            </a:extLst>
          </p:cNvPr>
          <p:cNvSpPr>
            <a:spLocks xmlns:a="http://schemas.openxmlformats.org/drawingml/2006/main" noGrp="1"/>
          </p:cNvSpPr>
          <p:nvPr/>
        </p:nvSpPr>
        <p:spPr>
          <a:xfrm xmlns:a="http://schemas.openxmlformats.org/drawingml/2006/main">
            <a:off x="457200" y="3209925"/>
            <a:ext cx="3143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28C7F7"/>
                </a:solidFill>
                <a:latin typeface="DejaVu Sans"/>
                <a:ea typeface="DejaVu Sans"/>
                <a:cs typeface="DejaVu Sans"/>
              </a:defRPr>
            </a:pPr>
            <a:r>
              <a:rPr sz="2325" b="1">
                <a:solidFill>
                  <a:srgbClr val="28C7F7"/>
                </a:solidFill>
                <a:latin typeface="DejaVu Sans"/>
                <a:ea typeface="DejaVu Sans"/>
                <a:cs typeface="DejaVu Sans"/>
              </a:rPr>
              <a:t>HOW WE BUILD</a:t>
            </a:r>
          </a:p>
        </p:txBody>
      </p:sp>
      <p:sp>
        <p:nvSpPr>
          <p:cNvPr id="5" name="">
            <a:extLst xmlns:a="http://schemas.openxmlformats.org/drawingml/2006/main">
              <a:ext uri="{FF2B5EF4-FFF2-40B4-BE49-F238E27FC236}">
                <a16:creationId xmlns:a16="http://schemas.microsoft.com/office/drawing/2014/main" id="{CA5A7E98-F411-4C20-BB0D-537B88AB0E67}"/>
              </a:ext>
            </a:extLst>
          </p:cNvPr>
          <p:cNvSpPr>
            <a:spLocks xmlns:a="http://schemas.openxmlformats.org/drawingml/2006/main" noGrp="1"/>
          </p:cNvSpPr>
          <p:nvPr/>
        </p:nvSpPr>
        <p:spPr>
          <a:xfrm xmlns:a="http://schemas.openxmlformats.org/drawingml/2006/main">
            <a:off x="3829050" y="3400425"/>
            <a:ext cx="19050" cy="19050"/>
          </a:xfrm>
          <a:prstGeom xmlns:a="http://schemas.openxmlformats.org/drawingml/2006/main" prst="rect">
            <a:avLst/>
          </a:prstGeom>
          <a:solidFill xmlns:a="http://schemas.openxmlformats.org/drawingml/2006/main">
            <a:srgbClr val="0B0F14"/>
          </a:solidFill>
          <a:ln xmlns:a="http://schemas.openxmlformats.org/drawingml/2006/main" w="0">
            <a:solidFill>
              <a:srgbClr val="0B0F14"/>
            </a:solidFill>
            <a:prstDash val="solid"/>
          </a:ln>
        </p:spPr>
      </p:sp>
      <p:sp>
        <p:nvSpPr>
          <p:cNvPr id="6" name="">
            <a:extLst xmlns:a="http://schemas.openxmlformats.org/drawingml/2006/main">
              <a:ext uri="{FF2B5EF4-FFF2-40B4-BE49-F238E27FC236}">
                <a16:creationId xmlns:a16="http://schemas.microsoft.com/office/drawing/2014/main" id="{1BF5200B-7CFC-466D-9264-91A502D14955}"/>
              </a:ext>
            </a:extLst>
          </p:cNvPr>
          <p:cNvSpPr>
            <a:spLocks xmlns:a="http://schemas.openxmlformats.org/drawingml/2006/main" noGrp="1"/>
          </p:cNvSpPr>
          <p:nvPr/>
        </p:nvSpPr>
        <p:spPr>
          <a:xfrm xmlns:a="http://schemas.openxmlformats.org/drawingml/2006/main">
            <a:off x="5219700" y="3400425"/>
            <a:ext cx="19050" cy="19050"/>
          </a:xfrm>
          <a:prstGeom xmlns:a="http://schemas.openxmlformats.org/drawingml/2006/main" prst="rect">
            <a:avLst/>
          </a:prstGeom>
          <a:solidFill xmlns:a="http://schemas.openxmlformats.org/drawingml/2006/main">
            <a:srgbClr val="0B0F14"/>
          </a:solidFill>
          <a:ln xmlns:a="http://schemas.openxmlformats.org/drawingml/2006/main" w="0">
            <a:solidFill>
              <a:srgbClr val="0B0F14"/>
            </a:solidFill>
            <a:prstDash val="solid"/>
          </a:ln>
        </p:spPr>
      </p:sp>
      <p:cxnSp>
        <p:nvCxnSpPr>
          <p:cNvPr id="22" name=""/>
          <p:cNvCxnSpPr>
            <a:stCxn xmlns:a="http://schemas.openxmlformats.org/drawingml/2006/main" id="5" idx="3"/>
            <a:endCxn xmlns:a="http://schemas.openxmlformats.org/drawingml/2006/main" id="6" idx="1"/>
          </p:cNvCxnSpPr>
          <p:nvPr/>
        </p:nvCxnSpPr>
        <p:spPr>
          <a:xfrm xmlns:a="http://schemas.openxmlformats.org/drawingml/2006/main">
            <a:off x="3848100" y="3409950"/>
            <a:ext cx="1371600" cy="0"/>
          </a:xfrm>
          <a:prstGeom xmlns:a="http://schemas.openxmlformats.org/drawingml/2006/main" prst="straightConnector1">
            <a:avLst/>
          </a:prstGeom>
          <a:ln xmlns:a="http://schemas.openxmlformats.org/drawingml/2006/main" w="21908">
            <a:solidFill>
              <a:srgbClr val="28C7F7"/>
            </a:solidFill>
            <a:prstDash val="solid"/>
            <a:tailEnd type="triangle" w="sm" len="sm"/>
          </a:ln>
        </p:spPr>
      </p:cxnSp>
      <p:sp>
        <p:nvSpPr>
          <p:cNvPr id="8" name="">
            <a:extLst xmlns:a="http://schemas.openxmlformats.org/drawingml/2006/main">
              <a:ext uri="{FF2B5EF4-FFF2-40B4-BE49-F238E27FC236}">
                <a16:creationId xmlns:a16="http://schemas.microsoft.com/office/drawing/2014/main" id="{51835169-2999-4FA2-B1F0-5495433B6A97}"/>
              </a:ext>
            </a:extLst>
          </p:cNvPr>
          <p:cNvSpPr>
            <a:spLocks xmlns:a="http://schemas.openxmlformats.org/drawingml/2006/main" noGrp="1"/>
          </p:cNvSpPr>
          <p:nvPr/>
        </p:nvSpPr>
        <p:spPr>
          <a:xfrm xmlns:a="http://schemas.openxmlformats.org/drawingml/2006/main">
            <a:off x="5524500" y="3209925"/>
            <a:ext cx="6096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550" b="1">
                <a:solidFill>
                  <a:srgbClr val="F4F7FA"/>
                </a:solidFill>
                <a:latin typeface="DejaVu Sans"/>
                <a:ea typeface="DejaVu Sans"/>
                <a:cs typeface="DejaVu Sans"/>
              </a:defRPr>
            </a:pPr>
            <a:r>
              <a:rPr sz="2550" b="1">
                <a:solidFill>
                  <a:srgbClr val="F4F7FA"/>
                </a:solidFill>
                <a:latin typeface="DejaVu Sans"/>
                <a:ea typeface="DejaVu Sans"/>
                <a:cs typeface="DejaVu Sans"/>
              </a:rPr>
              <a:t>AI-assisted engineering</a:t>
            </a:r>
          </a:p>
        </p:txBody>
      </p:sp>
      <p:sp>
        <p:nvSpPr>
          <p:cNvPr id="9" name="">
            <a:extLst xmlns:a="http://schemas.openxmlformats.org/drawingml/2006/main">
              <a:ext uri="{FF2B5EF4-FFF2-40B4-BE49-F238E27FC236}">
                <a16:creationId xmlns:a16="http://schemas.microsoft.com/office/drawing/2014/main" id="{E742FA3D-573C-4643-AB51-C7C33C17350D}"/>
              </a:ext>
            </a:extLst>
          </p:cNvPr>
          <p:cNvSpPr>
            <a:spLocks xmlns:a="http://schemas.openxmlformats.org/drawingml/2006/main" noGrp="1"/>
          </p:cNvSpPr>
          <p:nvPr/>
        </p:nvSpPr>
        <p:spPr>
          <a:xfrm xmlns:a="http://schemas.openxmlformats.org/drawingml/2006/main">
            <a:off x="457200" y="4181475"/>
            <a:ext cx="3143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5B61C"/>
                </a:solidFill>
                <a:latin typeface="DejaVu Sans"/>
                <a:ea typeface="DejaVu Sans"/>
                <a:cs typeface="DejaVu Sans"/>
              </a:defRPr>
            </a:pPr>
            <a:r>
              <a:rPr sz="2325" b="1">
                <a:solidFill>
                  <a:srgbClr val="F5B61C"/>
                </a:solidFill>
                <a:latin typeface="DejaVu Sans"/>
                <a:ea typeface="DejaVu Sans"/>
                <a:cs typeface="DejaVu Sans"/>
              </a:rPr>
              <a:t>WHAT WE BUILD</a:t>
            </a:r>
          </a:p>
        </p:txBody>
      </p:sp>
      <p:sp>
        <p:nvSpPr>
          <p:cNvPr id="10" name="">
            <a:extLst xmlns:a="http://schemas.openxmlformats.org/drawingml/2006/main">
              <a:ext uri="{FF2B5EF4-FFF2-40B4-BE49-F238E27FC236}">
                <a16:creationId xmlns:a16="http://schemas.microsoft.com/office/drawing/2014/main" id="{D4D175BE-2F2A-4179-952A-29A7B8CC37DC}"/>
              </a:ext>
            </a:extLst>
          </p:cNvPr>
          <p:cNvSpPr>
            <a:spLocks xmlns:a="http://schemas.openxmlformats.org/drawingml/2006/main" noGrp="1"/>
          </p:cNvSpPr>
          <p:nvPr/>
        </p:nvSpPr>
        <p:spPr>
          <a:xfrm xmlns:a="http://schemas.openxmlformats.org/drawingml/2006/main">
            <a:off x="3829050" y="4371975"/>
            <a:ext cx="19050" cy="19050"/>
          </a:xfrm>
          <a:prstGeom xmlns:a="http://schemas.openxmlformats.org/drawingml/2006/main" prst="rect">
            <a:avLst/>
          </a:prstGeom>
          <a:solidFill xmlns:a="http://schemas.openxmlformats.org/drawingml/2006/main">
            <a:srgbClr val="0B0F14"/>
          </a:solidFill>
          <a:ln xmlns:a="http://schemas.openxmlformats.org/drawingml/2006/main" w="0">
            <a:solidFill>
              <a:srgbClr val="0B0F14"/>
            </a:solidFill>
            <a:prstDash val="solid"/>
          </a:ln>
        </p:spPr>
      </p:sp>
      <p:sp>
        <p:nvSpPr>
          <p:cNvPr id="11" name="">
            <a:extLst xmlns:a="http://schemas.openxmlformats.org/drawingml/2006/main">
              <a:ext uri="{FF2B5EF4-FFF2-40B4-BE49-F238E27FC236}">
                <a16:creationId xmlns:a16="http://schemas.microsoft.com/office/drawing/2014/main" id="{29F49007-41AE-4E35-9753-5645005C4D17}"/>
              </a:ext>
            </a:extLst>
          </p:cNvPr>
          <p:cNvSpPr>
            <a:spLocks xmlns:a="http://schemas.openxmlformats.org/drawingml/2006/main" noGrp="1"/>
          </p:cNvSpPr>
          <p:nvPr/>
        </p:nvSpPr>
        <p:spPr>
          <a:xfrm xmlns:a="http://schemas.openxmlformats.org/drawingml/2006/main">
            <a:off x="5219700" y="4371975"/>
            <a:ext cx="19050" cy="19050"/>
          </a:xfrm>
          <a:prstGeom xmlns:a="http://schemas.openxmlformats.org/drawingml/2006/main" prst="rect">
            <a:avLst/>
          </a:prstGeom>
          <a:solidFill xmlns:a="http://schemas.openxmlformats.org/drawingml/2006/main">
            <a:srgbClr val="0B0F14"/>
          </a:solidFill>
          <a:ln xmlns:a="http://schemas.openxmlformats.org/drawingml/2006/main" w="0">
            <a:solidFill>
              <a:srgbClr val="0B0F14"/>
            </a:solidFill>
            <a:prstDash val="solid"/>
          </a:ln>
        </p:spPr>
      </p:sp>
      <p:cxnSp>
        <p:nvCxnSpPr>
          <p:cNvPr id="27" name=""/>
          <p:cNvCxnSpPr>
            <a:stCxn xmlns:a="http://schemas.openxmlformats.org/drawingml/2006/main" id="10" idx="3"/>
            <a:endCxn xmlns:a="http://schemas.openxmlformats.org/drawingml/2006/main" id="11" idx="1"/>
          </p:cNvCxnSpPr>
          <p:nvPr/>
        </p:nvCxnSpPr>
        <p:spPr>
          <a:xfrm xmlns:a="http://schemas.openxmlformats.org/drawingml/2006/main">
            <a:off x="3848100" y="4381500"/>
            <a:ext cx="1371600" cy="0"/>
          </a:xfrm>
          <a:prstGeom xmlns:a="http://schemas.openxmlformats.org/drawingml/2006/main" prst="straightConnector1">
            <a:avLst/>
          </a:prstGeom>
          <a:ln xmlns:a="http://schemas.openxmlformats.org/drawingml/2006/main" w="21908">
            <a:solidFill>
              <a:srgbClr val="F5B61C"/>
            </a:solidFill>
            <a:prstDash val="solid"/>
            <a:tailEnd type="triangle" w="sm" len="sm"/>
          </a:ln>
        </p:spPr>
      </p:cxnSp>
      <p:sp>
        <p:nvSpPr>
          <p:cNvPr id="13" name="">
            <a:extLst xmlns:a="http://schemas.openxmlformats.org/drawingml/2006/main">
              <a:ext uri="{FF2B5EF4-FFF2-40B4-BE49-F238E27FC236}">
                <a16:creationId xmlns:a16="http://schemas.microsoft.com/office/drawing/2014/main" id="{F6DC575E-8D91-4716-9B9B-7D61B436D378}"/>
              </a:ext>
            </a:extLst>
          </p:cNvPr>
          <p:cNvSpPr>
            <a:spLocks xmlns:a="http://schemas.openxmlformats.org/drawingml/2006/main" noGrp="1"/>
          </p:cNvSpPr>
          <p:nvPr/>
        </p:nvSpPr>
        <p:spPr>
          <a:xfrm xmlns:a="http://schemas.openxmlformats.org/drawingml/2006/main">
            <a:off x="5524500" y="4181475"/>
            <a:ext cx="6096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550" b="1">
                <a:solidFill>
                  <a:srgbClr val="F4F7FA"/>
                </a:solidFill>
                <a:latin typeface="DejaVu Sans"/>
                <a:ea typeface="DejaVu Sans"/>
                <a:cs typeface="DejaVu Sans"/>
              </a:defRPr>
            </a:pPr>
            <a:r>
              <a:rPr sz="2550" b="1">
                <a:solidFill>
                  <a:srgbClr val="F4F7FA"/>
                </a:solidFill>
                <a:latin typeface="DejaVu Sans"/>
                <a:ea typeface="DejaVu Sans"/>
                <a:cs typeface="DejaVu Sans"/>
              </a:rPr>
              <a:t>Thinking Systems</a:t>
            </a:r>
          </a:p>
        </p:txBody>
      </p:sp>
      <p:sp>
        <p:nvSpPr>
          <p:cNvPr id="14" name="">
            <a:extLst xmlns:a="http://schemas.openxmlformats.org/drawingml/2006/main">
              <a:ext uri="{FF2B5EF4-FFF2-40B4-BE49-F238E27FC236}">
                <a16:creationId xmlns:a16="http://schemas.microsoft.com/office/drawing/2014/main" id="{1113AFA0-AE8F-4D4A-BA77-36202EB7B950}"/>
              </a:ext>
            </a:extLst>
          </p:cNvPr>
          <p:cNvSpPr>
            <a:spLocks xmlns:a="http://schemas.openxmlformats.org/drawingml/2006/main" noGrp="1"/>
          </p:cNvSpPr>
          <p:nvPr/>
        </p:nvSpPr>
        <p:spPr>
          <a:xfrm xmlns:a="http://schemas.openxmlformats.org/drawingml/2006/main">
            <a:off x="457200" y="561975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0">
                <a:solidFill>
                  <a:srgbClr val="ADB8C5"/>
                </a:solidFill>
                <a:latin typeface="DejaVu Sans"/>
                <a:ea typeface="DejaVu Sans"/>
                <a:cs typeface="DejaVu Sans"/>
              </a:defRPr>
            </a:pPr>
            <a:r>
              <a:rPr sz="2025" b="0">
                <a:solidFill>
                  <a:srgbClr val="ADB8C5"/>
                </a:solidFill>
                <a:latin typeface="DejaVu Sans"/>
                <a:ea typeface="DejaVu Sans"/>
                <a:cs typeface="DejaVu Sans"/>
              </a:rPr>
              <a:t>They are related. They are not the same.</a:t>
            </a:r>
          </a:p>
        </p:txBody>
      </p:sp>
      <p:sp>
        <p:nvSpPr>
          <p:cNvPr id="15" name="">
            <a:extLst xmlns:a="http://schemas.openxmlformats.org/drawingml/2006/main">
              <a:ext uri="{FF2B5EF4-FFF2-40B4-BE49-F238E27FC236}">
                <a16:creationId xmlns:a16="http://schemas.microsoft.com/office/drawing/2014/main" id="{76DA6E5B-B073-481F-B3E6-C11FC80563BA}"/>
              </a:ext>
            </a:extLst>
          </p:cNvPr>
          <p:cNvSpPr>
            <a:spLocks xmlns:a="http://schemas.openxmlformats.org/drawingml/2006/main" noGrp="1"/>
          </p:cNvSpPr>
          <p:nvPr/>
        </p:nvSpPr>
        <p:spPr>
          <a:xfrm xmlns:a="http://schemas.openxmlformats.org/drawingml/2006/main">
            <a:off x="457200" y="6391275"/>
            <a:ext cx="7620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Vitalii Oborskyi · PMDay</a:t>
            </a:r>
          </a:p>
        </p:txBody>
      </p:sp>
    </p:spTree>
    <p:extLst>
      <p:ext uri="{BB962C8B-B14F-4D97-AF65-F5344CB8AC3E}">
        <p14:creationId xmlns:p14="http://schemas.microsoft.com/office/powerpoint/2010/main" val="1892526062"/>
      </p:ext>
    </p:extLst>
  </p:cSld>
</p:sld>
</file>

<file path=ppt/slides/slide2.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560BAA26-3A9D-49F8-9868-A5FF6E8440F4}"/>
              </a:ext>
            </a:extLst>
          </p:cNvPr>
          <p:cNvSpPr>
            <a:spLocks xmlns:a="http://schemas.openxmlformats.org/drawingml/2006/main" noGrp="1"/>
          </p:cNvSpPr>
          <p:nvPr/>
        </p:nvSpPr>
        <p:spPr>
          <a:xfrm xmlns:a="http://schemas.openxmlformats.org/drawingml/2006/main">
            <a:off x="457200" y="333375"/>
            <a:ext cx="11277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150" b="1">
                <a:solidFill>
                  <a:srgbClr val="F4F7FA"/>
                </a:solidFill>
                <a:latin typeface="DejaVu Sans"/>
                <a:ea typeface="DejaVu Sans"/>
                <a:cs typeface="DejaVu Sans"/>
              </a:defRPr>
            </a:pPr>
            <a:r>
              <a:rPr sz="3150" b="1">
                <a:solidFill>
                  <a:srgbClr val="F4F7FA"/>
                </a:solidFill>
                <a:latin typeface="DejaVu Sans"/>
                <a:ea typeface="DejaVu Sans"/>
                <a:cs typeface="DejaVu Sans"/>
              </a:rPr>
              <a:t>This Is a Real Phase Transition</a:t>
            </a:r>
          </a:p>
        </p:txBody>
      </p:sp>
      <p:sp>
        <p:nvSpPr>
          <p:cNvPr id="2" name="">
            <a:extLst xmlns:a="http://schemas.openxmlformats.org/drawingml/2006/main">
              <a:ext uri="{FF2B5EF4-FFF2-40B4-BE49-F238E27FC236}">
                <a16:creationId xmlns:a16="http://schemas.microsoft.com/office/drawing/2014/main" id="{AA8171C9-45B7-4C11-956A-A1492A28904A}"/>
              </a:ext>
            </a:extLst>
          </p:cNvPr>
          <p:cNvSpPr>
            <a:spLocks xmlns:a="http://schemas.openxmlformats.org/drawingml/2006/main" noGrp="1"/>
          </p:cNvSpPr>
          <p:nvPr/>
        </p:nvSpPr>
        <p:spPr>
          <a:xfrm xmlns:a="http://schemas.openxmlformats.org/drawingml/2006/main" flipH="0" flipV="0">
            <a:off x="457200" y="1381125"/>
            <a:ext cx="112776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93E5B7D8-77EF-4906-A2F1-8F6A0340C31E}"/>
              </a:ext>
            </a:extLst>
          </p:cNvPr>
          <p:cNvSpPr>
            <a:spLocks xmlns:a="http://schemas.openxmlformats.org/drawingml/2006/main" noGrp="1"/>
          </p:cNvSpPr>
          <p:nvPr/>
        </p:nvSpPr>
        <p:spPr>
          <a:xfrm xmlns:a="http://schemas.openxmlformats.org/drawingml/2006/main">
            <a:off x="11287125" y="6477000"/>
            <a:ext cx="4476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75" b="0">
                <a:solidFill>
                  <a:srgbClr val="ADB8C5"/>
                </a:solidFill>
                <a:latin typeface="DejaVu Sans"/>
                <a:ea typeface="DejaVu Sans"/>
                <a:cs typeface="DejaVu Sans"/>
              </a:defRPr>
            </a:pPr>
            <a:r>
              <a:rPr sz="1275" b="0">
                <a:solidFill>
                  <a:srgbClr val="ADB8C5"/>
                </a:solidFill>
                <a:latin typeface="DejaVu Sans"/>
                <a:ea typeface="DejaVu Sans"/>
                <a:cs typeface="DejaVu Sans"/>
              </a:rPr>
              <a:t>02</a:t>
            </a:r>
          </a:p>
        </p:txBody>
      </p:sp>
      <p:sp>
        <p:nvSpPr>
          <p:cNvPr id="4" name="">
            <a:extLst xmlns:a="http://schemas.openxmlformats.org/drawingml/2006/main">
              <a:ext uri="{FF2B5EF4-FFF2-40B4-BE49-F238E27FC236}">
                <a16:creationId xmlns:a16="http://schemas.microsoft.com/office/drawing/2014/main" id="{BA1C14E8-29A1-4595-A6B0-F4F42A3A65E7}"/>
              </a:ext>
            </a:extLst>
          </p:cNvPr>
          <p:cNvSpPr>
            <a:spLocks xmlns:a="http://schemas.openxmlformats.org/drawingml/2006/main" noGrp="1"/>
          </p:cNvSpPr>
          <p:nvPr/>
        </p:nvSpPr>
        <p:spPr>
          <a:xfrm xmlns:a="http://schemas.openxmlformats.org/drawingml/2006/main">
            <a:off x="457200" y="1838325"/>
            <a:ext cx="95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0">
                <a:solidFill>
                  <a:srgbClr val="28C7F7"/>
                </a:solidFill>
                <a:latin typeface="DejaVu Sans"/>
                <a:ea typeface="DejaVu Sans"/>
                <a:cs typeface="DejaVu Sans"/>
              </a:defRPr>
            </a:pPr>
            <a:r>
              <a:rPr sz="2100" b="0">
                <a:solidFill>
                  <a:srgbClr val="28C7F7"/>
                </a:solidFill>
                <a:latin typeface="DejaVu Sans"/>
                <a:ea typeface="DejaVu Sans"/>
                <a:cs typeface="DejaVu Sans"/>
              </a:rPr>
              <a:t>01</a:t>
            </a:r>
          </a:p>
        </p:txBody>
      </p:sp>
      <p:sp>
        <p:nvSpPr>
          <p:cNvPr id="5" name="">
            <a:extLst xmlns:a="http://schemas.openxmlformats.org/drawingml/2006/main">
              <a:ext uri="{FF2B5EF4-FFF2-40B4-BE49-F238E27FC236}">
                <a16:creationId xmlns:a16="http://schemas.microsoft.com/office/drawing/2014/main" id="{CF1C8034-085F-41C6-A1CF-3E70C7725D52}"/>
              </a:ext>
            </a:extLst>
          </p:cNvPr>
          <p:cNvSpPr>
            <a:spLocks xmlns:a="http://schemas.openxmlformats.org/drawingml/2006/main" noGrp="1"/>
          </p:cNvSpPr>
          <p:nvPr/>
        </p:nvSpPr>
        <p:spPr>
          <a:xfrm xmlns:a="http://schemas.openxmlformats.org/drawingml/2006/main" flipH="0" flipV="0">
            <a:off x="457200" y="2447925"/>
            <a:ext cx="3333750" cy="0"/>
          </a:xfrm>
          <a:prstGeom xmlns:a="http://schemas.openxmlformats.org/drawingml/2006/main" prst="line">
            <a:avLst/>
          </a:prstGeom>
          <a:noFill xmlns:a="http://schemas.openxmlformats.org/drawingml/2006/main"/>
          <a:ln xmlns:a="http://schemas.openxmlformats.org/drawingml/2006/main" w="28575">
            <a:solidFill>
              <a:srgbClr val="28C7F7"/>
            </a:solidFill>
            <a:prstDash val="solid"/>
          </a:ln>
        </p:spPr>
      </p:sp>
      <p:sp>
        <p:nvSpPr>
          <p:cNvPr id="6" name="">
            <a:extLst xmlns:a="http://schemas.openxmlformats.org/drawingml/2006/main">
              <a:ext uri="{FF2B5EF4-FFF2-40B4-BE49-F238E27FC236}">
                <a16:creationId xmlns:a16="http://schemas.microsoft.com/office/drawing/2014/main" id="{95CB7E3D-F7FC-4DB6-9EB8-056E46A6FD49}"/>
              </a:ext>
            </a:extLst>
          </p:cNvPr>
          <p:cNvSpPr>
            <a:spLocks xmlns:a="http://schemas.openxmlformats.org/drawingml/2006/main" noGrp="1"/>
          </p:cNvSpPr>
          <p:nvPr/>
        </p:nvSpPr>
        <p:spPr>
          <a:xfrm xmlns:a="http://schemas.openxmlformats.org/drawingml/2006/main">
            <a:off x="457200" y="2724150"/>
            <a:ext cx="352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775" b="1">
                <a:solidFill>
                  <a:srgbClr val="F4F7FA"/>
                </a:solidFill>
                <a:latin typeface="DejaVu Sans"/>
                <a:ea typeface="DejaVu Sans"/>
                <a:cs typeface="DejaVu Sans"/>
              </a:defRPr>
            </a:pPr>
            <a:r>
              <a:rPr sz="2775" b="1">
                <a:solidFill>
                  <a:srgbClr val="F4F7FA"/>
                </a:solidFill>
                <a:latin typeface="DejaVu Sans"/>
                <a:ea typeface="DejaVu Sans"/>
                <a:cs typeface="DejaVu Sans"/>
              </a:rPr>
              <a:t>Writing</a:t>
            </a:r>
          </a:p>
        </p:txBody>
      </p:sp>
      <p:sp>
        <p:nvSpPr>
          <p:cNvPr id="7" name="">
            <a:extLst xmlns:a="http://schemas.openxmlformats.org/drawingml/2006/main">
              <a:ext uri="{FF2B5EF4-FFF2-40B4-BE49-F238E27FC236}">
                <a16:creationId xmlns:a16="http://schemas.microsoft.com/office/drawing/2014/main" id="{3D5FB3F9-FDDE-4861-9F60-710BBE466B3A}"/>
              </a:ext>
            </a:extLst>
          </p:cNvPr>
          <p:cNvSpPr>
            <a:spLocks xmlns:a="http://schemas.openxmlformats.org/drawingml/2006/main" noGrp="1"/>
          </p:cNvSpPr>
          <p:nvPr/>
        </p:nvSpPr>
        <p:spPr>
          <a:xfrm xmlns:a="http://schemas.openxmlformats.org/drawingml/2006/main">
            <a:off x="457200" y="3324225"/>
            <a:ext cx="35242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75" b="0">
                <a:solidFill>
                  <a:srgbClr val="28C7F7"/>
                </a:solidFill>
                <a:latin typeface="DejaVu Sans"/>
                <a:ea typeface="DejaVu Sans"/>
                <a:cs typeface="DejaVu Sans"/>
              </a:defRPr>
            </a:pPr>
            <a:r>
              <a:rPr sz="2175" b="0">
                <a:solidFill>
                  <a:srgbClr val="28C7F7"/>
                </a:solidFill>
                <a:latin typeface="DejaVu Sans"/>
                <a:ea typeface="DejaVu Sans"/>
                <a:cs typeface="DejaVu Sans"/>
              </a:rPr>
              <a:t>Externalized</a:t>
            </a:r>
          </a:p>
          <a:p xmlns:a="http://schemas.openxmlformats.org/drawingml/2006/main">
            <a:pPr algn="l">
              <a:defRPr sz="2175" b="0">
                <a:solidFill>
                  <a:srgbClr val="28C7F7"/>
                </a:solidFill>
                <a:latin typeface="DejaVu Sans"/>
                <a:ea typeface="DejaVu Sans"/>
                <a:cs typeface="DejaVu Sans"/>
              </a:defRPr>
            </a:pPr>
            <a:r>
              <a:rPr sz="2175" b="0">
                <a:solidFill>
                  <a:srgbClr val="28C7F7"/>
                </a:solidFill>
                <a:latin typeface="DejaVu Sans"/>
                <a:ea typeface="DejaVu Sans"/>
                <a:cs typeface="DejaVu Sans"/>
              </a:rPr>
              <a:t>Memory</a:t>
            </a:r>
          </a:p>
        </p:txBody>
      </p:sp>
      <p:sp>
        <p:nvSpPr>
          <p:cNvPr id="8" name="">
            <a:extLst xmlns:a="http://schemas.openxmlformats.org/drawingml/2006/main">
              <a:ext uri="{FF2B5EF4-FFF2-40B4-BE49-F238E27FC236}">
                <a16:creationId xmlns:a16="http://schemas.microsoft.com/office/drawing/2014/main" id="{426DF289-AC08-46FE-91BF-AC2F0160062C}"/>
              </a:ext>
            </a:extLst>
          </p:cNvPr>
          <p:cNvSpPr>
            <a:spLocks xmlns:a="http://schemas.openxmlformats.org/drawingml/2006/main" noGrp="1"/>
          </p:cNvSpPr>
          <p:nvPr/>
        </p:nvSpPr>
        <p:spPr>
          <a:xfrm xmlns:a="http://schemas.openxmlformats.org/drawingml/2006/main">
            <a:off x="4314825" y="1838325"/>
            <a:ext cx="95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0">
                <a:solidFill>
                  <a:srgbClr val="28C7F7"/>
                </a:solidFill>
                <a:latin typeface="DejaVu Sans"/>
                <a:ea typeface="DejaVu Sans"/>
                <a:cs typeface="DejaVu Sans"/>
              </a:defRPr>
            </a:pPr>
            <a:r>
              <a:rPr sz="2100" b="0">
                <a:solidFill>
                  <a:srgbClr val="28C7F7"/>
                </a:solidFill>
                <a:latin typeface="DejaVu Sans"/>
                <a:ea typeface="DejaVu Sans"/>
                <a:cs typeface="DejaVu Sans"/>
              </a:rPr>
              <a:t>02</a:t>
            </a:r>
          </a:p>
        </p:txBody>
      </p:sp>
      <p:sp>
        <p:nvSpPr>
          <p:cNvPr id="9" name="">
            <a:extLst xmlns:a="http://schemas.openxmlformats.org/drawingml/2006/main">
              <a:ext uri="{FF2B5EF4-FFF2-40B4-BE49-F238E27FC236}">
                <a16:creationId xmlns:a16="http://schemas.microsoft.com/office/drawing/2014/main" id="{4F2EF768-CB66-4508-8256-4FA8761F52DE}"/>
              </a:ext>
            </a:extLst>
          </p:cNvPr>
          <p:cNvSpPr>
            <a:spLocks xmlns:a="http://schemas.openxmlformats.org/drawingml/2006/main" noGrp="1"/>
          </p:cNvSpPr>
          <p:nvPr/>
        </p:nvSpPr>
        <p:spPr>
          <a:xfrm xmlns:a="http://schemas.openxmlformats.org/drawingml/2006/main" flipH="0" flipV="0">
            <a:off x="4314825" y="2447925"/>
            <a:ext cx="3333750" cy="0"/>
          </a:xfrm>
          <a:prstGeom xmlns:a="http://schemas.openxmlformats.org/drawingml/2006/main" prst="line">
            <a:avLst/>
          </a:prstGeom>
          <a:noFill xmlns:a="http://schemas.openxmlformats.org/drawingml/2006/main"/>
          <a:ln xmlns:a="http://schemas.openxmlformats.org/drawingml/2006/main" w="28575">
            <a:solidFill>
              <a:srgbClr val="28C7F7"/>
            </a:solidFill>
            <a:prstDash val="solid"/>
          </a:ln>
        </p:spPr>
      </p:sp>
      <p:sp>
        <p:nvSpPr>
          <p:cNvPr id="10" name="">
            <a:extLst xmlns:a="http://schemas.openxmlformats.org/drawingml/2006/main">
              <a:ext uri="{FF2B5EF4-FFF2-40B4-BE49-F238E27FC236}">
                <a16:creationId xmlns:a16="http://schemas.microsoft.com/office/drawing/2014/main" id="{048191B2-2FDF-4F99-8C51-55AD709FBFF4}"/>
              </a:ext>
            </a:extLst>
          </p:cNvPr>
          <p:cNvSpPr>
            <a:spLocks xmlns:a="http://schemas.openxmlformats.org/drawingml/2006/main" noGrp="1"/>
          </p:cNvSpPr>
          <p:nvPr/>
        </p:nvSpPr>
        <p:spPr>
          <a:xfrm xmlns:a="http://schemas.openxmlformats.org/drawingml/2006/main">
            <a:off x="4314825" y="2724150"/>
            <a:ext cx="352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775" b="1">
                <a:solidFill>
                  <a:srgbClr val="F4F7FA"/>
                </a:solidFill>
                <a:latin typeface="DejaVu Sans"/>
                <a:ea typeface="DejaVu Sans"/>
                <a:cs typeface="DejaVu Sans"/>
              </a:defRPr>
            </a:pPr>
            <a:r>
              <a:rPr sz="2775" b="1">
                <a:solidFill>
                  <a:srgbClr val="F4F7FA"/>
                </a:solidFill>
                <a:latin typeface="DejaVu Sans"/>
                <a:ea typeface="DejaVu Sans"/>
                <a:cs typeface="DejaVu Sans"/>
              </a:rPr>
              <a:t>Computers</a:t>
            </a:r>
          </a:p>
        </p:txBody>
      </p:sp>
      <p:sp>
        <p:nvSpPr>
          <p:cNvPr id="11" name="">
            <a:extLst xmlns:a="http://schemas.openxmlformats.org/drawingml/2006/main">
              <a:ext uri="{FF2B5EF4-FFF2-40B4-BE49-F238E27FC236}">
                <a16:creationId xmlns:a16="http://schemas.microsoft.com/office/drawing/2014/main" id="{497DA581-F332-418E-8052-86783ED4C1EB}"/>
              </a:ext>
            </a:extLst>
          </p:cNvPr>
          <p:cNvSpPr>
            <a:spLocks xmlns:a="http://schemas.openxmlformats.org/drawingml/2006/main" noGrp="1"/>
          </p:cNvSpPr>
          <p:nvPr/>
        </p:nvSpPr>
        <p:spPr>
          <a:xfrm xmlns:a="http://schemas.openxmlformats.org/drawingml/2006/main">
            <a:off x="4314825" y="3324225"/>
            <a:ext cx="35242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75" b="0">
                <a:solidFill>
                  <a:srgbClr val="28C7F7"/>
                </a:solidFill>
                <a:latin typeface="DejaVu Sans"/>
                <a:ea typeface="DejaVu Sans"/>
                <a:cs typeface="DejaVu Sans"/>
              </a:defRPr>
            </a:pPr>
            <a:r>
              <a:rPr sz="2175" b="0">
                <a:solidFill>
                  <a:srgbClr val="28C7F7"/>
                </a:solidFill>
                <a:latin typeface="DejaVu Sans"/>
                <a:ea typeface="DejaVu Sans"/>
                <a:cs typeface="DejaVu Sans"/>
              </a:rPr>
              <a:t>Externalized</a:t>
            </a:r>
          </a:p>
          <a:p xmlns:a="http://schemas.openxmlformats.org/drawingml/2006/main">
            <a:pPr algn="l">
              <a:defRPr sz="2175" b="0">
                <a:solidFill>
                  <a:srgbClr val="28C7F7"/>
                </a:solidFill>
                <a:latin typeface="DejaVu Sans"/>
                <a:ea typeface="DejaVu Sans"/>
                <a:cs typeface="DejaVu Sans"/>
              </a:defRPr>
            </a:pPr>
            <a:r>
              <a:rPr sz="2175" b="0">
                <a:solidFill>
                  <a:srgbClr val="28C7F7"/>
                </a:solidFill>
                <a:latin typeface="DejaVu Sans"/>
                <a:ea typeface="DejaVu Sans"/>
                <a:cs typeface="DejaVu Sans"/>
              </a:rPr>
              <a:t>Calculation</a:t>
            </a:r>
          </a:p>
        </p:txBody>
      </p:sp>
      <p:sp>
        <p:nvSpPr>
          <p:cNvPr id="12" name="">
            <a:extLst xmlns:a="http://schemas.openxmlformats.org/drawingml/2006/main">
              <a:ext uri="{FF2B5EF4-FFF2-40B4-BE49-F238E27FC236}">
                <a16:creationId xmlns:a16="http://schemas.microsoft.com/office/drawing/2014/main" id="{DCEFF548-A85C-464E-9557-AF40962AC550}"/>
              </a:ext>
            </a:extLst>
          </p:cNvPr>
          <p:cNvSpPr>
            <a:spLocks xmlns:a="http://schemas.openxmlformats.org/drawingml/2006/main" noGrp="1"/>
          </p:cNvSpPr>
          <p:nvPr/>
        </p:nvSpPr>
        <p:spPr>
          <a:xfrm xmlns:a="http://schemas.openxmlformats.org/drawingml/2006/main">
            <a:off x="8172450" y="1838325"/>
            <a:ext cx="95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0">
                <a:solidFill>
                  <a:srgbClr val="F5B61C"/>
                </a:solidFill>
                <a:latin typeface="DejaVu Sans"/>
                <a:ea typeface="DejaVu Sans"/>
                <a:cs typeface="DejaVu Sans"/>
              </a:defRPr>
            </a:pPr>
            <a:r>
              <a:rPr sz="2100" b="0">
                <a:solidFill>
                  <a:srgbClr val="F5B61C"/>
                </a:solidFill>
                <a:latin typeface="DejaVu Sans"/>
                <a:ea typeface="DejaVu Sans"/>
                <a:cs typeface="DejaVu Sans"/>
              </a:rPr>
              <a:t>03</a:t>
            </a:r>
          </a:p>
        </p:txBody>
      </p:sp>
      <p:sp>
        <p:nvSpPr>
          <p:cNvPr id="13" name="">
            <a:extLst xmlns:a="http://schemas.openxmlformats.org/drawingml/2006/main">
              <a:ext uri="{FF2B5EF4-FFF2-40B4-BE49-F238E27FC236}">
                <a16:creationId xmlns:a16="http://schemas.microsoft.com/office/drawing/2014/main" id="{5C7B2499-2CB9-45F2-8520-6FA02F6AF1CB}"/>
              </a:ext>
            </a:extLst>
          </p:cNvPr>
          <p:cNvSpPr>
            <a:spLocks xmlns:a="http://schemas.openxmlformats.org/drawingml/2006/main" noGrp="1"/>
          </p:cNvSpPr>
          <p:nvPr/>
        </p:nvSpPr>
        <p:spPr>
          <a:xfrm xmlns:a="http://schemas.openxmlformats.org/drawingml/2006/main" flipH="0" flipV="0">
            <a:off x="8172450" y="2447925"/>
            <a:ext cx="3333750" cy="0"/>
          </a:xfrm>
          <a:prstGeom xmlns:a="http://schemas.openxmlformats.org/drawingml/2006/main" prst="line">
            <a:avLst/>
          </a:prstGeom>
          <a:noFill xmlns:a="http://schemas.openxmlformats.org/drawingml/2006/main"/>
          <a:ln xmlns:a="http://schemas.openxmlformats.org/drawingml/2006/main" w="28575">
            <a:solidFill>
              <a:srgbClr val="F5B61C"/>
            </a:solidFill>
            <a:prstDash val="solid"/>
          </a:ln>
        </p:spPr>
      </p:sp>
      <p:sp>
        <p:nvSpPr>
          <p:cNvPr id="14" name="">
            <a:extLst xmlns:a="http://schemas.openxmlformats.org/drawingml/2006/main">
              <a:ext uri="{FF2B5EF4-FFF2-40B4-BE49-F238E27FC236}">
                <a16:creationId xmlns:a16="http://schemas.microsoft.com/office/drawing/2014/main" id="{4AF810E3-26E6-4B93-AA49-60E3A8E437CD}"/>
              </a:ext>
            </a:extLst>
          </p:cNvPr>
          <p:cNvSpPr>
            <a:spLocks xmlns:a="http://schemas.openxmlformats.org/drawingml/2006/main" noGrp="1"/>
          </p:cNvSpPr>
          <p:nvPr/>
        </p:nvSpPr>
        <p:spPr>
          <a:xfrm xmlns:a="http://schemas.openxmlformats.org/drawingml/2006/main">
            <a:off x="8172450" y="2724150"/>
            <a:ext cx="352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775" b="1">
                <a:solidFill>
                  <a:srgbClr val="F4F7FA"/>
                </a:solidFill>
                <a:latin typeface="DejaVu Sans"/>
                <a:ea typeface="DejaVu Sans"/>
                <a:cs typeface="DejaVu Sans"/>
              </a:defRPr>
            </a:pPr>
            <a:r>
              <a:rPr sz="2775" b="1">
                <a:solidFill>
                  <a:srgbClr val="F4F7FA"/>
                </a:solidFill>
                <a:latin typeface="DejaVu Sans"/>
                <a:ea typeface="DejaVu Sans"/>
                <a:cs typeface="DejaVu Sans"/>
              </a:rPr>
              <a:t>Large Models</a:t>
            </a:r>
          </a:p>
        </p:txBody>
      </p:sp>
      <p:sp>
        <p:nvSpPr>
          <p:cNvPr id="15" name="">
            <a:extLst xmlns:a="http://schemas.openxmlformats.org/drawingml/2006/main">
              <a:ext uri="{FF2B5EF4-FFF2-40B4-BE49-F238E27FC236}">
                <a16:creationId xmlns:a16="http://schemas.microsoft.com/office/drawing/2014/main" id="{7BDD67BC-E772-45C0-9BE8-D9F4A0609240}"/>
              </a:ext>
            </a:extLst>
          </p:cNvPr>
          <p:cNvSpPr>
            <a:spLocks xmlns:a="http://schemas.openxmlformats.org/drawingml/2006/main" noGrp="1"/>
          </p:cNvSpPr>
          <p:nvPr/>
        </p:nvSpPr>
        <p:spPr>
          <a:xfrm xmlns:a="http://schemas.openxmlformats.org/drawingml/2006/main">
            <a:off x="8172450" y="3324225"/>
            <a:ext cx="35242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75" b="0">
                <a:solidFill>
                  <a:srgbClr val="F5B61C"/>
                </a:solidFill>
                <a:latin typeface="DejaVu Sans"/>
                <a:ea typeface="DejaVu Sans"/>
                <a:cs typeface="DejaVu Sans"/>
              </a:defRPr>
            </a:pPr>
            <a:r>
              <a:rPr sz="2175" b="0">
                <a:solidFill>
                  <a:srgbClr val="F5B61C"/>
                </a:solidFill>
                <a:latin typeface="DejaVu Sans"/>
                <a:ea typeface="DejaVu Sans"/>
                <a:cs typeface="DejaVu Sans"/>
              </a:rPr>
              <a:t>Externalized</a:t>
            </a:r>
          </a:p>
          <a:p xmlns:a="http://schemas.openxmlformats.org/drawingml/2006/main">
            <a:pPr algn="l">
              <a:defRPr sz="2175" b="0">
                <a:solidFill>
                  <a:srgbClr val="F5B61C"/>
                </a:solidFill>
                <a:latin typeface="DejaVu Sans"/>
                <a:ea typeface="DejaVu Sans"/>
                <a:cs typeface="DejaVu Sans"/>
              </a:defRPr>
            </a:pPr>
            <a:r>
              <a:rPr sz="2175" b="0">
                <a:solidFill>
                  <a:srgbClr val="F5B61C"/>
                </a:solidFill>
                <a:latin typeface="DejaVu Sans"/>
                <a:ea typeface="DejaVu Sans"/>
                <a:cs typeface="DejaVu Sans"/>
              </a:rPr>
              <a:t>Cognition</a:t>
            </a:r>
          </a:p>
        </p:txBody>
      </p:sp>
      <p:sp>
        <p:nvSpPr>
          <p:cNvPr id="16" name="">
            <a:extLst xmlns:a="http://schemas.openxmlformats.org/drawingml/2006/main">
              <a:ext uri="{FF2B5EF4-FFF2-40B4-BE49-F238E27FC236}">
                <a16:creationId xmlns:a16="http://schemas.microsoft.com/office/drawing/2014/main" id="{38CA98D9-9B10-46BF-B5DE-9F7D47288B57}"/>
              </a:ext>
            </a:extLst>
          </p:cNvPr>
          <p:cNvSpPr>
            <a:spLocks xmlns:a="http://schemas.openxmlformats.org/drawingml/2006/main" noGrp="1"/>
          </p:cNvSpPr>
          <p:nvPr/>
        </p:nvSpPr>
        <p:spPr>
          <a:xfrm xmlns:a="http://schemas.openxmlformats.org/drawingml/2006/main">
            <a:off x="457200" y="4733925"/>
            <a:ext cx="11277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0">
                <a:solidFill>
                  <a:srgbClr val="ADB8C5"/>
                </a:solidFill>
                <a:latin typeface="DejaVu Sans"/>
                <a:ea typeface="DejaVu Sans"/>
                <a:cs typeface="DejaVu Sans"/>
              </a:defRPr>
            </a:pPr>
            <a:r>
              <a:rPr sz="1800" b="0">
                <a:solidFill>
                  <a:srgbClr val="ADB8C5"/>
                </a:solidFill>
                <a:latin typeface="DejaVu Sans"/>
                <a:ea typeface="DejaVu Sans"/>
                <a:cs typeface="DejaVu Sans"/>
              </a:rPr>
              <a:t>No assumption of will, consciousness or human-like understanding is required.</a:t>
            </a:r>
          </a:p>
        </p:txBody>
      </p:sp>
      <p:sp>
        <p:nvSpPr>
          <p:cNvPr id="17" name="">
            <a:extLst xmlns:a="http://schemas.openxmlformats.org/drawingml/2006/main">
              <a:ext uri="{FF2B5EF4-FFF2-40B4-BE49-F238E27FC236}">
                <a16:creationId xmlns:a16="http://schemas.microsoft.com/office/drawing/2014/main" id="{F32940D9-F7A7-442B-A71F-E2675CBC14D7}"/>
              </a:ext>
            </a:extLst>
          </p:cNvPr>
          <p:cNvSpPr>
            <a:spLocks xmlns:a="http://schemas.openxmlformats.org/drawingml/2006/main" noGrp="1"/>
          </p:cNvSpPr>
          <p:nvPr/>
        </p:nvSpPr>
        <p:spPr>
          <a:xfrm xmlns:a="http://schemas.openxmlformats.org/drawingml/2006/main">
            <a:off x="457200" y="5505450"/>
            <a:ext cx="112776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1">
                <a:solidFill>
                  <a:srgbClr val="F4F7FA"/>
                </a:solidFill>
                <a:latin typeface="DejaVu Sans"/>
                <a:ea typeface="DejaVu Sans"/>
                <a:cs typeface="DejaVu Sans"/>
              </a:defRPr>
            </a:pPr>
            <a:r>
              <a:rPr sz="2250" b="1">
                <a:solidFill>
                  <a:srgbClr val="F4F7FA"/>
                </a:solidFill>
                <a:latin typeface="DejaVu Sans"/>
                <a:ea typeface="DejaVu Sans"/>
                <a:cs typeface="DejaVu Sans"/>
              </a:rPr>
              <a:t>We design the environment in which behavior is generated at runtime.</a:t>
            </a:r>
          </a:p>
        </p:txBody>
      </p:sp>
    </p:spTree>
    <p:extLst>
      <p:ext uri="{BB962C8B-B14F-4D97-AF65-F5344CB8AC3E}">
        <p14:creationId xmlns:p14="http://schemas.microsoft.com/office/powerpoint/2010/main" val="191503786"/>
      </p:ext>
    </p:extLst>
  </p:cSld>
</p:sld>
</file>

<file path=ppt/slides/slide3.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2B4113BC-52D5-48D7-A302-D2CAA2C13094}"/>
              </a:ext>
            </a:extLst>
          </p:cNvPr>
          <p:cNvSpPr>
            <a:spLocks xmlns:a="http://schemas.openxmlformats.org/drawingml/2006/main" noGrp="1"/>
          </p:cNvSpPr>
          <p:nvPr/>
        </p:nvSpPr>
        <p:spPr>
          <a:xfrm xmlns:a="http://schemas.openxmlformats.org/drawingml/2006/main">
            <a:off x="457200" y="333375"/>
            <a:ext cx="11277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150" b="1">
                <a:solidFill>
                  <a:srgbClr val="F4F7FA"/>
                </a:solidFill>
                <a:latin typeface="DejaVu Sans"/>
                <a:ea typeface="DejaVu Sans"/>
                <a:cs typeface="DejaVu Sans"/>
              </a:defRPr>
            </a:pPr>
            <a:r>
              <a:rPr sz="3150" b="1">
                <a:solidFill>
                  <a:srgbClr val="F4F7FA"/>
                </a:solidFill>
                <a:latin typeface="DejaVu Sans"/>
                <a:ea typeface="DejaVu Sans"/>
                <a:cs typeface="DejaVu Sans"/>
              </a:rPr>
              <a:t>We Accelerated a Step. Not the System.</a:t>
            </a:r>
          </a:p>
        </p:txBody>
      </p:sp>
      <p:sp>
        <p:nvSpPr>
          <p:cNvPr id="2" name="">
            <a:extLst xmlns:a="http://schemas.openxmlformats.org/drawingml/2006/main">
              <a:ext uri="{FF2B5EF4-FFF2-40B4-BE49-F238E27FC236}">
                <a16:creationId xmlns:a16="http://schemas.microsoft.com/office/drawing/2014/main" id="{EC4085F1-2530-46B6-AE82-D5556A5C81DF}"/>
              </a:ext>
            </a:extLst>
          </p:cNvPr>
          <p:cNvSpPr>
            <a:spLocks xmlns:a="http://schemas.openxmlformats.org/drawingml/2006/main" noGrp="1"/>
          </p:cNvSpPr>
          <p:nvPr/>
        </p:nvSpPr>
        <p:spPr>
          <a:xfrm xmlns:a="http://schemas.openxmlformats.org/drawingml/2006/main" flipH="0" flipV="0">
            <a:off x="457200" y="1381125"/>
            <a:ext cx="112776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8FA73A9B-2094-4182-9399-EEBFAF030C25}"/>
              </a:ext>
            </a:extLst>
          </p:cNvPr>
          <p:cNvSpPr>
            <a:spLocks xmlns:a="http://schemas.openxmlformats.org/drawingml/2006/main" noGrp="1"/>
          </p:cNvSpPr>
          <p:nvPr/>
        </p:nvSpPr>
        <p:spPr>
          <a:xfrm xmlns:a="http://schemas.openxmlformats.org/drawingml/2006/main">
            <a:off x="11287125" y="6477000"/>
            <a:ext cx="4476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75" b="0">
                <a:solidFill>
                  <a:srgbClr val="ADB8C5"/>
                </a:solidFill>
                <a:latin typeface="DejaVu Sans"/>
                <a:ea typeface="DejaVu Sans"/>
                <a:cs typeface="DejaVu Sans"/>
              </a:defRPr>
            </a:pPr>
            <a:r>
              <a:rPr sz="1275" b="0">
                <a:solidFill>
                  <a:srgbClr val="ADB8C5"/>
                </a:solidFill>
                <a:latin typeface="DejaVu Sans"/>
                <a:ea typeface="DejaVu Sans"/>
                <a:cs typeface="DejaVu Sans"/>
              </a:rPr>
              <a:t>03</a:t>
            </a:r>
          </a:p>
        </p:txBody>
      </p:sp>
      <p:sp>
        <p:nvSpPr>
          <p:cNvPr id="4" name="">
            <a:extLst xmlns:a="http://schemas.openxmlformats.org/drawingml/2006/main">
              <a:ext uri="{FF2B5EF4-FFF2-40B4-BE49-F238E27FC236}">
                <a16:creationId xmlns:a16="http://schemas.microsoft.com/office/drawing/2014/main" id="{A3D69F77-BC20-4939-896F-4F66BDF1BF5D}"/>
              </a:ext>
            </a:extLst>
          </p:cNvPr>
          <p:cNvSpPr>
            <a:spLocks xmlns:a="http://schemas.openxmlformats.org/drawingml/2006/main" noGrp="1"/>
          </p:cNvSpPr>
          <p:nvPr/>
        </p:nvSpPr>
        <p:spPr>
          <a:xfrm xmlns:a="http://schemas.openxmlformats.org/drawingml/2006/main">
            <a:off x="457200" y="2800350"/>
            <a:ext cx="1266825" cy="7239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5" name="">
            <a:extLst xmlns:a="http://schemas.openxmlformats.org/drawingml/2006/main">
              <a:ext uri="{FF2B5EF4-FFF2-40B4-BE49-F238E27FC236}">
                <a16:creationId xmlns:a16="http://schemas.microsoft.com/office/drawing/2014/main" id="{528E1A06-7ADE-44EF-A57D-34FA6095D2CB}"/>
              </a:ext>
            </a:extLst>
          </p:cNvPr>
          <p:cNvSpPr>
            <a:spLocks xmlns:a="http://schemas.openxmlformats.org/drawingml/2006/main" noGrp="1"/>
          </p:cNvSpPr>
          <p:nvPr/>
        </p:nvSpPr>
        <p:spPr>
          <a:xfrm xmlns:a="http://schemas.openxmlformats.org/drawingml/2006/main">
            <a:off x="571500" y="2876550"/>
            <a:ext cx="10382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DejaVu Sans"/>
                <a:ea typeface="DejaVu Sans"/>
                <a:cs typeface="DejaVu Sans"/>
              </a:defRPr>
            </a:pPr>
            <a:r>
              <a:rPr sz="1650" b="1">
                <a:solidFill>
                  <a:srgbClr val="F4F7FA"/>
                </a:solidFill>
                <a:latin typeface="DejaVu Sans"/>
                <a:ea typeface="DejaVu Sans"/>
                <a:cs typeface="DejaVu Sans"/>
              </a:rPr>
              <a:t>Intent</a:t>
            </a:r>
          </a:p>
        </p:txBody>
      </p:sp>
      <p:sp>
        <p:nvSpPr>
          <p:cNvPr id="6" name="">
            <a:extLst xmlns:a="http://schemas.openxmlformats.org/drawingml/2006/main">
              <a:ext uri="{FF2B5EF4-FFF2-40B4-BE49-F238E27FC236}">
                <a16:creationId xmlns:a16="http://schemas.microsoft.com/office/drawing/2014/main" id="{5E11477D-1836-46F3-9081-564F5136EE3A}"/>
              </a:ext>
            </a:extLst>
          </p:cNvPr>
          <p:cNvSpPr>
            <a:spLocks xmlns:a="http://schemas.openxmlformats.org/drawingml/2006/main" noGrp="1"/>
          </p:cNvSpPr>
          <p:nvPr/>
        </p:nvSpPr>
        <p:spPr>
          <a:xfrm xmlns:a="http://schemas.openxmlformats.org/drawingml/2006/main">
            <a:off x="1885950" y="2800350"/>
            <a:ext cx="1266825" cy="7239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7" name="">
            <a:extLst xmlns:a="http://schemas.openxmlformats.org/drawingml/2006/main">
              <a:ext uri="{FF2B5EF4-FFF2-40B4-BE49-F238E27FC236}">
                <a16:creationId xmlns:a16="http://schemas.microsoft.com/office/drawing/2014/main" id="{38EC140C-FCC7-4742-A115-6643D7F22099}"/>
              </a:ext>
            </a:extLst>
          </p:cNvPr>
          <p:cNvSpPr>
            <a:spLocks xmlns:a="http://schemas.openxmlformats.org/drawingml/2006/main" noGrp="1"/>
          </p:cNvSpPr>
          <p:nvPr/>
        </p:nvSpPr>
        <p:spPr>
          <a:xfrm xmlns:a="http://schemas.openxmlformats.org/drawingml/2006/main">
            <a:off x="2000250" y="2876550"/>
            <a:ext cx="10382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DejaVu Sans"/>
                <a:ea typeface="DejaVu Sans"/>
                <a:cs typeface="DejaVu Sans"/>
              </a:defRPr>
            </a:pPr>
            <a:r>
              <a:rPr sz="1650" b="1">
                <a:solidFill>
                  <a:srgbClr val="F4F7FA"/>
                </a:solidFill>
                <a:latin typeface="DejaVu Sans"/>
                <a:ea typeface="DejaVu Sans"/>
                <a:cs typeface="DejaVu Sans"/>
              </a:rPr>
              <a:t>Design</a:t>
            </a:r>
          </a:p>
        </p:txBody>
      </p:sp>
      <p:sp>
        <p:nvSpPr>
          <p:cNvPr id="8" name="">
            <a:extLst xmlns:a="http://schemas.openxmlformats.org/drawingml/2006/main">
              <a:ext uri="{FF2B5EF4-FFF2-40B4-BE49-F238E27FC236}">
                <a16:creationId xmlns:a16="http://schemas.microsoft.com/office/drawing/2014/main" id="{D6F65331-C1E9-4EDA-8A7C-F660C7180F1E}"/>
              </a:ext>
            </a:extLst>
          </p:cNvPr>
          <p:cNvSpPr>
            <a:spLocks xmlns:a="http://schemas.openxmlformats.org/drawingml/2006/main" noGrp="1"/>
          </p:cNvSpPr>
          <p:nvPr/>
        </p:nvSpPr>
        <p:spPr>
          <a:xfrm xmlns:a="http://schemas.openxmlformats.org/drawingml/2006/main">
            <a:off x="3314700" y="2800350"/>
            <a:ext cx="1266825" cy="7239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9" name="">
            <a:extLst xmlns:a="http://schemas.openxmlformats.org/drawingml/2006/main">
              <a:ext uri="{FF2B5EF4-FFF2-40B4-BE49-F238E27FC236}">
                <a16:creationId xmlns:a16="http://schemas.microsoft.com/office/drawing/2014/main" id="{D78D63E7-E1B3-46DE-9F54-E2ED07B78280}"/>
              </a:ext>
            </a:extLst>
          </p:cNvPr>
          <p:cNvSpPr>
            <a:spLocks xmlns:a="http://schemas.openxmlformats.org/drawingml/2006/main" noGrp="1"/>
          </p:cNvSpPr>
          <p:nvPr/>
        </p:nvSpPr>
        <p:spPr>
          <a:xfrm xmlns:a="http://schemas.openxmlformats.org/drawingml/2006/main">
            <a:off x="3429000" y="2876550"/>
            <a:ext cx="10382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DejaVu Sans"/>
                <a:ea typeface="DejaVu Sans"/>
                <a:cs typeface="DejaVu Sans"/>
              </a:defRPr>
            </a:pPr>
            <a:r>
              <a:rPr sz="1650" b="1">
                <a:solidFill>
                  <a:srgbClr val="F4F7FA"/>
                </a:solidFill>
                <a:latin typeface="DejaVu Sans"/>
                <a:ea typeface="DejaVu Sans"/>
                <a:cs typeface="DejaVu Sans"/>
              </a:rPr>
              <a:t>Code</a:t>
            </a:r>
          </a:p>
        </p:txBody>
      </p:sp>
      <p:sp>
        <p:nvSpPr>
          <p:cNvPr id="10" name="">
            <a:extLst xmlns:a="http://schemas.openxmlformats.org/drawingml/2006/main">
              <a:ext uri="{FF2B5EF4-FFF2-40B4-BE49-F238E27FC236}">
                <a16:creationId xmlns:a16="http://schemas.microsoft.com/office/drawing/2014/main" id="{4163A221-6C5E-4883-B98E-4B1AD7789D0D}"/>
              </a:ext>
            </a:extLst>
          </p:cNvPr>
          <p:cNvSpPr>
            <a:spLocks xmlns:a="http://schemas.openxmlformats.org/drawingml/2006/main" noGrp="1"/>
          </p:cNvSpPr>
          <p:nvPr/>
        </p:nvSpPr>
        <p:spPr>
          <a:xfrm xmlns:a="http://schemas.openxmlformats.org/drawingml/2006/main">
            <a:off x="4743450" y="2800350"/>
            <a:ext cx="1266825" cy="7239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1" name="">
            <a:extLst xmlns:a="http://schemas.openxmlformats.org/drawingml/2006/main">
              <a:ext uri="{FF2B5EF4-FFF2-40B4-BE49-F238E27FC236}">
                <a16:creationId xmlns:a16="http://schemas.microsoft.com/office/drawing/2014/main" id="{15537775-C373-44DE-9628-0AD8A3F2E24E}"/>
              </a:ext>
            </a:extLst>
          </p:cNvPr>
          <p:cNvSpPr>
            <a:spLocks xmlns:a="http://schemas.openxmlformats.org/drawingml/2006/main" noGrp="1"/>
          </p:cNvSpPr>
          <p:nvPr/>
        </p:nvSpPr>
        <p:spPr>
          <a:xfrm xmlns:a="http://schemas.openxmlformats.org/drawingml/2006/main">
            <a:off x="4857750" y="2876550"/>
            <a:ext cx="10382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DejaVu Sans"/>
                <a:ea typeface="DejaVu Sans"/>
                <a:cs typeface="DejaVu Sans"/>
              </a:defRPr>
            </a:pPr>
            <a:r>
              <a:rPr sz="1650" b="1">
                <a:solidFill>
                  <a:srgbClr val="F4F7FA"/>
                </a:solidFill>
                <a:latin typeface="DejaVu Sans"/>
                <a:ea typeface="DejaVu Sans"/>
                <a:cs typeface="DejaVu Sans"/>
              </a:rPr>
              <a:t>Review</a:t>
            </a:r>
          </a:p>
        </p:txBody>
      </p:sp>
      <p:sp>
        <p:nvSpPr>
          <p:cNvPr id="12" name="">
            <a:extLst xmlns:a="http://schemas.openxmlformats.org/drawingml/2006/main">
              <a:ext uri="{FF2B5EF4-FFF2-40B4-BE49-F238E27FC236}">
                <a16:creationId xmlns:a16="http://schemas.microsoft.com/office/drawing/2014/main" id="{6357DD77-D551-4692-8FE8-12B332EAD3C7}"/>
              </a:ext>
            </a:extLst>
          </p:cNvPr>
          <p:cNvSpPr>
            <a:spLocks xmlns:a="http://schemas.openxmlformats.org/drawingml/2006/main" noGrp="1"/>
          </p:cNvSpPr>
          <p:nvPr/>
        </p:nvSpPr>
        <p:spPr>
          <a:xfrm xmlns:a="http://schemas.openxmlformats.org/drawingml/2006/main">
            <a:off x="6172200" y="2800350"/>
            <a:ext cx="1266825" cy="7239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3" name="">
            <a:extLst xmlns:a="http://schemas.openxmlformats.org/drawingml/2006/main">
              <a:ext uri="{FF2B5EF4-FFF2-40B4-BE49-F238E27FC236}">
                <a16:creationId xmlns:a16="http://schemas.microsoft.com/office/drawing/2014/main" id="{CD9051ED-1415-4100-A2C2-FF7887FFF52D}"/>
              </a:ext>
            </a:extLst>
          </p:cNvPr>
          <p:cNvSpPr>
            <a:spLocks xmlns:a="http://schemas.openxmlformats.org/drawingml/2006/main" noGrp="1"/>
          </p:cNvSpPr>
          <p:nvPr/>
        </p:nvSpPr>
        <p:spPr>
          <a:xfrm xmlns:a="http://schemas.openxmlformats.org/drawingml/2006/main">
            <a:off x="6286500" y="2876550"/>
            <a:ext cx="10382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DejaVu Sans"/>
                <a:ea typeface="DejaVu Sans"/>
                <a:cs typeface="DejaVu Sans"/>
              </a:defRPr>
            </a:pPr>
            <a:r>
              <a:rPr sz="1650" b="1">
                <a:solidFill>
                  <a:srgbClr val="F4F7FA"/>
                </a:solidFill>
                <a:latin typeface="DejaVu Sans"/>
                <a:ea typeface="DejaVu Sans"/>
                <a:cs typeface="DejaVu Sans"/>
              </a:rPr>
              <a:t>Test</a:t>
            </a:r>
          </a:p>
        </p:txBody>
      </p:sp>
      <p:sp>
        <p:nvSpPr>
          <p:cNvPr id="14" name="">
            <a:extLst xmlns:a="http://schemas.openxmlformats.org/drawingml/2006/main">
              <a:ext uri="{FF2B5EF4-FFF2-40B4-BE49-F238E27FC236}">
                <a16:creationId xmlns:a16="http://schemas.microsoft.com/office/drawing/2014/main" id="{EB771529-127E-480E-B1B8-EE1C2DE043A9}"/>
              </a:ext>
            </a:extLst>
          </p:cNvPr>
          <p:cNvSpPr>
            <a:spLocks xmlns:a="http://schemas.openxmlformats.org/drawingml/2006/main" noGrp="1"/>
          </p:cNvSpPr>
          <p:nvPr/>
        </p:nvSpPr>
        <p:spPr>
          <a:xfrm xmlns:a="http://schemas.openxmlformats.org/drawingml/2006/main">
            <a:off x="7600950" y="2800350"/>
            <a:ext cx="1266825" cy="7239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5" name="">
            <a:extLst xmlns:a="http://schemas.openxmlformats.org/drawingml/2006/main">
              <a:ext uri="{FF2B5EF4-FFF2-40B4-BE49-F238E27FC236}">
                <a16:creationId xmlns:a16="http://schemas.microsoft.com/office/drawing/2014/main" id="{D769B179-37C6-413B-A737-2BE173477A80}"/>
              </a:ext>
            </a:extLst>
          </p:cNvPr>
          <p:cNvSpPr>
            <a:spLocks xmlns:a="http://schemas.openxmlformats.org/drawingml/2006/main" noGrp="1"/>
          </p:cNvSpPr>
          <p:nvPr/>
        </p:nvSpPr>
        <p:spPr>
          <a:xfrm xmlns:a="http://schemas.openxmlformats.org/drawingml/2006/main">
            <a:off x="7715250" y="2876550"/>
            <a:ext cx="10382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F4F7FA"/>
                </a:solidFill>
                <a:latin typeface="DejaVu Sans"/>
                <a:ea typeface="DejaVu Sans"/>
                <a:cs typeface="DejaVu Sans"/>
              </a:defRPr>
            </a:pPr>
            <a:r>
              <a:rPr sz="1500" b="1">
                <a:solidFill>
                  <a:srgbClr val="F4F7FA"/>
                </a:solidFill>
                <a:latin typeface="DejaVu Sans"/>
                <a:ea typeface="DejaVu Sans"/>
                <a:cs typeface="DejaVu Sans"/>
              </a:rPr>
              <a:t>Integrate</a:t>
            </a:r>
          </a:p>
        </p:txBody>
      </p:sp>
      <p:sp>
        <p:nvSpPr>
          <p:cNvPr id="16" name="">
            <a:extLst xmlns:a="http://schemas.openxmlformats.org/drawingml/2006/main">
              <a:ext uri="{FF2B5EF4-FFF2-40B4-BE49-F238E27FC236}">
                <a16:creationId xmlns:a16="http://schemas.microsoft.com/office/drawing/2014/main" id="{BD578F00-0CF9-49BE-94E9-FD6CA2D19103}"/>
              </a:ext>
            </a:extLst>
          </p:cNvPr>
          <p:cNvSpPr>
            <a:spLocks xmlns:a="http://schemas.openxmlformats.org/drawingml/2006/main" noGrp="1"/>
          </p:cNvSpPr>
          <p:nvPr/>
        </p:nvSpPr>
        <p:spPr>
          <a:xfrm xmlns:a="http://schemas.openxmlformats.org/drawingml/2006/main">
            <a:off x="9029700" y="2800350"/>
            <a:ext cx="1266825" cy="7239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7" name="">
            <a:extLst xmlns:a="http://schemas.openxmlformats.org/drawingml/2006/main">
              <a:ext uri="{FF2B5EF4-FFF2-40B4-BE49-F238E27FC236}">
                <a16:creationId xmlns:a16="http://schemas.microsoft.com/office/drawing/2014/main" id="{C9EA5CE7-10DC-455E-B831-8ACC154FAE1A}"/>
              </a:ext>
            </a:extLst>
          </p:cNvPr>
          <p:cNvSpPr>
            <a:spLocks xmlns:a="http://schemas.openxmlformats.org/drawingml/2006/main" noGrp="1"/>
          </p:cNvSpPr>
          <p:nvPr/>
        </p:nvSpPr>
        <p:spPr>
          <a:xfrm xmlns:a="http://schemas.openxmlformats.org/drawingml/2006/main">
            <a:off x="9144000" y="2876550"/>
            <a:ext cx="10382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DejaVu Sans"/>
                <a:ea typeface="DejaVu Sans"/>
                <a:cs typeface="DejaVu Sans"/>
              </a:defRPr>
            </a:pPr>
            <a:r>
              <a:rPr sz="1650" b="1">
                <a:solidFill>
                  <a:srgbClr val="F4F7FA"/>
                </a:solidFill>
                <a:latin typeface="DejaVu Sans"/>
                <a:ea typeface="DejaVu Sans"/>
                <a:cs typeface="DejaVu Sans"/>
              </a:rPr>
              <a:t>Deploy</a:t>
            </a:r>
          </a:p>
        </p:txBody>
      </p:sp>
      <p:sp>
        <p:nvSpPr>
          <p:cNvPr id="18" name="">
            <a:extLst xmlns:a="http://schemas.openxmlformats.org/drawingml/2006/main">
              <a:ext uri="{FF2B5EF4-FFF2-40B4-BE49-F238E27FC236}">
                <a16:creationId xmlns:a16="http://schemas.microsoft.com/office/drawing/2014/main" id="{2E10D1BD-9164-48FE-9023-360329836E17}"/>
              </a:ext>
            </a:extLst>
          </p:cNvPr>
          <p:cNvSpPr>
            <a:spLocks xmlns:a="http://schemas.openxmlformats.org/drawingml/2006/main" noGrp="1"/>
          </p:cNvSpPr>
          <p:nvPr/>
        </p:nvSpPr>
        <p:spPr>
          <a:xfrm xmlns:a="http://schemas.openxmlformats.org/drawingml/2006/main">
            <a:off x="10458450" y="2800350"/>
            <a:ext cx="1266825" cy="7239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9" name="">
            <a:extLst xmlns:a="http://schemas.openxmlformats.org/drawingml/2006/main">
              <a:ext uri="{FF2B5EF4-FFF2-40B4-BE49-F238E27FC236}">
                <a16:creationId xmlns:a16="http://schemas.microsoft.com/office/drawing/2014/main" id="{AC101DD2-43E0-4009-9B67-B075C045F86A}"/>
              </a:ext>
            </a:extLst>
          </p:cNvPr>
          <p:cNvSpPr>
            <a:spLocks xmlns:a="http://schemas.openxmlformats.org/drawingml/2006/main" noGrp="1"/>
          </p:cNvSpPr>
          <p:nvPr/>
        </p:nvSpPr>
        <p:spPr>
          <a:xfrm xmlns:a="http://schemas.openxmlformats.org/drawingml/2006/main">
            <a:off x="10572750" y="2876550"/>
            <a:ext cx="10382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DejaVu Sans"/>
                <a:ea typeface="DejaVu Sans"/>
                <a:cs typeface="DejaVu Sans"/>
              </a:defRPr>
            </a:pPr>
            <a:r>
              <a:rPr sz="1650" b="1">
                <a:solidFill>
                  <a:srgbClr val="F4F7FA"/>
                </a:solidFill>
                <a:latin typeface="DejaVu Sans"/>
                <a:ea typeface="DejaVu Sans"/>
                <a:cs typeface="DejaVu Sans"/>
              </a:rPr>
              <a:t>Operate</a:t>
            </a:r>
          </a:p>
        </p:txBody>
      </p:sp>
      <p:cxnSp>
        <p:nvCxnSpPr>
          <p:cNvPr id="53" name=""/>
          <p:cNvCxnSpPr>
            <a:stCxn xmlns:a="http://schemas.openxmlformats.org/drawingml/2006/main" id="4" idx="3"/>
            <a:endCxn xmlns:a="http://schemas.openxmlformats.org/drawingml/2006/main" id="6" idx="1"/>
          </p:cNvCxnSpPr>
          <p:nvPr/>
        </p:nvCxnSpPr>
        <p:spPr>
          <a:xfrm xmlns:a="http://schemas.openxmlformats.org/drawingml/2006/main">
            <a:off x="1724025" y="3162300"/>
            <a:ext cx="161925" cy="0"/>
          </a:xfrm>
          <a:prstGeom xmlns:a="http://schemas.openxmlformats.org/drawingml/2006/main" prst="straightConnector1">
            <a:avLst/>
          </a:prstGeom>
          <a:ln xmlns:a="http://schemas.openxmlformats.org/drawingml/2006/main" w="21908">
            <a:solidFill>
              <a:srgbClr val="ADB8C5"/>
            </a:solidFill>
            <a:prstDash val="solid"/>
            <a:tailEnd type="triangle" w="sm" len="sm"/>
          </a:ln>
        </p:spPr>
      </p:cxnSp>
      <p:cxnSp>
        <p:nvCxnSpPr>
          <p:cNvPr id="54" name=""/>
          <p:cNvCxnSpPr>
            <a:stCxn xmlns:a="http://schemas.openxmlformats.org/drawingml/2006/main" id="6" idx="3"/>
            <a:endCxn xmlns:a="http://schemas.openxmlformats.org/drawingml/2006/main" id="8" idx="1"/>
          </p:cNvCxnSpPr>
          <p:nvPr/>
        </p:nvCxnSpPr>
        <p:spPr>
          <a:xfrm xmlns:a="http://schemas.openxmlformats.org/drawingml/2006/main">
            <a:off x="3152775" y="3162300"/>
            <a:ext cx="161925" cy="0"/>
          </a:xfrm>
          <a:prstGeom xmlns:a="http://schemas.openxmlformats.org/drawingml/2006/main" prst="straightConnector1">
            <a:avLst/>
          </a:prstGeom>
          <a:ln xmlns:a="http://schemas.openxmlformats.org/drawingml/2006/main" w="21908">
            <a:solidFill>
              <a:srgbClr val="ADB8C5"/>
            </a:solidFill>
            <a:prstDash val="solid"/>
            <a:tailEnd type="triangle" w="sm" len="sm"/>
          </a:ln>
        </p:spPr>
      </p:cxnSp>
      <p:cxnSp>
        <p:nvCxnSpPr>
          <p:cNvPr id="55" name=""/>
          <p:cNvCxnSpPr>
            <a:stCxn xmlns:a="http://schemas.openxmlformats.org/drawingml/2006/main" id="8" idx="3"/>
            <a:endCxn xmlns:a="http://schemas.openxmlformats.org/drawingml/2006/main" id="10" idx="1"/>
          </p:cNvCxnSpPr>
          <p:nvPr/>
        </p:nvCxnSpPr>
        <p:spPr>
          <a:xfrm xmlns:a="http://schemas.openxmlformats.org/drawingml/2006/main">
            <a:off x="4581525" y="3162300"/>
            <a:ext cx="161925" cy="0"/>
          </a:xfrm>
          <a:prstGeom xmlns:a="http://schemas.openxmlformats.org/drawingml/2006/main" prst="straightConnector1">
            <a:avLst/>
          </a:prstGeom>
          <a:ln xmlns:a="http://schemas.openxmlformats.org/drawingml/2006/main" w="21908">
            <a:solidFill>
              <a:srgbClr val="ADB8C5"/>
            </a:solidFill>
            <a:prstDash val="solid"/>
            <a:tailEnd type="triangle" w="sm" len="sm"/>
          </a:ln>
        </p:spPr>
      </p:cxnSp>
      <p:cxnSp>
        <p:nvCxnSpPr>
          <p:cNvPr id="56" name=""/>
          <p:cNvCxnSpPr>
            <a:stCxn xmlns:a="http://schemas.openxmlformats.org/drawingml/2006/main" id="10" idx="3"/>
            <a:endCxn xmlns:a="http://schemas.openxmlformats.org/drawingml/2006/main" id="12" idx="1"/>
          </p:cNvCxnSpPr>
          <p:nvPr/>
        </p:nvCxnSpPr>
        <p:spPr>
          <a:xfrm xmlns:a="http://schemas.openxmlformats.org/drawingml/2006/main">
            <a:off x="6010275" y="3162300"/>
            <a:ext cx="161925" cy="0"/>
          </a:xfrm>
          <a:prstGeom xmlns:a="http://schemas.openxmlformats.org/drawingml/2006/main" prst="straightConnector1">
            <a:avLst/>
          </a:prstGeom>
          <a:ln xmlns:a="http://schemas.openxmlformats.org/drawingml/2006/main" w="21908">
            <a:solidFill>
              <a:srgbClr val="ADB8C5"/>
            </a:solidFill>
            <a:prstDash val="solid"/>
            <a:tailEnd type="triangle" w="sm" len="sm"/>
          </a:ln>
        </p:spPr>
      </p:cxnSp>
      <p:cxnSp>
        <p:nvCxnSpPr>
          <p:cNvPr id="57" name=""/>
          <p:cNvCxnSpPr>
            <a:stCxn xmlns:a="http://schemas.openxmlformats.org/drawingml/2006/main" id="12" idx="3"/>
            <a:endCxn xmlns:a="http://schemas.openxmlformats.org/drawingml/2006/main" id="14" idx="1"/>
          </p:cNvCxnSpPr>
          <p:nvPr/>
        </p:nvCxnSpPr>
        <p:spPr>
          <a:xfrm xmlns:a="http://schemas.openxmlformats.org/drawingml/2006/main">
            <a:off x="7439025" y="3162300"/>
            <a:ext cx="161925" cy="0"/>
          </a:xfrm>
          <a:prstGeom xmlns:a="http://schemas.openxmlformats.org/drawingml/2006/main" prst="straightConnector1">
            <a:avLst/>
          </a:prstGeom>
          <a:ln xmlns:a="http://schemas.openxmlformats.org/drawingml/2006/main" w="21908">
            <a:solidFill>
              <a:srgbClr val="ADB8C5"/>
            </a:solidFill>
            <a:prstDash val="solid"/>
            <a:tailEnd type="triangle" w="sm" len="sm"/>
          </a:ln>
        </p:spPr>
      </p:cxnSp>
      <p:cxnSp>
        <p:nvCxnSpPr>
          <p:cNvPr id="58" name=""/>
          <p:cNvCxnSpPr>
            <a:stCxn xmlns:a="http://schemas.openxmlformats.org/drawingml/2006/main" id="14" idx="3"/>
            <a:endCxn xmlns:a="http://schemas.openxmlformats.org/drawingml/2006/main" id="16" idx="1"/>
          </p:cNvCxnSpPr>
          <p:nvPr/>
        </p:nvCxnSpPr>
        <p:spPr>
          <a:xfrm xmlns:a="http://schemas.openxmlformats.org/drawingml/2006/main">
            <a:off x="8867775" y="3162300"/>
            <a:ext cx="161925" cy="0"/>
          </a:xfrm>
          <a:prstGeom xmlns:a="http://schemas.openxmlformats.org/drawingml/2006/main" prst="straightConnector1">
            <a:avLst/>
          </a:prstGeom>
          <a:ln xmlns:a="http://schemas.openxmlformats.org/drawingml/2006/main" w="21908">
            <a:solidFill>
              <a:srgbClr val="ADB8C5"/>
            </a:solidFill>
            <a:prstDash val="solid"/>
            <a:tailEnd type="triangle" w="sm" len="sm"/>
          </a:ln>
        </p:spPr>
      </p:cxnSp>
      <p:cxnSp>
        <p:nvCxnSpPr>
          <p:cNvPr id="59" name=""/>
          <p:cNvCxnSpPr>
            <a:stCxn xmlns:a="http://schemas.openxmlformats.org/drawingml/2006/main" id="16" idx="3"/>
            <a:endCxn xmlns:a="http://schemas.openxmlformats.org/drawingml/2006/main" id="18" idx="1"/>
          </p:cNvCxnSpPr>
          <p:nvPr/>
        </p:nvCxnSpPr>
        <p:spPr>
          <a:xfrm xmlns:a="http://schemas.openxmlformats.org/drawingml/2006/main">
            <a:off x="10296525" y="3162300"/>
            <a:ext cx="161925" cy="0"/>
          </a:xfrm>
          <a:prstGeom xmlns:a="http://schemas.openxmlformats.org/drawingml/2006/main" prst="straightConnector1">
            <a:avLst/>
          </a:prstGeom>
          <a:ln xmlns:a="http://schemas.openxmlformats.org/drawingml/2006/main" w="21908">
            <a:solidFill>
              <a:srgbClr val="ADB8C5"/>
            </a:solidFill>
            <a:prstDash val="solid"/>
            <a:tailEnd type="triangle" w="sm" len="sm"/>
          </a:ln>
        </p:spPr>
      </p:cxnSp>
      <p:sp>
        <p:nvSpPr>
          <p:cNvPr id="27" name="">
            <a:extLst xmlns:a="http://schemas.openxmlformats.org/drawingml/2006/main">
              <a:ext uri="{FF2B5EF4-FFF2-40B4-BE49-F238E27FC236}">
                <a16:creationId xmlns:a16="http://schemas.microsoft.com/office/drawing/2014/main" id="{99DA5212-B761-4745-9324-D55EF36281C0}"/>
              </a:ext>
            </a:extLst>
          </p:cNvPr>
          <p:cNvSpPr>
            <a:spLocks xmlns:a="http://schemas.openxmlformats.org/drawingml/2006/main" noGrp="1"/>
          </p:cNvSpPr>
          <p:nvPr/>
        </p:nvSpPr>
        <p:spPr>
          <a:xfrm xmlns:a="http://schemas.openxmlformats.org/drawingml/2006/main">
            <a:off x="3314700" y="1981200"/>
            <a:ext cx="12668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300" b="1">
                <a:solidFill>
                  <a:srgbClr val="28C7F7"/>
                </a:solidFill>
                <a:latin typeface="DejaVu Sans"/>
                <a:ea typeface="DejaVu Sans"/>
                <a:cs typeface="DejaVu Sans"/>
              </a:defRPr>
            </a:pPr>
            <a:r>
              <a:rPr sz="3300" b="1">
                <a:solidFill>
                  <a:srgbClr val="28C7F7"/>
                </a:solidFill>
                <a:latin typeface="DejaVu Sans"/>
                <a:ea typeface="DejaVu Sans"/>
                <a:cs typeface="DejaVu Sans"/>
              </a:rPr>
              <a:t>↑↑↑</a:t>
            </a:r>
          </a:p>
        </p:txBody>
      </p:sp>
      <p:sp>
        <p:nvSpPr>
          <p:cNvPr id="28" name="">
            <a:extLst xmlns:a="http://schemas.openxmlformats.org/drawingml/2006/main">
              <a:ext uri="{FF2B5EF4-FFF2-40B4-BE49-F238E27FC236}">
                <a16:creationId xmlns:a16="http://schemas.microsoft.com/office/drawing/2014/main" id="{6B1D2006-E4E5-49C3-826E-B5451FE97260}"/>
              </a:ext>
            </a:extLst>
          </p:cNvPr>
          <p:cNvSpPr>
            <a:spLocks xmlns:a="http://schemas.openxmlformats.org/drawingml/2006/main" noGrp="1"/>
          </p:cNvSpPr>
          <p:nvPr/>
        </p:nvSpPr>
        <p:spPr>
          <a:xfrm xmlns:a="http://schemas.openxmlformats.org/drawingml/2006/main">
            <a:off x="4743450" y="2047875"/>
            <a:ext cx="12668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325" b="1">
                <a:solidFill>
                  <a:srgbClr val="F5B61C"/>
                </a:solidFill>
                <a:latin typeface="DejaVu Sans"/>
                <a:ea typeface="DejaVu Sans"/>
                <a:cs typeface="DejaVu Sans"/>
              </a:defRPr>
            </a:pPr>
            <a:r>
              <a:rPr sz="2325" b="1">
                <a:solidFill>
                  <a:srgbClr val="F5B61C"/>
                </a:solidFill>
                <a:latin typeface="DejaVu Sans"/>
                <a:ea typeface="DejaVu Sans"/>
                <a:cs typeface="DejaVu Sans"/>
              </a:rPr>
              <a:t>?</a:t>
            </a:r>
          </a:p>
        </p:txBody>
      </p:sp>
      <p:sp>
        <p:nvSpPr>
          <p:cNvPr id="29" name="">
            <a:extLst xmlns:a="http://schemas.openxmlformats.org/drawingml/2006/main">
              <a:ext uri="{FF2B5EF4-FFF2-40B4-BE49-F238E27FC236}">
                <a16:creationId xmlns:a16="http://schemas.microsoft.com/office/drawing/2014/main" id="{672505ED-6403-415D-A5A1-005E6CF4F21B}"/>
              </a:ext>
            </a:extLst>
          </p:cNvPr>
          <p:cNvSpPr>
            <a:spLocks xmlns:a="http://schemas.openxmlformats.org/drawingml/2006/main" noGrp="1"/>
          </p:cNvSpPr>
          <p:nvPr/>
        </p:nvSpPr>
        <p:spPr>
          <a:xfrm xmlns:a="http://schemas.openxmlformats.org/drawingml/2006/main">
            <a:off x="6172200" y="2047875"/>
            <a:ext cx="12668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325" b="1">
                <a:solidFill>
                  <a:srgbClr val="F5B61C"/>
                </a:solidFill>
                <a:latin typeface="DejaVu Sans"/>
                <a:ea typeface="DejaVu Sans"/>
                <a:cs typeface="DejaVu Sans"/>
              </a:defRPr>
            </a:pPr>
            <a:r>
              <a:rPr sz="2325" b="1">
                <a:solidFill>
                  <a:srgbClr val="F5B61C"/>
                </a:solidFill>
                <a:latin typeface="DejaVu Sans"/>
                <a:ea typeface="DejaVu Sans"/>
                <a:cs typeface="DejaVu Sans"/>
              </a:rPr>
              <a:t>?</a:t>
            </a:r>
          </a:p>
        </p:txBody>
      </p:sp>
      <p:sp>
        <p:nvSpPr>
          <p:cNvPr id="30" name="">
            <a:extLst xmlns:a="http://schemas.openxmlformats.org/drawingml/2006/main">
              <a:ext uri="{FF2B5EF4-FFF2-40B4-BE49-F238E27FC236}">
                <a16:creationId xmlns:a16="http://schemas.microsoft.com/office/drawing/2014/main" id="{DBAEB5F5-AD93-4C9D-A795-B46298955AF6}"/>
              </a:ext>
            </a:extLst>
          </p:cNvPr>
          <p:cNvSpPr>
            <a:spLocks xmlns:a="http://schemas.openxmlformats.org/drawingml/2006/main" noGrp="1"/>
          </p:cNvSpPr>
          <p:nvPr/>
        </p:nvSpPr>
        <p:spPr>
          <a:xfrm xmlns:a="http://schemas.openxmlformats.org/drawingml/2006/main">
            <a:off x="7600950" y="2047875"/>
            <a:ext cx="12668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325" b="1">
                <a:solidFill>
                  <a:srgbClr val="F5B61C"/>
                </a:solidFill>
                <a:latin typeface="DejaVu Sans"/>
                <a:ea typeface="DejaVu Sans"/>
                <a:cs typeface="DejaVu Sans"/>
              </a:defRPr>
            </a:pPr>
            <a:r>
              <a:rPr sz="2325" b="1">
                <a:solidFill>
                  <a:srgbClr val="F5B61C"/>
                </a:solidFill>
                <a:latin typeface="DejaVu Sans"/>
                <a:ea typeface="DejaVu Sans"/>
                <a:cs typeface="DejaVu Sans"/>
              </a:rPr>
              <a:t>?</a:t>
            </a:r>
          </a:p>
        </p:txBody>
      </p:sp>
      <p:sp>
        <p:nvSpPr>
          <p:cNvPr id="31" name="">
            <a:extLst xmlns:a="http://schemas.openxmlformats.org/drawingml/2006/main">
              <a:ext uri="{FF2B5EF4-FFF2-40B4-BE49-F238E27FC236}">
                <a16:creationId xmlns:a16="http://schemas.microsoft.com/office/drawing/2014/main" id="{FFDEAFD8-74F0-4A54-B751-BDF1A26DCE20}"/>
              </a:ext>
            </a:extLst>
          </p:cNvPr>
          <p:cNvSpPr>
            <a:spLocks xmlns:a="http://schemas.openxmlformats.org/drawingml/2006/main" noGrp="1"/>
          </p:cNvSpPr>
          <p:nvPr/>
        </p:nvSpPr>
        <p:spPr>
          <a:xfrm xmlns:a="http://schemas.openxmlformats.org/drawingml/2006/main">
            <a:off x="10458450" y="2047875"/>
            <a:ext cx="12668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325" b="1">
                <a:solidFill>
                  <a:srgbClr val="F5B61C"/>
                </a:solidFill>
                <a:latin typeface="DejaVu Sans"/>
                <a:ea typeface="DejaVu Sans"/>
                <a:cs typeface="DejaVu Sans"/>
              </a:defRPr>
            </a:pPr>
            <a:r>
              <a:rPr sz="2325" b="1">
                <a:solidFill>
                  <a:srgbClr val="F5B61C"/>
                </a:solidFill>
                <a:latin typeface="DejaVu Sans"/>
                <a:ea typeface="DejaVu Sans"/>
                <a:cs typeface="DejaVu Sans"/>
              </a:rPr>
              <a:t>?</a:t>
            </a:r>
          </a:p>
        </p:txBody>
      </p:sp>
      <p:sp>
        <p:nvSpPr>
          <p:cNvPr id="32" name="">
            <a:extLst xmlns:a="http://schemas.openxmlformats.org/drawingml/2006/main">
              <a:ext uri="{FF2B5EF4-FFF2-40B4-BE49-F238E27FC236}">
                <a16:creationId xmlns:a16="http://schemas.microsoft.com/office/drawing/2014/main" id="{36E58EC7-3163-4628-91AE-18F1C9AC1457}"/>
              </a:ext>
            </a:extLst>
          </p:cNvPr>
          <p:cNvSpPr>
            <a:spLocks xmlns:a="http://schemas.openxmlformats.org/drawingml/2006/main" noGrp="1"/>
          </p:cNvSpPr>
          <p:nvPr/>
        </p:nvSpPr>
        <p:spPr>
          <a:xfrm xmlns:a="http://schemas.openxmlformats.org/drawingml/2006/main">
            <a:off x="457200" y="4210050"/>
            <a:ext cx="112776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ADB8C5"/>
                </a:solidFill>
                <a:latin typeface="DejaVu Sans"/>
                <a:ea typeface="DejaVu Sans"/>
                <a:cs typeface="DejaVu Sans"/>
              </a:defRPr>
            </a:pPr>
            <a:r>
              <a:rPr sz="2250" b="0">
                <a:solidFill>
                  <a:srgbClr val="ADB8C5"/>
                </a:solidFill>
                <a:latin typeface="DejaVu Sans"/>
                <a:ea typeface="DejaVu Sans"/>
                <a:cs typeface="DejaVu Sans"/>
              </a:rPr>
              <a:t>If coding is the bottleneck, the bottleneck can move.</a:t>
            </a:r>
          </a:p>
        </p:txBody>
      </p:sp>
      <p:sp>
        <p:nvSpPr>
          <p:cNvPr id="33" name="">
            <a:extLst xmlns:a="http://schemas.openxmlformats.org/drawingml/2006/main">
              <a:ext uri="{FF2B5EF4-FFF2-40B4-BE49-F238E27FC236}">
                <a16:creationId xmlns:a16="http://schemas.microsoft.com/office/drawing/2014/main" id="{1CB64EEC-713F-4382-A067-3851576CE01A}"/>
              </a:ext>
            </a:extLst>
          </p:cNvPr>
          <p:cNvSpPr>
            <a:spLocks xmlns:a="http://schemas.openxmlformats.org/drawingml/2006/main" noGrp="1"/>
          </p:cNvSpPr>
          <p:nvPr/>
        </p:nvSpPr>
        <p:spPr>
          <a:xfrm xmlns:a="http://schemas.openxmlformats.org/drawingml/2006/main">
            <a:off x="457200" y="5619750"/>
            <a:ext cx="112776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1">
                <a:solidFill>
                  <a:srgbClr val="28C7F7"/>
                </a:solidFill>
                <a:latin typeface="DejaVu Sans"/>
                <a:ea typeface="DejaVu Sans"/>
                <a:cs typeface="DejaVu Sans"/>
              </a:defRPr>
            </a:pPr>
            <a:r>
              <a:rPr sz="2250" b="1">
                <a:solidFill>
                  <a:srgbClr val="28C7F7"/>
                </a:solidFill>
                <a:latin typeface="DejaVu Sans"/>
                <a:ea typeface="DejaVu Sans"/>
                <a:cs typeface="DejaVu Sans"/>
              </a:rPr>
              <a:t>Local acceleration ≠ system throughput</a:t>
            </a:r>
          </a:p>
        </p:txBody>
      </p:sp>
    </p:spTree>
    <p:extLst>
      <p:ext uri="{BB962C8B-B14F-4D97-AF65-F5344CB8AC3E}">
        <p14:creationId xmlns:p14="http://schemas.microsoft.com/office/powerpoint/2010/main" val="736250016"/>
      </p:ext>
    </p:extLst>
  </p:cSld>
</p:sld>
</file>

<file path=ppt/slides/slide4.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57BC0D7D-DC8F-4B44-9582-855C57EBCC80}"/>
              </a:ext>
            </a:extLst>
          </p:cNvPr>
          <p:cNvSpPr>
            <a:spLocks xmlns:a="http://schemas.openxmlformats.org/drawingml/2006/main" noGrp="1"/>
          </p:cNvSpPr>
          <p:nvPr/>
        </p:nvSpPr>
        <p:spPr>
          <a:xfrm xmlns:a="http://schemas.openxmlformats.org/drawingml/2006/main">
            <a:off x="457200" y="333375"/>
            <a:ext cx="11277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150" b="1">
                <a:solidFill>
                  <a:srgbClr val="F4F7FA"/>
                </a:solidFill>
                <a:latin typeface="DejaVu Sans"/>
                <a:ea typeface="DejaVu Sans"/>
                <a:cs typeface="DejaVu Sans"/>
              </a:defRPr>
            </a:pPr>
            <a:r>
              <a:rPr sz="3150" b="1">
                <a:solidFill>
                  <a:srgbClr val="F4F7FA"/>
                </a:solidFill>
                <a:latin typeface="DejaVu Sans"/>
                <a:ea typeface="DejaVu Sans"/>
                <a:cs typeface="DejaVu Sans"/>
              </a:rPr>
              <a:t>The Evidence Is Already Messy</a:t>
            </a:r>
          </a:p>
        </p:txBody>
      </p:sp>
      <p:sp>
        <p:nvSpPr>
          <p:cNvPr id="2" name="">
            <a:extLst xmlns:a="http://schemas.openxmlformats.org/drawingml/2006/main">
              <a:ext uri="{FF2B5EF4-FFF2-40B4-BE49-F238E27FC236}">
                <a16:creationId xmlns:a16="http://schemas.microsoft.com/office/drawing/2014/main" id="{D60031C7-E4D8-4C06-8A89-401357B19DBD}"/>
              </a:ext>
            </a:extLst>
          </p:cNvPr>
          <p:cNvSpPr>
            <a:spLocks xmlns:a="http://schemas.openxmlformats.org/drawingml/2006/main" noGrp="1"/>
          </p:cNvSpPr>
          <p:nvPr/>
        </p:nvSpPr>
        <p:spPr>
          <a:xfrm xmlns:a="http://schemas.openxmlformats.org/drawingml/2006/main" flipH="0" flipV="0">
            <a:off x="457200" y="1381125"/>
            <a:ext cx="112776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BF9B8852-5143-46EC-81E5-F44B9073FB65}"/>
              </a:ext>
            </a:extLst>
          </p:cNvPr>
          <p:cNvSpPr>
            <a:spLocks xmlns:a="http://schemas.openxmlformats.org/drawingml/2006/main" noGrp="1"/>
          </p:cNvSpPr>
          <p:nvPr/>
        </p:nvSpPr>
        <p:spPr>
          <a:xfrm xmlns:a="http://schemas.openxmlformats.org/drawingml/2006/main">
            <a:off x="11287125" y="6477000"/>
            <a:ext cx="4476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75" b="0">
                <a:solidFill>
                  <a:srgbClr val="ADB8C5"/>
                </a:solidFill>
                <a:latin typeface="DejaVu Sans"/>
                <a:ea typeface="DejaVu Sans"/>
                <a:cs typeface="DejaVu Sans"/>
              </a:defRPr>
            </a:pPr>
            <a:r>
              <a:rPr sz="1275" b="0">
                <a:solidFill>
                  <a:srgbClr val="ADB8C5"/>
                </a:solidFill>
                <a:latin typeface="DejaVu Sans"/>
                <a:ea typeface="DejaVu Sans"/>
                <a:cs typeface="DejaVu Sans"/>
              </a:rPr>
              <a:t>04</a:t>
            </a:r>
          </a:p>
        </p:txBody>
      </p:sp>
      <p:sp>
        <p:nvSpPr>
          <p:cNvPr id="4" name="">
            <a:extLst xmlns:a="http://schemas.openxmlformats.org/drawingml/2006/main">
              <a:ext uri="{FF2B5EF4-FFF2-40B4-BE49-F238E27FC236}">
                <a16:creationId xmlns:a16="http://schemas.microsoft.com/office/drawing/2014/main" id="{EA327D0D-6C7C-4F17-A8EC-2CA5AF80504B}"/>
              </a:ext>
            </a:extLst>
          </p:cNvPr>
          <p:cNvSpPr>
            <a:spLocks xmlns:a="http://schemas.openxmlformats.org/drawingml/2006/main" noGrp="1"/>
          </p:cNvSpPr>
          <p:nvPr/>
        </p:nvSpPr>
        <p:spPr>
          <a:xfrm xmlns:a="http://schemas.openxmlformats.org/drawingml/2006/main">
            <a:off x="457200" y="1638300"/>
            <a:ext cx="5676900" cy="38100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5" name="">
            <a:extLst xmlns:a="http://schemas.openxmlformats.org/drawingml/2006/main">
              <a:ext uri="{FF2B5EF4-FFF2-40B4-BE49-F238E27FC236}">
                <a16:creationId xmlns:a16="http://schemas.microsoft.com/office/drawing/2014/main" id="{5C3F958C-545B-4368-BA23-3962378B73D8}"/>
              </a:ext>
            </a:extLst>
          </p:cNvPr>
          <p:cNvSpPr>
            <a:spLocks xmlns:a="http://schemas.openxmlformats.org/drawingml/2006/main" noGrp="1"/>
          </p:cNvSpPr>
          <p:nvPr/>
        </p:nvSpPr>
        <p:spPr>
          <a:xfrm xmlns:a="http://schemas.openxmlformats.org/drawingml/2006/main">
            <a:off x="647700" y="17430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DejaVu Sans"/>
                <a:ea typeface="DejaVu Sans"/>
                <a:cs typeface="DejaVu Sans"/>
              </a:defRPr>
            </a:pPr>
            <a:r>
              <a:rPr sz="1650" b="1">
                <a:solidFill>
                  <a:srgbClr val="28C7F7"/>
                </a:solidFill>
                <a:latin typeface="DejaVu Sans"/>
                <a:ea typeface="DejaVu Sans"/>
                <a:cs typeface="DejaVu Sans"/>
              </a:rPr>
              <a:t>NBER · MAY 2026</a:t>
            </a:r>
          </a:p>
        </p:txBody>
      </p:sp>
      <p:sp>
        <p:nvSpPr>
          <p:cNvPr id="6" name="">
            <a:extLst xmlns:a="http://schemas.openxmlformats.org/drawingml/2006/main">
              <a:ext uri="{FF2B5EF4-FFF2-40B4-BE49-F238E27FC236}">
                <a16:creationId xmlns:a16="http://schemas.microsoft.com/office/drawing/2014/main" id="{00A0C043-FD4F-415F-90C6-4A3C88ADB647}"/>
              </a:ext>
            </a:extLst>
          </p:cNvPr>
          <p:cNvSpPr>
            <a:spLocks xmlns:a="http://schemas.openxmlformats.org/drawingml/2006/main" noGrp="1"/>
          </p:cNvSpPr>
          <p:nvPr/>
        </p:nvSpPr>
        <p:spPr>
          <a:xfrm xmlns:a="http://schemas.openxmlformats.org/drawingml/2006/main">
            <a:off x="647700" y="2162175"/>
            <a:ext cx="1714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975" b="1">
                <a:solidFill>
                  <a:srgbClr val="F4F7FA"/>
                </a:solidFill>
                <a:latin typeface="DejaVu Sans"/>
                <a:ea typeface="DejaVu Sans"/>
                <a:cs typeface="DejaVu Sans"/>
              </a:defRPr>
            </a:pPr>
            <a:r>
              <a:rPr sz="3975" b="1">
                <a:solidFill>
                  <a:srgbClr val="F4F7FA"/>
                </a:solidFill>
                <a:latin typeface="DejaVu Sans"/>
                <a:ea typeface="DejaVu Sans"/>
                <a:cs typeface="DejaVu Sans"/>
              </a:rPr>
              <a:t>17.3×</a:t>
            </a:r>
          </a:p>
        </p:txBody>
      </p:sp>
      <p:sp>
        <p:nvSpPr>
          <p:cNvPr id="7" name="">
            <a:extLst xmlns:a="http://schemas.openxmlformats.org/drawingml/2006/main">
              <a:ext uri="{FF2B5EF4-FFF2-40B4-BE49-F238E27FC236}">
                <a16:creationId xmlns:a16="http://schemas.microsoft.com/office/drawing/2014/main" id="{7C7A6BF9-C834-46FF-93B0-1439372468C3}"/>
              </a:ext>
            </a:extLst>
          </p:cNvPr>
          <p:cNvSpPr>
            <a:spLocks xmlns:a="http://schemas.openxmlformats.org/drawingml/2006/main" noGrp="1"/>
          </p:cNvSpPr>
          <p:nvPr/>
        </p:nvSpPr>
        <p:spPr>
          <a:xfrm xmlns:a="http://schemas.openxmlformats.org/drawingml/2006/main">
            <a:off x="647700" y="2781300"/>
            <a:ext cx="173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changed LOC</a:t>
            </a:r>
          </a:p>
        </p:txBody>
      </p:sp>
      <p:sp>
        <p:nvSpPr>
          <p:cNvPr id="8" name="">
            <a:extLst xmlns:a="http://schemas.openxmlformats.org/drawingml/2006/main">
              <a:ext uri="{FF2B5EF4-FFF2-40B4-BE49-F238E27FC236}">
                <a16:creationId xmlns:a16="http://schemas.microsoft.com/office/drawing/2014/main" id="{3C851D2F-FEF0-4DEC-AB04-2EFB2C124F2E}"/>
              </a:ext>
            </a:extLst>
          </p:cNvPr>
          <p:cNvSpPr>
            <a:spLocks xmlns:a="http://schemas.openxmlformats.org/drawingml/2006/main" noGrp="1"/>
          </p:cNvSpPr>
          <p:nvPr/>
        </p:nvSpPr>
        <p:spPr>
          <a:xfrm xmlns:a="http://schemas.openxmlformats.org/drawingml/2006/main">
            <a:off x="2438400" y="2162175"/>
            <a:ext cx="1714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975" b="1">
                <a:solidFill>
                  <a:srgbClr val="F4F7FA"/>
                </a:solidFill>
                <a:latin typeface="DejaVu Sans"/>
                <a:ea typeface="DejaVu Sans"/>
                <a:cs typeface="DejaVu Sans"/>
              </a:defRPr>
            </a:pPr>
            <a:r>
              <a:rPr sz="3975" b="1">
                <a:solidFill>
                  <a:srgbClr val="F4F7FA"/>
                </a:solidFill>
                <a:latin typeface="DejaVu Sans"/>
                <a:ea typeface="DejaVu Sans"/>
                <a:cs typeface="DejaVu Sans"/>
              </a:rPr>
              <a:t>2.8×</a:t>
            </a:r>
          </a:p>
        </p:txBody>
      </p:sp>
      <p:sp>
        <p:nvSpPr>
          <p:cNvPr id="9" name="">
            <a:extLst xmlns:a="http://schemas.openxmlformats.org/drawingml/2006/main">
              <a:ext uri="{FF2B5EF4-FFF2-40B4-BE49-F238E27FC236}">
                <a16:creationId xmlns:a16="http://schemas.microsoft.com/office/drawing/2014/main" id="{0C13D133-B305-4D94-B408-87C47D28EBDA}"/>
              </a:ext>
            </a:extLst>
          </p:cNvPr>
          <p:cNvSpPr>
            <a:spLocks xmlns:a="http://schemas.openxmlformats.org/drawingml/2006/main" noGrp="1"/>
          </p:cNvSpPr>
          <p:nvPr/>
        </p:nvSpPr>
        <p:spPr>
          <a:xfrm xmlns:a="http://schemas.openxmlformats.org/drawingml/2006/main">
            <a:off x="2438400" y="2781300"/>
            <a:ext cx="173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commits</a:t>
            </a:r>
          </a:p>
        </p:txBody>
      </p:sp>
      <p:sp>
        <p:nvSpPr>
          <p:cNvPr id="10" name="">
            <a:extLst xmlns:a="http://schemas.openxmlformats.org/drawingml/2006/main">
              <a:ext uri="{FF2B5EF4-FFF2-40B4-BE49-F238E27FC236}">
                <a16:creationId xmlns:a16="http://schemas.microsoft.com/office/drawing/2014/main" id="{A8153D9D-A0DC-402F-B590-144B672F072B}"/>
              </a:ext>
            </a:extLst>
          </p:cNvPr>
          <p:cNvSpPr>
            <a:spLocks xmlns:a="http://schemas.openxmlformats.org/drawingml/2006/main" noGrp="1"/>
          </p:cNvSpPr>
          <p:nvPr/>
        </p:nvSpPr>
        <p:spPr>
          <a:xfrm xmlns:a="http://schemas.openxmlformats.org/drawingml/2006/main">
            <a:off x="4229100" y="2162175"/>
            <a:ext cx="1714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975" b="1">
                <a:solidFill>
                  <a:srgbClr val="F4F7FA"/>
                </a:solidFill>
                <a:latin typeface="DejaVu Sans"/>
                <a:ea typeface="DejaVu Sans"/>
                <a:cs typeface="DejaVu Sans"/>
              </a:defRPr>
            </a:pPr>
            <a:r>
              <a:rPr sz="3975" b="1">
                <a:solidFill>
                  <a:srgbClr val="F4F7FA"/>
                </a:solidFill>
                <a:latin typeface="DejaVu Sans"/>
                <a:ea typeface="DejaVu Sans"/>
                <a:cs typeface="DejaVu Sans"/>
              </a:rPr>
              <a:t>1.3×</a:t>
            </a:r>
          </a:p>
        </p:txBody>
      </p:sp>
      <p:sp>
        <p:nvSpPr>
          <p:cNvPr id="11" name="">
            <a:extLst xmlns:a="http://schemas.openxmlformats.org/drawingml/2006/main">
              <a:ext uri="{FF2B5EF4-FFF2-40B4-BE49-F238E27FC236}">
                <a16:creationId xmlns:a16="http://schemas.microsoft.com/office/drawing/2014/main" id="{6B808A4D-7A30-42A3-822B-3A81C755CCCD}"/>
              </a:ext>
            </a:extLst>
          </p:cNvPr>
          <p:cNvSpPr>
            <a:spLocks xmlns:a="http://schemas.openxmlformats.org/drawingml/2006/main" noGrp="1"/>
          </p:cNvSpPr>
          <p:nvPr/>
        </p:nvSpPr>
        <p:spPr>
          <a:xfrm xmlns:a="http://schemas.openxmlformats.org/drawingml/2006/main">
            <a:off x="4229100" y="2781300"/>
            <a:ext cx="173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releases</a:t>
            </a:r>
          </a:p>
        </p:txBody>
      </p:sp>
      <p:sp>
        <p:nvSpPr>
          <p:cNvPr id="12" name="">
            <a:extLst xmlns:a="http://schemas.openxmlformats.org/drawingml/2006/main">
              <a:ext uri="{FF2B5EF4-FFF2-40B4-BE49-F238E27FC236}">
                <a16:creationId xmlns:a16="http://schemas.microsoft.com/office/drawing/2014/main" id="{765CDE07-E699-48E7-AFC4-5725384026FF}"/>
              </a:ext>
            </a:extLst>
          </p:cNvPr>
          <p:cNvSpPr>
            <a:spLocks xmlns:a="http://schemas.openxmlformats.org/drawingml/2006/main" noGrp="1"/>
          </p:cNvSpPr>
          <p:nvPr/>
        </p:nvSpPr>
        <p:spPr>
          <a:xfrm xmlns:a="http://schemas.openxmlformats.org/drawingml/2006/main">
            <a:off x="647700" y="3190875"/>
            <a:ext cx="52768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DejaVu Sans"/>
                <a:ea typeface="DejaVu Sans"/>
                <a:cs typeface="DejaVu Sans"/>
              </a:defRPr>
            </a:pPr>
            <a:r>
              <a:rPr sz="1650" b="1">
                <a:solidFill>
                  <a:srgbClr val="28C7F7"/>
                </a:solidFill>
                <a:latin typeface="DejaVu Sans"/>
                <a:ea typeface="DejaVu Sans"/>
                <a:cs typeface="DejaVu Sans"/>
              </a:rPr>
              <a:t>Autocomplete + sync + async agents</a:t>
            </a:r>
          </a:p>
        </p:txBody>
      </p:sp>
      <p:sp>
        <p:nvSpPr>
          <p:cNvPr id="13" name="">
            <a:extLst xmlns:a="http://schemas.openxmlformats.org/drawingml/2006/main">
              <a:ext uri="{FF2B5EF4-FFF2-40B4-BE49-F238E27FC236}">
                <a16:creationId xmlns:a16="http://schemas.microsoft.com/office/drawing/2014/main" id="{FB251DC3-76ED-4321-B02C-92B8872E564D}"/>
              </a:ext>
            </a:extLst>
          </p:cNvPr>
          <p:cNvSpPr>
            <a:spLocks xmlns:a="http://schemas.openxmlformats.org/drawingml/2006/main" noGrp="1"/>
          </p:cNvSpPr>
          <p:nvPr/>
        </p:nvSpPr>
        <p:spPr>
          <a:xfrm xmlns:a="http://schemas.openxmlformats.org/drawingml/2006/main">
            <a:off x="647700" y="35718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DejaVu Sans"/>
                <a:ea typeface="DejaVu Sans"/>
                <a:cs typeface="DejaVu Sans"/>
              </a:defRPr>
            </a:pPr>
            <a:r>
              <a:rPr sz="1275" b="0">
                <a:solidFill>
                  <a:srgbClr val="ADB8C5"/>
                </a:solidFill>
                <a:latin typeface="DejaVu Sans"/>
                <a:ea typeface="DejaVu Sans"/>
                <a:cs typeface="DejaVu Sans"/>
              </a:rPr>
              <a:t>Cumulative estimates. Separate async release effect not identified.</a:t>
            </a:r>
          </a:p>
        </p:txBody>
      </p:sp>
      <p:sp>
        <p:nvSpPr>
          <p:cNvPr id="14" name="">
            <a:extLst xmlns:a="http://schemas.openxmlformats.org/drawingml/2006/main">
              <a:ext uri="{FF2B5EF4-FFF2-40B4-BE49-F238E27FC236}">
                <a16:creationId xmlns:a16="http://schemas.microsoft.com/office/drawing/2014/main" id="{73946316-6088-4E58-A462-2C46B1FBA712}"/>
              </a:ext>
            </a:extLst>
          </p:cNvPr>
          <p:cNvSpPr>
            <a:spLocks xmlns:a="http://schemas.openxmlformats.org/drawingml/2006/main" noGrp="1"/>
          </p:cNvSpPr>
          <p:nvPr/>
        </p:nvSpPr>
        <p:spPr>
          <a:xfrm xmlns:a="http://schemas.openxmlformats.org/drawingml/2006/main" flipH="0" flipV="0">
            <a:off x="647700" y="4124325"/>
            <a:ext cx="5267325"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5" name="">
            <a:extLst xmlns:a="http://schemas.openxmlformats.org/drawingml/2006/main">
              <a:ext uri="{FF2B5EF4-FFF2-40B4-BE49-F238E27FC236}">
                <a16:creationId xmlns:a16="http://schemas.microsoft.com/office/drawing/2014/main" id="{4BDDE78C-A3C8-4B43-91AE-5721D48DF68A}"/>
              </a:ext>
            </a:extLst>
          </p:cNvPr>
          <p:cNvSpPr>
            <a:spLocks xmlns:a="http://schemas.openxmlformats.org/drawingml/2006/main" noGrp="1"/>
          </p:cNvSpPr>
          <p:nvPr/>
        </p:nvSpPr>
        <p:spPr>
          <a:xfrm xmlns:a="http://schemas.openxmlformats.org/drawingml/2006/main">
            <a:off x="647700" y="4229100"/>
            <a:ext cx="5238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DejaVu Sans"/>
                <a:ea typeface="DejaVu Sans"/>
                <a:cs typeface="DejaVu Sans"/>
              </a:defRPr>
            </a:pPr>
            <a:r>
              <a:rPr sz="1875" b="1">
                <a:solidFill>
                  <a:srgbClr val="F4F7FA"/>
                </a:solidFill>
                <a:latin typeface="DejaVu Sans"/>
                <a:ea typeface="DejaVu Sans"/>
                <a:cs typeface="DejaVu Sans"/>
              </a:rPr>
              <a:t>More apps. No aggregate usage increase.</a:t>
            </a:r>
          </a:p>
        </p:txBody>
      </p:sp>
      <p:sp>
        <p:nvSpPr>
          <p:cNvPr id="16" name="">
            <a:extLst xmlns:a="http://schemas.openxmlformats.org/drawingml/2006/main">
              <a:ext uri="{FF2B5EF4-FFF2-40B4-BE49-F238E27FC236}">
                <a16:creationId xmlns:a16="http://schemas.microsoft.com/office/drawing/2014/main" id="{128C2087-5E11-4423-99BD-A57052A6C933}"/>
              </a:ext>
            </a:extLst>
          </p:cNvPr>
          <p:cNvSpPr>
            <a:spLocks xmlns:a="http://schemas.openxmlformats.org/drawingml/2006/main" noGrp="1"/>
          </p:cNvSpPr>
          <p:nvPr/>
        </p:nvSpPr>
        <p:spPr>
          <a:xfrm xmlns:a="http://schemas.openxmlformats.org/drawingml/2006/main">
            <a:off x="647700" y="4781550"/>
            <a:ext cx="3381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iOS: &lt;10 ratings</a:t>
            </a:r>
          </a:p>
        </p:txBody>
      </p:sp>
      <p:sp>
        <p:nvSpPr>
          <p:cNvPr id="17" name="">
            <a:extLst xmlns:a="http://schemas.openxmlformats.org/drawingml/2006/main">
              <a:ext uri="{FF2B5EF4-FFF2-40B4-BE49-F238E27FC236}">
                <a16:creationId xmlns:a16="http://schemas.microsoft.com/office/drawing/2014/main" id="{C508E2D6-E3DE-4FAF-A73A-4E043AD271ED}"/>
              </a:ext>
            </a:extLst>
          </p:cNvPr>
          <p:cNvSpPr>
            <a:spLocks xmlns:a="http://schemas.openxmlformats.org/drawingml/2006/main" noGrp="1"/>
          </p:cNvSpPr>
          <p:nvPr/>
        </p:nvSpPr>
        <p:spPr>
          <a:xfrm xmlns:a="http://schemas.openxmlformats.org/drawingml/2006/main">
            <a:off x="4048125" y="478155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650" b="1">
                <a:solidFill>
                  <a:srgbClr val="F5B61C"/>
                </a:solidFill>
                <a:latin typeface="DejaVu Sans"/>
                <a:ea typeface="DejaVu Sans"/>
                <a:cs typeface="DejaVu Sans"/>
              </a:defRPr>
            </a:pPr>
            <a:r>
              <a:rPr sz="1650" b="1">
                <a:solidFill>
                  <a:srgbClr val="F5B61C"/>
                </a:solidFill>
                <a:latin typeface="DejaVu Sans"/>
                <a:ea typeface="DejaVu Sans"/>
                <a:cs typeface="DejaVu Sans"/>
              </a:rPr>
              <a:t>79% → 86%</a:t>
            </a:r>
          </a:p>
        </p:txBody>
      </p:sp>
      <p:sp>
        <p:nvSpPr>
          <p:cNvPr id="18" name="">
            <a:extLst xmlns:a="http://schemas.openxmlformats.org/drawingml/2006/main">
              <a:ext uri="{FF2B5EF4-FFF2-40B4-BE49-F238E27FC236}">
                <a16:creationId xmlns:a16="http://schemas.microsoft.com/office/drawing/2014/main" id="{B596BECD-E762-43AA-A15F-86E4C01B7E7E}"/>
              </a:ext>
            </a:extLst>
          </p:cNvPr>
          <p:cNvSpPr>
            <a:spLocks xmlns:a="http://schemas.openxmlformats.org/drawingml/2006/main" noGrp="1"/>
          </p:cNvSpPr>
          <p:nvPr/>
        </p:nvSpPr>
        <p:spPr>
          <a:xfrm xmlns:a="http://schemas.openxmlformats.org/drawingml/2006/main">
            <a:off x="647700" y="5057775"/>
            <a:ext cx="3381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Chrome: &lt;10 downloads</a:t>
            </a:r>
          </a:p>
        </p:txBody>
      </p:sp>
      <p:sp>
        <p:nvSpPr>
          <p:cNvPr id="19" name="">
            <a:extLst xmlns:a="http://schemas.openxmlformats.org/drawingml/2006/main">
              <a:ext uri="{FF2B5EF4-FFF2-40B4-BE49-F238E27FC236}">
                <a16:creationId xmlns:a16="http://schemas.microsoft.com/office/drawing/2014/main" id="{D5ABFD8B-0351-48BC-8B21-F92F14572360}"/>
              </a:ext>
            </a:extLst>
          </p:cNvPr>
          <p:cNvSpPr>
            <a:spLocks xmlns:a="http://schemas.openxmlformats.org/drawingml/2006/main" noGrp="1"/>
          </p:cNvSpPr>
          <p:nvPr/>
        </p:nvSpPr>
        <p:spPr>
          <a:xfrm xmlns:a="http://schemas.openxmlformats.org/drawingml/2006/main">
            <a:off x="4048125" y="5057775"/>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650" b="1">
                <a:solidFill>
                  <a:srgbClr val="F5B61C"/>
                </a:solidFill>
                <a:latin typeface="DejaVu Sans"/>
                <a:ea typeface="DejaVu Sans"/>
                <a:cs typeface="DejaVu Sans"/>
              </a:defRPr>
            </a:pPr>
            <a:r>
              <a:rPr sz="1650" b="1">
                <a:solidFill>
                  <a:srgbClr val="F5B61C"/>
                </a:solidFill>
                <a:latin typeface="DejaVu Sans"/>
                <a:ea typeface="DejaVu Sans"/>
                <a:cs typeface="DejaVu Sans"/>
              </a:rPr>
              <a:t>18% → 31%</a:t>
            </a:r>
          </a:p>
        </p:txBody>
      </p:sp>
      <p:sp>
        <p:nvSpPr>
          <p:cNvPr id="20" name="">
            <a:extLst xmlns:a="http://schemas.openxmlformats.org/drawingml/2006/main">
              <a:ext uri="{FF2B5EF4-FFF2-40B4-BE49-F238E27FC236}">
                <a16:creationId xmlns:a16="http://schemas.microsoft.com/office/drawing/2014/main" id="{6A9FABE8-D7B7-47F6-AC13-6B2BB60F4D2A}"/>
              </a:ext>
            </a:extLst>
          </p:cNvPr>
          <p:cNvSpPr>
            <a:spLocks xmlns:a="http://schemas.openxmlformats.org/drawingml/2006/main" noGrp="1"/>
          </p:cNvSpPr>
          <p:nvPr/>
        </p:nvSpPr>
        <p:spPr>
          <a:xfrm xmlns:a="http://schemas.openxmlformats.org/drawingml/2006/main">
            <a:off x="6362700" y="1638300"/>
            <a:ext cx="2638425" cy="1857375"/>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21" name="">
            <a:extLst xmlns:a="http://schemas.openxmlformats.org/drawingml/2006/main">
              <a:ext uri="{FF2B5EF4-FFF2-40B4-BE49-F238E27FC236}">
                <a16:creationId xmlns:a16="http://schemas.microsoft.com/office/drawing/2014/main" id="{BD59E5B7-54D1-4F5C-9DF4-E5A2D40AE181}"/>
              </a:ext>
            </a:extLst>
          </p:cNvPr>
          <p:cNvSpPr>
            <a:spLocks xmlns:a="http://schemas.openxmlformats.org/drawingml/2006/main" noGrp="1"/>
          </p:cNvSpPr>
          <p:nvPr/>
        </p:nvSpPr>
        <p:spPr>
          <a:xfrm xmlns:a="http://schemas.openxmlformats.org/drawingml/2006/main">
            <a:off x="6515100" y="1771650"/>
            <a:ext cx="2333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28C7F7"/>
                </a:solidFill>
                <a:latin typeface="DejaVu Sans"/>
                <a:ea typeface="DejaVu Sans"/>
                <a:cs typeface="DejaVu Sans"/>
              </a:defRPr>
            </a:pPr>
            <a:r>
              <a:rPr sz="1275" b="1">
                <a:solidFill>
                  <a:srgbClr val="28C7F7"/>
                </a:solidFill>
                <a:latin typeface="DejaVu Sans"/>
                <a:ea typeface="DejaVu Sans"/>
                <a:cs typeface="DejaVu Sans"/>
              </a:rPr>
              <a:t>METR · MAY 2026</a:t>
            </a:r>
          </a:p>
        </p:txBody>
      </p:sp>
      <p:sp>
        <p:nvSpPr>
          <p:cNvPr id="22" name="">
            <a:extLst xmlns:a="http://schemas.openxmlformats.org/drawingml/2006/main">
              <a:ext uri="{FF2B5EF4-FFF2-40B4-BE49-F238E27FC236}">
                <a16:creationId xmlns:a16="http://schemas.microsoft.com/office/drawing/2014/main" id="{B963E274-F15B-4E99-8479-8C0B69A9FB4F}"/>
              </a:ext>
            </a:extLst>
          </p:cNvPr>
          <p:cNvSpPr>
            <a:spLocks xmlns:a="http://schemas.openxmlformats.org/drawingml/2006/main" noGrp="1"/>
          </p:cNvSpPr>
          <p:nvPr/>
        </p:nvSpPr>
        <p:spPr>
          <a:xfrm xmlns:a="http://schemas.openxmlformats.org/drawingml/2006/main">
            <a:off x="6515100" y="2190750"/>
            <a:ext cx="23336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4F7FA"/>
                </a:solidFill>
                <a:latin typeface="DejaVu Sans"/>
                <a:ea typeface="DejaVu Sans"/>
                <a:cs typeface="DejaVu Sans"/>
              </a:defRPr>
            </a:pPr>
            <a:r>
              <a:rPr sz="2025" b="1">
                <a:solidFill>
                  <a:srgbClr val="F4F7FA"/>
                </a:solidFill>
                <a:latin typeface="DejaVu Sans"/>
                <a:ea typeface="DejaVu Sans"/>
                <a:cs typeface="DejaVu Sans"/>
              </a:rPr>
              <a:t>1.4–2× work value</a:t>
            </a:r>
          </a:p>
        </p:txBody>
      </p:sp>
      <p:sp>
        <p:nvSpPr>
          <p:cNvPr id="23" name="">
            <a:extLst xmlns:a="http://schemas.openxmlformats.org/drawingml/2006/main">
              <a:ext uri="{FF2B5EF4-FFF2-40B4-BE49-F238E27FC236}">
                <a16:creationId xmlns:a16="http://schemas.microsoft.com/office/drawing/2014/main" id="{C8BD21E8-BB90-42AA-B12B-38BEDE83DEDE}"/>
              </a:ext>
            </a:extLst>
          </p:cNvPr>
          <p:cNvSpPr>
            <a:spLocks xmlns:a="http://schemas.openxmlformats.org/drawingml/2006/main" noGrp="1"/>
          </p:cNvSpPr>
          <p:nvPr/>
        </p:nvSpPr>
        <p:spPr>
          <a:xfrm xmlns:a="http://schemas.openxmlformats.org/drawingml/2006/main">
            <a:off x="6515100" y="2990850"/>
            <a:ext cx="2333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DejaVu Sans"/>
                <a:ea typeface="DejaVu Sans"/>
                <a:cs typeface="DejaVu Sans"/>
              </a:defRPr>
            </a:pPr>
            <a:r>
              <a:rPr sz="1350" b="0">
                <a:solidFill>
                  <a:srgbClr val="ADB8C5"/>
                </a:solidFill>
                <a:latin typeface="DejaVu Sans"/>
                <a:ea typeface="DejaVu Sans"/>
                <a:cs typeface="DejaVu Sans"/>
              </a:rPr>
              <a:t>Self-reported survey; not causal uplift</a:t>
            </a:r>
          </a:p>
        </p:txBody>
      </p:sp>
      <p:sp>
        <p:nvSpPr>
          <p:cNvPr id="24" name="">
            <a:extLst xmlns:a="http://schemas.openxmlformats.org/drawingml/2006/main">
              <a:ext uri="{FF2B5EF4-FFF2-40B4-BE49-F238E27FC236}">
                <a16:creationId xmlns:a16="http://schemas.microsoft.com/office/drawing/2014/main" id="{13E44727-5F99-48CF-8891-1E689B64E815}"/>
              </a:ext>
            </a:extLst>
          </p:cNvPr>
          <p:cNvSpPr>
            <a:spLocks xmlns:a="http://schemas.openxmlformats.org/drawingml/2006/main" noGrp="1"/>
          </p:cNvSpPr>
          <p:nvPr/>
        </p:nvSpPr>
        <p:spPr>
          <a:xfrm xmlns:a="http://schemas.openxmlformats.org/drawingml/2006/main">
            <a:off x="9096375" y="1638300"/>
            <a:ext cx="2638425" cy="1857375"/>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25" name="">
            <a:extLst xmlns:a="http://schemas.openxmlformats.org/drawingml/2006/main">
              <a:ext uri="{FF2B5EF4-FFF2-40B4-BE49-F238E27FC236}">
                <a16:creationId xmlns:a16="http://schemas.microsoft.com/office/drawing/2014/main" id="{2B69337E-91B9-433C-80C3-861B6217F54C}"/>
              </a:ext>
            </a:extLst>
          </p:cNvPr>
          <p:cNvSpPr>
            <a:spLocks xmlns:a="http://schemas.openxmlformats.org/drawingml/2006/main" noGrp="1"/>
          </p:cNvSpPr>
          <p:nvPr/>
        </p:nvSpPr>
        <p:spPr>
          <a:xfrm xmlns:a="http://schemas.openxmlformats.org/drawingml/2006/main">
            <a:off x="9248775" y="1771650"/>
            <a:ext cx="2333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28C7F7"/>
                </a:solidFill>
                <a:latin typeface="DejaVu Sans"/>
                <a:ea typeface="DejaVu Sans"/>
                <a:cs typeface="DejaVu Sans"/>
              </a:defRPr>
            </a:pPr>
            <a:r>
              <a:rPr sz="1275" b="1">
                <a:solidFill>
                  <a:srgbClr val="28C7F7"/>
                </a:solidFill>
                <a:latin typeface="DejaVu Sans"/>
                <a:ea typeface="DejaVu Sans"/>
                <a:cs typeface="DejaVu Sans"/>
              </a:rPr>
              <a:t>DORA · 2025</a:t>
            </a:r>
          </a:p>
        </p:txBody>
      </p:sp>
      <p:sp>
        <p:nvSpPr>
          <p:cNvPr id="26" name="">
            <a:extLst xmlns:a="http://schemas.openxmlformats.org/drawingml/2006/main">
              <a:ext uri="{FF2B5EF4-FFF2-40B4-BE49-F238E27FC236}">
                <a16:creationId xmlns:a16="http://schemas.microsoft.com/office/drawing/2014/main" id="{7C205560-0DD1-4D92-9B5C-8AC75F953348}"/>
              </a:ext>
            </a:extLst>
          </p:cNvPr>
          <p:cNvSpPr>
            <a:spLocks xmlns:a="http://schemas.openxmlformats.org/drawingml/2006/main" noGrp="1"/>
          </p:cNvSpPr>
          <p:nvPr/>
        </p:nvSpPr>
        <p:spPr>
          <a:xfrm xmlns:a="http://schemas.openxmlformats.org/drawingml/2006/main">
            <a:off x="9248775" y="2190750"/>
            <a:ext cx="23336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4F7FA"/>
                </a:solidFill>
                <a:latin typeface="DejaVu Sans"/>
                <a:ea typeface="DejaVu Sans"/>
                <a:cs typeface="DejaVu Sans"/>
              </a:defRPr>
            </a:pPr>
            <a:r>
              <a:rPr sz="2025" b="1">
                <a:solidFill>
                  <a:srgbClr val="F4F7FA"/>
                </a:solidFill>
                <a:latin typeface="DejaVu Sans"/>
                <a:ea typeface="DejaVu Sans"/>
                <a:cs typeface="DejaVu Sans"/>
              </a:rPr>
              <a:t>Throughput ↑   Stability ↓</a:t>
            </a:r>
          </a:p>
        </p:txBody>
      </p:sp>
      <p:sp>
        <p:nvSpPr>
          <p:cNvPr id="27" name="">
            <a:extLst xmlns:a="http://schemas.openxmlformats.org/drawingml/2006/main">
              <a:ext uri="{FF2B5EF4-FFF2-40B4-BE49-F238E27FC236}">
                <a16:creationId xmlns:a16="http://schemas.microsoft.com/office/drawing/2014/main" id="{4687B323-655D-400A-90C4-493610255CDD}"/>
              </a:ext>
            </a:extLst>
          </p:cNvPr>
          <p:cNvSpPr>
            <a:spLocks xmlns:a="http://schemas.openxmlformats.org/drawingml/2006/main" noGrp="1"/>
          </p:cNvSpPr>
          <p:nvPr/>
        </p:nvSpPr>
        <p:spPr>
          <a:xfrm xmlns:a="http://schemas.openxmlformats.org/drawingml/2006/main">
            <a:off x="9248775" y="2990850"/>
            <a:ext cx="2333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DejaVu Sans"/>
                <a:ea typeface="DejaVu Sans"/>
                <a:cs typeface="DejaVu Sans"/>
              </a:defRPr>
            </a:pPr>
            <a:r>
              <a:rPr sz="1350" b="0">
                <a:solidFill>
                  <a:srgbClr val="ADB8C5"/>
                </a:solidFill>
                <a:latin typeface="DejaVu Sans"/>
                <a:ea typeface="DejaVu Sans"/>
                <a:cs typeface="DejaVu Sans"/>
              </a:rPr>
              <a:t>Product performance ↑; associations</a:t>
            </a:r>
          </a:p>
        </p:txBody>
      </p:sp>
      <p:sp>
        <p:nvSpPr>
          <p:cNvPr id="28" name="">
            <a:extLst xmlns:a="http://schemas.openxmlformats.org/drawingml/2006/main">
              <a:ext uri="{FF2B5EF4-FFF2-40B4-BE49-F238E27FC236}">
                <a16:creationId xmlns:a16="http://schemas.microsoft.com/office/drawing/2014/main" id="{D6AECF12-507F-433D-B248-50ACC9806A81}"/>
              </a:ext>
            </a:extLst>
          </p:cNvPr>
          <p:cNvSpPr>
            <a:spLocks xmlns:a="http://schemas.openxmlformats.org/drawingml/2006/main" noGrp="1"/>
          </p:cNvSpPr>
          <p:nvPr/>
        </p:nvSpPr>
        <p:spPr>
          <a:xfrm xmlns:a="http://schemas.openxmlformats.org/drawingml/2006/main">
            <a:off x="6362700" y="3590925"/>
            <a:ext cx="2638425" cy="1857375"/>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29" name="">
            <a:extLst xmlns:a="http://schemas.openxmlformats.org/drawingml/2006/main">
              <a:ext uri="{FF2B5EF4-FFF2-40B4-BE49-F238E27FC236}">
                <a16:creationId xmlns:a16="http://schemas.microsoft.com/office/drawing/2014/main" id="{CC436E9F-BE5C-4975-B25A-4735F7917F0A}"/>
              </a:ext>
            </a:extLst>
          </p:cNvPr>
          <p:cNvSpPr>
            <a:spLocks xmlns:a="http://schemas.openxmlformats.org/drawingml/2006/main" noGrp="1"/>
          </p:cNvSpPr>
          <p:nvPr/>
        </p:nvSpPr>
        <p:spPr>
          <a:xfrm xmlns:a="http://schemas.openxmlformats.org/drawingml/2006/main">
            <a:off x="6515100" y="3724275"/>
            <a:ext cx="2333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28C7F7"/>
                </a:solidFill>
                <a:latin typeface="DejaVu Sans"/>
                <a:ea typeface="DejaVu Sans"/>
                <a:cs typeface="DejaVu Sans"/>
              </a:defRPr>
            </a:pPr>
            <a:r>
              <a:rPr sz="1275" b="1">
                <a:solidFill>
                  <a:srgbClr val="28C7F7"/>
                </a:solidFill>
                <a:latin typeface="DejaVu Sans"/>
                <a:ea typeface="DejaVu Sans"/>
                <a:cs typeface="DejaVu Sans"/>
              </a:rPr>
              <a:t>GITCLEAR · JUN 2026</a:t>
            </a:r>
          </a:p>
        </p:txBody>
      </p:sp>
      <p:sp>
        <p:nvSpPr>
          <p:cNvPr id="30" name="">
            <a:extLst xmlns:a="http://schemas.openxmlformats.org/drawingml/2006/main">
              <a:ext uri="{FF2B5EF4-FFF2-40B4-BE49-F238E27FC236}">
                <a16:creationId xmlns:a16="http://schemas.microsoft.com/office/drawing/2014/main" id="{63820A00-28A3-4100-93F0-D72E1C2C6367}"/>
              </a:ext>
            </a:extLst>
          </p:cNvPr>
          <p:cNvSpPr>
            <a:spLocks xmlns:a="http://schemas.openxmlformats.org/drawingml/2006/main" noGrp="1"/>
          </p:cNvSpPr>
          <p:nvPr/>
        </p:nvSpPr>
        <p:spPr>
          <a:xfrm xmlns:a="http://schemas.openxmlformats.org/drawingml/2006/main">
            <a:off x="6515100" y="4143375"/>
            <a:ext cx="23336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4F7FA"/>
                </a:solidFill>
                <a:latin typeface="DejaVu Sans"/>
                <a:ea typeface="DejaVu Sans"/>
                <a:cs typeface="DejaVu Sans"/>
              </a:defRPr>
            </a:pPr>
            <a:r>
              <a:rPr sz="2025" b="1">
                <a:solidFill>
                  <a:srgbClr val="F4F7FA"/>
                </a:solidFill>
                <a:latin typeface="DejaVu Sans"/>
                <a:ea typeface="DejaVu Sans"/>
                <a:cs typeface="DejaVu Sans"/>
              </a:rPr>
              <a:t>13% → 3.8%</a:t>
            </a:r>
          </a:p>
        </p:txBody>
      </p:sp>
      <p:sp>
        <p:nvSpPr>
          <p:cNvPr id="31" name="">
            <a:extLst xmlns:a="http://schemas.openxmlformats.org/drawingml/2006/main">
              <a:ext uri="{FF2B5EF4-FFF2-40B4-BE49-F238E27FC236}">
                <a16:creationId xmlns:a16="http://schemas.microsoft.com/office/drawing/2014/main" id="{46DE5851-E42B-45AA-89F8-4E98D153D423}"/>
              </a:ext>
            </a:extLst>
          </p:cNvPr>
          <p:cNvSpPr>
            <a:spLocks xmlns:a="http://schemas.openxmlformats.org/drawingml/2006/main" noGrp="1"/>
          </p:cNvSpPr>
          <p:nvPr/>
        </p:nvSpPr>
        <p:spPr>
          <a:xfrm xmlns:a="http://schemas.openxmlformats.org/drawingml/2006/main">
            <a:off x="6515100" y="4943475"/>
            <a:ext cx="2333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DejaVu Sans"/>
                <a:ea typeface="DejaVu Sans"/>
                <a:cs typeface="DejaVu Sans"/>
              </a:defRPr>
            </a:pPr>
            <a:r>
              <a:rPr sz="1350" b="0">
                <a:solidFill>
                  <a:srgbClr val="ADB8C5"/>
                </a:solidFill>
                <a:latin typeface="DejaVu Sans"/>
                <a:ea typeface="DejaVu Sans"/>
                <a:cs typeface="DejaVu Sans"/>
              </a:rPr>
              <a:t>Refactoring share; 2023 → YTD 2026</a:t>
            </a:r>
          </a:p>
        </p:txBody>
      </p:sp>
      <p:sp>
        <p:nvSpPr>
          <p:cNvPr id="32" name="">
            <a:extLst xmlns:a="http://schemas.openxmlformats.org/drawingml/2006/main">
              <a:ext uri="{FF2B5EF4-FFF2-40B4-BE49-F238E27FC236}">
                <a16:creationId xmlns:a16="http://schemas.microsoft.com/office/drawing/2014/main" id="{9266F7A7-0D6E-4EA0-9723-0167AC210A07}"/>
              </a:ext>
            </a:extLst>
          </p:cNvPr>
          <p:cNvSpPr>
            <a:spLocks xmlns:a="http://schemas.openxmlformats.org/drawingml/2006/main" noGrp="1"/>
          </p:cNvSpPr>
          <p:nvPr/>
        </p:nvSpPr>
        <p:spPr>
          <a:xfrm xmlns:a="http://schemas.openxmlformats.org/drawingml/2006/main">
            <a:off x="9096375" y="3590925"/>
            <a:ext cx="2638425" cy="1857375"/>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33" name="">
            <a:extLst xmlns:a="http://schemas.openxmlformats.org/drawingml/2006/main">
              <a:ext uri="{FF2B5EF4-FFF2-40B4-BE49-F238E27FC236}">
                <a16:creationId xmlns:a16="http://schemas.microsoft.com/office/drawing/2014/main" id="{69A3C0BF-298D-4726-B948-6751C8D4DBF5}"/>
              </a:ext>
            </a:extLst>
          </p:cNvPr>
          <p:cNvSpPr>
            <a:spLocks xmlns:a="http://schemas.openxmlformats.org/drawingml/2006/main" noGrp="1"/>
          </p:cNvSpPr>
          <p:nvPr/>
        </p:nvSpPr>
        <p:spPr>
          <a:xfrm xmlns:a="http://schemas.openxmlformats.org/drawingml/2006/main">
            <a:off x="9248775" y="3724275"/>
            <a:ext cx="2333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28C7F7"/>
                </a:solidFill>
                <a:latin typeface="DejaVu Sans"/>
                <a:ea typeface="DejaVu Sans"/>
                <a:cs typeface="DejaVu Sans"/>
              </a:defRPr>
            </a:pPr>
            <a:r>
              <a:rPr sz="1275" b="1">
                <a:solidFill>
                  <a:srgbClr val="28C7F7"/>
                </a:solidFill>
                <a:latin typeface="DejaVu Sans"/>
                <a:ea typeface="DejaVu Sans"/>
                <a:cs typeface="DejaVu Sans"/>
              </a:rPr>
              <a:t>XU + AGARWAL · 2026 VERSIONS</a:t>
            </a:r>
          </a:p>
        </p:txBody>
      </p:sp>
      <p:sp>
        <p:nvSpPr>
          <p:cNvPr id="34" name="">
            <a:extLst xmlns:a="http://schemas.openxmlformats.org/drawingml/2006/main">
              <a:ext uri="{FF2B5EF4-FFF2-40B4-BE49-F238E27FC236}">
                <a16:creationId xmlns:a16="http://schemas.microsoft.com/office/drawing/2014/main" id="{96F0289A-8980-4ED1-95D4-EA4330FDF97C}"/>
              </a:ext>
            </a:extLst>
          </p:cNvPr>
          <p:cNvSpPr>
            <a:spLocks xmlns:a="http://schemas.openxmlformats.org/drawingml/2006/main" noGrp="1"/>
          </p:cNvSpPr>
          <p:nvPr/>
        </p:nvSpPr>
        <p:spPr>
          <a:xfrm xmlns:a="http://schemas.openxmlformats.org/drawingml/2006/main">
            <a:off x="9248775" y="4143375"/>
            <a:ext cx="23336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4F7FA"/>
                </a:solidFill>
                <a:latin typeface="DejaVu Sans"/>
                <a:ea typeface="DejaVu Sans"/>
                <a:cs typeface="DejaVu Sans"/>
              </a:defRPr>
            </a:pPr>
            <a:r>
              <a:rPr sz="2025" b="1">
                <a:solidFill>
                  <a:srgbClr val="F4F7FA"/>
                </a:solidFill>
                <a:latin typeface="DejaVu Sans"/>
                <a:ea typeface="DejaVu Sans"/>
                <a:cs typeface="DejaVu Sans"/>
              </a:rPr>
              <a:t>Complexity +35% / +43%</a:t>
            </a:r>
          </a:p>
        </p:txBody>
      </p:sp>
      <p:sp>
        <p:nvSpPr>
          <p:cNvPr id="35" name="">
            <a:extLst xmlns:a="http://schemas.openxmlformats.org/drawingml/2006/main">
              <a:ext uri="{FF2B5EF4-FFF2-40B4-BE49-F238E27FC236}">
                <a16:creationId xmlns:a16="http://schemas.microsoft.com/office/drawing/2014/main" id="{49299448-EA8D-4A54-A04D-DF8EBCACEA28}"/>
              </a:ext>
            </a:extLst>
          </p:cNvPr>
          <p:cNvSpPr>
            <a:spLocks xmlns:a="http://schemas.openxmlformats.org/drawingml/2006/main" noGrp="1"/>
          </p:cNvSpPr>
          <p:nvPr/>
        </p:nvSpPr>
        <p:spPr>
          <a:xfrm xmlns:a="http://schemas.openxmlformats.org/drawingml/2006/main">
            <a:off x="9248775" y="4943475"/>
            <a:ext cx="2333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DejaVu Sans"/>
                <a:ea typeface="DejaVu Sans"/>
                <a:cs typeface="DejaVu Sans"/>
              </a:defRPr>
            </a:pPr>
            <a:r>
              <a:rPr sz="1350" b="0">
                <a:solidFill>
                  <a:srgbClr val="ADB8C5"/>
                </a:solidFill>
                <a:latin typeface="DejaVu Sans"/>
                <a:ea typeface="DejaVu Sans"/>
                <a:cs typeface="DejaVu Sans"/>
              </a:rPr>
              <a:t>Agent-first / IDE-first; workload shifts</a:t>
            </a:r>
          </a:p>
        </p:txBody>
      </p:sp>
      <p:sp>
        <p:nvSpPr>
          <p:cNvPr id="36" name="">
            <a:extLst xmlns:a="http://schemas.openxmlformats.org/drawingml/2006/main">
              <a:ext uri="{FF2B5EF4-FFF2-40B4-BE49-F238E27FC236}">
                <a16:creationId xmlns:a16="http://schemas.microsoft.com/office/drawing/2014/main" id="{01D7E244-BC06-4B00-B251-A47F349AC454}"/>
              </a:ext>
            </a:extLst>
          </p:cNvPr>
          <p:cNvSpPr>
            <a:spLocks xmlns:a="http://schemas.openxmlformats.org/drawingml/2006/main" noGrp="1"/>
          </p:cNvSpPr>
          <p:nvPr/>
        </p:nvSpPr>
        <p:spPr>
          <a:xfrm xmlns:a="http://schemas.openxmlformats.org/drawingml/2006/main">
            <a:off x="457200" y="5534025"/>
            <a:ext cx="11277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DejaVu Sans"/>
                <a:ea typeface="DejaVu Sans"/>
                <a:cs typeface="DejaVu Sans"/>
              </a:defRPr>
            </a:pPr>
            <a:r>
              <a:rPr sz="1425" b="0">
                <a:solidFill>
                  <a:srgbClr val="ADB8C5"/>
                </a:solidFill>
                <a:latin typeface="DejaVu Sans"/>
                <a:ea typeface="DejaVu Sans"/>
                <a:cs typeface="DejaVu Sans"/>
              </a:rPr>
              <a:t>New cohorts, first 3 months. Usage proxies, not welfare.</a:t>
            </a:r>
          </a:p>
        </p:txBody>
      </p:sp>
      <p:sp>
        <p:nvSpPr>
          <p:cNvPr id="37" name="">
            <a:extLst xmlns:a="http://schemas.openxmlformats.org/drawingml/2006/main">
              <a:ext uri="{FF2B5EF4-FFF2-40B4-BE49-F238E27FC236}">
                <a16:creationId xmlns:a16="http://schemas.microsoft.com/office/drawing/2014/main" id="{A05D8EA1-A718-437F-B3A7-1184D6F0EE47}"/>
              </a:ext>
            </a:extLst>
          </p:cNvPr>
          <p:cNvSpPr>
            <a:spLocks xmlns:a="http://schemas.openxmlformats.org/drawingml/2006/main" noGrp="1"/>
          </p:cNvSpPr>
          <p:nvPr/>
        </p:nvSpPr>
        <p:spPr>
          <a:xfrm xmlns:a="http://schemas.openxmlformats.org/drawingml/2006/main">
            <a:off x="457200" y="5886450"/>
            <a:ext cx="112776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025" b="1">
                <a:solidFill>
                  <a:srgbClr val="F4F7FA"/>
                </a:solidFill>
                <a:latin typeface="DejaVu Sans"/>
                <a:ea typeface="DejaVu Sans"/>
                <a:cs typeface="DejaVu Sans"/>
              </a:defRPr>
            </a:pPr>
            <a:r>
              <a:rPr sz="2025" b="1">
                <a:solidFill>
                  <a:srgbClr val="F4F7FA"/>
                </a:solidFill>
                <a:latin typeface="DejaVu Sans"/>
                <a:ea typeface="DejaVu Sans"/>
                <a:cs typeface="DejaVu Sans"/>
              </a:rPr>
              <a:t>Code activity, delivery and user value are different outcomes.</a:t>
            </a:r>
          </a:p>
        </p:txBody>
      </p:sp>
    </p:spTree>
    <p:extLst>
      <p:ext uri="{BB962C8B-B14F-4D97-AF65-F5344CB8AC3E}">
        <p14:creationId xmlns:p14="http://schemas.microsoft.com/office/powerpoint/2010/main" val="1747719312"/>
      </p:ext>
    </p:extLst>
  </p:cSld>
</p:sld>
</file>

<file path=ppt/slides/slide5.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8A148AE2-C24C-43C8-8C53-CAAF5850D7CB}"/>
              </a:ext>
            </a:extLst>
          </p:cNvPr>
          <p:cNvSpPr>
            <a:spLocks xmlns:a="http://schemas.openxmlformats.org/drawingml/2006/main" noGrp="1"/>
          </p:cNvSpPr>
          <p:nvPr/>
        </p:nvSpPr>
        <p:spPr>
          <a:xfrm xmlns:a="http://schemas.openxmlformats.org/drawingml/2006/main">
            <a:off x="457200" y="333375"/>
            <a:ext cx="11277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150" b="1">
                <a:solidFill>
                  <a:srgbClr val="F4F7FA"/>
                </a:solidFill>
                <a:latin typeface="DejaVu Sans"/>
                <a:ea typeface="DejaVu Sans"/>
                <a:cs typeface="DejaVu Sans"/>
              </a:defRPr>
            </a:pPr>
            <a:r>
              <a:rPr sz="3150" b="1">
                <a:solidFill>
                  <a:srgbClr val="F4F7FA"/>
                </a:solidFill>
                <a:latin typeface="DejaVu Sans"/>
                <a:ea typeface="DejaVu Sans"/>
                <a:cs typeface="DejaVu Sans"/>
              </a:rPr>
              <a:t>The New Scarcity Is Human Comprehension</a:t>
            </a:r>
          </a:p>
        </p:txBody>
      </p:sp>
      <p:sp>
        <p:nvSpPr>
          <p:cNvPr id="2" name="">
            <a:extLst xmlns:a="http://schemas.openxmlformats.org/drawingml/2006/main">
              <a:ext uri="{FF2B5EF4-FFF2-40B4-BE49-F238E27FC236}">
                <a16:creationId xmlns:a16="http://schemas.microsoft.com/office/drawing/2014/main" id="{80CA0338-4501-4631-B062-9E03580A9DCF}"/>
              </a:ext>
            </a:extLst>
          </p:cNvPr>
          <p:cNvSpPr>
            <a:spLocks xmlns:a="http://schemas.openxmlformats.org/drawingml/2006/main" noGrp="1"/>
          </p:cNvSpPr>
          <p:nvPr/>
        </p:nvSpPr>
        <p:spPr>
          <a:xfrm xmlns:a="http://schemas.openxmlformats.org/drawingml/2006/main" flipH="0" flipV="0">
            <a:off x="457200" y="1381125"/>
            <a:ext cx="112776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AB4B9741-3D0B-4AD1-A70E-93B9F7C53FC5}"/>
              </a:ext>
            </a:extLst>
          </p:cNvPr>
          <p:cNvSpPr>
            <a:spLocks xmlns:a="http://schemas.openxmlformats.org/drawingml/2006/main" noGrp="1"/>
          </p:cNvSpPr>
          <p:nvPr/>
        </p:nvSpPr>
        <p:spPr>
          <a:xfrm xmlns:a="http://schemas.openxmlformats.org/drawingml/2006/main">
            <a:off x="11287125" y="6477000"/>
            <a:ext cx="4476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75" b="0">
                <a:solidFill>
                  <a:srgbClr val="ADB8C5"/>
                </a:solidFill>
                <a:latin typeface="DejaVu Sans"/>
                <a:ea typeface="DejaVu Sans"/>
                <a:cs typeface="DejaVu Sans"/>
              </a:defRPr>
            </a:pPr>
            <a:r>
              <a:rPr sz="1275" b="0">
                <a:solidFill>
                  <a:srgbClr val="ADB8C5"/>
                </a:solidFill>
                <a:latin typeface="DejaVu Sans"/>
                <a:ea typeface="DejaVu Sans"/>
                <a:cs typeface="DejaVu Sans"/>
              </a:rPr>
              <a:t>05</a:t>
            </a:r>
          </a:p>
        </p:txBody>
      </p:sp>
      <p:sp>
        <p:nvSpPr>
          <p:cNvPr id="4" name="">
            <a:extLst xmlns:a="http://schemas.openxmlformats.org/drawingml/2006/main">
              <a:ext uri="{FF2B5EF4-FFF2-40B4-BE49-F238E27FC236}">
                <a16:creationId xmlns:a16="http://schemas.microsoft.com/office/drawing/2014/main" id="{327F74A5-0EDC-4918-98AD-9CB9459623FE}"/>
              </a:ext>
            </a:extLst>
          </p:cNvPr>
          <p:cNvSpPr>
            <a:spLocks xmlns:a="http://schemas.openxmlformats.org/drawingml/2006/main" noGrp="1"/>
          </p:cNvSpPr>
          <p:nvPr/>
        </p:nvSpPr>
        <p:spPr>
          <a:xfrm xmlns:a="http://schemas.openxmlformats.org/drawingml/2006/main" flipH="0" flipV="0">
            <a:off x="857250" y="4810125"/>
            <a:ext cx="67627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5" name="">
            <a:extLst xmlns:a="http://schemas.openxmlformats.org/drawingml/2006/main">
              <a:ext uri="{FF2B5EF4-FFF2-40B4-BE49-F238E27FC236}">
                <a16:creationId xmlns:a16="http://schemas.microsoft.com/office/drawing/2014/main" id="{15547B64-5CAF-4CA3-AF54-814E8F1896A7}"/>
              </a:ext>
            </a:extLst>
          </p:cNvPr>
          <p:cNvSpPr>
            <a:spLocks xmlns:a="http://schemas.openxmlformats.org/drawingml/2006/main" noGrp="1"/>
          </p:cNvSpPr>
          <p:nvPr/>
        </p:nvSpPr>
        <p:spPr>
          <a:xfrm xmlns:a="http://schemas.openxmlformats.org/drawingml/2006/main" flipH="0" flipV="1">
            <a:off x="857250" y="2057400"/>
            <a:ext cx="0" cy="2752725"/>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6" name="">
            <a:extLst xmlns:a="http://schemas.openxmlformats.org/drawingml/2006/main">
              <a:ext uri="{FF2B5EF4-FFF2-40B4-BE49-F238E27FC236}">
                <a16:creationId xmlns:a16="http://schemas.microsoft.com/office/drawing/2014/main" id="{CDD6E82F-D120-4F54-8109-734302AE342D}"/>
              </a:ext>
            </a:extLst>
          </p:cNvPr>
          <p:cNvSpPr>
            <a:spLocks xmlns:a="http://schemas.openxmlformats.org/drawingml/2006/main" noGrp="1"/>
          </p:cNvSpPr>
          <p:nvPr/>
        </p:nvSpPr>
        <p:spPr>
          <a:xfrm xmlns:a="http://schemas.openxmlformats.org/drawingml/2006/main" flipH="0" flipV="1">
            <a:off x="952500" y="4229100"/>
            <a:ext cx="1381125" cy="333375"/>
          </a:xfrm>
          <a:prstGeom xmlns:a="http://schemas.openxmlformats.org/drawingml/2006/main" prst="line">
            <a:avLst/>
          </a:prstGeom>
          <a:noFill xmlns:a="http://schemas.openxmlformats.org/drawingml/2006/main"/>
          <a:ln xmlns:a="http://schemas.openxmlformats.org/drawingml/2006/main" w="38100">
            <a:solidFill>
              <a:srgbClr val="28C7F7"/>
            </a:solidFill>
            <a:prstDash val="solid"/>
          </a:ln>
        </p:spPr>
      </p:sp>
      <p:sp>
        <p:nvSpPr>
          <p:cNvPr id="7" name="">
            <a:extLst xmlns:a="http://schemas.openxmlformats.org/drawingml/2006/main">
              <a:ext uri="{FF2B5EF4-FFF2-40B4-BE49-F238E27FC236}">
                <a16:creationId xmlns:a16="http://schemas.microsoft.com/office/drawing/2014/main" id="{76DB8F83-38E3-4D7C-B899-1BBC38C7C492}"/>
              </a:ext>
            </a:extLst>
          </p:cNvPr>
          <p:cNvSpPr>
            <a:spLocks xmlns:a="http://schemas.openxmlformats.org/drawingml/2006/main" noGrp="1"/>
          </p:cNvSpPr>
          <p:nvPr/>
        </p:nvSpPr>
        <p:spPr>
          <a:xfrm xmlns:a="http://schemas.openxmlformats.org/drawingml/2006/main" flipH="0" flipV="1">
            <a:off x="2333625" y="3571875"/>
            <a:ext cx="1428750" cy="657225"/>
          </a:xfrm>
          <a:prstGeom xmlns:a="http://schemas.openxmlformats.org/drawingml/2006/main" prst="line">
            <a:avLst/>
          </a:prstGeom>
          <a:noFill xmlns:a="http://schemas.openxmlformats.org/drawingml/2006/main"/>
          <a:ln xmlns:a="http://schemas.openxmlformats.org/drawingml/2006/main" w="38100">
            <a:solidFill>
              <a:srgbClr val="28C7F7"/>
            </a:solidFill>
            <a:prstDash val="solid"/>
          </a:ln>
        </p:spPr>
      </p:sp>
      <p:sp>
        <p:nvSpPr>
          <p:cNvPr id="8" name="">
            <a:extLst xmlns:a="http://schemas.openxmlformats.org/drawingml/2006/main">
              <a:ext uri="{FF2B5EF4-FFF2-40B4-BE49-F238E27FC236}">
                <a16:creationId xmlns:a16="http://schemas.microsoft.com/office/drawing/2014/main" id="{87A5BB07-BE33-4EA8-BFFC-5C1C9DED4BA8}"/>
              </a:ext>
            </a:extLst>
          </p:cNvPr>
          <p:cNvSpPr>
            <a:spLocks xmlns:a="http://schemas.openxmlformats.org/drawingml/2006/main" noGrp="1"/>
          </p:cNvSpPr>
          <p:nvPr/>
        </p:nvSpPr>
        <p:spPr>
          <a:xfrm xmlns:a="http://schemas.openxmlformats.org/drawingml/2006/main" flipH="0" flipV="1">
            <a:off x="3762375" y="2724150"/>
            <a:ext cx="1428750" cy="847725"/>
          </a:xfrm>
          <a:prstGeom xmlns:a="http://schemas.openxmlformats.org/drawingml/2006/main" prst="line">
            <a:avLst/>
          </a:prstGeom>
          <a:noFill xmlns:a="http://schemas.openxmlformats.org/drawingml/2006/main"/>
          <a:ln xmlns:a="http://schemas.openxmlformats.org/drawingml/2006/main" w="38100">
            <a:solidFill>
              <a:srgbClr val="28C7F7"/>
            </a:solidFill>
            <a:prstDash val="solid"/>
          </a:ln>
        </p:spPr>
      </p:sp>
      <p:sp>
        <p:nvSpPr>
          <p:cNvPr id="9" name="">
            <a:extLst xmlns:a="http://schemas.openxmlformats.org/drawingml/2006/main">
              <a:ext uri="{FF2B5EF4-FFF2-40B4-BE49-F238E27FC236}">
                <a16:creationId xmlns:a16="http://schemas.microsoft.com/office/drawing/2014/main" id="{446344F5-FD40-4E7E-8A7E-0BA3361BDE46}"/>
              </a:ext>
            </a:extLst>
          </p:cNvPr>
          <p:cNvSpPr>
            <a:spLocks xmlns:a="http://schemas.openxmlformats.org/drawingml/2006/main" noGrp="1"/>
          </p:cNvSpPr>
          <p:nvPr/>
        </p:nvSpPr>
        <p:spPr>
          <a:xfrm xmlns:a="http://schemas.openxmlformats.org/drawingml/2006/main" flipH="0" flipV="1">
            <a:off x="5191125" y="1809750"/>
            <a:ext cx="1857375" cy="914400"/>
          </a:xfrm>
          <a:prstGeom xmlns:a="http://schemas.openxmlformats.org/drawingml/2006/main" prst="line">
            <a:avLst/>
          </a:prstGeom>
          <a:noFill xmlns:a="http://schemas.openxmlformats.org/drawingml/2006/main"/>
          <a:ln xmlns:a="http://schemas.openxmlformats.org/drawingml/2006/main" w="38100">
            <a:solidFill>
              <a:srgbClr val="28C7F7"/>
            </a:solidFill>
            <a:prstDash val="solid"/>
          </a:ln>
        </p:spPr>
      </p:sp>
      <p:sp>
        <p:nvSpPr>
          <p:cNvPr id="10" name="">
            <a:extLst xmlns:a="http://schemas.openxmlformats.org/drawingml/2006/main">
              <a:ext uri="{FF2B5EF4-FFF2-40B4-BE49-F238E27FC236}">
                <a16:creationId xmlns:a16="http://schemas.microsoft.com/office/drawing/2014/main" id="{A005C21A-9C09-4AD8-B014-C89BEC4B87D0}"/>
              </a:ext>
            </a:extLst>
          </p:cNvPr>
          <p:cNvSpPr>
            <a:spLocks xmlns:a="http://schemas.openxmlformats.org/drawingml/2006/main" noGrp="1"/>
          </p:cNvSpPr>
          <p:nvPr/>
        </p:nvSpPr>
        <p:spPr>
          <a:xfrm xmlns:a="http://schemas.openxmlformats.org/drawingml/2006/main" flipH="0" flipV="1">
            <a:off x="952500" y="4410075"/>
            <a:ext cx="1381125" cy="152400"/>
          </a:xfrm>
          <a:prstGeom xmlns:a="http://schemas.openxmlformats.org/drawingml/2006/main" prst="line">
            <a:avLst/>
          </a:prstGeom>
          <a:noFill xmlns:a="http://schemas.openxmlformats.org/drawingml/2006/main"/>
          <a:ln xmlns:a="http://schemas.openxmlformats.org/drawingml/2006/main" w="38100">
            <a:solidFill>
              <a:srgbClr val="F5B61C"/>
            </a:solidFill>
            <a:prstDash val="solid"/>
          </a:ln>
        </p:spPr>
      </p:sp>
      <p:sp>
        <p:nvSpPr>
          <p:cNvPr id="11" name="">
            <a:extLst xmlns:a="http://schemas.openxmlformats.org/drawingml/2006/main">
              <a:ext uri="{FF2B5EF4-FFF2-40B4-BE49-F238E27FC236}">
                <a16:creationId xmlns:a16="http://schemas.microsoft.com/office/drawing/2014/main" id="{6EDB044D-CB8A-43C6-9C31-C766FE66F494}"/>
              </a:ext>
            </a:extLst>
          </p:cNvPr>
          <p:cNvSpPr>
            <a:spLocks xmlns:a="http://schemas.openxmlformats.org/drawingml/2006/main" noGrp="1"/>
          </p:cNvSpPr>
          <p:nvPr/>
        </p:nvSpPr>
        <p:spPr>
          <a:xfrm xmlns:a="http://schemas.openxmlformats.org/drawingml/2006/main" flipH="0" flipV="1">
            <a:off x="2333625" y="4257675"/>
            <a:ext cx="1428750" cy="152400"/>
          </a:xfrm>
          <a:prstGeom xmlns:a="http://schemas.openxmlformats.org/drawingml/2006/main" prst="line">
            <a:avLst/>
          </a:prstGeom>
          <a:noFill xmlns:a="http://schemas.openxmlformats.org/drawingml/2006/main"/>
          <a:ln xmlns:a="http://schemas.openxmlformats.org/drawingml/2006/main" w="38100">
            <a:solidFill>
              <a:srgbClr val="F5B61C"/>
            </a:solidFill>
            <a:prstDash val="solid"/>
          </a:ln>
        </p:spPr>
      </p:sp>
      <p:sp>
        <p:nvSpPr>
          <p:cNvPr id="12" name="">
            <a:extLst xmlns:a="http://schemas.openxmlformats.org/drawingml/2006/main">
              <a:ext uri="{FF2B5EF4-FFF2-40B4-BE49-F238E27FC236}">
                <a16:creationId xmlns:a16="http://schemas.microsoft.com/office/drawing/2014/main" id="{7C2A4E58-5BAF-4347-B96E-42367B2C2D90}"/>
              </a:ext>
            </a:extLst>
          </p:cNvPr>
          <p:cNvSpPr>
            <a:spLocks xmlns:a="http://schemas.openxmlformats.org/drawingml/2006/main" noGrp="1"/>
          </p:cNvSpPr>
          <p:nvPr/>
        </p:nvSpPr>
        <p:spPr>
          <a:xfrm xmlns:a="http://schemas.openxmlformats.org/drawingml/2006/main" flipH="0" flipV="1">
            <a:off x="3762375" y="4076700"/>
            <a:ext cx="1428750" cy="180975"/>
          </a:xfrm>
          <a:prstGeom xmlns:a="http://schemas.openxmlformats.org/drawingml/2006/main" prst="line">
            <a:avLst/>
          </a:prstGeom>
          <a:noFill xmlns:a="http://schemas.openxmlformats.org/drawingml/2006/main"/>
          <a:ln xmlns:a="http://schemas.openxmlformats.org/drawingml/2006/main" w="38100">
            <a:solidFill>
              <a:srgbClr val="F5B61C"/>
            </a:solidFill>
            <a:prstDash val="solid"/>
          </a:ln>
        </p:spPr>
      </p:sp>
      <p:sp>
        <p:nvSpPr>
          <p:cNvPr id="13" name="">
            <a:extLst xmlns:a="http://schemas.openxmlformats.org/drawingml/2006/main">
              <a:ext uri="{FF2B5EF4-FFF2-40B4-BE49-F238E27FC236}">
                <a16:creationId xmlns:a16="http://schemas.microsoft.com/office/drawing/2014/main" id="{361A3865-0202-43DE-BCC7-063D2B1DF7B1}"/>
              </a:ext>
            </a:extLst>
          </p:cNvPr>
          <p:cNvSpPr>
            <a:spLocks xmlns:a="http://schemas.openxmlformats.org/drawingml/2006/main" noGrp="1"/>
          </p:cNvSpPr>
          <p:nvPr/>
        </p:nvSpPr>
        <p:spPr>
          <a:xfrm xmlns:a="http://schemas.openxmlformats.org/drawingml/2006/main" flipH="0" flipV="1">
            <a:off x="5191125" y="3819525"/>
            <a:ext cx="1857375" cy="257175"/>
          </a:xfrm>
          <a:prstGeom xmlns:a="http://schemas.openxmlformats.org/drawingml/2006/main" prst="line">
            <a:avLst/>
          </a:prstGeom>
          <a:noFill xmlns:a="http://schemas.openxmlformats.org/drawingml/2006/main"/>
          <a:ln xmlns:a="http://schemas.openxmlformats.org/drawingml/2006/main" w="38100">
            <a:solidFill>
              <a:srgbClr val="F5B61C"/>
            </a:solidFill>
            <a:prstDash val="solid"/>
          </a:ln>
        </p:spPr>
      </p:sp>
      <p:sp>
        <p:nvSpPr>
          <p:cNvPr id="14" name="">
            <a:extLst xmlns:a="http://schemas.openxmlformats.org/drawingml/2006/main">
              <a:ext uri="{FF2B5EF4-FFF2-40B4-BE49-F238E27FC236}">
                <a16:creationId xmlns:a16="http://schemas.microsoft.com/office/drawing/2014/main" id="{1EDA3CF1-7809-4892-9C8D-DDED4AA3D61F}"/>
              </a:ext>
            </a:extLst>
          </p:cNvPr>
          <p:cNvSpPr>
            <a:spLocks xmlns:a="http://schemas.openxmlformats.org/drawingml/2006/main" noGrp="1"/>
          </p:cNvSpPr>
          <p:nvPr/>
        </p:nvSpPr>
        <p:spPr>
          <a:xfrm xmlns:a="http://schemas.openxmlformats.org/drawingml/2006/main">
            <a:off x="1028700" y="1676400"/>
            <a:ext cx="5715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1">
                <a:solidFill>
                  <a:srgbClr val="28C7F7"/>
                </a:solidFill>
                <a:latin typeface="DejaVu Sans"/>
                <a:ea typeface="DejaVu Sans"/>
                <a:cs typeface="DejaVu Sans"/>
              </a:defRPr>
            </a:pPr>
            <a:r>
              <a:rPr sz="1950" b="1">
                <a:solidFill>
                  <a:srgbClr val="28C7F7"/>
                </a:solidFill>
                <a:latin typeface="DejaVu Sans"/>
                <a:ea typeface="DejaVu Sans"/>
                <a:cs typeface="DejaVu Sans"/>
              </a:rPr>
              <a:t>Machine generation capacity</a:t>
            </a:r>
          </a:p>
        </p:txBody>
      </p:sp>
      <p:sp>
        <p:nvSpPr>
          <p:cNvPr id="15" name="">
            <a:extLst xmlns:a="http://schemas.openxmlformats.org/drawingml/2006/main">
              <a:ext uri="{FF2B5EF4-FFF2-40B4-BE49-F238E27FC236}">
                <a16:creationId xmlns:a16="http://schemas.microsoft.com/office/drawing/2014/main" id="{B6E2BEA6-FF21-4974-915A-B042FF4FB913}"/>
              </a:ext>
            </a:extLst>
          </p:cNvPr>
          <p:cNvSpPr>
            <a:spLocks xmlns:a="http://schemas.openxmlformats.org/drawingml/2006/main" noGrp="1"/>
          </p:cNvSpPr>
          <p:nvPr/>
        </p:nvSpPr>
        <p:spPr>
          <a:xfrm xmlns:a="http://schemas.openxmlformats.org/drawingml/2006/main">
            <a:off x="3571875" y="4162425"/>
            <a:ext cx="4000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F5B61C"/>
                </a:solidFill>
                <a:latin typeface="DejaVu Sans"/>
                <a:ea typeface="DejaVu Sans"/>
                <a:cs typeface="DejaVu Sans"/>
              </a:defRPr>
            </a:pPr>
            <a:r>
              <a:rPr sz="1800" b="0">
                <a:solidFill>
                  <a:srgbClr val="F5B61C"/>
                </a:solidFill>
                <a:latin typeface="DejaVu Sans"/>
                <a:ea typeface="DejaVu Sans"/>
                <a:cs typeface="DejaVu Sans"/>
              </a:rPr>
              <a:t>Human comprehension capacity</a:t>
            </a:r>
          </a:p>
        </p:txBody>
      </p:sp>
      <p:sp>
        <p:nvSpPr>
          <p:cNvPr id="16" name="">
            <a:extLst xmlns:a="http://schemas.openxmlformats.org/drawingml/2006/main">
              <a:ext uri="{FF2B5EF4-FFF2-40B4-BE49-F238E27FC236}">
                <a16:creationId xmlns:a16="http://schemas.microsoft.com/office/drawing/2014/main" id="{F6BEA782-D97F-40C6-BEFB-A63D3E643BBD}"/>
              </a:ext>
            </a:extLst>
          </p:cNvPr>
          <p:cNvSpPr>
            <a:spLocks xmlns:a="http://schemas.openxmlformats.org/drawingml/2006/main" noGrp="1"/>
          </p:cNvSpPr>
          <p:nvPr/>
        </p:nvSpPr>
        <p:spPr>
          <a:xfrm xmlns:a="http://schemas.openxmlformats.org/drawingml/2006/main">
            <a:off x="4629150" y="3038475"/>
            <a:ext cx="2857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DejaVu Sans"/>
                <a:ea typeface="DejaVu Sans"/>
                <a:cs typeface="DejaVu Sans"/>
              </a:defRPr>
            </a:pPr>
            <a:r>
              <a:rPr sz="1875" b="0">
                <a:solidFill>
                  <a:srgbClr val="ADB8C5"/>
                </a:solidFill>
                <a:latin typeface="DejaVu Sans"/>
                <a:ea typeface="DejaVu Sans"/>
                <a:cs typeface="DejaVu Sans"/>
              </a:rPr>
              <a:t>Potential</a:t>
            </a:r>
          </a:p>
          <a:p xmlns:a="http://schemas.openxmlformats.org/drawingml/2006/main">
            <a:pPr algn="l">
              <a:defRPr sz="1875" b="0">
                <a:solidFill>
                  <a:srgbClr val="ADB8C5"/>
                </a:solidFill>
                <a:latin typeface="DejaVu Sans"/>
                <a:ea typeface="DejaVu Sans"/>
                <a:cs typeface="DejaVu Sans"/>
              </a:defRPr>
            </a:pPr>
            <a:r>
              <a:rPr sz="1875" b="0">
                <a:solidFill>
                  <a:srgbClr val="ADB8C5"/>
                </a:solidFill>
                <a:latin typeface="DejaVu Sans"/>
                <a:ea typeface="DejaVu Sans"/>
                <a:cs typeface="DejaVu Sans"/>
              </a:rPr>
              <a:t>comprehension gap</a:t>
            </a:r>
          </a:p>
        </p:txBody>
      </p:sp>
      <p:sp>
        <p:nvSpPr>
          <p:cNvPr id="17" name="">
            <a:extLst xmlns:a="http://schemas.openxmlformats.org/drawingml/2006/main">
              <a:ext uri="{FF2B5EF4-FFF2-40B4-BE49-F238E27FC236}">
                <a16:creationId xmlns:a16="http://schemas.microsoft.com/office/drawing/2014/main" id="{AF10A03F-4740-4D4A-8348-29F4F3583BB3}"/>
              </a:ext>
            </a:extLst>
          </p:cNvPr>
          <p:cNvSpPr>
            <a:spLocks xmlns:a="http://schemas.openxmlformats.org/drawingml/2006/main" noGrp="1"/>
          </p:cNvSpPr>
          <p:nvPr/>
        </p:nvSpPr>
        <p:spPr>
          <a:xfrm xmlns:a="http://schemas.openxmlformats.org/drawingml/2006/main">
            <a:off x="8105775" y="2228850"/>
            <a:ext cx="34671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0">
                <a:solidFill>
                  <a:srgbClr val="F4F7FA"/>
                </a:solidFill>
                <a:latin typeface="DejaVu Sans"/>
                <a:ea typeface="DejaVu Sans"/>
                <a:cs typeface="DejaVu Sans"/>
              </a:defRPr>
            </a:pPr>
            <a:r>
              <a:rPr sz="2250" b="0">
                <a:solidFill>
                  <a:srgbClr val="F4F7FA"/>
                </a:solidFill>
                <a:latin typeface="DejaVu Sans"/>
                <a:ea typeface="DejaVu Sans"/>
                <a:cs typeface="DejaVu Sans"/>
              </a:rPr>
              <a:t>Can we generate it?</a:t>
            </a:r>
          </a:p>
        </p:txBody>
      </p:sp>
      <p:sp>
        <p:nvSpPr>
          <p:cNvPr id="18" name="">
            <a:extLst xmlns:a="http://schemas.openxmlformats.org/drawingml/2006/main">
              <a:ext uri="{FF2B5EF4-FFF2-40B4-BE49-F238E27FC236}">
                <a16:creationId xmlns:a16="http://schemas.microsoft.com/office/drawing/2014/main" id="{3A189D25-542F-4111-948C-75A73B0664A3}"/>
              </a:ext>
            </a:extLst>
          </p:cNvPr>
          <p:cNvSpPr>
            <a:spLocks xmlns:a="http://schemas.openxmlformats.org/drawingml/2006/main" noGrp="1"/>
          </p:cNvSpPr>
          <p:nvPr/>
        </p:nvSpPr>
        <p:spPr>
          <a:xfrm xmlns:a="http://schemas.openxmlformats.org/drawingml/2006/main">
            <a:off x="8105775" y="3219450"/>
            <a:ext cx="34671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0">
                <a:solidFill>
                  <a:srgbClr val="F4F7FA"/>
                </a:solidFill>
                <a:latin typeface="DejaVu Sans"/>
                <a:ea typeface="DejaVu Sans"/>
                <a:cs typeface="DejaVu Sans"/>
              </a:defRPr>
            </a:pPr>
            <a:r>
              <a:rPr sz="2250" b="0">
                <a:solidFill>
                  <a:srgbClr val="F4F7FA"/>
                </a:solidFill>
                <a:latin typeface="DejaVu Sans"/>
                <a:ea typeface="DejaVu Sans"/>
                <a:cs typeface="DejaVu Sans"/>
              </a:rPr>
              <a:t>Can we review it?</a:t>
            </a:r>
          </a:p>
        </p:txBody>
      </p:sp>
      <p:sp>
        <p:nvSpPr>
          <p:cNvPr id="19" name="">
            <a:extLst xmlns:a="http://schemas.openxmlformats.org/drawingml/2006/main">
              <a:ext uri="{FF2B5EF4-FFF2-40B4-BE49-F238E27FC236}">
                <a16:creationId xmlns:a16="http://schemas.microsoft.com/office/drawing/2014/main" id="{AF115A43-FE71-4B90-BD56-DA0BACAA4BAB}"/>
              </a:ext>
            </a:extLst>
          </p:cNvPr>
          <p:cNvSpPr>
            <a:spLocks xmlns:a="http://schemas.openxmlformats.org/drawingml/2006/main" noGrp="1"/>
          </p:cNvSpPr>
          <p:nvPr/>
        </p:nvSpPr>
        <p:spPr>
          <a:xfrm xmlns:a="http://schemas.openxmlformats.org/drawingml/2006/main">
            <a:off x="8105775" y="4210050"/>
            <a:ext cx="34671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DejaVu Sans"/>
                <a:ea typeface="DejaVu Sans"/>
                <a:cs typeface="DejaVu Sans"/>
              </a:defRPr>
            </a:pPr>
            <a:r>
              <a:rPr sz="2250" b="1">
                <a:solidFill>
                  <a:srgbClr val="F4F7FA"/>
                </a:solidFill>
                <a:latin typeface="DejaVu Sans"/>
                <a:ea typeface="DejaVu Sans"/>
                <a:cs typeface="DejaVu Sans"/>
              </a:rPr>
              <a:t>Can we own it for 5 years?</a:t>
            </a:r>
          </a:p>
        </p:txBody>
      </p:sp>
      <p:sp>
        <p:nvSpPr>
          <p:cNvPr id="20" name="">
            <a:extLst xmlns:a="http://schemas.openxmlformats.org/drawingml/2006/main">
              <a:ext uri="{FF2B5EF4-FFF2-40B4-BE49-F238E27FC236}">
                <a16:creationId xmlns:a16="http://schemas.microsoft.com/office/drawing/2014/main" id="{DCA3C6D7-A6D6-4FE8-A358-325CD8AEEA34}"/>
              </a:ext>
            </a:extLst>
          </p:cNvPr>
          <p:cNvSpPr>
            <a:spLocks xmlns:a="http://schemas.openxmlformats.org/drawingml/2006/main" noGrp="1"/>
          </p:cNvSpPr>
          <p:nvPr/>
        </p:nvSpPr>
        <p:spPr>
          <a:xfrm xmlns:a="http://schemas.openxmlformats.org/drawingml/2006/main">
            <a:off x="857250" y="5010150"/>
            <a:ext cx="10382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DejaVu Sans"/>
                <a:ea typeface="DejaVu Sans"/>
                <a:cs typeface="DejaVu Sans"/>
              </a:defRPr>
            </a:pPr>
            <a:r>
              <a:rPr sz="1425" b="0">
                <a:solidFill>
                  <a:srgbClr val="ADB8C5"/>
                </a:solidFill>
                <a:latin typeface="DejaVu Sans"/>
                <a:ea typeface="DejaVu Sans"/>
                <a:cs typeface="DejaVu Sans"/>
              </a:rPr>
              <a:t>Conceptual illustration; not measured trend data.</a:t>
            </a:r>
          </a:p>
        </p:txBody>
      </p:sp>
      <p:sp>
        <p:nvSpPr>
          <p:cNvPr id="21" name="">
            <a:extLst xmlns:a="http://schemas.openxmlformats.org/drawingml/2006/main">
              <a:ext uri="{FF2B5EF4-FFF2-40B4-BE49-F238E27FC236}">
                <a16:creationId xmlns:a16="http://schemas.microsoft.com/office/drawing/2014/main" id="{DDEC15B6-7CDD-485C-9FFF-98F5893469D6}"/>
              </a:ext>
            </a:extLst>
          </p:cNvPr>
          <p:cNvSpPr>
            <a:spLocks xmlns:a="http://schemas.openxmlformats.org/drawingml/2006/main" noGrp="1"/>
          </p:cNvSpPr>
          <p:nvPr/>
        </p:nvSpPr>
        <p:spPr>
          <a:xfrm xmlns:a="http://schemas.openxmlformats.org/drawingml/2006/main">
            <a:off x="457200" y="5619750"/>
            <a:ext cx="112776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1">
                <a:solidFill>
                  <a:srgbClr val="F4F7FA"/>
                </a:solidFill>
                <a:latin typeface="DejaVu Sans"/>
                <a:ea typeface="DejaVu Sans"/>
                <a:cs typeface="DejaVu Sans"/>
              </a:defRPr>
            </a:pPr>
            <a:r>
              <a:rPr sz="2250" b="1">
                <a:solidFill>
                  <a:srgbClr val="F4F7FA"/>
                </a:solidFill>
                <a:latin typeface="DejaVu Sans"/>
                <a:ea typeface="DejaVu Sans"/>
                <a:cs typeface="DejaVu Sans"/>
              </a:rPr>
              <a:t>Generation scales differently from comprehension.</a:t>
            </a:r>
          </a:p>
        </p:txBody>
      </p:sp>
    </p:spTree>
    <p:extLst>
      <p:ext uri="{BB962C8B-B14F-4D97-AF65-F5344CB8AC3E}">
        <p14:creationId xmlns:p14="http://schemas.microsoft.com/office/powerpoint/2010/main" val="45060738"/>
      </p:ext>
    </p:extLst>
  </p:cSld>
</p:sld>
</file>

<file path=ppt/slides/slide6.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248E6EEE-AA49-4302-A11C-4A34499992C7}"/>
              </a:ext>
            </a:extLst>
          </p:cNvPr>
          <p:cNvSpPr>
            <a:spLocks xmlns:a="http://schemas.openxmlformats.org/drawingml/2006/main" noGrp="1"/>
          </p:cNvSpPr>
          <p:nvPr/>
        </p:nvSpPr>
        <p:spPr>
          <a:xfrm xmlns:a="http://schemas.openxmlformats.org/drawingml/2006/main">
            <a:off x="457200" y="333375"/>
            <a:ext cx="11277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150" b="1">
                <a:solidFill>
                  <a:srgbClr val="F4F7FA"/>
                </a:solidFill>
                <a:latin typeface="DejaVu Sans"/>
                <a:ea typeface="DejaVu Sans"/>
                <a:cs typeface="DejaVu Sans"/>
              </a:defRPr>
            </a:pPr>
            <a:r>
              <a:rPr sz="3150" b="1">
                <a:solidFill>
                  <a:srgbClr val="F4F7FA"/>
                </a:solidFill>
                <a:latin typeface="DejaVu Sans"/>
                <a:ea typeface="DejaVu Sans"/>
                <a:cs typeface="DejaVu Sans"/>
              </a:rPr>
              <a:t>The Team Is the Last Line of Defense</a:t>
            </a:r>
          </a:p>
        </p:txBody>
      </p:sp>
      <p:sp>
        <p:nvSpPr>
          <p:cNvPr id="2" name="">
            <a:extLst xmlns:a="http://schemas.openxmlformats.org/drawingml/2006/main">
              <a:ext uri="{FF2B5EF4-FFF2-40B4-BE49-F238E27FC236}">
                <a16:creationId xmlns:a16="http://schemas.microsoft.com/office/drawing/2014/main" id="{B2B918DD-1CC7-4C4D-8D13-7F4801856008}"/>
              </a:ext>
            </a:extLst>
          </p:cNvPr>
          <p:cNvSpPr>
            <a:spLocks xmlns:a="http://schemas.openxmlformats.org/drawingml/2006/main" noGrp="1"/>
          </p:cNvSpPr>
          <p:nvPr/>
        </p:nvSpPr>
        <p:spPr>
          <a:xfrm xmlns:a="http://schemas.openxmlformats.org/drawingml/2006/main" flipH="0" flipV="0">
            <a:off x="457200" y="1381125"/>
            <a:ext cx="112776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13160E62-AC9E-4037-813C-1BC02E2E9F64}"/>
              </a:ext>
            </a:extLst>
          </p:cNvPr>
          <p:cNvSpPr>
            <a:spLocks xmlns:a="http://schemas.openxmlformats.org/drawingml/2006/main" noGrp="1"/>
          </p:cNvSpPr>
          <p:nvPr/>
        </p:nvSpPr>
        <p:spPr>
          <a:xfrm xmlns:a="http://schemas.openxmlformats.org/drawingml/2006/main">
            <a:off x="11287125" y="6477000"/>
            <a:ext cx="4476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75" b="0">
                <a:solidFill>
                  <a:srgbClr val="ADB8C5"/>
                </a:solidFill>
                <a:latin typeface="DejaVu Sans"/>
                <a:ea typeface="DejaVu Sans"/>
                <a:cs typeface="DejaVu Sans"/>
              </a:defRPr>
            </a:pPr>
            <a:r>
              <a:rPr sz="1275" b="0">
                <a:solidFill>
                  <a:srgbClr val="ADB8C5"/>
                </a:solidFill>
                <a:latin typeface="DejaVu Sans"/>
                <a:ea typeface="DejaVu Sans"/>
                <a:cs typeface="DejaVu Sans"/>
              </a:rPr>
              <a:t>06</a:t>
            </a:r>
          </a:p>
        </p:txBody>
      </p:sp>
      <p:sp>
        <p:nvSpPr>
          <p:cNvPr id="4" name="">
            <a:extLst xmlns:a="http://schemas.openxmlformats.org/drawingml/2006/main">
              <a:ext uri="{FF2B5EF4-FFF2-40B4-BE49-F238E27FC236}">
                <a16:creationId xmlns:a16="http://schemas.microsoft.com/office/drawing/2014/main" id="{77CE8E74-F666-4035-8904-C18DAF76319B}"/>
              </a:ext>
            </a:extLst>
          </p:cNvPr>
          <p:cNvSpPr>
            <a:spLocks xmlns:a="http://schemas.openxmlformats.org/drawingml/2006/main" noGrp="1"/>
          </p:cNvSpPr>
          <p:nvPr/>
        </p:nvSpPr>
        <p:spPr>
          <a:xfrm xmlns:a="http://schemas.openxmlformats.org/drawingml/2006/main">
            <a:off x="457200" y="1857375"/>
            <a:ext cx="633412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550" b="0">
                <a:solidFill>
                  <a:srgbClr val="F4F7FA"/>
                </a:solidFill>
                <a:latin typeface="DejaVu Sans"/>
                <a:ea typeface="DejaVu Sans"/>
                <a:cs typeface="DejaVu Sans"/>
              </a:defRPr>
            </a:pPr>
            <a:r>
              <a:rPr sz="2550" b="0">
                <a:solidFill>
                  <a:srgbClr val="F4F7FA"/>
                </a:solidFill>
                <a:latin typeface="DejaVu Sans"/>
                <a:ea typeface="DejaVu Sans"/>
                <a:cs typeface="DejaVu Sans"/>
              </a:rPr>
              <a:t>Production is down.</a:t>
            </a:r>
          </a:p>
        </p:txBody>
      </p:sp>
      <p:sp>
        <p:nvSpPr>
          <p:cNvPr id="5" name="">
            <a:extLst xmlns:a="http://schemas.openxmlformats.org/drawingml/2006/main">
              <a:ext uri="{FF2B5EF4-FFF2-40B4-BE49-F238E27FC236}">
                <a16:creationId xmlns:a16="http://schemas.microsoft.com/office/drawing/2014/main" id="{612F423F-774C-44F8-8BEB-F4B9E97E9859}"/>
              </a:ext>
            </a:extLst>
          </p:cNvPr>
          <p:cNvSpPr>
            <a:spLocks xmlns:a="http://schemas.openxmlformats.org/drawingml/2006/main" noGrp="1"/>
          </p:cNvSpPr>
          <p:nvPr/>
        </p:nvSpPr>
        <p:spPr>
          <a:xfrm xmlns:a="http://schemas.openxmlformats.org/drawingml/2006/main">
            <a:off x="457200" y="2533650"/>
            <a:ext cx="633412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550" b="0">
                <a:solidFill>
                  <a:srgbClr val="F4F7FA"/>
                </a:solidFill>
                <a:latin typeface="DejaVu Sans"/>
                <a:ea typeface="DejaVu Sans"/>
                <a:cs typeface="DejaVu Sans"/>
              </a:defRPr>
            </a:pPr>
            <a:r>
              <a:rPr sz="2550" b="0">
                <a:solidFill>
                  <a:srgbClr val="F4F7FA"/>
                </a:solidFill>
                <a:latin typeface="DejaVu Sans"/>
                <a:ea typeface="DejaVu Sans"/>
                <a:cs typeface="DejaVu Sans"/>
              </a:rPr>
              <a:t>Three agent fixes fail.</a:t>
            </a:r>
          </a:p>
        </p:txBody>
      </p:sp>
      <p:sp>
        <p:nvSpPr>
          <p:cNvPr id="6" name="">
            <a:extLst xmlns:a="http://schemas.openxmlformats.org/drawingml/2006/main">
              <a:ext uri="{FF2B5EF4-FFF2-40B4-BE49-F238E27FC236}">
                <a16:creationId xmlns:a16="http://schemas.microsoft.com/office/drawing/2014/main" id="{9086200D-730A-4100-AD03-5F04E14B9847}"/>
              </a:ext>
            </a:extLst>
          </p:cNvPr>
          <p:cNvSpPr>
            <a:spLocks xmlns:a="http://schemas.openxmlformats.org/drawingml/2006/main" noGrp="1"/>
          </p:cNvSpPr>
          <p:nvPr/>
        </p:nvSpPr>
        <p:spPr>
          <a:xfrm xmlns:a="http://schemas.openxmlformats.org/drawingml/2006/main">
            <a:off x="457200" y="3209925"/>
            <a:ext cx="633412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450" b="1">
                <a:solidFill>
                  <a:srgbClr val="F5B61C"/>
                </a:solidFill>
                <a:latin typeface="DejaVu Sans"/>
                <a:ea typeface="DejaVu Sans"/>
                <a:cs typeface="DejaVu Sans"/>
              </a:defRPr>
            </a:pPr>
            <a:r>
              <a:rPr sz="3450" b="1">
                <a:solidFill>
                  <a:srgbClr val="F5B61C"/>
                </a:solidFill>
                <a:latin typeface="DejaVu Sans"/>
                <a:ea typeface="DejaVu Sans"/>
                <a:cs typeface="DejaVu Sans"/>
              </a:rPr>
              <a:t>Now what?</a:t>
            </a:r>
          </a:p>
        </p:txBody>
      </p:sp>
      <p:sp>
        <p:nvSpPr>
          <p:cNvPr id="7" name="">
            <a:extLst xmlns:a="http://schemas.openxmlformats.org/drawingml/2006/main">
              <a:ext uri="{FF2B5EF4-FFF2-40B4-BE49-F238E27FC236}">
                <a16:creationId xmlns:a16="http://schemas.microsoft.com/office/drawing/2014/main" id="{59705B1C-ED53-409F-A86C-97E75331B1DC}"/>
              </a:ext>
            </a:extLst>
          </p:cNvPr>
          <p:cNvSpPr>
            <a:spLocks xmlns:a="http://schemas.openxmlformats.org/drawingml/2006/main" noGrp="1"/>
          </p:cNvSpPr>
          <p:nvPr/>
        </p:nvSpPr>
        <p:spPr>
          <a:xfrm xmlns:a="http://schemas.openxmlformats.org/drawingml/2006/main">
            <a:off x="7858125" y="2019300"/>
            <a:ext cx="3286125" cy="723900"/>
          </a:xfrm>
          <a:prstGeom xmlns:a="http://schemas.openxmlformats.org/drawingml/2006/main" prst="rect">
            <a:avLst/>
          </a:prstGeom>
          <a:solidFill xmlns:a="http://schemas.openxmlformats.org/drawingml/2006/main">
            <a:srgbClr val="141C26"/>
          </a:solidFill>
          <a:ln xmlns:a="http://schemas.openxmlformats.org/drawingml/2006/main" w="14288">
            <a:solidFill>
              <a:srgbClr val="FF6B75"/>
            </a:solidFill>
            <a:prstDash val="solid"/>
          </a:ln>
        </p:spPr>
      </p:sp>
      <p:sp>
        <p:nvSpPr>
          <p:cNvPr id="8" name="">
            <a:extLst xmlns:a="http://schemas.openxmlformats.org/drawingml/2006/main">
              <a:ext uri="{FF2B5EF4-FFF2-40B4-BE49-F238E27FC236}">
                <a16:creationId xmlns:a16="http://schemas.microsoft.com/office/drawing/2014/main" id="{DA017045-53A9-4932-B4AF-87FDF33164B9}"/>
              </a:ext>
            </a:extLst>
          </p:cNvPr>
          <p:cNvSpPr>
            <a:spLocks xmlns:a="http://schemas.openxmlformats.org/drawingml/2006/main" noGrp="1"/>
          </p:cNvSpPr>
          <p:nvPr/>
        </p:nvSpPr>
        <p:spPr>
          <a:xfrm xmlns:a="http://schemas.openxmlformats.org/drawingml/2006/main">
            <a:off x="7972425" y="2095500"/>
            <a:ext cx="30575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325" b="1">
                <a:solidFill>
                  <a:srgbClr val="F4F7FA"/>
                </a:solidFill>
                <a:latin typeface="DejaVu Sans"/>
                <a:ea typeface="DejaVu Sans"/>
                <a:cs typeface="DejaVu Sans"/>
              </a:defRPr>
            </a:pPr>
            <a:r>
              <a:rPr sz="2325" b="1">
                <a:solidFill>
                  <a:srgbClr val="F4F7FA"/>
                </a:solidFill>
                <a:latin typeface="DejaVu Sans"/>
                <a:ea typeface="DejaVu Sans"/>
                <a:cs typeface="DejaVu Sans"/>
              </a:rPr>
              <a:t>AI AGENT</a:t>
            </a:r>
          </a:p>
        </p:txBody>
      </p:sp>
      <p:sp>
        <p:nvSpPr>
          <p:cNvPr id="9" name="">
            <a:extLst xmlns:a="http://schemas.openxmlformats.org/drawingml/2006/main">
              <a:ext uri="{FF2B5EF4-FFF2-40B4-BE49-F238E27FC236}">
                <a16:creationId xmlns:a16="http://schemas.microsoft.com/office/drawing/2014/main" id="{8569DDD5-ED92-4E99-9D57-44D7C6412E13}"/>
              </a:ext>
            </a:extLst>
          </p:cNvPr>
          <p:cNvSpPr>
            <a:spLocks xmlns:a="http://schemas.openxmlformats.org/drawingml/2006/main" noGrp="1"/>
          </p:cNvSpPr>
          <p:nvPr/>
        </p:nvSpPr>
        <p:spPr>
          <a:xfrm xmlns:a="http://schemas.openxmlformats.org/drawingml/2006/main">
            <a:off x="7858125" y="3543300"/>
            <a:ext cx="3286125" cy="8001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0" name="">
            <a:extLst xmlns:a="http://schemas.openxmlformats.org/drawingml/2006/main">
              <a:ext uri="{FF2B5EF4-FFF2-40B4-BE49-F238E27FC236}">
                <a16:creationId xmlns:a16="http://schemas.microsoft.com/office/drawing/2014/main" id="{D4EBA700-564D-48BF-95DB-9E3A121DD359}"/>
              </a:ext>
            </a:extLst>
          </p:cNvPr>
          <p:cNvSpPr>
            <a:spLocks xmlns:a="http://schemas.openxmlformats.org/drawingml/2006/main" noGrp="1"/>
          </p:cNvSpPr>
          <p:nvPr/>
        </p:nvSpPr>
        <p:spPr>
          <a:xfrm xmlns:a="http://schemas.openxmlformats.org/drawingml/2006/main">
            <a:off x="7972425" y="3619500"/>
            <a:ext cx="305752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DejaVu Sans"/>
                <a:ea typeface="DejaVu Sans"/>
                <a:cs typeface="DejaVu Sans"/>
              </a:defRPr>
            </a:pPr>
            <a:r>
              <a:rPr sz="2700" b="1">
                <a:solidFill>
                  <a:srgbClr val="F4F7FA"/>
                </a:solidFill>
                <a:latin typeface="DejaVu Sans"/>
                <a:ea typeface="DejaVu Sans"/>
                <a:cs typeface="DejaVu Sans"/>
              </a:rPr>
              <a:t>TEAM</a:t>
            </a:r>
          </a:p>
        </p:txBody>
      </p:sp>
      <p:cxnSp>
        <p:nvCxnSpPr>
          <p:cNvPr id="27" name=""/>
          <p:cNvCxnSpPr>
            <a:stCxn xmlns:a="http://schemas.openxmlformats.org/drawingml/2006/main" id="7" idx="2"/>
            <a:endCxn xmlns:a="http://schemas.openxmlformats.org/drawingml/2006/main" id="9" idx="0"/>
          </p:cNvCxnSpPr>
          <p:nvPr/>
        </p:nvCxnSpPr>
        <p:spPr>
          <a:xfrm xmlns:a="http://schemas.openxmlformats.org/drawingml/2006/main">
            <a:off x="9501188" y="2743200"/>
            <a:ext cx="0" cy="800100"/>
          </a:xfrm>
          <a:prstGeom xmlns:a="http://schemas.openxmlformats.org/drawingml/2006/main" prst="straightConnector1">
            <a:avLst/>
          </a:prstGeom>
          <a:ln xmlns:a="http://schemas.openxmlformats.org/drawingml/2006/main" w="21908">
            <a:solidFill>
              <a:srgbClr val="F5B61C"/>
            </a:solidFill>
            <a:prstDash val="solid"/>
            <a:tailEnd type="triangle" w="sm" len="sm"/>
          </a:ln>
        </p:spPr>
      </p:cxnSp>
      <p:sp>
        <p:nvSpPr>
          <p:cNvPr id="12" name="">
            <a:extLst xmlns:a="http://schemas.openxmlformats.org/drawingml/2006/main">
              <a:ext uri="{FF2B5EF4-FFF2-40B4-BE49-F238E27FC236}">
                <a16:creationId xmlns:a16="http://schemas.microsoft.com/office/drawing/2014/main" id="{92364F3C-B684-4292-9583-0F3F8DC1B338}"/>
              </a:ext>
            </a:extLst>
          </p:cNvPr>
          <p:cNvSpPr>
            <a:spLocks xmlns:a="http://schemas.openxmlformats.org/drawingml/2006/main" noGrp="1"/>
          </p:cNvSpPr>
          <p:nvPr/>
        </p:nvSpPr>
        <p:spPr>
          <a:xfrm xmlns:a="http://schemas.openxmlformats.org/drawingml/2006/main">
            <a:off x="9696450" y="2962275"/>
            <a:ext cx="1866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DejaVu Sans"/>
                <a:ea typeface="DejaVu Sans"/>
                <a:cs typeface="DejaVu Sans"/>
              </a:defRPr>
            </a:pPr>
            <a:r>
              <a:rPr sz="1575" b="0">
                <a:solidFill>
                  <a:srgbClr val="ADB8C5"/>
                </a:solidFill>
                <a:latin typeface="DejaVu Sans"/>
                <a:ea typeface="DejaVu Sans"/>
                <a:cs typeface="DejaVu Sans"/>
              </a:rPr>
              <a:t>Recovery fails</a:t>
            </a:r>
          </a:p>
        </p:txBody>
      </p:sp>
      <p:sp>
        <p:nvSpPr>
          <p:cNvPr id="13" name="">
            <a:extLst xmlns:a="http://schemas.openxmlformats.org/drawingml/2006/main">
              <a:ext uri="{FF2B5EF4-FFF2-40B4-BE49-F238E27FC236}">
                <a16:creationId xmlns:a16="http://schemas.microsoft.com/office/drawing/2014/main" id="{B6687671-5E45-43AA-A441-D85F22620E31}"/>
              </a:ext>
            </a:extLst>
          </p:cNvPr>
          <p:cNvSpPr>
            <a:spLocks xmlns:a="http://schemas.openxmlformats.org/drawingml/2006/main" noGrp="1"/>
          </p:cNvSpPr>
          <p:nvPr/>
        </p:nvSpPr>
        <p:spPr>
          <a:xfrm xmlns:a="http://schemas.openxmlformats.org/drawingml/2006/main">
            <a:off x="457200" y="4048125"/>
            <a:ext cx="619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Hypothetical incident</a:t>
            </a:r>
          </a:p>
        </p:txBody>
      </p:sp>
      <p:sp>
        <p:nvSpPr>
          <p:cNvPr id="14" name="">
            <a:extLst xmlns:a="http://schemas.openxmlformats.org/drawingml/2006/main">
              <a:ext uri="{FF2B5EF4-FFF2-40B4-BE49-F238E27FC236}">
                <a16:creationId xmlns:a16="http://schemas.microsoft.com/office/drawing/2014/main" id="{8434AC93-1F0F-4702-9892-38EC67934FC7}"/>
              </a:ext>
            </a:extLst>
          </p:cNvPr>
          <p:cNvSpPr>
            <a:spLocks xmlns:a="http://schemas.openxmlformats.org/drawingml/2006/main" noGrp="1"/>
          </p:cNvSpPr>
          <p:nvPr/>
        </p:nvSpPr>
        <p:spPr>
          <a:xfrm xmlns:a="http://schemas.openxmlformats.org/drawingml/2006/main">
            <a:off x="457200" y="4695825"/>
            <a:ext cx="11277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DejaVu Sans"/>
                <a:ea typeface="DejaVu Sans"/>
                <a:cs typeface="DejaVu Sans"/>
              </a:defRPr>
            </a:pPr>
            <a:r>
              <a:rPr sz="1725" b="0">
                <a:solidFill>
                  <a:srgbClr val="ADB8C5"/>
                </a:solidFill>
                <a:latin typeface="DejaVu Sans"/>
                <a:ea typeface="DejaVu Sans"/>
                <a:cs typeface="DejaVu Sans"/>
              </a:rPr>
              <a:t>Watch: Complexity / volume / duplication / reuse / ownership</a:t>
            </a:r>
          </a:p>
        </p:txBody>
      </p:sp>
      <p:sp>
        <p:nvSpPr>
          <p:cNvPr id="15" name="">
            <a:extLst xmlns:a="http://schemas.openxmlformats.org/drawingml/2006/main">
              <a:ext uri="{FF2B5EF4-FFF2-40B4-BE49-F238E27FC236}">
                <a16:creationId xmlns:a16="http://schemas.microsoft.com/office/drawing/2014/main" id="{E0B2F26E-EF2A-4646-9119-54B7036876D1}"/>
              </a:ext>
            </a:extLst>
          </p:cNvPr>
          <p:cNvSpPr>
            <a:spLocks xmlns:a="http://schemas.openxmlformats.org/drawingml/2006/main" noGrp="1"/>
          </p:cNvSpPr>
          <p:nvPr/>
        </p:nvSpPr>
        <p:spPr>
          <a:xfrm xmlns:a="http://schemas.openxmlformats.org/drawingml/2006/main">
            <a:off x="457200" y="5172075"/>
            <a:ext cx="11277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DejaVu Sans"/>
                <a:ea typeface="DejaVu Sans"/>
                <a:cs typeface="DejaVu Sans"/>
              </a:defRPr>
            </a:pPr>
            <a:r>
              <a:rPr sz="1725" b="0">
                <a:solidFill>
                  <a:srgbClr val="ADB8C5"/>
                </a:solidFill>
                <a:latin typeface="DejaVu Sans"/>
                <a:ea typeface="DejaVu Sans"/>
                <a:cs typeface="DejaVu Sans"/>
              </a:rPr>
              <a:t>Explore: SDD / living architecture docs / repository intelligence</a:t>
            </a:r>
          </a:p>
        </p:txBody>
      </p:sp>
      <p:sp>
        <p:nvSpPr>
          <p:cNvPr id="16" name="">
            <a:extLst xmlns:a="http://schemas.openxmlformats.org/drawingml/2006/main">
              <a:ext uri="{FF2B5EF4-FFF2-40B4-BE49-F238E27FC236}">
                <a16:creationId xmlns:a16="http://schemas.microsoft.com/office/drawing/2014/main" id="{BB5FC8F5-56FC-446A-971B-4B6091880418}"/>
              </a:ext>
            </a:extLst>
          </p:cNvPr>
          <p:cNvSpPr>
            <a:spLocks xmlns:a="http://schemas.openxmlformats.org/drawingml/2006/main" noGrp="1"/>
          </p:cNvSpPr>
          <p:nvPr/>
        </p:nvSpPr>
        <p:spPr>
          <a:xfrm xmlns:a="http://schemas.openxmlformats.org/drawingml/2006/main">
            <a:off x="457200" y="5800725"/>
            <a:ext cx="112776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175" b="1">
                <a:solidFill>
                  <a:srgbClr val="F4F7FA"/>
                </a:solidFill>
                <a:latin typeface="DejaVu Sans"/>
                <a:ea typeface="DejaVu Sans"/>
                <a:cs typeface="DejaVu Sans"/>
              </a:defRPr>
            </a:pPr>
            <a:r>
              <a:rPr sz="2175" b="1">
                <a:solidFill>
                  <a:srgbClr val="F4F7FA"/>
                </a:solidFill>
                <a:latin typeface="DejaVu Sans"/>
                <a:ea typeface="DejaVu Sans"/>
                <a:cs typeface="DejaVu Sans"/>
              </a:rPr>
              <a:t>If AI cannot recover the system, the team still must.</a:t>
            </a:r>
          </a:p>
        </p:txBody>
      </p:sp>
    </p:spTree>
    <p:extLst>
      <p:ext uri="{BB962C8B-B14F-4D97-AF65-F5344CB8AC3E}">
        <p14:creationId xmlns:p14="http://schemas.microsoft.com/office/powerpoint/2010/main" val="2037304102"/>
      </p:ext>
    </p:extLst>
  </p:cSld>
</p:sld>
</file>

<file path=ppt/slides/slide7.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FDCD5EF8-4AE2-435A-A2E3-E8F1F3687483}"/>
              </a:ext>
            </a:extLst>
          </p:cNvPr>
          <p:cNvSpPr>
            <a:spLocks xmlns:a="http://schemas.openxmlformats.org/drawingml/2006/main" noGrp="1"/>
          </p:cNvSpPr>
          <p:nvPr/>
        </p:nvSpPr>
        <p:spPr>
          <a:xfrm xmlns:a="http://schemas.openxmlformats.org/drawingml/2006/main">
            <a:off x="457200" y="333375"/>
            <a:ext cx="11277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150" b="1">
                <a:solidFill>
                  <a:srgbClr val="F4F7FA"/>
                </a:solidFill>
                <a:latin typeface="DejaVu Sans"/>
                <a:ea typeface="DejaVu Sans"/>
                <a:cs typeface="DejaVu Sans"/>
              </a:defRPr>
            </a:pPr>
            <a:r>
              <a:rPr sz="3150" b="1">
                <a:solidFill>
                  <a:srgbClr val="F4F7FA"/>
                </a:solidFill>
                <a:latin typeface="DejaVu Sans"/>
                <a:ea typeface="DejaVu Sans"/>
                <a:cs typeface="DejaVu Sans"/>
              </a:rPr>
              <a:t>We Are Searching for a New SDLC Equilibrium</a:t>
            </a:r>
          </a:p>
        </p:txBody>
      </p:sp>
      <p:sp>
        <p:nvSpPr>
          <p:cNvPr id="2" name="">
            <a:extLst xmlns:a="http://schemas.openxmlformats.org/drawingml/2006/main">
              <a:ext uri="{FF2B5EF4-FFF2-40B4-BE49-F238E27FC236}">
                <a16:creationId xmlns:a16="http://schemas.microsoft.com/office/drawing/2014/main" id="{6E537F2A-68A0-4741-B648-CC6349AC93D9}"/>
              </a:ext>
            </a:extLst>
          </p:cNvPr>
          <p:cNvSpPr>
            <a:spLocks xmlns:a="http://schemas.openxmlformats.org/drawingml/2006/main" noGrp="1"/>
          </p:cNvSpPr>
          <p:nvPr/>
        </p:nvSpPr>
        <p:spPr>
          <a:xfrm xmlns:a="http://schemas.openxmlformats.org/drawingml/2006/main" flipH="0" flipV="0">
            <a:off x="457200" y="1381125"/>
            <a:ext cx="112776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54E97943-1345-40E5-84B4-EE2BCEFF0E01}"/>
              </a:ext>
            </a:extLst>
          </p:cNvPr>
          <p:cNvSpPr>
            <a:spLocks xmlns:a="http://schemas.openxmlformats.org/drawingml/2006/main" noGrp="1"/>
          </p:cNvSpPr>
          <p:nvPr/>
        </p:nvSpPr>
        <p:spPr>
          <a:xfrm xmlns:a="http://schemas.openxmlformats.org/drawingml/2006/main">
            <a:off x="11287125" y="6477000"/>
            <a:ext cx="4476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75" b="0">
                <a:solidFill>
                  <a:srgbClr val="ADB8C5"/>
                </a:solidFill>
                <a:latin typeface="DejaVu Sans"/>
                <a:ea typeface="DejaVu Sans"/>
                <a:cs typeface="DejaVu Sans"/>
              </a:defRPr>
            </a:pPr>
            <a:r>
              <a:rPr sz="1275" b="0">
                <a:solidFill>
                  <a:srgbClr val="ADB8C5"/>
                </a:solidFill>
                <a:latin typeface="DejaVu Sans"/>
                <a:ea typeface="DejaVu Sans"/>
                <a:cs typeface="DejaVu Sans"/>
              </a:rPr>
              <a:t>07</a:t>
            </a:r>
          </a:p>
        </p:txBody>
      </p:sp>
      <p:sp>
        <p:nvSpPr>
          <p:cNvPr id="4" name="">
            <a:extLst xmlns:a="http://schemas.openxmlformats.org/drawingml/2006/main">
              <a:ext uri="{FF2B5EF4-FFF2-40B4-BE49-F238E27FC236}">
                <a16:creationId xmlns:a16="http://schemas.microsoft.com/office/drawing/2014/main" id="{0165F516-44B4-4F5A-A813-16C72DB95BC8}"/>
              </a:ext>
            </a:extLst>
          </p:cNvPr>
          <p:cNvSpPr>
            <a:spLocks xmlns:a="http://schemas.openxmlformats.org/drawingml/2006/main" noGrp="1"/>
          </p:cNvSpPr>
          <p:nvPr/>
        </p:nvSpPr>
        <p:spPr>
          <a:xfrm xmlns:a="http://schemas.openxmlformats.org/drawingml/2006/main">
            <a:off x="457200" y="1933575"/>
            <a:ext cx="35814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ADB8C5"/>
                </a:solidFill>
                <a:latin typeface="DejaVu Sans"/>
                <a:ea typeface="DejaVu Sans"/>
                <a:cs typeface="DejaVu Sans"/>
              </a:defRPr>
            </a:pPr>
            <a:r>
              <a:rPr sz="1800" b="1">
                <a:solidFill>
                  <a:srgbClr val="ADB8C5"/>
                </a:solidFill>
                <a:latin typeface="DejaVu Sans"/>
                <a:ea typeface="DejaVu Sans"/>
                <a:cs typeface="DejaVu Sans"/>
              </a:rPr>
              <a:t>OLD EQUILIBRIUM</a:t>
            </a:r>
          </a:p>
        </p:txBody>
      </p:sp>
      <p:sp>
        <p:nvSpPr>
          <p:cNvPr id="5" name="">
            <a:extLst xmlns:a="http://schemas.openxmlformats.org/drawingml/2006/main">
              <a:ext uri="{FF2B5EF4-FFF2-40B4-BE49-F238E27FC236}">
                <a16:creationId xmlns:a16="http://schemas.microsoft.com/office/drawing/2014/main" id="{CCCC39D5-DCEC-4DE4-BAF2-C2656A2118CD}"/>
              </a:ext>
            </a:extLst>
          </p:cNvPr>
          <p:cNvSpPr>
            <a:spLocks xmlns:a="http://schemas.openxmlformats.org/drawingml/2006/main" noGrp="1"/>
          </p:cNvSpPr>
          <p:nvPr/>
        </p:nvSpPr>
        <p:spPr>
          <a:xfrm xmlns:a="http://schemas.openxmlformats.org/drawingml/2006/main" flipH="0" flipV="0">
            <a:off x="457200" y="2590800"/>
            <a:ext cx="340995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6" name="">
            <a:extLst xmlns:a="http://schemas.openxmlformats.org/drawingml/2006/main">
              <a:ext uri="{FF2B5EF4-FFF2-40B4-BE49-F238E27FC236}">
                <a16:creationId xmlns:a16="http://schemas.microsoft.com/office/drawing/2014/main" id="{A1E13529-65A2-43F1-984A-813E32BE38CA}"/>
              </a:ext>
            </a:extLst>
          </p:cNvPr>
          <p:cNvSpPr>
            <a:spLocks xmlns:a="http://schemas.openxmlformats.org/drawingml/2006/main" noGrp="1"/>
          </p:cNvSpPr>
          <p:nvPr/>
        </p:nvSpPr>
        <p:spPr>
          <a:xfrm xmlns:a="http://schemas.openxmlformats.org/drawingml/2006/main">
            <a:off x="457200" y="2867025"/>
            <a:ext cx="3486150" cy="2133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0">
                <a:solidFill>
                  <a:srgbClr val="F4F7FA"/>
                </a:solidFill>
                <a:latin typeface="DejaVu Sans"/>
                <a:ea typeface="DejaVu Sans"/>
                <a:cs typeface="DejaVu Sans"/>
              </a:defRPr>
            </a:pPr>
            <a:r>
              <a:rPr sz="2250" b="0">
                <a:solidFill>
                  <a:srgbClr val="F4F7FA"/>
                </a:solidFill>
                <a:latin typeface="DejaVu Sans"/>
                <a:ea typeface="DejaVu Sans"/>
                <a:cs typeface="DejaVu Sans"/>
              </a:rPr>
              <a:t>Human writes</a:t>
            </a:r>
          </a:p>
          <a:p xmlns:a="http://schemas.openxmlformats.org/drawingml/2006/main">
            <a:pPr algn="l">
              <a:defRPr sz="2250" b="0">
                <a:solidFill>
                  <a:srgbClr val="F4F7FA"/>
                </a:solidFill>
                <a:latin typeface="DejaVu Sans"/>
                <a:ea typeface="DejaVu Sans"/>
                <a:cs typeface="DejaVu Sans"/>
              </a:defRPr>
            </a:pPr>
            <a:r>
              <a:rPr sz="2250" b="0">
                <a:solidFill>
                  <a:srgbClr val="F4F7FA"/>
                </a:solidFill>
                <a:latin typeface="DejaVu Sans"/>
                <a:ea typeface="DejaVu Sans"/>
                <a:cs typeface="DejaVu Sans"/>
              </a:rPr>
              <a:t>Human reviews</a:t>
            </a:r>
          </a:p>
          <a:p xmlns:a="http://schemas.openxmlformats.org/drawingml/2006/main">
            <a:pPr algn="l">
              <a:defRPr sz="2250" b="0">
                <a:solidFill>
                  <a:srgbClr val="F4F7FA"/>
                </a:solidFill>
                <a:latin typeface="DejaVu Sans"/>
                <a:ea typeface="DejaVu Sans"/>
                <a:cs typeface="DejaVu Sans"/>
              </a:defRPr>
            </a:pPr>
            <a:r>
              <a:rPr sz="2250" b="0">
                <a:solidFill>
                  <a:srgbClr val="F4F7FA"/>
                </a:solidFill>
                <a:latin typeface="DejaVu Sans"/>
                <a:ea typeface="DejaVu Sans"/>
                <a:cs typeface="DejaVu Sans"/>
              </a:rPr>
              <a:t>Human tests</a:t>
            </a:r>
          </a:p>
          <a:p xmlns:a="http://schemas.openxmlformats.org/drawingml/2006/main">
            <a:pPr algn="l">
              <a:defRPr sz="2250" b="0">
                <a:solidFill>
                  <a:srgbClr val="F4F7FA"/>
                </a:solidFill>
                <a:latin typeface="DejaVu Sans"/>
                <a:ea typeface="DejaVu Sans"/>
                <a:cs typeface="DejaVu Sans"/>
              </a:defRPr>
            </a:pPr>
            <a:r>
              <a:rPr sz="2250" b="0">
                <a:solidFill>
                  <a:srgbClr val="F4F7FA"/>
                </a:solidFill>
                <a:latin typeface="DejaVu Sans"/>
                <a:ea typeface="DejaVu Sans"/>
                <a:cs typeface="DejaVu Sans"/>
              </a:rPr>
              <a:t>Human operates</a:t>
            </a:r>
          </a:p>
        </p:txBody>
      </p:sp>
      <p:sp>
        <p:nvSpPr>
          <p:cNvPr id="7" name="">
            <a:extLst xmlns:a="http://schemas.openxmlformats.org/drawingml/2006/main">
              <a:ext uri="{FF2B5EF4-FFF2-40B4-BE49-F238E27FC236}">
                <a16:creationId xmlns:a16="http://schemas.microsoft.com/office/drawing/2014/main" id="{DA645DFA-B239-447B-890B-F42E6944AEAA}"/>
              </a:ext>
            </a:extLst>
          </p:cNvPr>
          <p:cNvSpPr>
            <a:spLocks xmlns:a="http://schemas.openxmlformats.org/drawingml/2006/main" noGrp="1"/>
          </p:cNvSpPr>
          <p:nvPr/>
        </p:nvSpPr>
        <p:spPr>
          <a:xfrm xmlns:a="http://schemas.openxmlformats.org/drawingml/2006/main">
            <a:off x="4314825" y="1933575"/>
            <a:ext cx="35814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28C7F7"/>
                </a:solidFill>
                <a:latin typeface="DejaVu Sans"/>
                <a:ea typeface="DejaVu Sans"/>
                <a:cs typeface="DejaVu Sans"/>
              </a:defRPr>
            </a:pPr>
            <a:r>
              <a:rPr sz="1800" b="1">
                <a:solidFill>
                  <a:srgbClr val="28C7F7"/>
                </a:solidFill>
                <a:latin typeface="DejaVu Sans"/>
                <a:ea typeface="DejaVu Sans"/>
                <a:cs typeface="DejaVu Sans"/>
              </a:rPr>
              <a:t>TODAY</a:t>
            </a:r>
          </a:p>
        </p:txBody>
      </p:sp>
      <p:sp>
        <p:nvSpPr>
          <p:cNvPr id="8" name="">
            <a:extLst xmlns:a="http://schemas.openxmlformats.org/drawingml/2006/main">
              <a:ext uri="{FF2B5EF4-FFF2-40B4-BE49-F238E27FC236}">
                <a16:creationId xmlns:a16="http://schemas.microsoft.com/office/drawing/2014/main" id="{771D659C-50B8-498E-B880-0376C46FCC2D}"/>
              </a:ext>
            </a:extLst>
          </p:cNvPr>
          <p:cNvSpPr>
            <a:spLocks xmlns:a="http://schemas.openxmlformats.org/drawingml/2006/main" noGrp="1"/>
          </p:cNvSpPr>
          <p:nvPr/>
        </p:nvSpPr>
        <p:spPr>
          <a:xfrm xmlns:a="http://schemas.openxmlformats.org/drawingml/2006/main" flipH="0" flipV="0">
            <a:off x="4314825" y="2590800"/>
            <a:ext cx="3409950" cy="0"/>
          </a:xfrm>
          <a:prstGeom xmlns:a="http://schemas.openxmlformats.org/drawingml/2006/main" prst="line">
            <a:avLst/>
          </a:prstGeom>
          <a:noFill xmlns:a="http://schemas.openxmlformats.org/drawingml/2006/main"/>
          <a:ln xmlns:a="http://schemas.openxmlformats.org/drawingml/2006/main" w="19050">
            <a:solidFill>
              <a:srgbClr val="28C7F7"/>
            </a:solidFill>
            <a:prstDash val="solid"/>
          </a:ln>
        </p:spPr>
      </p:sp>
      <p:sp>
        <p:nvSpPr>
          <p:cNvPr id="9" name="">
            <a:extLst xmlns:a="http://schemas.openxmlformats.org/drawingml/2006/main">
              <a:ext uri="{FF2B5EF4-FFF2-40B4-BE49-F238E27FC236}">
                <a16:creationId xmlns:a16="http://schemas.microsoft.com/office/drawing/2014/main" id="{60D5B36A-4FE0-4C35-95E5-AF2180A915FC}"/>
              </a:ext>
            </a:extLst>
          </p:cNvPr>
          <p:cNvSpPr>
            <a:spLocks xmlns:a="http://schemas.openxmlformats.org/drawingml/2006/main" noGrp="1"/>
          </p:cNvSpPr>
          <p:nvPr/>
        </p:nvSpPr>
        <p:spPr>
          <a:xfrm xmlns:a="http://schemas.openxmlformats.org/drawingml/2006/main">
            <a:off x="4314825" y="2867025"/>
            <a:ext cx="3486150" cy="2133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0">
                <a:solidFill>
                  <a:srgbClr val="F4F7FA"/>
                </a:solidFill>
                <a:latin typeface="DejaVu Sans"/>
                <a:ea typeface="DejaVu Sans"/>
                <a:cs typeface="DejaVu Sans"/>
              </a:defRPr>
            </a:pPr>
            <a:r>
              <a:rPr sz="2250" b="0">
                <a:solidFill>
                  <a:srgbClr val="F4F7FA"/>
                </a:solidFill>
                <a:latin typeface="DejaVu Sans"/>
                <a:ea typeface="DejaVu Sans"/>
                <a:cs typeface="DejaVu Sans"/>
              </a:rPr>
              <a:t>AI generation ↑↑</a:t>
            </a:r>
          </a:p>
          <a:p xmlns:a="http://schemas.openxmlformats.org/drawingml/2006/main">
            <a:pPr algn="l">
              <a:defRPr sz="2250" b="0">
                <a:solidFill>
                  <a:srgbClr val="F4F7FA"/>
                </a:solidFill>
                <a:latin typeface="DejaVu Sans"/>
                <a:ea typeface="DejaVu Sans"/>
                <a:cs typeface="DejaVu Sans"/>
              </a:defRPr>
            </a:pPr>
            <a:r>
              <a:rPr sz="2250" b="0">
                <a:solidFill>
                  <a:srgbClr val="F4F7FA"/>
                </a:solidFill>
                <a:latin typeface="DejaVu Sans"/>
                <a:ea typeface="DejaVu Sans"/>
                <a:cs typeface="DejaVu Sans"/>
              </a:rPr>
              <a:t>Review adapting</a:t>
            </a:r>
          </a:p>
          <a:p xmlns:a="http://schemas.openxmlformats.org/drawingml/2006/main">
            <a:pPr algn="l">
              <a:defRPr sz="2250" b="0">
                <a:solidFill>
                  <a:srgbClr val="F4F7FA"/>
                </a:solidFill>
                <a:latin typeface="DejaVu Sans"/>
                <a:ea typeface="DejaVu Sans"/>
                <a:cs typeface="DejaVu Sans"/>
              </a:defRPr>
            </a:pPr>
            <a:r>
              <a:rPr sz="2250" b="0">
                <a:solidFill>
                  <a:srgbClr val="F4F7FA"/>
                </a:solidFill>
                <a:latin typeface="DejaVu Sans"/>
                <a:ea typeface="DejaVu Sans"/>
                <a:cs typeface="DejaVu Sans"/>
              </a:rPr>
              <a:t>Testing adapting</a:t>
            </a:r>
          </a:p>
          <a:p xmlns:a="http://schemas.openxmlformats.org/drawingml/2006/main">
            <a:pPr algn="l">
              <a:defRPr sz="2250" b="0">
                <a:solidFill>
                  <a:srgbClr val="F4F7FA"/>
                </a:solidFill>
                <a:latin typeface="DejaVu Sans"/>
                <a:ea typeface="DejaVu Sans"/>
                <a:cs typeface="DejaVu Sans"/>
              </a:defRPr>
            </a:pPr>
            <a:r>
              <a:rPr sz="2250" b="0">
                <a:solidFill>
                  <a:srgbClr val="F4F7FA"/>
                </a:solidFill>
                <a:latin typeface="DejaVu Sans"/>
                <a:ea typeface="DejaVu Sans"/>
                <a:cs typeface="DejaVu Sans"/>
              </a:rPr>
              <a:t>Ownership adapting</a:t>
            </a:r>
          </a:p>
        </p:txBody>
      </p:sp>
      <p:sp>
        <p:nvSpPr>
          <p:cNvPr id="10" name="">
            <a:extLst xmlns:a="http://schemas.openxmlformats.org/drawingml/2006/main">
              <a:ext uri="{FF2B5EF4-FFF2-40B4-BE49-F238E27FC236}">
                <a16:creationId xmlns:a16="http://schemas.microsoft.com/office/drawing/2014/main" id="{12DC6C6F-6835-4616-AAA6-0720BF6EE850}"/>
              </a:ext>
            </a:extLst>
          </p:cNvPr>
          <p:cNvSpPr>
            <a:spLocks xmlns:a="http://schemas.openxmlformats.org/drawingml/2006/main" noGrp="1"/>
          </p:cNvSpPr>
          <p:nvPr/>
        </p:nvSpPr>
        <p:spPr>
          <a:xfrm xmlns:a="http://schemas.openxmlformats.org/drawingml/2006/main">
            <a:off x="8172450" y="1933575"/>
            <a:ext cx="35814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ADB8C5"/>
                </a:solidFill>
                <a:latin typeface="DejaVu Sans"/>
                <a:ea typeface="DejaVu Sans"/>
                <a:cs typeface="DejaVu Sans"/>
              </a:defRPr>
            </a:pPr>
            <a:r>
              <a:rPr sz="1800" b="1">
                <a:solidFill>
                  <a:srgbClr val="ADB8C5"/>
                </a:solidFill>
                <a:latin typeface="DejaVu Sans"/>
                <a:ea typeface="DejaVu Sans"/>
                <a:cs typeface="DejaVu Sans"/>
              </a:rPr>
              <a:t>NEW EQUILIBRIUM</a:t>
            </a:r>
          </a:p>
        </p:txBody>
      </p:sp>
      <p:sp>
        <p:nvSpPr>
          <p:cNvPr id="11" name="">
            <a:extLst xmlns:a="http://schemas.openxmlformats.org/drawingml/2006/main">
              <a:ext uri="{FF2B5EF4-FFF2-40B4-BE49-F238E27FC236}">
                <a16:creationId xmlns:a16="http://schemas.microsoft.com/office/drawing/2014/main" id="{A387B879-AE46-42C5-A94E-89845877849D}"/>
              </a:ext>
            </a:extLst>
          </p:cNvPr>
          <p:cNvSpPr>
            <a:spLocks xmlns:a="http://schemas.openxmlformats.org/drawingml/2006/main" noGrp="1"/>
          </p:cNvSpPr>
          <p:nvPr/>
        </p:nvSpPr>
        <p:spPr>
          <a:xfrm xmlns:a="http://schemas.openxmlformats.org/drawingml/2006/main" flipH="0" flipV="0">
            <a:off x="8172450" y="2590800"/>
            <a:ext cx="340995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2" name="">
            <a:extLst xmlns:a="http://schemas.openxmlformats.org/drawingml/2006/main">
              <a:ext uri="{FF2B5EF4-FFF2-40B4-BE49-F238E27FC236}">
                <a16:creationId xmlns:a16="http://schemas.microsoft.com/office/drawing/2014/main" id="{A151289E-6859-4A37-946C-A8ECD5FEE3EC}"/>
              </a:ext>
            </a:extLst>
          </p:cNvPr>
          <p:cNvSpPr>
            <a:spLocks xmlns:a="http://schemas.openxmlformats.org/drawingml/2006/main" noGrp="1"/>
          </p:cNvSpPr>
          <p:nvPr/>
        </p:nvSpPr>
        <p:spPr>
          <a:xfrm xmlns:a="http://schemas.openxmlformats.org/drawingml/2006/main">
            <a:off x="8172450" y="2867025"/>
            <a:ext cx="3486150" cy="2133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9450" b="1">
                <a:solidFill>
                  <a:srgbClr val="F5B61C"/>
                </a:solidFill>
                <a:latin typeface="DejaVu Sans"/>
                <a:ea typeface="DejaVu Sans"/>
                <a:cs typeface="DejaVu Sans"/>
              </a:defRPr>
            </a:pPr>
            <a:r>
              <a:rPr sz="9450" b="1">
                <a:solidFill>
                  <a:srgbClr val="F5B61C"/>
                </a:solidFill>
                <a:latin typeface="DejaVu Sans"/>
                <a:ea typeface="DejaVu Sans"/>
                <a:cs typeface="DejaVu Sans"/>
              </a:rPr>
              <a:t>?</a:t>
            </a:r>
          </a:p>
        </p:txBody>
      </p:sp>
      <p:sp>
        <p:nvSpPr>
          <p:cNvPr id="13" name="">
            <a:extLst xmlns:a="http://schemas.openxmlformats.org/drawingml/2006/main">
              <a:ext uri="{FF2B5EF4-FFF2-40B4-BE49-F238E27FC236}">
                <a16:creationId xmlns:a16="http://schemas.microsoft.com/office/drawing/2014/main" id="{68BCB977-3006-4A2C-B771-6B7DDCEEC796}"/>
              </a:ext>
            </a:extLst>
          </p:cNvPr>
          <p:cNvSpPr>
            <a:spLocks xmlns:a="http://schemas.openxmlformats.org/drawingml/2006/main" noGrp="1"/>
          </p:cNvSpPr>
          <p:nvPr/>
        </p:nvSpPr>
        <p:spPr>
          <a:xfrm xmlns:a="http://schemas.openxmlformats.org/drawingml/2006/main">
            <a:off x="457200" y="5372100"/>
            <a:ext cx="112776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550" b="1">
                <a:solidFill>
                  <a:srgbClr val="F4F7FA"/>
                </a:solidFill>
                <a:latin typeface="DejaVu Sans"/>
                <a:ea typeface="DejaVu Sans"/>
                <a:cs typeface="DejaVu Sans"/>
              </a:defRPr>
            </a:pPr>
            <a:r>
              <a:rPr sz="2550" b="1">
                <a:solidFill>
                  <a:srgbClr val="F4F7FA"/>
                </a:solidFill>
                <a:latin typeface="DejaVu Sans"/>
                <a:ea typeface="DejaVu Sans"/>
                <a:cs typeface="DejaVu Sans"/>
              </a:rPr>
              <a:t>But this is only half of the transition.</a:t>
            </a:r>
          </a:p>
        </p:txBody>
      </p:sp>
      <p:sp>
        <p:nvSpPr>
          <p:cNvPr id="14" name="">
            <a:extLst xmlns:a="http://schemas.openxmlformats.org/drawingml/2006/main">
              <a:ext uri="{FF2B5EF4-FFF2-40B4-BE49-F238E27FC236}">
                <a16:creationId xmlns:a16="http://schemas.microsoft.com/office/drawing/2014/main" id="{2EF9F9A6-423B-4EDE-9B71-6A8F359B068E}"/>
              </a:ext>
            </a:extLst>
          </p:cNvPr>
          <p:cNvSpPr>
            <a:spLocks xmlns:a="http://schemas.openxmlformats.org/drawingml/2006/main" noGrp="1"/>
          </p:cNvSpPr>
          <p:nvPr/>
        </p:nvSpPr>
        <p:spPr>
          <a:xfrm xmlns:a="http://schemas.openxmlformats.org/drawingml/2006/main">
            <a:off x="457200" y="6096000"/>
            <a:ext cx="11277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025" b="0">
                <a:solidFill>
                  <a:srgbClr val="28C7F7"/>
                </a:solidFill>
                <a:latin typeface="DejaVu Sans"/>
                <a:ea typeface="DejaVu Sans"/>
                <a:cs typeface="DejaVu Sans"/>
              </a:defRPr>
            </a:pPr>
            <a:r>
              <a:rPr sz="2025" b="0">
                <a:solidFill>
                  <a:srgbClr val="28C7F7"/>
                </a:solidFill>
                <a:latin typeface="DejaVu Sans"/>
                <a:ea typeface="DejaVu Sans"/>
                <a:cs typeface="DejaVu Sans"/>
              </a:rPr>
              <a:t>AI is entering the software itself.</a:t>
            </a:r>
          </a:p>
        </p:txBody>
      </p:sp>
    </p:spTree>
    <p:extLst>
      <p:ext uri="{BB962C8B-B14F-4D97-AF65-F5344CB8AC3E}">
        <p14:creationId xmlns:p14="http://schemas.microsoft.com/office/powerpoint/2010/main" val="131718392"/>
      </p:ext>
    </p:extLst>
  </p:cSld>
</p:sld>
</file>

<file path=ppt/slides/slide8.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A42D241B-C705-4371-9C91-1BE70D140B0C}"/>
              </a:ext>
            </a:extLst>
          </p:cNvPr>
          <p:cNvSpPr>
            <a:spLocks xmlns:a="http://schemas.openxmlformats.org/drawingml/2006/main" noGrp="1"/>
          </p:cNvSpPr>
          <p:nvPr/>
        </p:nvSpPr>
        <p:spPr>
          <a:xfrm xmlns:a="http://schemas.openxmlformats.org/drawingml/2006/main">
            <a:off x="457200" y="333375"/>
            <a:ext cx="11277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150" b="1">
                <a:solidFill>
                  <a:srgbClr val="F4F7FA"/>
                </a:solidFill>
                <a:latin typeface="DejaVu Sans"/>
                <a:ea typeface="DejaVu Sans"/>
                <a:cs typeface="DejaVu Sans"/>
              </a:defRPr>
            </a:pPr>
            <a:r>
              <a:rPr sz="3150" b="1">
                <a:solidFill>
                  <a:srgbClr val="F4F7FA"/>
                </a:solidFill>
                <a:latin typeface="DejaVu Sans"/>
                <a:ea typeface="DejaVu Sans"/>
                <a:cs typeface="DejaVu Sans"/>
              </a:rPr>
              <a:t>When Software Starts Thinking</a:t>
            </a:r>
          </a:p>
        </p:txBody>
      </p:sp>
      <p:sp>
        <p:nvSpPr>
          <p:cNvPr id="2" name="">
            <a:extLst xmlns:a="http://schemas.openxmlformats.org/drawingml/2006/main">
              <a:ext uri="{FF2B5EF4-FFF2-40B4-BE49-F238E27FC236}">
                <a16:creationId xmlns:a16="http://schemas.microsoft.com/office/drawing/2014/main" id="{F0F88278-B897-44D4-BD90-21B2A6FAE19E}"/>
              </a:ext>
            </a:extLst>
          </p:cNvPr>
          <p:cNvSpPr>
            <a:spLocks xmlns:a="http://schemas.openxmlformats.org/drawingml/2006/main" noGrp="1"/>
          </p:cNvSpPr>
          <p:nvPr/>
        </p:nvSpPr>
        <p:spPr>
          <a:xfrm xmlns:a="http://schemas.openxmlformats.org/drawingml/2006/main" flipH="0" flipV="0">
            <a:off x="457200" y="1381125"/>
            <a:ext cx="112776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08738B73-7632-4391-8169-272CFE7DCA79}"/>
              </a:ext>
            </a:extLst>
          </p:cNvPr>
          <p:cNvSpPr>
            <a:spLocks xmlns:a="http://schemas.openxmlformats.org/drawingml/2006/main" noGrp="1"/>
          </p:cNvSpPr>
          <p:nvPr/>
        </p:nvSpPr>
        <p:spPr>
          <a:xfrm xmlns:a="http://schemas.openxmlformats.org/drawingml/2006/main">
            <a:off x="11287125" y="6477000"/>
            <a:ext cx="4476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75" b="0">
                <a:solidFill>
                  <a:srgbClr val="ADB8C5"/>
                </a:solidFill>
                <a:latin typeface="DejaVu Sans"/>
                <a:ea typeface="DejaVu Sans"/>
                <a:cs typeface="DejaVu Sans"/>
              </a:defRPr>
            </a:pPr>
            <a:r>
              <a:rPr sz="1275" b="0">
                <a:solidFill>
                  <a:srgbClr val="ADB8C5"/>
                </a:solidFill>
                <a:latin typeface="DejaVu Sans"/>
                <a:ea typeface="DejaVu Sans"/>
                <a:cs typeface="DejaVu Sans"/>
              </a:rPr>
              <a:t>08</a:t>
            </a:r>
          </a:p>
        </p:txBody>
      </p:sp>
      <p:sp>
        <p:nvSpPr>
          <p:cNvPr id="4" name="">
            <a:extLst xmlns:a="http://schemas.openxmlformats.org/drawingml/2006/main">
              <a:ext uri="{FF2B5EF4-FFF2-40B4-BE49-F238E27FC236}">
                <a16:creationId xmlns:a16="http://schemas.microsoft.com/office/drawing/2014/main" id="{D6223A88-E8AC-47FE-A664-488B19956EB9}"/>
              </a:ext>
            </a:extLst>
          </p:cNvPr>
          <p:cNvSpPr>
            <a:spLocks xmlns:a="http://schemas.openxmlformats.org/drawingml/2006/main" noGrp="1"/>
          </p:cNvSpPr>
          <p:nvPr/>
        </p:nvSpPr>
        <p:spPr>
          <a:xfrm xmlns:a="http://schemas.openxmlformats.org/drawingml/2006/main">
            <a:off x="457200" y="1695450"/>
            <a:ext cx="11277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28C7F7"/>
                </a:solidFill>
                <a:latin typeface="DejaVu Sans"/>
                <a:ea typeface="DejaVu Sans"/>
                <a:cs typeface="DejaVu Sans"/>
              </a:defRPr>
            </a:pPr>
            <a:r>
              <a:rPr sz="1800" b="1">
                <a:solidFill>
                  <a:srgbClr val="28C7F7"/>
                </a:solidFill>
                <a:latin typeface="DejaVu Sans"/>
                <a:ea typeface="DejaVu Sans"/>
                <a:cs typeface="DejaVu Sans"/>
              </a:rPr>
              <a:t>THINKING SYSTEMS</a:t>
            </a:r>
          </a:p>
        </p:txBody>
      </p:sp>
      <p:sp>
        <p:nvSpPr>
          <p:cNvPr id="5" name="">
            <a:extLst xmlns:a="http://schemas.openxmlformats.org/drawingml/2006/main">
              <a:ext uri="{FF2B5EF4-FFF2-40B4-BE49-F238E27FC236}">
                <a16:creationId xmlns:a16="http://schemas.microsoft.com/office/drawing/2014/main" id="{239B4B6B-A373-4B3C-AF78-3ADF97526FFC}"/>
              </a:ext>
            </a:extLst>
          </p:cNvPr>
          <p:cNvSpPr>
            <a:spLocks xmlns:a="http://schemas.openxmlformats.org/drawingml/2006/main" noGrp="1"/>
          </p:cNvSpPr>
          <p:nvPr/>
        </p:nvSpPr>
        <p:spPr>
          <a:xfrm xmlns:a="http://schemas.openxmlformats.org/drawingml/2006/main">
            <a:off x="457200" y="2219325"/>
            <a:ext cx="112776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F4F7FA"/>
                </a:solidFill>
                <a:latin typeface="DejaVu Sans"/>
                <a:ea typeface="DejaVu Sans"/>
                <a:cs typeface="DejaVu Sans"/>
              </a:defRPr>
            </a:pPr>
            <a:r>
              <a:rPr sz="2475" b="1">
                <a:solidFill>
                  <a:srgbClr val="F4F7FA"/>
                </a:solidFill>
                <a:latin typeface="DejaVu Sans"/>
                <a:ea typeface="DejaVu Sans"/>
                <a:cs typeface="DejaVu Sans"/>
              </a:rPr>
              <a:t>A system where consequential runtime responsibility partly depends on probabilistic Model Judgment.</a:t>
            </a:r>
          </a:p>
        </p:txBody>
      </p:sp>
      <p:sp>
        <p:nvSpPr>
          <p:cNvPr id="6" name="">
            <a:extLst xmlns:a="http://schemas.openxmlformats.org/drawingml/2006/main">
              <a:ext uri="{FF2B5EF4-FFF2-40B4-BE49-F238E27FC236}">
                <a16:creationId xmlns:a16="http://schemas.microsoft.com/office/drawing/2014/main" id="{23ADDED1-1B97-4428-96F7-5900C5ECB547}"/>
              </a:ext>
            </a:extLst>
          </p:cNvPr>
          <p:cNvSpPr>
            <a:spLocks xmlns:a="http://schemas.openxmlformats.org/drawingml/2006/main" noGrp="1"/>
          </p:cNvSpPr>
          <p:nvPr/>
        </p:nvSpPr>
        <p:spPr>
          <a:xfrm xmlns:a="http://schemas.openxmlformats.org/drawingml/2006/main">
            <a:off x="457200" y="3552825"/>
            <a:ext cx="5286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DejaVu Sans"/>
                <a:ea typeface="DejaVu Sans"/>
                <a:cs typeface="DejaVu Sans"/>
              </a:defRPr>
            </a:pPr>
            <a:r>
              <a:rPr sz="1875" b="0">
                <a:solidFill>
                  <a:srgbClr val="ADB8C5"/>
                </a:solidFill>
                <a:latin typeface="DejaVu Sans"/>
                <a:ea typeface="DejaVu Sans"/>
                <a:cs typeface="DejaVu Sans"/>
              </a:rPr>
              <a:t>Software 1.0</a:t>
            </a:r>
          </a:p>
        </p:txBody>
      </p:sp>
      <p:sp>
        <p:nvSpPr>
          <p:cNvPr id="7" name="">
            <a:extLst xmlns:a="http://schemas.openxmlformats.org/drawingml/2006/main">
              <a:ext uri="{FF2B5EF4-FFF2-40B4-BE49-F238E27FC236}">
                <a16:creationId xmlns:a16="http://schemas.microsoft.com/office/drawing/2014/main" id="{91954517-35DF-44D8-B0C1-A71D5C36885E}"/>
              </a:ext>
            </a:extLst>
          </p:cNvPr>
          <p:cNvSpPr>
            <a:spLocks xmlns:a="http://schemas.openxmlformats.org/drawingml/2006/main" noGrp="1"/>
          </p:cNvSpPr>
          <p:nvPr/>
        </p:nvSpPr>
        <p:spPr>
          <a:xfrm xmlns:a="http://schemas.openxmlformats.org/drawingml/2006/main">
            <a:off x="457200" y="4086225"/>
            <a:ext cx="52863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4275" b="1">
                <a:solidFill>
                  <a:srgbClr val="28C7F7"/>
                </a:solidFill>
                <a:latin typeface="DejaVu Sans"/>
                <a:ea typeface="DejaVu Sans"/>
                <a:cs typeface="DejaVu Sans"/>
              </a:defRPr>
            </a:pPr>
            <a:r>
              <a:rPr sz="4275" b="1">
                <a:solidFill>
                  <a:srgbClr val="28C7F7"/>
                </a:solidFill>
                <a:latin typeface="DejaVu Sans"/>
                <a:ea typeface="DejaVu Sans"/>
                <a:cs typeface="DejaVu Sans"/>
              </a:rPr>
              <a:t>y = f(x)</a:t>
            </a:r>
          </a:p>
        </p:txBody>
      </p:sp>
      <p:sp>
        <p:nvSpPr>
          <p:cNvPr id="8" name="">
            <a:extLst xmlns:a="http://schemas.openxmlformats.org/drawingml/2006/main">
              <a:ext uri="{FF2B5EF4-FFF2-40B4-BE49-F238E27FC236}">
                <a16:creationId xmlns:a16="http://schemas.microsoft.com/office/drawing/2014/main" id="{50BFAC09-0689-4015-816D-DB765E87E726}"/>
              </a:ext>
            </a:extLst>
          </p:cNvPr>
          <p:cNvSpPr>
            <a:spLocks xmlns:a="http://schemas.openxmlformats.org/drawingml/2006/main" noGrp="1"/>
          </p:cNvSpPr>
          <p:nvPr/>
        </p:nvSpPr>
        <p:spPr>
          <a:xfrm xmlns:a="http://schemas.openxmlformats.org/drawingml/2006/main">
            <a:off x="6457950" y="3552825"/>
            <a:ext cx="5286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DejaVu Sans"/>
                <a:ea typeface="DejaVu Sans"/>
                <a:cs typeface="DejaVu Sans"/>
              </a:defRPr>
            </a:pPr>
            <a:r>
              <a:rPr sz="1875" b="0">
                <a:solidFill>
                  <a:srgbClr val="ADB8C5"/>
                </a:solidFill>
                <a:latin typeface="DejaVu Sans"/>
                <a:ea typeface="DejaVu Sans"/>
                <a:cs typeface="DejaVu Sans"/>
              </a:rPr>
              <a:t>Software with Model Judgment</a:t>
            </a:r>
          </a:p>
        </p:txBody>
      </p:sp>
      <p:sp>
        <p:nvSpPr>
          <p:cNvPr id="9" name="">
            <a:extLst xmlns:a="http://schemas.openxmlformats.org/drawingml/2006/main">
              <a:ext uri="{FF2B5EF4-FFF2-40B4-BE49-F238E27FC236}">
                <a16:creationId xmlns:a16="http://schemas.microsoft.com/office/drawing/2014/main" id="{B8E8DE47-8BEC-4936-8D86-9DAE120691E5}"/>
              </a:ext>
            </a:extLst>
          </p:cNvPr>
          <p:cNvSpPr>
            <a:spLocks xmlns:a="http://schemas.openxmlformats.org/drawingml/2006/main" noGrp="1"/>
          </p:cNvSpPr>
          <p:nvPr/>
        </p:nvSpPr>
        <p:spPr>
          <a:xfrm xmlns:a="http://schemas.openxmlformats.org/drawingml/2006/main">
            <a:off x="6457950" y="4086225"/>
            <a:ext cx="52863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4275" b="1">
                <a:solidFill>
                  <a:srgbClr val="F5B61C"/>
                </a:solidFill>
                <a:latin typeface="DejaVu Sans"/>
                <a:ea typeface="DejaVu Sans"/>
                <a:cs typeface="DejaVu Sans"/>
              </a:defRPr>
            </a:pPr>
            <a:r>
              <a:rPr sz="4275" b="1">
                <a:solidFill>
                  <a:srgbClr val="F5B61C"/>
                </a:solidFill>
                <a:latin typeface="DejaVu Sans"/>
                <a:ea typeface="DejaVu Sans"/>
                <a:cs typeface="DejaVu Sans"/>
              </a:rPr>
              <a:t>y ~ P(y | x)</a:t>
            </a:r>
          </a:p>
        </p:txBody>
      </p:sp>
      <p:sp>
        <p:nvSpPr>
          <p:cNvPr id="10" name="">
            <a:extLst xmlns:a="http://schemas.openxmlformats.org/drawingml/2006/main">
              <a:ext uri="{FF2B5EF4-FFF2-40B4-BE49-F238E27FC236}">
                <a16:creationId xmlns:a16="http://schemas.microsoft.com/office/drawing/2014/main" id="{CAB6E385-87A5-4C84-A9DB-6AB84A3E4B11}"/>
              </a:ext>
            </a:extLst>
          </p:cNvPr>
          <p:cNvSpPr>
            <a:spLocks xmlns:a="http://schemas.openxmlformats.org/drawingml/2006/main" noGrp="1"/>
          </p:cNvSpPr>
          <p:nvPr/>
        </p:nvSpPr>
        <p:spPr>
          <a:xfrm xmlns:a="http://schemas.openxmlformats.org/drawingml/2006/main">
            <a:off x="457200" y="5133975"/>
            <a:ext cx="11277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DejaVu Sans"/>
                <a:ea typeface="DejaVu Sans"/>
                <a:cs typeface="DejaVu Sans"/>
              </a:defRPr>
            </a:pPr>
            <a:r>
              <a:rPr sz="1725" b="0">
                <a:solidFill>
                  <a:srgbClr val="ADB8C5"/>
                </a:solidFill>
                <a:latin typeface="DejaVu Sans"/>
                <a:ea typeface="DejaVu Sans"/>
                <a:cs typeface="DejaVu Sans"/>
              </a:rPr>
              <a:t>Distribution also depends on context, model and configuration.</a:t>
            </a:r>
          </a:p>
        </p:txBody>
      </p:sp>
      <p:sp>
        <p:nvSpPr>
          <p:cNvPr id="11" name="">
            <a:extLst xmlns:a="http://schemas.openxmlformats.org/drawingml/2006/main">
              <a:ext uri="{FF2B5EF4-FFF2-40B4-BE49-F238E27FC236}">
                <a16:creationId xmlns:a16="http://schemas.microsoft.com/office/drawing/2014/main" id="{2E7A171E-2560-4A53-B342-EA73A849BEDC}"/>
              </a:ext>
            </a:extLst>
          </p:cNvPr>
          <p:cNvSpPr>
            <a:spLocks xmlns:a="http://schemas.openxmlformats.org/drawingml/2006/main" noGrp="1"/>
          </p:cNvSpPr>
          <p:nvPr/>
        </p:nvSpPr>
        <p:spPr>
          <a:xfrm xmlns:a="http://schemas.openxmlformats.org/drawingml/2006/main">
            <a:off x="457200" y="5619750"/>
            <a:ext cx="112776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1">
                <a:solidFill>
                  <a:srgbClr val="F4F7FA"/>
                </a:solidFill>
                <a:latin typeface="DejaVu Sans"/>
                <a:ea typeface="DejaVu Sans"/>
                <a:cs typeface="DejaVu Sans"/>
              </a:defRPr>
            </a:pPr>
            <a:r>
              <a:rPr sz="2250" b="1">
                <a:solidFill>
                  <a:srgbClr val="F4F7FA"/>
                </a:solidFill>
                <a:latin typeface="DejaVu Sans"/>
                <a:ea typeface="DejaVu Sans"/>
                <a:cs typeface="DejaVu Sans"/>
              </a:rPr>
              <a:t>Engineer the useful region of behavior.</a:t>
            </a:r>
          </a:p>
        </p:txBody>
      </p:sp>
    </p:spTree>
    <p:extLst>
      <p:ext uri="{BB962C8B-B14F-4D97-AF65-F5344CB8AC3E}">
        <p14:creationId xmlns:p14="http://schemas.microsoft.com/office/powerpoint/2010/main" val="699888301"/>
      </p:ext>
    </p:extLst>
  </p:cSld>
</p:sld>
</file>

<file path=ppt/slides/slide9.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A563FC9B-C6E8-4353-8A08-7995B1B68BE0}"/>
              </a:ext>
            </a:extLst>
          </p:cNvPr>
          <p:cNvSpPr>
            <a:spLocks xmlns:a="http://schemas.openxmlformats.org/drawingml/2006/main" noGrp="1"/>
          </p:cNvSpPr>
          <p:nvPr/>
        </p:nvSpPr>
        <p:spPr>
          <a:xfrm xmlns:a="http://schemas.openxmlformats.org/drawingml/2006/main">
            <a:off x="457200" y="333375"/>
            <a:ext cx="11277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150" b="1">
                <a:solidFill>
                  <a:srgbClr val="F4F7FA"/>
                </a:solidFill>
                <a:latin typeface="DejaVu Sans"/>
                <a:ea typeface="DejaVu Sans"/>
                <a:cs typeface="DejaVu Sans"/>
              </a:defRPr>
            </a:pPr>
            <a:r>
              <a:rPr sz="3150" b="1">
                <a:solidFill>
                  <a:srgbClr val="F4F7FA"/>
                </a:solidFill>
                <a:latin typeface="DejaVu Sans"/>
                <a:ea typeface="DejaVu Sans"/>
                <a:cs typeface="DejaVu Sans"/>
              </a:rPr>
              <a:t>Requirements Become Boundaries</a:t>
            </a:r>
          </a:p>
        </p:txBody>
      </p:sp>
      <p:sp>
        <p:nvSpPr>
          <p:cNvPr id="2" name="">
            <a:extLst xmlns:a="http://schemas.openxmlformats.org/drawingml/2006/main">
              <a:ext uri="{FF2B5EF4-FFF2-40B4-BE49-F238E27FC236}">
                <a16:creationId xmlns:a16="http://schemas.microsoft.com/office/drawing/2014/main" id="{825A71E2-393E-4291-9C2A-EF406C731505}"/>
              </a:ext>
            </a:extLst>
          </p:cNvPr>
          <p:cNvSpPr>
            <a:spLocks xmlns:a="http://schemas.openxmlformats.org/drawingml/2006/main" noGrp="1"/>
          </p:cNvSpPr>
          <p:nvPr/>
        </p:nvSpPr>
        <p:spPr>
          <a:xfrm xmlns:a="http://schemas.openxmlformats.org/drawingml/2006/main" flipH="0" flipV="0">
            <a:off x="457200" y="1381125"/>
            <a:ext cx="112776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65B51D5A-5612-48E3-B350-1A8E60739B69}"/>
              </a:ext>
            </a:extLst>
          </p:cNvPr>
          <p:cNvSpPr>
            <a:spLocks xmlns:a="http://schemas.openxmlformats.org/drawingml/2006/main" noGrp="1"/>
          </p:cNvSpPr>
          <p:nvPr/>
        </p:nvSpPr>
        <p:spPr>
          <a:xfrm xmlns:a="http://schemas.openxmlformats.org/drawingml/2006/main">
            <a:off x="11287125" y="6477000"/>
            <a:ext cx="4476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75" b="0">
                <a:solidFill>
                  <a:srgbClr val="ADB8C5"/>
                </a:solidFill>
                <a:latin typeface="DejaVu Sans"/>
                <a:ea typeface="DejaVu Sans"/>
                <a:cs typeface="DejaVu Sans"/>
              </a:defRPr>
            </a:pPr>
            <a:r>
              <a:rPr sz="1275" b="0">
                <a:solidFill>
                  <a:srgbClr val="ADB8C5"/>
                </a:solidFill>
                <a:latin typeface="DejaVu Sans"/>
                <a:ea typeface="DejaVu Sans"/>
                <a:cs typeface="DejaVu Sans"/>
              </a:rPr>
              <a:t>09</a:t>
            </a:r>
          </a:p>
        </p:txBody>
      </p:sp>
      <p:sp>
        <p:nvSpPr>
          <p:cNvPr id="4" name="">
            <a:extLst xmlns:a="http://schemas.openxmlformats.org/drawingml/2006/main">
              <a:ext uri="{FF2B5EF4-FFF2-40B4-BE49-F238E27FC236}">
                <a16:creationId xmlns:a16="http://schemas.microsoft.com/office/drawing/2014/main" id="{6AA612B3-A1BE-4780-A7DD-B82195BD322E}"/>
              </a:ext>
            </a:extLst>
          </p:cNvPr>
          <p:cNvSpPr>
            <a:spLocks xmlns:a="http://schemas.openxmlformats.org/drawingml/2006/main" noGrp="1"/>
          </p:cNvSpPr>
          <p:nvPr/>
        </p:nvSpPr>
        <p:spPr>
          <a:xfrm xmlns:a="http://schemas.openxmlformats.org/drawingml/2006/main">
            <a:off x="457200" y="1857375"/>
            <a:ext cx="285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ADB8C5"/>
                </a:solidFill>
                <a:latin typeface="DejaVu Sans"/>
                <a:ea typeface="DejaVu Sans"/>
                <a:cs typeface="DejaVu Sans"/>
              </a:defRPr>
            </a:pPr>
            <a:r>
              <a:rPr sz="1800" b="1">
                <a:solidFill>
                  <a:srgbClr val="ADB8C5"/>
                </a:solidFill>
                <a:latin typeface="DejaVu Sans"/>
                <a:ea typeface="DejaVu Sans"/>
                <a:cs typeface="DejaVu Sans"/>
              </a:rPr>
              <a:t>OLD</a:t>
            </a:r>
          </a:p>
        </p:txBody>
      </p:sp>
      <p:sp>
        <p:nvSpPr>
          <p:cNvPr id="5" name="">
            <a:extLst xmlns:a="http://schemas.openxmlformats.org/drawingml/2006/main">
              <a:ext uri="{FF2B5EF4-FFF2-40B4-BE49-F238E27FC236}">
                <a16:creationId xmlns:a16="http://schemas.microsoft.com/office/drawing/2014/main" id="{29092EEC-C397-49B9-AD2E-009CA801886C}"/>
              </a:ext>
            </a:extLst>
          </p:cNvPr>
          <p:cNvSpPr>
            <a:spLocks xmlns:a="http://schemas.openxmlformats.org/drawingml/2006/main" noGrp="1"/>
          </p:cNvSpPr>
          <p:nvPr/>
        </p:nvSpPr>
        <p:spPr>
          <a:xfrm xmlns:a="http://schemas.openxmlformats.org/drawingml/2006/main">
            <a:off x="457200" y="2514600"/>
            <a:ext cx="3524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625" b="1">
                <a:solidFill>
                  <a:srgbClr val="F4F7FA"/>
                </a:solidFill>
                <a:latin typeface="DejaVu Sans"/>
                <a:ea typeface="DejaVu Sans"/>
                <a:cs typeface="DejaVu Sans"/>
              </a:defRPr>
            </a:pPr>
            <a:r>
              <a:rPr sz="2625" b="1">
                <a:solidFill>
                  <a:srgbClr val="F4F7FA"/>
                </a:solidFill>
                <a:latin typeface="DejaVu Sans"/>
                <a:ea typeface="DejaVu Sans"/>
                <a:cs typeface="DejaVu Sans"/>
              </a:rPr>
              <a:t>Button A → Window B</a:t>
            </a:r>
          </a:p>
        </p:txBody>
      </p:sp>
      <p:sp>
        <p:nvSpPr>
          <p:cNvPr id="6" name="">
            <a:extLst xmlns:a="http://schemas.openxmlformats.org/drawingml/2006/main">
              <a:ext uri="{FF2B5EF4-FFF2-40B4-BE49-F238E27FC236}">
                <a16:creationId xmlns:a16="http://schemas.microsoft.com/office/drawing/2014/main" id="{932B0546-6700-4695-B9B8-1D165C14A2FD}"/>
              </a:ext>
            </a:extLst>
          </p:cNvPr>
          <p:cNvSpPr>
            <a:spLocks xmlns:a="http://schemas.openxmlformats.org/drawingml/2006/main" noGrp="1"/>
          </p:cNvSpPr>
          <p:nvPr/>
        </p:nvSpPr>
        <p:spPr>
          <a:xfrm xmlns:a="http://schemas.openxmlformats.org/drawingml/2006/main">
            <a:off x="4486275" y="1724025"/>
            <a:ext cx="704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28C7F7"/>
                </a:solidFill>
                <a:latin typeface="DejaVu Sans"/>
                <a:ea typeface="DejaVu Sans"/>
                <a:cs typeface="DejaVu Sans"/>
              </a:defRPr>
            </a:pPr>
            <a:r>
              <a:rPr sz="1800" b="1">
                <a:solidFill>
                  <a:srgbClr val="28C7F7"/>
                </a:solidFill>
                <a:latin typeface="DejaVu Sans"/>
                <a:ea typeface="DejaVu Sans"/>
                <a:cs typeface="DejaVu Sans"/>
              </a:rPr>
              <a:t>NEW</a:t>
            </a:r>
          </a:p>
        </p:txBody>
      </p:sp>
      <p:sp>
        <p:nvSpPr>
          <p:cNvPr id="7" name="">
            <a:extLst xmlns:a="http://schemas.openxmlformats.org/drawingml/2006/main">
              <a:ext uri="{FF2B5EF4-FFF2-40B4-BE49-F238E27FC236}">
                <a16:creationId xmlns:a16="http://schemas.microsoft.com/office/drawing/2014/main" id="{C0799F0E-D879-4F03-B778-1E2593BB1DE7}"/>
              </a:ext>
            </a:extLst>
          </p:cNvPr>
          <p:cNvSpPr>
            <a:spLocks xmlns:a="http://schemas.openxmlformats.org/drawingml/2006/main" noGrp="1"/>
          </p:cNvSpPr>
          <p:nvPr/>
        </p:nvSpPr>
        <p:spPr>
          <a:xfrm xmlns:a="http://schemas.openxmlformats.org/drawingml/2006/main">
            <a:off x="4476750" y="2276475"/>
            <a:ext cx="5248275" cy="2705100"/>
          </a:xfrm>
          <a:prstGeom xmlns:a="http://schemas.openxmlformats.org/drawingml/2006/main" prst="rect">
            <a:avLst/>
          </a:prstGeom>
          <a:solidFill xmlns:a="http://schemas.openxmlformats.org/drawingml/2006/main">
            <a:srgbClr val="0B0F14"/>
          </a:solidFill>
          <a:ln xmlns:a="http://schemas.openxmlformats.org/drawingml/2006/main" w="19050">
            <a:solidFill>
              <a:srgbClr val="F5B61C"/>
            </a:solidFill>
            <a:prstDash val="solid"/>
          </a:ln>
        </p:spPr>
      </p:sp>
      <p:sp>
        <p:nvSpPr>
          <p:cNvPr id="8" name="">
            <a:extLst xmlns:a="http://schemas.openxmlformats.org/drawingml/2006/main">
              <a:ext uri="{FF2B5EF4-FFF2-40B4-BE49-F238E27FC236}">
                <a16:creationId xmlns:a16="http://schemas.microsoft.com/office/drawing/2014/main" id="{DA2B6657-FA14-40D7-87A1-D7773AC66797}"/>
              </a:ext>
            </a:extLst>
          </p:cNvPr>
          <p:cNvSpPr>
            <a:spLocks xmlns:a="http://schemas.openxmlformats.org/drawingml/2006/main" noGrp="1"/>
          </p:cNvSpPr>
          <p:nvPr/>
        </p:nvSpPr>
        <p:spPr>
          <a:xfrm xmlns:a="http://schemas.openxmlformats.org/drawingml/2006/main">
            <a:off x="4724400" y="2781300"/>
            <a:ext cx="4857750" cy="1905000"/>
          </a:xfrm>
          <a:prstGeom xmlns:a="http://schemas.openxmlformats.org/drawingml/2006/main" prst="rect">
            <a:avLst/>
          </a:prstGeom>
          <a:solidFill xmlns:a="http://schemas.openxmlformats.org/drawingml/2006/main">
            <a:srgbClr val="141C26"/>
          </a:solidFill>
          <a:ln xmlns:a="http://schemas.openxmlformats.org/drawingml/2006/main" w="19050">
            <a:solidFill>
              <a:srgbClr val="28C7F7"/>
            </a:solidFill>
            <a:prstDash val="solid"/>
          </a:ln>
        </p:spPr>
      </p:sp>
      <p:sp>
        <p:nvSpPr>
          <p:cNvPr id="9" name="">
            <a:extLst xmlns:a="http://schemas.openxmlformats.org/drawingml/2006/main">
              <a:ext uri="{FF2B5EF4-FFF2-40B4-BE49-F238E27FC236}">
                <a16:creationId xmlns:a16="http://schemas.microsoft.com/office/drawing/2014/main" id="{46DB0AAE-7A64-4FB7-89BE-F1DA0C2D16C0}"/>
              </a:ext>
            </a:extLst>
          </p:cNvPr>
          <p:cNvSpPr>
            <a:spLocks xmlns:a="http://schemas.openxmlformats.org/drawingml/2006/main" noGrp="1"/>
          </p:cNvSpPr>
          <p:nvPr/>
        </p:nvSpPr>
        <p:spPr>
          <a:xfrm xmlns:a="http://schemas.openxmlformats.org/drawingml/2006/main">
            <a:off x="4933950" y="2933700"/>
            <a:ext cx="4495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DejaVu Sans"/>
                <a:ea typeface="DejaVu Sans"/>
                <a:cs typeface="DejaVu Sans"/>
              </a:defRPr>
            </a:pPr>
            <a:r>
              <a:rPr sz="1500" b="1">
                <a:solidFill>
                  <a:srgbClr val="28C7F7"/>
                </a:solidFill>
                <a:latin typeface="DejaVu Sans"/>
                <a:ea typeface="DejaVu Sans"/>
                <a:cs typeface="DejaVu Sans"/>
              </a:rPr>
              <a:t>APPROVED OPERATING ENVELOPE</a:t>
            </a:r>
          </a:p>
        </p:txBody>
      </p:sp>
      <p:sp>
        <p:nvSpPr>
          <p:cNvPr id="10" name="">
            <a:extLst xmlns:a="http://schemas.openxmlformats.org/drawingml/2006/main">
              <a:ext uri="{FF2B5EF4-FFF2-40B4-BE49-F238E27FC236}">
                <a16:creationId xmlns:a16="http://schemas.microsoft.com/office/drawing/2014/main" id="{8E9C079A-BFEF-4EEB-97A0-6AE9E6F81EF4}"/>
              </a:ext>
            </a:extLst>
          </p:cNvPr>
          <p:cNvSpPr>
            <a:spLocks xmlns:a="http://schemas.openxmlformats.org/drawingml/2006/main" noGrp="1"/>
          </p:cNvSpPr>
          <p:nvPr/>
        </p:nvSpPr>
        <p:spPr>
          <a:xfrm xmlns:a="http://schemas.openxmlformats.org/drawingml/2006/main">
            <a:off x="4933950" y="3409950"/>
            <a:ext cx="4476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4F7FA"/>
                </a:solidFill>
                <a:latin typeface="DejaVu Sans"/>
                <a:ea typeface="DejaVu Sans"/>
                <a:cs typeface="DejaVu Sans"/>
              </a:defRPr>
            </a:pPr>
            <a:r>
              <a:rPr sz="1725" b="0">
                <a:solidFill>
                  <a:srgbClr val="F4F7FA"/>
                </a:solidFill>
                <a:latin typeface="DejaVu Sans"/>
                <a:ea typeface="DejaVu Sans"/>
                <a:cs typeface="DejaVu Sans"/>
              </a:rPr>
              <a:t>Topics &amp; sources</a:t>
            </a:r>
          </a:p>
        </p:txBody>
      </p:sp>
      <p:sp>
        <p:nvSpPr>
          <p:cNvPr id="11" name="">
            <a:extLst xmlns:a="http://schemas.openxmlformats.org/drawingml/2006/main">
              <a:ext uri="{FF2B5EF4-FFF2-40B4-BE49-F238E27FC236}">
                <a16:creationId xmlns:a16="http://schemas.microsoft.com/office/drawing/2014/main" id="{6543DFD7-26EA-4D73-BF5E-DCC0BA00BD80}"/>
              </a:ext>
            </a:extLst>
          </p:cNvPr>
          <p:cNvSpPr>
            <a:spLocks xmlns:a="http://schemas.openxmlformats.org/drawingml/2006/main" noGrp="1"/>
          </p:cNvSpPr>
          <p:nvPr/>
        </p:nvSpPr>
        <p:spPr>
          <a:xfrm xmlns:a="http://schemas.openxmlformats.org/drawingml/2006/main">
            <a:off x="4933950" y="3705225"/>
            <a:ext cx="4476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4F7FA"/>
                </a:solidFill>
                <a:latin typeface="DejaVu Sans"/>
                <a:ea typeface="DejaVu Sans"/>
                <a:cs typeface="DejaVu Sans"/>
              </a:defRPr>
            </a:pPr>
            <a:r>
              <a:rPr sz="1725" b="0">
                <a:solidFill>
                  <a:srgbClr val="F4F7FA"/>
                </a:solidFill>
                <a:latin typeface="DejaVu Sans"/>
                <a:ea typeface="DejaVu Sans"/>
                <a:cs typeface="DejaVu Sans"/>
              </a:rPr>
              <a:t>Constraints</a:t>
            </a:r>
          </a:p>
        </p:txBody>
      </p:sp>
      <p:sp>
        <p:nvSpPr>
          <p:cNvPr id="12" name="">
            <a:extLst xmlns:a="http://schemas.openxmlformats.org/drawingml/2006/main">
              <a:ext uri="{FF2B5EF4-FFF2-40B4-BE49-F238E27FC236}">
                <a16:creationId xmlns:a16="http://schemas.microsoft.com/office/drawing/2014/main" id="{143C0519-9BF2-4A7A-84D0-B676C157B735}"/>
              </a:ext>
            </a:extLst>
          </p:cNvPr>
          <p:cNvSpPr>
            <a:spLocks xmlns:a="http://schemas.openxmlformats.org/drawingml/2006/main" noGrp="1"/>
          </p:cNvSpPr>
          <p:nvPr/>
        </p:nvSpPr>
        <p:spPr>
          <a:xfrm xmlns:a="http://schemas.openxmlformats.org/drawingml/2006/main">
            <a:off x="4933950" y="4000500"/>
            <a:ext cx="4476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4F7FA"/>
                </a:solidFill>
                <a:latin typeface="DejaVu Sans"/>
                <a:ea typeface="DejaVu Sans"/>
                <a:cs typeface="DejaVu Sans"/>
              </a:defRPr>
            </a:pPr>
            <a:r>
              <a:rPr sz="1725" b="0">
                <a:solidFill>
                  <a:srgbClr val="F4F7FA"/>
                </a:solidFill>
                <a:latin typeface="DejaVu Sans"/>
                <a:ea typeface="DejaVu Sans"/>
                <a:cs typeface="DejaVu Sans"/>
              </a:rPr>
              <a:t>Acceptable semantic movement</a:t>
            </a:r>
          </a:p>
        </p:txBody>
      </p:sp>
      <p:sp>
        <p:nvSpPr>
          <p:cNvPr id="13" name="">
            <a:extLst xmlns:a="http://schemas.openxmlformats.org/drawingml/2006/main">
              <a:ext uri="{FF2B5EF4-FFF2-40B4-BE49-F238E27FC236}">
                <a16:creationId xmlns:a16="http://schemas.microsoft.com/office/drawing/2014/main" id="{3CCFE214-417C-40F8-84C6-AD439371B0AA}"/>
              </a:ext>
            </a:extLst>
          </p:cNvPr>
          <p:cNvSpPr>
            <a:spLocks xmlns:a="http://schemas.openxmlformats.org/drawingml/2006/main" noGrp="1"/>
          </p:cNvSpPr>
          <p:nvPr/>
        </p:nvSpPr>
        <p:spPr>
          <a:xfrm xmlns:a="http://schemas.openxmlformats.org/drawingml/2006/main">
            <a:off x="4933950" y="4295775"/>
            <a:ext cx="4476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4F7FA"/>
                </a:solidFill>
                <a:latin typeface="DejaVu Sans"/>
                <a:ea typeface="DejaVu Sans"/>
                <a:cs typeface="DejaVu Sans"/>
              </a:defRPr>
            </a:pPr>
            <a:r>
              <a:rPr sz="1725" b="0">
                <a:solidFill>
                  <a:srgbClr val="F4F7FA"/>
                </a:solidFill>
                <a:latin typeface="DejaVu Sans"/>
                <a:ea typeface="DejaVu Sans"/>
                <a:cs typeface="DejaVu Sans"/>
              </a:rPr>
              <a:t>Business risk</a:t>
            </a:r>
          </a:p>
        </p:txBody>
      </p:sp>
      <p:sp>
        <p:nvSpPr>
          <p:cNvPr id="14" name="">
            <a:extLst xmlns:a="http://schemas.openxmlformats.org/drawingml/2006/main">
              <a:ext uri="{FF2B5EF4-FFF2-40B4-BE49-F238E27FC236}">
                <a16:creationId xmlns:a16="http://schemas.microsoft.com/office/drawing/2014/main" id="{282C0BE1-CEBB-4102-A89A-E6F9779D4F94}"/>
              </a:ext>
            </a:extLst>
          </p:cNvPr>
          <p:cNvSpPr>
            <a:spLocks xmlns:a="http://schemas.openxmlformats.org/drawingml/2006/main" noGrp="1"/>
          </p:cNvSpPr>
          <p:nvPr/>
        </p:nvSpPr>
        <p:spPr>
          <a:xfrm xmlns:a="http://schemas.openxmlformats.org/drawingml/2006/main">
            <a:off x="4648200" y="2371725"/>
            <a:ext cx="6667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F5B61C"/>
                </a:solidFill>
                <a:latin typeface="DejaVu Sans"/>
                <a:ea typeface="DejaVu Sans"/>
                <a:cs typeface="DejaVu Sans"/>
              </a:defRPr>
            </a:pPr>
            <a:r>
              <a:rPr sz="1800" b="0">
                <a:solidFill>
                  <a:srgbClr val="F5B61C"/>
                </a:solidFill>
                <a:latin typeface="DejaVu Sans"/>
                <a:ea typeface="DejaVu Sans"/>
                <a:cs typeface="DejaVu Sans"/>
              </a:rPr>
              <a:t>Clarify / escalate</a:t>
            </a:r>
          </a:p>
        </p:txBody>
      </p:sp>
      <p:sp>
        <p:nvSpPr>
          <p:cNvPr id="15" name="">
            <a:extLst xmlns:a="http://schemas.openxmlformats.org/drawingml/2006/main">
              <a:ext uri="{FF2B5EF4-FFF2-40B4-BE49-F238E27FC236}">
                <a16:creationId xmlns:a16="http://schemas.microsoft.com/office/drawing/2014/main" id="{009CD0DA-8286-4E21-84C2-18090C88D576}"/>
              </a:ext>
            </a:extLst>
          </p:cNvPr>
          <p:cNvSpPr>
            <a:spLocks xmlns:a="http://schemas.openxmlformats.org/drawingml/2006/main" noGrp="1"/>
          </p:cNvSpPr>
          <p:nvPr/>
        </p:nvSpPr>
        <p:spPr>
          <a:xfrm xmlns:a="http://schemas.openxmlformats.org/drawingml/2006/main">
            <a:off x="9906000" y="3209925"/>
            <a:ext cx="1676400" cy="1047750"/>
          </a:xfrm>
          <a:prstGeom xmlns:a="http://schemas.openxmlformats.org/drawingml/2006/main" prst="rect">
            <a:avLst/>
          </a:prstGeom>
          <a:solidFill xmlns:a="http://schemas.openxmlformats.org/drawingml/2006/main">
            <a:srgbClr val="0B0F14"/>
          </a:solidFill>
          <a:ln xmlns:a="http://schemas.openxmlformats.org/drawingml/2006/main" w="19050">
            <a:solidFill>
              <a:srgbClr val="FF6B75"/>
            </a:solidFill>
            <a:prstDash val="solid"/>
          </a:ln>
        </p:spPr>
      </p:sp>
      <p:sp>
        <p:nvSpPr>
          <p:cNvPr id="16" name="">
            <a:extLst xmlns:a="http://schemas.openxmlformats.org/drawingml/2006/main">
              <a:ext uri="{FF2B5EF4-FFF2-40B4-BE49-F238E27FC236}">
                <a16:creationId xmlns:a16="http://schemas.microsoft.com/office/drawing/2014/main" id="{DA7A7A99-E39F-4424-94E0-A35AC1EA5E91}"/>
              </a:ext>
            </a:extLst>
          </p:cNvPr>
          <p:cNvSpPr>
            <a:spLocks xmlns:a="http://schemas.openxmlformats.org/drawingml/2006/main" noGrp="1"/>
          </p:cNvSpPr>
          <p:nvPr/>
        </p:nvSpPr>
        <p:spPr>
          <a:xfrm xmlns:a="http://schemas.openxmlformats.org/drawingml/2006/main">
            <a:off x="9944100" y="3457575"/>
            <a:ext cx="16002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FF6B75"/>
                </a:solidFill>
                <a:latin typeface="DejaVu Sans"/>
                <a:ea typeface="DejaVu Sans"/>
                <a:cs typeface="DejaVu Sans"/>
              </a:defRPr>
            </a:pPr>
            <a:r>
              <a:rPr sz="1500" b="1">
                <a:solidFill>
                  <a:srgbClr val="FF6B75"/>
                </a:solidFill>
                <a:latin typeface="DejaVu Sans"/>
                <a:ea typeface="DejaVu Sans"/>
                <a:cs typeface="DejaVu Sans"/>
              </a:rPr>
              <a:t>FORBIDDEN</a:t>
            </a:r>
          </a:p>
        </p:txBody>
      </p:sp>
      <p:sp>
        <p:nvSpPr>
          <p:cNvPr id="17" name="">
            <a:extLst xmlns:a="http://schemas.openxmlformats.org/drawingml/2006/main">
              <a:ext uri="{FF2B5EF4-FFF2-40B4-BE49-F238E27FC236}">
                <a16:creationId xmlns:a16="http://schemas.microsoft.com/office/drawing/2014/main" id="{E0F5B05B-346A-47DB-91F3-C0E6DD79350E}"/>
              </a:ext>
            </a:extLst>
          </p:cNvPr>
          <p:cNvSpPr>
            <a:spLocks xmlns:a="http://schemas.openxmlformats.org/drawingml/2006/main" noGrp="1"/>
          </p:cNvSpPr>
          <p:nvPr/>
        </p:nvSpPr>
        <p:spPr>
          <a:xfrm xmlns:a="http://schemas.openxmlformats.org/drawingml/2006/main">
            <a:off x="457200" y="5524500"/>
            <a:ext cx="112776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1">
                <a:solidFill>
                  <a:srgbClr val="F4F7FA"/>
                </a:solidFill>
                <a:latin typeface="DejaVu Sans"/>
                <a:ea typeface="DejaVu Sans"/>
                <a:cs typeface="DejaVu Sans"/>
              </a:defRPr>
            </a:pPr>
            <a:r>
              <a:rPr sz="2250" b="1">
                <a:solidFill>
                  <a:srgbClr val="F4F7FA"/>
                </a:solidFill>
                <a:latin typeface="DejaVu Sans"/>
                <a:ea typeface="DejaVu Sans"/>
                <a:cs typeface="DejaVu Sans"/>
              </a:rPr>
              <a:t>Requirements define where acceptable behavior may exist.</a:t>
            </a:r>
          </a:p>
        </p:txBody>
      </p:sp>
    </p:spTree>
    <p:extLst>
      <p:ext uri="{BB962C8B-B14F-4D97-AF65-F5344CB8AC3E}">
        <p14:creationId xmlns:p14="http://schemas.microsoft.com/office/powerpoint/2010/main" val="356454262"/>
      </p:ext>
    </p:extLst>
  </p:cSld>
</p:sld>
</file>

<file path=ppt/slides/slide10.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93DA0423-29EB-4AD8-97EB-F86C6175F6AE}"/>
              </a:ext>
            </a:extLst>
          </p:cNvPr>
          <p:cNvSpPr>
            <a:spLocks xmlns:a="http://schemas.openxmlformats.org/drawingml/2006/main" noGrp="1"/>
          </p:cNvSpPr>
          <p:nvPr/>
        </p:nvSpPr>
        <p:spPr>
          <a:xfrm xmlns:a="http://schemas.openxmlformats.org/drawingml/2006/main">
            <a:off x="457200" y="333375"/>
            <a:ext cx="11277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150" b="1">
                <a:solidFill>
                  <a:srgbClr val="F4F7FA"/>
                </a:solidFill>
                <a:latin typeface="DejaVu Sans"/>
                <a:ea typeface="DejaVu Sans"/>
                <a:cs typeface="DejaVu Sans"/>
              </a:defRPr>
            </a:pPr>
            <a:r>
              <a:rPr sz="3150" b="1">
                <a:solidFill>
                  <a:srgbClr val="F4F7FA"/>
                </a:solidFill>
                <a:latin typeface="DejaVu Sans"/>
                <a:ea typeface="DejaVu Sans"/>
                <a:cs typeface="DejaVu Sans"/>
              </a:rPr>
              <a:t>One Green Test Proves Almost Nothing</a:t>
            </a:r>
          </a:p>
        </p:txBody>
      </p:sp>
      <p:sp>
        <p:nvSpPr>
          <p:cNvPr id="2" name="">
            <a:extLst xmlns:a="http://schemas.openxmlformats.org/drawingml/2006/main">
              <a:ext uri="{FF2B5EF4-FFF2-40B4-BE49-F238E27FC236}">
                <a16:creationId xmlns:a16="http://schemas.microsoft.com/office/drawing/2014/main" id="{0F7673F3-43CB-46BA-8EA1-A4F80184BE51}"/>
              </a:ext>
            </a:extLst>
          </p:cNvPr>
          <p:cNvSpPr>
            <a:spLocks xmlns:a="http://schemas.openxmlformats.org/drawingml/2006/main" noGrp="1"/>
          </p:cNvSpPr>
          <p:nvPr/>
        </p:nvSpPr>
        <p:spPr>
          <a:xfrm xmlns:a="http://schemas.openxmlformats.org/drawingml/2006/main" flipH="0" flipV="0">
            <a:off x="457200" y="1381125"/>
            <a:ext cx="112776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6965C6F8-3323-487C-81A8-04C36441F17C}"/>
              </a:ext>
            </a:extLst>
          </p:cNvPr>
          <p:cNvSpPr>
            <a:spLocks xmlns:a="http://schemas.openxmlformats.org/drawingml/2006/main" noGrp="1"/>
          </p:cNvSpPr>
          <p:nvPr/>
        </p:nvSpPr>
        <p:spPr>
          <a:xfrm xmlns:a="http://schemas.openxmlformats.org/drawingml/2006/main">
            <a:off x="11287125" y="6477000"/>
            <a:ext cx="4476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75" b="0">
                <a:solidFill>
                  <a:srgbClr val="ADB8C5"/>
                </a:solidFill>
                <a:latin typeface="DejaVu Sans"/>
                <a:ea typeface="DejaVu Sans"/>
                <a:cs typeface="DejaVu Sans"/>
              </a:defRPr>
            </a:pPr>
            <a:r>
              <a:rPr sz="1275" b="0">
                <a:solidFill>
                  <a:srgbClr val="ADB8C5"/>
                </a:solidFill>
                <a:latin typeface="DejaVu Sans"/>
                <a:ea typeface="DejaVu Sans"/>
                <a:cs typeface="DejaVu Sans"/>
              </a:rPr>
              <a:t>10</a:t>
            </a:r>
          </a:p>
        </p:txBody>
      </p:sp>
      <p:sp>
        <p:nvSpPr>
          <p:cNvPr id="4" name="">
            <a:extLst xmlns:a="http://schemas.openxmlformats.org/drawingml/2006/main">
              <a:ext uri="{FF2B5EF4-FFF2-40B4-BE49-F238E27FC236}">
                <a16:creationId xmlns:a16="http://schemas.microsoft.com/office/drawing/2014/main" id="{61CC7C09-2859-4102-B412-50EF2EA2F82B}"/>
              </a:ext>
            </a:extLst>
          </p:cNvPr>
          <p:cNvSpPr>
            <a:spLocks xmlns:a="http://schemas.openxmlformats.org/drawingml/2006/main" noGrp="1"/>
          </p:cNvSpPr>
          <p:nvPr/>
        </p:nvSpPr>
        <p:spPr>
          <a:xfrm xmlns:a="http://schemas.openxmlformats.org/drawingml/2006/main">
            <a:off x="457200" y="1685925"/>
            <a:ext cx="11277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0">
                <a:solidFill>
                  <a:srgbClr val="ADB8C5"/>
                </a:solidFill>
                <a:latin typeface="DejaVu Sans"/>
                <a:ea typeface="DejaVu Sans"/>
                <a:cs typeface="DejaVu Sans"/>
              </a:defRPr>
            </a:pPr>
            <a:r>
              <a:rPr sz="2100" b="0">
                <a:solidFill>
                  <a:srgbClr val="ADB8C5"/>
                </a:solidFill>
                <a:latin typeface="DejaVu Sans"/>
                <a:ea typeface="DejaVu Sans"/>
                <a:cs typeface="DejaVu Sans"/>
              </a:rPr>
              <a:t>Input → Expected Output → PASS</a:t>
            </a:r>
          </a:p>
        </p:txBody>
      </p:sp>
      <p:sp>
        <p:nvSpPr>
          <p:cNvPr id="5" name="">
            <a:extLst xmlns:a="http://schemas.openxmlformats.org/drawingml/2006/main">
              <a:ext uri="{FF2B5EF4-FFF2-40B4-BE49-F238E27FC236}">
                <a16:creationId xmlns:a16="http://schemas.microsoft.com/office/drawing/2014/main" id="{160C68EA-C7BC-43CB-8034-D1DA21DEB6DA}"/>
              </a:ext>
            </a:extLst>
          </p:cNvPr>
          <p:cNvSpPr>
            <a:spLocks xmlns:a="http://schemas.openxmlformats.org/drawingml/2006/main" noGrp="1"/>
          </p:cNvSpPr>
          <p:nvPr/>
        </p:nvSpPr>
        <p:spPr>
          <a:xfrm xmlns:a="http://schemas.openxmlformats.org/drawingml/2006/main">
            <a:off x="457200" y="2524125"/>
            <a:ext cx="2114550" cy="8763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6" name="">
            <a:extLst xmlns:a="http://schemas.openxmlformats.org/drawingml/2006/main">
              <a:ext uri="{FF2B5EF4-FFF2-40B4-BE49-F238E27FC236}">
                <a16:creationId xmlns:a16="http://schemas.microsoft.com/office/drawing/2014/main" id="{662C6965-3E0B-48FF-A64F-74B9E4C414CB}"/>
              </a:ext>
            </a:extLst>
          </p:cNvPr>
          <p:cNvSpPr>
            <a:spLocks xmlns:a="http://schemas.openxmlformats.org/drawingml/2006/main" noGrp="1"/>
          </p:cNvSpPr>
          <p:nvPr/>
        </p:nvSpPr>
        <p:spPr>
          <a:xfrm xmlns:a="http://schemas.openxmlformats.org/drawingml/2006/main">
            <a:off x="571500" y="2600325"/>
            <a:ext cx="18859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950" b="1">
                <a:solidFill>
                  <a:srgbClr val="F4F7FA"/>
                </a:solidFill>
                <a:latin typeface="DejaVu Sans"/>
                <a:ea typeface="DejaVu Sans"/>
                <a:cs typeface="DejaVu Sans"/>
              </a:defRPr>
            </a:pPr>
            <a:r>
              <a:rPr sz="1950" b="1">
                <a:solidFill>
                  <a:srgbClr val="F4F7FA"/>
                </a:solidFill>
                <a:latin typeface="DejaVu Sans"/>
                <a:ea typeface="DejaVu Sans"/>
                <a:cs typeface="DejaVu Sans"/>
              </a:rPr>
              <a:t>Golden Set</a:t>
            </a:r>
          </a:p>
        </p:txBody>
      </p:sp>
      <p:sp>
        <p:nvSpPr>
          <p:cNvPr id="7" name="">
            <a:extLst xmlns:a="http://schemas.openxmlformats.org/drawingml/2006/main">
              <a:ext uri="{FF2B5EF4-FFF2-40B4-BE49-F238E27FC236}">
                <a16:creationId xmlns:a16="http://schemas.microsoft.com/office/drawing/2014/main" id="{EFEAA75E-4B88-4506-B8AA-DD18EC1EE8F1}"/>
              </a:ext>
            </a:extLst>
          </p:cNvPr>
          <p:cNvSpPr>
            <a:spLocks xmlns:a="http://schemas.openxmlformats.org/drawingml/2006/main" noGrp="1"/>
          </p:cNvSpPr>
          <p:nvPr/>
        </p:nvSpPr>
        <p:spPr>
          <a:xfrm xmlns:a="http://schemas.openxmlformats.org/drawingml/2006/main">
            <a:off x="2743200" y="2524125"/>
            <a:ext cx="2114550" cy="8763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8" name="">
            <a:extLst xmlns:a="http://schemas.openxmlformats.org/drawingml/2006/main">
              <a:ext uri="{FF2B5EF4-FFF2-40B4-BE49-F238E27FC236}">
                <a16:creationId xmlns:a16="http://schemas.microsoft.com/office/drawing/2014/main" id="{4803B44A-4173-4D80-A6C2-A556EB05E4A7}"/>
              </a:ext>
            </a:extLst>
          </p:cNvPr>
          <p:cNvSpPr>
            <a:spLocks xmlns:a="http://schemas.openxmlformats.org/drawingml/2006/main" noGrp="1"/>
          </p:cNvSpPr>
          <p:nvPr/>
        </p:nvSpPr>
        <p:spPr>
          <a:xfrm xmlns:a="http://schemas.openxmlformats.org/drawingml/2006/main">
            <a:off x="2857500" y="2600325"/>
            <a:ext cx="18859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950" b="1">
                <a:solidFill>
                  <a:srgbClr val="F4F7FA"/>
                </a:solidFill>
                <a:latin typeface="DejaVu Sans"/>
                <a:ea typeface="DejaVu Sans"/>
                <a:cs typeface="DejaVu Sans"/>
              </a:defRPr>
            </a:pPr>
            <a:r>
              <a:rPr sz="1950" b="1">
                <a:solidFill>
                  <a:srgbClr val="F4F7FA"/>
                </a:solidFill>
                <a:latin typeface="DejaVu Sans"/>
                <a:ea typeface="DejaVu Sans"/>
                <a:cs typeface="DejaVu Sans"/>
              </a:rPr>
              <a:t>Repeated runs</a:t>
            </a:r>
          </a:p>
        </p:txBody>
      </p:sp>
      <p:sp>
        <p:nvSpPr>
          <p:cNvPr id="9" name="">
            <a:extLst xmlns:a="http://schemas.openxmlformats.org/drawingml/2006/main">
              <a:ext uri="{FF2B5EF4-FFF2-40B4-BE49-F238E27FC236}">
                <a16:creationId xmlns:a16="http://schemas.microsoft.com/office/drawing/2014/main" id="{8AC9B0CD-CB0D-47C5-BA3E-AA5BE0C95274}"/>
              </a:ext>
            </a:extLst>
          </p:cNvPr>
          <p:cNvSpPr>
            <a:spLocks xmlns:a="http://schemas.openxmlformats.org/drawingml/2006/main" noGrp="1"/>
          </p:cNvSpPr>
          <p:nvPr/>
        </p:nvSpPr>
        <p:spPr>
          <a:xfrm xmlns:a="http://schemas.openxmlformats.org/drawingml/2006/main">
            <a:off x="5029200" y="2524125"/>
            <a:ext cx="2114550" cy="8763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0" name="">
            <a:extLst xmlns:a="http://schemas.openxmlformats.org/drawingml/2006/main">
              <a:ext uri="{FF2B5EF4-FFF2-40B4-BE49-F238E27FC236}">
                <a16:creationId xmlns:a16="http://schemas.microsoft.com/office/drawing/2014/main" id="{33A9430C-E0FB-463B-9065-B5CFAEDC3850}"/>
              </a:ext>
            </a:extLst>
          </p:cNvPr>
          <p:cNvSpPr>
            <a:spLocks xmlns:a="http://schemas.openxmlformats.org/drawingml/2006/main" noGrp="1"/>
          </p:cNvSpPr>
          <p:nvPr/>
        </p:nvSpPr>
        <p:spPr>
          <a:xfrm xmlns:a="http://schemas.openxmlformats.org/drawingml/2006/main">
            <a:off x="5143500" y="2600325"/>
            <a:ext cx="18859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950" b="1">
                <a:solidFill>
                  <a:srgbClr val="F4F7FA"/>
                </a:solidFill>
                <a:latin typeface="DejaVu Sans"/>
                <a:ea typeface="DejaVu Sans"/>
                <a:cs typeface="DejaVu Sans"/>
              </a:defRPr>
            </a:pPr>
            <a:r>
              <a:rPr sz="1950" b="1">
                <a:solidFill>
                  <a:srgbClr val="F4F7FA"/>
                </a:solidFill>
                <a:latin typeface="DejaVu Sans"/>
                <a:ea typeface="DejaVu Sans"/>
                <a:cs typeface="DejaVu Sans"/>
              </a:rPr>
              <a:t>Distribution</a:t>
            </a:r>
          </a:p>
        </p:txBody>
      </p:sp>
      <p:sp>
        <p:nvSpPr>
          <p:cNvPr id="11" name="">
            <a:extLst xmlns:a="http://schemas.openxmlformats.org/drawingml/2006/main">
              <a:ext uri="{FF2B5EF4-FFF2-40B4-BE49-F238E27FC236}">
                <a16:creationId xmlns:a16="http://schemas.microsoft.com/office/drawing/2014/main" id="{9E4F5E1C-DF47-4E4B-B432-929FECC337D1}"/>
              </a:ext>
            </a:extLst>
          </p:cNvPr>
          <p:cNvSpPr>
            <a:spLocks xmlns:a="http://schemas.openxmlformats.org/drawingml/2006/main" noGrp="1"/>
          </p:cNvSpPr>
          <p:nvPr/>
        </p:nvSpPr>
        <p:spPr>
          <a:xfrm xmlns:a="http://schemas.openxmlformats.org/drawingml/2006/main">
            <a:off x="7315200" y="2524125"/>
            <a:ext cx="2114550" cy="8763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2" name="">
            <a:extLst xmlns:a="http://schemas.openxmlformats.org/drawingml/2006/main">
              <a:ext uri="{FF2B5EF4-FFF2-40B4-BE49-F238E27FC236}">
                <a16:creationId xmlns:a16="http://schemas.microsoft.com/office/drawing/2014/main" id="{9B13AE46-19E4-46B3-BEA0-877F6BB98114}"/>
              </a:ext>
            </a:extLst>
          </p:cNvPr>
          <p:cNvSpPr>
            <a:spLocks xmlns:a="http://schemas.openxmlformats.org/drawingml/2006/main" noGrp="1"/>
          </p:cNvSpPr>
          <p:nvPr/>
        </p:nvSpPr>
        <p:spPr>
          <a:xfrm xmlns:a="http://schemas.openxmlformats.org/drawingml/2006/main">
            <a:off x="7429500" y="2600325"/>
            <a:ext cx="18859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950" b="1">
                <a:solidFill>
                  <a:srgbClr val="F4F7FA"/>
                </a:solidFill>
                <a:latin typeface="DejaVu Sans"/>
                <a:ea typeface="DejaVu Sans"/>
                <a:cs typeface="DejaVu Sans"/>
              </a:defRPr>
            </a:pPr>
            <a:r>
              <a:rPr sz="1950" b="1">
                <a:solidFill>
                  <a:srgbClr val="F4F7FA"/>
                </a:solidFill>
                <a:latin typeface="DejaVu Sans"/>
                <a:ea typeface="DejaVu Sans"/>
                <a:cs typeface="DejaVu Sans"/>
              </a:rPr>
              <a:t>Metric gates</a:t>
            </a:r>
          </a:p>
        </p:txBody>
      </p:sp>
      <p:sp>
        <p:nvSpPr>
          <p:cNvPr id="13" name="">
            <a:extLst xmlns:a="http://schemas.openxmlformats.org/drawingml/2006/main">
              <a:ext uri="{FF2B5EF4-FFF2-40B4-BE49-F238E27FC236}">
                <a16:creationId xmlns:a16="http://schemas.microsoft.com/office/drawing/2014/main" id="{C7043E83-D845-45F8-91FE-BF9B1184193E}"/>
              </a:ext>
            </a:extLst>
          </p:cNvPr>
          <p:cNvSpPr>
            <a:spLocks xmlns:a="http://schemas.openxmlformats.org/drawingml/2006/main" noGrp="1"/>
          </p:cNvSpPr>
          <p:nvPr/>
        </p:nvSpPr>
        <p:spPr>
          <a:xfrm xmlns:a="http://schemas.openxmlformats.org/drawingml/2006/main">
            <a:off x="9601200" y="2524125"/>
            <a:ext cx="2114550" cy="8763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4" name="">
            <a:extLst xmlns:a="http://schemas.openxmlformats.org/drawingml/2006/main">
              <a:ext uri="{FF2B5EF4-FFF2-40B4-BE49-F238E27FC236}">
                <a16:creationId xmlns:a16="http://schemas.microsoft.com/office/drawing/2014/main" id="{82C6D7DF-A23D-4B62-B567-4C4ED575CDD4}"/>
              </a:ext>
            </a:extLst>
          </p:cNvPr>
          <p:cNvSpPr>
            <a:spLocks xmlns:a="http://schemas.openxmlformats.org/drawingml/2006/main" noGrp="1"/>
          </p:cNvSpPr>
          <p:nvPr/>
        </p:nvSpPr>
        <p:spPr>
          <a:xfrm xmlns:a="http://schemas.openxmlformats.org/drawingml/2006/main">
            <a:off x="9715500" y="2600325"/>
            <a:ext cx="18859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950" b="1">
                <a:solidFill>
                  <a:srgbClr val="F4F7FA"/>
                </a:solidFill>
                <a:latin typeface="DejaVu Sans"/>
                <a:ea typeface="DejaVu Sans"/>
                <a:cs typeface="DejaVu Sans"/>
              </a:defRPr>
            </a:pPr>
            <a:r>
              <a:rPr sz="1950" b="1">
                <a:solidFill>
                  <a:srgbClr val="F4F7FA"/>
                </a:solidFill>
                <a:latin typeface="DejaVu Sans"/>
                <a:ea typeface="DejaVu Sans"/>
                <a:cs typeface="DejaVu Sans"/>
              </a:rPr>
              <a:t>Release</a:t>
            </a:r>
          </a:p>
        </p:txBody>
      </p:sp>
      <p:cxnSp>
        <p:nvCxnSpPr>
          <p:cNvPr id="38" name=""/>
          <p:cNvCxnSpPr>
            <a:stCxn xmlns:a="http://schemas.openxmlformats.org/drawingml/2006/main" id="5" idx="3"/>
            <a:endCxn xmlns:a="http://schemas.openxmlformats.org/drawingml/2006/main" id="7" idx="1"/>
          </p:cNvCxnSpPr>
          <p:nvPr/>
        </p:nvCxnSpPr>
        <p:spPr>
          <a:xfrm xmlns:a="http://schemas.openxmlformats.org/drawingml/2006/main">
            <a:off x="2571750" y="2962275"/>
            <a:ext cx="171450" cy="0"/>
          </a:xfrm>
          <a:prstGeom xmlns:a="http://schemas.openxmlformats.org/drawingml/2006/main" prst="straightConnector1">
            <a:avLst/>
          </a:prstGeom>
          <a:ln xmlns:a="http://schemas.openxmlformats.org/drawingml/2006/main" w="21908">
            <a:solidFill>
              <a:srgbClr val="ADB8C5"/>
            </a:solidFill>
            <a:prstDash val="solid"/>
            <a:tailEnd type="triangle" w="sm" len="sm"/>
          </a:ln>
        </p:spPr>
      </p:cxnSp>
      <p:cxnSp>
        <p:nvCxnSpPr>
          <p:cNvPr id="39" name=""/>
          <p:cNvCxnSpPr>
            <a:stCxn xmlns:a="http://schemas.openxmlformats.org/drawingml/2006/main" id="7" idx="3"/>
            <a:endCxn xmlns:a="http://schemas.openxmlformats.org/drawingml/2006/main" id="9" idx="1"/>
          </p:cNvCxnSpPr>
          <p:nvPr/>
        </p:nvCxnSpPr>
        <p:spPr>
          <a:xfrm xmlns:a="http://schemas.openxmlformats.org/drawingml/2006/main">
            <a:off x="4857750" y="2962275"/>
            <a:ext cx="171450" cy="0"/>
          </a:xfrm>
          <a:prstGeom xmlns:a="http://schemas.openxmlformats.org/drawingml/2006/main" prst="straightConnector1">
            <a:avLst/>
          </a:prstGeom>
          <a:ln xmlns:a="http://schemas.openxmlformats.org/drawingml/2006/main" w="21908">
            <a:solidFill>
              <a:srgbClr val="ADB8C5"/>
            </a:solidFill>
            <a:prstDash val="solid"/>
            <a:tailEnd type="triangle" w="sm" len="sm"/>
          </a:ln>
        </p:spPr>
      </p:cxnSp>
      <p:cxnSp>
        <p:nvCxnSpPr>
          <p:cNvPr id="40" name=""/>
          <p:cNvCxnSpPr>
            <a:stCxn xmlns:a="http://schemas.openxmlformats.org/drawingml/2006/main" id="9" idx="3"/>
            <a:endCxn xmlns:a="http://schemas.openxmlformats.org/drawingml/2006/main" id="11" idx="1"/>
          </p:cNvCxnSpPr>
          <p:nvPr/>
        </p:nvCxnSpPr>
        <p:spPr>
          <a:xfrm xmlns:a="http://schemas.openxmlformats.org/drawingml/2006/main">
            <a:off x="7143750" y="2962275"/>
            <a:ext cx="171450" cy="0"/>
          </a:xfrm>
          <a:prstGeom xmlns:a="http://schemas.openxmlformats.org/drawingml/2006/main" prst="straightConnector1">
            <a:avLst/>
          </a:prstGeom>
          <a:ln xmlns:a="http://schemas.openxmlformats.org/drawingml/2006/main" w="21908">
            <a:solidFill>
              <a:srgbClr val="ADB8C5"/>
            </a:solidFill>
            <a:prstDash val="solid"/>
            <a:tailEnd type="triangle" w="sm" len="sm"/>
          </a:ln>
        </p:spPr>
      </p:cxnSp>
      <p:cxnSp>
        <p:nvCxnSpPr>
          <p:cNvPr id="41" name=""/>
          <p:cNvCxnSpPr>
            <a:stCxn xmlns:a="http://schemas.openxmlformats.org/drawingml/2006/main" id="11" idx="3"/>
            <a:endCxn xmlns:a="http://schemas.openxmlformats.org/drawingml/2006/main" id="13" idx="1"/>
          </p:cNvCxnSpPr>
          <p:nvPr/>
        </p:nvCxnSpPr>
        <p:spPr>
          <a:xfrm xmlns:a="http://schemas.openxmlformats.org/drawingml/2006/main">
            <a:off x="9429750" y="2962275"/>
            <a:ext cx="171450" cy="0"/>
          </a:xfrm>
          <a:prstGeom xmlns:a="http://schemas.openxmlformats.org/drawingml/2006/main" prst="straightConnector1">
            <a:avLst/>
          </a:prstGeom>
          <a:ln xmlns:a="http://schemas.openxmlformats.org/drawingml/2006/main" w="21908">
            <a:solidFill>
              <a:srgbClr val="ADB8C5"/>
            </a:solidFill>
            <a:prstDash val="solid"/>
            <a:tailEnd type="triangle" w="sm" len="sm"/>
          </a:ln>
        </p:spPr>
      </p:cxnSp>
      <p:sp>
        <p:nvSpPr>
          <p:cNvPr id="19" name="">
            <a:extLst xmlns:a="http://schemas.openxmlformats.org/drawingml/2006/main">
              <a:ext uri="{FF2B5EF4-FFF2-40B4-BE49-F238E27FC236}">
                <a16:creationId xmlns:a16="http://schemas.microsoft.com/office/drawing/2014/main" id="{0C0A31FC-FA4D-4D7A-9D3D-9DC181572BF1}"/>
              </a:ext>
            </a:extLst>
          </p:cNvPr>
          <p:cNvSpPr>
            <a:spLocks xmlns:a="http://schemas.openxmlformats.org/drawingml/2006/main" noGrp="1"/>
          </p:cNvSpPr>
          <p:nvPr/>
        </p:nvSpPr>
        <p:spPr>
          <a:xfrm xmlns:a="http://schemas.openxmlformats.org/drawingml/2006/main">
            <a:off x="457200" y="3857625"/>
            <a:ext cx="44767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900" b="1">
                <a:solidFill>
                  <a:srgbClr val="28C7F7"/>
                </a:solidFill>
                <a:latin typeface="DejaVu Sans"/>
                <a:ea typeface="DejaVu Sans"/>
                <a:cs typeface="DejaVu Sans"/>
              </a:defRPr>
            </a:pPr>
            <a:r>
              <a:rPr sz="3900" b="1">
                <a:solidFill>
                  <a:srgbClr val="28C7F7"/>
                </a:solidFill>
                <a:latin typeface="DejaVu Sans"/>
                <a:ea typeface="DejaVu Sans"/>
                <a:cs typeface="DejaVu Sans"/>
              </a:rPr>
              <a:t>98% overall</a:t>
            </a:r>
          </a:p>
        </p:txBody>
      </p:sp>
      <p:sp>
        <p:nvSpPr>
          <p:cNvPr id="20" name="">
            <a:extLst xmlns:a="http://schemas.openxmlformats.org/drawingml/2006/main">
              <a:ext uri="{FF2B5EF4-FFF2-40B4-BE49-F238E27FC236}">
                <a16:creationId xmlns:a16="http://schemas.microsoft.com/office/drawing/2014/main" id="{3ED7C3B0-4934-4BF6-B4F3-1E73178C3E7E}"/>
              </a:ext>
            </a:extLst>
          </p:cNvPr>
          <p:cNvSpPr>
            <a:spLocks xmlns:a="http://schemas.openxmlformats.org/drawingml/2006/main" noGrp="1"/>
          </p:cNvSpPr>
          <p:nvPr/>
        </p:nvSpPr>
        <p:spPr>
          <a:xfrm xmlns:a="http://schemas.openxmlformats.org/drawingml/2006/main">
            <a:off x="5191125" y="3848100"/>
            <a:ext cx="6381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DejaVu Sans"/>
                <a:ea typeface="DejaVu Sans"/>
                <a:cs typeface="DejaVu Sans"/>
              </a:defRPr>
            </a:pPr>
            <a:r>
              <a:rPr sz="2250" b="1">
                <a:solidFill>
                  <a:srgbClr val="F4F7FA"/>
                </a:solidFill>
                <a:latin typeface="DejaVu Sans"/>
                <a:ea typeface="DejaVu Sans"/>
                <a:cs typeface="DejaVu Sans"/>
              </a:rPr>
              <a:t>1 critical boundary violation</a:t>
            </a:r>
          </a:p>
        </p:txBody>
      </p:sp>
      <p:sp>
        <p:nvSpPr>
          <p:cNvPr id="21" name="">
            <a:extLst xmlns:a="http://schemas.openxmlformats.org/drawingml/2006/main">
              <a:ext uri="{FF2B5EF4-FFF2-40B4-BE49-F238E27FC236}">
                <a16:creationId xmlns:a16="http://schemas.microsoft.com/office/drawing/2014/main" id="{77B9E83E-3497-4238-8363-44566F4BDC51}"/>
              </a:ext>
            </a:extLst>
          </p:cNvPr>
          <p:cNvSpPr>
            <a:spLocks xmlns:a="http://schemas.openxmlformats.org/drawingml/2006/main" noGrp="1"/>
          </p:cNvSpPr>
          <p:nvPr/>
        </p:nvSpPr>
        <p:spPr>
          <a:xfrm xmlns:a="http://schemas.openxmlformats.org/drawingml/2006/main">
            <a:off x="5191125" y="4476750"/>
            <a:ext cx="6381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FF6B75"/>
                </a:solidFill>
                <a:latin typeface="DejaVu Sans"/>
                <a:ea typeface="DejaVu Sans"/>
                <a:cs typeface="DejaVu Sans"/>
              </a:defRPr>
            </a:pPr>
            <a:r>
              <a:rPr sz="2475" b="1">
                <a:solidFill>
                  <a:srgbClr val="FF6B75"/>
                </a:solidFill>
                <a:latin typeface="DejaVu Sans"/>
                <a:ea typeface="DejaVu Sans"/>
                <a:cs typeface="DejaVu Sans"/>
              </a:rPr>
              <a:t>BLOCK RELEASE</a:t>
            </a:r>
          </a:p>
        </p:txBody>
      </p:sp>
      <p:sp>
        <p:nvSpPr>
          <p:cNvPr id="22" name="">
            <a:extLst xmlns:a="http://schemas.openxmlformats.org/drawingml/2006/main">
              <a:ext uri="{FF2B5EF4-FFF2-40B4-BE49-F238E27FC236}">
                <a16:creationId xmlns:a16="http://schemas.microsoft.com/office/drawing/2014/main" id="{C3C30FF6-FA4B-4CF8-A072-A9C8448AAE6E}"/>
              </a:ext>
            </a:extLst>
          </p:cNvPr>
          <p:cNvSpPr>
            <a:spLocks xmlns:a="http://schemas.openxmlformats.org/drawingml/2006/main" noGrp="1"/>
          </p:cNvSpPr>
          <p:nvPr/>
        </p:nvSpPr>
        <p:spPr>
          <a:xfrm xmlns:a="http://schemas.openxmlformats.org/drawingml/2006/main">
            <a:off x="457200" y="5143500"/>
            <a:ext cx="11277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DejaVu Sans"/>
                <a:ea typeface="DejaVu Sans"/>
                <a:cs typeface="DejaVu Sans"/>
              </a:defRPr>
            </a:pPr>
            <a:r>
              <a:rPr sz="1575" b="0">
                <a:solidFill>
                  <a:srgbClr val="ADB8C5"/>
                </a:solidFill>
                <a:latin typeface="DejaVu Sans"/>
                <a:ea typeface="DejaVu Sans"/>
                <a:cs typeface="DejaVu Sans"/>
              </a:rPr>
              <a:t>Illustrative: 196/200 acceptable evaluations; not a sample-size recommendation.</a:t>
            </a:r>
          </a:p>
        </p:txBody>
      </p:sp>
      <p:sp>
        <p:nvSpPr>
          <p:cNvPr id="23" name="">
            <a:extLst xmlns:a="http://schemas.openxmlformats.org/drawingml/2006/main">
              <a:ext uri="{FF2B5EF4-FFF2-40B4-BE49-F238E27FC236}">
                <a16:creationId xmlns:a16="http://schemas.microsoft.com/office/drawing/2014/main" id="{4664449D-151E-469E-9D64-C61780528AD7}"/>
              </a:ext>
            </a:extLst>
          </p:cNvPr>
          <p:cNvSpPr>
            <a:spLocks xmlns:a="http://schemas.openxmlformats.org/drawingml/2006/main" noGrp="1"/>
          </p:cNvSpPr>
          <p:nvPr/>
        </p:nvSpPr>
        <p:spPr>
          <a:xfrm xmlns:a="http://schemas.openxmlformats.org/drawingml/2006/main">
            <a:off x="457200" y="5724525"/>
            <a:ext cx="112776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175" b="1">
                <a:solidFill>
                  <a:srgbClr val="F4F7FA"/>
                </a:solidFill>
                <a:latin typeface="DejaVu Sans"/>
                <a:ea typeface="DejaVu Sans"/>
                <a:cs typeface="DejaVu Sans"/>
              </a:defRPr>
            </a:pPr>
            <a:r>
              <a:rPr sz="2175" b="1">
                <a:solidFill>
                  <a:srgbClr val="F4F7FA"/>
                </a:solidFill>
                <a:latin typeface="DejaVu Sans"/>
                <a:ea typeface="DejaVu Sans"/>
                <a:cs typeface="DejaVu Sans"/>
              </a:rPr>
              <a:t>Release evidence must match the risk being controlled.</a:t>
            </a:r>
          </a:p>
        </p:txBody>
      </p:sp>
    </p:spTree>
    <p:extLst>
      <p:ext uri="{BB962C8B-B14F-4D97-AF65-F5344CB8AC3E}">
        <p14:creationId xmlns:p14="http://schemas.microsoft.com/office/powerpoint/2010/main" val="665004086"/>
      </p:ext>
    </p:extLst>
  </p:cSld>
</p:sld>
</file>

<file path=ppt/slides/slide11.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0C484C6-F2DA-43DD-A4FA-A0585DF86004}"/>
              </a:ext>
            </a:extLst>
          </p:cNvPr>
          <p:cNvSpPr>
            <a:spLocks xmlns:a="http://schemas.openxmlformats.org/drawingml/2006/main" noGrp="1"/>
          </p:cNvSpPr>
          <p:nvPr/>
        </p:nvSpPr>
        <p:spPr>
          <a:xfrm xmlns:a="http://schemas.openxmlformats.org/drawingml/2006/main">
            <a:off x="457200" y="333375"/>
            <a:ext cx="11277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150" b="1">
                <a:solidFill>
                  <a:srgbClr val="F4F7FA"/>
                </a:solidFill>
                <a:latin typeface="DejaVu Sans"/>
                <a:ea typeface="DejaVu Sans"/>
                <a:cs typeface="DejaVu Sans"/>
              </a:defRPr>
            </a:pPr>
            <a:r>
              <a:rPr sz="3150" b="1">
                <a:solidFill>
                  <a:srgbClr val="F4F7FA"/>
                </a:solidFill>
                <a:latin typeface="DejaVu Sans"/>
                <a:ea typeface="DejaVu Sans"/>
                <a:cs typeface="DejaVu Sans"/>
              </a:rPr>
              <a:t>DoR / DoD Become Risk Contracts</a:t>
            </a:r>
          </a:p>
        </p:txBody>
      </p:sp>
      <p:sp>
        <p:nvSpPr>
          <p:cNvPr id="2" name="">
            <a:extLst xmlns:a="http://schemas.openxmlformats.org/drawingml/2006/main">
              <a:ext uri="{FF2B5EF4-FFF2-40B4-BE49-F238E27FC236}">
                <a16:creationId xmlns:a16="http://schemas.microsoft.com/office/drawing/2014/main" id="{A2FE8D89-4F95-4BC4-A11A-B5D8D6292B38}"/>
              </a:ext>
            </a:extLst>
          </p:cNvPr>
          <p:cNvSpPr>
            <a:spLocks xmlns:a="http://schemas.openxmlformats.org/drawingml/2006/main" noGrp="1"/>
          </p:cNvSpPr>
          <p:nvPr/>
        </p:nvSpPr>
        <p:spPr>
          <a:xfrm xmlns:a="http://schemas.openxmlformats.org/drawingml/2006/main" flipH="0" flipV="0">
            <a:off x="457200" y="1381125"/>
            <a:ext cx="112776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9844416D-6ACA-4C8A-94EA-7B0759EBF4D0}"/>
              </a:ext>
            </a:extLst>
          </p:cNvPr>
          <p:cNvSpPr>
            <a:spLocks xmlns:a="http://schemas.openxmlformats.org/drawingml/2006/main" noGrp="1"/>
          </p:cNvSpPr>
          <p:nvPr/>
        </p:nvSpPr>
        <p:spPr>
          <a:xfrm xmlns:a="http://schemas.openxmlformats.org/drawingml/2006/main">
            <a:off x="11287125" y="6477000"/>
            <a:ext cx="4476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75" b="0">
                <a:solidFill>
                  <a:srgbClr val="ADB8C5"/>
                </a:solidFill>
                <a:latin typeface="DejaVu Sans"/>
                <a:ea typeface="DejaVu Sans"/>
                <a:cs typeface="DejaVu Sans"/>
              </a:defRPr>
            </a:pPr>
            <a:r>
              <a:rPr sz="1275" b="0">
                <a:solidFill>
                  <a:srgbClr val="ADB8C5"/>
                </a:solidFill>
                <a:latin typeface="DejaVu Sans"/>
                <a:ea typeface="DejaVu Sans"/>
                <a:cs typeface="DejaVu Sans"/>
              </a:rPr>
              <a:t>11</a:t>
            </a:r>
          </a:p>
        </p:txBody>
      </p:sp>
      <p:graphicFrame>
        <p:nvGraphicFramePr>
          <p:cNvPr id="10" name=""/>
          <p:cNvGraphicFramePr/>
          <p:nvPr/>
        </p:nvGraphicFramePr>
        <p:xfrm>
          <a:off xmlns:a="http://schemas.openxmlformats.org/drawingml/2006/main" x="457200" y="1876425"/>
          <a:ext xmlns:a="http://schemas.openxmlformats.org/drawingml/2006/main" cx="11277600" cy="3276600"/>
        </p:xfrm>
        <a:graphic xmlns:a="http://schemas.openxmlformats.org/drawingml/2006/main">
          <a:graphicData uri="http://schemas.openxmlformats.org/drawingml/2006/table">
            <a:tbl>
              <a:tblPr/>
              <a:tblGrid>
                <a:gridCol w="1657350"/>
                <a:gridCol w="3886200"/>
                <a:gridCol w="5734050"/>
              </a:tblGrid>
              <a:tr h="819150">
                <a:tc>
                  <a:txBody>
                    <a:bodyPr lIns="152400" tIns="95250" rIns="152400" bIns="95250">
                      <a:noAutofit/>
                    </a:bodyPr>
                    <a:lstStyle/>
                    <a:p>
                      <a:r>
                        <a:rPr sz="1725" b="1">
                          <a:solidFill>
                            <a:srgbClr val="F4F7FA"/>
                          </a:solidFill>
                          <a:latin typeface="DejaVu Sans"/>
                          <a:ea typeface="DejaVu Sans"/>
                          <a:cs typeface="DejaVu Sans"/>
                        </a:rPr>
                        <a:t/>
                      </a:r>
                    </a:p>
                  </a:txBody>
                  <a:tcPr marL="91440" marR="91440" marT="45720" marB="45720" anchor="ctr">
                    <a:solidFill>
                      <a:srgbClr val="1A2734"/>
                    </a:solidFill>
                  </a:tcPr>
                </a:tc>
                <a:tc>
                  <a:txBody>
                    <a:bodyPr lIns="152400" tIns="95250" rIns="152400" bIns="95250">
                      <a:noAutofit/>
                    </a:bodyPr>
                    <a:lstStyle/>
                    <a:p>
                      <a:r>
                        <a:rPr sz="1725" b="1">
                          <a:solidFill>
                            <a:srgbClr val="F4F7FA"/>
                          </a:solidFill>
                          <a:latin typeface="DejaVu Sans"/>
                          <a:ea typeface="DejaVu Sans"/>
                          <a:cs typeface="DejaVu Sans"/>
                        </a:rPr>
                        <a:t>Traditional shorthand</a:t>
                      </a:r>
                    </a:p>
                  </a:txBody>
                  <a:tcPr marL="91440" marR="91440" marT="45720" marB="45720" anchor="ctr">
                    <a:solidFill>
                      <a:srgbClr val="1A2734"/>
                    </a:solidFill>
                  </a:tcPr>
                </a:tc>
                <a:tc>
                  <a:txBody>
                    <a:bodyPr lIns="152400" tIns="95250" rIns="152400" bIns="95250">
                      <a:noAutofit/>
                    </a:bodyPr>
                    <a:lstStyle/>
                    <a:p>
                      <a:r>
                        <a:rPr sz="1725" b="1">
                          <a:solidFill>
                            <a:srgbClr val="28C7F7"/>
                          </a:solidFill>
                          <a:latin typeface="DejaVu Sans"/>
                          <a:ea typeface="DejaVu Sans"/>
                          <a:cs typeface="DejaVu Sans"/>
                        </a:rPr>
                        <a:t>Thinking System</a:t>
                      </a:r>
                    </a:p>
                  </a:txBody>
                  <a:tcPr marL="91440" marR="91440" marT="45720" marB="45720" anchor="ctr">
                    <a:solidFill>
                      <a:srgbClr val="1A2734"/>
                    </a:solidFill>
                  </a:tcPr>
                </a:tc>
              </a:tr>
              <a:tr h="819150">
                <a:tc>
                  <a:txBody>
                    <a:bodyPr lIns="152400" tIns="95250" rIns="152400" bIns="95250">
                      <a:noAutofit/>
                    </a:bodyPr>
                    <a:lstStyle/>
                    <a:p>
                      <a:r>
                        <a:rPr sz="1950" b="1">
                          <a:solidFill>
                            <a:srgbClr val="F4F7FA"/>
                          </a:solidFill>
                          <a:latin typeface="DejaVu Sans"/>
                          <a:ea typeface="DejaVu Sans"/>
                          <a:cs typeface="DejaVu Sans"/>
                        </a:rPr>
                        <a:t>READY</a:t>
                      </a:r>
                    </a:p>
                  </a:txBody>
                  <a:tcPr marL="91440" marR="91440" marT="45720" marB="45720" anchor="ctr">
                    <a:solidFill>
                      <a:srgbClr val="141C26"/>
                    </a:solidFill>
                  </a:tcPr>
                </a:tc>
                <a:tc>
                  <a:txBody>
                    <a:bodyPr lIns="152400" tIns="95250" rIns="152400" bIns="95250">
                      <a:noAutofit/>
                    </a:bodyPr>
                    <a:lstStyle/>
                    <a:p>
                      <a:r>
                        <a:rPr sz="1950" b="0">
                          <a:solidFill>
                            <a:srgbClr val="F4F7FA"/>
                          </a:solidFill>
                          <a:latin typeface="DejaVu Sans"/>
                          <a:ea typeface="DejaVu Sans"/>
                          <a:cs typeface="DejaVu Sans"/>
                        </a:rPr>
                        <a:t>Specification known</a:t>
                      </a:r>
                    </a:p>
                  </a:txBody>
                  <a:tcPr marL="91440" marR="91440" marT="45720" marB="45720" anchor="ctr">
                    <a:solidFill>
                      <a:srgbClr val="141C26"/>
                    </a:solidFill>
                  </a:tcPr>
                </a:tc>
                <a:tc>
                  <a:txBody>
                    <a:bodyPr lIns="152400" tIns="95250" rIns="152400" bIns="95250">
                      <a:noAutofit/>
                    </a:bodyPr>
                    <a:lstStyle/>
                    <a:p>
                      <a:r>
                        <a:rPr sz="1950" b="0">
                          <a:solidFill>
                            <a:srgbClr val="28C7F7"/>
                          </a:solidFill>
                          <a:latin typeface="DejaVu Sans"/>
                          <a:ea typeface="DejaVu Sans"/>
                          <a:cs typeface="DejaVu Sans"/>
                        </a:rPr>
                        <a:t>Tolerance / risk envelope known</a:t>
                      </a:r>
                    </a:p>
                  </a:txBody>
                  <a:tcPr marL="91440" marR="91440" marT="45720" marB="45720" anchor="ctr">
                    <a:solidFill>
                      <a:srgbClr val="141C26"/>
                    </a:solidFill>
                  </a:tcPr>
                </a:tc>
              </a:tr>
              <a:tr h="819150">
                <a:tc>
                  <a:txBody>
                    <a:bodyPr lIns="152400" tIns="95250" rIns="152400" bIns="95250">
                      <a:noAutofit/>
                    </a:bodyPr>
                    <a:lstStyle/>
                    <a:p>
                      <a:r>
                        <a:rPr sz="1950" b="1">
                          <a:solidFill>
                            <a:srgbClr val="F4F7FA"/>
                          </a:solidFill>
                          <a:latin typeface="DejaVu Sans"/>
                          <a:ea typeface="DejaVu Sans"/>
                          <a:cs typeface="DejaVu Sans"/>
                        </a:rPr>
                        <a:t>DONE</a:t>
                      </a:r>
                    </a:p>
                  </a:txBody>
                  <a:tcPr marL="91440" marR="91440" marT="45720" marB="45720" anchor="ctr">
                    <a:solidFill>
                      <a:srgbClr val="141C26"/>
                    </a:solidFill>
                  </a:tcPr>
                </a:tc>
                <a:tc>
                  <a:txBody>
                    <a:bodyPr lIns="152400" tIns="95250" rIns="152400" bIns="95250">
                      <a:noAutofit/>
                    </a:bodyPr>
                    <a:lstStyle/>
                    <a:p>
                      <a:r>
                        <a:rPr sz="1950" b="0">
                          <a:solidFill>
                            <a:srgbClr val="F4F7FA"/>
                          </a:solidFill>
                          <a:latin typeface="DejaVu Sans"/>
                          <a:ea typeface="DejaVu Sans"/>
                          <a:cs typeface="DejaVu Sans"/>
                        </a:rPr>
                        <a:t>Tests pass</a:t>
                      </a:r>
                    </a:p>
                  </a:txBody>
                  <a:tcPr marL="91440" marR="91440" marT="45720" marB="45720" anchor="ctr">
                    <a:solidFill>
                      <a:srgbClr val="141C26"/>
                    </a:solidFill>
                  </a:tcPr>
                </a:tc>
                <a:tc>
                  <a:txBody>
                    <a:bodyPr lIns="152400" tIns="95250" rIns="152400" bIns="95250">
                      <a:noAutofit/>
                    </a:bodyPr>
                    <a:lstStyle/>
                    <a:p>
                      <a:r>
                        <a:rPr sz="1950" b="0">
                          <a:solidFill>
                            <a:srgbClr val="28C7F7"/>
                          </a:solidFill>
                          <a:latin typeface="DejaVu Sans"/>
                          <a:ea typeface="DejaVu Sans"/>
                          <a:cs typeface="DejaVu Sans"/>
                        </a:rPr>
                        <a:t>Evaluation evidence within boundaries</a:t>
                      </a:r>
                    </a:p>
                  </a:txBody>
                  <a:tcPr marL="91440" marR="91440" marT="45720" marB="45720" anchor="ctr">
                    <a:solidFill>
                      <a:srgbClr val="141C26"/>
                    </a:solidFill>
                  </a:tcPr>
                </a:tc>
              </a:tr>
              <a:tr h="819150">
                <a:tc>
                  <a:txBody>
                    <a:bodyPr lIns="152400" tIns="95250" rIns="152400" bIns="95250">
                      <a:noAutofit/>
                    </a:bodyPr>
                    <a:lstStyle/>
                    <a:p>
                      <a:r>
                        <a:rPr sz="1950" b="1">
                          <a:solidFill>
                            <a:srgbClr val="F4F7FA"/>
                          </a:solidFill>
                          <a:latin typeface="DejaVu Sans"/>
                          <a:ea typeface="DejaVu Sans"/>
                          <a:cs typeface="DejaVu Sans"/>
                        </a:rPr>
                        <a:t>RELEASE</a:t>
                      </a:r>
                    </a:p>
                  </a:txBody>
                  <a:tcPr marL="91440" marR="91440" marT="45720" marB="45720" anchor="ctr">
                    <a:solidFill>
                      <a:srgbClr val="141C26"/>
                    </a:solidFill>
                  </a:tcPr>
                </a:tc>
                <a:tc>
                  <a:txBody>
                    <a:bodyPr lIns="152400" tIns="95250" rIns="152400" bIns="95250">
                      <a:noAutofit/>
                    </a:bodyPr>
                    <a:lstStyle/>
                    <a:p>
                      <a:r>
                        <a:rPr sz="1950" b="0">
                          <a:solidFill>
                            <a:srgbClr val="F4F7FA"/>
                          </a:solidFill>
                          <a:latin typeface="DejaVu Sans"/>
                          <a:ea typeface="DejaVu Sans"/>
                          <a:cs typeface="DejaVu Sans"/>
                        </a:rPr>
                        <a:t>Yes / no</a:t>
                      </a:r>
                    </a:p>
                  </a:txBody>
                  <a:tcPr marL="91440" marR="91440" marT="45720" marB="45720" anchor="ctr">
                    <a:solidFill>
                      <a:srgbClr val="141C26"/>
                    </a:solidFill>
                  </a:tcPr>
                </a:tc>
                <a:tc>
                  <a:txBody>
                    <a:bodyPr lIns="152400" tIns="95250" rIns="152400" bIns="95250">
                      <a:noAutofit/>
                    </a:bodyPr>
                    <a:lstStyle/>
                    <a:p>
                      <a:r>
                        <a:rPr sz="1950" b="0">
                          <a:solidFill>
                            <a:srgbClr val="28C7F7"/>
                          </a:solidFill>
                          <a:latin typeface="DejaVu Sans"/>
                          <a:ea typeface="DejaVu Sans"/>
                          <a:cs typeface="DejaVu Sans"/>
                        </a:rPr>
                        <a:t>Measured risk accepted</a:t>
                      </a:r>
                    </a:p>
                  </a:txBody>
                  <a:tcPr marL="91440" marR="91440" marT="45720" marB="45720" anchor="ctr">
                    <a:solidFill>
                      <a:srgbClr val="141C26"/>
                    </a:solidFill>
                  </a:tcPr>
                </a:tc>
              </a:tr>
            </a:tbl>
          </a:graphicData>
        </a:graphic>
      </p:graphicFrame>
      <p:sp>
        <p:nvSpPr>
          <p:cNvPr id="5" name="">
            <a:extLst xmlns:a="http://schemas.openxmlformats.org/drawingml/2006/main">
              <a:ext uri="{FF2B5EF4-FFF2-40B4-BE49-F238E27FC236}">
                <a16:creationId xmlns:a16="http://schemas.microsoft.com/office/drawing/2014/main" id="{EA463EE0-0305-4C84-898B-1A12A728E41D}"/>
              </a:ext>
            </a:extLst>
          </p:cNvPr>
          <p:cNvSpPr>
            <a:spLocks xmlns:a="http://schemas.openxmlformats.org/drawingml/2006/main" noGrp="1"/>
          </p:cNvSpPr>
          <p:nvPr/>
        </p:nvSpPr>
        <p:spPr>
          <a:xfrm xmlns:a="http://schemas.openxmlformats.org/drawingml/2006/main">
            <a:off x="457200" y="5381625"/>
            <a:ext cx="112776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1">
                <a:solidFill>
                  <a:srgbClr val="F4F7FA"/>
                </a:solidFill>
                <a:latin typeface="DejaVu Sans"/>
                <a:ea typeface="DejaVu Sans"/>
                <a:cs typeface="DejaVu Sans"/>
              </a:defRPr>
            </a:pPr>
            <a:r>
              <a:rPr sz="2250" b="1">
                <a:solidFill>
                  <a:srgbClr val="F4F7FA"/>
                </a:solidFill>
                <a:latin typeface="DejaVu Sans"/>
                <a:ea typeface="DejaVu Sans"/>
                <a:cs typeface="DejaVu Sans"/>
              </a:rPr>
              <a:t>Quality is released as a measured distribution.</a:t>
            </a:r>
          </a:p>
        </p:txBody>
      </p:sp>
      <p:sp>
        <p:nvSpPr>
          <p:cNvPr id="6" name="">
            <a:extLst xmlns:a="http://schemas.openxmlformats.org/drawingml/2006/main">
              <a:ext uri="{FF2B5EF4-FFF2-40B4-BE49-F238E27FC236}">
                <a16:creationId xmlns:a16="http://schemas.microsoft.com/office/drawing/2014/main" id="{76D4EA8B-C23A-464D-A536-442680E1268C}"/>
              </a:ext>
            </a:extLst>
          </p:cNvPr>
          <p:cNvSpPr>
            <a:spLocks xmlns:a="http://schemas.openxmlformats.org/drawingml/2006/main" noGrp="1"/>
          </p:cNvSpPr>
          <p:nvPr/>
        </p:nvSpPr>
        <p:spPr>
          <a:xfrm xmlns:a="http://schemas.openxmlformats.org/drawingml/2006/main">
            <a:off x="457200" y="6134100"/>
            <a:ext cx="11277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Evidence, decision owner and fallback belong in the contract.</a:t>
            </a:r>
          </a:p>
        </p:txBody>
      </p:sp>
    </p:spTree>
    <p:extLst>
      <p:ext uri="{BB962C8B-B14F-4D97-AF65-F5344CB8AC3E}">
        <p14:creationId xmlns:p14="http://schemas.microsoft.com/office/powerpoint/2010/main" val="187320179"/>
      </p:ext>
    </p:extLst>
  </p:cSld>
</p:sld>
</file>

<file path=ppt/slides/slide12.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DA78AE93-7F65-4C73-A3CA-6492E2D82ABB}"/>
              </a:ext>
            </a:extLst>
          </p:cNvPr>
          <p:cNvSpPr>
            <a:spLocks xmlns:a="http://schemas.openxmlformats.org/drawingml/2006/main" noGrp="1"/>
          </p:cNvSpPr>
          <p:nvPr/>
        </p:nvSpPr>
        <p:spPr>
          <a:xfrm xmlns:a="http://schemas.openxmlformats.org/drawingml/2006/main">
            <a:off x="457200" y="333375"/>
            <a:ext cx="11277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150" b="1">
                <a:solidFill>
                  <a:srgbClr val="F4F7FA"/>
                </a:solidFill>
                <a:latin typeface="DejaVu Sans"/>
                <a:ea typeface="DejaVu Sans"/>
                <a:cs typeface="DejaVu Sans"/>
              </a:defRPr>
            </a:pPr>
            <a:r>
              <a:rPr sz="3150" b="1">
                <a:solidFill>
                  <a:srgbClr val="F4F7FA"/>
                </a:solidFill>
                <a:latin typeface="DejaVu Sans"/>
                <a:ea typeface="DejaVu Sans"/>
                <a:cs typeface="DejaVu Sans"/>
              </a:rPr>
              <a:t>Production Needs a Control Loop</a:t>
            </a:r>
          </a:p>
        </p:txBody>
      </p:sp>
      <p:sp>
        <p:nvSpPr>
          <p:cNvPr id="2" name="">
            <a:extLst xmlns:a="http://schemas.openxmlformats.org/drawingml/2006/main">
              <a:ext uri="{FF2B5EF4-FFF2-40B4-BE49-F238E27FC236}">
                <a16:creationId xmlns:a16="http://schemas.microsoft.com/office/drawing/2014/main" id="{B8B151C8-FBF7-49A9-A0A1-0BC30F64DF1A}"/>
              </a:ext>
            </a:extLst>
          </p:cNvPr>
          <p:cNvSpPr>
            <a:spLocks xmlns:a="http://schemas.openxmlformats.org/drawingml/2006/main" noGrp="1"/>
          </p:cNvSpPr>
          <p:nvPr/>
        </p:nvSpPr>
        <p:spPr>
          <a:xfrm xmlns:a="http://schemas.openxmlformats.org/drawingml/2006/main" flipH="0" flipV="0">
            <a:off x="457200" y="1381125"/>
            <a:ext cx="112776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C8E0032D-D47F-49C0-A19C-C309FB7DEA3E}"/>
              </a:ext>
            </a:extLst>
          </p:cNvPr>
          <p:cNvSpPr>
            <a:spLocks xmlns:a="http://schemas.openxmlformats.org/drawingml/2006/main" noGrp="1"/>
          </p:cNvSpPr>
          <p:nvPr/>
        </p:nvSpPr>
        <p:spPr>
          <a:xfrm xmlns:a="http://schemas.openxmlformats.org/drawingml/2006/main">
            <a:off x="11287125" y="6477000"/>
            <a:ext cx="4476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75" b="0">
                <a:solidFill>
                  <a:srgbClr val="ADB8C5"/>
                </a:solidFill>
                <a:latin typeface="DejaVu Sans"/>
                <a:ea typeface="DejaVu Sans"/>
                <a:cs typeface="DejaVu Sans"/>
              </a:defRPr>
            </a:pPr>
            <a:r>
              <a:rPr sz="1275" b="0">
                <a:solidFill>
                  <a:srgbClr val="ADB8C5"/>
                </a:solidFill>
                <a:latin typeface="DejaVu Sans"/>
                <a:ea typeface="DejaVu Sans"/>
                <a:cs typeface="DejaVu Sans"/>
              </a:rPr>
              <a:t>12</a:t>
            </a:r>
          </a:p>
        </p:txBody>
      </p:sp>
      <p:sp>
        <p:nvSpPr>
          <p:cNvPr id="4" name="">
            <a:extLst xmlns:a="http://schemas.openxmlformats.org/drawingml/2006/main">
              <a:ext uri="{FF2B5EF4-FFF2-40B4-BE49-F238E27FC236}">
                <a16:creationId xmlns:a16="http://schemas.microsoft.com/office/drawing/2014/main" id="{89663F6F-626F-4708-B8C9-87E14E0E717D}"/>
              </a:ext>
            </a:extLst>
          </p:cNvPr>
          <p:cNvSpPr>
            <a:spLocks xmlns:a="http://schemas.openxmlformats.org/drawingml/2006/main" noGrp="1"/>
          </p:cNvSpPr>
          <p:nvPr/>
        </p:nvSpPr>
        <p:spPr>
          <a:xfrm xmlns:a="http://schemas.openxmlformats.org/drawingml/2006/main">
            <a:off x="457200" y="2181225"/>
            <a:ext cx="2114550" cy="8001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5" name="">
            <a:extLst xmlns:a="http://schemas.openxmlformats.org/drawingml/2006/main">
              <a:ext uri="{FF2B5EF4-FFF2-40B4-BE49-F238E27FC236}">
                <a16:creationId xmlns:a16="http://schemas.microsoft.com/office/drawing/2014/main" id="{46084A88-89B5-406C-AE89-8953DF97D726}"/>
              </a:ext>
            </a:extLst>
          </p:cNvPr>
          <p:cNvSpPr>
            <a:spLocks xmlns:a="http://schemas.openxmlformats.org/drawingml/2006/main" noGrp="1"/>
          </p:cNvSpPr>
          <p:nvPr/>
        </p:nvSpPr>
        <p:spPr>
          <a:xfrm xmlns:a="http://schemas.openxmlformats.org/drawingml/2006/main">
            <a:off x="571500" y="2257425"/>
            <a:ext cx="18859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DejaVu Sans"/>
                <a:ea typeface="DejaVu Sans"/>
                <a:cs typeface="DejaVu Sans"/>
              </a:defRPr>
            </a:pPr>
            <a:r>
              <a:rPr sz="1875" b="1">
                <a:solidFill>
                  <a:srgbClr val="F4F7FA"/>
                </a:solidFill>
                <a:latin typeface="DejaVu Sans"/>
                <a:ea typeface="DejaVu Sans"/>
                <a:cs typeface="DejaVu Sans"/>
              </a:rPr>
              <a:t>Intent</a:t>
            </a:r>
          </a:p>
        </p:txBody>
      </p:sp>
      <p:sp>
        <p:nvSpPr>
          <p:cNvPr id="6" name="">
            <a:extLst xmlns:a="http://schemas.openxmlformats.org/drawingml/2006/main">
              <a:ext uri="{FF2B5EF4-FFF2-40B4-BE49-F238E27FC236}">
                <a16:creationId xmlns:a16="http://schemas.microsoft.com/office/drawing/2014/main" id="{ADE3D065-FB7E-4E04-A6C5-165D50F9A0DD}"/>
              </a:ext>
            </a:extLst>
          </p:cNvPr>
          <p:cNvSpPr>
            <a:spLocks xmlns:a="http://schemas.openxmlformats.org/drawingml/2006/main" noGrp="1"/>
          </p:cNvSpPr>
          <p:nvPr/>
        </p:nvSpPr>
        <p:spPr>
          <a:xfrm xmlns:a="http://schemas.openxmlformats.org/drawingml/2006/main">
            <a:off x="2743200" y="2181225"/>
            <a:ext cx="2114550" cy="8001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7" name="">
            <a:extLst xmlns:a="http://schemas.openxmlformats.org/drawingml/2006/main">
              <a:ext uri="{FF2B5EF4-FFF2-40B4-BE49-F238E27FC236}">
                <a16:creationId xmlns:a16="http://schemas.microsoft.com/office/drawing/2014/main" id="{EABDE8FE-66ED-4531-8E9E-F16EE3CAE45C}"/>
              </a:ext>
            </a:extLst>
          </p:cNvPr>
          <p:cNvSpPr>
            <a:spLocks xmlns:a="http://schemas.openxmlformats.org/drawingml/2006/main" noGrp="1"/>
          </p:cNvSpPr>
          <p:nvPr/>
        </p:nvSpPr>
        <p:spPr>
          <a:xfrm xmlns:a="http://schemas.openxmlformats.org/drawingml/2006/main">
            <a:off x="2857500" y="2257425"/>
            <a:ext cx="18859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DejaVu Sans"/>
                <a:ea typeface="DejaVu Sans"/>
                <a:cs typeface="DejaVu Sans"/>
              </a:defRPr>
            </a:pPr>
            <a:r>
              <a:rPr sz="1875" b="1">
                <a:solidFill>
                  <a:srgbClr val="F4F7FA"/>
                </a:solidFill>
                <a:latin typeface="DejaVu Sans"/>
                <a:ea typeface="DejaVu Sans"/>
                <a:cs typeface="DejaVu Sans"/>
              </a:rPr>
              <a:t>Model</a:t>
            </a:r>
          </a:p>
        </p:txBody>
      </p:sp>
      <p:sp>
        <p:nvSpPr>
          <p:cNvPr id="8" name="">
            <a:extLst xmlns:a="http://schemas.openxmlformats.org/drawingml/2006/main">
              <a:ext uri="{FF2B5EF4-FFF2-40B4-BE49-F238E27FC236}">
                <a16:creationId xmlns:a16="http://schemas.microsoft.com/office/drawing/2014/main" id="{100E36B9-0F54-4446-B7CC-473112F642D2}"/>
              </a:ext>
            </a:extLst>
          </p:cNvPr>
          <p:cNvSpPr>
            <a:spLocks xmlns:a="http://schemas.openxmlformats.org/drawingml/2006/main" noGrp="1"/>
          </p:cNvSpPr>
          <p:nvPr/>
        </p:nvSpPr>
        <p:spPr>
          <a:xfrm xmlns:a="http://schemas.openxmlformats.org/drawingml/2006/main">
            <a:off x="5029200" y="2181225"/>
            <a:ext cx="2114550" cy="8001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9" name="">
            <a:extLst xmlns:a="http://schemas.openxmlformats.org/drawingml/2006/main">
              <a:ext uri="{FF2B5EF4-FFF2-40B4-BE49-F238E27FC236}">
                <a16:creationId xmlns:a16="http://schemas.microsoft.com/office/drawing/2014/main" id="{D39F80CA-1C56-4F6B-81A7-2943177DCDDE}"/>
              </a:ext>
            </a:extLst>
          </p:cNvPr>
          <p:cNvSpPr>
            <a:spLocks xmlns:a="http://schemas.openxmlformats.org/drawingml/2006/main" noGrp="1"/>
          </p:cNvSpPr>
          <p:nvPr/>
        </p:nvSpPr>
        <p:spPr>
          <a:xfrm xmlns:a="http://schemas.openxmlformats.org/drawingml/2006/main">
            <a:off x="5143500" y="2257425"/>
            <a:ext cx="18859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DejaVu Sans"/>
                <a:ea typeface="DejaVu Sans"/>
                <a:cs typeface="DejaVu Sans"/>
              </a:defRPr>
            </a:pPr>
            <a:r>
              <a:rPr sz="1875" b="1">
                <a:solidFill>
                  <a:srgbClr val="F4F7FA"/>
                </a:solidFill>
                <a:latin typeface="DejaVu Sans"/>
                <a:ea typeface="DejaVu Sans"/>
                <a:cs typeface="DejaVu Sans"/>
              </a:rPr>
              <a:t>Proposed action</a:t>
            </a:r>
          </a:p>
        </p:txBody>
      </p:sp>
      <p:sp>
        <p:nvSpPr>
          <p:cNvPr id="10" name="">
            <a:extLst xmlns:a="http://schemas.openxmlformats.org/drawingml/2006/main">
              <a:ext uri="{FF2B5EF4-FFF2-40B4-BE49-F238E27FC236}">
                <a16:creationId xmlns:a16="http://schemas.microsoft.com/office/drawing/2014/main" id="{8B599BA0-4405-4CA2-B18B-62749421D4F7}"/>
              </a:ext>
            </a:extLst>
          </p:cNvPr>
          <p:cNvSpPr>
            <a:spLocks xmlns:a="http://schemas.openxmlformats.org/drawingml/2006/main" noGrp="1"/>
          </p:cNvSpPr>
          <p:nvPr/>
        </p:nvSpPr>
        <p:spPr>
          <a:xfrm xmlns:a="http://schemas.openxmlformats.org/drawingml/2006/main">
            <a:off x="7315200" y="2181225"/>
            <a:ext cx="2114550" cy="8001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1" name="">
            <a:extLst xmlns:a="http://schemas.openxmlformats.org/drawingml/2006/main">
              <a:ext uri="{FF2B5EF4-FFF2-40B4-BE49-F238E27FC236}">
                <a16:creationId xmlns:a16="http://schemas.microsoft.com/office/drawing/2014/main" id="{D50DB9F9-69B0-4E78-8BB3-99AC80A02274}"/>
              </a:ext>
            </a:extLst>
          </p:cNvPr>
          <p:cNvSpPr>
            <a:spLocks xmlns:a="http://schemas.openxmlformats.org/drawingml/2006/main" noGrp="1"/>
          </p:cNvSpPr>
          <p:nvPr/>
        </p:nvSpPr>
        <p:spPr>
          <a:xfrm xmlns:a="http://schemas.openxmlformats.org/drawingml/2006/main">
            <a:off x="7429500" y="2257425"/>
            <a:ext cx="18859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DejaVu Sans"/>
                <a:ea typeface="DejaVu Sans"/>
                <a:cs typeface="DejaVu Sans"/>
              </a:defRPr>
            </a:pPr>
            <a:r>
              <a:rPr sz="1875" b="1">
                <a:solidFill>
                  <a:srgbClr val="F4F7FA"/>
                </a:solidFill>
                <a:latin typeface="DejaVu Sans"/>
                <a:ea typeface="DejaVu Sans"/>
                <a:cs typeface="DejaVu Sans"/>
              </a:rPr>
              <a:t>Policy gate</a:t>
            </a:r>
          </a:p>
        </p:txBody>
      </p:sp>
      <p:sp>
        <p:nvSpPr>
          <p:cNvPr id="12" name="">
            <a:extLst xmlns:a="http://schemas.openxmlformats.org/drawingml/2006/main">
              <a:ext uri="{FF2B5EF4-FFF2-40B4-BE49-F238E27FC236}">
                <a16:creationId xmlns:a16="http://schemas.microsoft.com/office/drawing/2014/main" id="{C100F14C-E4FD-4CF8-9EAA-D32C89EC39F1}"/>
              </a:ext>
            </a:extLst>
          </p:cNvPr>
          <p:cNvSpPr>
            <a:spLocks xmlns:a="http://schemas.openxmlformats.org/drawingml/2006/main" noGrp="1"/>
          </p:cNvSpPr>
          <p:nvPr/>
        </p:nvSpPr>
        <p:spPr>
          <a:xfrm xmlns:a="http://schemas.openxmlformats.org/drawingml/2006/main">
            <a:off x="9601200" y="2181225"/>
            <a:ext cx="2114550" cy="8001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3" name="">
            <a:extLst xmlns:a="http://schemas.openxmlformats.org/drawingml/2006/main">
              <a:ext uri="{FF2B5EF4-FFF2-40B4-BE49-F238E27FC236}">
                <a16:creationId xmlns:a16="http://schemas.microsoft.com/office/drawing/2014/main" id="{82374154-829D-4D4D-AB24-C8866C0DF842}"/>
              </a:ext>
            </a:extLst>
          </p:cNvPr>
          <p:cNvSpPr>
            <a:spLocks xmlns:a="http://schemas.openxmlformats.org/drawingml/2006/main" noGrp="1"/>
          </p:cNvSpPr>
          <p:nvPr/>
        </p:nvSpPr>
        <p:spPr>
          <a:xfrm xmlns:a="http://schemas.openxmlformats.org/drawingml/2006/main">
            <a:off x="9715500" y="2257425"/>
            <a:ext cx="18859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DejaVu Sans"/>
                <a:ea typeface="DejaVu Sans"/>
                <a:cs typeface="DejaVu Sans"/>
              </a:defRPr>
            </a:pPr>
            <a:r>
              <a:rPr sz="1875" b="1">
                <a:solidFill>
                  <a:srgbClr val="F4F7FA"/>
                </a:solidFill>
                <a:latin typeface="DejaVu Sans"/>
                <a:ea typeface="DejaVu Sans"/>
                <a:cs typeface="DejaVu Sans"/>
              </a:rPr>
              <a:t>User / tool</a:t>
            </a:r>
          </a:p>
        </p:txBody>
      </p:sp>
      <p:cxnSp>
        <p:nvCxnSpPr>
          <p:cNvPr id="44" name=""/>
          <p:cNvCxnSpPr>
            <a:stCxn xmlns:a="http://schemas.openxmlformats.org/drawingml/2006/main" id="4" idx="3"/>
            <a:endCxn xmlns:a="http://schemas.openxmlformats.org/drawingml/2006/main" id="6" idx="1"/>
          </p:cNvCxnSpPr>
          <p:nvPr/>
        </p:nvCxnSpPr>
        <p:spPr>
          <a:xfrm xmlns:a="http://schemas.openxmlformats.org/drawingml/2006/main">
            <a:off x="2571750" y="2581275"/>
            <a:ext cx="171450" cy="0"/>
          </a:xfrm>
          <a:prstGeom xmlns:a="http://schemas.openxmlformats.org/drawingml/2006/main" prst="straightConnector1">
            <a:avLst/>
          </a:prstGeom>
          <a:ln xmlns:a="http://schemas.openxmlformats.org/drawingml/2006/main" w="21908">
            <a:solidFill>
              <a:srgbClr val="ADB8C5"/>
            </a:solidFill>
            <a:prstDash val="solid"/>
            <a:tailEnd type="triangle" w="sm" len="sm"/>
          </a:ln>
        </p:spPr>
      </p:cxnSp>
      <p:cxnSp>
        <p:nvCxnSpPr>
          <p:cNvPr id="45" name=""/>
          <p:cNvCxnSpPr>
            <a:stCxn xmlns:a="http://schemas.openxmlformats.org/drawingml/2006/main" id="6" idx="3"/>
            <a:endCxn xmlns:a="http://schemas.openxmlformats.org/drawingml/2006/main" id="8" idx="1"/>
          </p:cNvCxnSpPr>
          <p:nvPr/>
        </p:nvCxnSpPr>
        <p:spPr>
          <a:xfrm xmlns:a="http://schemas.openxmlformats.org/drawingml/2006/main">
            <a:off x="4857750" y="2581275"/>
            <a:ext cx="171450" cy="0"/>
          </a:xfrm>
          <a:prstGeom xmlns:a="http://schemas.openxmlformats.org/drawingml/2006/main" prst="straightConnector1">
            <a:avLst/>
          </a:prstGeom>
          <a:ln xmlns:a="http://schemas.openxmlformats.org/drawingml/2006/main" w="21908">
            <a:solidFill>
              <a:srgbClr val="ADB8C5"/>
            </a:solidFill>
            <a:prstDash val="solid"/>
            <a:tailEnd type="triangle" w="sm" len="sm"/>
          </a:ln>
        </p:spPr>
      </p:cxnSp>
      <p:cxnSp>
        <p:nvCxnSpPr>
          <p:cNvPr id="46" name=""/>
          <p:cNvCxnSpPr>
            <a:stCxn xmlns:a="http://schemas.openxmlformats.org/drawingml/2006/main" id="8" idx="3"/>
            <a:endCxn xmlns:a="http://schemas.openxmlformats.org/drawingml/2006/main" id="10" idx="1"/>
          </p:cNvCxnSpPr>
          <p:nvPr/>
        </p:nvCxnSpPr>
        <p:spPr>
          <a:xfrm xmlns:a="http://schemas.openxmlformats.org/drawingml/2006/main">
            <a:off x="7143750" y="2581275"/>
            <a:ext cx="171450" cy="0"/>
          </a:xfrm>
          <a:prstGeom xmlns:a="http://schemas.openxmlformats.org/drawingml/2006/main" prst="straightConnector1">
            <a:avLst/>
          </a:prstGeom>
          <a:ln xmlns:a="http://schemas.openxmlformats.org/drawingml/2006/main" w="21908">
            <a:solidFill>
              <a:srgbClr val="ADB8C5"/>
            </a:solidFill>
            <a:prstDash val="solid"/>
            <a:tailEnd type="triangle" w="sm" len="sm"/>
          </a:ln>
        </p:spPr>
      </p:cxnSp>
      <p:cxnSp>
        <p:nvCxnSpPr>
          <p:cNvPr id="47" name=""/>
          <p:cNvCxnSpPr>
            <a:stCxn xmlns:a="http://schemas.openxmlformats.org/drawingml/2006/main" id="10" idx="3"/>
            <a:endCxn xmlns:a="http://schemas.openxmlformats.org/drawingml/2006/main" id="12" idx="1"/>
          </p:cNvCxnSpPr>
          <p:nvPr/>
        </p:nvCxnSpPr>
        <p:spPr>
          <a:xfrm xmlns:a="http://schemas.openxmlformats.org/drawingml/2006/main">
            <a:off x="9429750" y="2581275"/>
            <a:ext cx="171450" cy="0"/>
          </a:xfrm>
          <a:prstGeom xmlns:a="http://schemas.openxmlformats.org/drawingml/2006/main" prst="straightConnector1">
            <a:avLst/>
          </a:prstGeom>
          <a:ln xmlns:a="http://schemas.openxmlformats.org/drawingml/2006/main" w="21908">
            <a:solidFill>
              <a:srgbClr val="ADB8C5"/>
            </a:solidFill>
            <a:prstDash val="solid"/>
            <a:tailEnd type="triangle" w="sm" len="sm"/>
          </a:ln>
        </p:spPr>
      </p:cxnSp>
      <p:sp>
        <p:nvSpPr>
          <p:cNvPr id="18" name="">
            <a:extLst xmlns:a="http://schemas.openxmlformats.org/drawingml/2006/main">
              <a:ext uri="{FF2B5EF4-FFF2-40B4-BE49-F238E27FC236}">
                <a16:creationId xmlns:a16="http://schemas.microsoft.com/office/drawing/2014/main" id="{9F67864F-865E-4072-8C62-4D25D8C8E628}"/>
              </a:ext>
            </a:extLst>
          </p:cNvPr>
          <p:cNvSpPr>
            <a:spLocks xmlns:a="http://schemas.openxmlformats.org/drawingml/2006/main" noGrp="1"/>
          </p:cNvSpPr>
          <p:nvPr/>
        </p:nvSpPr>
        <p:spPr>
          <a:xfrm xmlns:a="http://schemas.openxmlformats.org/drawingml/2006/main">
            <a:off x="5467350" y="3952875"/>
            <a:ext cx="2114550" cy="7239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9" name="">
            <a:extLst xmlns:a="http://schemas.openxmlformats.org/drawingml/2006/main">
              <a:ext uri="{FF2B5EF4-FFF2-40B4-BE49-F238E27FC236}">
                <a16:creationId xmlns:a16="http://schemas.microsoft.com/office/drawing/2014/main" id="{AF9F853F-46B0-467A-BDA3-B01958E669F1}"/>
              </a:ext>
            </a:extLst>
          </p:cNvPr>
          <p:cNvSpPr>
            <a:spLocks xmlns:a="http://schemas.openxmlformats.org/drawingml/2006/main" noGrp="1"/>
          </p:cNvSpPr>
          <p:nvPr/>
        </p:nvSpPr>
        <p:spPr>
          <a:xfrm xmlns:a="http://schemas.openxmlformats.org/drawingml/2006/main">
            <a:off x="5581650" y="4029075"/>
            <a:ext cx="18859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025" b="1">
                <a:solidFill>
                  <a:srgbClr val="F4F7FA"/>
                </a:solidFill>
                <a:latin typeface="DejaVu Sans"/>
                <a:ea typeface="DejaVu Sans"/>
                <a:cs typeface="DejaVu Sans"/>
              </a:defRPr>
            </a:pPr>
            <a:r>
              <a:rPr sz="2025" b="1">
                <a:solidFill>
                  <a:srgbClr val="F4F7FA"/>
                </a:solidFill>
                <a:latin typeface="DejaVu Sans"/>
                <a:ea typeface="DejaVu Sans"/>
                <a:cs typeface="DejaVu Sans"/>
              </a:rPr>
              <a:t>Observe</a:t>
            </a:r>
          </a:p>
        </p:txBody>
      </p:sp>
      <p:sp>
        <p:nvSpPr>
          <p:cNvPr id="20" name="">
            <a:extLst xmlns:a="http://schemas.openxmlformats.org/drawingml/2006/main">
              <a:ext uri="{FF2B5EF4-FFF2-40B4-BE49-F238E27FC236}">
                <a16:creationId xmlns:a16="http://schemas.microsoft.com/office/drawing/2014/main" id="{469BB35D-330C-4E5D-B8F9-71080343245A}"/>
              </a:ext>
            </a:extLst>
          </p:cNvPr>
          <p:cNvSpPr>
            <a:spLocks xmlns:a="http://schemas.openxmlformats.org/drawingml/2006/main" noGrp="1"/>
          </p:cNvSpPr>
          <p:nvPr/>
        </p:nvSpPr>
        <p:spPr>
          <a:xfrm xmlns:a="http://schemas.openxmlformats.org/drawingml/2006/main">
            <a:off x="2886075" y="3952875"/>
            <a:ext cx="2114550" cy="7239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21" name="">
            <a:extLst xmlns:a="http://schemas.openxmlformats.org/drawingml/2006/main">
              <a:ext uri="{FF2B5EF4-FFF2-40B4-BE49-F238E27FC236}">
                <a16:creationId xmlns:a16="http://schemas.microsoft.com/office/drawing/2014/main" id="{FD13E5F0-A7A4-4A57-B83E-905537ED3EEE}"/>
              </a:ext>
            </a:extLst>
          </p:cNvPr>
          <p:cNvSpPr>
            <a:spLocks xmlns:a="http://schemas.openxmlformats.org/drawingml/2006/main" noGrp="1"/>
          </p:cNvSpPr>
          <p:nvPr/>
        </p:nvSpPr>
        <p:spPr>
          <a:xfrm xmlns:a="http://schemas.openxmlformats.org/drawingml/2006/main">
            <a:off x="3000375" y="4029075"/>
            <a:ext cx="18859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950" b="1">
                <a:solidFill>
                  <a:srgbClr val="F4F7FA"/>
                </a:solidFill>
                <a:latin typeface="DejaVu Sans"/>
                <a:ea typeface="DejaVu Sans"/>
                <a:cs typeface="DejaVu Sans"/>
              </a:defRPr>
            </a:pPr>
            <a:r>
              <a:rPr sz="1950" b="1">
                <a:solidFill>
                  <a:srgbClr val="F4F7FA"/>
                </a:solidFill>
                <a:latin typeface="DejaVu Sans"/>
                <a:ea typeface="DejaVu Sans"/>
                <a:cs typeface="DejaVu Sans"/>
              </a:rPr>
              <a:t>Evaluate / decide</a:t>
            </a:r>
          </a:p>
        </p:txBody>
      </p:sp>
      <p:sp>
        <p:nvSpPr>
          <p:cNvPr id="22" name="">
            <a:extLst xmlns:a="http://schemas.openxmlformats.org/drawingml/2006/main">
              <a:ext uri="{FF2B5EF4-FFF2-40B4-BE49-F238E27FC236}">
                <a16:creationId xmlns:a16="http://schemas.microsoft.com/office/drawing/2014/main" id="{1A197DA0-132A-44AF-BC0F-859B2CB82853}"/>
              </a:ext>
            </a:extLst>
          </p:cNvPr>
          <p:cNvSpPr>
            <a:spLocks xmlns:a="http://schemas.openxmlformats.org/drawingml/2006/main" noGrp="1"/>
          </p:cNvSpPr>
          <p:nvPr/>
        </p:nvSpPr>
        <p:spPr>
          <a:xfrm xmlns:a="http://schemas.openxmlformats.org/drawingml/2006/main">
            <a:off x="457200" y="3952875"/>
            <a:ext cx="1990725" cy="7239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23" name="">
            <a:extLst xmlns:a="http://schemas.openxmlformats.org/drawingml/2006/main">
              <a:ext uri="{FF2B5EF4-FFF2-40B4-BE49-F238E27FC236}">
                <a16:creationId xmlns:a16="http://schemas.microsoft.com/office/drawing/2014/main" id="{BCF89CB9-4556-4CAA-97F1-2AD66A4EC9C0}"/>
              </a:ext>
            </a:extLst>
          </p:cNvPr>
          <p:cNvSpPr>
            <a:spLocks xmlns:a="http://schemas.openxmlformats.org/drawingml/2006/main" noGrp="1"/>
          </p:cNvSpPr>
          <p:nvPr/>
        </p:nvSpPr>
        <p:spPr>
          <a:xfrm xmlns:a="http://schemas.openxmlformats.org/drawingml/2006/main">
            <a:off x="571500" y="4029075"/>
            <a:ext cx="1762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DejaVu Sans"/>
                <a:ea typeface="DejaVu Sans"/>
                <a:cs typeface="DejaVu Sans"/>
              </a:defRPr>
            </a:pPr>
            <a:r>
              <a:rPr sz="1875" b="1">
                <a:solidFill>
                  <a:srgbClr val="F4F7FA"/>
                </a:solidFill>
                <a:latin typeface="DejaVu Sans"/>
                <a:ea typeface="DejaVu Sans"/>
                <a:cs typeface="DejaVu Sans"/>
              </a:rPr>
              <a:t>Act within authority</a:t>
            </a:r>
          </a:p>
        </p:txBody>
      </p:sp>
      <p:cxnSp>
        <p:nvCxnSpPr>
          <p:cNvPr id="54" name=""/>
          <p:cNvCxnSpPr>
            <a:stCxn xmlns:a="http://schemas.openxmlformats.org/drawingml/2006/main" id="8" idx="2"/>
            <a:endCxn xmlns:a="http://schemas.openxmlformats.org/drawingml/2006/main" id="18" idx="0"/>
          </p:cNvCxnSpPr>
          <p:nvPr/>
        </p:nvCxnSpPr>
        <p:spPr>
          <a:xfrm xmlns:a="http://schemas.openxmlformats.org/drawingml/2006/main">
            <a:off x="6086475" y="2981325"/>
            <a:ext cx="438150" cy="971550"/>
          </a:xfrm>
          <a:prstGeom xmlns:a="http://schemas.openxmlformats.org/drawingml/2006/main" prst="straightConnector1">
            <a:avLst/>
          </a:prstGeom>
          <a:ln xmlns:a="http://schemas.openxmlformats.org/drawingml/2006/main" w="21908">
            <a:solidFill>
              <a:srgbClr val="28C7F7"/>
            </a:solidFill>
            <a:prstDash val="solid"/>
            <a:tailEnd type="triangle" w="sm" len="sm"/>
          </a:ln>
        </p:spPr>
      </p:cxnSp>
      <p:cxnSp>
        <p:nvCxnSpPr>
          <p:cNvPr id="55" name=""/>
          <p:cNvCxnSpPr>
            <a:stCxn xmlns:a="http://schemas.openxmlformats.org/drawingml/2006/main" id="18" idx="1"/>
            <a:endCxn xmlns:a="http://schemas.openxmlformats.org/drawingml/2006/main" id="20" idx="3"/>
          </p:cNvCxnSpPr>
          <p:nvPr/>
        </p:nvCxnSpPr>
        <p:spPr>
          <a:xfrm xmlns:a="http://schemas.openxmlformats.org/drawingml/2006/main" flipH="1">
            <a:off x="5000625" y="4314825"/>
            <a:ext cx="466725" cy="0"/>
          </a:xfrm>
          <a:prstGeom xmlns:a="http://schemas.openxmlformats.org/drawingml/2006/main" prst="straightConnector1">
            <a:avLst/>
          </a:prstGeom>
          <a:ln xmlns:a="http://schemas.openxmlformats.org/drawingml/2006/main" w="21908">
            <a:solidFill>
              <a:srgbClr val="F5B61C"/>
            </a:solidFill>
            <a:prstDash val="solid"/>
            <a:tailEnd type="triangle" w="sm" len="sm"/>
          </a:ln>
        </p:spPr>
      </p:cxnSp>
      <p:cxnSp>
        <p:nvCxnSpPr>
          <p:cNvPr id="56" name=""/>
          <p:cNvCxnSpPr>
            <a:stCxn xmlns:a="http://schemas.openxmlformats.org/drawingml/2006/main" id="20" idx="1"/>
            <a:endCxn xmlns:a="http://schemas.openxmlformats.org/drawingml/2006/main" id="22" idx="3"/>
          </p:cNvCxnSpPr>
          <p:nvPr/>
        </p:nvCxnSpPr>
        <p:spPr>
          <a:xfrm xmlns:a="http://schemas.openxmlformats.org/drawingml/2006/main" flipH="1">
            <a:off x="2447925" y="4314825"/>
            <a:ext cx="438150" cy="0"/>
          </a:xfrm>
          <a:prstGeom xmlns:a="http://schemas.openxmlformats.org/drawingml/2006/main" prst="straightConnector1">
            <a:avLst/>
          </a:prstGeom>
          <a:ln xmlns:a="http://schemas.openxmlformats.org/drawingml/2006/main" w="21908">
            <a:solidFill>
              <a:srgbClr val="F5B61C"/>
            </a:solidFill>
            <a:prstDash val="solid"/>
            <a:tailEnd type="triangle" w="sm" len="sm"/>
          </a:ln>
        </p:spPr>
      </p:cxnSp>
      <p:cxnSp>
        <p:nvCxnSpPr>
          <p:cNvPr id="57" name=""/>
          <p:cNvCxnSpPr>
            <a:stCxn xmlns:a="http://schemas.openxmlformats.org/drawingml/2006/main" id="22" idx="0"/>
            <a:endCxn xmlns:a="http://schemas.openxmlformats.org/drawingml/2006/main" id="6" idx="2"/>
          </p:cNvCxnSpPr>
          <p:nvPr/>
        </p:nvCxnSpPr>
        <p:spPr>
          <a:xfrm xmlns:a="http://schemas.openxmlformats.org/drawingml/2006/main" flipV="1">
            <a:off x="1452563" y="2981325"/>
            <a:ext cx="2347913" cy="971550"/>
          </a:xfrm>
          <a:prstGeom xmlns:a="http://schemas.openxmlformats.org/drawingml/2006/main" prst="straightConnector1">
            <a:avLst/>
          </a:prstGeom>
          <a:ln xmlns:a="http://schemas.openxmlformats.org/drawingml/2006/main" w="21908">
            <a:solidFill>
              <a:srgbClr val="F5B61C"/>
            </a:solidFill>
            <a:prstDash val="solid"/>
            <a:tailEnd type="triangle" w="sm" len="sm"/>
          </a:ln>
        </p:spPr>
      </p:cxnSp>
      <p:sp>
        <p:nvSpPr>
          <p:cNvPr id="28" name="">
            <a:extLst xmlns:a="http://schemas.openxmlformats.org/drawingml/2006/main">
              <a:ext uri="{FF2B5EF4-FFF2-40B4-BE49-F238E27FC236}">
                <a16:creationId xmlns:a16="http://schemas.microsoft.com/office/drawing/2014/main" id="{1BAF33DB-8FD6-460A-BD8D-71E3EEF579EA}"/>
              </a:ext>
            </a:extLst>
          </p:cNvPr>
          <p:cNvSpPr>
            <a:spLocks xmlns:a="http://schemas.openxmlformats.org/drawingml/2006/main" noGrp="1"/>
          </p:cNvSpPr>
          <p:nvPr/>
        </p:nvSpPr>
        <p:spPr>
          <a:xfrm xmlns:a="http://schemas.openxmlformats.org/drawingml/2006/main">
            <a:off x="8067675" y="3895725"/>
            <a:ext cx="3524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0">
                <a:solidFill>
                  <a:srgbClr val="F4F7FA"/>
                </a:solidFill>
                <a:latin typeface="DejaVu Sans"/>
                <a:ea typeface="DejaVu Sans"/>
                <a:cs typeface="DejaVu Sans"/>
              </a:defRPr>
            </a:pPr>
            <a:r>
              <a:rPr sz="2100" b="0">
                <a:solidFill>
                  <a:srgbClr val="F4F7FA"/>
                </a:solidFill>
                <a:latin typeface="DejaVu Sans"/>
                <a:ea typeface="DejaVu Sans"/>
                <a:cs typeface="DejaVu Sans"/>
              </a:rPr>
              <a:t>Correct / retry / escalate / fallback / stop</a:t>
            </a:r>
          </a:p>
        </p:txBody>
      </p:sp>
      <p:sp>
        <p:nvSpPr>
          <p:cNvPr id="29" name="">
            <a:extLst xmlns:a="http://schemas.openxmlformats.org/drawingml/2006/main">
              <a:ext uri="{FF2B5EF4-FFF2-40B4-BE49-F238E27FC236}">
                <a16:creationId xmlns:a16="http://schemas.microsoft.com/office/drawing/2014/main" id="{A7F4ED62-1518-466F-A894-966065004D0A}"/>
              </a:ext>
            </a:extLst>
          </p:cNvPr>
          <p:cNvSpPr>
            <a:spLocks xmlns:a="http://schemas.openxmlformats.org/drawingml/2006/main" noGrp="1"/>
          </p:cNvSpPr>
          <p:nvPr/>
        </p:nvSpPr>
        <p:spPr>
          <a:xfrm xmlns:a="http://schemas.openxmlformats.org/drawingml/2006/main">
            <a:off x="457200" y="5210175"/>
            <a:ext cx="11277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Gate consequential actions before execution. Review incidents into Golden Sets.</a:t>
            </a:r>
          </a:p>
        </p:txBody>
      </p:sp>
      <p:sp>
        <p:nvSpPr>
          <p:cNvPr id="30" name="">
            <a:extLst xmlns:a="http://schemas.openxmlformats.org/drawingml/2006/main">
              <a:ext uri="{FF2B5EF4-FFF2-40B4-BE49-F238E27FC236}">
                <a16:creationId xmlns:a16="http://schemas.microsoft.com/office/drawing/2014/main" id="{10BA3320-F6B2-4917-98B6-4DC96E799313}"/>
              </a:ext>
            </a:extLst>
          </p:cNvPr>
          <p:cNvSpPr>
            <a:spLocks xmlns:a="http://schemas.openxmlformats.org/drawingml/2006/main" noGrp="1"/>
          </p:cNvSpPr>
          <p:nvPr/>
        </p:nvSpPr>
        <p:spPr>
          <a:xfrm xmlns:a="http://schemas.openxmlformats.org/drawingml/2006/main">
            <a:off x="457200" y="5857875"/>
            <a:ext cx="112776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025" b="1">
                <a:solidFill>
                  <a:srgbClr val="F4F7FA"/>
                </a:solidFill>
                <a:latin typeface="DejaVu Sans"/>
                <a:ea typeface="DejaVu Sans"/>
                <a:cs typeface="DejaVu Sans"/>
              </a:defRPr>
            </a:pPr>
            <a:r>
              <a:rPr sz="2025" b="1">
                <a:solidFill>
                  <a:srgbClr val="F4F7FA"/>
                </a:solidFill>
                <a:latin typeface="DejaVu Sans"/>
                <a:ea typeface="DejaVu Sans"/>
                <a:cs typeface="DejaVu Sans"/>
              </a:rPr>
              <a:t>Production needs evidence connected to corrective action.</a:t>
            </a:r>
          </a:p>
        </p:txBody>
      </p:sp>
    </p:spTree>
    <p:extLst>
      <p:ext uri="{BB962C8B-B14F-4D97-AF65-F5344CB8AC3E}">
        <p14:creationId xmlns:p14="http://schemas.microsoft.com/office/powerpoint/2010/main" val="1583735781"/>
      </p:ext>
    </p:extLst>
  </p:cSld>
</p:sld>
</file>

<file path=ppt/slides/slide13.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15F91B5-32AB-43A3-BA83-FDFB025B6EA6}"/>
              </a:ext>
            </a:extLst>
          </p:cNvPr>
          <p:cNvSpPr>
            <a:spLocks xmlns:a="http://schemas.openxmlformats.org/drawingml/2006/main" noGrp="1"/>
          </p:cNvSpPr>
          <p:nvPr/>
        </p:nvSpPr>
        <p:spPr>
          <a:xfrm xmlns:a="http://schemas.openxmlformats.org/drawingml/2006/main">
            <a:off x="457200" y="333375"/>
            <a:ext cx="11277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150" b="1">
                <a:solidFill>
                  <a:srgbClr val="F4F7FA"/>
                </a:solidFill>
                <a:latin typeface="DejaVu Sans"/>
                <a:ea typeface="DejaVu Sans"/>
                <a:cs typeface="DejaVu Sans"/>
              </a:defRPr>
            </a:pPr>
            <a:r>
              <a:rPr sz="3150" b="1">
                <a:solidFill>
                  <a:srgbClr val="F4F7FA"/>
                </a:solidFill>
                <a:latin typeface="DejaVu Sans"/>
                <a:ea typeface="DejaVu Sans"/>
                <a:cs typeface="DejaVu Sans"/>
              </a:rPr>
              <a:t>The Roles Move With the System</a:t>
            </a:r>
          </a:p>
        </p:txBody>
      </p:sp>
      <p:sp>
        <p:nvSpPr>
          <p:cNvPr id="2" name="">
            <a:extLst xmlns:a="http://schemas.openxmlformats.org/drawingml/2006/main">
              <a:ext uri="{FF2B5EF4-FFF2-40B4-BE49-F238E27FC236}">
                <a16:creationId xmlns:a16="http://schemas.microsoft.com/office/drawing/2014/main" id="{576866C3-9068-4E03-998D-D9A7058E553C}"/>
              </a:ext>
            </a:extLst>
          </p:cNvPr>
          <p:cNvSpPr>
            <a:spLocks xmlns:a="http://schemas.openxmlformats.org/drawingml/2006/main" noGrp="1"/>
          </p:cNvSpPr>
          <p:nvPr/>
        </p:nvSpPr>
        <p:spPr>
          <a:xfrm xmlns:a="http://schemas.openxmlformats.org/drawingml/2006/main" flipH="0" flipV="0">
            <a:off x="457200" y="1381125"/>
            <a:ext cx="112776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C80C4067-214C-4E24-9FEB-2C78D34636F7}"/>
              </a:ext>
            </a:extLst>
          </p:cNvPr>
          <p:cNvSpPr>
            <a:spLocks xmlns:a="http://schemas.openxmlformats.org/drawingml/2006/main" noGrp="1"/>
          </p:cNvSpPr>
          <p:nvPr/>
        </p:nvSpPr>
        <p:spPr>
          <a:xfrm xmlns:a="http://schemas.openxmlformats.org/drawingml/2006/main">
            <a:off x="11287125" y="6477000"/>
            <a:ext cx="4476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75" b="0">
                <a:solidFill>
                  <a:srgbClr val="ADB8C5"/>
                </a:solidFill>
                <a:latin typeface="DejaVu Sans"/>
                <a:ea typeface="DejaVu Sans"/>
                <a:cs typeface="DejaVu Sans"/>
              </a:defRPr>
            </a:pPr>
            <a:r>
              <a:rPr sz="1275" b="0">
                <a:solidFill>
                  <a:srgbClr val="ADB8C5"/>
                </a:solidFill>
                <a:latin typeface="DejaVu Sans"/>
                <a:ea typeface="DejaVu Sans"/>
                <a:cs typeface="DejaVu Sans"/>
              </a:rPr>
              <a:t>13</a:t>
            </a:r>
          </a:p>
        </p:txBody>
      </p:sp>
      <p:graphicFrame>
        <p:nvGraphicFramePr>
          <p:cNvPr id="9" name=""/>
          <p:cNvGraphicFramePr/>
          <p:nvPr/>
        </p:nvGraphicFramePr>
        <p:xfrm>
          <a:off xmlns:a="http://schemas.openxmlformats.org/drawingml/2006/main" x="457200" y="1876425"/>
          <a:ext xmlns:a="http://schemas.openxmlformats.org/drawingml/2006/main" cx="11277600" cy="3552825"/>
        </p:xfrm>
        <a:graphic xmlns:a="http://schemas.openxmlformats.org/drawingml/2006/main">
          <a:graphicData uri="http://schemas.openxmlformats.org/drawingml/2006/table">
            <a:tbl>
              <a:tblPr/>
              <a:tblGrid>
                <a:gridCol w="1752600"/>
                <a:gridCol w="3638550"/>
                <a:gridCol w="5886450"/>
              </a:tblGrid>
              <a:tr h="710565">
                <a:tc>
                  <a:txBody>
                    <a:bodyPr lIns="152400" tIns="95250" rIns="152400" bIns="95250">
                      <a:noAutofit/>
                    </a:bodyPr>
                    <a:lstStyle/>
                    <a:p>
                      <a:r>
                        <a:rPr sz="1725" b="1">
                          <a:solidFill>
                            <a:srgbClr val="F4F7FA"/>
                          </a:solidFill>
                          <a:latin typeface="DejaVu Sans"/>
                          <a:ea typeface="DejaVu Sans"/>
                          <a:cs typeface="DejaVu Sans"/>
                        </a:rPr>
                        <a:t>Role</a:t>
                      </a:r>
                    </a:p>
                  </a:txBody>
                  <a:tcPr marL="91440" marR="91440" marT="45720" marB="45720" anchor="ctr">
                    <a:solidFill>
                      <a:srgbClr val="1A2734"/>
                    </a:solidFill>
                  </a:tcPr>
                </a:tc>
                <a:tc>
                  <a:txBody>
                    <a:bodyPr lIns="152400" tIns="95250" rIns="152400" bIns="95250">
                      <a:noAutofit/>
                    </a:bodyPr>
                    <a:lstStyle/>
                    <a:p>
                      <a:r>
                        <a:rPr sz="1725" b="1">
                          <a:solidFill>
                            <a:srgbClr val="F4F7FA"/>
                          </a:solidFill>
                          <a:latin typeface="DejaVu Sans"/>
                          <a:ea typeface="DejaVu Sans"/>
                          <a:cs typeface="DejaVu Sans"/>
                        </a:rPr>
                        <a:t>Before</a:t>
                      </a:r>
                    </a:p>
                  </a:txBody>
                  <a:tcPr marL="91440" marR="91440" marT="45720" marB="45720" anchor="ctr">
                    <a:solidFill>
                      <a:srgbClr val="1A2734"/>
                    </a:solidFill>
                  </a:tcPr>
                </a:tc>
                <a:tc>
                  <a:txBody>
                    <a:bodyPr lIns="152400" tIns="95250" rIns="152400" bIns="95250">
                      <a:noAutofit/>
                    </a:bodyPr>
                    <a:lstStyle/>
                    <a:p>
                      <a:r>
                        <a:rPr sz="1725" b="1">
                          <a:solidFill>
                            <a:srgbClr val="28C7F7"/>
                          </a:solidFill>
                          <a:latin typeface="DejaVu Sans"/>
                          <a:ea typeface="DejaVu Sans"/>
                          <a:cs typeface="DejaVu Sans"/>
                        </a:rPr>
                        <a:t>Increasingly owns</a:t>
                      </a:r>
                    </a:p>
                  </a:txBody>
                  <a:tcPr marL="91440" marR="91440" marT="45720" marB="45720" anchor="ctr">
                    <a:solidFill>
                      <a:srgbClr val="1A2734"/>
                    </a:solidFill>
                  </a:tcPr>
                </a:tc>
              </a:tr>
              <a:tr h="710565">
                <a:tc>
                  <a:txBody>
                    <a:bodyPr lIns="152400" tIns="95250" rIns="152400" bIns="95250">
                      <a:noAutofit/>
                    </a:bodyPr>
                    <a:lstStyle/>
                    <a:p>
                      <a:r>
                        <a:rPr sz="1950" b="1">
                          <a:solidFill>
                            <a:srgbClr val="F4F7FA"/>
                          </a:solidFill>
                          <a:latin typeface="DejaVu Sans"/>
                          <a:ea typeface="DejaVu Sans"/>
                          <a:cs typeface="DejaVu Sans"/>
                        </a:rPr>
                        <a:t>PM</a:t>
                      </a:r>
                    </a:p>
                  </a:txBody>
                  <a:tcPr marL="91440" marR="91440" marT="45720" marB="45720" anchor="ctr">
                    <a:solidFill>
                      <a:srgbClr val="141C26"/>
                    </a:solidFill>
                  </a:tcPr>
                </a:tc>
                <a:tc>
                  <a:txBody>
                    <a:bodyPr lIns="152400" tIns="95250" rIns="152400" bIns="95250">
                      <a:noAutofit/>
                    </a:bodyPr>
                    <a:lstStyle/>
                    <a:p>
                      <a:r>
                        <a:rPr sz="1950" b="0">
                          <a:solidFill>
                            <a:srgbClr val="F4F7FA"/>
                          </a:solidFill>
                          <a:latin typeface="DejaVu Sans"/>
                          <a:ea typeface="DejaVu Sans"/>
                          <a:cs typeface="DejaVu Sans"/>
                        </a:rPr>
                        <a:t>Story / acceptance</a:t>
                      </a:r>
                    </a:p>
                  </a:txBody>
                  <a:tcPr marL="91440" marR="91440" marT="45720" marB="45720" anchor="ctr">
                    <a:solidFill>
                      <a:srgbClr val="141C26"/>
                    </a:solidFill>
                  </a:tcPr>
                </a:tc>
                <a:tc>
                  <a:txBody>
                    <a:bodyPr lIns="152400" tIns="95250" rIns="152400" bIns="95250">
                      <a:noAutofit/>
                    </a:bodyPr>
                    <a:lstStyle/>
                    <a:p>
                      <a:r>
                        <a:rPr sz="1950" b="0">
                          <a:solidFill>
                            <a:srgbClr val="28C7F7"/>
                          </a:solidFill>
                          <a:latin typeface="DejaVu Sans"/>
                          <a:ea typeface="DejaVu Sans"/>
                          <a:cs typeface="DejaVu Sans"/>
                        </a:rPr>
                        <a:t>Risk &amp; tolerance</a:t>
                      </a:r>
                    </a:p>
                  </a:txBody>
                  <a:tcPr marL="91440" marR="91440" marT="45720" marB="45720" anchor="ctr">
                    <a:solidFill>
                      <a:srgbClr val="141C26"/>
                    </a:solidFill>
                  </a:tcPr>
                </a:tc>
              </a:tr>
              <a:tr h="710565">
                <a:tc>
                  <a:txBody>
                    <a:bodyPr lIns="152400" tIns="95250" rIns="152400" bIns="95250">
                      <a:noAutofit/>
                    </a:bodyPr>
                    <a:lstStyle/>
                    <a:p>
                      <a:r>
                        <a:rPr sz="1950" b="1">
                          <a:solidFill>
                            <a:srgbClr val="F4F7FA"/>
                          </a:solidFill>
                          <a:latin typeface="DejaVu Sans"/>
                          <a:ea typeface="DejaVu Sans"/>
                          <a:cs typeface="DejaVu Sans"/>
                        </a:rPr>
                        <a:t>QA</a:t>
                      </a:r>
                    </a:p>
                  </a:txBody>
                  <a:tcPr marL="91440" marR="91440" marT="45720" marB="45720" anchor="ctr">
                    <a:solidFill>
                      <a:srgbClr val="141C26"/>
                    </a:solidFill>
                  </a:tcPr>
                </a:tc>
                <a:tc>
                  <a:txBody>
                    <a:bodyPr lIns="152400" tIns="95250" rIns="152400" bIns="95250">
                      <a:noAutofit/>
                    </a:bodyPr>
                    <a:lstStyle/>
                    <a:p>
                      <a:r>
                        <a:rPr sz="1950" b="0">
                          <a:solidFill>
                            <a:srgbClr val="F4F7FA"/>
                          </a:solidFill>
                          <a:latin typeface="DejaVu Sans"/>
                          <a:ea typeface="DejaVu Sans"/>
                          <a:cs typeface="DejaVu Sans"/>
                        </a:rPr>
                        <a:t>Pass / fail cases</a:t>
                      </a:r>
                    </a:p>
                  </a:txBody>
                  <a:tcPr marL="91440" marR="91440" marT="45720" marB="45720" anchor="ctr">
                    <a:solidFill>
                      <a:srgbClr val="141C26"/>
                    </a:solidFill>
                  </a:tcPr>
                </a:tc>
                <a:tc>
                  <a:txBody>
                    <a:bodyPr lIns="152400" tIns="95250" rIns="152400" bIns="95250">
                      <a:noAutofit/>
                    </a:bodyPr>
                    <a:lstStyle/>
                    <a:p>
                      <a:r>
                        <a:rPr sz="1950" b="0">
                          <a:solidFill>
                            <a:srgbClr val="28C7F7"/>
                          </a:solidFill>
                          <a:latin typeface="DejaVu Sans"/>
                          <a:ea typeface="DejaVu Sans"/>
                          <a:cs typeface="DejaVu Sans"/>
                        </a:rPr>
                        <a:t>Measurement &amp; evaluation</a:t>
                      </a:r>
                    </a:p>
                  </a:txBody>
                  <a:tcPr marL="91440" marR="91440" marT="45720" marB="45720" anchor="ctr">
                    <a:solidFill>
                      <a:srgbClr val="141C26"/>
                    </a:solidFill>
                  </a:tcPr>
                </a:tc>
              </a:tr>
              <a:tr h="710565">
                <a:tc>
                  <a:txBody>
                    <a:bodyPr lIns="152400" tIns="95250" rIns="152400" bIns="95250">
                      <a:noAutofit/>
                    </a:bodyPr>
                    <a:lstStyle/>
                    <a:p>
                      <a:r>
                        <a:rPr sz="1950" b="1">
                          <a:solidFill>
                            <a:srgbClr val="F4F7FA"/>
                          </a:solidFill>
                          <a:latin typeface="DejaVu Sans"/>
                          <a:ea typeface="DejaVu Sans"/>
                          <a:cs typeface="DejaVu Sans"/>
                        </a:rPr>
                        <a:t>Architect</a:t>
                      </a:r>
                    </a:p>
                  </a:txBody>
                  <a:tcPr marL="91440" marR="91440" marT="45720" marB="45720" anchor="ctr">
                    <a:solidFill>
                      <a:srgbClr val="141C26"/>
                    </a:solidFill>
                  </a:tcPr>
                </a:tc>
                <a:tc>
                  <a:txBody>
                    <a:bodyPr lIns="152400" tIns="95250" rIns="152400" bIns="95250">
                      <a:noAutofit/>
                    </a:bodyPr>
                    <a:lstStyle/>
                    <a:p>
                      <a:r>
                        <a:rPr sz="1950" b="0">
                          <a:solidFill>
                            <a:srgbClr val="F4F7FA"/>
                          </a:solidFill>
                          <a:latin typeface="DejaVu Sans"/>
                          <a:ea typeface="DejaVu Sans"/>
                          <a:cs typeface="DejaVu Sans"/>
                        </a:rPr>
                        <a:t>Components &amp; flows</a:t>
                      </a:r>
                    </a:p>
                  </a:txBody>
                  <a:tcPr marL="91440" marR="91440" marT="45720" marB="45720" anchor="ctr">
                    <a:solidFill>
                      <a:srgbClr val="141C26"/>
                    </a:solidFill>
                  </a:tcPr>
                </a:tc>
                <a:tc>
                  <a:txBody>
                    <a:bodyPr lIns="152400" tIns="95250" rIns="152400" bIns="95250">
                      <a:noAutofit/>
                    </a:bodyPr>
                    <a:lstStyle/>
                    <a:p>
                      <a:r>
                        <a:rPr sz="1950" b="0">
                          <a:solidFill>
                            <a:srgbClr val="28C7F7"/>
                          </a:solidFill>
                          <a:latin typeface="DejaVu Sans"/>
                          <a:ea typeface="DejaVu Sans"/>
                          <a:cs typeface="DejaVu Sans"/>
                        </a:rPr>
                        <a:t>Boundaries &amp; failure containment</a:t>
                      </a:r>
                    </a:p>
                  </a:txBody>
                  <a:tcPr marL="91440" marR="91440" marT="45720" marB="45720" anchor="ctr">
                    <a:solidFill>
                      <a:srgbClr val="141C26"/>
                    </a:solidFill>
                  </a:tcPr>
                </a:tc>
              </a:tr>
              <a:tr h="710565">
                <a:tc>
                  <a:txBody>
                    <a:bodyPr lIns="152400" tIns="95250" rIns="152400" bIns="95250">
                      <a:noAutofit/>
                    </a:bodyPr>
                    <a:lstStyle/>
                    <a:p>
                      <a:r>
                        <a:rPr sz="1950" b="1">
                          <a:solidFill>
                            <a:srgbClr val="F4F7FA"/>
                          </a:solidFill>
                          <a:latin typeface="DejaVu Sans"/>
                          <a:ea typeface="DejaVu Sans"/>
                          <a:cs typeface="DejaVu Sans"/>
                        </a:rPr>
                        <a:t>Developer</a:t>
                      </a:r>
                    </a:p>
                  </a:txBody>
                  <a:tcPr marL="91440" marR="91440" marT="45720" marB="45720" anchor="ctr">
                    <a:solidFill>
                      <a:srgbClr val="141C26"/>
                    </a:solidFill>
                  </a:tcPr>
                </a:tc>
                <a:tc>
                  <a:txBody>
                    <a:bodyPr lIns="152400" tIns="95250" rIns="152400" bIns="95250">
                      <a:noAutofit/>
                    </a:bodyPr>
                    <a:lstStyle/>
                    <a:p>
                      <a:r>
                        <a:rPr sz="1950" b="0">
                          <a:solidFill>
                            <a:srgbClr val="F4F7FA"/>
                          </a:solidFill>
                          <a:latin typeface="DejaVu Sans"/>
                          <a:ea typeface="DejaVu Sans"/>
                          <a:cs typeface="DejaVu Sans"/>
                        </a:rPr>
                        <a:t>Implementation</a:t>
                      </a:r>
                    </a:p>
                  </a:txBody>
                  <a:tcPr marL="91440" marR="91440" marT="45720" marB="45720" anchor="ctr">
                    <a:solidFill>
                      <a:srgbClr val="141C26"/>
                    </a:solidFill>
                  </a:tcPr>
                </a:tc>
                <a:tc>
                  <a:txBody>
                    <a:bodyPr lIns="152400" tIns="95250" rIns="152400" bIns="95250">
                      <a:noAutofit/>
                    </a:bodyPr>
                    <a:lstStyle/>
                    <a:p>
                      <a:r>
                        <a:rPr sz="1950" b="0">
                          <a:solidFill>
                            <a:srgbClr val="28C7F7"/>
                          </a:solidFill>
                          <a:latin typeface="DejaVu Sans"/>
                          <a:ea typeface="DejaVu Sans"/>
                          <a:cs typeface="DejaVu Sans"/>
                        </a:rPr>
                        <a:t>Behavioral / operational ownership</a:t>
                      </a:r>
                    </a:p>
                  </a:txBody>
                  <a:tcPr marL="91440" marR="91440" marT="45720" marB="45720" anchor="ctr">
                    <a:solidFill>
                      <a:srgbClr val="141C26"/>
                    </a:solidFill>
                  </a:tcPr>
                </a:tc>
              </a:tr>
            </a:tbl>
          </a:graphicData>
        </a:graphic>
      </p:graphicFrame>
      <p:sp>
        <p:nvSpPr>
          <p:cNvPr id="5" name="">
            <a:extLst xmlns:a="http://schemas.openxmlformats.org/drawingml/2006/main">
              <a:ext uri="{FF2B5EF4-FFF2-40B4-BE49-F238E27FC236}">
                <a16:creationId xmlns:a16="http://schemas.microsoft.com/office/drawing/2014/main" id="{82E6B65A-08BC-48FA-9573-BF51C7D374A4}"/>
              </a:ext>
            </a:extLst>
          </p:cNvPr>
          <p:cNvSpPr>
            <a:spLocks xmlns:a="http://schemas.openxmlformats.org/drawingml/2006/main" noGrp="1"/>
          </p:cNvSpPr>
          <p:nvPr/>
        </p:nvSpPr>
        <p:spPr>
          <a:xfrm xmlns:a="http://schemas.openxmlformats.org/drawingml/2006/main">
            <a:off x="457200" y="5715000"/>
            <a:ext cx="112776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175" b="1">
                <a:solidFill>
                  <a:srgbClr val="F4F7FA"/>
                </a:solidFill>
                <a:latin typeface="DejaVu Sans"/>
                <a:ea typeface="DejaVu Sans"/>
                <a:cs typeface="DejaVu Sans"/>
              </a:defRPr>
            </a:pPr>
            <a:r>
              <a:rPr sz="2175" b="1">
                <a:solidFill>
                  <a:srgbClr val="F4F7FA"/>
                </a:solidFill>
                <a:latin typeface="DejaVu Sans"/>
                <a:ea typeface="DejaVu Sans"/>
                <a:cs typeface="DejaVu Sans"/>
              </a:rPr>
              <a:t>The job titles may stay. The object of responsibility changes.</a:t>
            </a:r>
          </a:p>
        </p:txBody>
      </p:sp>
    </p:spTree>
    <p:extLst>
      <p:ext uri="{BB962C8B-B14F-4D97-AF65-F5344CB8AC3E}">
        <p14:creationId xmlns:p14="http://schemas.microsoft.com/office/powerpoint/2010/main" val="1819252849"/>
      </p:ext>
    </p:extLst>
  </p:cSld>
</p:sld>
</file>

<file path=ppt/slides/slide14.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741F2504-5748-4CE4-A584-0A0690003FDC}"/>
              </a:ext>
            </a:extLst>
          </p:cNvPr>
          <p:cNvSpPr>
            <a:spLocks xmlns:a="http://schemas.openxmlformats.org/drawingml/2006/main" noGrp="1"/>
          </p:cNvSpPr>
          <p:nvPr/>
        </p:nvSpPr>
        <p:spPr>
          <a:xfrm xmlns:a="http://schemas.openxmlformats.org/drawingml/2006/main">
            <a:off x="457200" y="333375"/>
            <a:ext cx="11277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150" b="1">
                <a:solidFill>
                  <a:srgbClr val="F4F7FA"/>
                </a:solidFill>
                <a:latin typeface="DejaVu Sans"/>
                <a:ea typeface="DejaVu Sans"/>
                <a:cs typeface="DejaVu Sans"/>
              </a:defRPr>
            </a:pPr>
            <a:r>
              <a:rPr sz="3150" b="1">
                <a:solidFill>
                  <a:srgbClr val="F4F7FA"/>
                </a:solidFill>
                <a:latin typeface="DejaVu Sans"/>
                <a:ea typeface="DejaVu Sans"/>
                <a:cs typeface="DejaVu Sans"/>
              </a:rPr>
              <a:t>Engineering Rigor Moves — It Doesn’t Disappear</a:t>
            </a:r>
          </a:p>
        </p:txBody>
      </p:sp>
      <p:sp>
        <p:nvSpPr>
          <p:cNvPr id="2" name="">
            <a:extLst xmlns:a="http://schemas.openxmlformats.org/drawingml/2006/main">
              <a:ext uri="{FF2B5EF4-FFF2-40B4-BE49-F238E27FC236}">
                <a16:creationId xmlns:a16="http://schemas.microsoft.com/office/drawing/2014/main" id="{3929A373-6D25-4C5B-B619-64901494D460}"/>
              </a:ext>
            </a:extLst>
          </p:cNvPr>
          <p:cNvSpPr>
            <a:spLocks xmlns:a="http://schemas.openxmlformats.org/drawingml/2006/main" noGrp="1"/>
          </p:cNvSpPr>
          <p:nvPr/>
        </p:nvSpPr>
        <p:spPr>
          <a:xfrm xmlns:a="http://schemas.openxmlformats.org/drawingml/2006/main" flipH="0" flipV="0">
            <a:off x="457200" y="1381125"/>
            <a:ext cx="112776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C22A50F6-595E-4D00-9E6B-C1E48F671427}"/>
              </a:ext>
            </a:extLst>
          </p:cNvPr>
          <p:cNvSpPr>
            <a:spLocks xmlns:a="http://schemas.openxmlformats.org/drawingml/2006/main" noGrp="1"/>
          </p:cNvSpPr>
          <p:nvPr/>
        </p:nvSpPr>
        <p:spPr>
          <a:xfrm xmlns:a="http://schemas.openxmlformats.org/drawingml/2006/main">
            <a:off x="11287125" y="6477000"/>
            <a:ext cx="4476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75" b="0">
                <a:solidFill>
                  <a:srgbClr val="ADB8C5"/>
                </a:solidFill>
                <a:latin typeface="DejaVu Sans"/>
                <a:ea typeface="DejaVu Sans"/>
                <a:cs typeface="DejaVu Sans"/>
              </a:defRPr>
            </a:pPr>
            <a:r>
              <a:rPr sz="1275" b="0">
                <a:solidFill>
                  <a:srgbClr val="ADB8C5"/>
                </a:solidFill>
                <a:latin typeface="DejaVu Sans"/>
                <a:ea typeface="DejaVu Sans"/>
                <a:cs typeface="DejaVu Sans"/>
              </a:rPr>
              <a:t>14</a:t>
            </a:r>
          </a:p>
        </p:txBody>
      </p:sp>
      <p:sp>
        <p:nvSpPr>
          <p:cNvPr id="4" name="">
            <a:extLst xmlns:a="http://schemas.openxmlformats.org/drawingml/2006/main">
              <a:ext uri="{FF2B5EF4-FFF2-40B4-BE49-F238E27FC236}">
                <a16:creationId xmlns:a16="http://schemas.microsoft.com/office/drawing/2014/main" id="{68AC1049-A94D-44A2-A1DB-F9E52AA87AFD}"/>
              </a:ext>
            </a:extLst>
          </p:cNvPr>
          <p:cNvSpPr>
            <a:spLocks xmlns:a="http://schemas.openxmlformats.org/drawingml/2006/main" noGrp="1"/>
          </p:cNvSpPr>
          <p:nvPr/>
        </p:nvSpPr>
        <p:spPr>
          <a:xfrm xmlns:a="http://schemas.openxmlformats.org/drawingml/2006/main">
            <a:off x="457200" y="1685925"/>
            <a:ext cx="5334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28C7F7"/>
                </a:solidFill>
                <a:latin typeface="DejaVu Sans"/>
                <a:ea typeface="DejaVu Sans"/>
                <a:cs typeface="DejaVu Sans"/>
              </a:defRPr>
            </a:pPr>
            <a:r>
              <a:rPr sz="1800" b="1">
                <a:solidFill>
                  <a:srgbClr val="28C7F7"/>
                </a:solidFill>
                <a:latin typeface="DejaVu Sans"/>
                <a:ea typeface="DejaVu Sans"/>
                <a:cs typeface="DejaVu Sans"/>
              </a:rPr>
              <a:t>HOW WE BUILD</a:t>
            </a:r>
          </a:p>
        </p:txBody>
      </p:sp>
      <p:sp>
        <p:nvSpPr>
          <p:cNvPr id="5" name="">
            <a:extLst xmlns:a="http://schemas.openxmlformats.org/drawingml/2006/main">
              <a:ext uri="{FF2B5EF4-FFF2-40B4-BE49-F238E27FC236}">
                <a16:creationId xmlns:a16="http://schemas.microsoft.com/office/drawing/2014/main" id="{6A1E06BA-B801-457D-B193-CEBA012C5DF5}"/>
              </a:ext>
            </a:extLst>
          </p:cNvPr>
          <p:cNvSpPr>
            <a:spLocks xmlns:a="http://schemas.openxmlformats.org/drawingml/2006/main" noGrp="1"/>
          </p:cNvSpPr>
          <p:nvPr/>
        </p:nvSpPr>
        <p:spPr>
          <a:xfrm xmlns:a="http://schemas.openxmlformats.org/drawingml/2006/main">
            <a:off x="457200" y="2171700"/>
            <a:ext cx="533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850" b="1">
                <a:solidFill>
                  <a:srgbClr val="F4F7FA"/>
                </a:solidFill>
                <a:latin typeface="DejaVu Sans"/>
                <a:ea typeface="DejaVu Sans"/>
                <a:cs typeface="DejaVu Sans"/>
              </a:defRPr>
            </a:pPr>
            <a:r>
              <a:rPr sz="2850" b="1">
                <a:solidFill>
                  <a:srgbClr val="F4F7FA"/>
                </a:solidFill>
                <a:latin typeface="DejaVu Sans"/>
                <a:ea typeface="DejaVu Sans"/>
                <a:cs typeface="DejaVu Sans"/>
              </a:rPr>
              <a:t>Scarcity moves</a:t>
            </a:r>
          </a:p>
        </p:txBody>
      </p:sp>
      <p:sp>
        <p:nvSpPr>
          <p:cNvPr id="6" name="">
            <a:extLst xmlns:a="http://schemas.openxmlformats.org/drawingml/2006/main">
              <a:ext uri="{FF2B5EF4-FFF2-40B4-BE49-F238E27FC236}">
                <a16:creationId xmlns:a16="http://schemas.microsoft.com/office/drawing/2014/main" id="{8E35E83D-A311-482C-ABA5-FEE46095A488}"/>
              </a:ext>
            </a:extLst>
          </p:cNvPr>
          <p:cNvSpPr>
            <a:spLocks xmlns:a="http://schemas.openxmlformats.org/drawingml/2006/main" noGrp="1"/>
          </p:cNvSpPr>
          <p:nvPr/>
        </p:nvSpPr>
        <p:spPr>
          <a:xfrm xmlns:a="http://schemas.openxmlformats.org/drawingml/2006/main">
            <a:off x="457200" y="2857500"/>
            <a:ext cx="5410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0">
                <a:solidFill>
                  <a:srgbClr val="ADB8C5"/>
                </a:solidFill>
                <a:latin typeface="DejaVu Sans"/>
                <a:ea typeface="DejaVu Sans"/>
                <a:cs typeface="DejaVu Sans"/>
              </a:defRPr>
            </a:pPr>
            <a:r>
              <a:rPr sz="2025" b="0">
                <a:solidFill>
                  <a:srgbClr val="ADB8C5"/>
                </a:solidFill>
                <a:latin typeface="DejaVu Sans"/>
                <a:ea typeface="DejaVu Sans"/>
                <a:cs typeface="DejaVu Sans"/>
              </a:rPr>
              <a:t>Code generation gets cheaper</a:t>
            </a:r>
          </a:p>
        </p:txBody>
      </p:sp>
      <p:sp>
        <p:nvSpPr>
          <p:cNvPr id="7" name="">
            <a:extLst xmlns:a="http://schemas.openxmlformats.org/drawingml/2006/main">
              <a:ext uri="{FF2B5EF4-FFF2-40B4-BE49-F238E27FC236}">
                <a16:creationId xmlns:a16="http://schemas.microsoft.com/office/drawing/2014/main" id="{D55045E6-64DF-430D-A6A6-4F47030890BC}"/>
              </a:ext>
            </a:extLst>
          </p:cNvPr>
          <p:cNvSpPr>
            <a:spLocks xmlns:a="http://schemas.openxmlformats.org/drawingml/2006/main" noGrp="1"/>
          </p:cNvSpPr>
          <p:nvPr/>
        </p:nvSpPr>
        <p:spPr>
          <a:xfrm xmlns:a="http://schemas.openxmlformats.org/drawingml/2006/main">
            <a:off x="457200" y="3305175"/>
            <a:ext cx="5410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0">
                <a:solidFill>
                  <a:srgbClr val="ADB8C5"/>
                </a:solidFill>
                <a:latin typeface="DejaVu Sans"/>
                <a:ea typeface="DejaVu Sans"/>
                <a:cs typeface="DejaVu Sans"/>
              </a:defRPr>
            </a:pPr>
            <a:r>
              <a:rPr sz="2025" b="0">
                <a:solidFill>
                  <a:srgbClr val="ADB8C5"/>
                </a:solidFill>
                <a:latin typeface="DejaVu Sans"/>
                <a:ea typeface="DejaVu Sans"/>
                <a:cs typeface="DejaVu Sans"/>
              </a:rPr>
              <a:t>Comprehension becomes scarce</a:t>
            </a:r>
          </a:p>
        </p:txBody>
      </p:sp>
      <p:sp>
        <p:nvSpPr>
          <p:cNvPr id="8" name="">
            <a:extLst xmlns:a="http://schemas.openxmlformats.org/drawingml/2006/main">
              <a:ext uri="{FF2B5EF4-FFF2-40B4-BE49-F238E27FC236}">
                <a16:creationId xmlns:a16="http://schemas.microsoft.com/office/drawing/2014/main" id="{A9794FF5-D877-4A53-9B8C-458C71E28604}"/>
              </a:ext>
            </a:extLst>
          </p:cNvPr>
          <p:cNvSpPr>
            <a:spLocks xmlns:a="http://schemas.openxmlformats.org/drawingml/2006/main" noGrp="1"/>
          </p:cNvSpPr>
          <p:nvPr/>
        </p:nvSpPr>
        <p:spPr>
          <a:xfrm xmlns:a="http://schemas.openxmlformats.org/drawingml/2006/main">
            <a:off x="457200" y="3752850"/>
            <a:ext cx="5410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0">
                <a:solidFill>
                  <a:srgbClr val="ADB8C5"/>
                </a:solidFill>
                <a:latin typeface="DejaVu Sans"/>
                <a:ea typeface="DejaVu Sans"/>
                <a:cs typeface="DejaVu Sans"/>
              </a:defRPr>
            </a:pPr>
            <a:r>
              <a:rPr sz="2025" b="0">
                <a:solidFill>
                  <a:srgbClr val="ADB8C5"/>
                </a:solidFill>
                <a:latin typeface="DejaVu Sans"/>
                <a:ea typeface="DejaVu Sans"/>
                <a:cs typeface="DejaVu Sans"/>
              </a:rPr>
              <a:t>Bottlenecks move</a:t>
            </a:r>
          </a:p>
        </p:txBody>
      </p:sp>
      <p:sp>
        <p:nvSpPr>
          <p:cNvPr id="9" name="">
            <a:extLst xmlns:a="http://schemas.openxmlformats.org/drawingml/2006/main">
              <a:ext uri="{FF2B5EF4-FFF2-40B4-BE49-F238E27FC236}">
                <a16:creationId xmlns:a16="http://schemas.microsoft.com/office/drawing/2014/main" id="{94743BAC-5A7C-42A5-8E34-38CF0C556E3B}"/>
              </a:ext>
            </a:extLst>
          </p:cNvPr>
          <p:cNvSpPr>
            <a:spLocks xmlns:a="http://schemas.openxmlformats.org/drawingml/2006/main" noGrp="1"/>
          </p:cNvSpPr>
          <p:nvPr/>
        </p:nvSpPr>
        <p:spPr>
          <a:xfrm xmlns:a="http://schemas.openxmlformats.org/drawingml/2006/main">
            <a:off x="457200" y="4200525"/>
            <a:ext cx="5410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0">
                <a:solidFill>
                  <a:srgbClr val="ADB8C5"/>
                </a:solidFill>
                <a:latin typeface="DejaVu Sans"/>
                <a:ea typeface="DejaVu Sans"/>
                <a:cs typeface="DejaVu Sans"/>
              </a:defRPr>
            </a:pPr>
            <a:r>
              <a:rPr sz="2025" b="0">
                <a:solidFill>
                  <a:srgbClr val="ADB8C5"/>
                </a:solidFill>
                <a:latin typeface="DejaVu Sans"/>
                <a:ea typeface="DejaVu Sans"/>
                <a:cs typeface="DejaVu Sans"/>
              </a:rPr>
              <a:t>SDLC seeks a new equilibrium</a:t>
            </a:r>
          </a:p>
        </p:txBody>
      </p:sp>
      <p:sp>
        <p:nvSpPr>
          <p:cNvPr id="10" name="">
            <a:extLst xmlns:a="http://schemas.openxmlformats.org/drawingml/2006/main">
              <a:ext uri="{FF2B5EF4-FFF2-40B4-BE49-F238E27FC236}">
                <a16:creationId xmlns:a16="http://schemas.microsoft.com/office/drawing/2014/main" id="{FD53DFFB-CCCF-4E41-9839-434897C1610F}"/>
              </a:ext>
            </a:extLst>
          </p:cNvPr>
          <p:cNvSpPr>
            <a:spLocks xmlns:a="http://schemas.openxmlformats.org/drawingml/2006/main" noGrp="1"/>
          </p:cNvSpPr>
          <p:nvPr/>
        </p:nvSpPr>
        <p:spPr>
          <a:xfrm xmlns:a="http://schemas.openxmlformats.org/drawingml/2006/main">
            <a:off x="6410325" y="1685925"/>
            <a:ext cx="5334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F5B61C"/>
                </a:solidFill>
                <a:latin typeface="DejaVu Sans"/>
                <a:ea typeface="DejaVu Sans"/>
                <a:cs typeface="DejaVu Sans"/>
              </a:defRPr>
            </a:pPr>
            <a:r>
              <a:rPr sz="1800" b="1">
                <a:solidFill>
                  <a:srgbClr val="F5B61C"/>
                </a:solidFill>
                <a:latin typeface="DejaVu Sans"/>
                <a:ea typeface="DejaVu Sans"/>
                <a:cs typeface="DejaVu Sans"/>
              </a:rPr>
              <a:t>WHAT WE BUILD</a:t>
            </a:r>
          </a:p>
        </p:txBody>
      </p:sp>
      <p:sp>
        <p:nvSpPr>
          <p:cNvPr id="11" name="">
            <a:extLst xmlns:a="http://schemas.openxmlformats.org/drawingml/2006/main">
              <a:ext uri="{FF2B5EF4-FFF2-40B4-BE49-F238E27FC236}">
                <a16:creationId xmlns:a16="http://schemas.microsoft.com/office/drawing/2014/main" id="{72F50611-0698-4AFF-87C1-751E2633C3F4}"/>
              </a:ext>
            </a:extLst>
          </p:cNvPr>
          <p:cNvSpPr>
            <a:spLocks xmlns:a="http://schemas.openxmlformats.org/drawingml/2006/main" noGrp="1"/>
          </p:cNvSpPr>
          <p:nvPr/>
        </p:nvSpPr>
        <p:spPr>
          <a:xfrm xmlns:a="http://schemas.openxmlformats.org/drawingml/2006/main">
            <a:off x="6410325" y="2171700"/>
            <a:ext cx="533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850" b="1">
                <a:solidFill>
                  <a:srgbClr val="F4F7FA"/>
                </a:solidFill>
                <a:latin typeface="DejaVu Sans"/>
                <a:ea typeface="DejaVu Sans"/>
                <a:cs typeface="DejaVu Sans"/>
              </a:defRPr>
            </a:pPr>
            <a:r>
              <a:rPr sz="2850" b="1">
                <a:solidFill>
                  <a:srgbClr val="F4F7FA"/>
                </a:solidFill>
                <a:latin typeface="DejaVu Sans"/>
                <a:ea typeface="DejaVu Sans"/>
                <a:cs typeface="DejaVu Sans"/>
              </a:rPr>
              <a:t>Rigor moves</a:t>
            </a:r>
          </a:p>
        </p:txBody>
      </p:sp>
      <p:sp>
        <p:nvSpPr>
          <p:cNvPr id="12" name="">
            <a:extLst xmlns:a="http://schemas.openxmlformats.org/drawingml/2006/main">
              <a:ext uri="{FF2B5EF4-FFF2-40B4-BE49-F238E27FC236}">
                <a16:creationId xmlns:a16="http://schemas.microsoft.com/office/drawing/2014/main" id="{05F38328-68E6-4188-996A-08919C71E870}"/>
              </a:ext>
            </a:extLst>
          </p:cNvPr>
          <p:cNvSpPr>
            <a:spLocks xmlns:a="http://schemas.openxmlformats.org/drawingml/2006/main" noGrp="1"/>
          </p:cNvSpPr>
          <p:nvPr/>
        </p:nvSpPr>
        <p:spPr>
          <a:xfrm xmlns:a="http://schemas.openxmlformats.org/drawingml/2006/main">
            <a:off x="6410325" y="2857500"/>
            <a:ext cx="5410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0">
                <a:solidFill>
                  <a:srgbClr val="ADB8C5"/>
                </a:solidFill>
                <a:latin typeface="DejaVu Sans"/>
                <a:ea typeface="DejaVu Sans"/>
                <a:cs typeface="DejaVu Sans"/>
              </a:defRPr>
            </a:pPr>
            <a:r>
              <a:rPr sz="2025" b="0">
                <a:solidFill>
                  <a:srgbClr val="ADB8C5"/>
                </a:solidFill>
                <a:latin typeface="DejaVu Sans"/>
                <a:ea typeface="DejaVu Sans"/>
                <a:cs typeface="DejaVu Sans"/>
              </a:rPr>
              <a:t>Output → Distribution</a:t>
            </a:r>
          </a:p>
        </p:txBody>
      </p:sp>
      <p:sp>
        <p:nvSpPr>
          <p:cNvPr id="13" name="">
            <a:extLst xmlns:a="http://schemas.openxmlformats.org/drawingml/2006/main">
              <a:ext uri="{FF2B5EF4-FFF2-40B4-BE49-F238E27FC236}">
                <a16:creationId xmlns:a16="http://schemas.microsoft.com/office/drawing/2014/main" id="{9F1B2452-3114-4486-BC85-C246B0BAC78E}"/>
              </a:ext>
            </a:extLst>
          </p:cNvPr>
          <p:cNvSpPr>
            <a:spLocks xmlns:a="http://schemas.openxmlformats.org/drawingml/2006/main" noGrp="1"/>
          </p:cNvSpPr>
          <p:nvPr/>
        </p:nvSpPr>
        <p:spPr>
          <a:xfrm xmlns:a="http://schemas.openxmlformats.org/drawingml/2006/main">
            <a:off x="6410325" y="3305175"/>
            <a:ext cx="5410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0">
                <a:solidFill>
                  <a:srgbClr val="ADB8C5"/>
                </a:solidFill>
                <a:latin typeface="DejaVu Sans"/>
                <a:ea typeface="DejaVu Sans"/>
                <a:cs typeface="DejaVu Sans"/>
              </a:defRPr>
            </a:pPr>
            <a:r>
              <a:rPr sz="2025" b="0">
                <a:solidFill>
                  <a:srgbClr val="ADB8C5"/>
                </a:solidFill>
                <a:latin typeface="DejaVu Sans"/>
                <a:ea typeface="DejaVu Sans"/>
                <a:cs typeface="DejaVu Sans"/>
              </a:rPr>
              <a:t>Requirement → Boundary</a:t>
            </a:r>
          </a:p>
        </p:txBody>
      </p:sp>
      <p:sp>
        <p:nvSpPr>
          <p:cNvPr id="14" name="">
            <a:extLst xmlns:a="http://schemas.openxmlformats.org/drawingml/2006/main">
              <a:ext uri="{FF2B5EF4-FFF2-40B4-BE49-F238E27FC236}">
                <a16:creationId xmlns:a16="http://schemas.microsoft.com/office/drawing/2014/main" id="{6D637143-FAD3-4342-84B1-E012C44DA258}"/>
              </a:ext>
            </a:extLst>
          </p:cNvPr>
          <p:cNvSpPr>
            <a:spLocks xmlns:a="http://schemas.openxmlformats.org/drawingml/2006/main" noGrp="1"/>
          </p:cNvSpPr>
          <p:nvPr/>
        </p:nvSpPr>
        <p:spPr>
          <a:xfrm xmlns:a="http://schemas.openxmlformats.org/drawingml/2006/main">
            <a:off x="6410325" y="3752850"/>
            <a:ext cx="5410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0">
                <a:solidFill>
                  <a:srgbClr val="ADB8C5"/>
                </a:solidFill>
                <a:latin typeface="DejaVu Sans"/>
                <a:ea typeface="DejaVu Sans"/>
                <a:cs typeface="DejaVu Sans"/>
              </a:defRPr>
            </a:pPr>
            <a:r>
              <a:rPr sz="2025" b="0">
                <a:solidFill>
                  <a:srgbClr val="ADB8C5"/>
                </a:solidFill>
                <a:latin typeface="DejaVu Sans"/>
                <a:ea typeface="DejaVu Sans"/>
                <a:cs typeface="DejaVu Sans"/>
              </a:rPr>
              <a:t>Test → Measurement</a:t>
            </a:r>
          </a:p>
        </p:txBody>
      </p:sp>
      <p:sp>
        <p:nvSpPr>
          <p:cNvPr id="15" name="">
            <a:extLst xmlns:a="http://schemas.openxmlformats.org/drawingml/2006/main">
              <a:ext uri="{FF2B5EF4-FFF2-40B4-BE49-F238E27FC236}">
                <a16:creationId xmlns:a16="http://schemas.microsoft.com/office/drawing/2014/main" id="{2C10B6D6-9EAE-4D88-ABD2-934EEE416140}"/>
              </a:ext>
            </a:extLst>
          </p:cNvPr>
          <p:cNvSpPr>
            <a:spLocks xmlns:a="http://schemas.openxmlformats.org/drawingml/2006/main" noGrp="1"/>
          </p:cNvSpPr>
          <p:nvPr/>
        </p:nvSpPr>
        <p:spPr>
          <a:xfrm xmlns:a="http://schemas.openxmlformats.org/drawingml/2006/main">
            <a:off x="6410325" y="4200525"/>
            <a:ext cx="5410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0">
                <a:solidFill>
                  <a:srgbClr val="ADB8C5"/>
                </a:solidFill>
                <a:latin typeface="DejaVu Sans"/>
                <a:ea typeface="DejaVu Sans"/>
                <a:cs typeface="DejaVu Sans"/>
              </a:defRPr>
            </a:pPr>
            <a:r>
              <a:rPr sz="2025" b="0">
                <a:solidFill>
                  <a:srgbClr val="ADB8C5"/>
                </a:solidFill>
                <a:latin typeface="DejaVu Sans"/>
                <a:ea typeface="DejaVu Sans"/>
                <a:cs typeface="DejaVu Sans"/>
              </a:rPr>
              <a:t>Release → Risk decision</a:t>
            </a:r>
          </a:p>
        </p:txBody>
      </p:sp>
      <p:sp>
        <p:nvSpPr>
          <p:cNvPr id="16" name="">
            <a:extLst xmlns:a="http://schemas.openxmlformats.org/drawingml/2006/main">
              <a:ext uri="{FF2B5EF4-FFF2-40B4-BE49-F238E27FC236}">
                <a16:creationId xmlns:a16="http://schemas.microsoft.com/office/drawing/2014/main" id="{DAB7A06C-B1A7-4A39-802C-0379787EC878}"/>
              </a:ext>
            </a:extLst>
          </p:cNvPr>
          <p:cNvSpPr>
            <a:spLocks xmlns:a="http://schemas.openxmlformats.org/drawingml/2006/main" noGrp="1"/>
          </p:cNvSpPr>
          <p:nvPr/>
        </p:nvSpPr>
        <p:spPr>
          <a:xfrm xmlns:a="http://schemas.openxmlformats.org/drawingml/2006/main">
            <a:off x="6410325" y="4648200"/>
            <a:ext cx="5410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0">
                <a:solidFill>
                  <a:srgbClr val="ADB8C5"/>
                </a:solidFill>
                <a:latin typeface="DejaVu Sans"/>
                <a:ea typeface="DejaVu Sans"/>
                <a:cs typeface="DejaVu Sans"/>
              </a:defRPr>
            </a:pPr>
            <a:r>
              <a:rPr sz="2025" b="0">
                <a:solidFill>
                  <a:srgbClr val="ADB8C5"/>
                </a:solidFill>
                <a:latin typeface="DejaVu Sans"/>
                <a:ea typeface="DejaVu Sans"/>
                <a:cs typeface="DejaVu Sans"/>
              </a:rPr>
              <a:t>Production → Control loop</a:t>
            </a:r>
          </a:p>
        </p:txBody>
      </p:sp>
      <p:sp>
        <p:nvSpPr>
          <p:cNvPr id="17" name="">
            <a:extLst xmlns:a="http://schemas.openxmlformats.org/drawingml/2006/main">
              <a:ext uri="{FF2B5EF4-FFF2-40B4-BE49-F238E27FC236}">
                <a16:creationId xmlns:a16="http://schemas.microsoft.com/office/drawing/2014/main" id="{CED4143D-7D5D-42E8-B12F-1B067CF30C91}"/>
              </a:ext>
            </a:extLst>
          </p:cNvPr>
          <p:cNvSpPr>
            <a:spLocks xmlns:a="http://schemas.openxmlformats.org/drawingml/2006/main" noGrp="1"/>
          </p:cNvSpPr>
          <p:nvPr/>
        </p:nvSpPr>
        <p:spPr>
          <a:xfrm xmlns:a="http://schemas.openxmlformats.org/drawingml/2006/main">
            <a:off x="457200" y="5429250"/>
            <a:ext cx="112776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75" b="1">
                <a:solidFill>
                  <a:srgbClr val="F4F7FA"/>
                </a:solidFill>
                <a:latin typeface="DejaVu Sans"/>
                <a:ea typeface="DejaVu Sans"/>
                <a:cs typeface="DejaVu Sans"/>
              </a:defRPr>
            </a:pPr>
            <a:r>
              <a:rPr sz="2475" b="1">
                <a:solidFill>
                  <a:srgbClr val="F4F7FA"/>
                </a:solidFill>
                <a:latin typeface="DejaVu Sans"/>
                <a:ea typeface="DejaVu Sans"/>
                <a:cs typeface="DejaVu Sans"/>
              </a:rPr>
              <a:t>The team remains accountable for the whole system.</a:t>
            </a:r>
          </a:p>
        </p:txBody>
      </p:sp>
      <p:sp>
        <p:nvSpPr>
          <p:cNvPr id="18" name="">
            <a:extLst xmlns:a="http://schemas.openxmlformats.org/drawingml/2006/main">
              <a:ext uri="{FF2B5EF4-FFF2-40B4-BE49-F238E27FC236}">
                <a16:creationId xmlns:a16="http://schemas.microsoft.com/office/drawing/2014/main" id="{FC67697E-041D-4E0F-A2C2-7619F9C936CB}"/>
              </a:ext>
            </a:extLst>
          </p:cNvPr>
          <p:cNvSpPr>
            <a:spLocks xmlns:a="http://schemas.openxmlformats.org/drawingml/2006/main" noGrp="1"/>
          </p:cNvSpPr>
          <p:nvPr/>
        </p:nvSpPr>
        <p:spPr>
          <a:xfrm xmlns:a="http://schemas.openxmlformats.org/drawingml/2006/main">
            <a:off x="457200" y="6172200"/>
            <a:ext cx="1127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0">
                <a:solidFill>
                  <a:srgbClr val="ADB8C5"/>
                </a:solidFill>
                <a:latin typeface="DejaVu Sans"/>
                <a:ea typeface="DejaVu Sans"/>
                <a:cs typeface="DejaVu Sans"/>
              </a:defRPr>
            </a:pPr>
            <a:r>
              <a:rPr sz="1800" b="0">
                <a:solidFill>
                  <a:srgbClr val="ADB8C5"/>
                </a:solidFill>
                <a:latin typeface="DejaVu Sans"/>
                <a:ea typeface="DejaVu Sans"/>
                <a:cs typeface="DejaVu Sans"/>
              </a:rPr>
              <a:t>Leverage does not remove engineering responsibility.</a:t>
            </a:r>
          </a:p>
        </p:txBody>
      </p:sp>
    </p:spTree>
    <p:extLst>
      <p:ext uri="{BB962C8B-B14F-4D97-AF65-F5344CB8AC3E}">
        <p14:creationId xmlns:p14="http://schemas.microsoft.com/office/powerpoint/2010/main" val="51378568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2026-09-21T10:11:03.1000000Z</dcterms:created>
  <dcterms:modified xsi:type="dcterms:W3CDTF">2026-09-21T10:11:03.1000000Z</dcterms:modified>
</coreProperties>
</file>